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리서치 탭의 강화학습 문서(§R)를 한 시간 안쪽의 이야기로 줄인 것이다. 강의 순서는 버클리 CS 185/285(Sergey Levine)의 2026 봄 슬라이드를 따른다. 강의 내용을 다 옮기지 않고, travplan이 강화학습을 쓰는 세 자리와 이어지는 부분만 골랐다. 마지막에는 2025–2026 연구 비교와 다음에 할 일을 TP 번호와 함께 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다섯 장은 강의 순서를 따르고, 각 장의 끝에서 travplan의 어느 코드와 실험에 닿는지 한 줄로 묶는다. 6장은 최근 연구 14편을 한 표로 보고, 7장은 우리가 잰 결과와 다음 후보다. 이론·다과제 탭(R.14, R.15)은 7장의 판정 통계와 6장의 비교표 안에 녹였다.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강화학습은 travplan에 새로 들일 기술이 아니라 이미 세 곳에서 돌고 있다. Planner D는 Guidance 시연을 행동 복제한 뒤 폐루프 점수로 다듬고, Playground의 작은 Controller는 진화 전략으로 배웠다. MPPI도 넓게 보면 모델을 굴려 행동을 고르는 모델 기반 강화학습의 한 형태다. 오늘의 목표는 이 세 자리가 강의의 어느 절에 기대는지 보고, 다음 자리를 정하는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 1의 논지는 자료로 배우는 학습이 세상을 이해하게 하고, 최적화가 그 이해로 자료에 없던 행동을 만든다는 것이다. 지도학습과 다른 점은 둘이다. 정답 대신 점수를 받고, 내 행동이 다음 입력을 바꾼다. travplan은 왼쪽 열로 시작해 오른쪽 열로 다듬는다. 시뮬레이터가 있어 최적화를 쓸 수 있다는 점이, 우리가 운동학 시뮬과 plant에 공을 들이는 이유다.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장은 문제를 세운다. 신용 할당은 도달 보상이 에피소드 끝에 한 번 오므로 어느 행동이 공을 세웠는지 모른다는 것이다. 탐색은 해 보지 않은 행동의 결과를 모른다는 것이다. 분포 이동은 정책이 바뀌면 만나는 상태도 바뀐다는 것이다. 이 셋이 뒤의 모든 방법이 푸는 문제다.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MDP는 상태, 행동, 전이 확률, 보상으로 정하고, 목표는 정책이 만드는 궤적 분포 위에서 수익의 기댓값을 키우는 것이다. 두 가치 함수는 Bellman 식으로 서로를 정의한다. 알고리즘은 이 식의 어느 쪽을 배우느냐로 갈린다. 정책을 배우면 정책 기울기, 행동 가치를 배우면 Q-learning, 전이를 배우면 모델 기반이다. 로봇은 상태 전체를 보지 못하므로 실제로는 부분 관측 MDP이고, travplan의 belief 지도가 그 믿음 상태에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행동 복제는 시연을 지도학습 자료로 보고 로그 가능도를 키운다. 문제는 한 번 틀리면 시연자가 가 본 적 없는 상태에 들어가고, 거기서 더 틀린다는 것이다. 대책은 실행 분포에서 라벨을 다시 모으는 DAgger, 다봉 분포를 담는 표현력 큰 모델, 복구가 담긴 자료다. Planner D의 시연은 Guidance + MPPI 교사가 만들어 복구 장면이 적다. 그림 (c)의 평균 문제는 Planner D가 가우시안이 아닌 flow matching을 고른 이유이기도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정책을 직접 고치는 방법이다. REINFORCE에서 시작해 기준선, 진화 전략, critic, 그리고 PPO까지 간다. 모두 같은 질문에 답한다. 표본이 적을 때 기울기의 분산을 어떻게 줄이고, 한 번에 얼마나 고쳐도 되는가. travplan의 두 학습, TP-0066과 TP-0128이 이 장에 기댄다.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로그 미분 요령을 쓰면 전이 확률이 기울기에서 사라져, 표본 궤적만 있으면 기울기를 낼 수 있다. 분산을 줄이는 요령은 둘이다. 시각 t 뒤의 보상만 곱하는 인과성과, 행동에 의존하지 않는 기준선을 빼는 것이다. 기준선을 빼도 기댓값은 그대로라는 점이 그림 (a)에서 보인다. 정책 기울기는 on-policy라서, 한 번 고친 뒤에는 표본을 다시 모아야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진화 전략은 행동 대신 정책 파라미터에 잡음을 주고, 에피소드 수익만으로 기울기를 근사한다. 파라미터 공간의 REINFORCE라고 보면 된다. TP-0128은 보상이 벤치마크 판정 그 자체라 미분이 안 되므로 OpenAI-ES 250세대로 학습했다. 스워브는 8/12로 MPPI의 12/12에 못 미쳤고, 지도를 끄면 스워브 0/12, 사족 8/12로 떨어졌다. 지도가 실제로 쓰인다는 대조군이다.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critic은 가치 함수를 회귀로 배우고, 한 스텝 부트스트랩 목표는 분산이 작지만 critic이 틀리면 편향을 낳는다. GAE의 λ가 그 사이를 고르고 보통 0.95 안팎을 쓴다. 그림의 critic에는 일부러 사인 오차를 넣어 λ=0의 편향을 보이게 했다. 배포 때는 actor만 쓰므로 critic은 센서에 없는 정보를 써도 된다. travplan은 GT 지도가 있으니 이 비대칭 구조가 잘 맞는다.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정책을 한 번에 너무 많이 바꾸면 옛 정책으로 모은 표본이 새 정책에 맞지 않는다. TRPO는 KL 제약을 켤레 기울기와 선 탐색으로 지키고, PPO는 제약 대신 비율을 1±ε로 자른다. PPO는 구현이 쉽고 병렬 시뮬과 잘 맞아 보행·조작·언어 모델의 표준이 됐다. TP-0066의 모방 가중 λ=0.5도 "정책을 조금씩만 바꾼다"는 같은 일을 한다. flow 정책에 PPO를 쓰는 방법은 5장의 FPO에서 다시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가치를 배워 행동을 고르는 쪽이다. Q-learning은 off-policy라 자료를 다시 쓸 수 있지만, max가 과대평가를 낳는다. 새 상호작용 없이 모은 자료로만 배우는 오프라인 RL에서는 이 문제가 가장 크게 드러난다. TP-0066이 쓰는 AWR이 이 장의 결론이다.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Q-learning은 Bellman 식의 고정점으로 행동 가치를 배우고, 그 최댓값을 내는 행동을 고른다. 자료는 어떤 정책이 모은 것이어도 되므로 off-policy다. 대신 함수 근사와 함께 쓰면 수렴이 보장되지 않는다. 그림 (c)처럼 추정에 잡음만 있어도 max는 위로 치우치고, Double Q가 이를 줄인다. MPPI의 최솟값 선택도 같은 원리라서, 3장의 문제는 Controller에도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오프라인 RL은 자료를 모은 정책보다 나은 정책을 같은 자료로 찾는다. Q-learning을 그대로 쓰면 max가 자료에 없는 행동의 틀린 값을 고른다. 세 갈래는 정책을 묶거나, 자료 밖 가치를 낮추거나, 자료 밖을 아예 묻지 않는 것이다. Planner D가 Guidance와 다른 경로를 내면 그 결과는 기록에 없으므로, results/의 기록만으로 학습할 때는 그림의 빨간 선 같은 실패를 먼저 의심해야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 제약 아래 최적 정책은 자료 정책에 이점의 지수를 곱한 꼴이다. 그래서 자료의 행동을 그 지수로 가중해 행동 복제하면 최적 정책에 투영된다. 이것이 AWR이고, IQL도 정책은 AWR로 뽑는다. TP-0066은 flow matching 손실을 이 가중으로 곱한 것이다. 나중에 FPO++로 넘어가자는 제안은 이 회귀를 PPO의 자른 목표로 바꾸자는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travplan의 Controller가 강의의 어디에 있는지 보는 장이다. 제어를 추론으로 보면 SAC와 MPPI가 같은 식에서 나온다. 그리고 MPPI가 모델 기반 계획이라는 점에서, 모델이 틀릴 때 무슨 일이 생기는지가 따라 나온다. TP-0149–0150의 plant 지연 문제가 그 실례다.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시각에 "이 스텝이 최적이다"라는 이진 변수를 두고 그 확률을 보상의 지수로 정하면, 최적 궤적의 사후분포가 나온다. 이 사후분포를 정책으로 근사하면 엔트로피 보너스가 붙은 최대 엔트로피 RL이 되고, SAC가 그 actor-critic 판이다. 정책을 배우지 않고 매 스텝 행동열을 직접 추론하면 MPPI가 된다. 그래서 MPPI의 사후분포를 정하는 것은 비용과 모델 둘이다.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낮추면 가장 좋은 표본 하나만 쓰고, 높이면 모든 표본의 평균에 가까워진다. 엔트로피 보너스의 크기를 고르는 것과 같은 선택이다. 그림처럼 온도가 너무 높으면 두 골짜기를 평균해 가운데 언덕, 곧 치명 셀 쪽으로 갈 수 있다. travplan은 비용 범위로 정규화하지 않으므로, 비용 항의 크기를 바꾸면 사실상 온도도 바뀐다는 점을 기억해야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전이 모델을 배우면 실제 상호작용 없이 머릿속으로 굴려 볼 수 있어 표본 효율이 가장 높다. 대신 계획기는 모델이 실제보다 좋게 보는 행동을 골라낸다. 그림 (b)가 그 모습이고, 비관적 목표가 이를 막는다. 그림 (c)처럼 한 스텝 오차가 작아도 길게 굴리면 오차가 쌓인다. 매 스텝 다시 계획하는 MPC도 모델이 체계적으로 틀리면 다 고치지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TP-0149가 모델 기반 RL 그림의 (b)였다. MPPI의 rollout 모델은 plant의 지연을 몰랐고, 모델이 "바로 돌 수 있다"고 믿는 행동을 골랐다. rollout에 지연을 넣자 치명이 55에서 4로 줄었다. 남은 병목은 레벨 3의 시간 초과 117/360이고 대부분 경사로다(TP-0151). MPPI rollout에 GP 평균을 더한 실험은 plant curb_ramp의 치명을 0으로 만들었지만 멈춤이 늘어 성공 수는 같았다.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장은 언어 모델의 RL에서 시작한다. 그룹 이점을 쓰는 GRPO가 TP-0066의 계산과 같기 때문이다. 이어서 diffusion·flow 정책을 강화학습에 넣는 2024–2026년 방법들을 본다. 마지막으로 평균이 아니라 꼬리를 보는 안전 RL을 travplan의 치명 원칙과 잇는다.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언어 모델도 토큰을 행동으로 고르는 정책이다. RLHF는 사람 선호로 보상 모델을 배우고 KL 항으로 원래 모델에서 너무 멀어지지 않게 묶는다. DPO는 보상 모델 없이 선호 쌍으로 바로 학습한다. GRPO는 같은 질문의 응답 G개를 그룹으로 정규화해 이점으로 쓰므로 critic이 필요 없다. 경로 쌍 가운데 어느 쪽이 나은지만 알아도 DPO로 Planner D를 조정할 수 있다는 점도 기억해 둘 만하다.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diffusion·flow 정책은 다봉 행동을 잘 내지만 로그 확률을 바로 계산하기 어렵다. PPO 비율의 재료가 없는 셈이다. 방법은 넷으로 묶인다. denoising을 MDP로 펼치거나, 손실 차이로 비율을 대신하거나, 잡음을 넣어 가능도를 계산하거나, critic의 기울기로 점수를 맞춘다. FPO는 MuJoCo Playground 10과제 평균 보상이 759 대 668(가우시안 PPO)이었다.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FPO++는 같은 저자군이 FPO의 불안정을 직접 보고하고 고친 판이다. IsaacLab에서 Go2, Spot, H1, G1 보행을 환경 4096개로 학습했고, Booster T1과 G1을 실물에 옮겼다. 시험 때 잡음을 0에서 시작하는 zero-sampling은 조작 과제의 기본 정책 성공을 약 10 %에서 70 % 넘게 올렸다. 다만 잡음 0은 후보 16개의 다양성을 없애므로, Planner D에서는 후보 하나만 잡음 0으로 두는 식으로 섞어야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논문은 안전을 평균 비용이 아니라 최악이나 꼬리로 본다. SSM은 실행 가능 집합 안에서는 안전한 행동만 남기고 보상 쪽으로, 밖에서는 위반이 줄어드는 쪽으로 간다. SPiDR는 n이 8 이상이면 모든 환경에서 제약을 지켰다. VIA는 Jackal 실물 500회에서 성공 90.0 %, 안전 비율 99.2 %였다. travplan은 지금 치명 셀을 cost에 섞어 왔는데, 따로 배운 안전 critic으로 갈래를 나누면 안전 원칙을 학습 목표 안에 넣을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여섯째 장은 2025–2026년 로봇 RL 14편을 한 표로 본다. 강의에서 본 갈래가 최근 연구에서 어떻게 섞이는지가 요점이다. 표 두 장, 공통점, 차이점의 축, 그리고 travplan이 시도할 순서를 차례로 본다.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2025년 연구 일곱 편이다. 공통 출발점은 행동 복제한 생성 정책이고, 다듬는 방법이 갈린다. ReinFlow는 가능도를 계산하고, DSRL은 잡음만 배우고, Q-chunking은 critic으로 고른다. SPiDR는 안전 쪽, Dreamer 4는 배운 모델 안에서 배우는 쪽이다. FastSAC는 병렬 시뮬에서는 off-policy가 PPO보다 빨리 배운다는 레시피다.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2026년 일곱 편이다. FPO++와 QF3는 flow 정책 자체를 RL로 고쳐 휴머노이드 실물까지 갔다. SimDist와 NavRL++는 시뮬에서 배운 것을 실물로 옮기는 분업과 섭동을 다룬다. VIA와 Safe Score Matching은 꼬리 위험과 검증이다. 코드 공개 여부와 세부 실험은 문서 R.19의 원표에 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공통점 가운데 처음 둘은 Planner D가 이미 한다. 시연으로 시작했고, AWR 가중으로 로그 확률을 피했다. 셋째인 critic 견제는 critic이 없어서 아직 해당이 없다. 넷째인 지연은 Controller 쪽 TP-0150에서는 했지만 후학습에는 넣지 않았다. 다섯째는 TP-0153의 GPU 경로가 첫걸음이다.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축은 서로 독립이라 조합으로 논문을 읽을 수 있다. travplan은 지금 on-policy, 가중치를 고침, 시뮬을 직접 굴림, 학습 뒤 판정, 평균 점수 쪽에 있다. 위험의 척도만은 판정 규칙이 이미 꼬리 쪽이다. 다음 시도는 이 가운데 한 축씩만 바꿔 효과를 가르는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지금의 병목과 비용으로 정했다. 병목은 plant 레벨 3의 시간 초과이고, curb_ramp 86/90은 plant 로봇의 설계 한계로 본다(TP-0151). 1번은 L0 기록만 쓰므로 가장 싸고, 경사로 밖의 멈춤을 겨눈다. 4번은 L1 GPU와 plant 변형 n배 비용이 들어 마지막이다. 픽셀 world model과 HJ 학습은 정확한 운동학 시뮬과 GT 지도가 있어 지금 들이지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우리가 잰 것이다. 수치는 모두 STATE.md와 문서 R.16, Planner 문서 B.15에서 왔다. 결론부터 말하면, RL 후학습은 폴백과 함께 쓸 때는 30/30이지만 Planner D 단독은 26/30에서 멈춰 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planner_d_L0123_dagger.pt에서 출발해 지형 64개 × MPPI·pure pursuit로 3 라운드를 돌렸다. 평가는 학습에 쓰지 않은 seed의 curb_ramp 레벨 3, 30 에피소드다. 단독은 DAgger의 20/30에서 26/30으로 올랐고, 폴백과 함께면 30/30이다. 폴백이 이긴 계획이 51 %에서 42 %로 준 것은 학습 표본 자체가 나아졌다는 뜻이다. 체크포인트는 planner_d_L0123_rl.pt다.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라운드는 문서의 절 넷을 차례로 지난다. 정책은 본 것(belief)으로 고르고, 점수는 실제로 있는 것(GT 지도)으로 받는다. 가장 좋은 후보는 이점 +1.39, 치명 후보는 −2.04이고, softmax 가중으로는 30배 차이다. 여기에 원래 시연의 모방 손실을 가중 0.5로 더한다. 1–3은 정책 기울기의 재료이고, 4는 기울기 대신 가중 회귀라서 TP-0066은 on-policy 표본을 쓰는 AWR이다.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1단계 처방을 더 돌리면 단독 도달은 26/30 그대로이고, 폴백 의존과 보행자 여유는 나빠졌다. 2단계의 보행자 최소 여유는 0.11 m까지 줄었다. 30 에피소드의 잡음 바닥 안이라 처방을 확인하지도 반박하지도 못한다. 이어 TP-0143의 재탐색 DAgger도 단독 23/30으로 미달이었다. 그래서 단독 26/30을 연구 지표로 두고, 폴백 스택 30/30으로 다음 병목을 본다.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표가 CLAUDE.md 2층 게이트의 바탕이다. 12 에피소드에서 12/12와 11/12의 차이 8.3 %p는 구간 안이라, 1층은 같은 설정이면 같은 숫자가 나오는 재현 조건에서만 쓴다. 권장 L1 레벨 3의 planner_df 115/120과 guidance 110/120의 차이도 한 판 구간 안이다. 짝 비교는 둘 다 성공하거나 둘 다 실패한 에피소드를 버리고 갈린 것만 세므로 더 예민하다. 같은 설정 재실행에서도 curb_ramp 레벨 3은 10개 가운데 6개가 뒤집혔다(TP-0078).</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R.16의 다음 후보는 효과가 클 것부터 적은 목록이다. TP-0149–0154에서 plant와 L1이 성적을 크게 바꿨으므로, rollout도 그 조건이어야 한다는 것이 1번의 이유다. 다만 R.19에서 최근 연구와 맞대 보고 비용을 따지자, 가장 싼 critic 선택기를 먼저 하고 plant·L1 섭동 미세조정을 마지막에 두게 됐다. 두 목록은 같은 후보를 다른 기준으로 세운 것이다.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요점은 세 줄이다. travplan은 이미 강화학습을 세 자리에서 쓴다. 최근 연구와 비교하면 빠진 것은 critic, 현실적 rollout, 꼬리 안전 신호다. 무엇을 시도하든 판정은 3판 짝 비교와 치명 원칙으로 한다. 공부는 오른쪽 순서로 2023 영상을 보면 travplan의 세 자리를 모두 따라갈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모두 arXiv 번호다. 학회와 저자는 리서치 문서에 확인된 것만 적었고, 문서에 "확인하지 못했다"고 적힌 항목은 여기서도 쓰지 않았다. travplan 결과의 근거는 STATE.md와 TP 원장, Planner 문서 B.15다.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jp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jp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jp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강화학습</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시연으로 시작해</a:t>
            </a:r>
          </a:p>
          <a:p>
            <a:pPr>
              <a:lnSpc>
                <a:spcPct val="105800"/>
              </a:lnSpc>
            </a:pPr>
            <a:r>
              <a:rPr sz="4600" b="1" i="0">
                <a:solidFill>
                  <a:srgbClr val="F4F1EA"/>
                </a:solidFill>
                <a:latin typeface="Arial"/>
                <a:ea typeface="Malgun Gothic"/>
                <a:cs typeface="Malgun Gothic"/>
              </a:rPr>
              <a:t>보상으로 다듬는다</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버클리 CS 185/285의 순서로 본 강화학습과, travplan이 그것을 쓰는 세 자리</a:t>
            </a:r>
          </a:p>
        </p:txBody>
      </p:sp>
      <p:sp>
        <p:nvSpPr>
          <p:cNvPr id="5" name="Rounded Rectangle 4"/>
          <p:cNvSpPr/>
          <p:nvPr/>
        </p:nvSpPr>
        <p:spPr>
          <a:xfrm>
            <a:off x="812800" y="5765800"/>
            <a:ext cx="461764"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21323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§R</a:t>
            </a:r>
          </a:p>
        </p:txBody>
      </p:sp>
      <p:sp>
        <p:nvSpPr>
          <p:cNvPr id="7" name="Rounded Rectangle 6"/>
          <p:cNvSpPr/>
          <p:nvPr/>
        </p:nvSpPr>
        <p:spPr>
          <a:xfrm>
            <a:off x="1376164" y="5765800"/>
            <a:ext cx="921345"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515864" y="5816600"/>
            <a:ext cx="68660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R.0–R.19</a:t>
            </a:r>
          </a:p>
        </p:txBody>
      </p:sp>
      <p:sp>
        <p:nvSpPr>
          <p:cNvPr id="9" name="Rounded Rectangle 8"/>
          <p:cNvSpPr/>
          <p:nvPr/>
        </p:nvSpPr>
        <p:spPr>
          <a:xfrm>
            <a:off x="2399109" y="5765800"/>
            <a:ext cx="885527"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2538809" y="5816600"/>
            <a:ext cx="64971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TP-0066</a:t>
            </a:r>
          </a:p>
        </p:txBody>
      </p:sp>
      <p:sp>
        <p:nvSpPr>
          <p:cNvPr id="11" name="Rounded Rectangle 10"/>
          <p:cNvSpPr/>
          <p:nvPr/>
        </p:nvSpPr>
        <p:spPr>
          <a:xfrm>
            <a:off x="3386237" y="5765800"/>
            <a:ext cx="885527"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3525937" y="5816600"/>
            <a:ext cx="64971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TP-0128</a:t>
            </a:r>
          </a:p>
        </p:txBody>
      </p:sp>
      <p:sp>
        <p:nvSpPr>
          <p:cNvPr id="13" name="Rounded Rectangle 12"/>
          <p:cNvSpPr/>
          <p:nvPr/>
        </p:nvSpPr>
        <p:spPr>
          <a:xfrm>
            <a:off x="4373364" y="5765800"/>
            <a:ext cx="885527"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4513064" y="5816600"/>
            <a:ext cx="64971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TP-0150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강의를 다섯 갈래로 묶고 travplan으로 돌아온다</a:t>
            </a:r>
          </a:p>
        </p:txBody>
      </p:sp>
      <p:graphicFrame>
        <p:nvGraphicFramePr>
          <p:cNvPr id="4" name="Table 3"/>
          <p:cNvGraphicFramePr>
            <a:graphicFrameLocks noGrp="1"/>
          </p:cNvGraphicFramePr>
          <p:nvPr/>
        </p:nvGraphicFramePr>
        <p:xfrm>
          <a:off x="711200" y="1361678"/>
          <a:ext cx="10769600" cy="2457885"/>
        </p:xfrm>
        <a:graphic>
          <a:graphicData uri="http://schemas.openxmlformats.org/drawingml/2006/table">
            <a:tbl>
              <a:tblPr firstRow="0" bandRow="0">
                <a:tableStyleId>{5C22544A-7EE6-4342-B048-85BDC9FD1C3A}</a:tableStyleId>
              </a:tblPr>
              <a:tblGrid>
                <a:gridCol w="507305"/>
                <a:gridCol w="3567013"/>
                <a:gridCol w="5158284"/>
                <a:gridCol w="1536998"/>
              </a:tblGrid>
              <a:tr h="314657">
                <a:tc>
                  <a:txBody>
                    <a:bodyPr wrap="square"/>
                    <a:lstStyle/>
                    <a:p>
                      <a:r>
                        <a:rPr sz="13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핵심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문서 절</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문제 설정과 모방</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MDP, Bellman 식, 행동 복제의 분포 이동</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R.0–R.2</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정책 기울기</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REINFORCE, 진화 전략, actor-critic, PPO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R.3–R.5</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가치 기반과 오프라인</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Q-learning의 과대평가, CQL·IQL, AWR</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R.6, R.10</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추론으로서의 제어와 모델 기반</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최대 엔트로피 RL, MPPI, 모델 오차</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R.8, R.9</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생성 정책의 RL과 안전</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GRPO, FPO·FPO++, 꼬리 위험</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R.12, R.13</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최근 연구 비교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2025–2026 연구 14편의 공통점과 차이점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R.19</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7</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travplan에서</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TP-0066·0138 결과, 판정의 통계, 다음 후보</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R.14, R.16</a:t>
                      </a:r>
                    </a:p>
                  </a:txBody>
                  <a:tcPr marL="76200" marR="76200" marT="25400" marB="25400">
                    <a:solidFill>
                      <a:srgbClr val="F1EDE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왜 강화학습인가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travplan은 이미 세 자리에서 강화학습을 쓴다</a:t>
            </a:r>
          </a:p>
        </p:txBody>
      </p:sp>
      <p:graphicFrame>
        <p:nvGraphicFramePr>
          <p:cNvPr id="4" name="Table 3"/>
          <p:cNvGraphicFramePr>
            <a:graphicFrameLocks noGrp="1"/>
          </p:cNvGraphicFramePr>
          <p:nvPr/>
        </p:nvGraphicFramePr>
        <p:xfrm>
          <a:off x="711200" y="1361678"/>
          <a:ext cx="10769600" cy="1946220"/>
        </p:xfrm>
        <a:graphic>
          <a:graphicData uri="http://schemas.openxmlformats.org/drawingml/2006/table">
            <a:tbl>
              <a:tblPr firstRow="0" bandRow="0">
                <a:tableStyleId>{5C22544A-7EE6-4342-B048-85BDC9FD1C3A}</a:tableStyleId>
              </a:tblPr>
              <a:tblGrid>
                <a:gridCol w="2024955"/>
                <a:gridCol w="4344690"/>
                <a:gridCol w="933252"/>
                <a:gridCol w="3466703"/>
              </a:tblGrid>
              <a:tr h="314657">
                <a:tc>
                  <a:txBody>
                    <a:bodyPr wrap="square"/>
                    <a:lstStyle/>
                    <a:p>
                      <a:r>
                        <a:rPr sz="1350" b="1" i="0">
                          <a:solidFill>
                            <a:srgbClr val="F4F1EA"/>
                          </a:solidFill>
                          <a:latin typeface="Arial"/>
                          <a:ea typeface="Malgun Gothic"/>
                          <a:cs typeface="Malgun Gothic"/>
                        </a:rPr>
                        <a:t>자리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문서 절</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기록</a:t>
                      </a:r>
                    </a:p>
                  </a:txBody>
                  <a:tcPr marL="76200" marR="76200" marT="25400" marB="25400">
                    <a:solidFill>
                      <a:srgbClr val="16213A"/>
                    </a:solidFill>
                  </a:tcPr>
                </a:tc>
              </a:tr>
              <a:tr h="510570">
                <a:tc>
                  <a:txBody>
                    <a:bodyPr wrap="square"/>
                    <a:lstStyle/>
                    <a:p>
                      <a:r>
                        <a:rPr sz="1350" b="0" i="0">
                          <a:solidFill>
                            <a:srgbClr val="16213A"/>
                          </a:solidFill>
                          <a:latin typeface="Arial"/>
                          <a:ea typeface="Malgun Gothic"/>
                          <a:cs typeface="Malgun Gothic"/>
                        </a:rPr>
                        <a:t>Planner D 후학습</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후보 16개의 그룹 상대 이점, AWR 가중 flow matching, 모방 가중 0.5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R.10, R.12</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TP-0066: curb_ramp 레벨 3 단독 20/30 → 26/30</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Playground 학습 Controller</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OpenAI-ES, 보상은 벤치마크 판정</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R.3</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TP-0128: 사족 12/12, 바퀴 8/12</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Controller</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MPPI, 제어를 추론으로 본 모델 기반 계획</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R.8, R.9</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TP-0150: </a:t>
                      </a:r>
                      <a:r>
                        <a:rPr sz="1150" b="0" i="0">
                          <a:solidFill>
                            <a:srgbClr val="7C2D12"/>
                          </a:solidFill>
                          <a:latin typeface="Consolas"/>
                          <a:ea typeface="Malgun Gothic"/>
                          <a:cs typeface="Malgun Gothic"/>
                        </a:rPr>
                        <a:t>mppi_plant_lag</a:t>
                      </a:r>
                      <a:r>
                        <a:rPr sz="1350" b="0" i="0">
                          <a:solidFill>
                            <a:srgbClr val="16213A"/>
                          </a:solidFill>
                          <a:latin typeface="Arial"/>
                          <a:ea typeface="Malgun Gothic"/>
                          <a:cs typeface="Malgun Gothic"/>
                        </a:rPr>
                        <a:t>, 치명 55 → 4</a:t>
                      </a:r>
                    </a:p>
                  </a:txBody>
                  <a:tcPr marL="76200" marR="76200" marT="25400" marB="25400">
                    <a:solidFill>
                      <a:srgbClr val="F1EDE4"/>
                    </a:solidFill>
                  </a:tcPr>
                </a:tc>
              </a:tr>
              <a:tr h="303862">
                <a:tc>
                  <a:txBody>
                    <a:bodyPr wrap="square"/>
                    <a:lstStyle/>
                    <a:p>
                      <a:r>
                        <a:rPr sz="1350" b="0" i="0">
                          <a:solidFill>
                            <a:srgbClr val="16213A"/>
                          </a:solidFill>
                          <a:latin typeface="Arial"/>
                          <a:ea typeface="Malgun Gothic"/>
                          <a:cs typeface="Malgun Gothic"/>
                        </a:rPr>
                        <a:t>시연 학습</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행동 복제와 DAgger</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R.2</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TP-0073, TP-0143</a:t>
                      </a:r>
                    </a:p>
                  </a:txBody>
                  <a:tcPr marL="76200" marR="76200" marT="25400" marB="25400">
                    <a:solidFill>
                      <a:srgbClr val="FFFDF8"/>
                    </a:solidFill>
                  </a:tcPr>
                </a:tc>
              </a:tr>
            </a:tbl>
          </a:graphicData>
        </a:graphic>
      </p:graphicFrame>
      <p:sp>
        <p:nvSpPr>
          <p:cNvPr id="5" name="Rounded Rectangle 4"/>
          <p:cNvSpPr/>
          <p:nvPr/>
        </p:nvSpPr>
        <p:spPr>
          <a:xfrm>
            <a:off x="711200" y="3829149"/>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95614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다음 자리는 plant와 L1을 넣은 폐루프 후학습이다.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R.0 · 자료와 최적화</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모방은 시연자만큼, 강화학습은 그 너머를 노린다</a:t>
            </a:r>
          </a:p>
        </p:txBody>
      </p:sp>
      <p:sp>
        <p:nvSpPr>
          <p:cNvPr id="4" name="Rounded Rectangle 3"/>
          <p:cNvSpPr/>
          <p:nvPr/>
        </p:nvSpPr>
        <p:spPr>
          <a:xfrm>
            <a:off x="711200" y="1361678"/>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607766" y="1361678"/>
            <a:ext cx="4976467" cy="1905000"/>
          </a:xfrm>
          <a:prstGeom prst="rect">
            <a:avLst/>
          </a:prstGeom>
        </p:spPr>
      </p:pic>
      <p:sp>
        <p:nvSpPr>
          <p:cNvPr id="6" name="TextBox 5"/>
          <p:cNvSpPr txBox="1"/>
          <p:nvPr/>
        </p:nvSpPr>
        <p:spPr>
          <a:xfrm>
            <a:off x="711200" y="3330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강화학습의 고리와 travplan에서 각 자리에 놓이는 것 — scripts/make_rl_figures.py</a:t>
            </a:r>
          </a:p>
        </p:txBody>
      </p:sp>
      <p:graphicFrame>
        <p:nvGraphicFramePr>
          <p:cNvPr id="7" name="Table 6"/>
          <p:cNvGraphicFramePr>
            <a:graphicFrameLocks noGrp="1"/>
          </p:cNvGraphicFramePr>
          <p:nvPr/>
        </p:nvGraphicFramePr>
        <p:xfrm>
          <a:off x="711200" y="3685778"/>
          <a:ext cx="10769600" cy="1538202"/>
        </p:xfrm>
        <a:graphic>
          <a:graphicData uri="http://schemas.openxmlformats.org/drawingml/2006/table">
            <a:tbl>
              <a:tblPr firstRow="0" bandRow="0">
                <a:tableStyleId>{5C22544A-7EE6-4342-B048-85BDC9FD1C3A}</a:tableStyleId>
              </a:tblPr>
              <a:tblGrid>
                <a:gridCol w="1998563"/>
                <a:gridCol w="4427637"/>
                <a:gridCol w="4343400"/>
              </a:tblGrid>
              <a:tr h="314657">
                <a:tc>
                  <a:txBody>
                    <a:bodyPr wrap="square"/>
                    <a:lstStyle/>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지도학습(모방)</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강화학습</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받는 것</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"이 지도에서는 이 궤적"이라는 시연</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궤적을 굴려 받은 점수(도달 +, 치명 셀 −)</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넘을 수 있는 한계</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시연자만큼</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시연자보다 나을 수 있다</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드는 것</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시연(교사)</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표본(시뮬레이터)</a:t>
                      </a:r>
                    </a:p>
                  </a:txBody>
                  <a:tcPr marL="76200" marR="76200" marT="25400" marB="25400">
                    <a:solidFill>
                      <a:srgbClr val="F1EDE4"/>
                    </a:solidFill>
                  </a:tcPr>
                </a:tc>
              </a:tr>
              <a:tr h="303862">
                <a:tc>
                  <a:txBody>
                    <a:bodyPr wrap="square"/>
                    <a:lstStyle/>
                    <a:p>
                      <a:r>
                        <a:rPr sz="1350" b="0" i="0">
                          <a:solidFill>
                            <a:srgbClr val="16213A"/>
                          </a:solidFill>
                          <a:latin typeface="Arial"/>
                          <a:ea typeface="Malgun Gothic"/>
                          <a:cs typeface="Malgun Gothic"/>
                        </a:rPr>
                        <a:t>travplan</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Planner D 사전학습, DAgger(TP-0073)</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Planner D 후학습(TP-0066)</a:t>
                      </a:r>
                    </a:p>
                  </a:txBody>
                  <a:tcPr marL="76200" marR="76200" marT="25400" marB="25400">
                    <a:solidFill>
                      <a:srgbClr val="FFFD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문제 설정과 모방 · R.0–R.2 · 강의 1–4</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정답 대신 점수를 받고,</a:t>
            </a:r>
          </a:p>
          <a:p>
            <a:pPr>
              <a:lnSpc>
                <a:spcPct val="112240"/>
              </a:lnSpc>
            </a:pPr>
            <a:r>
              <a:rPr sz="3850" b="1" i="0">
                <a:solidFill>
                  <a:srgbClr val="F4F1EA"/>
                </a:solidFill>
                <a:latin typeface="Arial"/>
                <a:ea typeface="Malgun Gothic"/>
                <a:cs typeface="Malgun Gothic"/>
              </a:rPr>
              <a:t>내 행동이 다음 입력을 바꾼다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여기서 강화학습의 세 어려움이 나온다. 신용 할당, 탐색, 분포 이동이다.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 · MDP와 가치 함수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목표는 보상 기댓값이 가장 큰 정책이다</a:t>
            </a:r>
          </a:p>
        </p:txBody>
      </p:sp>
      <p:sp>
        <p:nvSpPr>
          <p:cNvPr id="4" name="Rounded Rectangle 3"/>
          <p:cNvSpPr/>
          <p:nvPr/>
        </p:nvSpPr>
        <p:spPr>
          <a:xfrm>
            <a:off x="711200" y="1361678"/>
            <a:ext cx="52578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486370"/>
          </a:xfrm>
          <a:prstGeom prst="rect">
            <a:avLst/>
          </a:prstGeom>
        </p:spPr>
      </p:pic>
      <p:sp>
        <p:nvSpPr>
          <p:cNvPr id="7" name="Rounded Rectangle 6"/>
          <p:cNvSpPr/>
          <p:nvPr/>
        </p:nvSpPr>
        <p:spPr>
          <a:xfrm>
            <a:off x="6223000" y="1361678"/>
            <a:ext cx="5257800" cy="430510"/>
          </a:xfrm>
          <a:prstGeom prst="roundRect">
            <a:avLst>
              <a:gd name="adj" fmla="val 11799"/>
            </a:avLst>
          </a:prstGeom>
          <a:solidFill>
            <a:srgbClr val="FFFDF8"/>
          </a:solidFill>
          <a:ln>
            <a:noFill/>
          </a:ln>
        </p:spPr>
        <p:txBody>
          <a:bodyPr rtlCol="0" anchor="ctr"/>
          <a:lstStyle/>
          <a:p>
            <a:pPr algn="ctr"/>
          </a:p>
        </p:txBody>
      </p:sp>
      <p:sp>
        <p:nvSpPr>
          <p:cNvPr id="8" name="Rounded Rectangle 7"/>
          <p:cNvSpPr/>
          <p:nvPr/>
        </p:nvSpPr>
        <p:spPr>
          <a:xfrm>
            <a:off x="6223000" y="1361678"/>
            <a:ext cx="38100" cy="43051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259060"/>
          </a:xfrm>
          <a:prstGeom prst="rect">
            <a:avLst/>
          </a:prstGeom>
        </p:spPr>
      </p:pic>
      <p:sp>
        <p:nvSpPr>
          <p:cNvPr id="10" name="Rounded Rectangle 9"/>
          <p:cNvSpPr/>
          <p:nvPr/>
        </p:nvSpPr>
        <p:spPr>
          <a:xfrm>
            <a:off x="711200" y="219729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2706955" y="2197298"/>
            <a:ext cx="6778090" cy="2413000"/>
          </a:xfrm>
          <a:prstGeom prst="rect">
            <a:avLst/>
          </a:prstGeom>
        </p:spPr>
      </p:pic>
      <p:sp>
        <p:nvSpPr>
          <p:cNvPr id="12" name="TextBox 11"/>
          <p:cNvSpPr txBox="1"/>
          <p:nvPr/>
        </p:nvSpPr>
        <p:spPr>
          <a:xfrm>
            <a:off x="711200" y="46737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5×5 격자의 가치 반복: 목표 +1, 치명 셀 −1, 매 스텝 −0.04, 옆으로 0.1씩 미끄러진다 — scripts/make_rl_figures.py</a:t>
            </a:r>
          </a:p>
        </p:txBody>
      </p:sp>
      <p:sp>
        <p:nvSpPr>
          <p:cNvPr id="13" name="Rounded Rectangle 12"/>
          <p:cNvSpPr/>
          <p:nvPr/>
        </p:nvSpPr>
        <p:spPr>
          <a:xfrm>
            <a:off x="711200" y="502939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1563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Guidance의 Dijkstra 최단 cost는 결정적·무할인 MDP의 가치에서 부호만 바꾼 것이다.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R.2 · 모방학습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행동 복제는 쉽지만 작은 실수가 쌓인다</a:t>
            </a:r>
          </a:p>
        </p:txBody>
      </p:sp>
      <p:sp>
        <p:nvSpPr>
          <p:cNvPr id="4" name="Rounded Rectangle 3"/>
          <p:cNvSpPr/>
          <p:nvPr/>
        </p:nvSpPr>
        <p:spPr>
          <a:xfrm>
            <a:off x="711200" y="1361678"/>
            <a:ext cx="10769600" cy="637778"/>
          </a:xfrm>
          <a:prstGeom prst="roundRect">
            <a:avLst>
              <a:gd name="adj" fmla="val 7965"/>
            </a:avLst>
          </a:prstGeom>
          <a:solidFill>
            <a:srgbClr val="FFFDF8"/>
          </a:solidFill>
          <a:ln>
            <a:noFill/>
          </a:ln>
        </p:spPr>
        <p:txBody>
          <a:bodyPr rtlCol="0" anchor="ctr"/>
          <a:lstStyle/>
          <a:p>
            <a:pPr algn="ctr"/>
          </a:p>
        </p:txBody>
      </p:sp>
      <p:sp>
        <p:nvSpPr>
          <p:cNvPr id="5" name="Rounded Rectangle 4"/>
          <p:cNvSpPr/>
          <p:nvPr/>
        </p:nvSpPr>
        <p:spPr>
          <a:xfrm>
            <a:off x="711200" y="1361678"/>
            <a:ext cx="38100" cy="63777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66328"/>
          </a:xfrm>
          <a:prstGeom prst="rect">
            <a:avLst/>
          </a:prstGeom>
        </p:spPr>
      </p:pic>
      <p:sp>
        <p:nvSpPr>
          <p:cNvPr id="7" name="Rounded Rectangle 6"/>
          <p:cNvSpPr/>
          <p:nvPr/>
        </p:nvSpPr>
        <p:spPr>
          <a:xfrm>
            <a:off x="711200" y="2177256"/>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1985968" y="2177256"/>
            <a:ext cx="8220065" cy="2540000"/>
          </a:xfrm>
          <a:prstGeom prst="rect">
            <a:avLst/>
          </a:prstGeom>
        </p:spPr>
      </p:pic>
      <p:sp>
        <p:nvSpPr>
          <p:cNvPr id="9" name="TextBox 8"/>
          <p:cNvSpPr txBox="1"/>
          <p:nvPr/>
        </p:nvSpPr>
        <p:spPr>
          <a:xfrm>
            <a:off x="711200" y="4780756"/>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시연 띠 밖에서 틀린 정책을 25번 굴리면 10번이 보도 끝을 넘는다 (b) 누적 실수 (c) 양쪽 회피 시연을 평균하면 나무로 간다 — scripts/make_rl_figures.py</a:t>
            </a:r>
          </a:p>
        </p:txBody>
      </p:sp>
      <p:sp>
        <p:nvSpPr>
          <p:cNvPr id="10" name="Rounded Rectangle 9"/>
          <p:cNvSpPr/>
          <p:nvPr/>
        </p:nvSpPr>
        <p:spPr>
          <a:xfrm>
            <a:off x="711200" y="5136356"/>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26335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경사로를 지나친 상태에서 무너지는 것이 분포 이동이고, 대책이 DAgger(TP-0073, TP-0143)다.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DAgger — arXiv:1011.0686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정책 기울기 · R.3–R.5 · 강의 5–6, 9–10</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잘된 궤적의 확률을 높이고</a:t>
            </a:r>
          </a:p>
          <a:p>
            <a:pPr>
              <a:lnSpc>
                <a:spcPct val="112240"/>
              </a:lnSpc>
            </a:pPr>
            <a:r>
              <a:rPr sz="3850" b="1" i="0">
                <a:solidFill>
                  <a:srgbClr val="F4F1EA"/>
                </a:solidFill>
                <a:latin typeface="Arial"/>
                <a:ea typeface="Malgun Gothic"/>
                <a:cs typeface="Malgun Gothic"/>
              </a:rPr>
              <a:t>못된 궤적의 확률을 낮춘다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보상도 시뮬레이터도 미분하지 않는다. 대가는 큰 분산이고, 이 장은 그 분산을 줄이는 요령들이다.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R.3 · REINFORCE</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기준선을 빼면 기울기의 분산이 크게 준다</a:t>
            </a:r>
          </a:p>
        </p:txBody>
      </p:sp>
      <p:sp>
        <p:nvSpPr>
          <p:cNvPr id="4" name="Rounded Rectangle 3"/>
          <p:cNvSpPr/>
          <p:nvPr/>
        </p:nvSpPr>
        <p:spPr>
          <a:xfrm>
            <a:off x="711200" y="1361678"/>
            <a:ext cx="107696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86370"/>
          </a:xfrm>
          <a:prstGeom prst="rect">
            <a:avLst/>
          </a:prstGeom>
        </p:spPr>
      </p:pic>
      <p:sp>
        <p:nvSpPr>
          <p:cNvPr id="7" name="Rounded Rectangle 6"/>
          <p:cNvSpPr/>
          <p:nvPr/>
        </p:nvSpPr>
        <p:spPr>
          <a:xfrm>
            <a:off x="711200" y="219729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020627" y="2197298"/>
            <a:ext cx="8150746" cy="2730500"/>
          </a:xfrm>
          <a:prstGeom prst="rect">
            <a:avLst/>
          </a:prstGeom>
        </p:spPr>
      </p:pic>
      <p:sp>
        <p:nvSpPr>
          <p:cNvPr id="9" name="TextBox 8"/>
          <p:cNvSpPr txBox="1"/>
          <p:nvPr/>
        </p:nvSpPr>
        <p:spPr>
          <a:xfrm>
            <a:off x="711200" y="49912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표본 16개로 낸 기울기 추정: 기준선이 없으면 표준편차 5.8, 배치 평균을 빼면 1.6이다. 평균은 둘 다 참값 4 — scripts/make_rl_figures.py</a:t>
            </a:r>
          </a:p>
        </p:txBody>
      </p:sp>
      <p:sp>
        <p:nvSpPr>
          <p:cNvPr id="10" name="Rounded Rectangle 9"/>
          <p:cNvSpPr/>
          <p:nvPr/>
        </p:nvSpPr>
        <p:spPr>
          <a:xfrm>
            <a:off x="711200" y="5346898"/>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4738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TP-0066은 같은 상태에서 뽑은 다른 후보들의 평균을 기준선으로 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R.3 · 진화 전략 · TP-0128</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판정이 계단 함수여도 진화 전략은 배운다</a:t>
            </a:r>
          </a:p>
        </p:txBody>
      </p:sp>
      <p:sp>
        <p:nvSpPr>
          <p:cNvPr id="4" name="Rounded Rectangle 3"/>
          <p:cNvSpPr/>
          <p:nvPr/>
        </p:nvSpPr>
        <p:spPr>
          <a:xfrm>
            <a:off x="711200" y="1361678"/>
            <a:ext cx="10769600" cy="763687"/>
          </a:xfrm>
          <a:prstGeom prst="roundRect">
            <a:avLst>
              <a:gd name="adj" fmla="val 6651"/>
            </a:avLst>
          </a:prstGeom>
          <a:solidFill>
            <a:srgbClr val="FFFDF8"/>
          </a:solidFill>
          <a:ln>
            <a:noFill/>
          </a:ln>
        </p:spPr>
        <p:txBody>
          <a:bodyPr rtlCol="0" anchor="ctr"/>
          <a:lstStyle/>
          <a:p>
            <a:pPr algn="ctr"/>
          </a:p>
        </p:txBody>
      </p:sp>
      <p:sp>
        <p:nvSpPr>
          <p:cNvPr id="5" name="Rounded Rectangle 4"/>
          <p:cNvSpPr/>
          <p:nvPr/>
        </p:nvSpPr>
        <p:spPr>
          <a:xfrm>
            <a:off x="711200" y="1361678"/>
            <a:ext cx="38100" cy="76368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92237"/>
          </a:xfrm>
          <a:prstGeom prst="rect">
            <a:avLst/>
          </a:prstGeom>
        </p:spPr>
      </p:pic>
      <p:sp>
        <p:nvSpPr>
          <p:cNvPr id="7" name="Rounded Rectangle 6"/>
          <p:cNvSpPr/>
          <p:nvPr/>
        </p:nvSpPr>
        <p:spPr>
          <a:xfrm>
            <a:off x="711200" y="2303165"/>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293075" y="2303165"/>
            <a:ext cx="7605850" cy="2730500"/>
          </a:xfrm>
          <a:prstGeom prst="rect">
            <a:avLst/>
          </a:prstGeom>
        </p:spPr>
      </p:pic>
      <p:sp>
        <p:nvSpPr>
          <p:cNvPr id="9" name="TextBox 8"/>
          <p:cNvSpPr txBox="1"/>
          <p:nvPr/>
        </p:nvSpPr>
        <p:spPr>
          <a:xfrm>
            <a:off x="711200" y="509716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TP-0128: 가림 켠 belief 지도, 4 시나리오 × seed 0–2의 도달 수와 스텝당 제어 시간 — scripts/make_evidence_figures.py</a:t>
            </a:r>
          </a:p>
        </p:txBody>
      </p:sp>
      <p:sp>
        <p:nvSpPr>
          <p:cNvPr id="10" name="Rounded Rectangle 9"/>
          <p:cNvSpPr/>
          <p:nvPr/>
        </p:nvSpPr>
        <p:spPr>
          <a:xfrm>
            <a:off x="711200" y="5452765"/>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57976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가중치 1,675개 정책이 사족에서 MPPI와 같은 12/12를 0.02 ms에 냈다.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진화 전략 — arXiv:1703.03864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R.4 · Actor-critic과 GAE</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critic이 앞을 내다보면 분산은 줄고 편향이 생긴다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Rounded Rectangle 6"/>
          <p:cNvSpPr/>
          <p:nvPr/>
        </p:nvSpPr>
        <p:spPr>
          <a:xfrm>
            <a:off x="711200" y="1906488"/>
            <a:ext cx="5257800" cy="667246"/>
          </a:xfrm>
          <a:prstGeom prst="roundRect">
            <a:avLst>
              <a:gd name="adj" fmla="val 7613"/>
            </a:avLst>
          </a:prstGeom>
          <a:solidFill>
            <a:srgbClr val="FFFDF8"/>
          </a:solidFill>
          <a:ln>
            <a:noFill/>
          </a:ln>
        </p:spPr>
        <p:txBody>
          <a:bodyPr rtlCol="0" anchor="ctr"/>
          <a:lstStyle/>
          <a:p>
            <a:pPr algn="ctr"/>
          </a:p>
        </p:txBody>
      </p:sp>
      <p:sp>
        <p:nvSpPr>
          <p:cNvPr id="8" name="Rounded Rectangle 7"/>
          <p:cNvSpPr/>
          <p:nvPr/>
        </p:nvSpPr>
        <p:spPr>
          <a:xfrm>
            <a:off x="711200" y="1906488"/>
            <a:ext cx="38100" cy="667246"/>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1995388"/>
            <a:ext cx="4921250" cy="495796"/>
          </a:xfrm>
          <a:prstGeom prst="rect">
            <a:avLst/>
          </a:prstGeom>
        </p:spPr>
      </p:pic>
      <p:sp>
        <p:nvSpPr>
          <p:cNvPr id="10" name="TextBox 9"/>
          <p:cNvSpPr txBox="1"/>
          <p:nvPr/>
        </p:nvSpPr>
        <p:spPr>
          <a:xfrm>
            <a:off x="749300" y="268803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1">
                <a:solidFill>
                  <a:srgbClr val="16213A"/>
                </a:solidFill>
                <a:latin typeface="Arial"/>
                <a:ea typeface="Malgun Gothic"/>
                <a:cs typeface="Malgun Gothic"/>
              </a:rPr>
              <a:t>λ = 0</a:t>
            </a:r>
            <a:r>
              <a:rPr sz="1250" b="0" i="0">
                <a:solidFill>
                  <a:srgbClr val="16213A"/>
                </a:solidFill>
                <a:latin typeface="Arial"/>
                <a:ea typeface="Malgun Gothic"/>
                <a:cs typeface="Malgun Gothic"/>
              </a:rPr>
              <a:t>: 표준편차 0.32, 편향 0.074</a:t>
            </a:r>
          </a:p>
        </p:txBody>
      </p:sp>
      <p:sp>
        <p:nvSpPr>
          <p:cNvPr id="11" name="TextBox 10"/>
          <p:cNvSpPr txBox="1"/>
          <p:nvPr/>
        </p:nvSpPr>
        <p:spPr>
          <a:xfrm>
            <a:off x="749300" y="299918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1">
                <a:solidFill>
                  <a:srgbClr val="16213A"/>
                </a:solidFill>
                <a:latin typeface="Arial"/>
                <a:ea typeface="Malgun Gothic"/>
                <a:cs typeface="Malgun Gothic"/>
              </a:rPr>
              <a:t>λ = 1</a:t>
            </a:r>
            <a:r>
              <a:rPr sz="1250" b="0" i="0">
                <a:solidFill>
                  <a:srgbClr val="16213A"/>
                </a:solidFill>
                <a:latin typeface="Arial"/>
                <a:ea typeface="Malgun Gothic"/>
                <a:cs typeface="Malgun Gothic"/>
              </a:rPr>
              <a:t>: 표준편차 1.41, 편향 0</a:t>
            </a:r>
          </a:p>
        </p:txBody>
      </p:sp>
      <p:sp>
        <p:nvSpPr>
          <p:cNvPr id="12" name="TextBox 11"/>
          <p:cNvSpPr txBox="1"/>
          <p:nvPr/>
        </p:nvSpPr>
        <p:spPr>
          <a:xfrm>
            <a:off x="749300" y="331033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비대칭 critic은 GT 지형 같은 특권 정보를 본다</a:t>
            </a:r>
          </a:p>
        </p:txBody>
      </p:sp>
      <p:sp>
        <p:nvSpPr>
          <p:cNvPr id="13" name="Rounded Rectangle 12"/>
          <p:cNvSpPr/>
          <p:nvPr/>
        </p:nvSpPr>
        <p:spPr>
          <a:xfrm>
            <a:off x="6223000" y="1361678"/>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14" name="Picture 13" descr="image.jpg"/>
          <p:cNvPicPr>
            <a:picLocks noChangeAspect="1"/>
          </p:cNvPicPr>
          <p:nvPr/>
        </p:nvPicPr>
        <p:blipFill>
          <a:blip r:embed="rId4"/>
          <a:stretch>
            <a:fillRect/>
          </a:stretch>
        </p:blipFill>
        <p:spPr>
          <a:xfrm>
            <a:off x="6495016" y="1361678"/>
            <a:ext cx="4713767" cy="2667000"/>
          </a:xfrm>
          <a:prstGeom prst="rect">
            <a:avLst/>
          </a:prstGeom>
        </p:spPr>
      </p:pic>
      <p:sp>
        <p:nvSpPr>
          <p:cNvPr id="15" name="TextBox 14"/>
          <p:cNvSpPr txBox="1"/>
          <p:nvPr/>
        </p:nvSpPr>
        <p:spPr>
          <a:xfrm>
            <a:off x="6223000" y="4092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21칸 무작위 보행에서 λ에 따른 이점 추정의 편향과 분산 — scripts/make_rl_figures.py</a:t>
            </a:r>
          </a:p>
        </p:txBody>
      </p:sp>
      <p:sp>
        <p:nvSpPr>
          <p:cNvPr id="16" name="Rounded Rectangle 15"/>
          <p:cNvSpPr/>
          <p:nvPr/>
        </p:nvSpPr>
        <p:spPr>
          <a:xfrm>
            <a:off x="711200" y="4447778"/>
            <a:ext cx="10769600" cy="502543"/>
          </a:xfrm>
          <a:prstGeom prst="roundRect">
            <a:avLst>
              <a:gd name="adj" fmla="val 15162"/>
            </a:avLst>
          </a:prstGeom>
          <a:solidFill>
            <a:srgbClr val="16213A"/>
          </a:solidFill>
          <a:ln>
            <a:noFill/>
          </a:ln>
        </p:spPr>
        <p:txBody>
          <a:bodyPr rtlCol="0" anchor="ctr"/>
          <a:lstStyle/>
          <a:p>
            <a:pPr algn="ctr"/>
          </a:p>
        </p:txBody>
      </p:sp>
      <p:sp>
        <p:nvSpPr>
          <p:cNvPr id="17" name="TextBox 16"/>
          <p:cNvSpPr txBox="1"/>
          <p:nvPr/>
        </p:nvSpPr>
        <p:spPr>
          <a:xfrm>
            <a:off x="889000" y="4574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critic에 GT 지도와 plant 상태를 주는 비대칭 critic이 다음 후보 3이다.</a:t>
            </a:r>
          </a:p>
        </p:txBody>
      </p:sp>
      <p:sp>
        <p:nvSpPr>
          <p:cNvPr id="18" name="Rectangle 17"/>
          <p:cNvSpPr/>
          <p:nvPr/>
        </p:nvSpPr>
        <p:spPr>
          <a:xfrm>
            <a:off x="711200" y="6424315"/>
            <a:ext cx="10769600" cy="230485"/>
          </a:xfrm>
          <a:prstGeom prst="rect">
            <a:avLst/>
          </a:prstGeom>
          <a:noFill/>
          <a:ln>
            <a:noFill/>
          </a:ln>
        </p:spPr>
        <p:txBody>
          <a:bodyPr rtlCol="0" anchor="ctr"/>
          <a:lstStyle/>
          <a:p>
            <a:pPr algn="ctr"/>
          </a:p>
        </p:txBody>
      </p:sp>
      <p:sp>
        <p:nvSpPr>
          <p:cNvPr id="19" name="Rectangle 1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0" name="TextBox 1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GAE — arXiv:1506.02438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R.5 · TRPO와 PPO</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PPO는 비율을 잘라 한 번의 갱신 폭을 묶는다</a:t>
            </a:r>
          </a:p>
        </p:txBody>
      </p:sp>
      <p:sp>
        <p:nvSpPr>
          <p:cNvPr id="4" name="Rounded Rectangle 3"/>
          <p:cNvSpPr/>
          <p:nvPr/>
        </p:nvSpPr>
        <p:spPr>
          <a:xfrm>
            <a:off x="711200" y="1361678"/>
            <a:ext cx="10769600" cy="537766"/>
          </a:xfrm>
          <a:prstGeom prst="roundRect">
            <a:avLst>
              <a:gd name="adj" fmla="val 9446"/>
            </a:avLst>
          </a:prstGeom>
          <a:solidFill>
            <a:srgbClr val="FFFDF8"/>
          </a:solidFill>
          <a:ln>
            <a:noFill/>
          </a:ln>
        </p:spPr>
        <p:txBody>
          <a:bodyPr rtlCol="0" anchor="ctr"/>
          <a:lstStyle/>
          <a:p>
            <a:pPr algn="ctr"/>
          </a:p>
        </p:txBody>
      </p:sp>
      <p:sp>
        <p:nvSpPr>
          <p:cNvPr id="5" name="Rounded Rectangle 4"/>
          <p:cNvSpPr/>
          <p:nvPr/>
        </p:nvSpPr>
        <p:spPr>
          <a:xfrm>
            <a:off x="711200" y="1361678"/>
            <a:ext cx="38100" cy="537766"/>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66316"/>
          </a:xfrm>
          <a:prstGeom prst="rect">
            <a:avLst/>
          </a:prstGeom>
        </p:spPr>
      </p:pic>
      <p:sp>
        <p:nvSpPr>
          <p:cNvPr id="7" name="Rounded Rectangle 6"/>
          <p:cNvSpPr/>
          <p:nvPr/>
        </p:nvSpPr>
        <p:spPr>
          <a:xfrm>
            <a:off x="711200" y="2077244"/>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1560286" y="2077244"/>
            <a:ext cx="9071429" cy="2730500"/>
          </a:xfrm>
          <a:prstGeom prst="rect">
            <a:avLst/>
          </a:prstGeom>
        </p:spPr>
      </p:pic>
      <p:sp>
        <p:nvSpPr>
          <p:cNvPr id="9" name="TextBox 8"/>
          <p:cNvSpPr txBox="1"/>
          <p:nvPr/>
        </p:nvSpPr>
        <p:spPr>
          <a:xfrm>
            <a:off x="711200" y="4871244"/>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(a)(b) ε=0.2의 자른 목표 (c) 같은 KL 거리와 같은 파라미터 거리의 차이 — scripts/make_rl_figures.py</a:t>
            </a:r>
          </a:p>
        </p:txBody>
      </p:sp>
      <p:sp>
        <p:nvSpPr>
          <p:cNvPr id="10" name="Rounded Rectangle 9"/>
          <p:cNvSpPr/>
          <p:nvPr/>
        </p:nvSpPr>
        <p:spPr>
          <a:xfrm>
            <a:off x="711200" y="5226844"/>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353844"/>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flow 정책은 비율 ρ의 재료인 로그 확률을 바로 주지 않는다. 이것이 5장의 문제다.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TRPO — arXiv:1502.05477 · [2] PPO — arXiv:1707.06347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가치 기반과 오프라인 · R.6, R.10 · 강의 7–8, 17–18</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자료 밖 행동의 가치를</a:t>
            </a:r>
          </a:p>
          <a:p>
            <a:pPr>
              <a:lnSpc>
                <a:spcPct val="112240"/>
              </a:lnSpc>
            </a:pPr>
            <a:r>
              <a:rPr sz="3850" b="1" i="0">
                <a:solidFill>
                  <a:srgbClr val="F4F1EA"/>
                </a:solidFill>
                <a:latin typeface="Arial"/>
                <a:ea typeface="Malgun Gothic"/>
                <a:cs typeface="Malgun Gothic"/>
              </a:rPr>
              <a:t>믿지 않는 법을 배운다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max는 잡음을 과대평가하고, 오프라인에서는 그 오차를 바로잡을 새 자료가 없다.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R.6 · Q-learning</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max를 쓴 목표는 가치를 과대평가한다</a:t>
            </a:r>
          </a:p>
        </p:txBody>
      </p:sp>
      <p:sp>
        <p:nvSpPr>
          <p:cNvPr id="4" name="Rounded Rectangle 3"/>
          <p:cNvSpPr/>
          <p:nvPr/>
        </p:nvSpPr>
        <p:spPr>
          <a:xfrm>
            <a:off x="711200" y="1361678"/>
            <a:ext cx="10769600" cy="556617"/>
          </a:xfrm>
          <a:prstGeom prst="roundRect">
            <a:avLst>
              <a:gd name="adj" fmla="val 9126"/>
            </a:avLst>
          </a:prstGeom>
          <a:solidFill>
            <a:srgbClr val="FFFDF8"/>
          </a:solidFill>
          <a:ln>
            <a:noFill/>
          </a:ln>
        </p:spPr>
        <p:txBody>
          <a:bodyPr rtlCol="0" anchor="ctr"/>
          <a:lstStyle/>
          <a:p>
            <a:pPr algn="ctr"/>
          </a:p>
        </p:txBody>
      </p:sp>
      <p:sp>
        <p:nvSpPr>
          <p:cNvPr id="5" name="Rounded Rectangle 4"/>
          <p:cNvSpPr/>
          <p:nvPr/>
        </p:nvSpPr>
        <p:spPr>
          <a:xfrm>
            <a:off x="711200" y="1361678"/>
            <a:ext cx="38100" cy="55661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85167"/>
          </a:xfrm>
          <a:prstGeom prst="rect">
            <a:avLst/>
          </a:prstGeom>
        </p:spPr>
      </p:pic>
      <p:sp>
        <p:nvSpPr>
          <p:cNvPr id="7" name="Rounded Rectangle 6"/>
          <p:cNvSpPr/>
          <p:nvPr/>
        </p:nvSpPr>
        <p:spPr>
          <a:xfrm>
            <a:off x="711200" y="2096095"/>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1706129" y="2096095"/>
            <a:ext cx="8779743" cy="2730500"/>
          </a:xfrm>
          <a:prstGeom prst="rect">
            <a:avLst/>
          </a:prstGeom>
        </p:spPr>
      </p:pic>
      <p:sp>
        <p:nvSpPr>
          <p:cNvPr id="9" name="TextBox 8"/>
          <p:cNvSpPr txBox="1"/>
          <p:nvPr/>
        </p:nvSpPr>
        <p:spPr>
          <a:xfrm>
            <a:off x="711200" y="489009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표 Q-learning 학습 곡선 (b) 수렴한 가치와 정책 (c) 참 Q가 모두 0일 때 max 목표와 Double Q의 치우침 — scripts/make_rl_figures.py</a:t>
            </a:r>
          </a:p>
        </p:txBody>
      </p:sp>
      <p:sp>
        <p:nvSpPr>
          <p:cNvPr id="10" name="Rounded Rectangle 9"/>
          <p:cNvSpPr/>
          <p:nvPr/>
        </p:nvSpPr>
        <p:spPr>
          <a:xfrm>
            <a:off x="711200" y="5245695"/>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37269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MPPI 표본 768개 중 가장 낮은 비용도 잡음 때문에 실제보다 낮게 보인다.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DQN — arXiv:1312.5602 · [2] Double Q — arXiv:1509.06461 · [3] TD3 — arXiv:1802.09477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R.10 · 오프라인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오프라인 RL은 자료 밖 행동을 과대평가하지 않게 막는다</a:t>
            </a:r>
          </a:p>
        </p:txBody>
      </p:sp>
      <p:sp>
        <p:nvSpPr>
          <p:cNvPr id="4" name="Rounded Rectangle 3"/>
          <p:cNvSpPr/>
          <p:nvPr/>
        </p:nvSpPr>
        <p:spPr>
          <a:xfrm>
            <a:off x="711200" y="1361678"/>
            <a:ext cx="52578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정책 제약</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AWR</a:t>
            </a:r>
          </a:p>
        </p:txBody>
      </p:sp>
      <p:sp>
        <p:nvSpPr>
          <p:cNvPr id="12" name="TextBox 11"/>
          <p:cNvSpPr txBox="1"/>
          <p:nvPr/>
        </p:nvSpPr>
        <p:spPr>
          <a:xfrm>
            <a:off x="927100" y="21325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새 정책을 자료 정책 가까이에 묶는다</a:t>
            </a:r>
          </a:p>
        </p:txBody>
      </p:sp>
      <p:sp>
        <p:nvSpPr>
          <p:cNvPr id="13" name="Rounded Rectangle 12"/>
          <p:cNvSpPr/>
          <p:nvPr/>
        </p:nvSpPr>
        <p:spPr>
          <a:xfrm>
            <a:off x="711200" y="2613819"/>
            <a:ext cx="52578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711200" y="261381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613819"/>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711200" y="3745309"/>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613819"/>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759869"/>
            <a:ext cx="774204"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2785269"/>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보수적 가치</a:t>
            </a:r>
          </a:p>
        </p:txBody>
      </p:sp>
      <p:sp>
        <p:nvSpPr>
          <p:cNvPr id="20" name="TextBox 19"/>
          <p:cNvSpPr txBox="1"/>
          <p:nvPr/>
        </p:nvSpPr>
        <p:spPr>
          <a:xfrm>
            <a:off x="927100" y="3077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CQL</a:t>
            </a:r>
          </a:p>
        </p:txBody>
      </p:sp>
      <p:sp>
        <p:nvSpPr>
          <p:cNvPr id="21" name="TextBox 20"/>
          <p:cNvSpPr txBox="1"/>
          <p:nvPr/>
        </p:nvSpPr>
        <p:spPr>
          <a:xfrm>
            <a:off x="927100" y="3384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자료에 없는 행동의 Q를 끌어내린다</a:t>
            </a:r>
          </a:p>
        </p:txBody>
      </p:sp>
      <p:sp>
        <p:nvSpPr>
          <p:cNvPr id="22" name="Rounded Rectangle 21"/>
          <p:cNvSpPr/>
          <p:nvPr/>
        </p:nvSpPr>
        <p:spPr>
          <a:xfrm>
            <a:off x="711200" y="3865959"/>
            <a:ext cx="52578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3865959"/>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386595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499745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3865959"/>
            <a:ext cx="50800" cy="113784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012009"/>
            <a:ext cx="917476"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037409"/>
            <a:ext cx="78726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표본 안 기댓값</a:t>
            </a:r>
          </a:p>
        </p:txBody>
      </p:sp>
      <p:sp>
        <p:nvSpPr>
          <p:cNvPr id="29" name="TextBox 28"/>
          <p:cNvSpPr txBox="1"/>
          <p:nvPr/>
        </p:nvSpPr>
        <p:spPr>
          <a:xfrm>
            <a:off x="927100" y="43295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IQL</a:t>
            </a:r>
          </a:p>
        </p:txBody>
      </p:sp>
      <p:sp>
        <p:nvSpPr>
          <p:cNvPr id="30" name="TextBox 29"/>
          <p:cNvSpPr txBox="1"/>
          <p:nvPr/>
        </p:nvSpPr>
        <p:spPr>
          <a:xfrm>
            <a:off x="927100" y="46367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자료 안 행동의 expectile로 가치를 배운다</a:t>
            </a:r>
          </a:p>
        </p:txBody>
      </p:sp>
      <p:sp>
        <p:nvSpPr>
          <p:cNvPr id="31" name="Rounded Rectangle 30"/>
          <p:cNvSpPr/>
          <p:nvPr/>
        </p:nvSpPr>
        <p:spPr>
          <a:xfrm>
            <a:off x="6223000" y="1361678"/>
            <a:ext cx="5257800" cy="2349500"/>
          </a:xfrm>
          <a:prstGeom prst="roundRect">
            <a:avLst>
              <a:gd name="adj" fmla="val 2162"/>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335496" y="1361678"/>
            <a:ext cx="5032809" cy="2349500"/>
          </a:xfrm>
          <a:prstGeom prst="rect">
            <a:avLst/>
          </a:prstGeom>
        </p:spPr>
      </p:pic>
      <p:sp>
        <p:nvSpPr>
          <p:cNvPr id="33" name="TextBox 32"/>
          <p:cNvSpPr txBox="1"/>
          <p:nvPr/>
        </p:nvSpPr>
        <p:spPr>
          <a:xfrm>
            <a:off x="6223000" y="3774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회귀 Q는 자료 없는 a=−2.00을 고르고 참 보상은 0.00이다. 보수적 Q는 +0.15(참 0.99), AWR은 +0.12(참 0.98)를 고른다 — scripts/make_rl_figures.py</a:t>
            </a:r>
          </a:p>
        </p:txBody>
      </p:sp>
      <p:sp>
        <p:nvSpPr>
          <p:cNvPr id="34" name="Rounded Rectangle 33"/>
          <p:cNvSpPr/>
          <p:nvPr/>
        </p:nvSpPr>
        <p:spPr>
          <a:xfrm>
            <a:off x="711200" y="5181600"/>
            <a:ext cx="10769600" cy="502543"/>
          </a:xfrm>
          <a:prstGeom prst="roundRect">
            <a:avLst>
              <a:gd name="adj" fmla="val 15162"/>
            </a:avLst>
          </a:prstGeom>
          <a:solidFill>
            <a:srgbClr val="16213A"/>
          </a:solidFill>
          <a:ln>
            <a:noFill/>
          </a:ln>
        </p:spPr>
        <p:txBody>
          <a:bodyPr rtlCol="0" anchor="ctr"/>
          <a:lstStyle/>
          <a:p>
            <a:pPr algn="ctr"/>
          </a:p>
        </p:txBody>
      </p:sp>
      <p:sp>
        <p:nvSpPr>
          <p:cNvPr id="35" name="TextBox 34"/>
          <p:cNvSpPr txBox="1"/>
          <p:nvPr/>
        </p:nvSpPr>
        <p:spPr>
          <a:xfrm>
            <a:off x="889000" y="53086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벤치마크 기록에는 Guidance가 고른 경로의 결과만 있다. 기록만으로 배우면 이 문제가 바로 생긴다.</a:t>
            </a:r>
          </a:p>
        </p:txBody>
      </p:sp>
      <p:sp>
        <p:nvSpPr>
          <p:cNvPr id="36" name="Rectangle 35"/>
          <p:cNvSpPr/>
          <p:nvPr/>
        </p:nvSpPr>
        <p:spPr>
          <a:xfrm>
            <a:off x="711200" y="6424315"/>
            <a:ext cx="10769600" cy="230485"/>
          </a:xfrm>
          <a:prstGeom prst="rect">
            <a:avLst/>
          </a:prstGeom>
          <a:noFill/>
          <a:ln>
            <a:noFill/>
          </a:ln>
        </p:spPr>
        <p:txBody>
          <a:bodyPr rtlCol="0" anchor="ctr"/>
          <a:lstStyle/>
          <a:p>
            <a:pPr algn="ctr"/>
          </a:p>
        </p:txBody>
      </p:sp>
      <p:sp>
        <p:nvSpPr>
          <p:cNvPr id="37" name="Rectangle 3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8" name="TextBox 3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AWR — arXiv:1910.00177 · [2] CQL — arXiv:2006.04779 · [3] IQL — arXiv:2110.06169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R.10 · AWR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AWR은 이점의 지수로 가중한 행동 복제다</a:t>
            </a:r>
          </a:p>
        </p:txBody>
      </p:sp>
      <p:sp>
        <p:nvSpPr>
          <p:cNvPr id="4" name="Rounded Rectangle 3"/>
          <p:cNvSpPr/>
          <p:nvPr/>
        </p:nvSpPr>
        <p:spPr>
          <a:xfrm>
            <a:off x="711200" y="1361678"/>
            <a:ext cx="10769600" cy="547787"/>
          </a:xfrm>
          <a:prstGeom prst="roundRect">
            <a:avLst>
              <a:gd name="adj" fmla="val 9273"/>
            </a:avLst>
          </a:prstGeom>
          <a:solidFill>
            <a:srgbClr val="FFFDF8"/>
          </a:solidFill>
          <a:ln>
            <a:noFill/>
          </a:ln>
        </p:spPr>
        <p:txBody>
          <a:bodyPr rtlCol="0" anchor="ctr"/>
          <a:lstStyle/>
          <a:p>
            <a:pPr algn="ctr"/>
          </a:p>
        </p:txBody>
      </p:sp>
      <p:sp>
        <p:nvSpPr>
          <p:cNvPr id="5" name="Rounded Rectangle 4"/>
          <p:cNvSpPr/>
          <p:nvPr/>
        </p:nvSpPr>
        <p:spPr>
          <a:xfrm>
            <a:off x="711200" y="1361678"/>
            <a:ext cx="38100" cy="54778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76337"/>
          </a:xfrm>
          <a:prstGeom prst="rect">
            <a:avLst/>
          </a:prstGeom>
        </p:spPr>
      </p:pic>
      <p:sp>
        <p:nvSpPr>
          <p:cNvPr id="7" name="Rounded Rectangle 6"/>
          <p:cNvSpPr/>
          <p:nvPr/>
        </p:nvSpPr>
        <p:spPr>
          <a:xfrm>
            <a:off x="711200" y="2087265"/>
            <a:ext cx="5257800" cy="1435001"/>
          </a:xfrm>
          <a:prstGeom prst="roundRect">
            <a:avLst>
              <a:gd name="adj" fmla="val 5310"/>
            </a:avLst>
          </a:prstGeom>
          <a:solidFill>
            <a:srgbClr val="FFFDF8"/>
          </a:solidFill>
          <a:ln>
            <a:noFill/>
          </a:ln>
        </p:spPr>
        <p:txBody>
          <a:bodyPr rtlCol="0" anchor="ctr"/>
          <a:lstStyle/>
          <a:p>
            <a:pPr algn="ctr"/>
          </a:p>
        </p:txBody>
      </p:sp>
      <p:sp>
        <p:nvSpPr>
          <p:cNvPr id="8" name="Rectangle 7"/>
          <p:cNvSpPr/>
          <p:nvPr/>
        </p:nvSpPr>
        <p:spPr>
          <a:xfrm>
            <a:off x="711200" y="2087265"/>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087265"/>
            <a:ext cx="6350" cy="1435001"/>
          </a:xfrm>
          <a:prstGeom prst="rect">
            <a:avLst/>
          </a:prstGeom>
          <a:solidFill>
            <a:srgbClr val="D9D4C7"/>
          </a:solidFill>
          <a:ln>
            <a:noFill/>
          </a:ln>
        </p:spPr>
        <p:txBody>
          <a:bodyPr rtlCol="0" anchor="ctr"/>
          <a:lstStyle/>
          <a:p>
            <a:pPr algn="ctr"/>
          </a:p>
        </p:txBody>
      </p:sp>
      <p:sp>
        <p:nvSpPr>
          <p:cNvPr id="10" name="Rectangle 9"/>
          <p:cNvSpPr/>
          <p:nvPr/>
        </p:nvSpPr>
        <p:spPr>
          <a:xfrm>
            <a:off x="711200" y="3515916"/>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087265"/>
            <a:ext cx="50800" cy="14350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233315"/>
            <a:ext cx="517723"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258715"/>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숫자로</a:t>
            </a:r>
          </a:p>
        </p:txBody>
      </p:sp>
      <p:sp>
        <p:nvSpPr>
          <p:cNvPr id="14" name="TextBox 13"/>
          <p:cNvSpPr txBox="1"/>
          <p:nvPr/>
        </p:nvSpPr>
        <p:spPr>
          <a:xfrm>
            <a:off x="927100" y="2550815"/>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이점 +0.3, 0, −0.3, β = 0.15</a:t>
            </a:r>
          </a:p>
        </p:txBody>
      </p:sp>
      <p:sp>
        <p:nvSpPr>
          <p:cNvPr id="15" name="TextBox 14"/>
          <p:cNvSpPr txBox="1"/>
          <p:nvPr/>
        </p:nvSpPr>
        <p:spPr>
          <a:xfrm>
            <a:off x="927100" y="285809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가중은 7.39, 1, 0.135이고 정규화하면 </a:t>
            </a:r>
            <a:r>
              <a:rPr sz="1150" b="1" i="0">
                <a:solidFill>
                  <a:srgbClr val="16213A"/>
                </a:solidFill>
                <a:latin typeface="Arial"/>
                <a:ea typeface="Malgun Gothic"/>
                <a:cs typeface="Malgun Gothic"/>
              </a:rPr>
              <a:t>0.867, 0.117, 0.016</a:t>
            </a:r>
            <a:r>
              <a:rPr sz="1150" b="0" i="0">
                <a:solidFill>
                  <a:srgbClr val="16213A"/>
                </a:solidFill>
                <a:latin typeface="Arial"/>
                <a:ea typeface="Malgun Gothic"/>
                <a:cs typeface="Malgun Gothic"/>
              </a:rPr>
              <a:t>이다.</a:t>
            </a:r>
          </a:p>
        </p:txBody>
      </p:sp>
      <p:sp>
        <p:nvSpPr>
          <p:cNvPr id="16" name="TextBox 15"/>
          <p:cNvSpPr txBox="1"/>
          <p:nvPr/>
        </p:nvSpPr>
        <p:spPr>
          <a:xfrm>
            <a:off x="927100" y="315525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좋은 행동을 거의 다 따라 하고 나쁜 행동은 거의 무시한다.</a:t>
            </a:r>
          </a:p>
        </p:txBody>
      </p:sp>
      <p:sp>
        <p:nvSpPr>
          <p:cNvPr id="17" name="Rounded Rectangle 16"/>
          <p:cNvSpPr/>
          <p:nvPr/>
        </p:nvSpPr>
        <p:spPr>
          <a:xfrm>
            <a:off x="6223000" y="2087265"/>
            <a:ext cx="5257800" cy="1435001"/>
          </a:xfrm>
          <a:prstGeom prst="roundRect">
            <a:avLst>
              <a:gd name="adj" fmla="val 5310"/>
            </a:avLst>
          </a:prstGeom>
          <a:solidFill>
            <a:srgbClr val="FFFDF8"/>
          </a:solidFill>
          <a:ln>
            <a:noFill/>
          </a:ln>
        </p:spPr>
        <p:txBody>
          <a:bodyPr rtlCol="0" anchor="ctr"/>
          <a:lstStyle/>
          <a:p>
            <a:pPr algn="ctr"/>
          </a:p>
        </p:txBody>
      </p:sp>
      <p:sp>
        <p:nvSpPr>
          <p:cNvPr id="18" name="Rectangle 17"/>
          <p:cNvSpPr/>
          <p:nvPr/>
        </p:nvSpPr>
        <p:spPr>
          <a:xfrm>
            <a:off x="6223000" y="2087265"/>
            <a:ext cx="5257800" cy="6350"/>
          </a:xfrm>
          <a:prstGeom prst="rect">
            <a:avLst/>
          </a:prstGeom>
          <a:solidFill>
            <a:srgbClr val="D9D4C7"/>
          </a:solidFill>
          <a:ln>
            <a:noFill/>
          </a:ln>
        </p:spPr>
        <p:txBody>
          <a:bodyPr rtlCol="0" anchor="ctr"/>
          <a:lstStyle/>
          <a:p>
            <a:pPr algn="ctr"/>
          </a:p>
        </p:txBody>
      </p:sp>
      <p:sp>
        <p:nvSpPr>
          <p:cNvPr id="19" name="Rectangle 18"/>
          <p:cNvSpPr/>
          <p:nvPr/>
        </p:nvSpPr>
        <p:spPr>
          <a:xfrm>
            <a:off x="11474450" y="2087265"/>
            <a:ext cx="6350" cy="1435001"/>
          </a:xfrm>
          <a:prstGeom prst="rect">
            <a:avLst/>
          </a:prstGeom>
          <a:solidFill>
            <a:srgbClr val="D9D4C7"/>
          </a:solidFill>
          <a:ln>
            <a:noFill/>
          </a:ln>
        </p:spPr>
        <p:txBody>
          <a:bodyPr rtlCol="0" anchor="ctr"/>
          <a:lstStyle/>
          <a:p>
            <a:pPr algn="ctr"/>
          </a:p>
        </p:txBody>
      </p:sp>
      <p:sp>
        <p:nvSpPr>
          <p:cNvPr id="20" name="Rectangle 19"/>
          <p:cNvSpPr/>
          <p:nvPr/>
        </p:nvSpPr>
        <p:spPr>
          <a:xfrm>
            <a:off x="6223000" y="3515916"/>
            <a:ext cx="5257800" cy="6350"/>
          </a:xfrm>
          <a:prstGeom prst="rect">
            <a:avLst/>
          </a:prstGeom>
          <a:solidFill>
            <a:srgbClr val="D9D4C7"/>
          </a:solidFill>
          <a:ln>
            <a:noFill/>
          </a:ln>
        </p:spPr>
        <p:txBody>
          <a:bodyPr rtlCol="0" anchor="ctr"/>
          <a:lstStyle/>
          <a:p>
            <a:pPr algn="ctr"/>
          </a:p>
        </p:txBody>
      </p:sp>
      <p:sp>
        <p:nvSpPr>
          <p:cNvPr id="21" name="Rounded Rectangle 20"/>
          <p:cNvSpPr/>
          <p:nvPr/>
        </p:nvSpPr>
        <p:spPr>
          <a:xfrm>
            <a:off x="6223000" y="2087265"/>
            <a:ext cx="50800" cy="1435001"/>
          </a:xfrm>
          <a:prstGeom prst="roundRect">
            <a:avLst>
              <a:gd name="adj" fmla="val 50000"/>
            </a:avLst>
          </a:prstGeom>
          <a:solidFill>
            <a:srgbClr val="C2410C"/>
          </a:solidFill>
          <a:ln>
            <a:noFill/>
          </a:ln>
        </p:spPr>
        <p:txBody>
          <a:bodyPr rtlCol="0" anchor="ctr"/>
          <a:lstStyle/>
          <a:p>
            <a:pPr algn="ctr"/>
          </a:p>
        </p:txBody>
      </p:sp>
      <p:sp>
        <p:nvSpPr>
          <p:cNvPr id="22" name="Rounded Rectangle 21"/>
          <p:cNvSpPr/>
          <p:nvPr/>
        </p:nvSpPr>
        <p:spPr>
          <a:xfrm>
            <a:off x="6438900" y="2233315"/>
            <a:ext cx="688777" cy="241300"/>
          </a:xfrm>
          <a:prstGeom prst="roundRect">
            <a:avLst>
              <a:gd name="adj" fmla="val 50000"/>
            </a:avLst>
          </a:prstGeom>
          <a:solidFill>
            <a:srgbClr val="FDE7C8"/>
          </a:solidFill>
          <a:ln>
            <a:noFill/>
          </a:ln>
        </p:spPr>
        <p:txBody>
          <a:bodyPr rtlCol="0" anchor="ctr"/>
          <a:lstStyle/>
          <a:p>
            <a:pPr algn="ctr"/>
          </a:p>
        </p:txBody>
      </p:sp>
      <p:sp>
        <p:nvSpPr>
          <p:cNvPr id="23" name="TextBox 22"/>
          <p:cNvSpPr txBox="1"/>
          <p:nvPr/>
        </p:nvSpPr>
        <p:spPr>
          <a:xfrm>
            <a:off x="6527800" y="2258715"/>
            <a:ext cx="55170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TP-0066</a:t>
            </a:r>
          </a:p>
        </p:txBody>
      </p:sp>
      <p:sp>
        <p:nvSpPr>
          <p:cNvPr id="24" name="TextBox 23"/>
          <p:cNvSpPr txBox="1"/>
          <p:nvPr/>
        </p:nvSpPr>
        <p:spPr>
          <a:xfrm>
            <a:off x="6438900" y="2550815"/>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AWR 쪽이지만 순수 오프라인은 아니다</a:t>
            </a:r>
          </a:p>
        </p:txBody>
      </p:sp>
      <p:sp>
        <p:nvSpPr>
          <p:cNvPr id="25" name="TextBox 24"/>
          <p:cNvSpPr txBox="1"/>
          <p:nvPr/>
        </p:nvSpPr>
        <p:spPr>
          <a:xfrm>
            <a:off x="6438900" y="285809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매 라운드 지금의 Planner D로 후보를 새로 뽑는다.</a:t>
            </a:r>
          </a:p>
        </p:txBody>
      </p:sp>
      <p:sp>
        <p:nvSpPr>
          <p:cNvPr id="26" name="TextBox 25"/>
          <p:cNvSpPr txBox="1"/>
          <p:nvPr/>
        </p:nvSpPr>
        <p:spPr>
          <a:xfrm>
            <a:off x="6438900" y="315525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모방 가중 λ = 0.5가 KL 제약과 비슷한 일을 한다.</a:t>
            </a:r>
          </a:p>
        </p:txBody>
      </p:sp>
      <p:sp>
        <p:nvSpPr>
          <p:cNvPr id="27" name="Rounded Rectangle 26"/>
          <p:cNvSpPr/>
          <p:nvPr/>
        </p:nvSpPr>
        <p:spPr>
          <a:xfrm>
            <a:off x="711200" y="3700066"/>
            <a:ext cx="10769600" cy="502543"/>
          </a:xfrm>
          <a:prstGeom prst="roundRect">
            <a:avLst>
              <a:gd name="adj" fmla="val 15162"/>
            </a:avLst>
          </a:prstGeom>
          <a:solidFill>
            <a:srgbClr val="16213A"/>
          </a:solidFill>
          <a:ln>
            <a:noFill/>
          </a:ln>
        </p:spPr>
        <p:txBody>
          <a:bodyPr rtlCol="0" anchor="ctr"/>
          <a:lstStyle/>
          <a:p>
            <a:pPr algn="ctr"/>
          </a:p>
        </p:txBody>
      </p:sp>
      <p:sp>
        <p:nvSpPr>
          <p:cNvPr id="28" name="TextBox 27"/>
          <p:cNvSpPr txBox="1"/>
          <p:nvPr/>
        </p:nvSpPr>
        <p:spPr>
          <a:xfrm>
            <a:off x="889000" y="382706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AWR은 자료에 없는 행동을 만들지 않는다. 안전하지만 시연 밖으로는 멀리 못 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16287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추론으로서의 제어와 모델 기반 · R.8, R.9 · 강의 12–13, 15–16</a:t>
            </a:r>
          </a:p>
        </p:txBody>
      </p:sp>
      <p:sp>
        <p:nvSpPr>
          <p:cNvPr id="3" name="TextBox 2"/>
          <p:cNvSpPr txBox="1"/>
          <p:nvPr/>
        </p:nvSpPr>
        <p:spPr>
          <a:xfrm>
            <a:off x="812800" y="2601020"/>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MPPI는 최대 엔트로피 RL의</a:t>
            </a:r>
          </a:p>
          <a:p>
            <a:pPr>
              <a:lnSpc>
                <a:spcPct val="112240"/>
              </a:lnSpc>
            </a:pPr>
            <a:r>
              <a:rPr sz="3850" b="1" i="0">
                <a:solidFill>
                  <a:srgbClr val="F4F1EA"/>
                </a:solidFill>
                <a:latin typeface="Arial"/>
                <a:ea typeface="Malgun Gothic"/>
                <a:cs typeface="Malgun Gothic"/>
              </a:rPr>
              <a:t>표본 판이다</a:t>
            </a:r>
          </a:p>
        </p:txBody>
      </p:sp>
      <p:sp>
        <p:nvSpPr>
          <p:cNvPr id="4" name="TextBox 3"/>
          <p:cNvSpPr txBox="1"/>
          <p:nvPr/>
        </p:nvSpPr>
        <p:spPr>
          <a:xfrm>
            <a:off x="812800" y="406906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최적 행동을 고르는 일을 확률 추론으로 보면, 정책 없이 매 스텝 행동열을 추론할 수 있다. 그 답을 정하는 것은 비용과 모델이다.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R.8 · 제어를 추론으로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최적 궤적의 사후분포는 보상의 지수로 가중된다</a:t>
            </a:r>
          </a:p>
        </p:txBody>
      </p:sp>
      <p:sp>
        <p:nvSpPr>
          <p:cNvPr id="4" name="Rounded Rectangle 3"/>
          <p:cNvSpPr/>
          <p:nvPr/>
        </p:nvSpPr>
        <p:spPr>
          <a:xfrm>
            <a:off x="711200" y="1361678"/>
            <a:ext cx="52578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486370"/>
          </a:xfrm>
          <a:prstGeom prst="rect">
            <a:avLst/>
          </a:prstGeom>
        </p:spPr>
      </p:pic>
      <p:sp>
        <p:nvSpPr>
          <p:cNvPr id="7" name="Rounded Rectangle 6"/>
          <p:cNvSpPr/>
          <p:nvPr/>
        </p:nvSpPr>
        <p:spPr>
          <a:xfrm>
            <a:off x="6223000" y="1361678"/>
            <a:ext cx="5257800" cy="657820"/>
          </a:xfrm>
          <a:prstGeom prst="roundRect">
            <a:avLst>
              <a:gd name="adj" fmla="val 7722"/>
            </a:avLst>
          </a:prstGeom>
          <a:solidFill>
            <a:srgbClr val="FFFDF8"/>
          </a:solidFill>
          <a:ln>
            <a:noFill/>
          </a:ln>
        </p:spPr>
        <p:txBody>
          <a:bodyPr rtlCol="0" anchor="ctr"/>
          <a:lstStyle/>
          <a:p>
            <a:pPr algn="ctr"/>
          </a:p>
        </p:txBody>
      </p:sp>
      <p:sp>
        <p:nvSpPr>
          <p:cNvPr id="8" name="Rounded Rectangle 7"/>
          <p:cNvSpPr/>
          <p:nvPr/>
        </p:nvSpPr>
        <p:spPr>
          <a:xfrm>
            <a:off x="6223000" y="1361678"/>
            <a:ext cx="38100" cy="65782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86370"/>
          </a:xfrm>
          <a:prstGeom prst="rect">
            <a:avLst/>
          </a:prstGeom>
        </p:spPr>
      </p:pic>
      <p:sp>
        <p:nvSpPr>
          <p:cNvPr id="10" name="Rounded Rectangle 9"/>
          <p:cNvSpPr/>
          <p:nvPr/>
        </p:nvSpPr>
        <p:spPr>
          <a:xfrm>
            <a:off x="711200" y="2197298"/>
            <a:ext cx="5308600" cy="1358801"/>
          </a:xfrm>
          <a:prstGeom prst="roundRect">
            <a:avLst>
              <a:gd name="adj" fmla="val 5607"/>
            </a:avLst>
          </a:prstGeom>
          <a:solidFill>
            <a:srgbClr val="FFFDF8"/>
          </a:solidFill>
          <a:ln>
            <a:noFill/>
          </a:ln>
        </p:spPr>
        <p:txBody>
          <a:bodyPr rtlCol="0" anchor="ctr"/>
          <a:lstStyle/>
          <a:p>
            <a:pPr algn="ctr"/>
          </a:p>
        </p:txBody>
      </p:sp>
      <p:sp>
        <p:nvSpPr>
          <p:cNvPr id="11" name="Rectangle 10"/>
          <p:cNvSpPr/>
          <p:nvPr/>
        </p:nvSpPr>
        <p:spPr>
          <a:xfrm>
            <a:off x="711200" y="2197298"/>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2197298"/>
            <a:ext cx="6350" cy="1358801"/>
          </a:xfrm>
          <a:prstGeom prst="rect">
            <a:avLst/>
          </a:prstGeom>
          <a:solidFill>
            <a:srgbClr val="D9D4C7"/>
          </a:solidFill>
          <a:ln>
            <a:noFill/>
          </a:ln>
        </p:spPr>
        <p:txBody>
          <a:bodyPr rtlCol="0" anchor="ctr"/>
          <a:lstStyle/>
          <a:p>
            <a:pPr algn="ctr"/>
          </a:p>
        </p:txBody>
      </p:sp>
      <p:sp>
        <p:nvSpPr>
          <p:cNvPr id="13" name="Rectangle 12"/>
          <p:cNvSpPr/>
          <p:nvPr/>
        </p:nvSpPr>
        <p:spPr>
          <a:xfrm>
            <a:off x="711200" y="3549749"/>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2197298"/>
            <a:ext cx="50800" cy="1358801"/>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2343348"/>
            <a:ext cx="887512"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236874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정책으로 근사</a:t>
            </a:r>
          </a:p>
        </p:txBody>
      </p:sp>
      <p:sp>
        <p:nvSpPr>
          <p:cNvPr id="17" name="TextBox 16"/>
          <p:cNvSpPr txBox="1"/>
          <p:nvPr/>
        </p:nvSpPr>
        <p:spPr>
          <a:xfrm>
            <a:off x="927100" y="266084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SAC</a:t>
            </a:r>
          </a:p>
        </p:txBody>
      </p:sp>
      <p:sp>
        <p:nvSpPr>
          <p:cNvPr id="18" name="TextBox 17"/>
          <p:cNvSpPr txBox="1"/>
          <p:nvPr/>
        </p:nvSpPr>
        <p:spPr>
          <a:xfrm>
            <a:off x="927100" y="296812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최적 정책은 </a:t>
            </a:r>
            <a:r>
              <a:rPr sz="1150" b="0" i="1">
                <a:solidFill>
                  <a:srgbClr val="16213A"/>
                </a:solidFill>
                <a:latin typeface="Arial"/>
                <a:ea typeface="Malgun Gothic"/>
                <a:cs typeface="Malgun Gothic"/>
              </a:rPr>
              <a:t>π(a | s) ∝ exp(Q(s, a)/α)</a:t>
            </a:r>
            <a:r>
              <a:rPr sz="1150" b="0" i="0">
                <a:solidFill>
                  <a:srgbClr val="16213A"/>
                </a:solidFill>
                <a:latin typeface="Arial"/>
                <a:ea typeface="Malgun Gothic"/>
                <a:cs typeface="Malgun Gothic"/>
              </a:rPr>
              <a:t>다. 엔트로피 항이 탐색을 유지하고 여러 해를 함께 남긴다.</a:t>
            </a:r>
          </a:p>
        </p:txBody>
      </p:sp>
      <p:sp>
        <p:nvSpPr>
          <p:cNvPr id="19" name="Rounded Rectangle 18"/>
          <p:cNvSpPr/>
          <p:nvPr/>
        </p:nvSpPr>
        <p:spPr>
          <a:xfrm>
            <a:off x="6172200" y="2197298"/>
            <a:ext cx="5308600" cy="1358801"/>
          </a:xfrm>
          <a:prstGeom prst="roundRect">
            <a:avLst>
              <a:gd name="adj" fmla="val 5607"/>
            </a:avLst>
          </a:prstGeom>
          <a:solidFill>
            <a:srgbClr val="FFFDF8"/>
          </a:solidFill>
          <a:ln>
            <a:noFill/>
          </a:ln>
        </p:spPr>
        <p:txBody>
          <a:bodyPr rtlCol="0" anchor="ctr"/>
          <a:lstStyle/>
          <a:p>
            <a:pPr algn="ctr"/>
          </a:p>
        </p:txBody>
      </p:sp>
      <p:sp>
        <p:nvSpPr>
          <p:cNvPr id="20" name="Rectangle 19"/>
          <p:cNvSpPr/>
          <p:nvPr/>
        </p:nvSpPr>
        <p:spPr>
          <a:xfrm>
            <a:off x="6172200" y="2197298"/>
            <a:ext cx="5308600" cy="6350"/>
          </a:xfrm>
          <a:prstGeom prst="rect">
            <a:avLst/>
          </a:prstGeom>
          <a:solidFill>
            <a:srgbClr val="D9D4C7"/>
          </a:solidFill>
          <a:ln>
            <a:noFill/>
          </a:ln>
        </p:spPr>
        <p:txBody>
          <a:bodyPr rtlCol="0" anchor="ctr"/>
          <a:lstStyle/>
          <a:p>
            <a:pPr algn="ctr"/>
          </a:p>
        </p:txBody>
      </p:sp>
      <p:sp>
        <p:nvSpPr>
          <p:cNvPr id="21" name="Rectangle 20"/>
          <p:cNvSpPr/>
          <p:nvPr/>
        </p:nvSpPr>
        <p:spPr>
          <a:xfrm>
            <a:off x="11474450" y="2197298"/>
            <a:ext cx="6350" cy="1358801"/>
          </a:xfrm>
          <a:prstGeom prst="rect">
            <a:avLst/>
          </a:prstGeom>
          <a:solidFill>
            <a:srgbClr val="D9D4C7"/>
          </a:solidFill>
          <a:ln>
            <a:noFill/>
          </a:ln>
        </p:spPr>
        <p:txBody>
          <a:bodyPr rtlCol="0" anchor="ctr"/>
          <a:lstStyle/>
          <a:p>
            <a:pPr algn="ctr"/>
          </a:p>
        </p:txBody>
      </p:sp>
      <p:sp>
        <p:nvSpPr>
          <p:cNvPr id="22" name="Rectangle 21"/>
          <p:cNvSpPr/>
          <p:nvPr/>
        </p:nvSpPr>
        <p:spPr>
          <a:xfrm>
            <a:off x="6172200" y="3549749"/>
            <a:ext cx="5308600" cy="6350"/>
          </a:xfrm>
          <a:prstGeom prst="rect">
            <a:avLst/>
          </a:prstGeom>
          <a:solidFill>
            <a:srgbClr val="D9D4C7"/>
          </a:solidFill>
          <a:ln>
            <a:noFill/>
          </a:ln>
        </p:spPr>
        <p:txBody>
          <a:bodyPr rtlCol="0" anchor="ctr"/>
          <a:lstStyle/>
          <a:p>
            <a:pPr algn="ctr"/>
          </a:p>
        </p:txBody>
      </p:sp>
      <p:sp>
        <p:nvSpPr>
          <p:cNvPr id="23" name="Rounded Rectangle 22"/>
          <p:cNvSpPr/>
          <p:nvPr/>
        </p:nvSpPr>
        <p:spPr>
          <a:xfrm>
            <a:off x="6172200" y="2197298"/>
            <a:ext cx="50800" cy="1358801"/>
          </a:xfrm>
          <a:prstGeom prst="roundRect">
            <a:avLst>
              <a:gd name="adj" fmla="val 50000"/>
            </a:avLst>
          </a:prstGeom>
          <a:solidFill>
            <a:srgbClr val="C2410C"/>
          </a:solidFill>
          <a:ln>
            <a:noFill/>
          </a:ln>
        </p:spPr>
        <p:txBody>
          <a:bodyPr rtlCol="0" anchor="ctr"/>
          <a:lstStyle/>
          <a:p>
            <a:pPr algn="ctr"/>
          </a:p>
        </p:txBody>
      </p:sp>
      <p:sp>
        <p:nvSpPr>
          <p:cNvPr id="24" name="Rounded Rectangle 23"/>
          <p:cNvSpPr/>
          <p:nvPr/>
        </p:nvSpPr>
        <p:spPr>
          <a:xfrm>
            <a:off x="6388100" y="2343348"/>
            <a:ext cx="1144091" cy="241300"/>
          </a:xfrm>
          <a:prstGeom prst="roundRect">
            <a:avLst>
              <a:gd name="adj" fmla="val 50000"/>
            </a:avLst>
          </a:prstGeom>
          <a:solidFill>
            <a:srgbClr val="FDE7C8"/>
          </a:solidFill>
          <a:ln>
            <a:noFill/>
          </a:ln>
        </p:spPr>
        <p:txBody>
          <a:bodyPr rtlCol="0" anchor="ctr"/>
          <a:lstStyle/>
          <a:p>
            <a:pPr algn="ctr"/>
          </a:p>
        </p:txBody>
      </p:sp>
      <p:sp>
        <p:nvSpPr>
          <p:cNvPr id="25" name="TextBox 24"/>
          <p:cNvSpPr txBox="1"/>
          <p:nvPr/>
        </p:nvSpPr>
        <p:spPr>
          <a:xfrm>
            <a:off x="6477000" y="2368748"/>
            <a:ext cx="102068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행동열을 직접 추론</a:t>
            </a:r>
          </a:p>
        </p:txBody>
      </p:sp>
      <p:sp>
        <p:nvSpPr>
          <p:cNvPr id="26" name="TextBox 25"/>
          <p:cNvSpPr txBox="1"/>
          <p:nvPr/>
        </p:nvSpPr>
        <p:spPr>
          <a:xfrm>
            <a:off x="6388100" y="266084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MPPI</a:t>
            </a:r>
          </a:p>
        </p:txBody>
      </p:sp>
      <p:sp>
        <p:nvSpPr>
          <p:cNvPr id="27" name="TextBox 26"/>
          <p:cNvSpPr txBox="1"/>
          <p:nvPr/>
        </p:nvSpPr>
        <p:spPr>
          <a:xfrm>
            <a:off x="6388100" y="296812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q*(U) ∝ p(U) exp(-J(U)/λ)</a:t>
            </a:r>
            <a:r>
              <a:rPr sz="1150" b="0" i="0">
                <a:solidFill>
                  <a:srgbClr val="16213A"/>
                </a:solidFill>
                <a:latin typeface="Arial"/>
                <a:ea typeface="Malgun Gothic"/>
                <a:cs typeface="Malgun Gothic"/>
              </a:rPr>
              <a:t>에서 표본 </a:t>
            </a:r>
            <a:r>
              <a:rPr sz="1150" b="0" i="1">
                <a:solidFill>
                  <a:srgbClr val="16213A"/>
                </a:solidFill>
                <a:latin typeface="Arial"/>
                <a:ea typeface="Malgun Gothic"/>
                <a:cs typeface="Malgun Gothic"/>
              </a:rPr>
              <a:t>Uₖ</a:t>
            </a:r>
            <a:r>
              <a:rPr sz="1150" b="0" i="0">
                <a:solidFill>
                  <a:srgbClr val="16213A"/>
                </a:solidFill>
                <a:latin typeface="Arial"/>
                <a:ea typeface="Malgun Gothic"/>
                <a:cs typeface="Malgun Gothic"/>
              </a:rPr>
              <a:t>를 뽑아 </a:t>
            </a:r>
            <a:r>
              <a:rPr sz="1150" b="0" i="1">
                <a:solidFill>
                  <a:srgbClr val="16213A"/>
                </a:solidFill>
                <a:latin typeface="Arial"/>
                <a:ea typeface="Malgun Gothic"/>
                <a:cs typeface="Malgun Gothic"/>
              </a:rPr>
              <a:t>wₖ ∝ exp(-Jₖ/λ)</a:t>
            </a:r>
            <a:r>
              <a:rPr sz="1150" b="0" i="0">
                <a:solidFill>
                  <a:srgbClr val="16213A"/>
                </a:solidFill>
                <a:latin typeface="Arial"/>
                <a:ea typeface="Malgun Gothic"/>
                <a:cs typeface="Malgun Gothic"/>
              </a:rPr>
              <a:t>로 평균한다.</a:t>
            </a:r>
          </a:p>
        </p:txBody>
      </p:sp>
      <p:sp>
        <p:nvSpPr>
          <p:cNvPr id="28" name="Rounded Rectangle 27"/>
          <p:cNvSpPr/>
          <p:nvPr/>
        </p:nvSpPr>
        <p:spPr>
          <a:xfrm>
            <a:off x="711200" y="3733899"/>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386089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MPPI의 온도 λ가 SAC의 엔트로피 가중 α에 해당한다.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제어를 추론으로 — arXiv:1805.00909 · [2] SAC — arXiv:1801.01290 · [3] MPPI — arXiv:1509.01149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R.8 · MPPI의 온도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온도는 표본 몇 개 분량의 정보를 쓸지 정한다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494551" y="1361678"/>
            <a:ext cx="9202899"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넓고 얕은 골짜기, 좁고 깊은 골짜기, 가운데 언덕(치명 셀 같은 곳). 같은 표본 64개를 세 온도로 가중했다 — scripts/make_rl_figures.py</a:t>
            </a:r>
          </a:p>
        </p:txBody>
      </p:sp>
      <p:sp>
        <p:nvSpPr>
          <p:cNvPr id="7" name="Rounded Rectangle 6"/>
          <p:cNvSpPr/>
          <p:nvPr/>
        </p:nvSpPr>
        <p:spPr>
          <a:xfrm>
            <a:off x="711200" y="4320778"/>
            <a:ext cx="5308600" cy="820341"/>
          </a:xfrm>
          <a:prstGeom prst="roundRect">
            <a:avLst>
              <a:gd name="adj" fmla="val 9288"/>
            </a:avLst>
          </a:prstGeom>
          <a:solidFill>
            <a:srgbClr val="FFFDF8"/>
          </a:solidFill>
          <a:ln>
            <a:noFill/>
          </a:ln>
        </p:spPr>
        <p:txBody>
          <a:bodyPr rtlCol="0" anchor="ctr"/>
          <a:lstStyle/>
          <a:p>
            <a:pPr algn="ctr"/>
          </a:p>
        </p:txBody>
      </p:sp>
      <p:sp>
        <p:nvSpPr>
          <p:cNvPr id="8" name="Rectangle 7"/>
          <p:cNvSpPr/>
          <p:nvPr/>
        </p:nvSpPr>
        <p:spPr>
          <a:xfrm>
            <a:off x="711200" y="4320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320778"/>
            <a:ext cx="6350" cy="820341"/>
          </a:xfrm>
          <a:prstGeom prst="rect">
            <a:avLst/>
          </a:prstGeom>
          <a:solidFill>
            <a:srgbClr val="D9D4C7"/>
          </a:solidFill>
          <a:ln>
            <a:noFill/>
          </a:ln>
        </p:spPr>
        <p:txBody>
          <a:bodyPr rtlCol="0" anchor="ctr"/>
          <a:lstStyle/>
          <a:p>
            <a:pPr algn="ctr"/>
          </a:p>
        </p:txBody>
      </p:sp>
      <p:sp>
        <p:nvSpPr>
          <p:cNvPr id="10" name="Rectangle 9"/>
          <p:cNvSpPr/>
          <p:nvPr/>
        </p:nvSpPr>
        <p:spPr>
          <a:xfrm>
            <a:off x="711200" y="5134769"/>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820341"/>
          </a:xfrm>
          <a:prstGeom prst="roundRect">
            <a:avLst>
              <a:gd name="adj" fmla="val 50000"/>
            </a:avLst>
          </a:prstGeom>
          <a:solidFill>
            <a:srgbClr val="9AA6BC"/>
          </a:solidFill>
          <a:ln>
            <a:noFill/>
          </a:ln>
        </p:spPr>
        <p:txBody>
          <a:bodyPr rtlCol="0" anchor="ctr"/>
          <a:lstStyle/>
          <a:p>
            <a:pPr algn="ctr"/>
          </a:p>
        </p:txBody>
      </p:sp>
      <p:sp>
        <p:nvSpPr>
          <p:cNvPr id="12" name="TextBox 11"/>
          <p:cNvSpPr txBox="1"/>
          <p:nvPr/>
        </p:nvSpPr>
        <p:spPr>
          <a:xfrm>
            <a:off x="927100" y="44668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λ = 0.03</a:t>
            </a:r>
          </a:p>
        </p:txBody>
      </p:sp>
      <p:sp>
        <p:nvSpPr>
          <p:cNvPr id="13" name="TextBox 12"/>
          <p:cNvSpPr txBox="1"/>
          <p:nvPr/>
        </p:nvSpPr>
        <p:spPr>
          <a:xfrm>
            <a:off x="927100" y="47741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표본 1.6개 분량. 가장 좋은 표본 하나에 몰린다(탐욕).</a:t>
            </a:r>
          </a:p>
        </p:txBody>
      </p:sp>
      <p:sp>
        <p:nvSpPr>
          <p:cNvPr id="14" name="Rounded Rectangle 13"/>
          <p:cNvSpPr/>
          <p:nvPr/>
        </p:nvSpPr>
        <p:spPr>
          <a:xfrm>
            <a:off x="6172200" y="4320778"/>
            <a:ext cx="5308600" cy="820341"/>
          </a:xfrm>
          <a:prstGeom prst="roundRect">
            <a:avLst>
              <a:gd name="adj" fmla="val 9288"/>
            </a:avLst>
          </a:prstGeom>
          <a:solidFill>
            <a:srgbClr val="FFFDF8"/>
          </a:solidFill>
          <a:ln>
            <a:noFill/>
          </a:ln>
        </p:spPr>
        <p:txBody>
          <a:bodyPr rtlCol="0" anchor="ctr"/>
          <a:lstStyle/>
          <a:p>
            <a:pPr algn="ctr"/>
          </a:p>
        </p:txBody>
      </p:sp>
      <p:sp>
        <p:nvSpPr>
          <p:cNvPr id="15" name="Rectangle 14"/>
          <p:cNvSpPr/>
          <p:nvPr/>
        </p:nvSpPr>
        <p:spPr>
          <a:xfrm>
            <a:off x="6172200" y="43207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4320778"/>
            <a:ext cx="6350" cy="820341"/>
          </a:xfrm>
          <a:prstGeom prst="rect">
            <a:avLst/>
          </a:prstGeom>
          <a:solidFill>
            <a:srgbClr val="D9D4C7"/>
          </a:solidFill>
          <a:ln>
            <a:noFill/>
          </a:ln>
        </p:spPr>
        <p:txBody>
          <a:bodyPr rtlCol="0" anchor="ctr"/>
          <a:lstStyle/>
          <a:p>
            <a:pPr algn="ctr"/>
          </a:p>
        </p:txBody>
      </p:sp>
      <p:sp>
        <p:nvSpPr>
          <p:cNvPr id="17" name="Rectangle 16"/>
          <p:cNvSpPr/>
          <p:nvPr/>
        </p:nvSpPr>
        <p:spPr>
          <a:xfrm>
            <a:off x="6172200" y="513476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4320778"/>
            <a:ext cx="50800" cy="820341"/>
          </a:xfrm>
          <a:prstGeom prst="roundRect">
            <a:avLst>
              <a:gd name="adj" fmla="val 50000"/>
            </a:avLst>
          </a:prstGeom>
          <a:solidFill>
            <a:srgbClr val="9AA6BC"/>
          </a:solidFill>
          <a:ln>
            <a:noFill/>
          </a:ln>
        </p:spPr>
        <p:txBody>
          <a:bodyPr rtlCol="0" anchor="ctr"/>
          <a:lstStyle/>
          <a:p>
            <a:pPr algn="ctr"/>
          </a:p>
        </p:txBody>
      </p:sp>
      <p:sp>
        <p:nvSpPr>
          <p:cNvPr id="19" name="TextBox 18"/>
          <p:cNvSpPr txBox="1"/>
          <p:nvPr/>
        </p:nvSpPr>
        <p:spPr>
          <a:xfrm>
            <a:off x="6388100" y="44668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λ = 3</a:t>
            </a:r>
          </a:p>
        </p:txBody>
      </p:sp>
      <p:sp>
        <p:nvSpPr>
          <p:cNvPr id="20" name="TextBox 19"/>
          <p:cNvSpPr txBox="1"/>
          <p:nvPr/>
        </p:nvSpPr>
        <p:spPr>
          <a:xfrm>
            <a:off x="6388100" y="47741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표본 59.4개 분량. 평균에 가까워진다.</a:t>
            </a:r>
          </a:p>
        </p:txBody>
      </p:sp>
      <p:sp>
        <p:nvSpPr>
          <p:cNvPr id="21" name="Rounded Rectangle 20"/>
          <p:cNvSpPr/>
          <p:nvPr/>
        </p:nvSpPr>
        <p:spPr>
          <a:xfrm>
            <a:off x="711200" y="5318919"/>
            <a:ext cx="10769600" cy="502543"/>
          </a:xfrm>
          <a:prstGeom prst="roundRect">
            <a:avLst>
              <a:gd name="adj" fmla="val 15162"/>
            </a:avLst>
          </a:prstGeom>
          <a:solidFill>
            <a:srgbClr val="16213A"/>
          </a:solidFill>
          <a:ln>
            <a:noFill/>
          </a:ln>
        </p:spPr>
        <p:txBody>
          <a:bodyPr rtlCol="0" anchor="ctr"/>
          <a:lstStyle/>
          <a:p>
            <a:pPr algn="ctr"/>
          </a:p>
        </p:txBody>
      </p:sp>
      <p:sp>
        <p:nvSpPr>
          <p:cNvPr id="22" name="TextBox 21"/>
          <p:cNvSpPr txBox="1"/>
          <p:nvPr/>
        </p:nvSpPr>
        <p:spPr>
          <a:xfrm>
            <a:off x="889000" y="544591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MPPI 온도(MPPIConfig.temperature) 기본값은 0.5이고 비용 범위로 정규화하지 않는다.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R.9 · 모델 기반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계획은 모델이 틀린 곳을 찾아가 이용한다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949952" y="1361678"/>
            <a:ext cx="8292096"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(b) 모델 하나는 자료 밖 a=−2.50을 골라 실제로 −2.06이 되고, 앙상블 평균−2σ는 a=+0.71로 참 최적과 같은 +0.28을 낸다 — scripts/make_rl_figures.py</a:t>
            </a:r>
          </a:p>
        </p:txBody>
      </p:sp>
      <p:sp>
        <p:nvSpPr>
          <p:cNvPr id="7" name="Rounded Rectangle 6"/>
          <p:cNvSpPr/>
          <p:nvPr/>
        </p:nvSpPr>
        <p:spPr>
          <a:xfrm>
            <a:off x="711200" y="4193778"/>
            <a:ext cx="3488234" cy="820341"/>
          </a:xfrm>
          <a:prstGeom prst="roundRect">
            <a:avLst>
              <a:gd name="adj" fmla="val 9288"/>
            </a:avLst>
          </a:prstGeom>
          <a:solidFill>
            <a:srgbClr val="FFFDF8"/>
          </a:solidFill>
          <a:ln>
            <a:noFill/>
          </a:ln>
        </p:spPr>
        <p:txBody>
          <a:bodyPr rtlCol="0" anchor="ctr"/>
          <a:lstStyle/>
          <a:p>
            <a:pPr algn="ctr"/>
          </a:p>
        </p:txBody>
      </p:sp>
      <p:sp>
        <p:nvSpPr>
          <p:cNvPr id="8" name="Rectangle 7"/>
          <p:cNvSpPr/>
          <p:nvPr/>
        </p:nvSpPr>
        <p:spPr>
          <a:xfrm>
            <a:off x="711200" y="4193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193778"/>
            <a:ext cx="6350" cy="820341"/>
          </a:xfrm>
          <a:prstGeom prst="rect">
            <a:avLst/>
          </a:prstGeom>
          <a:solidFill>
            <a:srgbClr val="D9D4C7"/>
          </a:solidFill>
          <a:ln>
            <a:noFill/>
          </a:ln>
        </p:spPr>
        <p:txBody>
          <a:bodyPr rtlCol="0" anchor="ctr"/>
          <a:lstStyle/>
          <a:p>
            <a:pPr algn="ctr"/>
          </a:p>
        </p:txBody>
      </p:sp>
      <p:sp>
        <p:nvSpPr>
          <p:cNvPr id="10" name="Rectangle 9"/>
          <p:cNvSpPr/>
          <p:nvPr/>
        </p:nvSpPr>
        <p:spPr>
          <a:xfrm>
            <a:off x="711200" y="500776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193778"/>
            <a:ext cx="50800" cy="820341"/>
          </a:xfrm>
          <a:prstGeom prst="roundRect">
            <a:avLst>
              <a:gd name="adj" fmla="val 50000"/>
            </a:avLst>
          </a:prstGeom>
          <a:solidFill>
            <a:srgbClr val="1D4ED8"/>
          </a:solidFill>
          <a:ln>
            <a:noFill/>
          </a:ln>
        </p:spPr>
        <p:txBody>
          <a:bodyPr rtlCol="0" anchor="ctr"/>
          <a:lstStyle/>
          <a:p>
            <a:pPr algn="ctr"/>
          </a:p>
        </p:txBody>
      </p:sp>
      <p:sp>
        <p:nvSpPr>
          <p:cNvPr id="12" name="TextBox 11"/>
          <p:cNvSpPr txBox="1"/>
          <p:nvPr/>
        </p:nvSpPr>
        <p:spPr>
          <a:xfrm>
            <a:off x="927100"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불확실성</a:t>
            </a:r>
          </a:p>
        </p:txBody>
      </p:sp>
      <p:sp>
        <p:nvSpPr>
          <p:cNvPr id="13" name="TextBox 12"/>
          <p:cNvSpPr txBox="1"/>
          <p:nvPr/>
        </p:nvSpPr>
        <p:spPr>
          <a:xfrm>
            <a:off x="927100" y="4647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앙상블로 모르는 곳을 표시한다(PETS)</a:t>
            </a:r>
          </a:p>
        </p:txBody>
      </p:sp>
      <p:sp>
        <p:nvSpPr>
          <p:cNvPr id="14" name="Rounded Rectangle 13"/>
          <p:cNvSpPr/>
          <p:nvPr/>
        </p:nvSpPr>
        <p:spPr>
          <a:xfrm>
            <a:off x="4351834" y="4193778"/>
            <a:ext cx="3488234" cy="820341"/>
          </a:xfrm>
          <a:prstGeom prst="roundRect">
            <a:avLst>
              <a:gd name="adj" fmla="val 9288"/>
            </a:avLst>
          </a:prstGeom>
          <a:solidFill>
            <a:srgbClr val="FFFDF8"/>
          </a:solidFill>
          <a:ln>
            <a:noFill/>
          </a:ln>
        </p:spPr>
        <p:txBody>
          <a:bodyPr rtlCol="0" anchor="ctr"/>
          <a:lstStyle/>
          <a:p>
            <a:pPr algn="ctr"/>
          </a:p>
        </p:txBody>
      </p:sp>
      <p:sp>
        <p:nvSpPr>
          <p:cNvPr id="15" name="Rectangle 14"/>
          <p:cNvSpPr/>
          <p:nvPr/>
        </p:nvSpPr>
        <p:spPr>
          <a:xfrm>
            <a:off x="4351834" y="41937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193778"/>
            <a:ext cx="6350" cy="820341"/>
          </a:xfrm>
          <a:prstGeom prst="rect">
            <a:avLst/>
          </a:prstGeom>
          <a:solidFill>
            <a:srgbClr val="D9D4C7"/>
          </a:solidFill>
          <a:ln>
            <a:noFill/>
          </a:ln>
        </p:spPr>
        <p:txBody>
          <a:bodyPr rtlCol="0" anchor="ctr"/>
          <a:lstStyle/>
          <a:p>
            <a:pPr algn="ctr"/>
          </a:p>
        </p:txBody>
      </p:sp>
      <p:sp>
        <p:nvSpPr>
          <p:cNvPr id="17" name="Rectangle 16"/>
          <p:cNvSpPr/>
          <p:nvPr/>
        </p:nvSpPr>
        <p:spPr>
          <a:xfrm>
            <a:off x="4351834" y="500776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193778"/>
            <a:ext cx="50800" cy="820341"/>
          </a:xfrm>
          <a:prstGeom prst="roundRect">
            <a:avLst>
              <a:gd name="adj" fmla="val 50000"/>
            </a:avLst>
          </a:prstGeom>
          <a:solidFill>
            <a:srgbClr val="1D4ED8"/>
          </a:solidFill>
          <a:ln>
            <a:noFill/>
          </a:ln>
        </p:spPr>
        <p:txBody>
          <a:bodyPr rtlCol="0" anchor="ctr"/>
          <a:lstStyle/>
          <a:p>
            <a:pPr algn="ctr"/>
          </a:p>
        </p:txBody>
      </p:sp>
      <p:sp>
        <p:nvSpPr>
          <p:cNvPr id="19" name="TextBox 18"/>
          <p:cNvSpPr txBox="1"/>
          <p:nvPr/>
        </p:nvSpPr>
        <p:spPr>
          <a:xfrm>
            <a:off x="4567734"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짧은 rollout</a:t>
            </a:r>
          </a:p>
        </p:txBody>
      </p:sp>
      <p:sp>
        <p:nvSpPr>
          <p:cNvPr id="20" name="TextBox 19"/>
          <p:cNvSpPr txBox="1"/>
          <p:nvPr/>
        </p:nvSpPr>
        <p:spPr>
          <a:xfrm>
            <a:off x="4567734" y="4647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실제 상태에서 몇 스텝만 굴린다(MBPO)</a:t>
            </a:r>
          </a:p>
        </p:txBody>
      </p:sp>
      <p:sp>
        <p:nvSpPr>
          <p:cNvPr id="21" name="Rounded Rectangle 20"/>
          <p:cNvSpPr/>
          <p:nvPr/>
        </p:nvSpPr>
        <p:spPr>
          <a:xfrm>
            <a:off x="7992467" y="4193778"/>
            <a:ext cx="3488234" cy="820341"/>
          </a:xfrm>
          <a:prstGeom prst="roundRect">
            <a:avLst>
              <a:gd name="adj" fmla="val 9288"/>
            </a:avLst>
          </a:prstGeom>
          <a:solidFill>
            <a:srgbClr val="FFFDF8"/>
          </a:solidFill>
          <a:ln>
            <a:noFill/>
          </a:ln>
        </p:spPr>
        <p:txBody>
          <a:bodyPr rtlCol="0" anchor="ctr"/>
          <a:lstStyle/>
          <a:p>
            <a:pPr algn="ctr"/>
          </a:p>
        </p:txBody>
      </p:sp>
      <p:sp>
        <p:nvSpPr>
          <p:cNvPr id="22" name="Rectangle 21"/>
          <p:cNvSpPr/>
          <p:nvPr/>
        </p:nvSpPr>
        <p:spPr>
          <a:xfrm>
            <a:off x="7992467" y="4193778"/>
            <a:ext cx="3488234" cy="6350"/>
          </a:xfrm>
          <a:prstGeom prst="rect">
            <a:avLst/>
          </a:prstGeom>
          <a:solidFill>
            <a:srgbClr val="D9D4C7"/>
          </a:solidFill>
          <a:ln>
            <a:noFill/>
          </a:ln>
        </p:spPr>
        <p:txBody>
          <a:bodyPr rtlCol="0" anchor="ctr"/>
          <a:lstStyle/>
          <a:p>
            <a:pPr algn="ctr"/>
          </a:p>
        </p:txBody>
      </p:sp>
      <p:sp>
        <p:nvSpPr>
          <p:cNvPr id="23" name="Rectangle 22"/>
          <p:cNvSpPr/>
          <p:nvPr/>
        </p:nvSpPr>
        <p:spPr>
          <a:xfrm>
            <a:off x="11474351" y="4193778"/>
            <a:ext cx="6350" cy="820341"/>
          </a:xfrm>
          <a:prstGeom prst="rect">
            <a:avLst/>
          </a:prstGeom>
          <a:solidFill>
            <a:srgbClr val="D9D4C7"/>
          </a:solidFill>
          <a:ln>
            <a:noFill/>
          </a:ln>
        </p:spPr>
        <p:txBody>
          <a:bodyPr rtlCol="0" anchor="ctr"/>
          <a:lstStyle/>
          <a:p>
            <a:pPr algn="ctr"/>
          </a:p>
        </p:txBody>
      </p:sp>
      <p:sp>
        <p:nvSpPr>
          <p:cNvPr id="24" name="Rectangle 23"/>
          <p:cNvSpPr/>
          <p:nvPr/>
        </p:nvSpPr>
        <p:spPr>
          <a:xfrm>
            <a:off x="7992467" y="5007769"/>
            <a:ext cx="3488234" cy="6350"/>
          </a:xfrm>
          <a:prstGeom prst="rect">
            <a:avLst/>
          </a:prstGeom>
          <a:solidFill>
            <a:srgbClr val="D9D4C7"/>
          </a:solidFill>
          <a:ln>
            <a:noFill/>
          </a:ln>
        </p:spPr>
        <p:txBody>
          <a:bodyPr rtlCol="0" anchor="ctr"/>
          <a:lstStyle/>
          <a:p>
            <a:pPr algn="ctr"/>
          </a:p>
        </p:txBody>
      </p:sp>
      <p:sp>
        <p:nvSpPr>
          <p:cNvPr id="25" name="Rounded Rectangle 24"/>
          <p:cNvSpPr/>
          <p:nvPr/>
        </p:nvSpPr>
        <p:spPr>
          <a:xfrm>
            <a:off x="7992467" y="4193778"/>
            <a:ext cx="50800" cy="820341"/>
          </a:xfrm>
          <a:prstGeom prst="roundRect">
            <a:avLst>
              <a:gd name="adj" fmla="val 50000"/>
            </a:avLst>
          </a:prstGeom>
          <a:solidFill>
            <a:srgbClr val="1D4ED8"/>
          </a:solidFill>
          <a:ln>
            <a:noFill/>
          </a:ln>
        </p:spPr>
        <p:txBody>
          <a:bodyPr rtlCol="0" anchor="ctr"/>
          <a:lstStyle/>
          <a:p>
            <a:pPr algn="ctr"/>
          </a:p>
        </p:txBody>
      </p:sp>
      <p:sp>
        <p:nvSpPr>
          <p:cNvPr id="26" name="TextBox 25"/>
          <p:cNvSpPr txBox="1"/>
          <p:nvPr/>
        </p:nvSpPr>
        <p:spPr>
          <a:xfrm>
            <a:off x="8208367"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잠재 공간</a:t>
            </a:r>
          </a:p>
        </p:txBody>
      </p:sp>
      <p:sp>
        <p:nvSpPr>
          <p:cNvPr id="27" name="TextBox 26"/>
          <p:cNvSpPr txBox="1"/>
          <p:nvPr/>
        </p:nvSpPr>
        <p:spPr>
          <a:xfrm>
            <a:off x="8208367" y="4647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잠재 상태에서 굴린다(Dreamer, TD-MPC2)</a:t>
            </a:r>
          </a:p>
        </p:txBody>
      </p:sp>
      <p:sp>
        <p:nvSpPr>
          <p:cNvPr id="28" name="Rounded Rectangle 27"/>
          <p:cNvSpPr/>
          <p:nvPr/>
        </p:nvSpPr>
        <p:spPr>
          <a:xfrm>
            <a:off x="711200" y="5191919"/>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531891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MPPI는 손으로 만든 SwerveModel로 하는 모델 기반 계획이다.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PETS — arXiv:1805.12114 · [2] MBPO — arXiv:1906.08253 · [3] Dreamer — arXiv:1912.01603 · [4] TD-MPC2 — arXiv:2310.16828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R.9 · TP-0149–0152 · 권장 L1 + 스워브 plant 레벨 3</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rollout 모델에 지연을 넣자 치명이 55에서 4로 줄었다</a:t>
            </a:r>
          </a:p>
        </p:txBody>
      </p:sp>
      <p:sp>
        <p:nvSpPr>
          <p:cNvPr id="4" name="Rounded Rectangle 3"/>
          <p:cNvSpPr/>
          <p:nvPr/>
        </p:nvSpPr>
        <p:spPr>
          <a:xfrm>
            <a:off x="711200" y="1361678"/>
            <a:ext cx="10769600" cy="2603500"/>
          </a:xfrm>
          <a:prstGeom prst="roundRect">
            <a:avLst>
              <a:gd name="adj" fmla="val 1951"/>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02902" y="1361678"/>
            <a:ext cx="7986196" cy="2603500"/>
          </a:xfrm>
          <a:prstGeom prst="rect">
            <a:avLst/>
          </a:prstGeom>
        </p:spPr>
      </p:pic>
      <p:sp>
        <p:nvSpPr>
          <p:cNvPr id="6" name="TextBox 5"/>
          <p:cNvSpPr txBox="1"/>
          <p:nvPr/>
        </p:nvSpPr>
        <p:spPr>
          <a:xfrm>
            <a:off x="711200" y="4028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TP-0150: MPPI rollout 모델에 plant의 지연을 넣은 효과 — scripts/make_evidence_figures.py</a:t>
            </a:r>
          </a:p>
        </p:txBody>
      </p:sp>
      <p:graphicFrame>
        <p:nvGraphicFramePr>
          <p:cNvPr id="7" name="Table 6"/>
          <p:cNvGraphicFramePr>
            <a:graphicFrameLocks noGrp="1"/>
          </p:cNvGraphicFramePr>
          <p:nvPr/>
        </p:nvGraphicFramePr>
        <p:xfrm>
          <a:off x="711200" y="4384278"/>
          <a:ext cx="10769600" cy="1144269"/>
        </p:xfrm>
        <a:graphic>
          <a:graphicData uri="http://schemas.openxmlformats.org/drawingml/2006/table">
            <a:tbl>
              <a:tblPr firstRow="0" bandRow="0">
                <a:tableStyleId>{5C22544A-7EE6-4342-B048-85BDC9FD1C3A}</a:tableStyleId>
              </a:tblPr>
              <a:tblGrid>
                <a:gridCol w="2289870"/>
                <a:gridCol w="2113359"/>
                <a:gridCol w="1191617"/>
                <a:gridCol w="5174754"/>
              </a:tblGrid>
              <a:tr h="292814">
                <a:tc>
                  <a:txBody>
                    <a:bodyPr wrap="square"/>
                    <a:lstStyle/>
                    <a:p>
                      <a:r>
                        <a:rPr sz="1200" b="1" i="0">
                          <a:solidFill>
                            <a:srgbClr val="F4F1EA"/>
                          </a:solidFill>
                          <a:latin typeface="Arial"/>
                          <a:ea typeface="Malgun Gothic"/>
                          <a:cs typeface="Malgun Gothic"/>
                        </a:rPr>
                        <a:t>Controller</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도달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치명</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무엇이 다른가</a:t>
                      </a:r>
                    </a:p>
                  </a:txBody>
                  <a:tcPr marL="76200" marR="76200" marT="25400" marB="25400">
                    <a:solidFill>
                      <a:srgbClr val="16213A"/>
                    </a:solidFill>
                  </a:tcPr>
                </a:tc>
              </a:tr>
              <a:tr h="284718">
                <a:tc>
                  <a:txBody>
                    <a:bodyPr wrap="square"/>
                    <a:lstStyle/>
                    <a:p>
                      <a:r>
                        <a:rPr sz="1050" b="0" i="0">
                          <a:solidFill>
                            <a:srgbClr val="7C2D12"/>
                          </a:solidFill>
                          <a:latin typeface="Consolas"/>
                          <a:ea typeface="Malgun Gothic"/>
                          <a:cs typeface="Malgun Gothic"/>
                        </a:rPr>
                        <a:t>mppi</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221/360</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55</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rollout이 plant의 지연을 모른다(TP-0149)</a:t>
                      </a:r>
                    </a:p>
                  </a:txBody>
                  <a:tcPr marL="76200" marR="76200" marT="25400" marB="25400">
                    <a:solidFill>
                      <a:srgbClr val="F1EDE4"/>
                    </a:solidFill>
                  </a:tcPr>
                </a:tc>
              </a:tr>
              <a:tr h="284718">
                <a:tc>
                  <a:txBody>
                    <a:bodyPr wrap="square"/>
                    <a:lstStyle/>
                    <a:p>
                      <a:r>
                        <a:rPr sz="1050" b="0" i="0">
                          <a:solidFill>
                            <a:srgbClr val="7C2D12"/>
                          </a:solidFill>
                          <a:latin typeface="Consolas"/>
                          <a:ea typeface="Malgun Gothic"/>
                          <a:cs typeface="Malgun Gothic"/>
                        </a:rPr>
                        <a:t>mppi_plant_lag</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239/360</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4</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rollout에 지연을 넣었다(TP-0150)</a:t>
                      </a:r>
                    </a:p>
                  </a:txBody>
                  <a:tcPr marL="76200" marR="76200" marT="25400" marB="25400">
                    <a:solidFill>
                      <a:srgbClr val="FFFDF8"/>
                    </a:solidFill>
                  </a:tcPr>
                </a:tc>
              </a:tr>
              <a:tr h="282019">
                <a:tc>
                  <a:txBody>
                    <a:bodyPr wrap="square"/>
                    <a:lstStyle/>
                    <a:p>
                      <a:r>
                        <a:rPr sz="1050" b="0" i="0">
                          <a:solidFill>
                            <a:srgbClr val="7C2D12"/>
                          </a:solidFill>
                          <a:latin typeface="Consolas"/>
                          <a:ea typeface="Malgun Gothic"/>
                          <a:cs typeface="Malgun Gothic"/>
                        </a:rPr>
                        <a:t>mpc</a:t>
                      </a:r>
                      <a:r>
                        <a:rPr sz="1200" b="0" i="0">
                          <a:solidFill>
                            <a:srgbClr val="16213A"/>
                          </a:solidFill>
                          <a:latin typeface="Arial"/>
                          <a:ea typeface="Malgun Gothic"/>
                          <a:cs typeface="Malgun Gothic"/>
                        </a:rPr>
                        <a:t> · </a:t>
                      </a:r>
                      <a:r>
                        <a:rPr sz="1050" b="0" i="0">
                          <a:solidFill>
                            <a:srgbClr val="7C2D12"/>
                          </a:solidFill>
                          <a:latin typeface="Consolas"/>
                          <a:ea typeface="Malgun Gothic"/>
                          <a:cs typeface="Malgun Gothic"/>
                        </a:rPr>
                        <a:t>mpc_gp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222 · 215/360</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34 · 32</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NMPC 갈래(TP-0152)</a:t>
                      </a:r>
                    </a:p>
                  </a:txBody>
                  <a:tcPr marL="76200" marR="76200" marT="25400" marB="25400">
                    <a:solidFill>
                      <a:srgbClr val="F1EDE4"/>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생성 정책의 RL과 안전 · R.12, R.13 · 강의 14와 강의 밖</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Planner D는 flow 정책이라</a:t>
            </a:r>
          </a:p>
          <a:p>
            <a:pPr>
              <a:lnSpc>
                <a:spcPct val="112240"/>
              </a:lnSpc>
            </a:pPr>
            <a:r>
              <a:rPr sz="3850" b="1" i="0">
                <a:solidFill>
                  <a:srgbClr val="F4F1EA"/>
                </a:solidFill>
                <a:latin typeface="Arial"/>
                <a:ea typeface="Malgun Gothic"/>
                <a:cs typeface="Malgun Gothic"/>
              </a:rPr>
              <a:t>이 장이 가장 가깝다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로그 확률 없이 강화학습에 넣는 법과, 안전을 보상에 섞지 않는 법을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R.12 · RLHF, DPO, GRPO</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GRPO는 critic 없이 그룹 평균을 기준선으로 쓴다</a:t>
            </a:r>
          </a:p>
        </p:txBody>
      </p:sp>
      <p:sp>
        <p:nvSpPr>
          <p:cNvPr id="4" name="Rounded Rectangle 3"/>
          <p:cNvSpPr/>
          <p:nvPr/>
        </p:nvSpPr>
        <p:spPr>
          <a:xfrm>
            <a:off x="711200" y="1361678"/>
            <a:ext cx="5257800" cy="495598"/>
          </a:xfrm>
          <a:prstGeom prst="roundRect">
            <a:avLst>
              <a:gd name="adj" fmla="val 10250"/>
            </a:avLst>
          </a:prstGeom>
          <a:solidFill>
            <a:srgbClr val="FFFDF8"/>
          </a:solidFill>
          <a:ln>
            <a:noFill/>
          </a:ln>
        </p:spPr>
        <p:txBody>
          <a:bodyPr rtlCol="0" anchor="ctr"/>
          <a:lstStyle/>
          <a:p>
            <a:pPr algn="ctr"/>
          </a:p>
        </p:txBody>
      </p:sp>
      <p:sp>
        <p:nvSpPr>
          <p:cNvPr id="5" name="Rounded Rectangle 4"/>
          <p:cNvSpPr/>
          <p:nvPr/>
        </p:nvSpPr>
        <p:spPr>
          <a:xfrm>
            <a:off x="711200" y="1361678"/>
            <a:ext cx="38100" cy="49559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324148"/>
          </a:xfrm>
          <a:prstGeom prst="rect">
            <a:avLst/>
          </a:prstGeom>
        </p:spPr>
      </p:pic>
      <p:sp>
        <p:nvSpPr>
          <p:cNvPr id="7" name="Rounded Rectangle 6"/>
          <p:cNvSpPr/>
          <p:nvPr/>
        </p:nvSpPr>
        <p:spPr>
          <a:xfrm>
            <a:off x="6223000" y="1361678"/>
            <a:ext cx="5257800" cy="650379"/>
          </a:xfrm>
          <a:prstGeom prst="roundRect">
            <a:avLst>
              <a:gd name="adj" fmla="val 7810"/>
            </a:avLst>
          </a:prstGeom>
          <a:solidFill>
            <a:srgbClr val="FFFDF8"/>
          </a:solidFill>
          <a:ln>
            <a:noFill/>
          </a:ln>
        </p:spPr>
        <p:txBody>
          <a:bodyPr rtlCol="0" anchor="ctr"/>
          <a:lstStyle/>
          <a:p>
            <a:pPr algn="ctr"/>
          </a:p>
        </p:txBody>
      </p:sp>
      <p:sp>
        <p:nvSpPr>
          <p:cNvPr id="8" name="Rounded Rectangle 7"/>
          <p:cNvSpPr/>
          <p:nvPr/>
        </p:nvSpPr>
        <p:spPr>
          <a:xfrm>
            <a:off x="6223000" y="1361678"/>
            <a:ext cx="38100" cy="650379"/>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78929"/>
          </a:xfrm>
          <a:prstGeom prst="rect">
            <a:avLst/>
          </a:prstGeom>
        </p:spPr>
      </p:pic>
      <p:sp>
        <p:nvSpPr>
          <p:cNvPr id="10" name="Rounded Rectangle 9"/>
          <p:cNvSpPr/>
          <p:nvPr/>
        </p:nvSpPr>
        <p:spPr>
          <a:xfrm>
            <a:off x="711200" y="2189857"/>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1527655" y="2189857"/>
            <a:ext cx="9136691" cy="2540000"/>
          </a:xfrm>
          <a:prstGeom prst="rect">
            <a:avLst/>
          </a:prstGeom>
        </p:spPr>
      </p:pic>
      <p:sp>
        <p:nvSpPr>
          <p:cNvPr id="12" name="TextBox 11"/>
          <p:cNvSpPr txBox="1"/>
          <p:nvPr/>
        </p:nvSpPr>
        <p:spPr>
          <a:xfrm>
            <a:off x="711200" y="479335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(b) 응답 8개 중 3개가 정답 검사를 통과하면 통과는 +1.29, 실패는 −0.77의 이점을 받는다 — scripts/make_rl_figures.py</a:t>
            </a:r>
          </a:p>
        </p:txBody>
      </p:sp>
      <p:sp>
        <p:nvSpPr>
          <p:cNvPr id="13" name="Rounded Rectangle 12"/>
          <p:cNvSpPr/>
          <p:nvPr/>
        </p:nvSpPr>
        <p:spPr>
          <a:xfrm>
            <a:off x="711200" y="5148957"/>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27595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TP-0066이 같은 계산을 한다. 질문 대신 상태, 응답 대신 후보 궤적 16개다.</a:t>
            </a:r>
          </a:p>
        </p:txBody>
      </p:sp>
      <p:sp>
        <p:nvSpPr>
          <p:cNvPr id="15" name="Rectangle 14"/>
          <p:cNvSpPr/>
          <p:nvPr/>
        </p:nvSpPr>
        <p:spPr>
          <a:xfrm>
            <a:off x="711200" y="6424315"/>
            <a:ext cx="10769600" cy="230485"/>
          </a:xfrm>
          <a:prstGeom prst="rect">
            <a:avLst/>
          </a:prstGeom>
          <a:noFill/>
          <a:ln>
            <a:noFill/>
          </a:ln>
        </p:spPr>
        <p:txBody>
          <a:bodyPr rtlCol="0" anchor="ctr"/>
          <a:lstStyle/>
          <a:p>
            <a:pPr algn="ctr"/>
          </a:p>
        </p:txBody>
      </p:sp>
      <p:sp>
        <p:nvSpPr>
          <p:cNvPr id="16" name="Rectangle 1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7" name="TextBox 1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RLHF — arXiv:2203.02155 · [2] DPO — arXiv:2305.18290 · [3] GRPO — arXiv:2402.03300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R.13 · 확산·flow 정책의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flow 정책의 RL은 로그 확률을 우회하는 법으로 갈린다</a:t>
            </a:r>
          </a:p>
        </p:txBody>
      </p:sp>
      <p:graphicFrame>
        <p:nvGraphicFramePr>
          <p:cNvPr id="4" name="Table 3"/>
          <p:cNvGraphicFramePr>
            <a:graphicFrameLocks noGrp="1"/>
          </p:cNvGraphicFramePr>
          <p:nvPr/>
        </p:nvGraphicFramePr>
        <p:xfrm>
          <a:off x="711200" y="1361678"/>
          <a:ext cx="10769600" cy="2559342"/>
        </p:xfrm>
        <a:graphic>
          <a:graphicData uri="http://schemas.openxmlformats.org/drawingml/2006/table">
            <a:tbl>
              <a:tblPr firstRow="0" bandRow="0">
                <a:tableStyleId>{5C22544A-7EE6-4342-B048-85BDC9FD1C3A}</a:tableStyleId>
              </a:tblPr>
              <a:tblGrid>
                <a:gridCol w="983258"/>
                <a:gridCol w="2147094"/>
                <a:gridCol w="5827216"/>
                <a:gridCol w="1812032"/>
              </a:tblGrid>
              <a:tr h="314657">
                <a:tc>
                  <a:txBody>
                    <a:bodyPr wrap="square"/>
                    <a:lstStyle/>
                    <a:p>
                      <a:r>
                        <a:rPr sz="13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발표</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로그 확률 문제를 푸는 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쓰는 RL</a:t>
                      </a:r>
                    </a:p>
                  </a:txBody>
                  <a:tcPr marL="76200" marR="76200" marT="25400" marB="25400">
                    <a:solidFill>
                      <a:srgbClr val="16213A"/>
                    </a:solidFill>
                  </a:tcPr>
                </a:tc>
              </a:tr>
              <a:tr h="510570">
                <a:tc>
                  <a:txBody>
                    <a:bodyPr wrap="square"/>
                    <a:lstStyle/>
                    <a:p>
                      <a:r>
                        <a:rPr sz="1350" b="0" i="0">
                          <a:solidFill>
                            <a:srgbClr val="16213A"/>
                          </a:solidFill>
                          <a:latin typeface="Arial"/>
                          <a:ea typeface="Malgun Gothic"/>
                          <a:cs typeface="Malgun Gothic"/>
                        </a:rPr>
                        <a:t>DPPO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ICLR 2025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denoising 스텝마다 가우시안 행동으로 보고 환경 MDP 안에 denoising MDP를 넣는다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PPO</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FPO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2025</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가능도 비율 대신 조건부 flow matching 손실의 차이를 비율로 쓴다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PPO 자른 목표</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ReinFlow</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NeurIPS 2025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flow 경로에 학습하는 잡음을 넣어 이산 Markov 과정으로 만든다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정책 기울기</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FPO++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비율을 표본마다 자르고 음의 이점에는 비대칭 신뢰 영역을 쓴다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PPO(ASPO)</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QF3</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2026</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critic의 행동 기울기를 replay 행동 가까운 차원에만 흘린다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off-policy(FastTD3)</a:t>
                      </a:r>
                    </a:p>
                  </a:txBody>
                  <a:tcPr marL="76200" marR="76200" marT="25400" marB="25400">
                    <a:solidFill>
                      <a:srgbClr val="F1EDE4"/>
                    </a:solidFill>
                  </a:tcPr>
                </a:tc>
              </a:tr>
              <a:tr h="507871">
                <a:tc>
                  <a:txBody>
                    <a:bodyPr wrap="square"/>
                    <a:lstStyle/>
                    <a:p>
                      <a:r>
                        <a:rPr sz="1350" b="0" i="0">
                          <a:solidFill>
                            <a:srgbClr val="16213A"/>
                          </a:solidFill>
                          <a:latin typeface="Arial"/>
                          <a:ea typeface="Malgun Gothic"/>
                          <a:cs typeface="Malgun Gothic"/>
                        </a:rPr>
                        <a:t>QSM, SSM</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ICML 2024, NeurIPS 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정책의 점수를 critic의 행동 기울기에 맞춘다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off-policy actor-critic</a:t>
                      </a:r>
                    </a:p>
                  </a:txBody>
                  <a:tcPr marL="76200" marR="76200" marT="25400" marB="25400">
                    <a:solidFill>
                      <a:srgbClr val="FFFDF8"/>
                    </a:solidFill>
                  </a:tcPr>
                </a:tc>
              </a:tr>
            </a:tbl>
          </a:graphicData>
        </a:graphic>
      </p:graphicFrame>
      <p:sp>
        <p:nvSpPr>
          <p:cNvPr id="5" name="Rounded Rectangle 4"/>
          <p:cNvSpPr/>
          <p:nvPr/>
        </p:nvSpPr>
        <p:spPr>
          <a:xfrm>
            <a:off x="711200" y="455047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67747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FPO는 Planner D의 학습 손실을 거의 그대로 둔 채 PPO로 넘어가게 한다.</a:t>
            </a:r>
          </a:p>
        </p:txBody>
      </p:sp>
      <p:sp>
        <p:nvSpPr>
          <p:cNvPr id="7" name="Rectangle 6"/>
          <p:cNvSpPr/>
          <p:nvPr/>
        </p:nvSpPr>
        <p:spPr>
          <a:xfrm>
            <a:off x="711200" y="6424315"/>
            <a:ext cx="10769600" cy="230485"/>
          </a:xfrm>
          <a:prstGeom prst="rect">
            <a:avLst/>
          </a:prstGeom>
          <a:noFill/>
          <a:ln>
            <a:noFill/>
          </a:ln>
        </p:spPr>
        <p:txBody>
          <a:bodyPr rtlCol="0" anchor="ctr"/>
          <a:lstStyle/>
          <a:p>
            <a:pPr algn="ctr"/>
          </a:p>
        </p:txBody>
      </p:sp>
      <p:sp>
        <p:nvSpPr>
          <p:cNvPr id="8" name="Rectangle 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DPPO arXiv:2409.00588 · FPO arXiv:2507.21053 · ReinFlow arXiv:2505.22094 · QSM arXiv:2312.11752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R.13 · FPO++ (2026.02)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FPO++는 flow 정책을 실물 휴머노이드까지 옮겼다</a:t>
            </a:r>
          </a:p>
        </p:txBody>
      </p:sp>
      <p:sp>
        <p:nvSpPr>
          <p:cNvPr id="4" name="Rounded Rectangle 3"/>
          <p:cNvSpPr/>
          <p:nvPr/>
        </p:nvSpPr>
        <p:spPr>
          <a:xfrm>
            <a:off x="711200" y="1361678"/>
            <a:ext cx="107696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093135" y="1361678"/>
            <a:ext cx="8005731" cy="2794000"/>
          </a:xfrm>
          <a:prstGeom prst="rect">
            <a:avLst/>
          </a:prstGeom>
        </p:spPr>
      </p:pic>
      <p:sp>
        <p:nvSpPr>
          <p:cNvPr id="6" name="TextBox 5"/>
          <p:cNvSpPr txBox="1"/>
          <p:nvPr/>
        </p:nvSpPr>
        <p:spPr>
          <a:xfrm>
            <a:off x="711200" y="4219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FPO++ (Fig. 1): flow 정책을 4족, 휴머노이드, 조작기에서 학습해 배치했다 — arXiv:2602.02481</a:t>
            </a:r>
          </a:p>
        </p:txBody>
      </p:sp>
      <p:sp>
        <p:nvSpPr>
          <p:cNvPr id="7" name="Rounded Rectangle 6"/>
          <p:cNvSpPr/>
          <p:nvPr/>
        </p:nvSpPr>
        <p:spPr>
          <a:xfrm>
            <a:off x="711200" y="4574778"/>
            <a:ext cx="5257800" cy="1115020"/>
          </a:xfrm>
          <a:prstGeom prst="roundRect">
            <a:avLst>
              <a:gd name="adj" fmla="val 6833"/>
            </a:avLst>
          </a:prstGeom>
          <a:solidFill>
            <a:srgbClr val="FFFDF8"/>
          </a:solidFill>
          <a:ln>
            <a:noFill/>
          </a:ln>
        </p:spPr>
        <p:txBody>
          <a:bodyPr rtlCol="0" anchor="ctr"/>
          <a:lstStyle/>
          <a:p>
            <a:pPr algn="ctr"/>
          </a:p>
        </p:txBody>
      </p:sp>
      <p:sp>
        <p:nvSpPr>
          <p:cNvPr id="8" name="Rectangle 7"/>
          <p:cNvSpPr/>
          <p:nvPr/>
        </p:nvSpPr>
        <p:spPr>
          <a:xfrm>
            <a:off x="711200" y="45747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4574778"/>
            <a:ext cx="6350" cy="1115020"/>
          </a:xfrm>
          <a:prstGeom prst="rect">
            <a:avLst/>
          </a:prstGeom>
          <a:solidFill>
            <a:srgbClr val="D9D4C7"/>
          </a:solidFill>
          <a:ln>
            <a:noFill/>
          </a:ln>
        </p:spPr>
        <p:txBody>
          <a:bodyPr rtlCol="0" anchor="ctr"/>
          <a:lstStyle/>
          <a:p>
            <a:pPr algn="ctr"/>
          </a:p>
        </p:txBody>
      </p:sp>
      <p:sp>
        <p:nvSpPr>
          <p:cNvPr id="10" name="Rectangle 9"/>
          <p:cNvSpPr/>
          <p:nvPr/>
        </p:nvSpPr>
        <p:spPr>
          <a:xfrm>
            <a:off x="711200" y="56834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74778"/>
            <a:ext cx="50800" cy="11150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720828"/>
            <a:ext cx="547688"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746228"/>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바뀐 것</a:t>
            </a:r>
          </a:p>
        </p:txBody>
      </p:sp>
      <p:sp>
        <p:nvSpPr>
          <p:cNvPr id="14" name="TextBox 13"/>
          <p:cNvSpPr txBox="1"/>
          <p:nvPr/>
        </p:nvSpPr>
        <p:spPr>
          <a:xfrm>
            <a:off x="965200" y="503832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비율을 표본마다 만들어 따로 자른다</a:t>
            </a:r>
          </a:p>
        </p:txBody>
      </p:sp>
      <p:sp>
        <p:nvSpPr>
          <p:cNvPr id="15" name="TextBox 14"/>
          <p:cNvSpPr txBox="1"/>
          <p:nvPr/>
        </p:nvSpPr>
        <p:spPr>
          <a:xfrm>
            <a:off x="965200" y="532278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음의 이점에는 SPO의 이차 벌점(ASPO)</a:t>
            </a:r>
          </a:p>
        </p:txBody>
      </p:sp>
      <p:sp>
        <p:nvSpPr>
          <p:cNvPr id="16" name="Rounded Rectangle 15"/>
          <p:cNvSpPr/>
          <p:nvPr/>
        </p:nvSpPr>
        <p:spPr>
          <a:xfrm>
            <a:off x="6223000" y="4574778"/>
            <a:ext cx="5257800" cy="1115020"/>
          </a:xfrm>
          <a:prstGeom prst="roundRect">
            <a:avLst>
              <a:gd name="adj" fmla="val 6833"/>
            </a:avLst>
          </a:prstGeom>
          <a:solidFill>
            <a:srgbClr val="FFFDF8"/>
          </a:solidFill>
          <a:ln>
            <a:noFill/>
          </a:ln>
        </p:spPr>
        <p:txBody>
          <a:bodyPr rtlCol="0" anchor="ctr"/>
          <a:lstStyle/>
          <a:p>
            <a:pPr algn="ctr"/>
          </a:p>
        </p:txBody>
      </p:sp>
      <p:sp>
        <p:nvSpPr>
          <p:cNvPr id="17" name="Rectangle 16"/>
          <p:cNvSpPr/>
          <p:nvPr/>
        </p:nvSpPr>
        <p:spPr>
          <a:xfrm>
            <a:off x="6223000" y="4574778"/>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4574778"/>
            <a:ext cx="6350" cy="1115020"/>
          </a:xfrm>
          <a:prstGeom prst="rect">
            <a:avLst/>
          </a:prstGeom>
          <a:solidFill>
            <a:srgbClr val="D9D4C7"/>
          </a:solidFill>
          <a:ln>
            <a:noFill/>
          </a:ln>
        </p:spPr>
        <p:txBody>
          <a:bodyPr rtlCol="0" anchor="ctr"/>
          <a:lstStyle/>
          <a:p>
            <a:pPr algn="ctr"/>
          </a:p>
        </p:txBody>
      </p:sp>
      <p:sp>
        <p:nvSpPr>
          <p:cNvPr id="19" name="Rectangle 18"/>
          <p:cNvSpPr/>
          <p:nvPr/>
        </p:nvSpPr>
        <p:spPr>
          <a:xfrm>
            <a:off x="6223000" y="5683448"/>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4574778"/>
            <a:ext cx="50800" cy="1115020"/>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4720828"/>
            <a:ext cx="669429"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4746228"/>
            <a:ext cx="53177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a:t>
            </a:r>
          </a:p>
        </p:txBody>
      </p:sp>
      <p:sp>
        <p:nvSpPr>
          <p:cNvPr id="23" name="TextBox 22"/>
          <p:cNvSpPr txBox="1"/>
          <p:nvPr/>
        </p:nvSpPr>
        <p:spPr>
          <a:xfrm>
            <a:off x="6477000" y="503832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FPO가 아니라 FPO++부터 시작한다</a:t>
            </a:r>
          </a:p>
        </p:txBody>
      </p:sp>
      <p:sp>
        <p:nvSpPr>
          <p:cNvPr id="24" name="TextBox 23"/>
          <p:cNvSpPr txBox="1"/>
          <p:nvPr/>
        </p:nvSpPr>
        <p:spPr>
          <a:xfrm>
            <a:off x="6477000" y="532278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조작 미세조정에서는 ASPO를 껐다 → 끈 판과 켠 판을 함께 잰다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FPO++ — arXiv:2602.02481 (Amazon FAR·UC Berkeley·Stanford·CMU 등)</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R.13 · 안전 제약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안전은 평균이 아니라 꼬리로 본다</a:t>
            </a:r>
          </a:p>
        </p:txBody>
      </p:sp>
      <p:sp>
        <p:nvSpPr>
          <p:cNvPr id="4" name="Rounded Rectangle 3"/>
          <p:cNvSpPr/>
          <p:nvPr/>
        </p:nvSpPr>
        <p:spPr>
          <a:xfrm>
            <a:off x="711200" y="1361678"/>
            <a:ext cx="3488234" cy="1655961"/>
          </a:xfrm>
          <a:prstGeom prst="roundRect">
            <a:avLst>
              <a:gd name="adj" fmla="val 4601"/>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655961"/>
          </a:xfrm>
          <a:prstGeom prst="rect">
            <a:avLst/>
          </a:prstGeom>
          <a:solidFill>
            <a:srgbClr val="D9D4C7"/>
          </a:solidFill>
          <a:ln>
            <a:noFill/>
          </a:ln>
        </p:spPr>
        <p:txBody>
          <a:bodyPr rtlCol="0" anchor="ctr"/>
          <a:lstStyle/>
          <a:p>
            <a:pPr algn="ctr"/>
          </a:p>
        </p:txBody>
      </p:sp>
      <p:sp>
        <p:nvSpPr>
          <p:cNvPr id="7" name="Rectangle 6"/>
          <p:cNvSpPr/>
          <p:nvPr/>
        </p:nvSpPr>
        <p:spPr>
          <a:xfrm>
            <a:off x="711200" y="30112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5596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011238"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88384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NeurIPS 2026</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Safe Score Matching</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HJ 도달 가능성 critic으로 점수 목표를 안전 집합 안과 밖으로 나눈다.</a:t>
            </a:r>
          </a:p>
        </p:txBody>
      </p:sp>
      <p:sp>
        <p:nvSpPr>
          <p:cNvPr id="13" name="TextBox 12"/>
          <p:cNvSpPr txBox="1"/>
          <p:nvPr/>
        </p:nvSpPr>
        <p:spPr>
          <a:xfrm>
            <a:off x="927100" y="2650629"/>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GT 지도로 치명까지의 HJ 라벨을 만들 수 있다.</a:t>
            </a:r>
          </a:p>
        </p:txBody>
      </p:sp>
      <p:sp>
        <p:nvSpPr>
          <p:cNvPr id="14" name="Rounded Rectangle 13"/>
          <p:cNvSpPr/>
          <p:nvPr/>
        </p:nvSpPr>
        <p:spPr>
          <a:xfrm>
            <a:off x="4351834" y="1361678"/>
            <a:ext cx="3488234" cy="1655961"/>
          </a:xfrm>
          <a:prstGeom prst="roundRect">
            <a:avLst>
              <a:gd name="adj" fmla="val 4601"/>
            </a:avLst>
          </a:prstGeom>
          <a:solidFill>
            <a:srgbClr val="FFFDF8"/>
          </a:solidFill>
          <a:ln>
            <a:noFill/>
          </a:ln>
        </p:spPr>
        <p:txBody>
          <a:bodyPr rtlCol="0" anchor="ctr"/>
          <a:lstStyle/>
          <a:p>
            <a:pPr algn="ctr"/>
          </a:p>
        </p:txBody>
      </p:sp>
      <p:sp>
        <p:nvSpPr>
          <p:cNvPr id="15" name="Rectangle 14"/>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1361678"/>
            <a:ext cx="6350" cy="1655961"/>
          </a:xfrm>
          <a:prstGeom prst="rect">
            <a:avLst/>
          </a:prstGeom>
          <a:solidFill>
            <a:srgbClr val="D9D4C7"/>
          </a:solidFill>
          <a:ln>
            <a:noFill/>
          </a:ln>
        </p:spPr>
        <p:txBody>
          <a:bodyPr rtlCol="0" anchor="ctr"/>
          <a:lstStyle/>
          <a:p>
            <a:pPr algn="ctr"/>
          </a:p>
        </p:txBody>
      </p:sp>
      <p:sp>
        <p:nvSpPr>
          <p:cNvPr id="17" name="Rectangle 16"/>
          <p:cNvSpPr/>
          <p:nvPr/>
        </p:nvSpPr>
        <p:spPr>
          <a:xfrm>
            <a:off x="4351834" y="301128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1361678"/>
            <a:ext cx="50800" cy="1655961"/>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1507728"/>
            <a:ext cx="1011238"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1533128"/>
            <a:ext cx="88384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NeurIPS 2025</a:t>
            </a:r>
          </a:p>
        </p:txBody>
      </p:sp>
      <p:sp>
        <p:nvSpPr>
          <p:cNvPr id="21" name="TextBox 20"/>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SPiDR</a:t>
            </a:r>
          </a:p>
        </p:txBody>
      </p:sp>
      <p:sp>
        <p:nvSpPr>
          <p:cNvPr id="22" name="TextBox 21"/>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무작위화 시뮬 n개의 다음 상태 분산을 안전 비용에 더한다.</a:t>
            </a:r>
          </a:p>
        </p:txBody>
      </p:sp>
      <p:sp>
        <p:nvSpPr>
          <p:cNvPr id="23" name="TextBox 22"/>
          <p:cNvSpPr txBox="1"/>
          <p:nvPr/>
        </p:nvSpPr>
        <p:spPr>
          <a:xfrm>
            <a:off x="4567734" y="2650629"/>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plant 변형 여럿으로 후보 점수를 굴린다.</a:t>
            </a:r>
          </a:p>
        </p:txBody>
      </p:sp>
      <p:sp>
        <p:nvSpPr>
          <p:cNvPr id="24" name="Rounded Rectangle 23"/>
          <p:cNvSpPr/>
          <p:nvPr/>
        </p:nvSpPr>
        <p:spPr>
          <a:xfrm>
            <a:off x="7992467" y="1361678"/>
            <a:ext cx="3488234" cy="1655961"/>
          </a:xfrm>
          <a:prstGeom prst="roundRect">
            <a:avLst>
              <a:gd name="adj" fmla="val 4601"/>
            </a:avLst>
          </a:prstGeom>
          <a:solidFill>
            <a:srgbClr val="FFFDF8"/>
          </a:solidFill>
          <a:ln>
            <a:noFill/>
          </a:ln>
        </p:spPr>
        <p:txBody>
          <a:bodyPr rtlCol="0" anchor="ctr"/>
          <a:lstStyle/>
          <a:p>
            <a:pPr algn="ctr"/>
          </a:p>
        </p:txBody>
      </p:sp>
      <p:sp>
        <p:nvSpPr>
          <p:cNvPr id="25" name="Rectangle 24"/>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1361678"/>
            <a:ext cx="6350" cy="1655961"/>
          </a:xfrm>
          <a:prstGeom prst="rect">
            <a:avLst/>
          </a:prstGeom>
          <a:solidFill>
            <a:srgbClr val="D9D4C7"/>
          </a:solidFill>
          <a:ln>
            <a:noFill/>
          </a:ln>
        </p:spPr>
        <p:txBody>
          <a:bodyPr rtlCol="0" anchor="ctr"/>
          <a:lstStyle/>
          <a:p>
            <a:pPr algn="ctr"/>
          </a:p>
        </p:txBody>
      </p:sp>
      <p:sp>
        <p:nvSpPr>
          <p:cNvPr id="27" name="Rectangle 26"/>
          <p:cNvSpPr/>
          <p:nvPr/>
        </p:nvSpPr>
        <p:spPr>
          <a:xfrm>
            <a:off x="7992467" y="3011289"/>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1361678"/>
            <a:ext cx="50800" cy="1655961"/>
          </a:xfrm>
          <a:prstGeom prst="roundRect">
            <a:avLst>
              <a:gd name="adj" fmla="val 50000"/>
            </a:avLst>
          </a:prstGeom>
          <a:solidFill>
            <a:srgbClr val="15803D"/>
          </a:solidFill>
          <a:ln>
            <a:noFill/>
          </a:ln>
        </p:spPr>
        <p:txBody>
          <a:bodyPr rtlCol="0" anchor="ctr"/>
          <a:lstStyle/>
          <a:p>
            <a:pPr algn="ctr"/>
          </a:p>
        </p:txBody>
      </p:sp>
      <p:sp>
        <p:nvSpPr>
          <p:cNvPr id="29" name="Rounded Rectangle 28"/>
          <p:cNvSpPr/>
          <p:nvPr/>
        </p:nvSpPr>
        <p:spPr>
          <a:xfrm>
            <a:off x="8208367" y="1507728"/>
            <a:ext cx="817066" cy="241300"/>
          </a:xfrm>
          <a:prstGeom prst="roundRect">
            <a:avLst>
              <a:gd name="adj" fmla="val 50000"/>
            </a:avLst>
          </a:prstGeom>
          <a:solidFill>
            <a:srgbClr val="D7EFDD"/>
          </a:solidFill>
          <a:ln>
            <a:noFill/>
          </a:ln>
        </p:spPr>
        <p:txBody>
          <a:bodyPr rtlCol="0" anchor="ctr"/>
          <a:lstStyle/>
          <a:p>
            <a:pPr algn="ctr"/>
          </a:p>
        </p:txBody>
      </p:sp>
      <p:sp>
        <p:nvSpPr>
          <p:cNvPr id="30" name="TextBox 29"/>
          <p:cNvSpPr txBox="1"/>
          <p:nvPr/>
        </p:nvSpPr>
        <p:spPr>
          <a:xfrm>
            <a:off x="8297267" y="1533128"/>
            <a:ext cx="68384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IROS 2026</a:t>
            </a:r>
          </a:p>
        </p:txBody>
      </p:sp>
      <p:sp>
        <p:nvSpPr>
          <p:cNvPr id="31" name="TextBox 30"/>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VIA</a:t>
            </a:r>
          </a:p>
        </p:txBody>
      </p:sp>
      <p:sp>
        <p:nvSpPr>
          <p:cNvPr id="32" name="TextBox 31"/>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CVaR 제약으로 배우고 학습 뒤 행동 도달 집합으로 검증한다.</a:t>
            </a:r>
          </a:p>
        </p:txBody>
      </p:sp>
      <p:sp>
        <p:nvSpPr>
          <p:cNvPr id="33" name="TextBox 32"/>
          <p:cNvSpPr txBox="1"/>
          <p:nvPr/>
        </p:nvSpPr>
        <p:spPr>
          <a:xfrm>
            <a:off x="8208367" y="2650629"/>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그룹 이점을 하위 분위로 잡는다.</a:t>
            </a:r>
          </a:p>
        </p:txBody>
      </p:sp>
      <p:sp>
        <p:nvSpPr>
          <p:cNvPr id="34" name="Rounded Rectangle 33"/>
          <p:cNvSpPr/>
          <p:nvPr/>
        </p:nvSpPr>
        <p:spPr>
          <a:xfrm>
            <a:off x="711200" y="3195439"/>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35" name="Picture 34" descr="image.jpg"/>
          <p:cNvPicPr>
            <a:picLocks noChangeAspect="1"/>
          </p:cNvPicPr>
          <p:nvPr/>
        </p:nvPicPr>
        <p:blipFill>
          <a:blip r:embed="rId2"/>
          <a:stretch>
            <a:fillRect/>
          </a:stretch>
        </p:blipFill>
        <p:spPr>
          <a:xfrm>
            <a:off x="3767149" y="3195439"/>
            <a:ext cx="4657702" cy="1905000"/>
          </a:xfrm>
          <a:prstGeom prst="rect">
            <a:avLst/>
          </a:prstGeom>
        </p:spPr>
      </p:pic>
      <p:sp>
        <p:nvSpPr>
          <p:cNvPr id="36" name="TextBox 35"/>
          <p:cNvSpPr txBox="1"/>
          <p:nvPr/>
        </p:nvSpPr>
        <p:spPr>
          <a:xfrm>
            <a:off x="711200" y="516393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Safe Score Matching (Fig. 1): 배경은 학습한 HJ 값, 점선은 실행 가능 집합의 경계 — byli888/safe-score-matching</a:t>
            </a:r>
          </a:p>
        </p:txBody>
      </p:sp>
      <p:sp>
        <p:nvSpPr>
          <p:cNvPr id="37" name="Rounded Rectangle 36"/>
          <p:cNvSpPr/>
          <p:nvPr/>
        </p:nvSpPr>
        <p:spPr>
          <a:xfrm>
            <a:off x="711200" y="5519539"/>
            <a:ext cx="10769600" cy="502543"/>
          </a:xfrm>
          <a:prstGeom prst="roundRect">
            <a:avLst>
              <a:gd name="adj" fmla="val 15162"/>
            </a:avLst>
          </a:prstGeom>
          <a:solidFill>
            <a:srgbClr val="16213A"/>
          </a:solidFill>
          <a:ln>
            <a:noFill/>
          </a:ln>
        </p:spPr>
        <p:txBody>
          <a:bodyPr rtlCol="0" anchor="ctr"/>
          <a:lstStyle/>
          <a:p>
            <a:pPr algn="ctr"/>
          </a:p>
        </p:txBody>
      </p:sp>
      <p:sp>
        <p:nvSpPr>
          <p:cNvPr id="38" name="TextBox 37"/>
          <p:cNvSpPr txBox="1"/>
          <p:nvPr/>
        </p:nvSpPr>
        <p:spPr>
          <a:xfrm>
            <a:off x="889000" y="56465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"치명이 하나라도 늘면 채택하지 않는다"는 원칙은 이미 꼬리를 본다.</a:t>
            </a:r>
          </a:p>
        </p:txBody>
      </p:sp>
      <p:sp>
        <p:nvSpPr>
          <p:cNvPr id="39" name="Rectangle 38"/>
          <p:cNvSpPr/>
          <p:nvPr/>
        </p:nvSpPr>
        <p:spPr>
          <a:xfrm>
            <a:off x="711200" y="6424315"/>
            <a:ext cx="10769600" cy="230485"/>
          </a:xfrm>
          <a:prstGeom prst="rect">
            <a:avLst/>
          </a:prstGeom>
          <a:noFill/>
          <a:ln>
            <a:noFill/>
          </a:ln>
        </p:spPr>
        <p:txBody>
          <a:bodyPr rtlCol="0" anchor="ctr"/>
          <a:lstStyle/>
          <a:p>
            <a:pPr algn="ctr"/>
          </a:p>
        </p:txBody>
      </p:sp>
      <p:sp>
        <p:nvSpPr>
          <p:cNvPr id="40" name="Rectangle 3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1" name="TextBox 4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SSM arXiv:2609.33337 · SPiDR arXiv:2509.18648 · VIA arXiv:2605.14174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최근 연구 비교 · R.19 · 2025–2026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시연으로 시작해 RL로 다듬고,</a:t>
            </a:r>
          </a:p>
          <a:p>
            <a:pPr>
              <a:lnSpc>
                <a:spcPct val="112240"/>
              </a:lnSpc>
            </a:pPr>
            <a:r>
              <a:rPr sz="3850" b="1" i="0">
                <a:solidFill>
                  <a:srgbClr val="F4F1EA"/>
                </a:solidFill>
                <a:latin typeface="Arial"/>
                <a:ea typeface="Malgun Gothic"/>
                <a:cs typeface="Malgun Gothic"/>
              </a:rPr>
              <a:t>섭동과 비관으로 실물에 옮긴다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Planner D는 이 흐름의 앞 절반에 이미 있다. 빠진 것은 배운 critic, plant·L1을 넣은 rollout, 꼬리를 보는 안전 신호다.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비교표 1/2 · 2025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2025년 연구는 생성 정책을 시연 근처에서 다듬는다</a:t>
            </a:r>
          </a:p>
        </p:txBody>
      </p:sp>
      <p:graphicFrame>
        <p:nvGraphicFramePr>
          <p:cNvPr id="4" name="Table 3"/>
          <p:cNvGraphicFramePr>
            <a:graphicFrameLocks noGrp="1"/>
          </p:cNvGraphicFramePr>
          <p:nvPr/>
        </p:nvGraphicFramePr>
        <p:xfrm>
          <a:off x="711200" y="1361678"/>
          <a:ext cx="10769600" cy="3273921"/>
        </p:xfrm>
        <a:graphic>
          <a:graphicData uri="http://schemas.openxmlformats.org/drawingml/2006/table">
            <a:tbl>
              <a:tblPr firstRow="0" bandRow="0">
                <a:tableStyleId>{5C22544A-7EE6-4342-B048-85BDC9FD1C3A}</a:tableStyleId>
              </a:tblPr>
              <a:tblGrid>
                <a:gridCol w="3193653"/>
                <a:gridCol w="3932734"/>
                <a:gridCol w="1739602"/>
                <a:gridCol w="1903611"/>
              </a:tblGrid>
              <a:tr h="314657">
                <a:tc>
                  <a:txBody>
                    <a:bodyPr wrap="square"/>
                    <a:lstStyle/>
                    <a:p>
                      <a:r>
                        <a:rPr sz="1350" b="1" i="0">
                          <a:solidFill>
                            <a:srgbClr val="F4F1EA"/>
                          </a:solidFill>
                          <a:latin typeface="Arial"/>
                          <a:ea typeface="Malgun Gothic"/>
                          <a:cs typeface="Malgun Gothic"/>
                        </a:rPr>
                        <a:t>이름(연·발표)</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로봇·실험</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ReinFlow (2025.05 · NeurIPS 2025)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flow 경로에 학습 잡음을 넣어 가능도를 정확히 계산</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온라인 정책 기울기</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시뮬 보행·조작</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DSRL (2025.06 · CoRL 2025)</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기본 정책은 그대로, 시작 잡음을 고르는 정책만 배운다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온라인 off-policy</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시뮬과 실물 로봇</a:t>
                      </a:r>
                    </a:p>
                  </a:txBody>
                  <a:tcPr marL="76200" marR="76200" marT="25400" marB="25400">
                    <a:solidFill>
                      <a:srgbClr val="FFFDF8"/>
                    </a:solidFill>
                  </a:tcPr>
                </a:tc>
              </a:tr>
              <a:tr h="510570">
                <a:tc>
                  <a:txBody>
                    <a:bodyPr wrap="square"/>
                    <a:lstStyle/>
                    <a:p>
                      <a:r>
                        <a:rPr sz="1350" b="0" i="0">
                          <a:solidFill>
                            <a:srgbClr val="16213A"/>
                          </a:solidFill>
                          <a:latin typeface="Arial"/>
                          <a:ea typeface="Malgun Gothic"/>
                          <a:cs typeface="Malgun Gothic"/>
                        </a:rPr>
                        <a:t>Q-chunking (2025.07 · NeurIPS 2025)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묶음 critic과 행동 복제 flow에 묶은 best-of-N</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오프라인 뒤 온라인</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OGBench, Robomimic</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SPiDR (2025.09 · NeurIPS 2025)</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무작위화 시뮬 앙상블의 분산을 안전 비용에 더한다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제약 SAC, PPO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RC 경주차, Go1 실물</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Dreamer 4 (2025.09)</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배운 world model 안의 상상 rollout</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행동 복제 뒤 PMPO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Minecraft, 로봇 없음</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RL-100 (2025.10)</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모방·오프라인·온라인을 자른 PPO 목표 하나로 잇는다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PPO(자른 목표)</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실물 조작 8과제</a:t>
                      </a:r>
                    </a:p>
                  </a:txBody>
                  <a:tcPr marL="76200" marR="76200" marT="25400" marB="25400">
                    <a:solidFill>
                      <a:srgbClr val="FFFDF8"/>
                    </a:solidFill>
                  </a:tcPr>
                </a:tc>
              </a:tr>
              <a:tr h="507871">
                <a:tc>
                  <a:txBody>
                    <a:bodyPr wrap="square"/>
                    <a:lstStyle/>
                    <a:p>
                      <a:r>
                        <a:rPr sz="1350" b="0" i="0">
                          <a:solidFill>
                            <a:srgbClr val="16213A"/>
                          </a:solidFill>
                          <a:latin typeface="Arial"/>
                          <a:ea typeface="Malgun Gothic"/>
                          <a:cs typeface="Malgun Gothic"/>
                        </a:rPr>
                        <a:t>FastSAC·FastTD3 (2025.12)</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대규모 병렬 off-policy 레시피</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SAC, TD3, 분포 critic</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G1, T1 실물</a:t>
                      </a:r>
                    </a:p>
                  </a:txBody>
                  <a:tcPr marL="76200" marR="76200" marT="25400" marB="25400">
                    <a:solidFill>
                      <a:srgbClr val="F1EDE4"/>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비교표 2/2 · 2026</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2026년 연구는 실물 이전과 안전 검증으로 넓어졌다</a:t>
            </a:r>
          </a:p>
        </p:txBody>
      </p:sp>
      <p:graphicFrame>
        <p:nvGraphicFramePr>
          <p:cNvPr id="4" name="Table 3"/>
          <p:cNvGraphicFramePr>
            <a:graphicFrameLocks noGrp="1"/>
          </p:cNvGraphicFramePr>
          <p:nvPr/>
        </p:nvGraphicFramePr>
        <p:xfrm>
          <a:off x="711200" y="1361678"/>
          <a:ext cx="10769599" cy="2457885"/>
        </p:xfrm>
        <a:graphic>
          <a:graphicData uri="http://schemas.openxmlformats.org/drawingml/2006/table">
            <a:tbl>
              <a:tblPr firstRow="0" bandRow="0">
                <a:tableStyleId>{5C22544A-7EE6-4342-B048-85BDC9FD1C3A}</a:tableStyleId>
              </a:tblPr>
              <a:tblGrid>
                <a:gridCol w="3935412"/>
                <a:gridCol w="3301107"/>
                <a:gridCol w="1917799"/>
                <a:gridCol w="1615281"/>
              </a:tblGrid>
              <a:tr h="314657">
                <a:tc>
                  <a:txBody>
                    <a:bodyPr wrap="square"/>
                    <a:lstStyle/>
                    <a:p>
                      <a:r>
                        <a:rPr sz="1350" b="1" i="0">
                          <a:solidFill>
                            <a:srgbClr val="F4F1EA"/>
                          </a:solidFill>
                          <a:latin typeface="Arial"/>
                          <a:ea typeface="Malgun Gothic"/>
                          <a:cs typeface="Malgun Gothic"/>
                        </a:rPr>
                        <a:t>이름(연·발표)</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로봇·실험</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FPO++ (2026.02)</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표본별 비율 자르기와 비대칭 신뢰 영역</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PPO(ASPO)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T1·G1 실물</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FINO (2026.02 · ICLR 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flow 입력 잡음과 엔트로피 유도 선택</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오프라인 뒤 온라인</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OGBench, D4RL</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SimDist (2026.03 · RSS 2026)</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시뮬 world model, 실물은 동역학만 고친다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시스템 식별과 MPPI</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UR5e, Go2 실물</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VIA (2026.05 · IROS 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CVaR 제약과 학습 뒤 도달 집합 검증</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제약 TD3</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Jackal 실물</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NavRL++ (2026.05)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깨끗한 사전학습 뒤 다섯 섭동 미세조정</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PPO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쿼드콥터, 4족 실물</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Safe Score Matching (2026.09 · NeurIPS 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HJ 도달 critic으로 점수 목표를 둘로 나눈다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off-policy actor-critic</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쿼드로터·F-16 시뮬</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QF3 (2026.10)</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replay 행동 가까운 차원에만 Q 기울기</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off-policy(FastTD3 위)</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휴머노이드 실물</a:t>
                      </a:r>
                    </a:p>
                  </a:txBody>
                  <a:tcPr marL="76200" marR="76200" marT="25400" marB="25400">
                    <a:solidFill>
                      <a:srgbClr val="F1EDE4"/>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공통점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최근 연구는 다섯 가지를 함께 한다</a:t>
            </a:r>
          </a:p>
        </p:txBody>
      </p:sp>
      <p:sp>
        <p:nvSpPr>
          <p:cNvPr id="4" name="Rounded Rectangle 3"/>
          <p:cNvSpPr/>
          <p:nvPr/>
        </p:nvSpPr>
        <p:spPr>
          <a:xfrm>
            <a:off x="711200" y="1361678"/>
            <a:ext cx="10769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10769600" cy="6350"/>
          </a:xfrm>
          <a:prstGeom prst="rect">
            <a:avLst/>
          </a:prstGeom>
          <a:solidFill>
            <a:srgbClr val="D9D4C7"/>
          </a:solidFill>
          <a:ln>
            <a:noFill/>
          </a:ln>
        </p:spPr>
        <p:txBody>
          <a:bodyPr rtlCol="0" anchor="ctr"/>
          <a:lstStyle/>
          <a:p>
            <a:pPr algn="ctr"/>
          </a:p>
        </p:txBody>
      </p:sp>
      <p:sp>
        <p:nvSpPr>
          <p:cNvPr id="6" name="Rectangle 5"/>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10769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5803D"/>
          </a:solidFill>
          <a:ln>
            <a:noFill/>
          </a:ln>
        </p:spPr>
        <p:txBody>
          <a:bodyPr rtlCol="0" anchor="ctr"/>
          <a:lstStyle/>
          <a:p>
            <a:pPr algn="ctr"/>
          </a:p>
        </p:txBody>
      </p:sp>
      <p:sp>
        <p:nvSpPr>
          <p:cNvPr id="9" name="TextBox 8"/>
          <p:cNvSpPr txBox="1"/>
          <p:nvPr/>
        </p:nvSpPr>
        <p:spPr>
          <a:xfrm>
            <a:off x="927100" y="1507728"/>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 · 시연으로 시작하고 RL로 다듬는다</a:t>
            </a:r>
          </a:p>
        </p:txBody>
      </p:sp>
      <p:sp>
        <p:nvSpPr>
          <p:cNvPr id="10" name="TextBox 9"/>
          <p:cNvSpPr txBox="1"/>
          <p:nvPr/>
        </p:nvSpPr>
        <p:spPr>
          <a:xfrm>
            <a:off x="927100" y="1815009"/>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다듬을 때도 시연 정책 가까이에 묶는다(DSRL, Q-chunking, FINO, Dreamer 4의 KL).</a:t>
            </a:r>
          </a:p>
        </p:txBody>
      </p:sp>
      <p:sp>
        <p:nvSpPr>
          <p:cNvPr id="11" name="Rounded Rectangle 10"/>
          <p:cNvSpPr/>
          <p:nvPr/>
        </p:nvSpPr>
        <p:spPr>
          <a:xfrm>
            <a:off x="711200" y="2296319"/>
            <a:ext cx="10769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711200" y="2296319"/>
            <a:ext cx="10769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2296319"/>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711200" y="3110309"/>
            <a:ext cx="10769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296319"/>
            <a:ext cx="50800" cy="820341"/>
          </a:xfrm>
          <a:prstGeom prst="roundRect">
            <a:avLst>
              <a:gd name="adj" fmla="val 50000"/>
            </a:avLst>
          </a:prstGeom>
          <a:solidFill>
            <a:srgbClr val="15803D"/>
          </a:solidFill>
          <a:ln>
            <a:noFill/>
          </a:ln>
        </p:spPr>
        <p:txBody>
          <a:bodyPr rtlCol="0" anchor="ctr"/>
          <a:lstStyle/>
          <a:p>
            <a:pPr algn="ctr"/>
          </a:p>
        </p:txBody>
      </p:sp>
      <p:sp>
        <p:nvSpPr>
          <p:cNvPr id="16" name="TextBox 15"/>
          <p:cNvSpPr txBox="1"/>
          <p:nvPr/>
        </p:nvSpPr>
        <p:spPr>
          <a:xfrm>
            <a:off x="927100" y="2442369"/>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2 · 로그 확률을 피한다</a:t>
            </a:r>
          </a:p>
        </p:txBody>
      </p:sp>
      <p:sp>
        <p:nvSpPr>
          <p:cNvPr id="17" name="TextBox 16"/>
          <p:cNvSpPr txBox="1"/>
          <p:nvPr/>
        </p:nvSpPr>
        <p:spPr>
          <a:xfrm>
            <a:off x="927100" y="2749649"/>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손실 차이(FPO++), 잡음 공간(DSRL), critic 기울기(QF3, SSM), best-of-N(Q-chunking, FINO)</a:t>
            </a:r>
          </a:p>
        </p:txBody>
      </p:sp>
      <p:sp>
        <p:nvSpPr>
          <p:cNvPr id="18" name="Rounded Rectangle 17"/>
          <p:cNvSpPr/>
          <p:nvPr/>
        </p:nvSpPr>
        <p:spPr>
          <a:xfrm>
            <a:off x="711200" y="3230959"/>
            <a:ext cx="10769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3230959"/>
            <a:ext cx="10769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323095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4044950"/>
            <a:ext cx="10769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3230959"/>
            <a:ext cx="50800" cy="82034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3377009"/>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3 · critic이 자료 밖에서 틀리는 것을 막는다</a:t>
            </a:r>
          </a:p>
        </p:txBody>
      </p:sp>
      <p:sp>
        <p:nvSpPr>
          <p:cNvPr id="24" name="TextBox 23"/>
          <p:cNvSpPr txBox="1"/>
          <p:nvPr/>
        </p:nvSpPr>
        <p:spPr>
          <a:xfrm>
            <a:off x="927100" y="368429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기울기를 자르거나, 자료 정책에 묶거나, 불확실성을 비용에 더한다.</a:t>
            </a:r>
          </a:p>
        </p:txBody>
      </p:sp>
      <p:sp>
        <p:nvSpPr>
          <p:cNvPr id="25" name="Rounded Rectangle 24"/>
          <p:cNvSpPr/>
          <p:nvPr/>
        </p:nvSpPr>
        <p:spPr>
          <a:xfrm>
            <a:off x="711200" y="4165600"/>
            <a:ext cx="10769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711200" y="4165600"/>
            <a:ext cx="10769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4165600"/>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711200" y="4979591"/>
            <a:ext cx="10769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711200" y="4165600"/>
            <a:ext cx="50800" cy="82034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927100" y="4311650"/>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4 · 실물로 갈 때 지연을 넣는다</a:t>
            </a:r>
          </a:p>
        </p:txBody>
      </p:sp>
      <p:sp>
        <p:nvSpPr>
          <p:cNvPr id="31" name="TextBox 30"/>
          <p:cNvSpPr txBox="1"/>
          <p:nvPr/>
        </p:nvSpPr>
        <p:spPr>
          <a:xfrm>
            <a:off x="927100" y="461893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행동 지연이 무작위화나 섭동의 항목이다(FastSAC 보행, FPO++, NavRL++).</a:t>
            </a:r>
          </a:p>
        </p:txBody>
      </p:sp>
      <p:sp>
        <p:nvSpPr>
          <p:cNvPr id="32" name="Rounded Rectangle 31"/>
          <p:cNvSpPr/>
          <p:nvPr/>
        </p:nvSpPr>
        <p:spPr>
          <a:xfrm>
            <a:off x="711200" y="5100241"/>
            <a:ext cx="10769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5100241"/>
            <a:ext cx="10769600" cy="6350"/>
          </a:xfrm>
          <a:prstGeom prst="rect">
            <a:avLst/>
          </a:prstGeom>
          <a:solidFill>
            <a:srgbClr val="D9D4C7"/>
          </a:solidFill>
          <a:ln>
            <a:noFill/>
          </a:ln>
        </p:spPr>
        <p:txBody>
          <a:bodyPr rtlCol="0" anchor="ctr"/>
          <a:lstStyle/>
          <a:p>
            <a:pPr algn="ctr"/>
          </a:p>
        </p:txBody>
      </p:sp>
      <p:sp>
        <p:nvSpPr>
          <p:cNvPr id="34" name="Rectangle 33"/>
          <p:cNvSpPr/>
          <p:nvPr/>
        </p:nvSpPr>
        <p:spPr>
          <a:xfrm>
            <a:off x="11474450" y="5100241"/>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5914231"/>
            <a:ext cx="10769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5100241"/>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5246291"/>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 · 병렬 시뮬이 기본이다</a:t>
            </a:r>
          </a:p>
        </p:txBody>
      </p:sp>
      <p:sp>
        <p:nvSpPr>
          <p:cNvPr id="38" name="TextBox 37"/>
          <p:cNvSpPr txBox="1"/>
          <p:nvPr/>
        </p:nvSpPr>
        <p:spPr>
          <a:xfrm>
            <a:off x="927100" y="5553571"/>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환경 1,024–16,384개를 한 GPU 묶음에서 돌린다.</a:t>
            </a:r>
          </a:p>
        </p:txBody>
      </p:sp>
      <p:sp>
        <p:nvSpPr>
          <p:cNvPr id="39" name="Rounded Rectangle 38"/>
          <p:cNvSpPr/>
          <p:nvPr/>
        </p:nvSpPr>
        <p:spPr>
          <a:xfrm>
            <a:off x="711200" y="6098381"/>
            <a:ext cx="10769600" cy="502543"/>
          </a:xfrm>
          <a:prstGeom prst="roundRect">
            <a:avLst>
              <a:gd name="adj" fmla="val 15162"/>
            </a:avLst>
          </a:prstGeom>
          <a:solidFill>
            <a:srgbClr val="16213A"/>
          </a:solidFill>
          <a:ln>
            <a:noFill/>
          </a:ln>
        </p:spPr>
        <p:txBody>
          <a:bodyPr rtlCol="0" anchor="ctr"/>
          <a:lstStyle/>
          <a:p>
            <a:pPr algn="ctr"/>
          </a:p>
        </p:txBody>
      </p:sp>
      <p:sp>
        <p:nvSpPr>
          <p:cNvPr id="40" name="TextBox 39"/>
          <p:cNvSpPr txBox="1"/>
          <p:nvPr/>
        </p:nvSpPr>
        <p:spPr>
          <a:xfrm>
            <a:off x="889000" y="622538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1·2는 이미 하고 있고(초록), 3·4·5가 빠져 있다(주황).</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차이는 다섯 축에서 갈린다</a:t>
            </a:r>
          </a:p>
        </p:txBody>
      </p:sp>
      <p:graphicFrame>
        <p:nvGraphicFramePr>
          <p:cNvPr id="4" name="Table 3"/>
          <p:cNvGraphicFramePr>
            <a:graphicFrameLocks noGrp="1"/>
          </p:cNvGraphicFramePr>
          <p:nvPr/>
        </p:nvGraphicFramePr>
        <p:xfrm>
          <a:off x="711200" y="1361678"/>
          <a:ext cx="10769600" cy="2660799"/>
        </p:xfrm>
        <a:graphic>
          <a:graphicData uri="http://schemas.openxmlformats.org/drawingml/2006/table">
            <a:tbl>
              <a:tblPr firstRow="0" bandRow="0">
                <a:tableStyleId>{5C22544A-7EE6-4342-B048-85BDC9FD1C3A}</a:tableStyleId>
              </a:tblPr>
              <a:tblGrid>
                <a:gridCol w="1250553"/>
                <a:gridCol w="2712045"/>
                <a:gridCol w="2744887"/>
                <a:gridCol w="4062115"/>
              </a:tblGrid>
              <a:tr h="314657">
                <a:tc>
                  <a:txBody>
                    <a:bodyPr wrap="square"/>
                    <a:lstStyle/>
                    <a:p>
                      <a:r>
                        <a:rPr sz="1350" b="1" i="0">
                          <a:solidFill>
                            <a:srgbClr val="F4F1EA"/>
                          </a:solidFill>
                          <a:latin typeface="Arial"/>
                          <a:ea typeface="Malgun Gothic"/>
                          <a:cs typeface="Malgun Gothic"/>
                        </a:rPr>
                        <a:t>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한쪽</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다른 쪽</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얻는 것과 잃는 것</a:t>
                      </a:r>
                    </a:p>
                  </a:txBody>
                  <a:tcPr marL="76200" marR="76200" marT="25400" marB="25400">
                    <a:solidFill>
                      <a:srgbClr val="16213A"/>
                    </a:solidFill>
                  </a:tcPr>
                </a:tc>
              </a:tr>
              <a:tr h="510570">
                <a:tc>
                  <a:txBody>
                    <a:bodyPr wrap="square"/>
                    <a:lstStyle/>
                    <a:p>
                      <a:r>
                        <a:rPr sz="1350" b="0" i="0">
                          <a:solidFill>
                            <a:srgbClr val="16213A"/>
                          </a:solidFill>
                          <a:latin typeface="Arial"/>
                          <a:ea typeface="Malgun Gothic"/>
                          <a:cs typeface="Malgun Gothic"/>
                        </a:rPr>
                        <a:t>on- / off-policy</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PPO 계열(FPO++, RL-100, NavRL++)</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재생 버퍼(FastSAC, QF3, Q-chunking)</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on은 안정적이고, off는 빠르지만 critic 오류를 따로 막아야 한다</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가중치를 고치나</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RL로 고친다(FPO++, QF3)</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얼리고 잡음·선택만 배운다(DSRL)</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얼리면 안전하지만 시연이 못 내는 행동은 끝내 못 낸다</a:t>
                      </a:r>
                    </a:p>
                  </a:txBody>
                  <a:tcPr marL="76200" marR="76200" marT="25400" marB="25400">
                    <a:solidFill>
                      <a:srgbClr val="FFFDF8"/>
                    </a:solidFill>
                  </a:tcPr>
                </a:tc>
              </a:tr>
              <a:tr h="510570">
                <a:tc>
                  <a:txBody>
                    <a:bodyPr wrap="square"/>
                    <a:lstStyle/>
                    <a:p>
                      <a:r>
                        <a:rPr sz="1350" b="0" i="0">
                          <a:solidFill>
                            <a:srgbClr val="16213A"/>
                          </a:solidFill>
                          <a:latin typeface="Arial"/>
                          <a:ea typeface="Malgun Gothic"/>
                          <a:cs typeface="Malgun Gothic"/>
                        </a:rPr>
                        <a:t>모델을 어디에</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시뮬을 직접 굴린다(FPO++)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배운 모델 안(Dreamer 4, SimDist)</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배운 모델은 실물로 고칠 수 있지만 계획기가 오차를 이용한다</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안전을 어디에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학습 목표 안(SSM, SPiDR)</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학습 뒤 검증·필터(VIA, NavRL++)</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학습 안은 보장이 없고, 검증·필터는 정책을 바꾸지 않는다</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위험의 척도</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평균 비용(라그랑주, RCPO)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꼬리와 최악(CVaR, HJ)</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꼬리는 보수적이지만 드문 치명 하나를 놓치지 않는다</a:t>
                      </a:r>
                    </a:p>
                  </a:txBody>
                  <a:tcPr marL="76200" marR="76200" marT="25400" marB="25400">
                    <a:solidFill>
                      <a:srgbClr val="F1EDE4"/>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travplan이 시도할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critic 선택기부터 하고, 섭동 후학습은 마지막에 둔다</a:t>
            </a:r>
          </a:p>
        </p:txBody>
      </p:sp>
      <p:sp>
        <p:nvSpPr>
          <p:cNvPr id="4" name="Rounded Rectangle 3"/>
          <p:cNvSpPr/>
          <p:nvPr/>
        </p:nvSpPr>
        <p:spPr>
          <a:xfrm>
            <a:off x="711200" y="1361678"/>
            <a:ext cx="53086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841573"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70908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비용 최소</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궤적 critic으로 선택기 바꾸기</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TP-0066 rollout 점수로 critic을 배워 후보 16개의 비학습 점수를 대신한다.</a:t>
            </a:r>
          </a:p>
        </p:txBody>
      </p:sp>
      <p:sp>
        <p:nvSpPr>
          <p:cNvPr id="13" name="Rounded Rectangle 12"/>
          <p:cNvSpPr/>
          <p:nvPr/>
        </p:nvSpPr>
        <p:spPr>
          <a:xfrm>
            <a:off x="6172200" y="1361678"/>
            <a:ext cx="53086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6172200" y="249316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13784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1507728"/>
            <a:ext cx="1495723"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1533128"/>
            <a:ext cx="138286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TP-0066과 같은 비용</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AWR을 FPO++ 목표로 바꾸기</a:t>
            </a:r>
          </a:p>
        </p:txBody>
      </p:sp>
      <p:sp>
        <p:nvSpPr>
          <p:cNvPr id="21" name="TextBox 20"/>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그룹 이점에 표본별 비율과 자른 목표를 쓴다. ASPO는 끈 판도 잰다.</a:t>
            </a:r>
          </a:p>
        </p:txBody>
      </p:sp>
      <p:sp>
        <p:nvSpPr>
          <p:cNvPr id="22" name="Rounded Rectangle 21"/>
          <p:cNvSpPr/>
          <p:nvPr/>
        </p:nvSpPr>
        <p:spPr>
          <a:xfrm>
            <a:off x="711200" y="2651919"/>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265191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65191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3783409"/>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651919"/>
            <a:ext cx="50800" cy="113784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927100" y="2797969"/>
            <a:ext cx="949027"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1016000" y="2823369"/>
            <a:ext cx="81976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Controller</a:t>
            </a:r>
          </a:p>
        </p:txBody>
      </p:sp>
      <p:sp>
        <p:nvSpPr>
          <p:cNvPr id="29" name="TextBox 28"/>
          <p:cNvSpPr txBox="1"/>
          <p:nvPr/>
        </p:nvSpPr>
        <p:spPr>
          <a:xfrm>
            <a:off x="927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MPPI에 학습한 끝 가치 더하기</a:t>
            </a:r>
          </a:p>
        </p:txBody>
      </p:sp>
      <p:sp>
        <p:nvSpPr>
          <p:cNvPr id="30" name="TextBox 29"/>
          <p:cNvSpPr txBox="1"/>
          <p:nvPr/>
        </p:nvSpPr>
        <p:spPr>
          <a:xfrm>
            <a:off x="927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 평균은 치명을 0으로 했지만 멈춤이 늘었다. 지평 너머 진행을 본다.</a:t>
            </a:r>
          </a:p>
        </p:txBody>
      </p:sp>
      <p:sp>
        <p:nvSpPr>
          <p:cNvPr id="31" name="Rounded Rectangle 30"/>
          <p:cNvSpPr/>
          <p:nvPr/>
        </p:nvSpPr>
        <p:spPr>
          <a:xfrm>
            <a:off x="6172200" y="2651919"/>
            <a:ext cx="5308600"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6172200" y="26519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65191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6172200" y="3783409"/>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651919"/>
            <a:ext cx="50800" cy="113784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2797969"/>
            <a:ext cx="841573"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2823369"/>
            <a:ext cx="709087"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4 · 가장 비쌈</a:t>
            </a:r>
          </a:p>
        </p:txBody>
      </p:sp>
      <p:sp>
        <p:nvSpPr>
          <p:cNvPr id="38" name="TextBox 37"/>
          <p:cNvSpPr txBox="1"/>
          <p:nvPr/>
        </p:nvSpPr>
        <p:spPr>
          <a:xfrm>
            <a:off x="6388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plant·L1 섭동 미세조정</a:t>
            </a:r>
          </a:p>
        </p:txBody>
      </p:sp>
      <p:sp>
        <p:nvSpPr>
          <p:cNvPr id="39" name="TextBox 38"/>
          <p:cNvSpPr txBox="1"/>
          <p:nvPr/>
        </p:nvSpPr>
        <p:spPr>
          <a:xfrm>
            <a:off x="6388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NavRL++에서 합성곱 정책은 92.85 %→77.30 %로 퇴행했다. 퇴행부터 잰다.</a:t>
            </a:r>
          </a:p>
        </p:txBody>
      </p:sp>
      <p:sp>
        <p:nvSpPr>
          <p:cNvPr id="40" name="Rounded Rectangle 39"/>
          <p:cNvSpPr/>
          <p:nvPr/>
        </p:nvSpPr>
        <p:spPr>
          <a:xfrm>
            <a:off x="711200" y="3967559"/>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409455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판정:</a:t>
            </a:r>
            <a:r>
              <a:rPr sz="1300" b="0" i="0">
                <a:solidFill>
                  <a:srgbClr val="F4F1EA"/>
                </a:solidFill>
                <a:latin typeface="Arial"/>
                <a:ea typeface="Malgun Gothic"/>
                <a:cs typeface="Malgun Gothic"/>
              </a:rPr>
              <a:t> 각 팔 seed 0–9 × rng-offset 3판을 paired_success.py로 짝 비교하고, 치명이 하나라도 늘면 기각한다.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7 · travplan에서 · R.16, R.14</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후학습은 표본을 낫게 했지만</a:t>
            </a:r>
          </a:p>
          <a:p>
            <a:pPr>
              <a:lnSpc>
                <a:spcPct val="112240"/>
              </a:lnSpc>
            </a:pPr>
            <a:r>
              <a:rPr sz="3850" b="1" i="0">
                <a:solidFill>
                  <a:srgbClr val="F4F1EA"/>
                </a:solidFill>
                <a:latin typeface="Arial"/>
                <a:ea typeface="Malgun Gothic"/>
                <a:cs typeface="Malgun Gothic"/>
              </a:rPr>
              <a:t>단독은 아직 판정 아래다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TP-0066의 결과, 갱신 한 번의 계산, 2단계 시도, 판정의 통계, 다음 자리 순서로 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TP-0066 · curb_ramp 레벨 3, seed 0–9 × 오프셋 3</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RL 후학습은 단독 26/30, 폴백과 30/30이다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439939" y="1361678"/>
            <a:ext cx="7312121"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TP-0066: Planner D의 폐루프 RL 후학습(3 라운드) — scripts/make_evidence_figures.py</a:t>
            </a:r>
          </a:p>
        </p:txBody>
      </p:sp>
      <p:graphicFrame>
        <p:nvGraphicFramePr>
          <p:cNvPr id="7" name="Table 6"/>
          <p:cNvGraphicFramePr>
            <a:graphicFrameLocks noGrp="1"/>
          </p:cNvGraphicFramePr>
          <p:nvPr/>
        </p:nvGraphicFramePr>
        <p:xfrm>
          <a:off x="711200" y="4193778"/>
          <a:ext cx="10769600" cy="859551"/>
        </p:xfrm>
        <a:graphic>
          <a:graphicData uri="http://schemas.openxmlformats.org/drawingml/2006/table">
            <a:tbl>
              <a:tblPr firstRow="0" bandRow="0">
                <a:tableStyleId>{5C22544A-7EE6-4342-B048-85BDC9FD1C3A}</a:tableStyleId>
              </a:tblPr>
              <a:tblGrid>
                <a:gridCol w="1205012"/>
                <a:gridCol w="931862"/>
                <a:gridCol w="2540298"/>
                <a:gridCol w="3087588"/>
                <a:gridCol w="1159470"/>
                <a:gridCol w="1845370"/>
              </a:tblGrid>
              <a:tr h="292814">
                <a:tc>
                  <a:txBody>
                    <a:bodyPr wrap="square"/>
                    <a:lstStyle/>
                    <a:p>
                      <a:r>
                        <a:rPr sz="1200" b="1" i="0">
                          <a:solidFill>
                            <a:srgbClr val="F4F1EA"/>
                          </a:solidFill>
                          <a:latin typeface="Arial"/>
                          <a:ea typeface="Malgun Gothic"/>
                          <a:cs typeface="Malgun Gothic"/>
                        </a:rPr>
                        <a:t>스택</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도달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짝 비교 대 DAgger 단독</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폴백이 이긴 계획</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도달 시간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보행자 최소 여유</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RL 단독</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26/30</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 : 7, p = 0.070</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34.4 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0.18 m</a:t>
                      </a:r>
                    </a:p>
                  </a:txBody>
                  <a:tcPr marL="76200" marR="76200" marT="25400" marB="25400">
                    <a:solidFill>
                      <a:srgbClr val="F1EDE4"/>
                    </a:solidFill>
                  </a:tcPr>
                </a:tc>
              </a:tr>
              <a:tr h="282019">
                <a:tc>
                  <a:txBody>
                    <a:bodyPr wrap="square"/>
                    <a:lstStyle/>
                    <a:p>
                      <a:r>
                        <a:rPr sz="1200" b="0" i="0">
                          <a:solidFill>
                            <a:srgbClr val="16213A"/>
                          </a:solidFill>
                          <a:latin typeface="Arial"/>
                          <a:ea typeface="Malgun Gothic"/>
                          <a:cs typeface="Malgun Gothic"/>
                        </a:rPr>
                        <a:t>RL + 폴백</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30/30</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0 : 10, p = 0.002</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42 % (DAgger + 폴백 51 %)</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28.9 s</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0.24 m</a:t>
                      </a:r>
                    </a:p>
                  </a:txBody>
                  <a:tcPr marL="76200" marR="76200" marT="25400" marB="25400">
                    <a:solidFill>
                      <a:srgbClr val="FFFDF8"/>
                    </a:solidFill>
                  </a:tcPr>
                </a:tc>
              </a:tr>
            </a:tbl>
          </a:graphicData>
        </a:graphic>
      </p:graphicFrame>
      <p:sp>
        <p:nvSpPr>
          <p:cNvPr id="8" name="Rounded Rectangle 7"/>
          <p:cNvSpPr/>
          <p:nvPr/>
        </p:nvSpPr>
        <p:spPr>
          <a:xfrm>
            <a:off x="711200" y="5382816"/>
            <a:ext cx="10769600" cy="502543"/>
          </a:xfrm>
          <a:prstGeom prst="roundRect">
            <a:avLst>
              <a:gd name="adj" fmla="val 15162"/>
            </a:avLst>
          </a:prstGeom>
          <a:solidFill>
            <a:srgbClr val="16213A"/>
          </a:solidFill>
          <a:ln>
            <a:noFill/>
          </a:ln>
        </p:spPr>
        <p:txBody>
          <a:bodyPr rtlCol="0" anchor="ctr"/>
          <a:lstStyle/>
          <a:p>
            <a:pPr algn="ctr"/>
          </a:p>
        </p:txBody>
      </p:sp>
      <p:sp>
        <p:nvSpPr>
          <p:cNvPr id="9" name="TextBox 8"/>
          <p:cNvSpPr txBox="1"/>
          <p:nvPr/>
        </p:nvSpPr>
        <p:spPr>
          <a:xfrm>
            <a:off x="889000" y="550981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RL은 학습 표본을 낫게 만들지만, 단독으로는 아직 판정(27/30) 아래다.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갱신 한 번 따라가기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갱신 한 번은 후보 16개를 굴려 점수로 가중한다</a:t>
            </a:r>
          </a:p>
        </p:txBody>
      </p:sp>
      <p:sp>
        <p:nvSpPr>
          <p:cNvPr id="4" name="Rounded Rectangle 3"/>
          <p:cNvSpPr/>
          <p:nvPr/>
        </p:nvSpPr>
        <p:spPr>
          <a:xfrm>
            <a:off x="711200" y="1361678"/>
            <a:ext cx="10769600" cy="2476500"/>
          </a:xfrm>
          <a:prstGeom prst="roundRect">
            <a:avLst>
              <a:gd name="adj" fmla="val 2051"/>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14339" y="1361678"/>
            <a:ext cx="7763323" cy="2476500"/>
          </a:xfrm>
          <a:prstGeom prst="rect">
            <a:avLst/>
          </a:prstGeom>
        </p:spPr>
      </p:pic>
      <p:sp>
        <p:nvSpPr>
          <p:cNvPr id="6" name="TextBox 5"/>
          <p:cNvSpPr txBox="1"/>
          <p:nvPr/>
        </p:nvSpPr>
        <p:spPr>
          <a:xfrm>
            <a:off x="711200" y="3901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예시 수로 그린 갱신 한 번(실제 학습 기록이 아니다). </a:t>
            </a:r>
            <a:r>
              <a:rPr sz="850" b="0" i="0">
                <a:solidFill>
                  <a:srgbClr val="7C2D12"/>
                </a:solidFill>
                <a:latin typeface="Consolas"/>
                <a:ea typeface="Malgun Gothic"/>
                <a:cs typeface="Malgun Gothic"/>
              </a:rPr>
              <a:t>scripts/rl_finetune_planner_d.py</a:t>
            </a:r>
            <a:r>
              <a:rPr sz="950" b="0" i="0">
                <a:solidFill>
                  <a:srgbClr val="5A6478"/>
                </a:solidFill>
                <a:latin typeface="Arial"/>
                <a:ea typeface="Malgun Gothic"/>
                <a:cs typeface="Malgun Gothic"/>
              </a:rPr>
              <a:t>의 weights()와 같은 식 — scripts/make_rl_figures.py</a:t>
            </a:r>
          </a:p>
        </p:txBody>
      </p:sp>
      <p:sp>
        <p:nvSpPr>
          <p:cNvPr id="7" name="Rounded Rectangle 6"/>
          <p:cNvSpPr/>
          <p:nvPr/>
        </p:nvSpPr>
        <p:spPr>
          <a:xfrm>
            <a:off x="711200" y="4257278"/>
            <a:ext cx="2418358" cy="937220"/>
          </a:xfrm>
          <a:prstGeom prst="roundRect">
            <a:avLst>
              <a:gd name="adj" fmla="val 6775"/>
            </a:avLst>
          </a:prstGeom>
          <a:solidFill>
            <a:srgbClr val="FFFDF8"/>
          </a:solidFill>
          <a:ln>
            <a:noFill/>
          </a:ln>
        </p:spPr>
        <p:txBody>
          <a:bodyPr rtlCol="0" anchor="ctr"/>
          <a:lstStyle/>
          <a:p>
            <a:pPr algn="ctr"/>
          </a:p>
        </p:txBody>
      </p:sp>
      <p:sp>
        <p:nvSpPr>
          <p:cNvPr id="8" name="Rectangle 7"/>
          <p:cNvSpPr/>
          <p:nvPr/>
        </p:nvSpPr>
        <p:spPr>
          <a:xfrm>
            <a:off x="711200" y="4257278"/>
            <a:ext cx="2418358" cy="38100"/>
          </a:xfrm>
          <a:prstGeom prst="rect">
            <a:avLst/>
          </a:prstGeom>
          <a:solidFill>
            <a:srgbClr val="C2410C"/>
          </a:solidFill>
          <a:ln>
            <a:noFill/>
          </a:ln>
        </p:spPr>
        <p:txBody>
          <a:bodyPr rtlCol="0" anchor="ctr"/>
          <a:lstStyle/>
          <a:p>
            <a:pPr algn="ctr"/>
          </a:p>
        </p:txBody>
      </p:sp>
      <p:sp>
        <p:nvSpPr>
          <p:cNvPr id="9" name="Rectangle 8"/>
          <p:cNvSpPr/>
          <p:nvPr/>
        </p:nvSpPr>
        <p:spPr>
          <a:xfrm>
            <a:off x="3123208" y="4257278"/>
            <a:ext cx="6350" cy="937220"/>
          </a:xfrm>
          <a:prstGeom prst="rect">
            <a:avLst/>
          </a:prstGeom>
          <a:solidFill>
            <a:srgbClr val="D9D4C7"/>
          </a:solidFill>
          <a:ln>
            <a:noFill/>
          </a:ln>
        </p:spPr>
        <p:txBody>
          <a:bodyPr rtlCol="0" anchor="ctr"/>
          <a:lstStyle/>
          <a:p>
            <a:pPr algn="ctr"/>
          </a:p>
        </p:txBody>
      </p:sp>
      <p:sp>
        <p:nvSpPr>
          <p:cNvPr id="10" name="Rectangle 9"/>
          <p:cNvSpPr/>
          <p:nvPr/>
        </p:nvSpPr>
        <p:spPr>
          <a:xfrm>
            <a:off x="711200" y="5188148"/>
            <a:ext cx="2418358" cy="6350"/>
          </a:xfrm>
          <a:prstGeom prst="rect">
            <a:avLst/>
          </a:prstGeom>
          <a:solidFill>
            <a:srgbClr val="D9D4C7"/>
          </a:solidFill>
          <a:ln>
            <a:noFill/>
          </a:ln>
        </p:spPr>
        <p:txBody>
          <a:bodyPr rtlCol="0" anchor="ctr"/>
          <a:lstStyle/>
          <a:p>
            <a:pPr algn="ctr"/>
          </a:p>
        </p:txBody>
      </p:sp>
      <p:sp>
        <p:nvSpPr>
          <p:cNvPr id="11" name="Rectangle 10"/>
          <p:cNvSpPr/>
          <p:nvPr/>
        </p:nvSpPr>
        <p:spPr>
          <a:xfrm>
            <a:off x="711200" y="4257278"/>
            <a:ext cx="6350" cy="937220"/>
          </a:xfrm>
          <a:prstGeom prst="rect">
            <a:avLst/>
          </a:prstGeom>
          <a:solidFill>
            <a:srgbClr val="D9D4C7"/>
          </a:solidFill>
          <a:ln>
            <a:noFill/>
          </a:ln>
        </p:spPr>
        <p:txBody>
          <a:bodyPr rtlCol="0" anchor="ctr"/>
          <a:lstStyle/>
          <a:p>
            <a:pPr algn="ctr"/>
          </a:p>
        </p:txBody>
      </p:sp>
      <p:sp>
        <p:nvSpPr>
          <p:cNvPr id="12" name="TextBox 11"/>
          <p:cNvSpPr txBox="1"/>
          <p:nvPr/>
        </p:nvSpPr>
        <p:spPr>
          <a:xfrm>
            <a:off x="831850" y="43969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후보 뽑기</a:t>
            </a:r>
          </a:p>
        </p:txBody>
      </p:sp>
      <p:sp>
        <p:nvSpPr>
          <p:cNvPr id="13" name="TextBox 12"/>
          <p:cNvSpPr txBox="1"/>
          <p:nvPr/>
        </p:nvSpPr>
        <p:spPr>
          <a:xfrm>
            <a:off x="831850" y="46954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Planner D가 belief에서 궤적 16개를 낸다(R.13)</a:t>
            </a:r>
          </a:p>
        </p:txBody>
      </p:sp>
      <p:sp>
        <p:nvSpPr>
          <p:cNvPr id="14" name="TextBox 13"/>
          <p:cNvSpPr txBox="1"/>
          <p:nvPr/>
        </p:nvSpPr>
        <p:spPr>
          <a:xfrm>
            <a:off x="3218458" y="45544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5" name="Rounded Rectangle 14"/>
          <p:cNvSpPr/>
          <p:nvPr/>
        </p:nvSpPr>
        <p:spPr>
          <a:xfrm>
            <a:off x="3494881" y="4257278"/>
            <a:ext cx="2418457" cy="937220"/>
          </a:xfrm>
          <a:prstGeom prst="roundRect">
            <a:avLst>
              <a:gd name="adj" fmla="val 6775"/>
            </a:avLst>
          </a:prstGeom>
          <a:solidFill>
            <a:srgbClr val="FFFDF8"/>
          </a:solidFill>
          <a:ln>
            <a:noFill/>
          </a:ln>
        </p:spPr>
        <p:txBody>
          <a:bodyPr rtlCol="0" anchor="ctr"/>
          <a:lstStyle/>
          <a:p>
            <a:pPr algn="ctr"/>
          </a:p>
        </p:txBody>
      </p:sp>
      <p:sp>
        <p:nvSpPr>
          <p:cNvPr id="16" name="Rectangle 15"/>
          <p:cNvSpPr/>
          <p:nvPr/>
        </p:nvSpPr>
        <p:spPr>
          <a:xfrm>
            <a:off x="3494881" y="4257278"/>
            <a:ext cx="2418457" cy="38100"/>
          </a:xfrm>
          <a:prstGeom prst="rect">
            <a:avLst/>
          </a:prstGeom>
          <a:solidFill>
            <a:srgbClr val="C2410C"/>
          </a:solidFill>
          <a:ln>
            <a:noFill/>
          </a:ln>
        </p:spPr>
        <p:txBody>
          <a:bodyPr rtlCol="0" anchor="ctr"/>
          <a:lstStyle/>
          <a:p>
            <a:pPr algn="ctr"/>
          </a:p>
        </p:txBody>
      </p:sp>
      <p:sp>
        <p:nvSpPr>
          <p:cNvPr id="17" name="Rectangle 16"/>
          <p:cNvSpPr/>
          <p:nvPr/>
        </p:nvSpPr>
        <p:spPr>
          <a:xfrm>
            <a:off x="5906988" y="4257278"/>
            <a:ext cx="6350" cy="937220"/>
          </a:xfrm>
          <a:prstGeom prst="rect">
            <a:avLst/>
          </a:prstGeom>
          <a:solidFill>
            <a:srgbClr val="D9D4C7"/>
          </a:solidFill>
          <a:ln>
            <a:noFill/>
          </a:ln>
        </p:spPr>
        <p:txBody>
          <a:bodyPr rtlCol="0" anchor="ctr"/>
          <a:lstStyle/>
          <a:p>
            <a:pPr algn="ctr"/>
          </a:p>
        </p:txBody>
      </p:sp>
      <p:sp>
        <p:nvSpPr>
          <p:cNvPr id="18" name="Rectangle 17"/>
          <p:cNvSpPr/>
          <p:nvPr/>
        </p:nvSpPr>
        <p:spPr>
          <a:xfrm>
            <a:off x="3494881" y="5188148"/>
            <a:ext cx="2418457" cy="6350"/>
          </a:xfrm>
          <a:prstGeom prst="rect">
            <a:avLst/>
          </a:prstGeom>
          <a:solidFill>
            <a:srgbClr val="D9D4C7"/>
          </a:solidFill>
          <a:ln>
            <a:noFill/>
          </a:ln>
        </p:spPr>
        <p:txBody>
          <a:bodyPr rtlCol="0" anchor="ctr"/>
          <a:lstStyle/>
          <a:p>
            <a:pPr algn="ctr"/>
          </a:p>
        </p:txBody>
      </p:sp>
      <p:sp>
        <p:nvSpPr>
          <p:cNvPr id="19" name="Rectangle 18"/>
          <p:cNvSpPr/>
          <p:nvPr/>
        </p:nvSpPr>
        <p:spPr>
          <a:xfrm>
            <a:off x="3494881" y="4257278"/>
            <a:ext cx="6350" cy="937220"/>
          </a:xfrm>
          <a:prstGeom prst="rect">
            <a:avLst/>
          </a:prstGeom>
          <a:solidFill>
            <a:srgbClr val="D9D4C7"/>
          </a:solidFill>
          <a:ln>
            <a:noFill/>
          </a:ln>
        </p:spPr>
        <p:txBody>
          <a:bodyPr rtlCol="0" anchor="ctr"/>
          <a:lstStyle/>
          <a:p>
            <a:pPr algn="ctr"/>
          </a:p>
        </p:txBody>
      </p:sp>
      <p:sp>
        <p:nvSpPr>
          <p:cNvPr id="20" name="TextBox 19"/>
          <p:cNvSpPr txBox="1"/>
          <p:nvPr/>
        </p:nvSpPr>
        <p:spPr>
          <a:xfrm>
            <a:off x="3615531" y="43969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점수</a:t>
            </a:r>
          </a:p>
        </p:txBody>
      </p:sp>
      <p:sp>
        <p:nvSpPr>
          <p:cNvPr id="21" name="TextBox 20"/>
          <p:cNvSpPr txBox="1"/>
          <p:nvPr/>
        </p:nvSpPr>
        <p:spPr>
          <a:xfrm>
            <a:off x="3615531" y="46954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SwerveModel로 굴려 GT 지도에서 채점한다(R.9)</a:t>
            </a:r>
          </a:p>
        </p:txBody>
      </p:sp>
      <p:sp>
        <p:nvSpPr>
          <p:cNvPr id="22" name="TextBox 21"/>
          <p:cNvSpPr txBox="1"/>
          <p:nvPr/>
        </p:nvSpPr>
        <p:spPr>
          <a:xfrm>
            <a:off x="6002238" y="45544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3" name="Rounded Rectangle 22"/>
          <p:cNvSpPr/>
          <p:nvPr/>
        </p:nvSpPr>
        <p:spPr>
          <a:xfrm>
            <a:off x="6278662" y="4257278"/>
            <a:ext cx="2418358" cy="937220"/>
          </a:xfrm>
          <a:prstGeom prst="roundRect">
            <a:avLst>
              <a:gd name="adj" fmla="val 6775"/>
            </a:avLst>
          </a:prstGeom>
          <a:solidFill>
            <a:srgbClr val="FFFDF8"/>
          </a:solidFill>
          <a:ln>
            <a:noFill/>
          </a:ln>
        </p:spPr>
        <p:txBody>
          <a:bodyPr rtlCol="0" anchor="ctr"/>
          <a:lstStyle/>
          <a:p>
            <a:pPr algn="ctr"/>
          </a:p>
        </p:txBody>
      </p:sp>
      <p:sp>
        <p:nvSpPr>
          <p:cNvPr id="24" name="Rectangle 23"/>
          <p:cNvSpPr/>
          <p:nvPr/>
        </p:nvSpPr>
        <p:spPr>
          <a:xfrm>
            <a:off x="6278662" y="4257278"/>
            <a:ext cx="2418358" cy="38100"/>
          </a:xfrm>
          <a:prstGeom prst="rect">
            <a:avLst/>
          </a:prstGeom>
          <a:solidFill>
            <a:srgbClr val="C2410C"/>
          </a:solidFill>
          <a:ln>
            <a:noFill/>
          </a:ln>
        </p:spPr>
        <p:txBody>
          <a:bodyPr rtlCol="0" anchor="ctr"/>
          <a:lstStyle/>
          <a:p>
            <a:pPr algn="ctr"/>
          </a:p>
        </p:txBody>
      </p:sp>
      <p:sp>
        <p:nvSpPr>
          <p:cNvPr id="25" name="Rectangle 24"/>
          <p:cNvSpPr/>
          <p:nvPr/>
        </p:nvSpPr>
        <p:spPr>
          <a:xfrm>
            <a:off x="8690670" y="4257278"/>
            <a:ext cx="6350" cy="937220"/>
          </a:xfrm>
          <a:prstGeom prst="rect">
            <a:avLst/>
          </a:prstGeom>
          <a:solidFill>
            <a:srgbClr val="D9D4C7"/>
          </a:solidFill>
          <a:ln>
            <a:noFill/>
          </a:ln>
        </p:spPr>
        <p:txBody>
          <a:bodyPr rtlCol="0" anchor="ctr"/>
          <a:lstStyle/>
          <a:p>
            <a:pPr algn="ctr"/>
          </a:p>
        </p:txBody>
      </p:sp>
      <p:sp>
        <p:nvSpPr>
          <p:cNvPr id="26" name="Rectangle 25"/>
          <p:cNvSpPr/>
          <p:nvPr/>
        </p:nvSpPr>
        <p:spPr>
          <a:xfrm>
            <a:off x="6278662" y="5188148"/>
            <a:ext cx="2418358" cy="6350"/>
          </a:xfrm>
          <a:prstGeom prst="rect">
            <a:avLst/>
          </a:prstGeom>
          <a:solidFill>
            <a:srgbClr val="D9D4C7"/>
          </a:solidFill>
          <a:ln>
            <a:noFill/>
          </a:ln>
        </p:spPr>
        <p:txBody>
          <a:bodyPr rtlCol="0" anchor="ctr"/>
          <a:lstStyle/>
          <a:p>
            <a:pPr algn="ctr"/>
          </a:p>
        </p:txBody>
      </p:sp>
      <p:sp>
        <p:nvSpPr>
          <p:cNvPr id="27" name="Rectangle 26"/>
          <p:cNvSpPr/>
          <p:nvPr/>
        </p:nvSpPr>
        <p:spPr>
          <a:xfrm>
            <a:off x="6278662" y="4257278"/>
            <a:ext cx="6350" cy="937220"/>
          </a:xfrm>
          <a:prstGeom prst="rect">
            <a:avLst/>
          </a:prstGeom>
          <a:solidFill>
            <a:srgbClr val="D9D4C7"/>
          </a:solidFill>
          <a:ln>
            <a:noFill/>
          </a:ln>
        </p:spPr>
        <p:txBody>
          <a:bodyPr rtlCol="0" anchor="ctr"/>
          <a:lstStyle/>
          <a:p>
            <a:pPr algn="ctr"/>
          </a:p>
        </p:txBody>
      </p:sp>
      <p:sp>
        <p:nvSpPr>
          <p:cNvPr id="28" name="TextBox 27"/>
          <p:cNvSpPr txBox="1"/>
          <p:nvPr/>
        </p:nvSpPr>
        <p:spPr>
          <a:xfrm>
            <a:off x="6399312" y="43969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그룹 이점</a:t>
            </a:r>
          </a:p>
        </p:txBody>
      </p:sp>
      <p:sp>
        <p:nvSpPr>
          <p:cNvPr id="29" name="TextBox 28"/>
          <p:cNvSpPr txBox="1"/>
          <p:nvPr/>
        </p:nvSpPr>
        <p:spPr>
          <a:xfrm>
            <a:off x="6399312" y="46954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평균 0.43, 표준편차 0.21로 표준화한다(R.12)</a:t>
            </a:r>
          </a:p>
        </p:txBody>
      </p:sp>
      <p:sp>
        <p:nvSpPr>
          <p:cNvPr id="30" name="TextBox 29"/>
          <p:cNvSpPr txBox="1"/>
          <p:nvPr/>
        </p:nvSpPr>
        <p:spPr>
          <a:xfrm>
            <a:off x="8785920" y="45544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1" name="Rounded Rectangle 30"/>
          <p:cNvSpPr/>
          <p:nvPr/>
        </p:nvSpPr>
        <p:spPr>
          <a:xfrm>
            <a:off x="9062343" y="4257278"/>
            <a:ext cx="2418457" cy="937220"/>
          </a:xfrm>
          <a:prstGeom prst="roundRect">
            <a:avLst>
              <a:gd name="adj" fmla="val 6775"/>
            </a:avLst>
          </a:prstGeom>
          <a:solidFill>
            <a:srgbClr val="FFFDF8"/>
          </a:solidFill>
          <a:ln>
            <a:noFill/>
          </a:ln>
        </p:spPr>
        <p:txBody>
          <a:bodyPr rtlCol="0" anchor="ctr"/>
          <a:lstStyle/>
          <a:p>
            <a:pPr algn="ctr"/>
          </a:p>
        </p:txBody>
      </p:sp>
      <p:sp>
        <p:nvSpPr>
          <p:cNvPr id="32" name="Rectangle 31"/>
          <p:cNvSpPr/>
          <p:nvPr/>
        </p:nvSpPr>
        <p:spPr>
          <a:xfrm>
            <a:off x="9062343" y="4257278"/>
            <a:ext cx="2418457" cy="38100"/>
          </a:xfrm>
          <a:prstGeom prst="rect">
            <a:avLst/>
          </a:prstGeom>
          <a:solidFill>
            <a:srgbClr val="C2410C"/>
          </a:solidFill>
          <a:ln>
            <a:noFill/>
          </a:ln>
        </p:spPr>
        <p:txBody>
          <a:bodyPr rtlCol="0" anchor="ctr"/>
          <a:lstStyle/>
          <a:p>
            <a:pPr algn="ctr"/>
          </a:p>
        </p:txBody>
      </p:sp>
      <p:sp>
        <p:nvSpPr>
          <p:cNvPr id="33" name="Rectangle 32"/>
          <p:cNvSpPr/>
          <p:nvPr/>
        </p:nvSpPr>
        <p:spPr>
          <a:xfrm>
            <a:off x="11474450" y="4257278"/>
            <a:ext cx="6350" cy="937220"/>
          </a:xfrm>
          <a:prstGeom prst="rect">
            <a:avLst/>
          </a:prstGeom>
          <a:solidFill>
            <a:srgbClr val="D9D4C7"/>
          </a:solidFill>
          <a:ln>
            <a:noFill/>
          </a:ln>
        </p:spPr>
        <p:txBody>
          <a:bodyPr rtlCol="0" anchor="ctr"/>
          <a:lstStyle/>
          <a:p>
            <a:pPr algn="ctr"/>
          </a:p>
        </p:txBody>
      </p:sp>
      <p:sp>
        <p:nvSpPr>
          <p:cNvPr id="34" name="Rectangle 33"/>
          <p:cNvSpPr/>
          <p:nvPr/>
        </p:nvSpPr>
        <p:spPr>
          <a:xfrm>
            <a:off x="9062343" y="5188148"/>
            <a:ext cx="2418457" cy="6350"/>
          </a:xfrm>
          <a:prstGeom prst="rect">
            <a:avLst/>
          </a:prstGeom>
          <a:solidFill>
            <a:srgbClr val="D9D4C7"/>
          </a:solidFill>
          <a:ln>
            <a:noFill/>
          </a:ln>
        </p:spPr>
        <p:txBody>
          <a:bodyPr rtlCol="0" anchor="ctr"/>
          <a:lstStyle/>
          <a:p>
            <a:pPr algn="ctr"/>
          </a:p>
        </p:txBody>
      </p:sp>
      <p:sp>
        <p:nvSpPr>
          <p:cNvPr id="35" name="Rectangle 34"/>
          <p:cNvSpPr/>
          <p:nvPr/>
        </p:nvSpPr>
        <p:spPr>
          <a:xfrm>
            <a:off x="9062343" y="4257278"/>
            <a:ext cx="6350" cy="937220"/>
          </a:xfrm>
          <a:prstGeom prst="rect">
            <a:avLst/>
          </a:prstGeom>
          <a:solidFill>
            <a:srgbClr val="D9D4C7"/>
          </a:solidFill>
          <a:ln>
            <a:noFill/>
          </a:ln>
        </p:spPr>
        <p:txBody>
          <a:bodyPr rtlCol="0" anchor="ctr"/>
          <a:lstStyle/>
          <a:p>
            <a:pPr algn="ctr"/>
          </a:p>
        </p:txBody>
      </p:sp>
      <p:sp>
        <p:nvSpPr>
          <p:cNvPr id="36" name="TextBox 35"/>
          <p:cNvSpPr txBox="1"/>
          <p:nvPr/>
        </p:nvSpPr>
        <p:spPr>
          <a:xfrm>
            <a:off x="9182993" y="43969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가중 복제</a:t>
            </a:r>
          </a:p>
        </p:txBody>
      </p:sp>
      <p:sp>
        <p:nvSpPr>
          <p:cNvPr id="37" name="TextBox 36"/>
          <p:cNvSpPr txBox="1"/>
          <p:nvPr/>
        </p:nvSpPr>
        <p:spPr>
          <a:xfrm>
            <a:off x="9182993" y="46954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최고 2.76, 치명 0.09로 가중한다(R.10)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TP-0138 · Planner 문서 B.15.5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2단계 후학습은 26/30을 넘지 못해 1단계를 유지한다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087694" y="1361678"/>
            <a:ext cx="8016611"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TP-0138: 같은 RL 처방을 더 돌린 두 시도의 도달, 폴백 의존, 보행자 여유 — scripts/make_evidence_figures.py</a:t>
            </a:r>
          </a:p>
        </p:txBody>
      </p:sp>
      <p:sp>
        <p:nvSpPr>
          <p:cNvPr id="7" name="Rounded Rectangle 6"/>
          <p:cNvSpPr/>
          <p:nvPr/>
        </p:nvSpPr>
        <p:spPr>
          <a:xfrm>
            <a:off x="711200" y="4193778"/>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1937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4193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2389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193778"/>
            <a:ext cx="50800" cy="1051520"/>
          </a:xfrm>
          <a:prstGeom prst="roundRect">
            <a:avLst>
              <a:gd name="adj" fmla="val 50000"/>
            </a:avLst>
          </a:prstGeom>
          <a:solidFill>
            <a:srgbClr val="9AA6BC"/>
          </a:solidFill>
          <a:ln>
            <a:noFill/>
          </a:ln>
        </p:spPr>
        <p:txBody>
          <a:bodyPr rtlCol="0" anchor="ctr"/>
          <a:lstStyle/>
          <a:p>
            <a:pPr algn="ctr"/>
          </a:p>
        </p:txBody>
      </p:sp>
      <p:sp>
        <p:nvSpPr>
          <p:cNvPr id="12" name="Rounded Rectangle 11"/>
          <p:cNvSpPr/>
          <p:nvPr/>
        </p:nvSpPr>
        <p:spPr>
          <a:xfrm>
            <a:off x="927100" y="4339828"/>
            <a:ext cx="547688" cy="241300"/>
          </a:xfrm>
          <a:prstGeom prst="roundRect">
            <a:avLst>
              <a:gd name="adj" fmla="val 50000"/>
            </a:avLst>
          </a:prstGeom>
          <a:solidFill>
            <a:srgbClr val="ECE8DF"/>
          </a:solidFill>
          <a:ln>
            <a:noFill/>
          </a:ln>
        </p:spPr>
        <p:txBody>
          <a:bodyPr rtlCol="0" anchor="ctr"/>
          <a:lstStyle/>
          <a:p>
            <a:pPr algn="ctr"/>
          </a:p>
        </p:txBody>
      </p:sp>
      <p:sp>
        <p:nvSpPr>
          <p:cNvPr id="13" name="TextBox 12"/>
          <p:cNvSpPr txBox="1"/>
          <p:nvPr/>
        </p:nvSpPr>
        <p:spPr>
          <a:xfrm>
            <a:off x="1016000" y="4365228"/>
            <a:ext cx="40638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두 시도</a:t>
            </a:r>
          </a:p>
        </p:txBody>
      </p:sp>
      <p:sp>
        <p:nvSpPr>
          <p:cNvPr id="14" name="TextBox 13"/>
          <p:cNvSpPr txBox="1"/>
          <p:nvPr/>
        </p:nvSpPr>
        <p:spPr>
          <a:xfrm>
            <a:off x="927100" y="46573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curb_ramp 레벨 3만 6 라운드, 모든 지형 레벨 2–3 3 라운드. 둘 다 단독 26/30이다.</a:t>
            </a:r>
          </a:p>
        </p:txBody>
      </p:sp>
      <p:sp>
        <p:nvSpPr>
          <p:cNvPr id="15" name="Rounded Rectangle 14"/>
          <p:cNvSpPr/>
          <p:nvPr/>
        </p:nvSpPr>
        <p:spPr>
          <a:xfrm>
            <a:off x="6223000" y="4193778"/>
            <a:ext cx="52578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223000" y="419377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193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223000" y="5238948"/>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4193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4339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4365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해석</a:t>
            </a:r>
          </a:p>
        </p:txBody>
      </p:sp>
      <p:sp>
        <p:nvSpPr>
          <p:cNvPr id="22" name="TextBox 21"/>
          <p:cNvSpPr txBox="1"/>
          <p:nvPr/>
        </p:nvSpPr>
        <p:spPr>
          <a:xfrm>
            <a:off x="6438900" y="46573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보상이 한 계획 시점의 후보를 4 s 개루프로 한 번 채점한다. 경사로를 지나친 뒤의 재탐색은 보상하지 못한다.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R.14 · RL 이론과 잡음 바닥</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12 에피소드의 한두 개 차이는 잡음 구간 안이다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성공률의 표준오차는 </a:t>
            </a:r>
            <a:r>
              <a:rPr sz="1650" b="0" i="1">
                <a:solidFill>
                  <a:srgbClr val="3D4A63"/>
                </a:solidFill>
                <a:latin typeface="Arial"/>
                <a:ea typeface="Malgun Gothic"/>
                <a:cs typeface="Malgun Gothic"/>
              </a:rPr>
              <a:t>√(p(1-p)/n)</a:t>
            </a:r>
            <a:r>
              <a:rPr sz="1650" b="0" i="0">
                <a:solidFill>
                  <a:srgbClr val="3D4A63"/>
                </a:solidFill>
                <a:latin typeface="Arial"/>
                <a:ea typeface="Malgun Gothic"/>
                <a:cs typeface="Malgun Gothic"/>
              </a:rPr>
              <a:t>이다. 오차를 절반으로 줄이려면 에피소드가 4배 든다.</a:t>
            </a:r>
          </a:p>
        </p:txBody>
      </p:sp>
      <p:graphicFrame>
        <p:nvGraphicFramePr>
          <p:cNvPr id="5" name="Table 4"/>
          <p:cNvGraphicFramePr>
            <a:graphicFrameLocks noGrp="1"/>
          </p:cNvGraphicFramePr>
          <p:nvPr/>
        </p:nvGraphicFramePr>
        <p:xfrm>
          <a:off x="711200" y="1852513"/>
          <a:ext cx="5257800" cy="1144269"/>
        </p:xfrm>
        <a:graphic>
          <a:graphicData uri="http://schemas.openxmlformats.org/drawingml/2006/table">
            <a:tbl>
              <a:tblPr firstRow="0" bandRow="0">
                <a:tableStyleId>{5C22544A-7EE6-4342-B048-85BDC9FD1C3A}</a:tableStyleId>
              </a:tblPr>
              <a:tblGrid>
                <a:gridCol w="1920379"/>
                <a:gridCol w="2248198"/>
                <a:gridCol w="1089223"/>
              </a:tblGrid>
              <a:tr h="292814">
                <a:tc>
                  <a:txBody>
                    <a:bodyPr wrap="square"/>
                    <a:lstStyle/>
                    <a:p>
                      <a:r>
                        <a:rPr sz="1200" b="1" i="0">
                          <a:solidFill>
                            <a:srgbClr val="F4F1EA"/>
                          </a:solidFill>
                          <a:latin typeface="Arial"/>
                          <a:ea typeface="Malgun Gothic"/>
                          <a:cs typeface="Malgun Gothic"/>
                        </a:rPr>
                        <a:t>에피소드</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참 90 %의 95 % 구간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참 97 %</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12 (1층 스모크)</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±17.0 %p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±9.7 %p</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120 (레벨 3 한 판)</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±5.4 %p</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±3.1 %p</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360 (레벨 3 세 판)</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±3.1 %p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±1.8 %p</a:t>
                      </a:r>
                    </a:p>
                  </a:txBody>
                  <a:tcPr marL="76200" marR="76200" marT="25400" marB="25400">
                    <a:solidFill>
                      <a:srgbClr val="F1EDE4"/>
                    </a:solidFill>
                  </a:tcPr>
                </a:tc>
              </a:tr>
            </a:tbl>
          </a:graphicData>
        </a:graphic>
      </p:graphicFrame>
      <p:graphicFrame>
        <p:nvGraphicFramePr>
          <p:cNvPr id="6" name="Table 5"/>
          <p:cNvGraphicFramePr>
            <a:graphicFrameLocks noGrp="1"/>
          </p:cNvGraphicFramePr>
          <p:nvPr/>
        </p:nvGraphicFramePr>
        <p:xfrm>
          <a:off x="6223000" y="1852513"/>
          <a:ext cx="5257801" cy="1144269"/>
        </p:xfrm>
        <a:graphic>
          <a:graphicData uri="http://schemas.openxmlformats.org/drawingml/2006/table">
            <a:tbl>
              <a:tblPr firstRow="0" bandRow="0">
                <a:tableStyleId>{5C22544A-7EE6-4342-B048-85BDC9FD1C3A}</a:tableStyleId>
              </a:tblPr>
              <a:tblGrid>
                <a:gridCol w="1815009"/>
                <a:gridCol w="2416572"/>
                <a:gridCol w="1026220"/>
              </a:tblGrid>
              <a:tr h="292814">
                <a:tc>
                  <a:txBody>
                    <a:bodyPr wrap="square"/>
                    <a:lstStyle/>
                    <a:p>
                      <a:r>
                        <a:rPr sz="1200" b="1" i="0">
                          <a:solidFill>
                            <a:srgbClr val="F4F1EA"/>
                          </a:solidFill>
                          <a:latin typeface="Arial"/>
                          <a:ea typeface="Malgun Gothic"/>
                          <a:cs typeface="Malgun Gothic"/>
                        </a:rPr>
                        <a:t>갈린 에피소드</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p &lt; 0.05 최소 차이</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p</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6</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6 : 0</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0.031</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12</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10 : 2</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0.039</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24</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18 : 6</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0.023</a:t>
                      </a:r>
                    </a:p>
                  </a:txBody>
                  <a:tcPr marL="76200" marR="76200" marT="25400" marB="25400">
                    <a:solidFill>
                      <a:srgbClr val="F1EDE4"/>
                    </a:solidFill>
                  </a:tcPr>
                </a:tc>
              </a:tr>
            </a:tbl>
          </a:graphicData>
        </a:graphic>
      </p:graphicFrame>
      <p:sp>
        <p:nvSpPr>
          <p:cNvPr id="7" name="Rounded Rectangle 6"/>
          <p:cNvSpPr/>
          <p:nvPr/>
        </p:nvSpPr>
        <p:spPr>
          <a:xfrm>
            <a:off x="711200" y="3376513"/>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2"/>
          <a:stretch>
            <a:fillRect/>
          </a:stretch>
        </p:blipFill>
        <p:spPr>
          <a:xfrm>
            <a:off x="3192037" y="3376513"/>
            <a:ext cx="5807927" cy="1905000"/>
          </a:xfrm>
          <a:prstGeom prst="rect">
            <a:avLst/>
          </a:prstGeom>
        </p:spPr>
      </p:pic>
      <p:sp>
        <p:nvSpPr>
          <p:cNvPr id="9" name="TextBox 8"/>
          <p:cNvSpPr txBox="1"/>
          <p:nvPr/>
        </p:nvSpPr>
        <p:spPr>
          <a:xfrm>
            <a:off x="711200" y="5345013"/>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몇 번 돌려야 구별되나 — scripts/make_rl_figures.py</a:t>
            </a:r>
          </a:p>
        </p:txBody>
      </p:sp>
      <p:sp>
        <p:nvSpPr>
          <p:cNvPr id="10" name="Rounded Rectangle 9"/>
          <p:cNvSpPr/>
          <p:nvPr/>
        </p:nvSpPr>
        <p:spPr>
          <a:xfrm>
            <a:off x="711200" y="5700613"/>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82761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혼돈 조건은 3판 짝 비교로 보고, p만으로 판정하지 않는다(2층 게이트).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다음 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다음 자리는 plant와 L1을 넣은 폐루프 후학습이다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25400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plant와 L1을 넣은 후학습</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지금 후학습은 이상 모델과 L0 지도로 했다. TP-0153의 GPU 경로로 L1 에피소드가 약 3.5배 빨라졌다.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1507728"/>
            <a:ext cx="254000"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1533128"/>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FPO로 PPO 비율 쓰기</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critic을 더하면 actor-critic으로 넘어간다. 가중치를 두고 시작 잡음만 배우는 DSRL도 있다.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254000"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10388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3</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비대칭 critic과 안전 critic</a:t>
            </a:r>
          </a:p>
        </p:txBody>
      </p:sp>
      <p:sp>
        <p:nvSpPr>
          <p:cNvPr id="30" name="TextBox 29"/>
          <p:cNvSpPr txBox="1"/>
          <p:nvPr/>
        </p:nvSpPr>
        <p:spPr>
          <a:xfrm>
            <a:off x="927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critic에 GT 지도와 plant 상태를 준다. 치명 셀까지의 최악 여유를 따로 배운다(SSM).</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254000"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10388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4</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오프라인 자료</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results/</a:t>
            </a:r>
            <a:r>
              <a:rPr sz="1150" b="0" i="0">
                <a:solidFill>
                  <a:srgbClr val="16213A"/>
                </a:solidFill>
                <a:latin typeface="Arial"/>
                <a:ea typeface="Malgun Gothic"/>
                <a:cs typeface="Malgun Gothic"/>
              </a:rPr>
              <a:t>의 기록을 IQL식으로 쓴다. 자료 정책보다 나아질 수 있는지부터 작게 잰다.</a:t>
            </a:r>
          </a:p>
        </p:txBody>
      </p:sp>
      <p:sp>
        <p:nvSpPr>
          <p:cNvPr id="40" name="Rounded Rectangle 39"/>
          <p:cNvSpPr/>
          <p:nvPr/>
        </p:nvSpPr>
        <p:spPr>
          <a:xfrm>
            <a:off x="711200" y="4409480"/>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453648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R.19는 같은 후보를 비용 순으로 다시 세워 critic 선택기를 먼저 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시연으로 시작하고, 표본으로 다듬고, 꼬리로 판정한다</a:t>
            </a:r>
          </a:p>
        </p:txBody>
      </p:sp>
      <p:sp>
        <p:nvSpPr>
          <p:cNvPr id="4" name="Rounded Rectangle 3"/>
          <p:cNvSpPr/>
          <p:nvPr/>
        </p:nvSpPr>
        <p:spPr>
          <a:xfrm>
            <a:off x="711200" y="1361678"/>
            <a:ext cx="5064125"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064125" cy="6350"/>
          </a:xfrm>
          <a:prstGeom prst="rect">
            <a:avLst/>
          </a:prstGeom>
          <a:solidFill>
            <a:srgbClr val="D9D4C7"/>
          </a:solidFill>
          <a:ln>
            <a:noFill/>
          </a:ln>
        </p:spPr>
        <p:txBody>
          <a:bodyPr rtlCol="0" anchor="ctr"/>
          <a:lstStyle/>
          <a:p>
            <a:pPr algn="ctr"/>
          </a:p>
        </p:txBody>
      </p:sp>
      <p:sp>
        <p:nvSpPr>
          <p:cNvPr id="6" name="Rectangle 5"/>
          <p:cNvSpPr/>
          <p:nvPr/>
        </p:nvSpPr>
        <p:spPr>
          <a:xfrm>
            <a:off x="5768975"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064125"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세 자리</a:t>
            </a:r>
          </a:p>
        </p:txBody>
      </p:sp>
      <p:sp>
        <p:nvSpPr>
          <p:cNvPr id="10" name="TextBox 9"/>
          <p:cNvSpPr txBox="1"/>
          <p:nvPr/>
        </p:nvSpPr>
        <p:spPr>
          <a:xfrm>
            <a:off x="927100" y="1815009"/>
            <a:ext cx="484247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D 후학습(AWR, TP-0066), 학습 Controller(ES, TP-0128), MPPI(모델 기반, TP-0150)</a:t>
            </a:r>
          </a:p>
        </p:txBody>
      </p:sp>
      <p:sp>
        <p:nvSpPr>
          <p:cNvPr id="11" name="Rounded Rectangle 10"/>
          <p:cNvSpPr/>
          <p:nvPr/>
        </p:nvSpPr>
        <p:spPr>
          <a:xfrm>
            <a:off x="711200" y="2517279"/>
            <a:ext cx="5064125"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711200" y="2517279"/>
            <a:ext cx="5064125" cy="6350"/>
          </a:xfrm>
          <a:prstGeom prst="rect">
            <a:avLst/>
          </a:prstGeom>
          <a:solidFill>
            <a:srgbClr val="D9D4C7"/>
          </a:solidFill>
          <a:ln>
            <a:noFill/>
          </a:ln>
        </p:spPr>
        <p:txBody>
          <a:bodyPr rtlCol="0" anchor="ctr"/>
          <a:lstStyle/>
          <a:p>
            <a:pPr algn="ctr"/>
          </a:p>
        </p:txBody>
      </p:sp>
      <p:sp>
        <p:nvSpPr>
          <p:cNvPr id="13" name="Rectangle 12"/>
          <p:cNvSpPr/>
          <p:nvPr/>
        </p:nvSpPr>
        <p:spPr>
          <a:xfrm>
            <a:off x="5768975" y="2517279"/>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711200" y="3331270"/>
            <a:ext cx="5064125"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517279"/>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927100" y="2663329"/>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빠진 것</a:t>
            </a:r>
          </a:p>
        </p:txBody>
      </p:sp>
      <p:sp>
        <p:nvSpPr>
          <p:cNvPr id="17" name="TextBox 16"/>
          <p:cNvSpPr txBox="1"/>
          <p:nvPr/>
        </p:nvSpPr>
        <p:spPr>
          <a:xfrm>
            <a:off x="927100" y="2970609"/>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배운 critic, plant·L1을 넣은 rollout, 꼬리를 보는 안전 신호</a:t>
            </a:r>
          </a:p>
        </p:txBody>
      </p:sp>
      <p:sp>
        <p:nvSpPr>
          <p:cNvPr id="18" name="Rounded Rectangle 17"/>
          <p:cNvSpPr/>
          <p:nvPr/>
        </p:nvSpPr>
        <p:spPr>
          <a:xfrm>
            <a:off x="711200" y="3451920"/>
            <a:ext cx="5064125"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3451920"/>
            <a:ext cx="5064125" cy="6350"/>
          </a:xfrm>
          <a:prstGeom prst="rect">
            <a:avLst/>
          </a:prstGeom>
          <a:solidFill>
            <a:srgbClr val="D9D4C7"/>
          </a:solidFill>
          <a:ln>
            <a:noFill/>
          </a:ln>
        </p:spPr>
        <p:txBody>
          <a:bodyPr rtlCol="0" anchor="ctr"/>
          <a:lstStyle/>
          <a:p>
            <a:pPr algn="ctr"/>
          </a:p>
        </p:txBody>
      </p:sp>
      <p:sp>
        <p:nvSpPr>
          <p:cNvPr id="20" name="Rectangle 19"/>
          <p:cNvSpPr/>
          <p:nvPr/>
        </p:nvSpPr>
        <p:spPr>
          <a:xfrm>
            <a:off x="5768975" y="3451920"/>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4265910"/>
            <a:ext cx="5064125"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3451920"/>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3597970"/>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판정</a:t>
            </a:r>
          </a:p>
        </p:txBody>
      </p:sp>
      <p:sp>
        <p:nvSpPr>
          <p:cNvPr id="24" name="TextBox 23"/>
          <p:cNvSpPr txBox="1"/>
          <p:nvPr/>
        </p:nvSpPr>
        <p:spPr>
          <a:xfrm>
            <a:off x="927100" y="3905250"/>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3판 짝 비교, 치명이 하나라도 늘면 기각</a:t>
            </a:r>
          </a:p>
        </p:txBody>
      </p:sp>
      <p:sp>
        <p:nvSpPr>
          <p:cNvPr id="25" name="Rounded Rectangle 24"/>
          <p:cNvSpPr/>
          <p:nvPr/>
        </p:nvSpPr>
        <p:spPr>
          <a:xfrm>
            <a:off x="6029325" y="1361678"/>
            <a:ext cx="5451475" cy="2265561"/>
          </a:xfrm>
          <a:prstGeom prst="roundRect">
            <a:avLst>
              <a:gd name="adj" fmla="val 3363"/>
            </a:avLst>
          </a:prstGeom>
          <a:solidFill>
            <a:srgbClr val="FFFDF8"/>
          </a:solidFill>
          <a:ln>
            <a:noFill/>
          </a:ln>
        </p:spPr>
        <p:txBody>
          <a:bodyPr rtlCol="0" anchor="ctr"/>
          <a:lstStyle/>
          <a:p>
            <a:pPr algn="ctr"/>
          </a:p>
        </p:txBody>
      </p:sp>
      <p:sp>
        <p:nvSpPr>
          <p:cNvPr id="26" name="Rectangle 25"/>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1361678"/>
            <a:ext cx="6350" cy="2265561"/>
          </a:xfrm>
          <a:prstGeom prst="rect">
            <a:avLst/>
          </a:prstGeom>
          <a:solidFill>
            <a:srgbClr val="D9D4C7"/>
          </a:solidFill>
          <a:ln>
            <a:noFill/>
          </a:ln>
        </p:spPr>
        <p:txBody>
          <a:bodyPr rtlCol="0" anchor="ctr"/>
          <a:lstStyle/>
          <a:p>
            <a:pPr algn="ctr"/>
          </a:p>
        </p:txBody>
      </p:sp>
      <p:sp>
        <p:nvSpPr>
          <p:cNvPr id="28" name="Rectangle 27"/>
          <p:cNvSpPr/>
          <p:nvPr/>
        </p:nvSpPr>
        <p:spPr>
          <a:xfrm>
            <a:off x="6029325" y="3620889"/>
            <a:ext cx="5451475" cy="6350"/>
          </a:xfrm>
          <a:prstGeom prst="rect">
            <a:avLst/>
          </a:prstGeom>
          <a:solidFill>
            <a:srgbClr val="D9D4C7"/>
          </a:solidFill>
          <a:ln>
            <a:noFill/>
          </a:ln>
        </p:spPr>
        <p:txBody>
          <a:bodyPr rtlCol="0" anchor="ctr"/>
          <a:lstStyle/>
          <a:p>
            <a:pPr algn="ctr"/>
          </a:p>
        </p:txBody>
      </p:sp>
      <p:sp>
        <p:nvSpPr>
          <p:cNvPr id="29" name="Rounded Rectangle 28"/>
          <p:cNvSpPr/>
          <p:nvPr/>
        </p:nvSpPr>
        <p:spPr>
          <a:xfrm>
            <a:off x="6029325" y="1361678"/>
            <a:ext cx="50800" cy="2265561"/>
          </a:xfrm>
          <a:prstGeom prst="roundRect">
            <a:avLst>
              <a:gd name="adj" fmla="val 50000"/>
            </a:avLst>
          </a:prstGeom>
          <a:solidFill>
            <a:srgbClr val="9AA6BC"/>
          </a:solidFill>
          <a:ln>
            <a:noFill/>
          </a:ln>
        </p:spPr>
        <p:txBody>
          <a:bodyPr rtlCol="0" anchor="ctr"/>
          <a:lstStyle/>
          <a:p>
            <a:pPr algn="ctr"/>
          </a:p>
        </p:txBody>
      </p:sp>
      <p:sp>
        <p:nvSpPr>
          <p:cNvPr id="30" name="Rounded Rectangle 29"/>
          <p:cNvSpPr/>
          <p:nvPr/>
        </p:nvSpPr>
        <p:spPr>
          <a:xfrm>
            <a:off x="6245225" y="1507728"/>
            <a:ext cx="1326654" cy="241300"/>
          </a:xfrm>
          <a:prstGeom prst="roundRect">
            <a:avLst>
              <a:gd name="adj" fmla="val 50000"/>
            </a:avLst>
          </a:prstGeom>
          <a:solidFill>
            <a:srgbClr val="ECE8DF"/>
          </a:solidFill>
          <a:ln>
            <a:noFill/>
          </a:ln>
        </p:spPr>
        <p:txBody>
          <a:bodyPr rtlCol="0" anchor="ctr"/>
          <a:lstStyle/>
          <a:p>
            <a:pPr algn="ctr"/>
          </a:p>
        </p:txBody>
      </p:sp>
      <p:sp>
        <p:nvSpPr>
          <p:cNvPr id="31" name="TextBox 30"/>
          <p:cNvSpPr txBox="1"/>
          <p:nvPr/>
        </p:nvSpPr>
        <p:spPr>
          <a:xfrm>
            <a:off x="6334125" y="1533128"/>
            <a:ext cx="1208720"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공부 순서 · 2023 영상</a:t>
            </a:r>
          </a:p>
        </p:txBody>
      </p:sp>
      <p:sp>
        <p:nvSpPr>
          <p:cNvPr id="32" name="TextBox 31"/>
          <p:cNvSpPr txBox="1"/>
          <p:nvPr/>
        </p:nvSpPr>
        <p:spPr>
          <a:xfrm>
            <a:off x="6283325" y="1825228"/>
            <a:ext cx="5202206" cy="327000"/>
          </a:xfrm>
          <a:prstGeom prst="rect">
            <a:avLst/>
          </a:prstGeom>
          <a:noFill/>
        </p:spPr>
        <p:txBody>
          <a:bodyPr wrap="square" lIns="0" rIns="0" tIns="0" bIns="0" anchor="t">
            <a:normAutofit/>
          </a:bodyPr>
          <a:lstStyle/>
          <a:p>
            <a:pPr marL="190500" indent="-190500">
              <a:lnSpc>
                <a:spcPct val="133400"/>
              </a:lnSpc>
              <a:buAutoNum type="arabicPeriod" startAt="1"/>
            </a:pPr>
            <a:r>
              <a:rPr sz="1150" b="0" i="0">
                <a:solidFill>
                  <a:srgbClr val="16213A"/>
                </a:solidFill>
                <a:latin typeface="Arial"/>
                <a:ea typeface="Malgun Gothic"/>
                <a:cs typeface="Malgun Gothic"/>
              </a:rPr>
              <a:t>1, 2, 4, 5, 6, 9강 — 정책 기울기까지</a:t>
            </a:r>
          </a:p>
        </p:txBody>
      </p:sp>
      <p:sp>
        <p:nvSpPr>
          <p:cNvPr id="33" name="TextBox 32"/>
          <p:cNvSpPr txBox="1"/>
          <p:nvPr/>
        </p:nvSpPr>
        <p:spPr>
          <a:xfrm>
            <a:off x="6283325" y="2109688"/>
            <a:ext cx="5202206" cy="327000"/>
          </a:xfrm>
          <a:prstGeom prst="rect">
            <a:avLst/>
          </a:prstGeom>
          <a:noFill/>
        </p:spPr>
        <p:txBody>
          <a:bodyPr wrap="square" lIns="0" rIns="0" tIns="0" bIns="0" anchor="t">
            <a:normAutofit/>
          </a:bodyPr>
          <a:lstStyle/>
          <a:p>
            <a:pPr marL="190500" indent="-190500">
              <a:lnSpc>
                <a:spcPct val="133400"/>
              </a:lnSpc>
              <a:buAutoNum type="arabicPeriod" startAt="2"/>
            </a:pPr>
            <a:r>
              <a:rPr sz="1150" b="0" i="0">
                <a:solidFill>
                  <a:srgbClr val="16213A"/>
                </a:solidFill>
                <a:latin typeface="Arial"/>
                <a:ea typeface="Malgun Gothic"/>
                <a:cs typeface="Malgun Gothic"/>
              </a:rPr>
              <a:t>19강 — 제어를 추론으로(MPPI)</a:t>
            </a:r>
          </a:p>
        </p:txBody>
      </p:sp>
      <p:sp>
        <p:nvSpPr>
          <p:cNvPr id="34" name="TextBox 33"/>
          <p:cNvSpPr txBox="1"/>
          <p:nvPr/>
        </p:nvSpPr>
        <p:spPr>
          <a:xfrm>
            <a:off x="6283325" y="2394148"/>
            <a:ext cx="5202206" cy="327000"/>
          </a:xfrm>
          <a:prstGeom prst="rect">
            <a:avLst/>
          </a:prstGeom>
          <a:noFill/>
        </p:spPr>
        <p:txBody>
          <a:bodyPr wrap="square" lIns="0" rIns="0" tIns="0" bIns="0" anchor="t">
            <a:normAutofit/>
          </a:bodyPr>
          <a:lstStyle/>
          <a:p>
            <a:pPr marL="190500" indent="-190500">
              <a:lnSpc>
                <a:spcPct val="133400"/>
              </a:lnSpc>
              <a:buAutoNum type="arabicPeriod" startAt="3"/>
            </a:pPr>
            <a:r>
              <a:rPr sz="1150" b="0" i="0">
                <a:solidFill>
                  <a:srgbClr val="16213A"/>
                </a:solidFill>
                <a:latin typeface="Arial"/>
                <a:ea typeface="Malgun Gothic"/>
                <a:cs typeface="Malgun Gothic"/>
              </a:rPr>
              <a:t>11·12강 — 모델 기반</a:t>
            </a:r>
          </a:p>
        </p:txBody>
      </p:sp>
      <p:sp>
        <p:nvSpPr>
          <p:cNvPr id="35" name="TextBox 34"/>
          <p:cNvSpPr txBox="1"/>
          <p:nvPr/>
        </p:nvSpPr>
        <p:spPr>
          <a:xfrm>
            <a:off x="6283325" y="2678609"/>
            <a:ext cx="5202206" cy="327000"/>
          </a:xfrm>
          <a:prstGeom prst="rect">
            <a:avLst/>
          </a:prstGeom>
          <a:noFill/>
        </p:spPr>
        <p:txBody>
          <a:bodyPr wrap="square" lIns="0" rIns="0" tIns="0" bIns="0" anchor="t">
            <a:normAutofit/>
          </a:bodyPr>
          <a:lstStyle/>
          <a:p>
            <a:pPr marL="190500" indent="-190500">
              <a:lnSpc>
                <a:spcPct val="133400"/>
              </a:lnSpc>
              <a:buAutoNum type="arabicPeriod" startAt="4"/>
            </a:pPr>
            <a:r>
              <a:rPr sz="1150" b="0" i="0">
                <a:solidFill>
                  <a:srgbClr val="16213A"/>
                </a:solidFill>
                <a:latin typeface="Arial"/>
                <a:ea typeface="Malgun Gothic"/>
                <a:cs typeface="Malgun Gothic"/>
              </a:rPr>
              <a:t>15·16강 — 오프라인(AWR)</a:t>
            </a:r>
          </a:p>
        </p:txBody>
      </p:sp>
      <p:sp>
        <p:nvSpPr>
          <p:cNvPr id="36" name="TextBox 35"/>
          <p:cNvSpPr txBox="1"/>
          <p:nvPr/>
        </p:nvSpPr>
        <p:spPr>
          <a:xfrm>
            <a:off x="6283325" y="2963069"/>
            <a:ext cx="5202206" cy="327000"/>
          </a:xfrm>
          <a:prstGeom prst="rect">
            <a:avLst/>
          </a:prstGeom>
          <a:noFill/>
        </p:spPr>
        <p:txBody>
          <a:bodyPr wrap="square" lIns="0" rIns="0" tIns="0" bIns="0" anchor="t">
            <a:normAutofit/>
          </a:bodyPr>
          <a:lstStyle/>
          <a:p>
            <a:pPr marL="190500" indent="-190500">
              <a:lnSpc>
                <a:spcPct val="133400"/>
              </a:lnSpc>
              <a:buAutoNum type="arabicPeriod" startAt="5"/>
            </a:pPr>
            <a:r>
              <a:rPr sz="1150" b="0" i="0">
                <a:solidFill>
                  <a:srgbClr val="16213A"/>
                </a:solidFill>
                <a:latin typeface="Arial"/>
                <a:ea typeface="Malgun Gothic"/>
                <a:cs typeface="Malgun Gothic"/>
              </a:rPr>
              <a:t>10강 — 최적 제어(NMPC)</a:t>
            </a:r>
          </a:p>
        </p:txBody>
      </p:sp>
      <p:sp>
        <p:nvSpPr>
          <p:cNvPr id="37" name="TextBox 36"/>
          <p:cNvSpPr txBox="1"/>
          <p:nvPr/>
        </p:nvSpPr>
        <p:spPr>
          <a:xfrm>
            <a:off x="6245225" y="3260229"/>
            <a:ext cx="5241449"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문서는 R.0, R.1, R.2, R.3, R.5, R.8, R.16 순서로 읽는다.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모든 출처는 리서치 문서 §R에 링크가 있다</a:t>
            </a:r>
          </a:p>
        </p:txBody>
      </p:sp>
      <p:sp>
        <p:nvSpPr>
          <p:cNvPr id="4" name="TextBox 3"/>
          <p:cNvSpPr txBox="1"/>
          <p:nvPr/>
        </p:nvSpPr>
        <p:spPr>
          <a:xfrm>
            <a:off x="711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강의</a:t>
            </a:r>
            <a:r>
              <a:rPr sz="1250" b="0" i="0">
                <a:solidFill>
                  <a:srgbClr val="16213A"/>
                </a:solidFill>
                <a:latin typeface="Arial"/>
                <a:ea typeface="Malgun Gothic"/>
                <a:cs typeface="Malgun Gothic"/>
              </a:rPr>
              <a:t> — CS 185/285 Deep RL(Sergey Levine), 2026 봄 슬라이드, 2023·2018 영상</a:t>
            </a:r>
          </a:p>
        </p:txBody>
      </p:sp>
      <p:sp>
        <p:nvSpPr>
          <p:cNvPr id="5" name="TextBox 4"/>
          <p:cNvSpPr txBox="1"/>
          <p:nvPr/>
        </p:nvSpPr>
        <p:spPr>
          <a:xfrm>
            <a:off x="711200" y="19712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모방</a:t>
            </a:r>
            <a:r>
              <a:rPr sz="1250" b="0" i="0">
                <a:solidFill>
                  <a:srgbClr val="16213A"/>
                </a:solidFill>
                <a:latin typeface="Arial"/>
                <a:ea typeface="Malgun Gothic"/>
                <a:cs typeface="Malgun Gothic"/>
              </a:rPr>
              <a:t> — DAgger arXiv:1011.0686</a:t>
            </a:r>
          </a:p>
        </p:txBody>
      </p:sp>
      <p:sp>
        <p:nvSpPr>
          <p:cNvPr id="6" name="TextBox 5"/>
          <p:cNvSpPr txBox="1"/>
          <p:nvPr/>
        </p:nvSpPr>
        <p:spPr>
          <a:xfrm>
            <a:off x="711200" y="23332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정책 기울기</a:t>
            </a:r>
            <a:r>
              <a:rPr sz="1250" b="0" i="0">
                <a:solidFill>
                  <a:srgbClr val="16213A"/>
                </a:solidFill>
                <a:latin typeface="Arial"/>
                <a:ea typeface="Malgun Gothic"/>
                <a:cs typeface="Malgun Gothic"/>
              </a:rPr>
              <a:t> — ES 1703.03864 · GAE 1506.02438 · TRPO 1502.05477 · PPO 1707.06347</a:t>
            </a:r>
          </a:p>
        </p:txBody>
      </p:sp>
      <p:sp>
        <p:nvSpPr>
          <p:cNvPr id="7" name="TextBox 6"/>
          <p:cNvSpPr txBox="1"/>
          <p:nvPr/>
        </p:nvSpPr>
        <p:spPr>
          <a:xfrm>
            <a:off x="711200" y="29428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가치·오프라인</a:t>
            </a:r>
            <a:r>
              <a:rPr sz="1250" b="0" i="0">
                <a:solidFill>
                  <a:srgbClr val="16213A"/>
                </a:solidFill>
                <a:latin typeface="Arial"/>
                <a:ea typeface="Malgun Gothic"/>
                <a:cs typeface="Malgun Gothic"/>
              </a:rPr>
              <a:t> — DQN 1312.5602 · Double Q 1509.06461 · TD3 1802.09477 · AWR 1910.00177 · CQL 2006.04779 · IQL 2110.06169</a:t>
            </a:r>
          </a:p>
        </p:txBody>
      </p:sp>
      <p:sp>
        <p:nvSpPr>
          <p:cNvPr id="8" name="TextBox 7"/>
          <p:cNvSpPr txBox="1"/>
          <p:nvPr/>
        </p:nvSpPr>
        <p:spPr>
          <a:xfrm>
            <a:off x="711200" y="35524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추론</a:t>
            </a:r>
            <a:r>
              <a:rPr sz="1250" b="0" i="0">
                <a:solidFill>
                  <a:srgbClr val="16213A"/>
                </a:solidFill>
                <a:latin typeface="Arial"/>
                <a:ea typeface="Malgun Gothic"/>
                <a:cs typeface="Malgun Gothic"/>
              </a:rPr>
              <a:t> — 제어를 추론으로 1805.00909 · SAC 1801.01290 · MPPI 1509.01149</a:t>
            </a:r>
          </a:p>
        </p:txBody>
      </p:sp>
      <p:sp>
        <p:nvSpPr>
          <p:cNvPr id="9" name="TextBox 8"/>
          <p:cNvSpPr txBox="1"/>
          <p:nvPr/>
        </p:nvSpPr>
        <p:spPr>
          <a:xfrm>
            <a:off x="711200" y="41620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모델 기반</a:t>
            </a:r>
            <a:r>
              <a:rPr sz="1250" b="0" i="0">
                <a:solidFill>
                  <a:srgbClr val="16213A"/>
                </a:solidFill>
                <a:latin typeface="Arial"/>
                <a:ea typeface="Malgun Gothic"/>
                <a:cs typeface="Malgun Gothic"/>
              </a:rPr>
              <a:t> — PETS 1805.12114 · MBPO 1906.08253 · Dreamer 1912.01603 · TD-MPC2 2310.16828</a:t>
            </a:r>
          </a:p>
        </p:txBody>
      </p:sp>
      <p:sp>
        <p:nvSpPr>
          <p:cNvPr id="10" name="TextBox 9"/>
          <p:cNvSpPr txBox="1"/>
          <p:nvPr/>
        </p:nvSpPr>
        <p:spPr>
          <a:xfrm>
            <a:off x="6172200" y="13616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언어 모델</a:t>
            </a:r>
            <a:r>
              <a:rPr sz="1250" b="0" i="0">
                <a:solidFill>
                  <a:srgbClr val="16213A"/>
                </a:solidFill>
                <a:latin typeface="Arial"/>
                <a:ea typeface="Malgun Gothic"/>
                <a:cs typeface="Malgun Gothic"/>
              </a:rPr>
              <a:t> — RLHF 2203.02155 · DPO 2305.18290 · GRPO 2402.03300</a:t>
            </a:r>
          </a:p>
        </p:txBody>
      </p:sp>
      <p:sp>
        <p:nvSpPr>
          <p:cNvPr id="11" name="TextBox 10"/>
          <p:cNvSpPr txBox="1"/>
          <p:nvPr/>
        </p:nvSpPr>
        <p:spPr>
          <a:xfrm>
            <a:off x="6172200" y="17236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flow 정책</a:t>
            </a:r>
            <a:r>
              <a:rPr sz="1250" b="0" i="0">
                <a:solidFill>
                  <a:srgbClr val="16213A"/>
                </a:solidFill>
                <a:latin typeface="Arial"/>
                <a:ea typeface="Malgun Gothic"/>
                <a:cs typeface="Malgun Gothic"/>
              </a:rPr>
              <a:t> — DPPO 2409.00588 · FPO 2507.21053 · ReinFlow 2505.22094 · QSM 2312.11752 · FPO++ 2602.02481 · QF3 2610.08789</a:t>
            </a:r>
          </a:p>
        </p:txBody>
      </p:sp>
      <p:sp>
        <p:nvSpPr>
          <p:cNvPr id="12" name="TextBox 11"/>
          <p:cNvSpPr txBox="1"/>
          <p:nvPr/>
        </p:nvSpPr>
        <p:spPr>
          <a:xfrm>
            <a:off x="6172200" y="25808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오프라인 후학습</a:t>
            </a:r>
            <a:r>
              <a:rPr sz="1250" b="0" i="0">
                <a:solidFill>
                  <a:srgbClr val="16213A"/>
                </a:solidFill>
                <a:latin typeface="Arial"/>
                <a:ea typeface="Malgun Gothic"/>
                <a:cs typeface="Malgun Gothic"/>
              </a:rPr>
              <a:t> — DSRL 2506.15799 · Q-chunking 2507.07969 · FINO 2602.18117 · RECAP 2511.14759 · RL-100 2510.14830</a:t>
            </a:r>
          </a:p>
        </p:txBody>
      </p:sp>
      <p:sp>
        <p:nvSpPr>
          <p:cNvPr id="13" name="TextBox 12"/>
          <p:cNvSpPr txBox="1"/>
          <p:nvPr/>
        </p:nvSpPr>
        <p:spPr>
          <a:xfrm>
            <a:off x="6172200" y="31904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모델·이전</a:t>
            </a:r>
            <a:r>
              <a:rPr sz="1250" b="0" i="0">
                <a:solidFill>
                  <a:srgbClr val="16213A"/>
                </a:solidFill>
                <a:latin typeface="Arial"/>
                <a:ea typeface="Malgun Gothic"/>
                <a:cs typeface="Malgun Gothic"/>
              </a:rPr>
              <a:t> — Dreamer 4 2509.24527 · SimDist 2603.15759 · FastSAC 2512.01996 · NavRL++ 2605.15559</a:t>
            </a:r>
          </a:p>
        </p:txBody>
      </p:sp>
      <p:sp>
        <p:nvSpPr>
          <p:cNvPr id="14" name="TextBox 13"/>
          <p:cNvSpPr txBox="1"/>
          <p:nvPr/>
        </p:nvSpPr>
        <p:spPr>
          <a:xfrm>
            <a:off x="6172200" y="38000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안전</a:t>
            </a:r>
            <a:r>
              <a:rPr sz="1250" b="0" i="0">
                <a:solidFill>
                  <a:srgbClr val="16213A"/>
                </a:solidFill>
                <a:latin typeface="Arial"/>
                <a:ea typeface="Malgun Gothic"/>
                <a:cs typeface="Malgun Gothic"/>
              </a:rPr>
              <a:t> — SSM 2609.33337 · SPiDR 2509.18648 · VIA 2605.14174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강화학습</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