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4.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4.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5.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6.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2.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3.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4.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6.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7.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docs/research-perception.md. 대시보드 리서치 탭의 '인식' 문서를 장으로 옮겼다.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탭 '지형 지도·Occupancy'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 개념: Occupancy Network가 하는 일</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 자동차 도메인 계보 — 채택하지 않지만 알아야 할 마일스톤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 자동차 도메인 계보 — 채택하지 않지만 알아야 할 마일스톤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 자동차 도메인 계보 — 채택하지 않지만 알아야 할 마일스톤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 자동차 도메인 계보 — 채택하지 않지만 알아야 할 마일스톤 · 토글 '자세히: BEVFormer의 공간·시간 attention'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 자동차 도메인 계보 — 채택하지 않지만 알아야 할 마일스톤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 자동차 도메인 계보 — 채택하지 않지만 알아야 할 마일스톤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 자동차 도메인 계보 — 채택하지 않지만 알아야 할 마일스톤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 자동차 도메인 계보 — 채택하지 않지만 알아야 할 마일스톤 · 토글 '자세히: FlashOcc의 channel-to-height'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 자동차 도메인 계보 — 채택하지 않지만 알아야 할 마일스톤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 자동차 도메인 계보 — 채택하지 않지만 알아야 할 마일스톤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 자동차 도메인 계보 — 채택하지 않지만 알아야 할 마일스톤 · 토글 '자세히: GaussianFormer의 splatting과 GaussianFormer-2의 확률적 중첩'</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 · 토글 '자세히: 칸 높이의 Kalman 갱신과 상한(upper bound) 층'</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 · 토글 '자세히: G-VOM의 파이프라인과 실측 지도 — 왜 방법만 쓰고 수치는 못 쓰는가'</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 · 토글 '자세히: 상한 기울기 검정이 무엇을 가르는지, 그리고 상류가 그 뒤 무엇을 하는지'</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 · 토글 '자세히: ArtPlanner가 인페인팅과 "미관측=비주행" 대신 virtual surface를 쓴 이유'</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 · 토글 '자세히: 같은 min 연산이 왜 상류에서는 실패하고 여기서는 성공하는가 — 오탐 억제까지'</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 · 토글 '자세히: UNRealNet의 채널·불확실성과 travplan 8채널의 대응'</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 · 토글 '자세히: 이 연구실의 "지면 분할과 traversability는 다르다"는 입장'</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A.2b 로봇 지형 지도의 계보 — travplan이 쓰는 쪽</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A.2c 고전 점유 격자와 거리장 — 드론 계열이 20년 판 자리</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A.2c 고전 점유 격자와 거리장 — 드론 계열이 20년 판 자리</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A.2c 고전 점유 격자와 거리장 — 드론 계열이 20년 판 자리 · 토글 '자세히: 이 계열이 미관측 셀을 어떻게 다루나 — 그리고 travplan이 왜 따라가면 안 되나'</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A.2c 고전 점유 격자와 거리장 — 드론 계열이 20년 판 자리</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 보도·다리 로봇용 최신 연구 (2025–2026)</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 보도·다리 로봇용 최신 연구 (2025–2026) · 토글 '자세히: WalkOCC의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 보도·다리 로봇용 최신 연구 (2025–2026)</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 보도·다리 로봇용 최신 연구 (2025–2026)</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 보도·다리 로봇용 최신 연구 (2025–2026) · 토글 '자세히: OneOcc의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 보도·다리 로봇용 최신 연구 (2025–2026)</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 보도·다리 로봇용 최신 연구 (2025–2026) · 토글 '자세히: O3N의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 보도·다리 로봇용 최신 연구 (2025–2026)</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 보도·다리 로봇용 최신 연구 (2025–2026)</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 보도·다리 로봇용 최신 연구 (2025–2026) · 토글 '자세히: PanoMMOcc / VoxelHound의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 보도·다리 로봇용 최신 연구 (2025–2026)</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 보도·다리 로봇용 최신 연구 (2025–2026)</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 보도·다리 로봇용 최신 연구 (2025–2026) · 토글 '자세히: STONE의 자동 라벨 생성과 수식'</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A.3b 폼팩터별 최신 연구 — 바퀴·4족·휴머노이드 (2026)</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A.3b 폼팩터별 최신 연구 — 바퀴·4족·휴머노이드 (2026)</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A.3b 폼팩터별 최신 연구 — 바퀴·4족·휴머노이드 (2026) · 토글 '자세히: 가림 고도 완성 — travplan의 TP-0044·0047과 같은 문제를 학습으로 푼 2026 연구'</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A.3b 폼팩터별 최신 연구 — 바퀴·4족·휴머노이드 (2026)</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A.3c 검증된 오픈소스 색인 (2026-09-30 gh api 확인)</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A.3c 검증된 오픈소스 색인 (2026-09-30 gh api 확인)</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A.4 공개 모델·데이터셋 현황</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A.5 비교</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A.5 비교</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탭 '작업 기록'</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 진행 기록 — 지도 구축</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 TP-0085 — 그림자 판별 규칙 셋을 재서 하나를 골랐다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 TP-0085 — 그림자 판별 규칙 셋을 재서 하나를 골랐다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 TP-0085 — 그림자 판별 규칙 셋을 재서 하나를 골랐다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A.13.2 TP-0086 — FastDEM을 CPU 기준선으로 세웠고, 내 주장이 틀렸다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A.13.2 TP-0086 — FastDEM을 CPU 기준선으로 세웠고, 내 주장이 틀렸다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A.13.3 TP-0096 — 같은 장면에서 층을 맞대 보니 "부분적으로 같다"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A.13.3 TP-0096 — 같은 장면에서 층을 맞대 보니 "부분적으로 같다"</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A.13.4 TP-0088 — elevation_mapping_cupy_core 이전은 NO-GO, 가드만 가져온다</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A.13.5 TP-0082 — 학습 필터를 기준선으로 세우려다 평가 기반의 순환을 찾았다</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A.13.5 TP-0082 — 학습 필터를 기준선으로 세우려다 평가 기반의 순환을 찾았다 · 토글 '자세히: 측정한 구조적 성질 넷'</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A.13.5 TP-0082 — 학습 필터를 기준선으로 세우려다 평가 기반의 순환을 찾았다</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A.13.5 TP-0082 — 학습 필터를 기준선으로 세우려다 평가 기반의 순환을 찾았다</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A.13.5 TP-0082 — 학습 필터를 기준선으로 세우려다 평가 기반의 순환을 찾았다</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A.13.5 TP-0082 — 학습 필터를 기준선으로 세우려다 평가 기반의 순환을 찾았다</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A.13.5 TP-0082 — 학습 필터를 기준선으로 세우려다 평가 기반의 순환을 찾았다</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A.13.6 TP-0100 — belief를 차체 기준으로 재니, 위험은 "못 본 칸"에 있고 깊이 prior는 그것을 막지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A.13.6 TP-0100 — belief를 차체 기준으로 재니, 위험은 "못 본 칸"에 있고 깊이 prior는 그것을 막지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A.13.6 TP-0100 — belief를 차체 기준으로 재니, 위험은 "못 본 칸"에 있고 깊이 prior는 그것을 막지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A.13.6 TP-0100 — belief를 차체 기준으로 재니, 위험은 "못 본 칸"에 있고 깊이 prior는 그것을 막지 않는다 · 토글 '자세히: 해석과 한계'</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A.13.6 TP-0100 — belief를 차체 기준으로 재니, 위험은 "못 본 칸"에 있고 깊이 prior는 그것을 막지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A.13.7 TP-0101 — 로봇 둘레 못 본 칸을 치명으로 두면, L0에서는 거의 공짜이고 L1에서는 느려진다</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A.13.7 TP-0101 — 로봇 둘레 못 본 칸을 치명으로 두면, L0에서는 거의 공짜이고 L1에서는 느려진다</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A.13.7 TP-0101 — 로봇 둘레 못 본 칸을 치명으로 두면, L0에서는 거의 공짜이고 L1에서는 느려진다</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A.13.7 TP-0101 — 로봇 둘레 못 본 칸을 치명으로 두면, L0에서는 거의 공짜이고 L1에서는 느려진다 · 토글 '자세히: 해석과 한계'</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A.13.8 TP-0065 — 전면 스테레오를 L1의 두 번째 입력으로 넣으니, 근거리 미관측 옵션의 대가가 사라진다</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A.13.8 TP-0065 — 전면 스테레오를 L1의 두 번째 입력으로 넣으니, 근거리 미관측 옵션의 대가가 사라진다</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A.13.8 TP-0065 — 전면 스테레오를 L1의 두 번째 입력으로 넣으니, 근거리 미관측 옵션의 대가가 사라진다</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A.13.8 TP-0065 — 전면 스테레오를 L1의 두 번째 입력으로 넣으니, 근거리 미관측 옵션의 대가가 사라진다 · 토글 '자세히: 해석과 한계'</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A.13.9 TP-0095 — 깊이 prior 후보에 잡음 필터를 걸면, 내림 턱 오탐은 전부 사라지고 포트홀은 대부분 남는다</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A.13.9 TP-0095 — 깊이 prior 후보에 잡음 필터를 걸면, 내림 턱 오탐은 전부 사라지고 포트홀은 대부분 남는다</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A.13.10 TP-0102 — 몸체가 흔들려도 자세만 보상하면 elevation mapping은 1 cm대로 맞다 (Playground, 사족 보행·바퀴 사족)</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A.13.10 TP-0102 — 몸체가 흔들려도 자세만 보상하면 elevation mapping은 1 cm대로 맞다 (Playground, 사족 보행·바퀴 사족)</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A.13.10 TP-0102 — 몸체가 흔들려도 자세만 보상하면 elevation mapping은 1 cm대로 맞다 (Playground, 사족 보행·바퀴 사족)</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A.13.11 TP-0089 — 궤적 참조는 같은 만큼 비키면서 시간은 덜 낸다</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A.13.11 TP-0089 — 궤적 참조는 같은 만큼 비키면서 시간은 덜 낸다</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A.13.11 TP-0089 — 궤적 참조는 같은 만큼 비키면서 시간은 덜 낸다</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A.13.12 TP-0098 — 매퍼의 순서 의존 넷을 닫으니 L1이 비트 단위로 재현된다</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A.13.12 TP-0098 — 매퍼의 순서 의존 넷을 닫으니 L1이 비트 단위로 재현된다</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A.13.12 TP-0098 — 매퍼의 순서 의존 넷을 닫으니 L1이 비트 단위로 재현된다</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A.13.13 TP-0054 — 매퍼 분산은 σ가 되지 못하고, cost 민감도 σ는 오차를 맞히지만 폐루프를 바꾸지 못한다</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A.13.13 TP-0054 — 매퍼 분산은 σ가 되지 못하고, cost 민감도 σ는 오차를 맞히지만 폐루프를 바꾸지 못한다</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A.13.13 TP-0054 — 매퍼 분산은 σ가 되지 못하고, cost 민감도 σ는 오차를 맞히지만 폐루프를 바꾸지 못한다</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A.13.13 TP-0054 — 매퍼 분산은 σ가 되지 못하고, cost 민감도 σ는 오차를 맞히지만 폐루프를 바꾸지 못한다</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A.13.13 TP-0054 — 매퍼 분산은 σ가 되지 못하고, cost 민감도 σ는 오차를 맞히지만 폐루프를 바꾸지 못한다</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A.13.14 TP-0141 — 한 칸 폭 통로는 1 cm 잡음 편향에 닫힌다: random_mix s3 레벨 2·3의 결정적 멈춤</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A.13.14 TP-0141 — 한 칸 폭 통로는 1 cm 잡음 편향에 닫힌다: random_mix s3 레벨 2·3의 결정적 멈춤</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A.13.14 TP-0141 — 한 칸 폭 통로는 1 cm 잡음 편향에 닫힌다: random_mix s3 레벨 2·3의 결정적 멈춤</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A.13.15 TP-0142 — 턱 특징 전에 15 cm 평활: 잡음 편향이 사라지고, 좁은 통로가 열린다(선택)</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A.13.15 TP-0142 — 턱 특징 전에 15 cm 평활: 잡음 편향이 사라지고, 좁은 통로가 열린다(선택)</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A.13.16 다음 병목 측정 — L1 인식에서 레벨 3은 4분의 1이 치명이다(2026-10-03)</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A.13.16 다음 병목 측정 — L1 인식에서 레벨 3은 4분의 1이 치명이다(2026-10-03)</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A.13.17 TP-0146 — L1 레벨 3 치명의 원인: 매퍼 칸이 반 칸 어긋나 있었고, 테두리 뒤 스치는 칸이 얕게 채워졌다</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A.13.17 TP-0146 — L1 레벨 3 치명의 원인: 매퍼 칸이 반 칸 어긋나 있었고, 테두리 뒤 스치는 칸이 얕게 채워졌다</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A.13.17 TP-0146 — L1 레벨 3 치명의 원인: 매퍼 칸이 반 칸 어긋나 있었고, 테두리 뒤 스치는 칸이 얕게 채워졌다</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A.13.17 TP-0146 — L1 레벨 3 치명의 원인: 매퍼 칸이 반 칸 어긋나 있었고, 테두리 뒤 스치는 칸이 얕게 채워졌다</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A.13.18 TP-0148 — 포트홀 가장자리의 mixed pixel: 구덩이에만 한 칸 여유를 둔다</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A.13.18 TP-0148 — 포트홀 가장자리의 mixed pixel: 구덩이에만 한 칸 여유를 둔다</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A.13.18 TP-0148 — 포트홀 가장자리의 mixed pixel: 구덩이에만 한 칸 여유를 둔다</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A.13.18 TP-0148 — 포트홀 가장자리의 mixed pixel: 구덩이에만 한 칸 여유를 둔다</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A.13.19 다음 병목 측정 2 — 권장 L1에 스워브 plant를 얹으면 레벨 3이 다시 무너진다(TP-0149)</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A.13.19 다음 병목 측정 2 — 권장 L1에 스워브 plant를 얹으면 레벨 3이 다시 무너진다(TP-0149)</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A.13.20 TP-0153 — L1 벤치마크의 GPU 경로: CPU와 비트 단위로 같고 3.5배 빠르다</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A.13.20 TP-0153 — L1 벤치마크의 GPU 경로: CPU와 비트 단위로 같고 3.5배 빠르다</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A.13.21 다음 병목 측정 3 — 보행자 5명을 권장 L1 + 스워브 plant에 얹는다(TP-0154)</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A.13.21 다음 병목 측정 3 — 보행자 5명을 권장 L1 + 스워브 plant에 얹는다(TP-0154)</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A.13.22 보행자 충돌 8건 진단 — MPPI의 보행자 hard 벌점이 포화한다(TP-0160)</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탭 'Traversability'</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A.13.23 TP-0162 — 정면 보행자를 못 비키는 것은 plant의 조향 한계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A.13.23 TP-0162 — 정면 보행자를 못 비키는 것은 plant의 조향 한계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A.13.24 TP-0164 — 몸을 먼저 돌리는 표본을 넣으면 정면 보행자를 비킨다</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A.13.25 TP-0161·TP-0165 — 보행자 Controller 두 옵션을 720 에피소드로 판정한다</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A.13.25 TP-0161·TP-0165 — 보행자 Controller 두 옵션을 720 에피소드로 판정한다</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 · 토글 '자세히: BADGR의 예측 모델과 계획'</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 · 토글 '자세히: Self-Supervisions Only의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 · 토글 '자세히: ScaTE의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 · 토글 '자세히: METAVerse의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 · 토글 '자세히: Evidential Semantic Mapping의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 · 토글 '자세히: E2-BKI의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 · 토글 '자세히: TRIP의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A.10 Traversability 추정: 사람 라벨 없이, 불확실성과 함께</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탭 '시각 기반 모델'</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A.11 시각 기반 모델: 라벨 없이 학습한 백본 위에 작은 헤드를 얹는다</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A.11 시각 기반 모델: 라벨 없이 학습한 백본 위에 작은 헤드를 얹는다</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A.11 시각 기반 모델: 라벨 없이 학습한 백본 위에 작은 헤드를 얹는다</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A.11 시각 기반 모델: 라벨 없이 학습한 백본 위에 작은 헤드를 얹는다</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A.11 시각 기반 모델: 라벨 없이 학습한 백본 위에 작은 헤드를 얹는다 · 토글 '자세히: DINO 계열의 자기지도 목적함수와 Gram anchoring'</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A.11 시각 기반 모델: 라벨 없이 학습한 백본 위에 작은 헤드를 얹는다</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A.11 시각 기반 모델: 라벨 없이 학습한 백본 위에 작은 헤드를 얹는다</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A.11 시각 기반 모델: 라벨 없이 학습한 백본 위에 작은 헤드를 얹는다</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A.11 시각 기반 모델: 라벨 없이 학습한 백본 위에 작은 헤드를 얹는다 · 토글 '자세히: Depth Anything의 손실과 depth-ray 표현'</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A.11 시각 기반 모델: 라벨 없이 학습한 백본 위에 작은 헤드를 얹는다</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A.11 시각 기반 모델: 라벨 없이 학습한 백본 위에 작은 헤드를 얹는다</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A.11 시각 기반 모델: 라벨 없이 학습한 백본 위에 작은 헤드를 얹는다</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A.11 시각 기반 모델: 라벨 없이 학습한 백본 위에 작은 헤드를 얹는다 · 토글 '자세히: SAM 2의 메모리와 SAM 3의 presence 점수'</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A.11 시각 기반 모델: 라벨 없이 학습한 백본 위에 작은 헤드를 얹는다</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탭 '동적 장애물'</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 · 토글 '자세히: DETR의 집합 예측과 D-FINE의 분포 정제'</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 · 토글 '자세히: BYTE 연결과 카메라 움직임 보정'</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 · 토글 '자세히: Trajectron++의 CVAE와 MoFlow의 flow matching 손실'</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 · 토글 '자세히: 바닥 평면 변환의 거리 오차와 로봇 좌표 칼만 추적'</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 · 토글 '자세히: 연속적인 감속이 수학적으로 어디서 나오는가 — 세 가지 형태'</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 · 토글 '자세히: 안전과 효율은 스칼라가 아니라 경계선이다 — 그리고 "군중 모델"이 결과를 바꾼다'</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A.12 동적 장애물: 검출, 추적, 궤적 예측</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탭 '예측·World model'</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A.6 자율주행 자동차: occupancy flow와 world model</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A.6 자율주행 자동차: occupancy flow와 world model</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A.6 자율주행 자동차: occupancy flow와 world model</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A.6 자율주행 자동차: occupancy flow와 world model · 토글 '자세히: OccWorld의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A.6 자율주행 자동차: occupancy flow와 world model · 토글 '자세히: Drive-OccWorld의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A.6 자율주행 자동차: occupancy flow와 world model · 토글 '자세히: OccLLaMA의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A.6 자율주행 자동차: occupancy flow와 world model · 토글 '자세히: DFIT-OccWorld의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A.6 자율주행 자동차: occupancy flow와 world model · 토글 '자세히: GEM의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A.6 자율주행 자동차: occupancy flow와 world model · 토글 '자세히: RiskWorld의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A.6 자율주행 자동차: occupancy flow와 world model</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A.6 자율주행 자동차: occupancy flow와 world model · 토글 '자세히: Let Occ Flow의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A.6 자율주행 자동차: occupancy flow와 world model · 토글 '자세히: DOME의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A.6 자율주행 자동차: occupancy flow와 world model</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A.6 자율주행 자동차: occupancy flow와 world model · 토글 '자세히: UniOcc의 voxel flow 정의'</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A.6 자율주행 자동차: occupancy flow와 world model · 토글 '자세히: Cam4DOcc의 과제 정의'</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A.6 자율주행 자동차: occupancy flow와 world model</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A.6 자율주행 자동차: occupancy flow와 world model</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탭 '보행 로봇'</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보행 로봇</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보행 로봇 · 토글 '배경지식 찾아보기 — 이 탭의 배경 토글 40개와 위치'</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'자세히: Lee et al. 2020(blind 보행)의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고유감각과 외부감각 — blind 보행 로봇은 무엇을 "느끼고", 이력으로 지형을 어떻게 추정하나'</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TCN(시간 합성곱 신경망) — 과거만 보는 dilated causal 합성곱으로 긴 이력을 요약한다'</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'자세히: Wild Visual Navigation의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DINO와 ViT 자기지도 특징 — 라벨 없이 배운 "무엇이 비슷한가"를 고정 백본으로 빌려 쓴다'</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superpixel과 SLIC — 비슷한 색의 이웃 픽셀을 묶어 "예측 단위"를 수백 개로 줄인다'</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오토인코더 재구성 오차로 낯섦 판정 — 본 적 있는 것만 잘 복원되는 성질을 이상 탐지에 쓴다'</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'자세히: SALON의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VLAD — 특징을 "군집 중심에서 얼마나, 어느 쪽으로 벗어났나"로 압축한다'</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가우시안 과정 회귀(GPR) — 예측값과 함께 "얼마나 모르는지"를 닫힌 식으로 준다'</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'자세히: STERLING의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자기지도 표현 학습과 VICReg — 같은 것의 두 모습을 같게, 대신 모두 한 점으로 무너지지 않게'</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호모그래피로 영상을 BEV로 펴기 — 지면이 평평하다고 가정하면 픽셀과 땅 좌표가 3×3 행렬 하나로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'자세히: Stop to Decide의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로지스틱 회귀 — 시그모이드로 "실패할 확률"을 한 변수의 함수로 모델링한다'</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'자세히: Efficient Beam Search의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beam search와 frontier 탐사 — 정해진 예산으로 가장 많이 알아내는 경로 찾기(정보 이득, 예산 제약 오리엔티어링)'</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'자세히: QuadPiPS의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A* 탐색과 발 디딤 그래프 — "지금까지 비용 + 남은 비용 추정"으로 최단 경로를 빨리 찾는다'</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평면 분할과 볼록 영역 분해 — 울퉁불퉁한 지형을 "발을 놓을 수 있는 평평한 다각형" 목록으로 바꾼다'</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'자세히: Robust Perceptive Locomotion의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강화학습 기본과 PPO — 보상을 최대화하는 정책을 시행착오로 배운다'</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GRU와 순환 신경망 — 은닉 상태에 과거를 요약해 들고 다닌다'</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시그모이드 게이트 — 0과 1 사이 가중치로 정보의 흐름을 연다·닫는다'</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elevation map — 격자 칸마다 높이 하나와 그 분산을 들고 다니는 2.5D 지도'</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'자세히: ANYmal Parkour의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'자세히: High-speed legged navigation(Raibo)의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VAE와 CVAE — 데이터를 잠재 변수로 압축했다가 다시 생성하는 확률 모델'</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커리큘럼 학습과 자동 난이도 조절 — 지금 실력에 맞는 과제를 골라 준다'</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'자세히: DreamWaQ++의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PointNet — 순서가 없는 점 집합을 그대로 받는 신경망'</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max-pooling — 여럿 중 가장 큰 값 하나만 남기는 모으기'</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CENet — 과거 proprioception으로 몸체 속도와 지형 잠재를 함께 추정하는 망'</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β-VAE — KL 항에 가중치 β를 곱해 잠재의 정보량을 조절하는 VAE'</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비대칭 actor-critic — critic만 시뮬레이터의 특권 정보를 본다'</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MLP-Mixer — 토큰 방향과 채널 방향으로 번갈아 MLP를 적용하는 구조'</a:t>
            </a:r>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SE(3) 변환 — 과거에 잰 점군을 지금 몸체 좌표로 옮기기'</a:t>
            </a:r>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'자세히: DreamRiser의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'자세히: DreamFLEX의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'배경: 이진 교차 엔트로피(BCE)와 다중 레이블 추정 — 여러 개의 예/아니오를 동시에 맞히기'</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'자세히: OpenHEART의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a:t>
            </a:r>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'자세히: elevation_mapping_cupy 논문의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 · 토글 '자세히: 그 학습 필터는 무엇이고, travplan에서 지금 어떤 상태인가 (2026-09-30 소스 확인)'</a:t>
            </a:r>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A.7 4족 보행 로봇의 인식</a:t>
            </a:r>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'자세히: Gait-Adaptive Perceptive Humanoid의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'배경: 보행 위상(gait phase)과 주기 신호 — 걸음의 "지금 몇 박자째인가"를 숫자로'</a:t>
            </a:r>
          </a:p>
        </p:txBody>
      </p:sp>
      <p:sp>
        <p:nvSpPr>
          <p:cNvPr id="4" name="Slide Number Placeholder 3"/>
          <p:cNvSpPr>
            <a:spLocks noGrp="1"/>
          </p:cNvSpPr>
          <p:nvPr>
            <p:ph type="sldNum" idx="5" sz="quarter"/>
          </p:nvPr>
        </p:nvSpPr>
        <p:spPr/>
      </p:sp>
    </p:spTree>
  </p:cSld>
  <p:clrMapOvr>
    <a:masterClrMapping/>
  </p:clrMapOvr>
</p:notes>
</file>

<file path=ppt/notesSlides/notesSlide3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'자세히: DPL의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'배경: attention과 cross-attention — 여러 항목 중 지금 필요한 것에 가중치를 주어 섞는다'</a:t>
            </a:r>
          </a:p>
        </p:txBody>
      </p:sp>
      <p:sp>
        <p:nvSpPr>
          <p:cNvPr id="4" name="Slide Number Placeholder 3"/>
          <p:cNvSpPr>
            <a:spLocks noGrp="1"/>
          </p:cNvSpPr>
          <p:nvPr>
            <p:ph type="sldNum" idx="5" sz="quarter"/>
          </p:nvPr>
        </p:nvSpPr>
        <p:spPr/>
      </p:sp>
    </p:spTree>
  </p:cSld>
  <p:clrMapOvr>
    <a:masterClrMapping/>
  </p:clrMapOvr>
</p:notes>
</file>

<file path=ppt/notesSlides/notesSlide3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'배경: 잔차 정책(residual policy)과 볼록 결합 — 안전한 기본 제어기 위에 학습 보정만 얹는다'</a:t>
            </a:r>
          </a:p>
        </p:txBody>
      </p:sp>
      <p:sp>
        <p:nvSpPr>
          <p:cNvPr id="4" name="Slide Number Placeholder 3"/>
          <p:cNvSpPr>
            <a:spLocks noGrp="1"/>
          </p:cNvSpPr>
          <p:nvPr>
            <p:ph type="sldNum" idx="5" sz="quarter"/>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'자세히: BeamDojo의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'배경: 이득 추정(advantage·GAE) — 행동이 평균보다 얼마나 좋았나를 재고, critic이 여럿이면 따로 정규화한다'</a:t>
            </a:r>
          </a:p>
        </p:txBody>
      </p:sp>
      <p:sp>
        <p:nvSpPr>
          <p:cNvPr id="4" name="Slide Number Placeholder 3"/>
          <p:cNvSpPr>
            <a:spLocks noGrp="1"/>
          </p:cNvSpPr>
          <p:nvPr>
            <p:ph type="sldNum" idx="5" sz="quarter"/>
          </p:nvPr>
        </p:nvSpPr>
        <p:spPr/>
      </p:sp>
    </p:spTree>
  </p:cSld>
  <p:clrMapOvr>
    <a:masterClrMapping/>
  </p:clrMapOvr>
</p:notes>
</file>

<file path=ppt/notesSlides/notesSlide3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'자세히: MARCH의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'배경: 제어 리아푸노프 함수(CLF)와 리카티 방정식 — "오차 에너지가 줄어드는가"로 수렴을 판정한다'</a:t>
            </a:r>
          </a:p>
        </p:txBody>
      </p:sp>
      <p:sp>
        <p:nvSpPr>
          <p:cNvPr id="4" name="Slide Number Placeholder 3"/>
          <p:cNvSpPr>
            <a:spLocks noGrp="1"/>
          </p:cNvSpPr>
          <p:nvPr>
            <p:ph type="sldNum" idx="5" sz="quarter"/>
          </p:nvPr>
        </p:nvSpPr>
        <p:spPr/>
      </p:sp>
    </p:spTree>
  </p:cSld>
  <p:clrMapOvr>
    <a:masterClrMapping/>
  </p:clrMapOvr>
</p:notes>
</file>

<file path=ppt/notesSlides/notesSlide3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'자세히: VB-Com의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'배경: 소프트맥스 선택과 반환값 추정기 — 온도 α로 후보를 섞고, 추정한 누적 보상으로 정책을 바꾼다'</a:t>
            </a:r>
          </a:p>
        </p:txBody>
      </p:sp>
      <p:sp>
        <p:nvSpPr>
          <p:cNvPr id="4" name="Slide Number Placeholder 3"/>
          <p:cNvSpPr>
            <a:spLocks noGrp="1"/>
          </p:cNvSpPr>
          <p:nvPr>
            <p:ph type="sldNum" idx="5" sz="quarter"/>
          </p:nvPr>
        </p:nvSpPr>
        <p:spPr/>
      </p:sp>
    </p:spTree>
  </p:cSld>
  <p:clrMapOvr>
    <a:masterClrMapping/>
  </p:clrMapOvr>
</p:notes>
</file>

<file path=ppt/notesSlides/notesSlide3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'자세히: TANGO의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'배경: VLM·VLA와 system-2/system-1 — 큰 언어 모델에 눈과 손을 붙이고, 느린 판단과 빠른 반응을 나눈다'</a:t>
            </a:r>
          </a:p>
        </p:txBody>
      </p:sp>
      <p:sp>
        <p:nvSpPr>
          <p:cNvPr id="4" name="Slide Number Placeholder 3"/>
          <p:cNvSpPr>
            <a:spLocks noGrp="1"/>
          </p:cNvSpPr>
          <p:nvPr>
            <p:ph type="sldNum" idx="5" sz="quarter"/>
          </p:nvPr>
        </p:nvSpPr>
        <p:spPr/>
      </p:sp>
    </p:spTree>
  </p:cSld>
  <p:clrMapOvr>
    <a:masterClrMapping/>
  </p:clrMapOvr>
</p:notes>
</file>

<file path=ppt/notesSlides/notesSlide3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'배경: action chunking과 DiT 행동 전문가 — 행동을 한 번에 여러 스텝씩, 잡음에서 깎아 만든다'</a:t>
            </a:r>
          </a:p>
        </p:txBody>
      </p:sp>
      <p:sp>
        <p:nvSpPr>
          <p:cNvPr id="4" name="Slide Number Placeholder 3"/>
          <p:cNvSpPr>
            <a:spLocks noGrp="1"/>
          </p:cNvSpPr>
          <p:nvPr>
            <p:ph type="sldNum" idx="5" sz="quarter"/>
          </p:nvPr>
        </p:nvSpPr>
        <p:spPr/>
      </p:sp>
    </p:spTree>
  </p:cSld>
  <p:clrMapOvr>
    <a:masterClrMapping/>
  </p:clrMapOvr>
</p:notes>
</file>

<file path=ppt/notesSlides/notesSlide3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'자세히: Humanoid-OmniOcc의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'배경: 스테레오 깊이 — 두 눈의 어긋남(disparity)에서 거리를 재고, 비용 볼륨과 soft-argmin으로 학습한다'</a:t>
            </a:r>
          </a:p>
        </p:txBody>
      </p:sp>
      <p:sp>
        <p:nvSpPr>
          <p:cNvPr id="4" name="Slide Number Placeholder 3"/>
          <p:cNvSpPr>
            <a:spLocks noGrp="1"/>
          </p:cNvSpPr>
          <p:nvPr>
            <p:ph type="sldNum" idx="5" sz="quarter"/>
          </p:nvPr>
        </p:nvSpPr>
        <p:spPr/>
      </p:sp>
    </p:spTree>
  </p:cSld>
  <p:clrMapOvr>
    <a:masterClrMapping/>
  </p:clrMapOvr>
</p:notes>
</file>

<file path=ppt/notesSlides/notesSlide3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'배경: occupancy 격자와 semantic occupancy 평가(IoU/mIoU) — 공간을 칸으로 나눠 "차 있나, 무엇이 차 있나"를 맞힌다'</a:t>
            </a:r>
          </a:p>
        </p:txBody>
      </p:sp>
      <p:sp>
        <p:nvSpPr>
          <p:cNvPr id="4" name="Slide Number Placeholder 3"/>
          <p:cNvSpPr>
            <a:spLocks noGrp="1"/>
          </p:cNvSpPr>
          <p:nvPr>
            <p:ph type="sldNum" idx="5" sz="quarter"/>
          </p:nvPr>
        </p:nvSpPr>
        <p:spPr/>
      </p:sp>
    </p:spTree>
  </p:cSld>
  <p:clrMapOvr>
    <a:masterClrMapping/>
  </p:clrMapOvr>
</p:notes>
</file>

<file path=ppt/notesSlides/notesSlide3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'자세히: Humanoid Occupancy의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'배경: BEV 융합과 중력 정렬 좌표계 — 카메라와 LiDAR를 위에서 내려다본 격자에서 합치고, 그 격자를 중력에 맞춘다'</a:t>
            </a:r>
          </a:p>
        </p:txBody>
      </p:sp>
      <p:sp>
        <p:nvSpPr>
          <p:cNvPr id="4" name="Slide Number Placeholder 3"/>
          <p:cNvSpPr>
            <a:spLocks noGrp="1"/>
          </p:cNvSpPr>
          <p:nvPr>
            <p:ph type="sldNum" idx="5" sz="quarter"/>
          </p:nvPr>
        </p:nvSpPr>
        <p:spPr/>
      </p:sp>
    </p:spTree>
  </p:cSld>
  <p:clrMapOvr>
    <a:masterClrMapping/>
  </p:clrMapOvr>
</p:notes>
</file>

<file path=ppt/notesSlides/notesSlide3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'자세히: 전방향 계단 보행의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'배경: U-Net과 높이 지도 인페인팅 — 줄였다 키우는 네트워크에 지름길을 달아, 빈 칸을 모서리를 살리며 채운다'</a:t>
            </a:r>
          </a:p>
        </p:txBody>
      </p:sp>
      <p:sp>
        <p:nvSpPr>
          <p:cNvPr id="4" name="Slide Number Placeholder 3"/>
          <p:cNvSpPr>
            <a:spLocks noGrp="1"/>
          </p:cNvSpPr>
          <p:nvPr>
            <p:ph type="sldNum" idx="5" sz="quarter"/>
          </p:nvPr>
        </p:nvSpPr>
        <p:spPr/>
      </p:sp>
    </p:spTree>
  </p:cSld>
  <p:clrMapOvr>
    <a:masterClrMapping/>
  </p:clrMapOvr>
</p:notes>
</file>

<file path=ppt/notesSlides/notesSlide3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'자세히: PolygMap의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'자세히: 지각 보행 + world model의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 · 토글 '배경: 변분 정보 병목(VIB) — 목표를 맞히는 데 필요한 정보만 잠재에 남기고 나머지(잡음)는 버리게 한다'</a:t>
            </a:r>
          </a:p>
        </p:txBody>
      </p:sp>
      <p:sp>
        <p:nvSpPr>
          <p:cNvPr id="4" name="Slide Number Placeholder 3"/>
          <p:cNvSpPr>
            <a:spLocks noGrp="1"/>
          </p:cNvSpPr>
          <p:nvPr>
            <p:ph type="sldNum" idx="5" sz="quarter"/>
          </p:nvPr>
        </p:nvSpPr>
        <p:spPr/>
      </p:sp>
    </p:spTree>
  </p:cSld>
  <p:clrMapOvr>
    <a:masterClrMapping/>
  </p:clrMapOvr>
</p:notes>
</file>

<file path=ppt/notesSlides/notesSlide3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A.8 휴머노이드의 인식</a:t>
            </a:r>
          </a:p>
        </p:txBody>
      </p:sp>
      <p:sp>
        <p:nvSpPr>
          <p:cNvPr id="4" name="Slide Number Placeholder 3"/>
          <p:cNvSpPr>
            <a:spLocks noGrp="1"/>
          </p:cNvSpPr>
          <p:nvPr>
            <p:ph type="sldNum" idx="5" sz="quarter"/>
          </p:nvPr>
        </p:nvSpPr>
        <p:spPr/>
      </p:sp>
    </p:spTree>
  </p:cSld>
  <p:clrMapOvr>
    <a:masterClrMapping/>
  </p:clrMapOvr>
</p:notes>
</file>

<file path=ppt/notesSlides/notesSlide3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A.9 폼팩터 비교: travplan에 무엇이 쓰이나</a:t>
            </a:r>
          </a:p>
        </p:txBody>
      </p:sp>
      <p:sp>
        <p:nvSpPr>
          <p:cNvPr id="4" name="Slide Number Placeholder 3"/>
          <p:cNvSpPr>
            <a:spLocks noGrp="1"/>
          </p:cNvSpPr>
          <p:nvPr>
            <p:ph type="sldNum" idx="5" sz="quarter"/>
          </p:nvPr>
        </p:nvSpPr>
        <p:spPr/>
      </p:sp>
    </p:spTree>
  </p:cSld>
  <p:clrMapOvr>
    <a:masterClrMapping/>
  </p:clrMapOvr>
</p:notes>
</file>

<file path=ppt/notesSlides/notesSlide3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A.9 폼팩터 비교: travplan에 무엇이 쓰이나</a:t>
            </a:r>
          </a:p>
        </p:txBody>
      </p:sp>
      <p:sp>
        <p:nvSpPr>
          <p:cNvPr id="4" name="Slide Number Placeholder 3"/>
          <p:cNvSpPr>
            <a:spLocks noGrp="1"/>
          </p:cNvSpPr>
          <p:nvPr>
            <p:ph type="sldNum" idx="5" sz="quarter"/>
          </p:nvPr>
        </p:nvSpPr>
        <p:spPr/>
      </p:sp>
    </p:spTree>
  </p:cSld>
  <p:clrMapOvr>
    <a:masterClrMapping/>
  </p:clrMapOvr>
</p:notes>
</file>

<file path=ppt/notesSlides/notesSlide3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A.9 폼팩터 비교: travplan에 무엇이 쓰이나</a:t>
            </a:r>
          </a:p>
        </p:txBody>
      </p:sp>
      <p:sp>
        <p:nvSpPr>
          <p:cNvPr id="4" name="Slide Number Placeholder 3"/>
          <p:cNvSpPr>
            <a:spLocks noGrp="1"/>
          </p:cNvSpPr>
          <p:nvPr>
            <p:ph type="sldNum" idx="5" sz="quarter"/>
          </p:nvPr>
        </p:nvSpPr>
        <p:spPr/>
      </p:sp>
    </p:spTree>
  </p:cSld>
  <p:clrMapOvr>
    <a:masterClrMapping/>
  </p:clrMapOvr>
</p:notes>
</file>

<file path=ppt/notesSlides/notesSlide3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docs/research-perception.md · A.9 폼팩터 비교: travplan에 무엇이 쓰이나</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s://github.com/ultralytics/ultralytics" TargetMode="External"/><Relationship Id="rId4" Type="http://schemas.openxmlformats.org/officeDocument/2006/relationships/hyperlink" Target="https://github.com/facebookresearch/sam2" TargetMode="External"/><Relationship Id="rId5" Type="http://schemas.openxmlformats.org/officeDocument/2006/relationships/hyperlink" Target="https://github.com/facebookresearch/dinov2" TargetMode="External"/><Relationship Id="rId6" Type="http://schemas.openxmlformats.org/officeDocument/2006/relationships/hyperlink" Target="https://github.com/facebookresearch/sam3" TargetMode="External"/><Relationship Id="rId7" Type="http://schemas.openxmlformats.org/officeDocument/2006/relationships/hyperlink" Target="https://github.com/facebookresearch/dinov3" TargetMode="External"/><Relationship Id="rId8" Type="http://schemas.openxmlformats.org/officeDocument/2006/relationships/hyperlink" Target="https://github.com/THU-MIG/yolov10" TargetMode="External"/><Relationship Id="rId9" Type="http://schemas.openxmlformats.org/officeDocument/2006/relationships/hyperlink" Target="https://github.com/IDEA-Research/GroundingDINO" TargetMode="External"/><Relationship Id="rId10" Type="http://schemas.openxmlformats.org/officeDocument/2006/relationships/hyperlink" Target="https://github.com/roboflow/rf-detr" TargetMode="External"/><Relationship Id="rId11" Type="http://schemas.openxmlformats.org/officeDocument/2006/relationships/hyperlink" Target="https://github.com/DepthAnything/Depth-Anything-V2" TargetMode="External"/><Relationship Id="rId12" Type="http://schemas.openxmlformats.org/officeDocument/2006/relationships/hyperlink" Target="https://github.com/FoundationVision/ByteTrack" TargetMode="External"/><Relationship Id="rId13" Type="http://schemas.openxmlformats.org/officeDocument/2006/relationships/hyperlink" Target="https://github.com/ByteDance-Seed/Depth-Anything-3" TargetMode="External"/><Relationship Id="rId14" Type="http://schemas.openxmlformats.org/officeDocument/2006/relationships/hyperlink" Target="https://github.com/lyuwenyu/RT-DETR" TargetMode="External"/><Relationship Id="rId15" Type="http://schemas.openxmlformats.org/officeDocument/2006/relationships/hyperlink" Target="https://github.com/fundamentalvision/BEVFormer" TargetMode="External"/><Relationship Id="rId16" Type="http://schemas.openxmlformats.org/officeDocument/2006/relationships/hyperlink" Target="https://github.com/Peterande/D-FINE" TargetMode="External"/><Relationship Id="rId17" Type="http://schemas.openxmlformats.org/officeDocument/2006/relationships/hyperlink" Target="https://github.com/ANYbotics/elevation_mapping" TargetMode="External"/><Relationship Id="rId18" Type="http://schemas.openxmlformats.org/officeDocument/2006/relationships/hyperlink" Target="https://github.com/NirAharon/BoT-SORT" TargetMode="External"/><Relationship Id="rId19" Type="http://schemas.openxmlformats.org/officeDocument/2006/relationships/hyperlink" Target="https://github.com/leggedrobotics/elevation_mapping_cupy" TargetMode="External"/><Relationship Id="rId20" Type="http://schemas.openxmlformats.org/officeDocument/2006/relationships/hyperlink" Target="https://github.com/StanfordASL/Trajectron-plus-pl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hyperlink" Target="https://github.com/nv-tlabs/lift-splat-shoot" TargetMode="External"/><Relationship Id="rId4" Type="http://schemas.openxmlformats.org/officeDocument/2006/relationships/hyperlink" Target="https://github.com/fundamentalvision/BEVFormer" TargetMode="External"/><Relationship Id="rId5" Type="http://schemas.openxmlformats.org/officeDocument/2006/relationships/hyperlink" Target="https://github.com/mit-han-lab/bevfusion" TargetMode="External"/><Relationship Id="rId6" Type="http://schemas.openxmlformats.org/officeDocument/2006/relationships/hyperlink" Target="https://github.com/astra-vision/MonoScene" TargetMode="External"/><Relationship Id="rId7" Type="http://schemas.openxmlformats.org/officeDocument/2006/relationships/hyperlink" Target="https://github.com/wzzheng/TPVFormer" TargetMode="External"/><Relationship Id="rId8" Type="http://schemas.openxmlformats.org/officeDocument/2006/relationships/hyperlink" Target="https://github.com/Tsinghua-MARS-Lab/Occ3D" TargetMode="External"/><Relationship Id="rId9" Type="http://schemas.openxmlformats.org/officeDocument/2006/relationships/hyperlink" Target="https://github.com/weiyithu/SurroundOcc" TargetMode="External"/><Relationship Id="rId10" Type="http://schemas.openxmlformats.org/officeDocument/2006/relationships/hyperlink" Target="https://github.com/Yzichen/FlashOCC" TargetMode="External"/><Relationship Id="rId11" Type="http://schemas.openxmlformats.org/officeDocument/2006/relationships/hyperlink" Target="https://github.com/MCG-NJU/SparseOcc" TargetMode="External"/><Relationship Id="rId12" Type="http://schemas.openxmlformats.org/officeDocument/2006/relationships/hyperlink" Target="https://github.com/huang-yh/GaussianFormer" TargetMode="External"/><Relationship Id="rId13" Type="http://schemas.openxmlformats.org/officeDocument/2006/relationships/hyperlink" Target="https://arxiv.org/abs/2008.05711"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hyperlink" Target="https://arxiv.org/abs/2203.1727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hyperlink" Target="https://arxiv.org/abs/2205.13542" TargetMode="External"/><Relationship Id="rId4" Type="http://schemas.openxmlformats.org/officeDocument/2006/relationships/hyperlink" Target="https://arxiv.org/abs/2112.00726" TargetMode="External"/><Relationship Id="rId5" Type="http://schemas.openxmlformats.org/officeDocument/2006/relationships/hyperlink" Target="https://arxiv.org/abs/2302.07817" TargetMode="External"/><Relationship Id="rId6" Type="http://schemas.openxmlformats.org/officeDocument/2006/relationships/hyperlink" Target="https://arxiv.org/abs/2304.14365" TargetMode="External"/><Relationship Id="rId7" Type="http://schemas.openxmlformats.org/officeDocument/2006/relationships/hyperlink" Target="https://arxiv.org/abs/2303.0955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arxiv.org/abs/2311.12058" TargetMode="External"/><Relationship Id="rId4"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hyperlink" Target="https://arxiv.org/abs/2312.17118" TargetMode="External"/><Relationship Id="rId4" Type="http://schemas.openxmlformats.org/officeDocument/2006/relationships/hyperlink" Target="https://arxiv.org/abs/2405.17429" TargetMode="External"/><Relationship Id="rId5" Type="http://schemas.openxmlformats.org/officeDocument/2006/relationships/hyperlink" Target="https://arxiv.org/abs/2412.04384"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hyperlink" Target="https://github.com/ANYbotics/elevation_mapping" TargetMode="External"/><Relationship Id="rId4" Type="http://schemas.openxmlformats.org/officeDocument/2006/relationships/hyperlink" Target="https://arxiv.org/abs/2204.12876" TargetMode="External"/><Relationship Id="rId5" Type="http://schemas.openxmlformats.org/officeDocument/2006/relationships/hyperlink" Target="https://github.com/leggedrobotics/elevation_mapping_cup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arxiv.org/abs/2309.16818" TargetMode="External"/><Relationship Id="rId4" Type="http://schemas.openxmlformats.org/officeDocument/2006/relationships/hyperlink" Target="https://github.com/leggedrobotics/elevation_mapping_cupy_cor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hyperlink" Target="https://arxiv.org/abs/2505.12537" TargetMode="External"/><Relationship Id="rId4" Type="http://schemas.openxmlformats.org/officeDocument/2006/relationships/hyperlink" Target="https://arxiv.org/abs/2109.13176" TargetMode="External"/><Relationship Id="rId5" Type="http://schemas.openxmlformats.org/officeDocument/2006/relationships/hyperlink" Target="https://github.com/unmannedlab/G-V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3.jpg"/><Relationship Id="rId4" Type="http://schemas.openxmlformats.org/officeDocument/2006/relationships/image" Target="../media/image1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image" Target="../media/image1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hyperlink" Target="https://github.com/Ikhyeon-Cho/FastDEM" TargetMode="External"/><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hyperlink" Target="https://github.com/jizhang-cmu/autonomy_stack_mecanum_wheel_platfor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hyperlink" Target="https://github.com/wuyi2121/SCAN-Planner" TargetMode="External"/><Relationship Id="rId4" Type="http://schemas.openxmlformats.org/officeDocument/2006/relationships/hyperlink" Target="https://github.com/dfki-ric/traversability_generator3d" TargetMode="External"/><Relationship Id="rId5" Type="http://schemas.openxmlformats.org/officeDocument/2006/relationships/hyperlink" Target="https://github.com/dfki-ric/ugv_nav4d"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1.jpg"/><Relationship Id="rId4" Type="http://schemas.openxmlformats.org/officeDocument/2006/relationships/image" Target="../media/image22.jpg"/><Relationship Id="rId5" Type="http://schemas.openxmlformats.org/officeDocument/2006/relationships/image" Target="../media/image2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hyperlink" Target="https://arxiv.org/abs/2204.12876"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5.jpg"/><Relationship Id="rId4" Type="http://schemas.openxmlformats.org/officeDocument/2006/relationships/image" Target="../media/image26.jpg"/><Relationship Id="rId5" Type="http://schemas.openxmlformats.org/officeDocument/2006/relationships/image" Target="../media/image2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hyperlink" Target="https://arxiv.org/abs/2303.01420" TargetMode="External"/><Relationship Id="rId4" Type="http://schemas.openxmlformats.org/officeDocument/2006/relationships/image" Target="../media/image28.jpg"/><Relationship Id="rId5" Type="http://schemas.openxmlformats.org/officeDocument/2006/relationships/image" Target="../media/image29.jpg"/><Relationship Id="rId6" Type="http://schemas.openxmlformats.org/officeDocument/2006/relationships/image" Target="../media/image30.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1.jpg"/><Relationship Id="rId4" Type="http://schemas.openxmlformats.org/officeDocument/2006/relationships/image" Target="../media/image3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hyperlink" Target="https://github.com/csiro-robotics/ohm" TargetMode="External"/><Relationship Id="rId4" Type="http://schemas.openxmlformats.org/officeDocument/2006/relationships/hyperlink" Target="https://arxiv.org/abs/2206.06079" TargetMode="External"/><Relationship Id="rId5" Type="http://schemas.openxmlformats.org/officeDocument/2006/relationships/image" Target="../media/image33.jpg"/><Relationship Id="rId6" Type="http://schemas.openxmlformats.org/officeDocument/2006/relationships/image" Target="../media/image34.jpg"/><Relationship Id="rId7" Type="http://schemas.openxmlformats.org/officeDocument/2006/relationships/image" Target="../media/image35.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6.jpg"/><Relationship Id="rId4" Type="http://schemas.openxmlformats.org/officeDocument/2006/relationships/hyperlink" Target="https://arxiv.org/abs/2010.16018"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hyperlink" Target="https://arxiv.org/abs/2403.13431" TargetMode="External"/><Relationship Id="rId4" Type="http://schemas.openxmlformats.org/officeDocument/2006/relationships/image" Target="../media/image37.jpg"/><Relationship Id="rId5" Type="http://schemas.openxmlformats.org/officeDocument/2006/relationships/image" Target="../media/image38.jpg"/><Relationship Id="rId6" Type="http://schemas.openxmlformats.org/officeDocument/2006/relationships/image" Target="../media/image39.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40.jpg"/><Relationship Id="rId4" Type="http://schemas.openxmlformats.org/officeDocument/2006/relationships/image" Target="../media/image41.jpg"/><Relationship Id="rId5" Type="http://schemas.openxmlformats.org/officeDocument/2006/relationships/image" Target="../media/image42.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hyperlink" Target="https://github.com/mdrwiega/depth_nav_tools" TargetMode="External"/><Relationship Id="rId4" Type="http://schemas.openxmlformats.org/officeDocument/2006/relationships/hyperlink" Target="https://arxiv.org/abs/2109.07150" TargetMode="External"/><Relationship Id="rId5" Type="http://schemas.openxmlformats.org/officeDocument/2006/relationships/image" Target="../media/image43.jpg"/><Relationship Id="rId6" Type="http://schemas.openxmlformats.org/officeDocument/2006/relationships/image" Target="../media/image44.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hyperlink" Target="https://arxiv.org/abs/2407.08720" TargetMode="External"/><Relationship Id="rId4" Type="http://schemas.openxmlformats.org/officeDocument/2006/relationships/image" Target="../media/image45.jpg"/><Relationship Id="rId5" Type="http://schemas.openxmlformats.org/officeDocument/2006/relationships/image" Target="../media/image46.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47.jpg"/><Relationship Id="rId4" Type="http://schemas.openxmlformats.org/officeDocument/2006/relationships/image" Target="../media/image48.jpg"/><Relationship Id="rId5" Type="http://schemas.openxmlformats.org/officeDocument/2006/relationships/image" Target="../media/image4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hyperlink" Target="https://github.com/leggedrobotics/G-VOM" TargetMode="External"/><Relationship Id="rId4" Type="http://schemas.openxmlformats.org/officeDocument/2006/relationships/hyperlink" Target="https://arxiv.org/abs/2310.17620" TargetMode="External"/><Relationship Id="rId5" Type="http://schemas.openxmlformats.org/officeDocument/2006/relationships/hyperlink" Target="https://arxiv.org/abs/2411.17134" TargetMode="External"/><Relationship Id="rId6" Type="http://schemas.openxmlformats.org/officeDocument/2006/relationships/hyperlink" Target="https://arxiv.org/abs/2312.16839"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hyperlink" Target="https://github.com/LimHyungTae/patchwork" TargetMode="External"/><Relationship Id="rId4" Type="http://schemas.openxmlformats.org/officeDocument/2006/relationships/hyperlink" Target="https://github.com/url-kaist/patchwork-plusplus" TargetMode="External"/><Relationship Id="rId5" Type="http://schemas.openxmlformats.org/officeDocument/2006/relationships/hyperlink" Target="https://github.com/url-kaist/TRAVE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hyperlink" Target="https://github.com/url-kaist/patchwork-plusplus-ro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hyperlink" Target="https://arxiv.org/abs/2312.16839"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hyperlink" Target="https://github.com/HKUST-Aerial-Robotics/FIESTA" TargetMode="External"/><Relationship Id="rId4" Type="http://schemas.openxmlformats.org/officeDocument/2006/relationships/hyperlink" Target="https://github.com/HKUST-Aerial-Robotics/Fast-Planner" TargetMode="External"/><Relationship Id="rId5" Type="http://schemas.openxmlformats.org/officeDocument/2006/relationships/hyperlink" Target="https://github.com/ZJU-FAST-Lab/ego-planner" TargetMode="External"/><Relationship Id="rId6" Type="http://schemas.openxmlformats.org/officeDocument/2006/relationships/hyperlink" Target="https://github.com/ZJU-FAST-Lab/EGO-Planner-v2" TargetMode="External"/><Relationship Id="rId7" Type="http://schemas.openxmlformats.org/officeDocument/2006/relationships/hyperlink" Target="https://arxiv.org/abs/2306.16046" TargetMode="External"/><Relationship Id="rId8" Type="http://schemas.openxmlformats.org/officeDocument/2006/relationships/hyperlink" Target="https://github.com/hku-mars/ROG-Map" TargetMode="External"/><Relationship Id="rId9" Type="http://schemas.openxmlformats.org/officeDocument/2006/relationships/hyperlink" Target="https://github.com/ZJU-FAST-Lab/seb_naver"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5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hyperlink" Target="https://arxiv.org/abs/2606.19122" TargetMode="External"/><Relationship Id="rId4" Type="http://schemas.openxmlformats.org/officeDocument/2006/relationships/image" Target="../media/image5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hyperlink" Target="https://arxiv.org/abs/2511.03571" TargetMode="External"/><Relationship Id="rId4" Type="http://schemas.openxmlformats.org/officeDocument/2006/relationships/hyperlink" Target="https://github.com/MasterHow/OneOcc"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55.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hyperlink" Target="https://arxiv.org/abs/2603.12144" TargetMode="External"/><Relationship Id="rId4" Type="http://schemas.openxmlformats.org/officeDocument/2006/relationships/image" Target="../media/image59.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6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hyperlink" Target="https://arxiv.org/abs/2603.13108"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61.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62.png"/><Relationship Id="rId4" Type="http://schemas.openxmlformats.org/officeDocument/2006/relationships/image" Target="../media/image6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hyperlink" Target="https://arxiv.org/abs/2603.09175"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64.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65.png"/><Relationship Id="rId4" Type="http://schemas.openxmlformats.org/officeDocument/2006/relationships/image" Target="../media/image6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hyperlink" Target="https://arxiv.org/abs/2609.17834" TargetMode="External"/><Relationship Id="rId4" Type="http://schemas.openxmlformats.org/officeDocument/2006/relationships/hyperlink" Target="https://arxiv.org/abs/2609.26857" TargetMode="External"/><Relationship Id="rId5" Type="http://schemas.openxmlformats.org/officeDocument/2006/relationships/hyperlink" Target="https://arxiv.org/abs/2609.20114" TargetMode="External"/><Relationship Id="rId6" Type="http://schemas.openxmlformats.org/officeDocument/2006/relationships/hyperlink" Target="https://arxiv.org/abs/2607.20679" TargetMode="External"/><Relationship Id="rId7" Type="http://schemas.openxmlformats.org/officeDocument/2006/relationships/hyperlink" Target="https://arxiv.org/abs/2606.21387" TargetMode="External"/><Relationship Id="rId8" Type="http://schemas.openxmlformats.org/officeDocument/2006/relationships/hyperlink" Target="https://arxiv.org/abs/2605.28442"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hyperlink" Target="https://arxiv.org/abs/2603.16328" TargetMode="External"/><Relationship Id="rId4" Type="http://schemas.openxmlformats.org/officeDocument/2006/relationships/hyperlink" Target="https://arxiv.org/abs/2609.23666"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hyperlink" Target="https://doi.org/10.3390/app16168262" TargetMode="External"/><Relationship Id="rId4" Type="http://schemas.openxmlformats.org/officeDocument/2006/relationships/hyperlink" Target="https://arxiv.org/abs/2505.10696"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hyperlink" Target="https://arxiv.org/abs/2505.10696" TargetMode="External"/><Relationship Id="rId4" Type="http://schemas.openxmlformats.org/officeDocument/2006/relationships/hyperlink" Target="https://arxiv.org/abs/2409.14262" TargetMode="External"/><Relationship Id="rId5" Type="http://schemas.openxmlformats.org/officeDocument/2006/relationships/hyperlink" Target="https://github.com/jingGM/GND"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hyperlink" Target="https://github.com/jkk-research/urban_road_filter" TargetMode="External"/><Relationship Id="rId4" Type="http://schemas.openxmlformats.org/officeDocument/2006/relationships/hyperlink" Target="https://github.com/suchetanrs/traversability_mapping" TargetMode="External"/><Relationship Id="rId5" Type="http://schemas.openxmlformats.org/officeDocument/2006/relationships/hyperlink" Target="https://github.com/LTU-RAI/TravBlox" TargetMode="External"/><Relationship Id="rId6" Type="http://schemas.openxmlformats.org/officeDocument/2006/relationships/hyperlink" Target="https://github.com/LARIAD/Offroad-Nav" TargetMode="External"/><Relationship Id="rId7" Type="http://schemas.openxmlformats.org/officeDocument/2006/relationships/hyperlink" Target="https://github.com/ethz-asl/BIEVR-LIO" TargetMode="External"/><Relationship Id="rId8" Type="http://schemas.openxmlformats.org/officeDocument/2006/relationships/hyperlink" Target="https://github.com/csiro-robotics/raycloudtools" TargetMode="External"/><Relationship Id="rId9" Type="http://schemas.openxmlformats.org/officeDocument/2006/relationships/hyperlink" Target="https://github.com/csiro-robotics/foresttrav" TargetMode="External"/><Relationship Id="rId10" Type="http://schemas.openxmlformats.org/officeDocument/2006/relationships/hyperlink" Target="https://github.com/nubot-nudt/LuSeg" TargetMode="External"/><Relationship Id="rId11" Type="http://schemas.openxmlformats.org/officeDocument/2006/relationships/hyperlink" Target="https://github.com/guoyangzhao/CurbNet"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hyperlink" Target="https://github.com/lab-sun/AMFNet" TargetMode="External"/><Relationship Id="rId4" Type="http://schemas.openxmlformats.org/officeDocument/2006/relationships/hyperlink" Target="https://github.com/ethz-mrl/supereight2" TargetMode="External"/><Relationship Id="rId5" Type="http://schemas.openxmlformats.org/officeDocument/2006/relationships/hyperlink" Target="https://github.com/kiwicampus/elevation_mapping_cpu" TargetMode="External"/><Relationship Id="rId6" Type="http://schemas.openxmlformats.org/officeDocument/2006/relationships/hyperlink" Target="https://arxiv.org/abs/2606.21527"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hyperlink" Target="https://github.com/Yzichen/FlashOCC" TargetMode="External"/><Relationship Id="rId4" Type="http://schemas.openxmlformats.org/officeDocument/2006/relationships/hyperlink" Target="https://github.com/tasl-lab/uniocc"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67.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68.jpg"/><Relationship Id="rId4" Type="http://schemas.openxmlformats.org/officeDocument/2006/relationships/image" Target="../media/image69.png"/><Relationship Id="rId5" Type="http://schemas.openxmlformats.org/officeDocument/2006/relationships/image" Target="../media/image70.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image" Target="../media/image71.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72.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image" Target="../media/image73.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 Id="rId3" Type="http://schemas.openxmlformats.org/officeDocument/2006/relationships/image" Target="../media/image74.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 Id="rId3" Type="http://schemas.openxmlformats.org/officeDocument/2006/relationships/image" Target="../media/image75.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 Id="rId3" Type="http://schemas.openxmlformats.org/officeDocument/2006/relationships/image" Target="../media/image76.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 Id="rId3" Type="http://schemas.openxmlformats.org/officeDocument/2006/relationships/image" Target="../media/image77.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 Id="rId3" Type="http://schemas.openxmlformats.org/officeDocument/2006/relationships/image" Target="../media/image78.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 Id="rId3" Type="http://schemas.openxmlformats.org/officeDocument/2006/relationships/image" Target="../media/image79.jp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 Id="rId3" Type="http://schemas.openxmlformats.org/officeDocument/2006/relationships/image" Target="../media/image80.jp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 Id="rId3" Type="http://schemas.openxmlformats.org/officeDocument/2006/relationships/image" Target="../media/image81.jp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 Id="rId3" Type="http://schemas.openxmlformats.org/officeDocument/2006/relationships/image" Target="../media/image82.jp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 Id="rId3" Type="http://schemas.openxmlformats.org/officeDocument/2006/relationships/image" Target="../media/image83.jp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 Id="rId3" Type="http://schemas.openxmlformats.org/officeDocument/2006/relationships/hyperlink" Target="https://pointclouds.org/documentation/classpcl_1_1_shadow_points.html" TargetMode="Externa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 Id="rId3" Type="http://schemas.openxmlformats.org/officeDocument/2006/relationships/image" Target="../media/image84.jp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 Id="rId3" Type="http://schemas.openxmlformats.org/officeDocument/2006/relationships/image" Target="../media/image85.jp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 Id="rId3" Type="http://schemas.openxmlformats.org/officeDocument/2006/relationships/hyperlink" Target="https://app.notion.com/p/geonhee-lee/VLA-E2E-Learning-based-planning-Mobile-robot-346c5d39343d80f18d74f6efac4cc40a#3e5c5d39343d8039bd36c32ec5418e7d" TargetMode="External"/><Relationship Id="rId4" Type="http://schemas.openxmlformats.org/officeDocument/2006/relationships/hyperlink" Target="https://github.com/unmannedlab/RELLIS-3D" TargetMode="External"/><Relationship Id="rId5" Type="http://schemas.openxmlformats.org/officeDocument/2006/relationships/hyperlink" Target="https://github.com/gkahn13/badgr" TargetMode="External"/><Relationship Id="rId6" Type="http://schemas.openxmlformats.org/officeDocument/2006/relationships/hyperlink" Target="https://github.com/leggedrobotics/wild_visual_navigation" TargetMode="External"/><Relationship Id="rId7" Type="http://schemas.openxmlformats.org/officeDocument/2006/relationships/hyperlink" Target="https://arxiv.org/abs/2011.12954" TargetMode="Externa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 Id="rId3" Type="http://schemas.openxmlformats.org/officeDocument/2006/relationships/hyperlink" Target="https://arxiv.org/abs/2002.05700" TargetMode="External"/><Relationship Id="rId4" Type="http://schemas.openxmlformats.org/officeDocument/2006/relationships/image" Target="../media/image86.jp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image" Target="../media/image89.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 Id="rId3" Type="http://schemas.openxmlformats.org/officeDocument/2006/relationships/hyperlink" Target="https://arxiv.org/abs/2202.12873" TargetMode="External"/><Relationship Id="rId4" Type="http://schemas.openxmlformats.org/officeDocument/2006/relationships/hyperlink" Target="https://arxiv.org/abs/2209.10788" TargetMode="Externa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 Id="rId3" Type="http://schemas.openxmlformats.org/officeDocument/2006/relationships/image" Target="../media/image90.jpg"/><Relationship Id="rId4" Type="http://schemas.openxmlformats.org/officeDocument/2006/relationships/hyperlink" Target="https://arxiv.org/abs/2312.16016" TargetMode="Externa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 Id="rId3" Type="http://schemas.openxmlformats.org/officeDocument/2006/relationships/hyperlink" Target="https://arxiv.org/abs/2402.19341" TargetMode="Externa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 Id="rId3" Type="http://schemas.openxmlformats.org/officeDocument/2006/relationships/image" Target="../media/image91.jp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 Id="rId3" Type="http://schemas.openxmlformats.org/officeDocument/2006/relationships/hyperlink" Target="https://arxiv.org/abs/2605.29565" TargetMode="External"/><Relationship Id="rId4" Type="http://schemas.openxmlformats.org/officeDocument/2006/relationships/image" Target="../media/image92.jp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 Id="rId3" Type="http://schemas.openxmlformats.org/officeDocument/2006/relationships/hyperlink" Target="https://arxiv.org/abs/2603.22800" TargetMode="External"/><Relationship Id="rId4" Type="http://schemas.openxmlformats.org/officeDocument/2006/relationships/hyperlink" Target="https://arxiv.org/abs/2609.20983" TargetMode="Externa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 Id="rId3" Type="http://schemas.openxmlformats.org/officeDocument/2006/relationships/image" Target="../media/image93.jp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 Id="rId3" Type="http://schemas.openxmlformats.org/officeDocument/2006/relationships/hyperlink" Target="https://arxiv.org/abs/2305.18896" TargetMode="Externa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 Id="rId3" Type="http://schemas.openxmlformats.org/officeDocument/2006/relationships/image" Target="../media/image94.jp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 Id="rId3" Type="http://schemas.openxmlformats.org/officeDocument/2006/relationships/image" Target="../media/image95.png"/><Relationship Id="rId4" Type="http://schemas.openxmlformats.org/officeDocument/2006/relationships/image" Target="../media/image96.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 Id="rId3" Type="http://schemas.openxmlformats.org/officeDocument/2006/relationships/hyperlink" Target="https://arxiv.org/abs/2209.06522" TargetMode="Externa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 Id="rId3" Type="http://schemas.openxmlformats.org/officeDocument/2006/relationships/image" Target="../media/image97.jp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 Id="rId3" Type="http://schemas.openxmlformats.org/officeDocument/2006/relationships/image" Target="../media/image98.png"/><Relationship Id="rId4" Type="http://schemas.openxmlformats.org/officeDocument/2006/relationships/image" Target="../media/image99.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 Id="rId3" Type="http://schemas.openxmlformats.org/officeDocument/2006/relationships/hyperlink" Target="https://arxiv.org/abs/2307.13991" TargetMode="External"/><Relationship Id="rId4" Type="http://schemas.openxmlformats.org/officeDocument/2006/relationships/image" Target="../media/image100.jp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 Id="rId3" Type="http://schemas.openxmlformats.org/officeDocument/2006/relationships/image" Target="../media/image10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 Id="rId3" Type="http://schemas.openxmlformats.org/officeDocument/2006/relationships/hyperlink" Target="https://arxiv.org/abs/2403.14138" TargetMode="External"/><Relationship Id="rId4" Type="http://schemas.openxmlformats.org/officeDocument/2006/relationships/hyperlink" Target="https://arxiv.org/abs/2509.11964" TargetMode="External"/><Relationship Id="rId5" Type="http://schemas.openxmlformats.org/officeDocument/2006/relationships/hyperlink" Target="https://arxiv.org/abs/2405.06265" TargetMode="External"/><Relationship Id="rId6" Type="http://schemas.openxmlformats.org/officeDocument/2006/relationships/image" Target="../media/image102.jpg"/><Relationship Id="rId7" Type="http://schemas.openxmlformats.org/officeDocument/2006/relationships/image" Target="../media/image103.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image" Target="../media/image106.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 Id="rId3" Type="http://schemas.openxmlformats.org/officeDocument/2006/relationships/image" Target="../media/image107.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 Id="rId3" Type="http://schemas.openxmlformats.org/officeDocument/2006/relationships/hyperlink" Target="https://arxiv.org/abs/2411.17134" TargetMode="External"/><Relationship Id="rId4" Type="http://schemas.openxmlformats.org/officeDocument/2006/relationships/image" Target="../media/image108.jp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 Id="rId3" Type="http://schemas.openxmlformats.org/officeDocument/2006/relationships/image" Target="../media/image109.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 Id="rId3" Type="http://schemas.openxmlformats.org/officeDocument/2006/relationships/hyperlink" Target="https://www.youtube.com/watch?v=xJEXuIprkSg" TargetMode="Externa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 Id="rId3" Type="http://schemas.openxmlformats.org/officeDocument/2006/relationships/hyperlink" Target="https://github.com/facebookresearch/dinov2" TargetMode="External"/><Relationship Id="rId4" Type="http://schemas.openxmlformats.org/officeDocument/2006/relationships/hyperlink" Target="https://huggingface.co/facebook/dinov2-base" TargetMode="External"/><Relationship Id="rId5" Type="http://schemas.openxmlformats.org/officeDocument/2006/relationships/hyperlink" Target="https://github.com/IDEA-Research/GroundingDINO" TargetMode="External"/><Relationship Id="rId6" Type="http://schemas.openxmlformats.org/officeDocument/2006/relationships/hyperlink" Target="https://huggingface.co/IDEA-Research/grounding-dino-base" TargetMode="External"/><Relationship Id="rId7" Type="http://schemas.openxmlformats.org/officeDocument/2006/relationships/hyperlink" Target="https://github.com/DepthAnything/Depth-Anything-V2" TargetMode="External"/><Relationship Id="rId8" Type="http://schemas.openxmlformats.org/officeDocument/2006/relationships/hyperlink" Target="https://huggingface.co/depth-anything/Depth-Anything-V2-Small-hf" TargetMode="External"/><Relationship Id="rId9" Type="http://schemas.openxmlformats.org/officeDocument/2006/relationships/hyperlink" Target="https://github.com/facebookresearch/sam2" TargetMode="External"/><Relationship Id="rId10" Type="http://schemas.openxmlformats.org/officeDocument/2006/relationships/hyperlink" Target="https://huggingface.co/facebook/sam2.1-hiera-large" TargetMode="External"/><Relationship Id="rId11" Type="http://schemas.openxmlformats.org/officeDocument/2006/relationships/hyperlink" Target="https://github.com/facebookresearch/dinov3" TargetMode="External"/><Relationship Id="rId12" Type="http://schemas.openxmlformats.org/officeDocument/2006/relationships/hyperlink" Target="https://huggingface.co/facebook/dinov3-vitb16-pretrain-lvd1689m" TargetMode="External"/><Relationship Id="rId13" Type="http://schemas.openxmlformats.org/officeDocument/2006/relationships/hyperlink" Target="https://github.com/ByteDance-Seed/Depth-Anything-3" TargetMode="External"/><Relationship Id="rId14" Type="http://schemas.openxmlformats.org/officeDocument/2006/relationships/hyperlink" Target="https://huggingface.co/depth-anything/DA3METRIC-LARGE" TargetMode="External"/><Relationship Id="rId15" Type="http://schemas.openxmlformats.org/officeDocument/2006/relationships/hyperlink" Target="https://github.com/facebookresearch/sam3" TargetMode="External"/><Relationship Id="rId16" Type="http://schemas.openxmlformats.org/officeDocument/2006/relationships/hyperlink" Target="https://huggingface.co/facebook/sam3" TargetMode="External"/><Relationship Id="rId17" Type="http://schemas.openxmlformats.org/officeDocument/2006/relationships/hyperlink" Target="https://arxiv.org/abs/2304.07193" TargetMode="Externa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 Id="rId3" Type="http://schemas.openxmlformats.org/officeDocument/2006/relationships/image" Target="../media/image110.jp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 Id="rId3" Type="http://schemas.openxmlformats.org/officeDocument/2006/relationships/hyperlink" Target="https://arxiv.org/abs/2508.10104" TargetMode="Externa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 Id="rId3" Type="http://schemas.openxmlformats.org/officeDocument/2006/relationships/image" Target="../media/image111.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image" Target="../media/image115.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 Id="rId3" Type="http://schemas.openxmlformats.org/officeDocument/2006/relationships/hyperlink" Target="https://arxiv.org/abs/2406.09414" TargetMode="Externa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 Id="rId3" Type="http://schemas.openxmlformats.org/officeDocument/2006/relationships/image" Target="../media/image116.jp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 Id="rId3" Type="http://schemas.openxmlformats.org/officeDocument/2006/relationships/hyperlink" Target="https://arxiv.org/abs/2511.10647" TargetMode="External"/><Relationship Id="rId4" Type="http://schemas.openxmlformats.org/officeDocument/2006/relationships/image" Target="../media/image117.jp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 Id="rId3" Type="http://schemas.openxmlformats.org/officeDocument/2006/relationships/image" Target="../media/image118.png"/><Relationship Id="rId4" Type="http://schemas.openxmlformats.org/officeDocument/2006/relationships/image" Target="../media/image119.png"/><Relationship Id="rId5" Type="http://schemas.openxmlformats.org/officeDocument/2006/relationships/image" Target="../media/image120.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 Id="rId3" Type="http://schemas.openxmlformats.org/officeDocument/2006/relationships/hyperlink" Target="https://arxiv.org/abs/2408.00714" TargetMode="External"/><Relationship Id="rId4" Type="http://schemas.openxmlformats.org/officeDocument/2006/relationships/image" Target="../media/image121.jpg"/><Relationship Id="rId5" Type="http://schemas.openxmlformats.org/officeDocument/2006/relationships/hyperlink" Target="https://arxiv.org/abs/2511.16719" TargetMode="Externa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 Id="rId3" Type="http://schemas.openxmlformats.org/officeDocument/2006/relationships/image" Target="../media/image122.jpg"/><Relationship Id="rId4" Type="http://schemas.openxmlformats.org/officeDocument/2006/relationships/hyperlink" Target="https://arxiv.org/abs/2303.05499" TargetMode="Externa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 Id="rId3" Type="http://schemas.openxmlformats.org/officeDocument/2006/relationships/image" Target="../media/image123.jp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 Id="rId3" Type="http://schemas.openxmlformats.org/officeDocument/2006/relationships/image" Target="../media/image124.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 Id="rId3" Type="http://schemas.openxmlformats.org/officeDocument/2006/relationships/hyperlink" Target="https://github.com/ultralytics/ultralytics" TargetMode="External"/><Relationship Id="rId4" Type="http://schemas.openxmlformats.org/officeDocument/2006/relationships/hyperlink" Target="https://github.com/lyuwenyu/RT-DETR" TargetMode="External"/><Relationship Id="rId5" Type="http://schemas.openxmlformats.org/officeDocument/2006/relationships/hyperlink" Target="https://github.com/THU-MIG/yolov10" TargetMode="External"/><Relationship Id="rId6" Type="http://schemas.openxmlformats.org/officeDocument/2006/relationships/hyperlink" Target="https://github.com/Peterande/D-FINE" TargetMode="External"/><Relationship Id="rId7" Type="http://schemas.openxmlformats.org/officeDocument/2006/relationships/hyperlink" Target="https://github.com/roboflow/rf-detr" TargetMode="External"/><Relationship Id="rId8" Type="http://schemas.openxmlformats.org/officeDocument/2006/relationships/hyperlink" Target="https://arxiv.org/abs/2304.08069" TargetMode="Externa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 Id="rId3" Type="http://schemas.openxmlformats.org/officeDocument/2006/relationships/image" Target="../media/image125.jpg"/><Relationship Id="rId4" Type="http://schemas.openxmlformats.org/officeDocument/2006/relationships/hyperlink" Target="https://arxiv.org/abs/2410.13842" TargetMode="Externa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 Id="rId3" Type="http://schemas.openxmlformats.org/officeDocument/2006/relationships/image" Target="../media/image126.jp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 Id="rId3" Type="http://schemas.openxmlformats.org/officeDocument/2006/relationships/hyperlink" Target="https://arxiv.org/abs/2511.09554" TargetMode="Externa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 Id="rId3" Type="http://schemas.openxmlformats.org/officeDocument/2006/relationships/image" Target="../media/image127.jp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 Id="rId3" Type="http://schemas.openxmlformats.org/officeDocument/2006/relationships/image" Target="../media/image128.png"/><Relationship Id="rId4" Type="http://schemas.openxmlformats.org/officeDocument/2006/relationships/image" Target="../media/image129.png"/><Relationship Id="rId5" Type="http://schemas.openxmlformats.org/officeDocument/2006/relationships/image" Target="../media/image130.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 Id="rId3" Type="http://schemas.openxmlformats.org/officeDocument/2006/relationships/hyperlink" Target="https://github.com/FoundationVision/ByteTrack" TargetMode="External"/><Relationship Id="rId4" Type="http://schemas.openxmlformats.org/officeDocument/2006/relationships/hyperlink" Target="https://github.com/NirAharon/BoT-SORT" TargetMode="External"/><Relationship Id="rId5" Type="http://schemas.openxmlformats.org/officeDocument/2006/relationships/hyperlink" Target="https://arxiv.org/abs/2110.06864" TargetMode="Externa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 Id="rId3" Type="http://schemas.openxmlformats.org/officeDocument/2006/relationships/image" Target="../media/image131.jp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 Id="rId3" Type="http://schemas.openxmlformats.org/officeDocument/2006/relationships/hyperlink" Target="https://arxiv.org/abs/2206.14651" TargetMode="Externa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 Id="rId3" Type="http://schemas.openxmlformats.org/officeDocument/2006/relationships/image" Target="../media/image132.jp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 Id="rId3" Type="http://schemas.openxmlformats.org/officeDocument/2006/relationships/image" Target="../media/image133.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 Id="rId3" Type="http://schemas.openxmlformats.org/officeDocument/2006/relationships/hyperlink" Target="https://github.com/agrimgupta92/sgan" TargetMode="External"/><Relationship Id="rId4" Type="http://schemas.openxmlformats.org/officeDocument/2006/relationships/hyperlink" Target="https://github.com/StanfordASL/Trajectron-plus-plus" TargetMode="External"/><Relationship Id="rId5" Type="http://schemas.openxmlformats.org/officeDocument/2006/relationships/hyperlink" Target="https://github.com/Khrylx/AgentFormer" TargetMode="External"/><Relationship Id="rId6" Type="http://schemas.openxmlformats.org/officeDocument/2006/relationships/hyperlink" Target="https://github.com/gutianpei/MID" TargetMode="External"/><Relationship Id="rId7" Type="http://schemas.openxmlformats.org/officeDocument/2006/relationships/hyperlink" Target="https://github.com/MediaBrain-SJTU/LED" TargetMode="External"/><Relationship Id="rId8" Type="http://schemas.openxmlformats.org/officeDocument/2006/relationships/hyperlink" Target="https://github.com/InhwanBae/SingularTrajectory" TargetMode="External"/><Relationship Id="rId9" Type="http://schemas.openxmlformats.org/officeDocument/2006/relationships/hyperlink" Target="https://github.com/DSL-Lab/MoFlow" TargetMode="External"/><Relationship Id="rId10" Type="http://schemas.openxmlformats.org/officeDocument/2006/relationships/hyperlink" Target="https://arxiv.org/abs/1803.10892" TargetMode="External"/><Relationship Id="rId11" Type="http://schemas.openxmlformats.org/officeDocument/2006/relationships/hyperlink" Target="https://arxiv.org/abs/1903.07933" TargetMode="Externa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 Id="rId3" Type="http://schemas.openxmlformats.org/officeDocument/2006/relationships/hyperlink" Target="https://arxiv.org/abs/2001.03093" TargetMode="Externa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 Id="rId3" Type="http://schemas.openxmlformats.org/officeDocument/2006/relationships/image" Target="../media/image134.jp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 Id="rId3" Type="http://schemas.openxmlformats.org/officeDocument/2006/relationships/hyperlink" Target="https://arxiv.org/abs/2103.14023" TargetMode="External"/><Relationship Id="rId4" Type="http://schemas.openxmlformats.org/officeDocument/2006/relationships/hyperlink" Target="https://arxiv.org/abs/2203.13777" TargetMode="External"/><Relationship Id="rId5" Type="http://schemas.openxmlformats.org/officeDocument/2006/relationships/hyperlink" Target="https://arxiv.org/abs/2303.10895" TargetMode="External"/><Relationship Id="rId6" Type="http://schemas.openxmlformats.org/officeDocument/2006/relationships/hyperlink" Target="https://arxiv.org/abs/2403.18452" TargetMode="External"/><Relationship Id="rId7" Type="http://schemas.openxmlformats.org/officeDocument/2006/relationships/hyperlink" Target="https://arxiv.org/abs/2503.09950" TargetMode="Externa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 Id="rId3" Type="http://schemas.openxmlformats.org/officeDocument/2006/relationships/image" Target="../media/image135.jp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 Id="rId3" Type="http://schemas.openxmlformats.org/officeDocument/2006/relationships/hyperlink" Target="https://arxiv.org/abs/2006.11275" TargetMode="External"/><Relationship Id="rId4" Type="http://schemas.openxmlformats.org/officeDocument/2006/relationships/hyperlink" Target="https://github.com/tianweiy/CenterPoint" TargetMode="External"/><Relationship Id="rId5" Type="http://schemas.openxmlformats.org/officeDocument/2006/relationships/hyperlink" Target="https://arxiv.org/abs/1907.03961" TargetMode="External"/><Relationship Id="rId6" Type="http://schemas.openxmlformats.org/officeDocument/2006/relationships/hyperlink" Target="https://github.com/xinshuoweng/AB3DMOT" TargetMode="External"/><Relationship Id="rId7" Type="http://schemas.openxmlformats.org/officeDocument/2006/relationships/hyperlink" Target="https://arxiv.org/abs/2012.12395" TargetMode="External"/><Relationship Id="rId8" Type="http://schemas.openxmlformats.org/officeDocument/2006/relationships/hyperlink" Target="https://arxiv.org/abs/2003.06754" TargetMode="External"/><Relationship Id="rId9" Type="http://schemas.openxmlformats.org/officeDocument/2006/relationships/hyperlink" Target="https://arxiv.org/abs/2406.08691" TargetMode="Externa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 Id="rId3" Type="http://schemas.openxmlformats.org/officeDocument/2006/relationships/image" Target="../media/image139.jp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 Id="rId3" Type="http://schemas.openxmlformats.org/officeDocument/2006/relationships/hyperlink" Target="https://arxiv.org/abs/2004.14079" TargetMode="External"/><Relationship Id="rId4" Type="http://schemas.openxmlformats.org/officeDocument/2006/relationships/hyperlink" Target="https://github.com/VisualComputingInstitute/2D_lidar_person_detection" TargetMode="External"/><Relationship Id="rId5" Type="http://schemas.openxmlformats.org/officeDocument/2006/relationships/hyperlink" Target="https://arxiv.org/abs/2412.15000" TargetMode="External"/><Relationship Id="rId6" Type="http://schemas.openxmlformats.org/officeDocument/2006/relationships/hyperlink" Target="https://arxiv.org/abs/1910.11792" TargetMode="External"/><Relationship Id="rId7" Type="http://schemas.openxmlformats.org/officeDocument/2006/relationships/hyperlink" Target="https://arxiv.org/abs/2107.06780" TargetMode="External"/><Relationship Id="rId8" Type="http://schemas.openxmlformats.org/officeDocument/2006/relationships/hyperlink" Target="https://arxiv.org/abs/2106.11239" TargetMode="External"/><Relationship Id="rId9" Type="http://schemas.openxmlformats.org/officeDocument/2006/relationships/hyperlink" Target="https://arxiv.org/abs/2408.15503" TargetMode="External"/><Relationship Id="rId10" Type="http://schemas.openxmlformats.org/officeDocument/2006/relationships/hyperlink" Target="https://github.com/suhaisheng/RoboSense" TargetMode="Externa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 Id="rId3" Type="http://schemas.openxmlformats.org/officeDocument/2006/relationships/image" Target="../media/image140.jp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 Id="rId3" Type="http://schemas.openxmlformats.org/officeDocument/2006/relationships/hyperlink" Target="https://arxiv.org/abs/1906.06059" TargetMode="External"/><Relationship Id="rId4" Type="http://schemas.openxmlformats.org/officeDocument/2006/relationships/hyperlink" Target="https://github.com/vita-epfl/monoloco" TargetMode="External"/><Relationship Id="rId5" Type="http://schemas.openxmlformats.org/officeDocument/2006/relationships/hyperlink" Target="https://arxiv.org/abs/2009.00984" TargetMode="External"/><Relationship Id="rId6" Type="http://schemas.openxmlformats.org/officeDocument/2006/relationships/hyperlink" Target="https://github.com/ros-navigation/navigation2_dynamic" TargetMode="External"/><Relationship Id="rId7" Type="http://schemas.openxmlformats.org/officeDocument/2006/relationships/hyperlink" Target="https://www.nature.com/articles/s41467-023-44554-8" TargetMode="External"/><Relationship Id="rId8" Type="http://schemas.openxmlformats.org/officeDocument/2006/relationships/hyperlink" Target="https://github.com/hku-mars/M-detector" TargetMode="External"/><Relationship Id="rId9" Type="http://schemas.openxmlformats.org/officeDocument/2006/relationships/hyperlink" Target="https://arxiv.org/abs/2304.10049" TargetMode="External"/><Relationship Id="rId10" Type="http://schemas.openxmlformats.org/officeDocument/2006/relationships/hyperlink" Target="https://github.com/ethz-asl/dynablox" TargetMode="Externa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 Id="rId3" Type="http://schemas.openxmlformats.org/officeDocument/2006/relationships/image" Target="../media/image141.jpg"/><Relationship Id="rId4" Type="http://schemas.openxmlformats.org/officeDocument/2006/relationships/hyperlink" Target="https://arxiv.org/abs/1605.02406" TargetMode="External"/><Relationship Id="rId5" Type="http://schemas.openxmlformats.org/officeDocument/2006/relationships/hyperlink" Target="https://github.com/TheCodez/dynamic-occupancy-grid-map" TargetMode="External"/><Relationship Id="rId6" Type="http://schemas.openxmlformats.org/officeDocument/2006/relationships/hyperlink" Target="https://arxiv.org/abs/2510.00405" TargetMode="Externa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 Id="rId3" Type="http://schemas.openxmlformats.org/officeDocument/2006/relationships/image" Target="../media/image142.jp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 Id="rId3" Type="http://schemas.openxmlformats.org/officeDocument/2006/relationships/hyperlink" Target="https://arxiv.org/abs/2602.09076" TargetMode="External"/><Relationship Id="rId4" Type="http://schemas.openxmlformats.org/officeDocument/2006/relationships/hyperlink" Target="https://arxiv.org/abs/2508.05634" TargetMode="External"/><Relationship Id="rId5" Type="http://schemas.openxmlformats.org/officeDocument/2006/relationships/hyperlink" Target="https://arxiv.org/abs/2601.09856" TargetMode="External"/><Relationship Id="rId6" Type="http://schemas.openxmlformats.org/officeDocument/2006/relationships/hyperlink" Target="https://arxiv.org/abs/2609.06195" TargetMode="Externa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 Id="rId3" Type="http://schemas.openxmlformats.org/officeDocument/2006/relationships/image" Target="../media/image146.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 Id="rId3" Type="http://schemas.openxmlformats.org/officeDocument/2006/relationships/hyperlink" Target="https://arxiv.org/abs/2112.09988" TargetMode="External"/><Relationship Id="rId4" Type="http://schemas.openxmlformats.org/officeDocument/2006/relationships/hyperlink" Target="https://arxiv.org/abs/2501.08520" TargetMode="Externa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 Id="rId3" Type="http://schemas.openxmlformats.org/officeDocument/2006/relationships/hyperlink" Target="https://doi.org/10.1109/IROS.2010.5654369" TargetMode="External"/><Relationship Id="rId4" Type="http://schemas.openxmlformats.org/officeDocument/2006/relationships/hyperlink" Target="https://doi.org/10.1177/0278364914557874" TargetMode="Externa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 Id="rId3" Type="http://schemas.openxmlformats.org/officeDocument/2006/relationships/image" Target="../media/image147.jpg"/><Relationship Id="rId4" Type="http://schemas.openxmlformats.org/officeDocument/2006/relationships/hyperlink" Target="https://arxiv.org/abs/2608.08323" TargetMode="Externa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 Id="rId3" Type="http://schemas.openxmlformats.org/officeDocument/2006/relationships/hyperlink" Target="https://arxiv.org/abs/2506.21205" TargetMode="Externa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 Id="rId3" Type="http://schemas.openxmlformats.org/officeDocument/2006/relationships/image" Target="../media/image148.jpg"/><Relationship Id="rId4" Type="http://schemas.openxmlformats.org/officeDocument/2006/relationships/image" Target="../media/image149.jpg"/><Relationship Id="rId5" Type="http://schemas.openxmlformats.org/officeDocument/2006/relationships/image" Target="../media/image150.jpg"/><Relationship Id="rId6" Type="http://schemas.openxmlformats.org/officeDocument/2006/relationships/hyperlink" Target="https://arxiv.org/abs/2501.08520" TargetMode="External"/><Relationship Id="rId7" Type="http://schemas.openxmlformats.org/officeDocument/2006/relationships/image" Target="../media/image151.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 Id="rId3" Type="http://schemas.openxmlformats.org/officeDocument/2006/relationships/image" Target="../media/image152.jpg"/><Relationship Id="rId4" Type="http://schemas.openxmlformats.org/officeDocument/2006/relationships/image" Target="../media/image153.jp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 Id="rId3" Type="http://schemas.openxmlformats.org/officeDocument/2006/relationships/hyperlink" Target="https://arxiv.org/abs/2306.16740" TargetMode="Externa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 Id="rId3" Type="http://schemas.openxmlformats.org/officeDocument/2006/relationships/image" Target="../media/image154.jp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 Id="rId3" Type="http://schemas.openxmlformats.org/officeDocument/2006/relationships/hyperlink" Target="https://arxiv.org/abs/2003.05395" TargetMode="Externa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0.xml"/><Relationship Id="rId3" Type="http://schemas.openxmlformats.org/officeDocument/2006/relationships/hyperlink" Target="https://arxiv.org/abs/2403.01537" TargetMode="External"/><Relationship Id="rId4" Type="http://schemas.openxmlformats.org/officeDocument/2006/relationships/hyperlink" Target="https://arxiv.org/abs/2310.10982" TargetMode="External"/><Relationship Id="rId5" Type="http://schemas.openxmlformats.org/officeDocument/2006/relationships/hyperlink" Target="https://arxiv.org/abs/2306.01874" TargetMode="Externa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 Id="rId3" Type="http://schemas.openxmlformats.org/officeDocument/2006/relationships/image" Target="../media/image155.jpg"/><Relationship Id="rId4" Type="http://schemas.openxmlformats.org/officeDocument/2006/relationships/image" Target="../media/image156.jpg"/><Relationship Id="rId5" Type="http://schemas.openxmlformats.org/officeDocument/2006/relationships/hyperlink" Target="https://arxiv.org/abs/1703.08862" TargetMode="External"/><Relationship Id="rId6" Type="http://schemas.openxmlformats.org/officeDocument/2006/relationships/hyperlink" Target="https://doi.org/10.1177/0278364918781016" TargetMode="Externa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 Id="rId3" Type="http://schemas.openxmlformats.org/officeDocument/2006/relationships/hyperlink" Target="https://github.com/robotics-upo/social_force_window_planner" TargetMode="External"/><Relationship Id="rId4" Type="http://schemas.openxmlformats.org/officeDocument/2006/relationships/hyperlink" Target="https://github.com/robotics-upo/nav2_social_mpc_controller" TargetMode="External"/><Relationship Id="rId5" Type="http://schemas.openxmlformats.org/officeDocument/2006/relationships/hyperlink" Target="https://github.com/robotics-upo/lightsfm" TargetMode="External"/><Relationship Id="rId6" Type="http://schemas.openxmlformats.org/officeDocument/2006/relationships/hyperlink" Target="https://github.com/robotics-upo/hunav_sim" TargetMode="External"/><Relationship Id="rId7" Type="http://schemas.openxmlformats.org/officeDocument/2006/relationships/hyperlink" Target="https://github.com/robotics-upo/Hunav_isaac_wrapper" TargetMode="External"/><Relationship Id="rId8" Type="http://schemas.openxmlformats.org/officeDocument/2006/relationships/hyperlink" Target="https://github.com/snape/RVO2" TargetMode="External"/><Relationship Id="rId9" Type="http://schemas.openxmlformats.org/officeDocument/2006/relationships/hyperlink" Target="https://github.com/rst-tu-dortmund/teb_local_planner" TargetMode="External"/><Relationship Id="rId10" Type="http://schemas.openxmlformats.org/officeDocument/2006/relationships/hyperlink" Target="https://github.com/ros-navigation/navigation2_dynamic" TargetMode="External"/><Relationship Id="rId11" Type="http://schemas.openxmlformats.org/officeDocument/2006/relationships/hyperlink" Target="https://github.com/vita-epfl/CrowdNav" TargetMode="Externa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 Id="rId3" Type="http://schemas.openxmlformats.org/officeDocument/2006/relationships/hyperlink" Target="https://arxiv.org/abs/2311.16038" TargetMode="External"/><Relationship Id="rId4" Type="http://schemas.openxmlformats.org/officeDocument/2006/relationships/hyperlink" Target="https://github.com/wzzheng/OccWorld" TargetMode="External"/><Relationship Id="rId5" Type="http://schemas.openxmlformats.org/officeDocument/2006/relationships/hyperlink" Target="https://arxiv.org/abs/2408.14197" TargetMode="External"/><Relationship Id="rId6" Type="http://schemas.openxmlformats.org/officeDocument/2006/relationships/hyperlink" Target="https://arxiv.org/abs/2409.03272" TargetMode="External"/><Relationship Id="rId7" Type="http://schemas.openxmlformats.org/officeDocument/2006/relationships/hyperlink" Target="https://arxiv.org/abs/2412.13772" TargetMode="External"/><Relationship Id="rId8" Type="http://schemas.openxmlformats.org/officeDocument/2006/relationships/hyperlink" Target="https://arxiv.org/abs/2605.17682" TargetMode="External"/><Relationship Id="rId9" Type="http://schemas.openxmlformats.org/officeDocument/2006/relationships/hyperlink" Target="https://arxiv.org/abs/2609.18442" TargetMode="Externa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 Id="rId3" Type="http://schemas.openxmlformats.org/officeDocument/2006/relationships/image" Target="../media/image157.jpg"/><Relationship Id="rId4" Type="http://schemas.openxmlformats.org/officeDocument/2006/relationships/image" Target="../media/image158.jpg"/><Relationship Id="rId5" Type="http://schemas.openxmlformats.org/officeDocument/2006/relationships/image" Target="../media/image159.jp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 Id="rId3" Type="http://schemas.openxmlformats.org/officeDocument/2006/relationships/image" Target="../media/image160.jpg"/><Relationship Id="rId4" Type="http://schemas.openxmlformats.org/officeDocument/2006/relationships/image" Target="../media/image161.jpg"/><Relationship Id="rId5" Type="http://schemas.openxmlformats.org/officeDocument/2006/relationships/image" Target="../media/image162.jp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 Id="rId3" Type="http://schemas.openxmlformats.org/officeDocument/2006/relationships/image" Target="../media/image163.png"/><Relationship Id="rId4" Type="http://schemas.openxmlformats.org/officeDocument/2006/relationships/image" Target="../media/image164.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 Id="rId3" Type="http://schemas.openxmlformats.org/officeDocument/2006/relationships/image" Target="../media/image165.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9.xml"/><Relationship Id="rId3" Type="http://schemas.openxmlformats.org/officeDocument/2006/relationships/image" Target="../media/image166.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 Id="rId3" Type="http://schemas.openxmlformats.org/officeDocument/2006/relationships/image" Target="../media/image167.png"/><Relationship Id="rId4" Type="http://schemas.openxmlformats.org/officeDocument/2006/relationships/image" Target="../media/image168.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 Id="rId3" Type="http://schemas.openxmlformats.org/officeDocument/2006/relationships/image" Target="../media/image169.png"/><Relationship Id="rId4" Type="http://schemas.openxmlformats.org/officeDocument/2006/relationships/image" Target="../media/image170.png"/><Relationship Id="rId5" Type="http://schemas.openxmlformats.org/officeDocument/2006/relationships/image" Target="../media/image171.png"/><Relationship Id="rId6" Type="http://schemas.openxmlformats.org/officeDocument/2006/relationships/image" Target="../media/image172.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 Id="rId3" Type="http://schemas.openxmlformats.org/officeDocument/2006/relationships/hyperlink" Target="https://arxiv.org/abs/2404.02263" TargetMode="External"/><Relationship Id="rId4" Type="http://schemas.openxmlformats.org/officeDocument/2006/relationships/hyperlink" Target="https://arxiv.org/abs/2407.07587" TargetMode="External"/><Relationship Id="rId5" Type="http://schemas.openxmlformats.org/officeDocument/2006/relationships/hyperlink" Target="https://arxiv.org/abs/2410.10429" TargetMode="External"/><Relationship Id="rId6" Type="http://schemas.openxmlformats.org/officeDocument/2006/relationships/hyperlink" Target="https://huggingface.co/papers/2410.10429" TargetMode="External"/><Relationship Id="rId7" Type="http://schemas.openxmlformats.org/officeDocument/2006/relationships/hyperlink" Target="https://github.com/gusongen/DOME" TargetMode="External"/><Relationship Id="rId8" Type="http://schemas.openxmlformats.org/officeDocument/2006/relationships/image" Target="../media/image173.jpg"/><Relationship Id="rId9" Type="http://schemas.openxmlformats.org/officeDocument/2006/relationships/image" Target="../media/image174.jp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 Id="rId3" Type="http://schemas.openxmlformats.org/officeDocument/2006/relationships/image" Target="../media/image175.png"/><Relationship Id="rId4" Type="http://schemas.openxmlformats.org/officeDocument/2006/relationships/image" Target="../media/image176.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 Id="rId3" Type="http://schemas.openxmlformats.org/officeDocument/2006/relationships/hyperlink" Target="https://arxiv.org/abs/2503.24381" TargetMode="External"/><Relationship Id="rId4" Type="http://schemas.openxmlformats.org/officeDocument/2006/relationships/hyperlink" Target="https://github.com/tasl-lab/uniocc" TargetMode="External"/><Relationship Id="rId5" Type="http://schemas.openxmlformats.org/officeDocument/2006/relationships/hyperlink" Target="https://huggingface.co/datasets/tasl-lab/uniocc" TargetMode="External"/><Relationship Id="rId6" Type="http://schemas.openxmlformats.org/officeDocument/2006/relationships/hyperlink" Target="https://arxiv.org/abs/2311.17663" TargetMode="External"/><Relationship Id="rId7" Type="http://schemas.openxmlformats.org/officeDocument/2006/relationships/image" Target="../media/image177.jpg"/><Relationship Id="rId8" Type="http://schemas.openxmlformats.org/officeDocument/2006/relationships/image" Target="../media/image178.jp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 Id="rId3" Type="http://schemas.openxmlformats.org/officeDocument/2006/relationships/image" Target="../media/image179.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 Id="rId3" Type="http://schemas.openxmlformats.org/officeDocument/2006/relationships/image" Target="../media/image180.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 Id="rId3" Type="http://schemas.openxmlformats.org/officeDocument/2006/relationships/hyperlink" Target="https://arxiv.org/abs/2206.10118" TargetMode="External"/><Relationship Id="rId4" Type="http://schemas.openxmlformats.org/officeDocument/2006/relationships/image" Target="../media/image181.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 Id="rId3" Type="http://schemas.openxmlformats.org/officeDocument/2006/relationships/hyperlink" Target="https://arxiv.org/abs/2404.02263" TargetMode="External"/><Relationship Id="rId4" Type="http://schemas.openxmlformats.org/officeDocument/2006/relationships/hyperlink" Target="https://arxiv.org/abs/2311.16038" TargetMode="External"/><Relationship Id="rId5" Type="http://schemas.openxmlformats.org/officeDocument/2006/relationships/hyperlink" Target="https://arxiv.org/abs/2408.14197" TargetMode="External"/><Relationship Id="rId6" Type="http://schemas.openxmlformats.org/officeDocument/2006/relationships/hyperlink" Target="https://arxiv.org/abs/2409.03272" TargetMode="External"/><Relationship Id="rId7" Type="http://schemas.openxmlformats.org/officeDocument/2006/relationships/hyperlink" Target="https://arxiv.org/abs/2407.07587" TargetMode="External"/><Relationship Id="rId8" Type="http://schemas.openxmlformats.org/officeDocument/2006/relationships/hyperlink" Target="https://arxiv.org/abs/2503.24381" TargetMode="External"/><Relationship Id="rId9" Type="http://schemas.openxmlformats.org/officeDocument/2006/relationships/hyperlink" Target="https://arxiv.org/abs/2410.10429" TargetMode="External"/><Relationship Id="rId10" Type="http://schemas.openxmlformats.org/officeDocument/2006/relationships/hyperlink" Target="https://arxiv.org/abs/2605.17682" TargetMode="External"/><Relationship Id="rId11" Type="http://schemas.openxmlformats.org/officeDocument/2006/relationships/hyperlink" Target="https://arxiv.org/abs/2609.18442" TargetMode="Externa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4.xml"/><Relationship Id="rId3" Type="http://schemas.openxmlformats.org/officeDocument/2006/relationships/hyperlink" Target="https://pure.kaist.ac.kr/en/publications/learning-quadrupedal-locomotion-over-challenging-terrain/" TargetMode="Externa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5.xml"/><Relationship Id="rId3" Type="http://schemas.openxmlformats.org/officeDocument/2006/relationships/image" Target="../media/image182.png"/><Relationship Id="rId4" Type="http://schemas.openxmlformats.org/officeDocument/2006/relationships/image" Target="../media/image183.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 Id="rId3" Type="http://schemas.openxmlformats.org/officeDocument/2006/relationships/image" Target="../media/image184.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 Id="rId3" Type="http://schemas.openxmlformats.org/officeDocument/2006/relationships/image" Target="../media/image185.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8.xml"/><Relationship Id="rId3" Type="http://schemas.openxmlformats.org/officeDocument/2006/relationships/hyperlink" Target="https://support.bostondynamics.com/s/article/About-the-Spot-Robot-72005" TargetMode="External"/><Relationship Id="rId4" Type="http://schemas.openxmlformats.org/officeDocument/2006/relationships/hyperlink" Target="https://www.anybotics.com/robotics/anymal/" TargetMode="External"/><Relationship Id="rId5" Type="http://schemas.openxmlformats.org/officeDocument/2006/relationships/hyperlink" Target="https://link.springer.com/article/10.1007/s10514-025-10202-x" TargetMode="External"/><Relationship Id="rId6" Type="http://schemas.openxmlformats.org/officeDocument/2006/relationships/hyperlink" Target="https://arxiv.org/abs/2412.07826" TargetMode="External"/><Relationship Id="rId7" Type="http://schemas.openxmlformats.org/officeDocument/2006/relationships/hyperlink" Target="https://arxiv.org/abs/2309.15302" TargetMode="External"/><Relationship Id="rId8" Type="http://schemas.openxmlformats.org/officeDocument/2006/relationships/image" Target="../media/image186.jpg"/><Relationship Id="rId9" Type="http://schemas.openxmlformats.org/officeDocument/2006/relationships/image" Target="../media/image187.jpg"/><Relationship Id="rId10" Type="http://schemas.openxmlformats.org/officeDocument/2006/relationships/image" Target="../media/image188.jp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9.xml"/><Relationship Id="rId3" Type="http://schemas.openxmlformats.org/officeDocument/2006/relationships/image" Target="../media/image189.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1.xml"/><Relationship Id="rId3" Type="http://schemas.openxmlformats.org/officeDocument/2006/relationships/image" Target="../media/image190.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3.xml"/><Relationship Id="rId3" Type="http://schemas.openxmlformats.org/officeDocument/2006/relationships/image" Target="../media/image191.png"/><Relationship Id="rId4" Type="http://schemas.openxmlformats.org/officeDocument/2006/relationships/image" Target="../media/image192.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4.xml"/><Relationship Id="rId3" Type="http://schemas.openxmlformats.org/officeDocument/2006/relationships/image" Target="../media/image193.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5.xml"/><Relationship Id="rId3" Type="http://schemas.openxmlformats.org/officeDocument/2006/relationships/image" Target="../media/image194.png"/><Relationship Id="rId4" Type="http://schemas.openxmlformats.org/officeDocument/2006/relationships/image" Target="../media/image195.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6.xml"/><Relationship Id="rId3" Type="http://schemas.openxmlformats.org/officeDocument/2006/relationships/image" Target="../media/image196.png"/><Relationship Id="rId4" Type="http://schemas.openxmlformats.org/officeDocument/2006/relationships/image" Target="../media/image197.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7.xml"/><Relationship Id="rId3" Type="http://schemas.openxmlformats.org/officeDocument/2006/relationships/image" Target="../media/image198.png"/><Relationship Id="rId4" Type="http://schemas.openxmlformats.org/officeDocument/2006/relationships/image" Target="../media/image199.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8.xml"/><Relationship Id="rId3" Type="http://schemas.openxmlformats.org/officeDocument/2006/relationships/image" Target="../media/image200.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9.xml"/><Relationship Id="rId3" Type="http://schemas.openxmlformats.org/officeDocument/2006/relationships/hyperlink" Target="https://arxiv.org/abs/2607.11204" TargetMode="External"/><Relationship Id="rId4" Type="http://schemas.openxmlformats.org/officeDocument/2006/relationships/hyperlink" Target="https://arxiv.org/abs/2604.23327" TargetMode="External"/><Relationship Id="rId5" Type="http://schemas.openxmlformats.org/officeDocument/2006/relationships/hyperlink" Target="https://arxiv.org/abs/2501.00112" TargetMode="External"/><Relationship Id="rId6" Type="http://schemas.openxmlformats.org/officeDocument/2006/relationships/image" Target="../media/image201.jpg"/><Relationship Id="rId7" Type="http://schemas.openxmlformats.org/officeDocument/2006/relationships/image" Target="../media/image202.jpg"/><Relationship Id="rId8" Type="http://schemas.openxmlformats.org/officeDocument/2006/relationships/image" Target="../media/image203.jp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0.xml"/><Relationship Id="rId3" Type="http://schemas.openxmlformats.org/officeDocument/2006/relationships/image" Target="../media/image204.png"/></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1.xml"/><Relationship Id="rId3" Type="http://schemas.openxmlformats.org/officeDocument/2006/relationships/image" Target="../media/image205.png"/><Relationship Id="rId4" Type="http://schemas.openxmlformats.org/officeDocument/2006/relationships/image" Target="../media/image206.png"/><Relationship Id="rId5" Type="http://schemas.openxmlformats.org/officeDocument/2006/relationships/image" Target="../media/image207.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2.xml"/><Relationship Id="rId3" Type="http://schemas.openxmlformats.org/officeDocument/2006/relationships/image" Target="../media/image208.png"/><Relationship Id="rId4" Type="http://schemas.openxmlformats.org/officeDocument/2006/relationships/image" Target="../media/image209.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3.xml"/><Relationship Id="rId3" Type="http://schemas.openxmlformats.org/officeDocument/2006/relationships/image" Target="../media/image210.png"/><Relationship Id="rId4" Type="http://schemas.openxmlformats.org/officeDocument/2006/relationships/image" Target="../media/image211.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4.xml"/><Relationship Id="rId3" Type="http://schemas.openxmlformats.org/officeDocument/2006/relationships/image" Target="../media/image212.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5.xml"/><Relationship Id="rId3" Type="http://schemas.openxmlformats.org/officeDocument/2006/relationships/image" Target="../media/image213.png"/><Relationship Id="rId4" Type="http://schemas.openxmlformats.org/officeDocument/2006/relationships/image" Target="../media/image214.pn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7.xml"/><Relationship Id="rId3" Type="http://schemas.openxmlformats.org/officeDocument/2006/relationships/hyperlink" Target="https://github.com/leggedrobotics/traversability_estimation" TargetMode="External"/><Relationship Id="rId4" Type="http://schemas.openxmlformats.org/officeDocument/2006/relationships/hyperlink" Target="https://github.com/ETH-PBL/elmap-rl-controller" TargetMode="External"/><Relationship Id="rId5" Type="http://schemas.openxmlformats.org/officeDocument/2006/relationships/hyperlink" Target="https://github.com/jizhang-cmu/autonomy_stack_go2" TargetMode="External"/><Relationship Id="rId6" Type="http://schemas.openxmlformats.org/officeDocument/2006/relationships/hyperlink" Target="https://huggingface.co/datasets/leggedrobotics/grand_tour_dataset" TargetMode="External"/><Relationship Id="rId7" Type="http://schemas.openxmlformats.org/officeDocument/2006/relationships/image" Target="../media/image215.png"/></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8.xml"/><Relationship Id="rId3" Type="http://schemas.openxmlformats.org/officeDocument/2006/relationships/hyperlink" Target="https://pure.kaist.ac.kr/en/publications/learning-quadrupedal-locomotion-over-challenging-terrain/" TargetMode="External"/><Relationship Id="rId4" Type="http://schemas.openxmlformats.org/officeDocument/2006/relationships/hyperlink" Target="https://support.bostondynamics.com/s/article/About-the-Spot-Robot-72005" TargetMode="External"/><Relationship Id="rId5" Type="http://schemas.openxmlformats.org/officeDocument/2006/relationships/hyperlink" Target="https://www.anybotics.com/robotics/anymal/" TargetMode="External"/><Relationship Id="rId6" Type="http://schemas.openxmlformats.org/officeDocument/2006/relationships/hyperlink" Target="https://robostore.com/blogs/news/go2-edu-robot-advanced-sensors-4d-lidar-and-ai-computing-power-for-true-autonomy" TargetMode="External"/><Relationship Id="rId7" Type="http://schemas.openxmlformats.org/officeDocument/2006/relationships/hyperlink" Target="https://www.unitree.com/go2" TargetMode="External"/><Relationship Id="rId8" Type="http://schemas.openxmlformats.org/officeDocument/2006/relationships/hyperlink" Target="https://link.springer.com/article/10.1007/s10514-025-10202-x" TargetMode="External"/><Relationship Id="rId9" Type="http://schemas.openxmlformats.org/officeDocument/2006/relationships/hyperlink" Target="https://arxiv.org/abs/2501.00112" TargetMode="External"/><Relationship Id="rId10" Type="http://schemas.openxmlformats.org/officeDocument/2006/relationships/hyperlink" Target="https://arxiv.org/abs/2607.11204" TargetMode="External"/><Relationship Id="rId11" Type="http://schemas.openxmlformats.org/officeDocument/2006/relationships/hyperlink" Target="https://github.com/ETH-PBL/elmap-rl-controller" TargetMode="External"/><Relationship Id="rId12" Type="http://schemas.openxmlformats.org/officeDocument/2006/relationships/hyperlink" Target="https://github.com/jizhang-cmu/autonomy_stack_go2" TargetMode="External"/><Relationship Id="rId13" Type="http://schemas.openxmlformats.org/officeDocument/2006/relationships/hyperlink" Target="https://arxiv.org/abs/2201.08117" TargetMode="Externa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9.xml"/><Relationship Id="rId3" Type="http://schemas.openxmlformats.org/officeDocument/2006/relationships/image" Target="../media/image216.jp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0.xml"/><Relationship Id="rId3" Type="http://schemas.openxmlformats.org/officeDocument/2006/relationships/image" Target="../media/image217.png"/><Relationship Id="rId4" Type="http://schemas.openxmlformats.org/officeDocument/2006/relationships/image" Target="../media/image218.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1.xml"/><Relationship Id="rId3" Type="http://schemas.openxmlformats.org/officeDocument/2006/relationships/image" Target="../media/image219.png"/><Relationship Id="rId4" Type="http://schemas.openxmlformats.org/officeDocument/2006/relationships/image" Target="../media/image220.pn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2.xml"/><Relationship Id="rId3" Type="http://schemas.openxmlformats.org/officeDocument/2006/relationships/image" Target="../media/image221.png"/><Relationship Id="rId4" Type="http://schemas.openxmlformats.org/officeDocument/2006/relationships/image" Target="../media/image222.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3.xml"/><Relationship Id="rId3" Type="http://schemas.openxmlformats.org/officeDocument/2006/relationships/image" Target="../media/image223.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4.xml"/><Relationship Id="rId3" Type="http://schemas.openxmlformats.org/officeDocument/2006/relationships/image" Target="../media/image12.png"/></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5.xml"/><Relationship Id="rId3" Type="http://schemas.openxmlformats.org/officeDocument/2006/relationships/hyperlink" Target="https://arxiv.org/abs/2306.14874" TargetMode="Externa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6.xml"/><Relationship Id="rId3" Type="http://schemas.openxmlformats.org/officeDocument/2006/relationships/image" Target="../media/image224.jpg"/></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7.xml"/><Relationship Id="rId3" Type="http://schemas.openxmlformats.org/officeDocument/2006/relationships/image" Target="../media/image225.png"/></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8.xml"/><Relationship Id="rId3" Type="http://schemas.openxmlformats.org/officeDocument/2006/relationships/hyperlink" Target="https://arxiv.org/abs/2506.02835" TargetMode="Externa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9.xml"/><Relationship Id="rId3" Type="http://schemas.openxmlformats.org/officeDocument/2006/relationships/image" Target="../media/image226.jp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0.xml"/><Relationship Id="rId3" Type="http://schemas.openxmlformats.org/officeDocument/2006/relationships/image" Target="../media/image227.png"/></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1.xml"/><Relationship Id="rId3" Type="http://schemas.openxmlformats.org/officeDocument/2006/relationships/image" Target="../media/image228.png"/><Relationship Id="rId4" Type="http://schemas.openxmlformats.org/officeDocument/2006/relationships/image" Target="../media/image229.png"/></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2.xml"/><Relationship Id="rId3" Type="http://schemas.openxmlformats.org/officeDocument/2006/relationships/image" Target="../media/image230.png"/></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3.xml"/><Relationship Id="rId3" Type="http://schemas.openxmlformats.org/officeDocument/2006/relationships/hyperlink" Target="https://arxiv.org/abs/2409.19709" TargetMode="External"/><Relationship Id="rId4" Type="http://schemas.openxmlformats.org/officeDocument/2006/relationships/hyperlink" Target="https://dreamwaqpp.github.io/" TargetMode="External"/><Relationship Id="rId5" Type="http://schemas.openxmlformats.org/officeDocument/2006/relationships/hyperlink" Target="https://www.youtube.com/watch?v=IeBNRQsmKR4" TargetMode="External"/><Relationship Id="rId6" Type="http://schemas.openxmlformats.org/officeDocument/2006/relationships/hyperlink" Target="https://arxiv.org/abs/2306.12712" TargetMode="External"/><Relationship Id="rId7" Type="http://schemas.openxmlformats.org/officeDocument/2006/relationships/hyperlink" Target="https://arxiv.org/abs/2502.05817" TargetMode="External"/><Relationship Id="rId8" Type="http://schemas.openxmlformats.org/officeDocument/2006/relationships/hyperlink" Target="https://arxiv.org/abs/2603.05830" TargetMode="External"/><Relationship Id="rId9" Type="http://schemas.openxmlformats.org/officeDocument/2006/relationships/hyperlink" Target="https://openheart-icra.github.io/OpenHEART/" TargetMode="Externa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4.xml"/><Relationship Id="rId3" Type="http://schemas.openxmlformats.org/officeDocument/2006/relationships/image" Target="../media/image231.jpg"/><Relationship Id="rId4" Type="http://schemas.openxmlformats.org/officeDocument/2006/relationships/image" Target="../media/image232.jpg"/><Relationship Id="rId5" Type="http://schemas.openxmlformats.org/officeDocument/2006/relationships/image" Target="../media/image233.jpg"/></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5.xml"/><Relationship Id="rId3" Type="http://schemas.openxmlformats.org/officeDocument/2006/relationships/image" Target="../media/image234.jp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6.xml"/><Relationship Id="rId3" Type="http://schemas.openxmlformats.org/officeDocument/2006/relationships/image" Target="../media/image235.png"/></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7.xml"/><Relationship Id="rId3" Type="http://schemas.openxmlformats.org/officeDocument/2006/relationships/image" Target="../media/image236.png"/></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8.xml"/><Relationship Id="rId3" Type="http://schemas.openxmlformats.org/officeDocument/2006/relationships/image" Target="../media/image237.png"/></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9.xml"/><Relationship Id="rId3" Type="http://schemas.openxmlformats.org/officeDocument/2006/relationships/hyperlink" Target="https://arxiv.org/abs/2301.10602" TargetMode="External"/><Relationship Id="rId4" Type="http://schemas.openxmlformats.org/officeDocument/2006/relationships/image" Target="../media/image238.pn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0.xml"/><Relationship Id="rId3" Type="http://schemas.openxmlformats.org/officeDocument/2006/relationships/image" Target="../media/image239.png"/></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1.xml"/><Relationship Id="rId3" Type="http://schemas.openxmlformats.org/officeDocument/2006/relationships/image" Target="../media/image240.png"/></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2.xml"/><Relationship Id="rId3" Type="http://schemas.openxmlformats.org/officeDocument/2006/relationships/image" Target="../media/image241.png"/></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3.xml"/><Relationship Id="rId3" Type="http://schemas.openxmlformats.org/officeDocument/2006/relationships/image" Target="../media/image242.png"/><Relationship Id="rId4" Type="http://schemas.openxmlformats.org/officeDocument/2006/relationships/image" Target="../media/image243.png"/></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4.xml"/><Relationship Id="rId3" Type="http://schemas.openxmlformats.org/officeDocument/2006/relationships/image" Target="../media/image244.png"/></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5.xml"/><Relationship Id="rId3" Type="http://schemas.openxmlformats.org/officeDocument/2006/relationships/image" Target="../media/image245.png"/><Relationship Id="rId4" Type="http://schemas.openxmlformats.org/officeDocument/2006/relationships/image" Target="../media/image246.png"/><Relationship Id="rId5" Type="http://schemas.openxmlformats.org/officeDocument/2006/relationships/image" Target="../media/image247.png"/></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6.xml"/><Relationship Id="rId3" Type="http://schemas.openxmlformats.org/officeDocument/2006/relationships/image" Target="../media/image248.png"/><Relationship Id="rId4" Type="http://schemas.openxmlformats.org/officeDocument/2006/relationships/image" Target="../media/image249.png"/><Relationship Id="rId5" Type="http://schemas.openxmlformats.org/officeDocument/2006/relationships/image" Target="../media/image250.png"/></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7.xml"/><Relationship Id="rId3" Type="http://schemas.openxmlformats.org/officeDocument/2006/relationships/image" Target="../media/image251.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8.xml"/><Relationship Id="rId3" Type="http://schemas.openxmlformats.org/officeDocument/2006/relationships/hyperlink" Target="https://github.com/ANYbotics/elevation_mapping" TargetMode="External"/><Relationship Id="rId4" Type="http://schemas.openxmlformats.org/officeDocument/2006/relationships/hyperlink" Target="https://github.com/ANYbotics/grid_map" TargetMode="External"/><Relationship Id="rId5" Type="http://schemas.openxmlformats.org/officeDocument/2006/relationships/hyperlink" Target="https://github.com/leggedrobotics/traversability_estimation" TargetMode="External"/><Relationship Id="rId6" Type="http://schemas.openxmlformats.org/officeDocument/2006/relationships/hyperlink" Target="https://arxiv.org/abs/2204.12876" TargetMode="External"/><Relationship Id="rId7" Type="http://schemas.openxmlformats.org/officeDocument/2006/relationships/hyperlink" Target="https://github.com/leggedrobotics/wild_visual_navigation" TargetMode="Externa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9.xml"/><Relationship Id="rId3" Type="http://schemas.openxmlformats.org/officeDocument/2006/relationships/image" Target="../media/image252.png"/></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0.xml"/><Relationship Id="rId3" Type="http://schemas.openxmlformats.org/officeDocument/2006/relationships/image" Target="../media/image253.png"/></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2.xml"/><Relationship Id="rId3" Type="http://schemas.openxmlformats.org/officeDocument/2006/relationships/hyperlink" Target="https://huggingface.co/datasets/USC-GVL/humanoid-everyday" TargetMode="External"/><Relationship Id="rId4" Type="http://schemas.openxmlformats.org/officeDocument/2006/relationships/hyperlink" Target="https://huggingface.co/datasets/UniDataPro/egocentric-video" TargetMode="External"/><Relationship Id="rId5" Type="http://schemas.openxmlformats.org/officeDocument/2006/relationships/hyperlink" Target="https://arxiv.org/abs/2512.07464" TargetMode="External"/><Relationship Id="rId6" Type="http://schemas.openxmlformats.org/officeDocument/2006/relationships/hyperlink" Target="https://arxiv.org/abs/2510.07152" TargetMode="External"/><Relationship Id="rId7" Type="http://schemas.openxmlformats.org/officeDocument/2006/relationships/hyperlink" Target="https://arxiv.org/abs/2606.10288" TargetMode="External"/><Relationship Id="rId8" Type="http://schemas.openxmlformats.org/officeDocument/2006/relationships/hyperlink" Target="https://arxiv.org/abs/2502.10363" TargetMode="External"/><Relationship Id="rId9" Type="http://schemas.openxmlformats.org/officeDocument/2006/relationships/hyperlink" Target="https://arxiv.org/abs/2502.14814" TargetMode="Externa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3.xml"/><Relationship Id="rId3" Type="http://schemas.openxmlformats.org/officeDocument/2006/relationships/image" Target="../media/image254.jpg"/><Relationship Id="rId4" Type="http://schemas.openxmlformats.org/officeDocument/2006/relationships/image" Target="../media/image255.jpg"/><Relationship Id="rId5" Type="http://schemas.openxmlformats.org/officeDocument/2006/relationships/image" Target="../media/image256.jpg"/></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4.xml"/><Relationship Id="rId3" Type="http://schemas.openxmlformats.org/officeDocument/2006/relationships/image" Target="../media/image257.jpg"/></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5.xml"/><Relationship Id="rId3" Type="http://schemas.openxmlformats.org/officeDocument/2006/relationships/image" Target="../media/image258.png"/></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6.xml"/><Relationship Id="rId3" Type="http://schemas.openxmlformats.org/officeDocument/2006/relationships/image" Target="../media/image259.png"/></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7.xml"/><Relationship Id="rId3" Type="http://schemas.openxmlformats.org/officeDocument/2006/relationships/image" Target="../media/image260.png"/><Relationship Id="rId4" Type="http://schemas.openxmlformats.org/officeDocument/2006/relationships/image" Target="../media/image261.png"/></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8.xml"/><Relationship Id="rId3" Type="http://schemas.openxmlformats.org/officeDocument/2006/relationships/image" Target="../media/image262.png"/></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9.xml"/><Relationship Id="rId3" Type="http://schemas.openxmlformats.org/officeDocument/2006/relationships/image" Target="../media/image263.png"/></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0.xml"/><Relationship Id="rId3" Type="http://schemas.openxmlformats.org/officeDocument/2006/relationships/image" Target="../media/image264.png"/></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1.xml"/><Relationship Id="rId3" Type="http://schemas.openxmlformats.org/officeDocument/2006/relationships/image" Target="../media/image265.png"/></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2.xml"/><Relationship Id="rId3" Type="http://schemas.openxmlformats.org/officeDocument/2006/relationships/image" Target="../media/image266.png"/><Relationship Id="rId4" Type="http://schemas.openxmlformats.org/officeDocument/2006/relationships/image" Target="../media/image267.png"/><Relationship Id="rId5" Type="http://schemas.openxmlformats.org/officeDocument/2006/relationships/image" Target="../media/image268.png"/></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3.xml"/><Relationship Id="rId3" Type="http://schemas.openxmlformats.org/officeDocument/2006/relationships/image" Target="../media/image269.png"/><Relationship Id="rId4" Type="http://schemas.openxmlformats.org/officeDocument/2006/relationships/image" Target="../media/image270.png"/></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4.xml"/><Relationship Id="rId3" Type="http://schemas.openxmlformats.org/officeDocument/2006/relationships/image" Target="../media/image271.png"/></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5.xml"/><Relationship Id="rId3" Type="http://schemas.openxmlformats.org/officeDocument/2006/relationships/image" Target="../media/image272.png"/></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6.xml"/><Relationship Id="rId3" Type="http://schemas.openxmlformats.org/officeDocument/2006/relationships/hyperlink" Target="https://arxiv.org/abs/2609.09158" TargetMode="Externa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7.xml"/><Relationship Id="rId3" Type="http://schemas.openxmlformats.org/officeDocument/2006/relationships/image" Target="../media/image273.jpg"/></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8.xml"/><Relationship Id="rId3" Type="http://schemas.openxmlformats.org/officeDocument/2006/relationships/image" Target="../media/image274.png"/><Relationship Id="rId4" Type="http://schemas.openxmlformats.org/officeDocument/2006/relationships/image" Target="../media/image275.png"/><Relationship Id="rId5" Type="http://schemas.openxmlformats.org/officeDocument/2006/relationships/image" Target="../media/image276.png"/></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9.xml"/><Relationship Id="rId3" Type="http://schemas.openxmlformats.org/officeDocument/2006/relationships/image" Target="../media/image277.png"/></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0.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1.xml"/><Relationship Id="rId3" Type="http://schemas.openxmlformats.org/officeDocument/2006/relationships/hyperlink" Target="https://arxiv.org/abs/2507.20217" TargetMode="External"/><Relationship Id="rId4" Type="http://schemas.openxmlformats.org/officeDocument/2006/relationships/hyperlink" Target="https://humanoid-occupancy.github.io/" TargetMode="External"/><Relationship Id="rId5" Type="http://schemas.openxmlformats.org/officeDocument/2006/relationships/hyperlink" Target="https://arxiv.org/abs/2606.22971" TargetMode="Externa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2.xml"/><Relationship Id="rId3" Type="http://schemas.openxmlformats.org/officeDocument/2006/relationships/image" Target="../media/image278.jpg"/></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3.xml"/><Relationship Id="rId3" Type="http://schemas.openxmlformats.org/officeDocument/2006/relationships/image" Target="../media/image279.jpg"/></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4.xml"/><Relationship Id="rId3" Type="http://schemas.openxmlformats.org/officeDocument/2006/relationships/image" Target="../media/image280.png"/><Relationship Id="rId4" Type="http://schemas.openxmlformats.org/officeDocument/2006/relationships/image" Target="../media/image281.png"/></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5.xml"/><Relationship Id="rId3" Type="http://schemas.openxmlformats.org/officeDocument/2006/relationships/image" Target="../media/image282.png"/><Relationship Id="rId4" Type="http://schemas.openxmlformats.org/officeDocument/2006/relationships/image" Target="../media/image283.png"/><Relationship Id="rId5" Type="http://schemas.openxmlformats.org/officeDocument/2006/relationships/image" Target="../media/image284.png"/></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6.xml"/><Relationship Id="rId3" Type="http://schemas.openxmlformats.org/officeDocument/2006/relationships/hyperlink" Target="https://www.figure.ai/news/introducing-figure-03" TargetMode="External"/><Relationship Id="rId4" Type="http://schemas.openxmlformats.org/officeDocument/2006/relationships/hyperlink" Target="https://bostondynamics.com/blog/making-atlas-see-the-world/" TargetMode="External"/><Relationship Id="rId5" Type="http://schemas.openxmlformats.org/officeDocument/2006/relationships/hyperlink" Target="https://github.com/smoggy-P/elevation_mapping_humanoid" TargetMode="External"/><Relationship Id="rId6" Type="http://schemas.openxmlformats.org/officeDocument/2006/relationships/hyperlink" Target="https://github.com/wdc3iii/height_mapping" TargetMode="External"/><Relationship Id="rId7" Type="http://schemas.openxmlformats.org/officeDocument/2006/relationships/hyperlink" Target="https://github.com/leggedrobotics/elevation_mapping_cupy" TargetMode="Externa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7.xml"/><Relationship Id="rId3" Type="http://schemas.openxmlformats.org/officeDocument/2006/relationships/image" Target="../media/image285.png"/></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8.xml"/><Relationship Id="rId3" Type="http://schemas.openxmlformats.org/officeDocument/2006/relationships/image" Target="../media/image286.jpg"/></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9.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0.xml"/><Relationship Id="rId3" Type="http://schemas.openxmlformats.org/officeDocument/2006/relationships/image" Target="../media/image287.png"/></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1.xml"/><Relationship Id="rId3" Type="http://schemas.openxmlformats.org/officeDocument/2006/relationships/hyperlink" Target="https://www.figure.ai/news/introducing-figure-03" TargetMode="External"/><Relationship Id="rId4" Type="http://schemas.openxmlformats.org/officeDocument/2006/relationships/hyperlink" Target="https://flexion.ai/news/flexion-reflect-v1.0" TargetMode="External"/><Relationship Id="rId5" Type="http://schemas.openxmlformats.org/officeDocument/2006/relationships/hyperlink" Target="https://www.realsenseai.com/news-insights/news/realsense-unveils-first-of-its-kind-humanoid-autonomous-navigation-at-nvidia-gtc/" TargetMode="External"/><Relationship Id="rId6" Type="http://schemas.openxmlformats.org/officeDocument/2006/relationships/hyperlink" Target="https://www.1x.tech/discover/neo-factory" TargetMode="External"/><Relationship Id="rId7" Type="http://schemas.openxmlformats.org/officeDocument/2006/relationships/hyperlink" Target="https://github.com/unitreerobotics" TargetMode="External"/><Relationship Id="rId8" Type="http://schemas.openxmlformats.org/officeDocument/2006/relationships/hyperlink" Target="https://bostondynamics.com/blog/making-atlas-see-the-world/" TargetMode="External"/><Relationship Id="rId9" Type="http://schemas.openxmlformats.org/officeDocument/2006/relationships/hyperlink" Target="https://arxiv.org/abs/2507.20217" TargetMode="External"/><Relationship Id="rId10" Type="http://schemas.openxmlformats.org/officeDocument/2006/relationships/hyperlink" Target="https://arxiv.org/abs/2606.22971" TargetMode="External"/><Relationship Id="rId11" Type="http://schemas.openxmlformats.org/officeDocument/2006/relationships/hyperlink" Target="https://arxiv.org/abs/2609.09158" TargetMode="External"/><Relationship Id="rId12" Type="http://schemas.openxmlformats.org/officeDocument/2006/relationships/hyperlink" Target="https://arxiv.org/abs/2510.07152" TargetMode="External"/><Relationship Id="rId13" Type="http://schemas.openxmlformats.org/officeDocument/2006/relationships/hyperlink" Target="https://arxiv.org/abs/2512.07464" TargetMode="External"/><Relationship Id="rId14" Type="http://schemas.openxmlformats.org/officeDocument/2006/relationships/hyperlink" Target="https://github.com/smoggy-P/elevation_mapping_humanoid" TargetMode="External"/><Relationship Id="rId15" Type="http://schemas.openxmlformats.org/officeDocument/2006/relationships/hyperlink" Target="https://arxiv.org/abs/2603.07928" TargetMode="External"/><Relationship Id="rId16" Type="http://schemas.openxmlformats.org/officeDocument/2006/relationships/hyperlink" Target="https://arxiv.org/abs/2510.12346" TargetMode="Externa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3.xml"/><Relationship Id="rId3" Type="http://schemas.openxmlformats.org/officeDocument/2006/relationships/hyperlink" Target="https://www.figure.ai/news/project-go-big" TargetMode="External"/><Relationship Id="rId4" Type="http://schemas.openxmlformats.org/officeDocument/2006/relationships/hyperlink" Target="https://www.figure.ai/news/helix-2-5-zero-shot-30-home-generalization" TargetMode="External"/><Relationship Id="rId5" Type="http://schemas.openxmlformats.org/officeDocument/2006/relationships/hyperlink" Target="https://www.figure.ai/news/introducing-figure-03" TargetMode="External"/><Relationship Id="rId6" Type="http://schemas.openxmlformats.org/officeDocument/2006/relationships/hyperlink" Target="https://www.sunday.ai/blog/no-robot-data" TargetMode="External"/><Relationship Id="rId7" Type="http://schemas.openxmlformats.org/officeDocument/2006/relationships/hyperlink" Target="https://flexion.ai/news/flexion-reflect-v1.0" TargetMode="External"/><Relationship Id="rId8" Type="http://schemas.openxmlformats.org/officeDocument/2006/relationships/hyperlink" Target="https://flexion.ai/news/flexion-raises-50m-to-build-the-brain-of-humanoid-robots-at-scale" TargetMode="External"/><Relationship Id="rId9" Type="http://schemas.openxmlformats.org/officeDocument/2006/relationships/hyperlink" Target="https://www.dyna.co/dyna-2.1" TargetMode="Externa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4.xml"/><Relationship Id="rId3" Type="http://schemas.openxmlformats.org/officeDocument/2006/relationships/hyperlink" Target="https://flexion.ai/news/niantic-spatial-flexion-and-nvidia-closing-the-sim2real-gap-for-humanoids" TargetMode="External"/><Relationship Id="rId4" Type="http://schemas.openxmlformats.org/officeDocument/2006/relationships/hyperlink" Target="https://www.youtube.com/watch?v=1XtBPY4i780" TargetMode="External"/><Relationship Id="rId5" Type="http://schemas.openxmlformats.org/officeDocument/2006/relationships/hyperlink" Target="https://www.realsenseai.com/news-insights/news/realsense-unveils-first-of-its-kind-humanoid-autonomous-navigation-at-nvidia-gtc/" TargetMode="External"/><Relationship Id="rId6" Type="http://schemas.openxmlformats.org/officeDocument/2006/relationships/hyperlink" Target="https://www.realsenseai.com/news-insights/insights/advancing-autonomous-humanoid-navigation-with-realsense-depth-cameras-and-nvidia-cuvslam/" TargetMode="Externa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5.xml"/><Relationship Id="rId3" Type="http://schemas.openxmlformats.org/officeDocument/2006/relationships/hyperlink" Target="https://arxiv.org/abs/2603.07928" TargetMode="Externa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6.xml"/><Relationship Id="rId3" Type="http://schemas.openxmlformats.org/officeDocument/2006/relationships/image" Target="../media/image288.jpg"/></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7.xml"/><Relationship Id="rId3" Type="http://schemas.openxmlformats.org/officeDocument/2006/relationships/image" Target="../media/image289.png"/><Relationship Id="rId4" Type="http://schemas.openxmlformats.org/officeDocument/2006/relationships/image" Target="../media/image290.png"/><Relationship Id="rId5" Type="http://schemas.openxmlformats.org/officeDocument/2006/relationships/image" Target="../media/image291.png"/></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8.xml"/><Relationship Id="rId3" Type="http://schemas.openxmlformats.org/officeDocument/2006/relationships/image" Target="../media/image292.png"/></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9.xml"/><Relationship Id="rId3" Type="http://schemas.openxmlformats.org/officeDocument/2006/relationships/hyperlink" Target="https://arxiv.org/abs/2510.12346" TargetMode="Externa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0.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1.xml"/><Relationship Id="rId3" Type="http://schemas.openxmlformats.org/officeDocument/2006/relationships/hyperlink" Target="https://arxiv.org/abs/2503.00692" TargetMode="Externa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2.xml"/><Relationship Id="rId3" Type="http://schemas.openxmlformats.org/officeDocument/2006/relationships/hyperlink" Target="https://doi.org/10.1109/IROS60139.2025.11247685" TargetMode="Externa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3.xml"/><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4.xml"/><Relationship Id="rId3" Type="http://schemas.openxmlformats.org/officeDocument/2006/relationships/hyperlink" Target="https://arxiv.org/abs/2607.13472" TargetMode="External"/><Relationship Id="rId4" Type="http://schemas.openxmlformats.org/officeDocument/2006/relationships/hyperlink" Target="https://egohtr.github.io/" TargetMode="External"/><Relationship Id="rId5" Type="http://schemas.openxmlformats.org/officeDocument/2006/relationships/hyperlink" Target="https://huggingface.co/datasets/leggedrobotics/egohtr" TargetMode="Externa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5.xml"/><Relationship Id="rId3" Type="http://schemas.openxmlformats.org/officeDocument/2006/relationships/image" Target="../media/image296.jpg"/></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6.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7.xml"/><Relationship Id="rId3" Type="http://schemas.openxmlformats.org/officeDocument/2006/relationships/hyperlink" Target="https://github.com/jizhang-cmu/autonomy_stack_mecanum_wheel_platform" TargetMode="Externa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8.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9.xml"/><Relationship Id="rId3" Type="http://schemas.openxmlformats.org/officeDocument/2006/relationships/image" Target="../media/image297.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762000"/>
            <a:ext cx="10972800" cy="1905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travplan 리서치 · 인식</a:t>
            </a:r>
          </a:p>
        </p:txBody>
      </p:sp>
      <p:sp>
        <p:nvSpPr>
          <p:cNvPr id="3" name="TextBox 2"/>
          <p:cNvSpPr txBox="1"/>
          <p:nvPr/>
        </p:nvSpPr>
        <p:spPr>
          <a:xfrm>
            <a:off x="609600" y="1079500"/>
            <a:ext cx="10972800" cy="1270000"/>
          </a:xfrm>
          <a:prstGeom prst="rect">
            <a:avLst/>
          </a:prstGeom>
          <a:noFill/>
        </p:spPr>
        <p:txBody>
          <a:bodyPr wrap="square" lIns="0" rIns="0" tIns="0" bIns="0" anchor="t">
            <a:spAutoFit/>
            <a:normAutofit/>
          </a:bodyPr>
          <a:lstStyle/>
          <a:p>
            <a:r>
              <a:rPr sz="3050" b="1" i="0">
                <a:solidFill>
                  <a:srgbClr val="F4F1EA"/>
                </a:solidFill>
                <a:latin typeface="Arial"/>
                <a:ea typeface="Malgun Gothic"/>
                <a:cs typeface="Malgun Gothic"/>
              </a:rPr>
              <a:t>인식 — 지형·장애물을 TravMap으로 (§A)</a:t>
            </a:r>
          </a:p>
        </p:txBody>
      </p:sp>
      <p:sp>
        <p:nvSpPr>
          <p:cNvPr id="4" name="TextBox 3"/>
          <p:cNvSpPr txBox="1"/>
          <p:nvPr/>
        </p:nvSpPr>
        <p:spPr>
          <a:xfrm>
            <a:off x="609600" y="2540000"/>
            <a:ext cx="9525000" cy="1270000"/>
          </a:xfrm>
          <a:prstGeom prst="rect">
            <a:avLst/>
          </a:prstGeom>
          <a:noFill/>
        </p:spPr>
        <p:txBody>
          <a:bodyPr wrap="square" lIns="0" rIns="0" tIns="0" bIns="0" anchor="t">
            <a:spAutoFit/>
            <a:normAutofit/>
          </a:bodyPr>
          <a:lstStyle/>
          <a:p>
            <a:r>
              <a:rPr sz="1250" b="0" i="0">
                <a:solidFill>
                  <a:srgbClr val="C9D1E0"/>
                </a:solidFill>
                <a:latin typeface="Arial"/>
                <a:ea typeface="Malgun Gothic"/>
                <a:cs typeface="Malgun Gothic"/>
              </a:rPr>
              <a:t>인식 문서 · 탭 7개</a:t>
            </a:r>
          </a:p>
          <a:p>
            <a:r>
              <a:rPr sz="1250" b="0" i="0">
                <a:solidFill>
                  <a:srgbClr val="C9D1E0"/>
                </a:solidFill>
                <a:latin typeface="Arial"/>
                <a:ea typeface="Malgun Gothic"/>
                <a:cs typeface="Malgun Gothic"/>
              </a:rPr>
              <a:t>지형 지도·Occupancy · 작업 기록 · Traversability · 시각 기반 모델 · 동적 장애물 · 예측·World model · 보행 로봇</a:t>
            </a:r>
          </a:p>
        </p:txBody>
      </p:sp>
      <p:sp>
        <p:nvSpPr>
          <p:cNvPr id="5" name="TextBox 4"/>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인식 (docs/research-perception.md)    1 / 359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인식 — 지형·장애물을 TravMap으로 (§A)</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인식은 센서 관측을 TravMap[8,H,W]과 동적 장애물 목록으로 바꾸는 일이다.</a:t>
            </a:r>
            <a:r>
              <a:rPr sz="1050" b="0" i="0">
                <a:solidFill>
                  <a:srgbClr val="16213A"/>
                </a:solidFill>
                <a:latin typeface="Arial"/>
                <a:ea typeface="Malgun Gothic"/>
                <a:cs typeface="Malgun Gothic"/>
              </a:rPr>
              <a:t> 이 문서는 여섯 탭으로 나뉜다. 앞의 네 탭(지형 지도, traversability, 시각 기반 모델, 동적 장애물)이 travplan 파이프라인에 직접 들어가는 부분이고, 뒤의 두 탭(예측·world model, 보행 로봇)은 다른 로봇 분야에서 가져올 설계 참고다.</a:t>
            </a:r>
          </a:p>
        </p:txBody>
      </p:sp>
      <p:graphicFrame>
        <p:nvGraphicFramePr>
          <p:cNvPr id="6" name="Table 5"/>
          <p:cNvGraphicFramePr>
            <a:graphicFrameLocks noGrp="1"/>
          </p:cNvGraphicFramePr>
          <p:nvPr/>
        </p:nvGraphicFramePr>
        <p:xfrm>
          <a:off x="609600" y="1766491"/>
          <a:ext cx="10966450" cy="1379616"/>
        </p:xfrm>
        <a:graphic>
          <a:graphicData uri="http://schemas.openxmlformats.org/drawingml/2006/table">
            <a:tbl>
              <a:tblPr firstRow="1" bandRow="1">
                <a:tableStyleId>{5C22544A-7EE6-4342-B048-85BDC9FD1C3A}</a:tableStyleId>
              </a:tblPr>
              <a:tblGrid>
                <a:gridCol w="1274465"/>
                <a:gridCol w="6280944"/>
                <a:gridCol w="614759"/>
                <a:gridCol w="2796282"/>
              </a:tblGrid>
              <a:tr h="197088">
                <a:tc>
                  <a:txBody>
                    <a:bodyPr wrap="square"/>
                    <a:lstStyle/>
                    <a:p>
                      <a:r>
                        <a:rPr sz="800" b="1" i="0">
                          <a:solidFill>
                            <a:srgbClr val="F4F1EA"/>
                          </a:solidFill>
                          <a:latin typeface="Arial"/>
                          <a:ea typeface="Malgun Gothic"/>
                          <a:cs typeface="Malgun Gothic"/>
                        </a:rPr>
                        <a:t>탭</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다루는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travplan과의 관계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지형 지도·Occupancy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자동차 occupancy 계보, 로봇 elevation mapping 계보, 보도·다리 로봇용 최신 연구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A.1–A.5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P2.1에서 elevation mapping 계열 채택</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Traversability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사람 라벨에서 자기지도로, 다시 기반 모델과 VLM으로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TravNet 자기지도(TP-0010, TP-0022)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시각 기반 모델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DINO, Depth Anything, SAM, Grounding DINO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라벨 교사, 영상 백본 후보</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동적 장애물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검출, 추적, 궤적 예측, 로봇 기준 3D·BEV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PoC(TP-0011), </a:t>
                      </a:r>
                      <a:r>
                        <a:rPr sz="800" b="0" i="0">
                          <a:solidFill>
                            <a:srgbClr val="16213A"/>
                          </a:solidFill>
                          <a:latin typeface="Consolas"/>
                          <a:ea typeface="Malgun Gothic"/>
                          <a:cs typeface="Malgun Gothic"/>
                        </a:rPr>
                        <a:t>DynamicObstacles</a:t>
                      </a:r>
                      <a:r>
                        <a:rPr sz="800" b="0" i="0">
                          <a:solidFill>
                            <a:srgbClr val="16213A"/>
                          </a:solidFill>
                          <a:latin typeface="Arial"/>
                          <a:ea typeface="Malgun Gothic"/>
                          <a:cs typeface="Malgun Gothic"/>
                        </a:rPr>
                        <a:t>, TP-0028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예측·World model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occupancy flow, 자율주행 world model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미래 TravMap 예측(장기 과제)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보행 로봇</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4족·휴머노이드의 인식, 산업 스택(Figure·Sunday·Flexion·LimX), LiDAR 높이 지도 휴머노이드, 폼팩터 비교, CMU 지형 분석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A.7–A.9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WVN 등 참고 구현, 3DGS 현장 복제, 바퀴형 비교 기준</a:t>
                      </a:r>
                    </a:p>
                  </a:txBody>
                  <a:tcPr marL="63500" marR="63500" marT="12700" marB="12700">
                    <a:solidFill>
                      <a:srgbClr val="F3F0E8"/>
                    </a:solidFill>
                  </a:tcPr>
                </a:tc>
              </a:tr>
            </a:tbl>
          </a:graphicData>
        </a:graphic>
      </p:graphicFrame>
      <p:sp>
        <p:nvSpPr>
          <p:cNvPr id="7" name="TextBox 6"/>
          <p:cNvSpPr txBox="1"/>
          <p:nvPr/>
        </p:nvSpPr>
        <p:spPr>
          <a:xfrm>
            <a:off x="609600" y="35862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계보 한눈에 보기.</a:t>
            </a:r>
            <a:r>
              <a:rPr sz="1050" b="0" i="0">
                <a:solidFill>
                  <a:srgbClr val="16213A"/>
                </a:solidFill>
                <a:latin typeface="Arial"/>
                <a:ea typeface="Malgun Gothic"/>
                <a:cs typeface="Malgun Gothic"/>
              </a:rPr>
              <a:t> 네 줄기가 거의 같은 시기에 "사람 라벨 없이, 큰 모델로"라는 방향으로 움직였다. 각 이름의 설명은 해당 탭에 있다.</a:t>
            </a:r>
          </a:p>
        </p:txBody>
      </p:sp>
      <p:graphicFrame>
        <p:nvGraphicFramePr>
          <p:cNvPr id="8" name="Table 7"/>
          <p:cNvGraphicFramePr>
            <a:graphicFrameLocks noGrp="1"/>
          </p:cNvGraphicFramePr>
          <p:nvPr/>
        </p:nvGraphicFramePr>
        <p:xfrm>
          <a:off x="609600" y="3891657"/>
          <a:ext cx="10966450" cy="1576704"/>
        </p:xfrm>
        <a:graphic>
          <a:graphicData uri="http://schemas.openxmlformats.org/drawingml/2006/table">
            <a:tbl>
              <a:tblPr firstRow="1" bandRow="1">
                <a:tableStyleId>{5C22544A-7EE6-4342-B048-85BDC9FD1C3A}</a:tableStyleId>
              </a:tblPr>
              <a:tblGrid>
                <a:gridCol w="851198"/>
                <a:gridCol w="3637657"/>
                <a:gridCol w="1975346"/>
                <a:gridCol w="2070596"/>
                <a:gridCol w="2431653"/>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지형 지도·Occupancy</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Traversability</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시각 기반 모델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동적 장애물</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2014–2018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Robot-centric elevation mapping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Social GAN</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Lift-Splat-Shoot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RELLIS-3D, BADGR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Constant Velocity Model, Trajectron++</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2021–2022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BEVFormer, BEVFusion, MonoScene, elevation_mapping_cupy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TerraPN, How Does It Feel?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AgentFormer, MID, ByteTrack, BoT-SORT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TPVFormer, Occ3D, SurroundOcc, FlashOcc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WVN, STERLING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DINOv2, Grounding DINO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RT-DETR, LED</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SparseOcc, GaussianFormer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V-STRONG, RoadRunner, SALON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Depth Anything V2, SAM 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YOLOv10, D-FINE, SingularTrajectory</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GaussianFormer-2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DINOv3, Depth Anything 3, SAM 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RF-DETR, MoFlow</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WalkOCC 등 보도·다리 로봇용 단안 occupancy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ViTA, CATNAV, PIVOT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bl>
          </a:graphicData>
        </a:graphic>
      </p:graphicFrame>
      <p:sp>
        <p:nvSpPr>
          <p:cNvPr id="9" name="TextBox 8"/>
          <p:cNvSpPr txBox="1"/>
          <p:nvPr/>
        </p:nvSpPr>
        <p:spPr>
          <a:xfrm>
            <a:off x="609600" y="595778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공개 코드와 모델.</a:t>
            </a:r>
            <a:r>
              <a:rPr sz="1050" b="0" i="0">
                <a:solidFill>
                  <a:srgbClr val="16213A"/>
                </a:solidFill>
                <a:latin typeface="Arial"/>
                <a:ea typeface="Malgun Gothic"/>
                <a:cs typeface="Malgun Gothic"/>
              </a:rPr>
              <a:t> 인식 분야에서 많이 쓰이는 저장소를 GitHub 별 순으로 모았다(2026-09). HF 다운로드는 대표 가중치의 최근 30일 값이다. 라이선스 열은 제품에 넣을 수 있는지를 가른다.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인식 — 지형·장애물을 TravMap으로 (§A)</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 / 359</a:t>
            </a:r>
          </a:p>
        </p:txBody>
      </p:sp>
      <p:graphicFrame>
        <p:nvGraphicFramePr>
          <p:cNvPr id="5" name="Table 4"/>
          <p:cNvGraphicFramePr>
            <a:graphicFrameLocks noGrp="1"/>
          </p:cNvGraphicFramePr>
          <p:nvPr/>
        </p:nvGraphicFramePr>
        <p:xfrm>
          <a:off x="609600" y="1244600"/>
          <a:ext cx="10966450" cy="3744672"/>
        </p:xfrm>
        <a:graphic>
          <a:graphicData uri="http://schemas.openxmlformats.org/drawingml/2006/table">
            <a:tbl>
              <a:tblPr firstRow="1" bandRow="1">
                <a:tableStyleId>{5C22544A-7EE6-4342-B048-85BDC9FD1C3A}</a:tableStyleId>
              </a:tblPr>
              <a:tblGrid>
                <a:gridCol w="545604"/>
                <a:gridCol w="2507059"/>
                <a:gridCol w="826294"/>
                <a:gridCol w="1834158"/>
                <a:gridCol w="2392362"/>
                <a:gridCol w="2860973"/>
              </a:tblGrid>
              <a:tr h="197088">
                <a:tc>
                  <a:txBody>
                    <a:bodyPr wrap="square"/>
                    <a:lstStyle/>
                    <a:p>
                      <a:r>
                        <a:rPr sz="800" b="1" i="0">
                          <a:solidFill>
                            <a:srgbClr val="F4F1EA"/>
                          </a:solidFill>
                          <a:latin typeface="Arial"/>
                          <a:ea typeface="Malgun Gothic"/>
                          <a:cs typeface="Malgun Gothic"/>
                        </a:rPr>
                        <a:t>분야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HF 다운로드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검출</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Ultralytics YOLO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62.0k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0.02M (YOLO26)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AGPL-3.0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PoC가 사용, 제품 경로에서 교체(A.12)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분할</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SAM 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19.9k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0.12M (2.1-large)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라벨 교사 후보</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특징</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DINOv2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13.4k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2.87M (base)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영상 백본 후보</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분할</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SAM 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11.8k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2.10M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자체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연구 비교</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특징</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DINOv3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11.4k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0.61M (ViT-B)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연구 비교</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검출</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YOLOv10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11.3k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AGPL-3.0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쓰지 않음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검출</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Grounding DINO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10.6k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1.41M (base)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자동 라벨 후보</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검출</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RF-DETR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9.6k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0.04M (base)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YOLO 대체 후보</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깊이</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Depth Anything V2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8.9k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2.76M (Small)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Small만 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단안 깊이 후보</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추적</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ByteTrack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6.7k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PoC가 사용</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깊이</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Depth Anything 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6.4k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0.29M (Metric-Large)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Apache-2.0(L, Metric, Mono)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단안 깊이 후보</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검출</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RT-DETR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5.6k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0.52M (v2 R18)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YOLO 대체 후보</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지도</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BEVFormer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4.6k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채택하지 않음(A.2)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검출</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D-FINE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3.3k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0.01M (nano)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YOLO 대체 후보</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지도</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ANYbotics elevation_mapping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1.9k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BSD-3-Clause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계보의 원형</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추적</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BoT-SORT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1.6k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다음 개선 후보</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지도</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elevation_mapping_cupy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1.1k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P2.1에서 채택(포크)</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예측</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20"/>
                        </a:rPr>
                        <a:t>Trajectron++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0.8k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TP-0028과 함께 검토</a:t>
                      </a:r>
                    </a:p>
                  </a:txBody>
                  <a:tcPr marL="63500" marR="63500" marT="12700" marB="12700">
                    <a:solidFill>
                      <a:srgbClr val="F3F0E8"/>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인식 — 지형·장애물을 TravMap으로 (§A)</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4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travplan의 위치.</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travplan 인식은 기하 지도, 경험으로 고친 비용, 카메라 동적 장애물의 세 줄기다.</a:t>
            </a:r>
            <a:r>
              <a:rPr sz="1050" b="0" i="0">
                <a:solidFill>
                  <a:srgbClr val="16213A"/>
                </a:solidFill>
                <a:latin typeface="Arial"/>
                <a:ea typeface="Malgun Gothic"/>
                <a:cs typeface="Malgun Gothic"/>
              </a:rPr>
              <a:t> 지형은 깊이 카메라와 LiDAR 점군을 elevation mapping(A.2b)으로 합친 높이 지도에서 TravMap 기하 채널을 계산한다. 비용은 기하 규칙에서 시작해 TravNet 자기지도(A.10)로 고친다. 보행자는 카메라 검출과 추적(A.12)으로 </a:t>
            </a:r>
            <a:r>
              <a:rPr sz="1050" b="0" i="0">
                <a:solidFill>
                  <a:srgbClr val="16213A"/>
                </a:solidFill>
                <a:latin typeface="Consolas"/>
                <a:ea typeface="Malgun Gothic"/>
                <a:cs typeface="Malgun Gothic"/>
              </a:rPr>
              <a:t>DynamicObstacles</a:t>
            </a:r>
            <a:r>
              <a:rPr sz="1050" b="0" i="0">
                <a:solidFill>
                  <a:srgbClr val="16213A"/>
                </a:solidFill>
                <a:latin typeface="Arial"/>
                <a:ea typeface="Malgun Gothic"/>
                <a:cs typeface="Malgun Gothic"/>
              </a:rPr>
              <a:t>를 만든다. 시각 기반 모델(A.11)은 라벨을 만드는 교사로 쓰고, 자동차 occupancy(A.2)와 world model(A.6)은 표현 설계의 참고로 쓴다.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인식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지형 지도·Occupancy</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인식 (docs/research-perception.md)    5 / 359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A. Occupancy Network — 지형·장애물 인식</a:t>
            </a:r>
          </a:p>
          <a:p>
            <a:pPr>
              <a:spcAft>
                <a:spcPts val="400"/>
              </a:spcAft>
            </a:pPr>
            <a:r>
              <a:rPr sz="1000" b="0" i="0">
                <a:solidFill>
                  <a:srgbClr val="C9D1E0"/>
                </a:solidFill>
                <a:latin typeface="Arial"/>
                <a:ea typeface="Malgun Gothic"/>
                <a:cs typeface="Malgun Gothic"/>
              </a:rPr>
              <a:t>A.1 개념: Occupancy Network가 하는 일</a:t>
            </a:r>
          </a:p>
          <a:p>
            <a:pPr>
              <a:spcAft>
                <a:spcPts val="400"/>
              </a:spcAft>
            </a:pPr>
            <a:r>
              <a:rPr sz="1000" b="0" i="0">
                <a:solidFill>
                  <a:srgbClr val="C9D1E0"/>
                </a:solidFill>
                <a:latin typeface="Arial"/>
                <a:ea typeface="Malgun Gothic"/>
                <a:cs typeface="Malgun Gothic"/>
              </a:rPr>
              <a:t>A.2 자동차 도메인 계보 — 채택하지 않지만 알아야 할 마일스톤</a:t>
            </a:r>
          </a:p>
          <a:p>
            <a:pPr>
              <a:spcAft>
                <a:spcPts val="400"/>
              </a:spcAft>
            </a:pPr>
            <a:r>
              <a:rPr sz="1000" b="0" i="0">
                <a:solidFill>
                  <a:srgbClr val="C9D1E0"/>
                </a:solidFill>
                <a:latin typeface="Arial"/>
                <a:ea typeface="Malgun Gothic"/>
                <a:cs typeface="Malgun Gothic"/>
              </a:rPr>
              <a:t>A.2b 로봇 지형 지도의 계보 — travplan이 쓰는 쪽</a:t>
            </a:r>
          </a:p>
          <a:p>
            <a:pPr>
              <a:spcAft>
                <a:spcPts val="400"/>
              </a:spcAft>
            </a:pPr>
            <a:r>
              <a:rPr sz="1000" b="0" i="0">
                <a:solidFill>
                  <a:srgbClr val="C9D1E0"/>
                </a:solidFill>
                <a:latin typeface="Arial"/>
                <a:ea typeface="Malgun Gothic"/>
                <a:cs typeface="Malgun Gothic"/>
              </a:rPr>
              <a:t>A.2c 고전 점유 격자와 거리장 — 드론 계열이 20년 판 자리</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A.3 보도·다리 로봇용 최신 연구 (2025–2026)</a:t>
            </a:r>
          </a:p>
          <a:p>
            <a:pPr>
              <a:spcAft>
                <a:spcPts val="400"/>
              </a:spcAft>
            </a:pPr>
            <a:r>
              <a:rPr sz="1000" b="0" i="0">
                <a:solidFill>
                  <a:srgbClr val="C9D1E0"/>
                </a:solidFill>
                <a:latin typeface="Arial"/>
                <a:ea typeface="Malgun Gothic"/>
                <a:cs typeface="Malgun Gothic"/>
              </a:rPr>
              <a:t>A.3b 폼팩터별 최신 연구 — 바퀴·4족·휴머노이드 (2026)</a:t>
            </a:r>
          </a:p>
          <a:p>
            <a:pPr>
              <a:spcAft>
                <a:spcPts val="400"/>
              </a:spcAft>
            </a:pPr>
            <a:r>
              <a:rPr sz="1000" b="0" i="0">
                <a:solidFill>
                  <a:srgbClr val="C9D1E0"/>
                </a:solidFill>
                <a:latin typeface="Arial"/>
                <a:ea typeface="Malgun Gothic"/>
                <a:cs typeface="Malgun Gothic"/>
              </a:rPr>
              <a:t>A.3c 검증된 오픈소스 색인 (2026-09-30 gh api 확인)</a:t>
            </a:r>
          </a:p>
          <a:p>
            <a:pPr>
              <a:spcAft>
                <a:spcPts val="400"/>
              </a:spcAft>
            </a:pPr>
            <a:r>
              <a:rPr sz="1000" b="0" i="0">
                <a:solidFill>
                  <a:srgbClr val="C9D1E0"/>
                </a:solidFill>
                <a:latin typeface="Arial"/>
                <a:ea typeface="Malgun Gothic"/>
                <a:cs typeface="Malgun Gothic"/>
              </a:rPr>
              <a:t>A.4 공개 모델·데이터셋 현황</a:t>
            </a:r>
          </a:p>
          <a:p>
            <a:pPr>
              <a:spcAft>
                <a:spcPts val="400"/>
              </a:spcAft>
            </a:pPr>
            <a:r>
              <a:rPr sz="1000" b="0" i="0">
                <a:solidFill>
                  <a:srgbClr val="C9D1E0"/>
                </a:solidFill>
                <a:latin typeface="Arial"/>
                <a:ea typeface="Malgun Gothic"/>
                <a:cs typeface="Malgun Gothic"/>
              </a:rPr>
              <a:t>A.5 비교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 개념: Occupancy Network가 하는 일</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6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Occupancy Network는 센서 관측을 "공간의 각 칸이 차 있는가"를 담은 3D 격자로 바꾼다. 흐름은 네 단계다.</a:t>
            </a:r>
          </a:p>
        </p:txBody>
      </p:sp>
      <p:sp>
        <p:nvSpPr>
          <p:cNvPr id="6" name="TextBox 5"/>
          <p:cNvSpPr txBox="1"/>
          <p:nvPr/>
        </p:nvSpPr>
        <p:spPr>
          <a:xfrm>
            <a:off x="609600" y="1549995"/>
            <a:ext cx="10972800" cy="1650206"/>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카메라/LiDAR 원시 데이터 (여러 시점·시각의 2D 관측)</a:t>
            </a:r>
          </a:p>
          <a:p>
            <a:r>
              <a:rPr sz="750" b="0" i="0">
                <a:solidFill>
                  <a:srgbClr val="F4F1EA"/>
                </a:solidFill>
                <a:latin typeface="Consolas"/>
                <a:ea typeface="Malgun Gothic"/>
                <a:cs typeface="Malgun Gothic"/>
              </a:rPr>
              <a:t>   ▼</a:t>
            </a:r>
          </a:p>
          <a:p>
            <a:r>
              <a:rPr sz="750" b="0" i="0">
                <a:solidFill>
                  <a:srgbClr val="F4F1EA"/>
                </a:solidFill>
                <a:latin typeface="Consolas"/>
                <a:ea typeface="Malgun Gothic"/>
                <a:cs typeface="Malgun Gothic"/>
              </a:rPr>
              <a:t>[백본]   이미지·점을 특징으로 인코딩</a:t>
            </a:r>
          </a:p>
          <a:p>
            <a:r>
              <a:rPr sz="750" b="0" i="0">
                <a:solidFill>
                  <a:srgbClr val="F4F1EA"/>
                </a:solidFill>
                <a:latin typeface="Consolas"/>
                <a:ea typeface="Malgun Gothic"/>
                <a:cs typeface="Malgun Gothic"/>
              </a:rPr>
              <a:t>   ▼</a:t>
            </a:r>
          </a:p>
          <a:p>
            <a:r>
              <a:rPr sz="750" b="0" i="0">
                <a:solidFill>
                  <a:srgbClr val="F4F1EA"/>
                </a:solidFill>
                <a:latin typeface="Consolas"/>
                <a:ea typeface="Malgun Gothic"/>
                <a:cs typeface="Malgun Gothic"/>
              </a:rPr>
              <a:t>[리프팅] 2D 특징을 3D voxel/BEV 격자로 옮긴다</a:t>
            </a:r>
          </a:p>
          <a:p>
            <a:r>
              <a:rPr sz="750" b="0" i="0">
                <a:solidFill>
                  <a:srgbClr val="F4F1EA"/>
                </a:solidFill>
                <a:latin typeface="Consolas"/>
                <a:ea typeface="Malgun Gothic"/>
                <a:cs typeface="Malgun Gothic"/>
              </a:rPr>
              <a:t>         (카메라: ray-marching 또는 deformable attention, LiDAR: 직접 복셀화)</a:t>
            </a:r>
          </a:p>
          <a:p>
            <a:r>
              <a:rPr sz="750" b="0" i="0">
                <a:solidFill>
                  <a:srgbClr val="F4F1EA"/>
                </a:solidFill>
                <a:latin typeface="Consolas"/>
                <a:ea typeface="Malgun Gothic"/>
                <a:cs typeface="Malgun Gothic"/>
              </a:rPr>
              <a:t>   ▼</a:t>
            </a:r>
          </a:p>
          <a:p>
            <a:r>
              <a:rPr sz="750" b="0" i="0">
                <a:solidFill>
                  <a:srgbClr val="F4F1EA"/>
                </a:solidFill>
                <a:latin typeface="Consolas"/>
                <a:ea typeface="Malgun Gothic"/>
                <a:cs typeface="Malgun Gothic"/>
              </a:rPr>
              <a:t>[voxel grid: 점유 확률 + 선택적으로 시맨틱 클래스]   ← 이것이 occupancy</a:t>
            </a:r>
          </a:p>
          <a:p>
            <a:r>
              <a:rPr sz="750" b="0" i="0">
                <a:solidFill>
                  <a:srgbClr val="F4F1EA"/>
                </a:solidFill>
                <a:latin typeface="Consolas"/>
                <a:ea typeface="Malgun Gothic"/>
                <a:cs typeface="Malgun Gothic"/>
              </a:rPr>
              <a:t>   ▼</a:t>
            </a:r>
          </a:p>
          <a:p>
            <a:r>
              <a:rPr sz="750" b="0" i="0">
                <a:solidFill>
                  <a:srgbClr val="F4F1EA"/>
                </a:solidFill>
                <a:latin typeface="Consolas"/>
                <a:ea typeface="Malgun Gothic"/>
                <a:cs typeface="Malgun Gothic"/>
              </a:rPr>
              <a:t>travplan TravMap[8,H,W]로 변환 (travplan/perception/gridmap_bridge.py 같은 경로)</a:t>
            </a:r>
          </a:p>
        </p:txBody>
      </p:sp>
      <p:sp>
        <p:nvSpPr>
          <p:cNvPr id="7" name="TextBox 6"/>
          <p:cNvSpPr txBox="1"/>
          <p:nvPr/>
        </p:nvSpPr>
        <p:spPr>
          <a:xfrm>
            <a:off x="609600" y="328910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방식을 가르는 축은 세 가지다. </a:t>
            </a:r>
            <a:r>
              <a:rPr sz="1050" b="1" i="0">
                <a:solidFill>
                  <a:srgbClr val="16213A"/>
                </a:solidFill>
                <a:latin typeface="Arial"/>
                <a:ea typeface="Malgun Gothic"/>
                <a:cs typeface="Malgun Gothic"/>
              </a:rPr>
              <a:t>입력 센서</a:t>
            </a:r>
            <a:r>
              <a:rPr sz="1050" b="0" i="0">
                <a:solidFill>
                  <a:srgbClr val="16213A"/>
                </a:solidFill>
                <a:latin typeface="Arial"/>
                <a:ea typeface="Malgun Gothic"/>
                <a:cs typeface="Malgun Gothic"/>
              </a:rPr>
              <a:t>(멀티카메라, 단일 파노라마, LiDAR), </a:t>
            </a:r>
            <a:r>
              <a:rPr sz="1050" b="1" i="0">
                <a:solidFill>
                  <a:srgbClr val="16213A"/>
                </a:solidFill>
                <a:latin typeface="Arial"/>
                <a:ea typeface="Malgun Gothic"/>
                <a:cs typeface="Malgun Gothic"/>
              </a:rPr>
              <a:t>리프팅 방식</a:t>
            </a:r>
            <a:r>
              <a:rPr sz="1050" b="0" i="0">
                <a:solidFill>
                  <a:srgbClr val="16213A"/>
                </a:solidFill>
                <a:latin typeface="Arial"/>
                <a:ea typeface="Malgun Gothic"/>
                <a:cs typeface="Malgun Gothic"/>
              </a:rPr>
              <a:t>(transformer attention, ray-marching, 직접 복셀화), </a:t>
            </a:r>
            <a:r>
              <a:rPr sz="1050" b="1" i="0">
                <a:solidFill>
                  <a:srgbClr val="16213A"/>
                </a:solidFill>
                <a:latin typeface="Arial"/>
                <a:ea typeface="Malgun Gothic"/>
                <a:cs typeface="Malgun Gothic"/>
              </a:rPr>
              <a:t>배포 비용</a:t>
            </a:r>
            <a:r>
              <a:rPr sz="1050" b="0" i="0">
                <a:solidFill>
                  <a:srgbClr val="16213A"/>
                </a:solidFill>
                <a:latin typeface="Arial"/>
                <a:ea typeface="Malgun Gothic"/>
                <a:cs typeface="Malgun Gothic"/>
              </a:rPr>
              <a:t>(Orin 실측이 있는가). travplan은 P2.1에서 </a:t>
            </a:r>
            <a:r>
              <a:rPr sz="1050" b="0" i="0">
                <a:solidFill>
                  <a:srgbClr val="16213A"/>
                </a:solidFill>
                <a:latin typeface="Consolas"/>
                <a:ea typeface="Malgun Gothic"/>
                <a:cs typeface="Malgun Gothic"/>
              </a:rPr>
              <a:t>elevation_mapping_gpu_ros2</a:t>
            </a:r>
            <a:r>
              <a:rPr sz="1050" b="0" i="0">
                <a:solidFill>
                  <a:srgbClr val="16213A"/>
                </a:solidFill>
                <a:latin typeface="Arial"/>
                <a:ea typeface="Malgun Gothic"/>
                <a:cs typeface="Malgun Gothic"/>
              </a:rPr>
              <a:t>(LiDAR·스테레오를 직접 복셀화하는 계열)를 헤드리스로 실행해 검증했다(TP-0008). 아래 후보들은 LiDAR 없이 카메라만으로 가려 할 때의 대안이다.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 자동차 도메인 계보 — 채택하지 않지만 알아야 할 마일스톤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7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자동차의 카메라 기반 3D 인식은 2020–2024년에 BEV, 3D occupancy, 3D Gaussian의 세 단계로 발전했다.</a:t>
            </a:r>
            <a:r>
              <a:rPr sz="1050" b="0" i="0">
                <a:solidFill>
                  <a:srgbClr val="16213A"/>
                </a:solidFill>
                <a:latin typeface="Arial"/>
                <a:ea typeface="Malgun Gothic"/>
                <a:cs typeface="Malgun Gothic"/>
              </a:rPr>
              <a:t> 모두 차량 앞쪽을 둘러싼 멀티카메라 리그를 전제하고 Orin에서 돌린 실측이 없어, </a:t>
            </a:r>
            <a:r>
              <a:rPr sz="1050" b="0" i="0">
                <a:solidFill>
                  <a:srgbClr val="16213A"/>
                </a:solidFill>
                <a:latin typeface="Consolas"/>
                <a:ea typeface="Malgun Gothic"/>
                <a:cs typeface="Malgun Gothic"/>
              </a:rPr>
              <a:t>docs/ARCHITECTURE.md</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docs/prd-p2.md</a:t>
            </a:r>
            <a:r>
              <a:rPr sz="1050" b="0" i="0">
                <a:solidFill>
                  <a:srgbClr val="16213A"/>
                </a:solidFill>
                <a:latin typeface="Arial"/>
                <a:ea typeface="Malgun Gothic"/>
                <a:cs typeface="Malgun Gothic"/>
              </a:rPr>
              <a:t>에서 채택하지 않기로 확정했다(근거는 A.5 표). 그래도 표현 설계의 교훈은 TravMap에 그대로 쓰인다. 격자를 얼마나 조밀하게 둘지, 높이 축을 어떻게 다룰지, 가려진 칸의 정답을 어떻게 만들지가 모두 이 계보에서 먼저 풀렸다.</a:t>
            </a:r>
          </a:p>
        </p:txBody>
      </p:sp>
      <p:graphicFrame>
        <p:nvGraphicFramePr>
          <p:cNvPr id="6" name="Table 5"/>
          <p:cNvGraphicFramePr>
            <a:graphicFrameLocks noGrp="1"/>
          </p:cNvGraphicFramePr>
          <p:nvPr/>
        </p:nvGraphicFramePr>
        <p:xfrm>
          <a:off x="609600" y="1982986"/>
          <a:ext cx="10966449" cy="1970880"/>
        </p:xfrm>
        <a:graphic>
          <a:graphicData uri="http://schemas.openxmlformats.org/drawingml/2006/table">
            <a:tbl>
              <a:tblPr firstRow="1" bandRow="1">
                <a:tableStyleId>{5C22544A-7EE6-4342-B048-85BDC9FD1C3A}</a:tableStyleId>
              </a:tblPr>
              <a:tblGrid>
                <a:gridCol w="559693"/>
                <a:gridCol w="1560016"/>
                <a:gridCol w="6317456"/>
                <a:gridCol w="2529284"/>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한 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 2026-09)</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Lift-Splat-Shoot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카메라마다 깊이 분포로 특징을 들어 올려 BEV 격자에 뿌린다. 리프팅의 원형(배경 0.1)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nv-tlabs/lift-splat-shoot</a:t>
                      </a:r>
                      <a:r>
                        <a:rPr sz="800" b="0" i="0">
                          <a:solidFill>
                            <a:srgbClr val="16213A"/>
                          </a:solidFill>
                          <a:latin typeface="Arial"/>
                          <a:ea typeface="Malgun Gothic"/>
                          <a:cs typeface="Malgun Gothic"/>
                        </a:rPr>
                        <a:t> 1.4k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BEVFormer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BEV 격자 query가 카메라들에서 특징을 attention으로 가져오고, 과거 BEV를 시간 attention으로 잇는다</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fundamentalvision/BEVFormer</a:t>
                      </a:r>
                      <a:r>
                        <a:rPr sz="800" b="0" i="0">
                          <a:solidFill>
                            <a:srgbClr val="16213A"/>
                          </a:solidFill>
                          <a:latin typeface="Arial"/>
                          <a:ea typeface="Malgun Gothic"/>
                          <a:cs typeface="Malgun Gothic"/>
                        </a:rPr>
                        <a:t> 4.6k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BEVFusion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카메라와 LiDAR 특징을 같은 BEV 공간에서 합친다</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mit-han-lab/bevfusion</a:t>
                      </a:r>
                      <a:r>
                        <a:rPr sz="800" b="0" i="0">
                          <a:solidFill>
                            <a:srgbClr val="16213A"/>
                          </a:solidFill>
                          <a:latin typeface="Arial"/>
                          <a:ea typeface="Malgun Gothic"/>
                          <a:cs typeface="Malgun Gothic"/>
                        </a:rPr>
                        <a:t> 3.2k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MonoScene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단안 영상 한 장으로 3D 의미 장면을 완성한다</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astra-vision/MonoScene</a:t>
                      </a:r>
                      <a:r>
                        <a:rPr sz="800" b="0" i="0">
                          <a:solidFill>
                            <a:srgbClr val="16213A"/>
                          </a:solidFill>
                          <a:latin typeface="Arial"/>
                          <a:ea typeface="Malgun Gothic"/>
                          <a:cs typeface="Malgun Gothic"/>
                        </a:rPr>
                        <a:t> 0.8k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TPVFormer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BEV에 수직 평면 둘을 더한 세 평면으로 3D를 표현한다</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wzzheng/TPVFormer</a:t>
                      </a:r>
                      <a:r>
                        <a:rPr sz="800" b="0" i="0">
                          <a:solidFill>
                            <a:srgbClr val="16213A"/>
                          </a:solidFill>
                          <a:latin typeface="Arial"/>
                          <a:ea typeface="Malgun Gothic"/>
                          <a:cs typeface="Malgun Gothic"/>
                        </a:rPr>
                        <a:t> 1.4k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Occ3D, SurroundOcc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가시성 마스크와 조밀한 occupancy 정답을 만드는 방법, 벤치마크</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Occ3D</a:t>
                      </a:r>
                      <a:r>
                        <a:rPr sz="800" b="0" i="0">
                          <a:solidFill>
                            <a:srgbClr val="16213A"/>
                          </a:solidFill>
                          <a:latin typeface="Arial"/>
                          <a:ea typeface="Malgun Gothic"/>
                          <a:cs typeface="Malgun Gothic"/>
                        </a:rPr>
                        <a:t> 0.6k, </a:t>
                      </a:r>
                      <a:r>
                        <a:rPr sz="800" b="0" i="0">
                          <a:solidFill>
                            <a:srgbClr val="1D4ED8"/>
                          </a:solidFill>
                          <a:latin typeface="Arial"/>
                          <a:ea typeface="Malgun Gothic"/>
                          <a:cs typeface="Malgun Gothic"/>
                          <a:hlinkClick r:id="rId9"/>
                        </a:rPr>
                        <a:t>SurroundOcc</a:t>
                      </a:r>
                      <a:r>
                        <a:rPr sz="800" b="0" i="0">
                          <a:solidFill>
                            <a:srgbClr val="16213A"/>
                          </a:solidFill>
                          <a:latin typeface="Arial"/>
                          <a:ea typeface="Malgun Gothic"/>
                          <a:cs typeface="Malgun Gothic"/>
                        </a:rPr>
                        <a:t> 1.1k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FlashOcc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BEV에서 2D 합성곱만 쓰고 채널을 높이로 바꾼다. 배포 친화</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Yzichen/FlashOCC</a:t>
                      </a:r>
                      <a:r>
                        <a:rPr sz="800" b="0" i="0">
                          <a:solidFill>
                            <a:srgbClr val="16213A"/>
                          </a:solidFill>
                          <a:latin typeface="Arial"/>
                          <a:ea typeface="Malgun Gothic"/>
                          <a:cs typeface="Malgun Gothic"/>
                        </a:rPr>
                        <a:t> 0.6k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SparseOcc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완전 희소 occupancy, 광선 기반 지표 RayIoU</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MCG-NJU/SparseOcc</a:t>
                      </a:r>
                      <a:r>
                        <a:rPr sz="800" b="0" i="0">
                          <a:solidFill>
                            <a:srgbClr val="16213A"/>
                          </a:solidFill>
                          <a:latin typeface="Arial"/>
                          <a:ea typeface="Malgun Gothic"/>
                          <a:cs typeface="Malgun Gothic"/>
                        </a:rPr>
                        <a:t> 0.4k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GaussianFormer(-2)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장면을 3D Gaussian 집합으로 표현한다</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huang-yh/GaussianFormer</a:t>
                      </a:r>
                      <a:r>
                        <a:rPr sz="800" b="0" i="0">
                          <a:solidFill>
                            <a:srgbClr val="16213A"/>
                          </a:solidFill>
                          <a:latin typeface="Arial"/>
                          <a:ea typeface="Malgun Gothic"/>
                          <a:cs typeface="Malgun Gothic"/>
                        </a:rPr>
                        <a:t> 0.7k</a:t>
                      </a:r>
                    </a:p>
                  </a:txBody>
                  <a:tcPr marL="63500" marR="63500" marT="12700" marB="12700">
                    <a:solidFill>
                      <a:srgbClr val="FFFDF8"/>
                    </a:solidFill>
                  </a:tcPr>
                </a:tc>
              </a:tr>
            </a:tbl>
          </a:graphicData>
        </a:graphic>
      </p:graphicFrame>
      <p:sp>
        <p:nvSpPr>
          <p:cNvPr id="7" name="TextBox 6"/>
          <p:cNvSpPr txBox="1"/>
          <p:nvPr/>
        </p:nvSpPr>
        <p:spPr>
          <a:xfrm>
            <a:off x="609600" y="454183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Lift-Splat-Shoot — 카메라 영상을 BEV로 올리는 표준 방법</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13"/>
              </a:rPr>
              <a:t>arXiv:2008.05711</a:t>
            </a:r>
            <a:r>
              <a:rPr sz="1050" b="0" i="0">
                <a:solidFill>
                  <a:srgbClr val="16213A"/>
                </a:solidFill>
                <a:latin typeface="Arial"/>
                <a:ea typeface="Malgun Gothic"/>
                <a:cs typeface="Malgun Gothic"/>
              </a:rPr>
              <a:t>, ECCV 2020, NVIDIA). 카메라마다 픽셀별 깊이 분포를 예측해 특징을 3D 절두체로 들어 올리고(lift), 모든 카메라의 절두체를 BEV 격자에 뿌린다(splat). 템플릿 궤적을 BEV 비용 지도에 쏘아 고르는 계획(shoot)까지 한 네트워크로 학습했다. 이후 카메라 기반 BEV·occupancy 연구 대부분이 이 리프팅 위에 서 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 자동차 도메인 계보 — 채택하지 않지만 알아야 할 마일스톤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8 / 359</a:t>
            </a:r>
          </a:p>
        </p:txBody>
      </p:sp>
      <p:pic>
        <p:nvPicPr>
          <p:cNvPr id="5" name="Picture 4" descr="image.jpg"/>
          <p:cNvPicPr>
            <a:picLocks noChangeAspect="1"/>
          </p:cNvPicPr>
          <p:nvPr/>
        </p:nvPicPr>
        <p:blipFill>
          <a:blip r:embed="rId3"/>
          <a:stretch>
            <a:fillRect/>
          </a:stretch>
        </p:blipFill>
        <p:spPr>
          <a:xfrm>
            <a:off x="1016000" y="1244600"/>
            <a:ext cx="10160000" cy="2762250"/>
          </a:xfrm>
          <a:prstGeom prst="rect">
            <a:avLst/>
          </a:prstGeom>
        </p:spPr>
      </p:pic>
      <p:sp>
        <p:nvSpPr>
          <p:cNvPr id="6" name="TextBox 5"/>
          <p:cNvSpPr txBox="1"/>
          <p:nvPr/>
        </p:nvSpPr>
        <p:spPr>
          <a:xfrm>
            <a:off x="1016000" y="404495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Lift-Splat-Shoot (Fig. 1): 여러 카메라 영상(왼쪽)에서 BEV 좌표계의 의미 지도(오른쪽)를 바로 추론한다. 출처: arXiv:2008.05711</a:t>
            </a:r>
          </a:p>
        </p:txBody>
      </p:sp>
      <p:sp>
        <p:nvSpPr>
          <p:cNvPr id="7" name="TextBox 6"/>
          <p:cNvSpPr txBox="1"/>
          <p:nvPr/>
        </p:nvSpPr>
        <p:spPr>
          <a:xfrm>
            <a:off x="609600" y="427603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BEVFormer — BEV 격자 자체를 query로 쓰는 transformer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arXiv:2203.17270</a:t>
            </a:r>
            <a:r>
              <a:rPr sz="1050" b="0" i="0">
                <a:solidFill>
                  <a:srgbClr val="16213A"/>
                </a:solidFill>
                <a:latin typeface="Arial"/>
                <a:ea typeface="Malgun Gothic"/>
                <a:cs typeface="Malgun Gothic"/>
              </a:rPr>
              <a:t>, ECCV 2022). 깊이를 명시적으로 예측하는 대신, 격자 모양 BEV query가 공간 cross-attention으로 여러 카메라의 관심 영역에서 특징을 가져온다. 시간 self-attention은 과거 BEV를 재귀적으로 합친다. nuScenes test에서 NDS 56.9로 이전 최고보다 9.0 높았고 LiDAR 기반과 비슷해졌다. 속도 추정과 가려진 물체 재현율이 특히 좋아졌다.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 자동차 도메인 계보 — 채택하지 않지만 알아야 할 마일스톤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9 / 359</a:t>
            </a:r>
          </a:p>
        </p:txBody>
      </p:sp>
      <p:pic>
        <p:nvPicPr>
          <p:cNvPr id="5" name="Picture 4" descr="image.jpg"/>
          <p:cNvPicPr>
            <a:picLocks noChangeAspect="1"/>
          </p:cNvPicPr>
          <p:nvPr/>
        </p:nvPicPr>
        <p:blipFill>
          <a:blip r:embed="rId3"/>
          <a:stretch>
            <a:fillRect/>
          </a:stretch>
        </p:blipFill>
        <p:spPr>
          <a:xfrm>
            <a:off x="1016000" y="1244600"/>
            <a:ext cx="10160000" cy="3790950"/>
          </a:xfrm>
          <a:prstGeom prst="rect">
            <a:avLst/>
          </a:prstGeom>
        </p:spPr>
      </p:pic>
      <p:sp>
        <p:nvSpPr>
          <p:cNvPr id="6" name="TextBox 5"/>
          <p:cNvSpPr txBox="1"/>
          <p:nvPr/>
        </p:nvSpPr>
        <p:spPr>
          <a:xfrm>
            <a:off x="1016000" y="507365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BEVFormer (Fig. 2): 격자 BEV query, 시간 self-attention, 공간 cross-attention으로 된 encoder 층. 출처: arXiv:2203.17270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 자동차 도메인 계보 — 채택하지 않지만 알아야 할 마일스톤</a:t>
            </a:r>
            <a:r>
              <a:rPr sz="1050" b="0" i="0">
                <a:solidFill>
                  <a:srgbClr val="5A6478"/>
                </a:solidFill>
                <a:latin typeface="Arial"/>
                <a:ea typeface="Malgun Gothic"/>
                <a:cs typeface="Malgun Gothic"/>
              </a:rPr>
              <a:t>  자세히: BEVFormer의 공간·시간 attention</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10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공간 cross-attention.</a:t>
            </a:r>
            <a:r>
              <a:rPr sz="1050" b="0" i="0">
                <a:solidFill>
                  <a:srgbClr val="16213A"/>
                </a:solidFill>
                <a:latin typeface="Arial"/>
                <a:ea typeface="Malgun Gothic"/>
                <a:cs typeface="Malgun Gothic"/>
              </a:rPr>
              <a:t> BEV 칸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의 query </a:t>
            </a:r>
            <a:r>
              <a:rPr sz="1050" b="0" i="1">
                <a:solidFill>
                  <a:srgbClr val="16213A"/>
                </a:solidFill>
                <a:latin typeface="Arial"/>
                <a:ea typeface="Malgun Gothic"/>
                <a:cs typeface="Malgun Gothic"/>
              </a:rPr>
              <a:t>Qₚ</a:t>
            </a:r>
            <a:r>
              <a:rPr sz="1050" b="0" i="0">
                <a:solidFill>
                  <a:srgbClr val="16213A"/>
                </a:solidFill>
                <a:latin typeface="Arial"/>
                <a:ea typeface="Malgun Gothic"/>
                <a:cs typeface="Malgun Gothic"/>
              </a:rPr>
              <a:t>를 높이 방향 기준점 </a:t>
            </a:r>
            <a:r>
              <a:rPr sz="1050" b="0" i="1">
                <a:solidFill>
                  <a:srgbClr val="16213A"/>
                </a:solidFill>
                <a:latin typeface="Arial"/>
                <a:ea typeface="Malgun Gothic"/>
                <a:cs typeface="Malgun Gothic"/>
              </a:rPr>
              <a:t>N_(ref)</a:t>
            </a:r>
            <a:r>
              <a:rPr sz="1050" b="0" i="0">
                <a:solidFill>
                  <a:srgbClr val="16213A"/>
                </a:solidFill>
                <a:latin typeface="Arial"/>
                <a:ea typeface="Malgun Gothic"/>
                <a:cs typeface="Malgun Gothic"/>
              </a:rPr>
              <a:t>개로 올린 뒤, 그 점이 보이는 카메라 </a:t>
            </a:r>
            <a:r>
              <a:rPr sz="1050" b="0" i="1">
                <a:solidFill>
                  <a:srgbClr val="16213A"/>
                </a:solidFill>
                <a:latin typeface="Arial"/>
                <a:ea typeface="Malgun Gothic"/>
                <a:cs typeface="Malgun Gothic"/>
              </a:rPr>
              <a:t>𝒱ₕᵢₜ</a:t>
            </a:r>
            <a:r>
              <a:rPr sz="1050" b="0" i="0">
                <a:solidFill>
                  <a:srgbClr val="16213A"/>
                </a:solidFill>
                <a:latin typeface="Arial"/>
                <a:ea typeface="Malgun Gothic"/>
                <a:cs typeface="Malgun Gothic"/>
              </a:rPr>
              <a:t>마다 투영점 </a:t>
            </a:r>
            <a:r>
              <a:rPr sz="1050" b="0" i="1">
                <a:solidFill>
                  <a:srgbClr val="16213A"/>
                </a:solidFill>
                <a:latin typeface="Arial"/>
                <a:ea typeface="Malgun Gothic"/>
                <a:cs typeface="Malgun Gothic"/>
              </a:rPr>
              <a:t>𝒫(p, i, j)</a:t>
            </a:r>
            <a:r>
              <a:rPr sz="1050" b="0" i="0">
                <a:solidFill>
                  <a:srgbClr val="16213A"/>
                </a:solidFill>
                <a:latin typeface="Arial"/>
                <a:ea typeface="Malgun Gothic"/>
                <a:cs typeface="Malgun Gothic"/>
              </a:rPr>
              <a:t> 주변의 특징을 deformable attention으로 모은다.</a:t>
            </a:r>
          </a:p>
        </p:txBody>
      </p:sp>
      <p:pic>
        <p:nvPicPr>
          <p:cNvPr id="6" name="Picture 5" descr="image.png"/>
          <p:cNvPicPr>
            <a:picLocks noChangeAspect="1"/>
          </p:cNvPicPr>
          <p:nvPr/>
        </p:nvPicPr>
        <p:blipFill>
          <a:blip r:embed="rId3"/>
          <a:stretch>
            <a:fillRect/>
          </a:stretch>
        </p:blipFill>
        <p:spPr>
          <a:xfrm>
            <a:off x="609600" y="1549995"/>
            <a:ext cx="4492625" cy="574675"/>
          </a:xfrm>
          <a:prstGeom prst="rect">
            <a:avLst/>
          </a:prstGeom>
        </p:spPr>
      </p:pic>
      <p:sp>
        <p:nvSpPr>
          <p:cNvPr id="7" name="TextBox 6"/>
          <p:cNvSpPr txBox="1"/>
          <p:nvPr/>
        </p:nvSpPr>
        <p:spPr>
          <a:xfrm>
            <a:off x="609600" y="211693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시간 self-attention.</a:t>
            </a:r>
            <a:r>
              <a:rPr sz="1050" b="0" i="0">
                <a:solidFill>
                  <a:srgbClr val="16213A"/>
                </a:solidFill>
                <a:latin typeface="Arial"/>
                <a:ea typeface="Malgun Gothic"/>
                <a:cs typeface="Malgun Gothic"/>
              </a:rPr>
              <a:t> 자차 움직임으로 정렬한 이전 BEV </a:t>
            </a:r>
            <a:r>
              <a:rPr sz="1050" b="0" i="1">
                <a:solidFill>
                  <a:srgbClr val="16213A"/>
                </a:solidFill>
                <a:latin typeface="Arial"/>
                <a:ea typeface="Malgun Gothic"/>
                <a:cs typeface="Malgun Gothic"/>
              </a:rPr>
              <a:t>B'ₜ₋₁</a:t>
            </a:r>
            <a:r>
              <a:rPr sz="1050" b="0" i="0">
                <a:solidFill>
                  <a:srgbClr val="16213A"/>
                </a:solidFill>
                <a:latin typeface="Arial"/>
                <a:ea typeface="Malgun Gothic"/>
                <a:cs typeface="Malgun Gothic"/>
              </a:rPr>
              <a:t>와 현재 query를 함께 attention한다.</a:t>
            </a:r>
          </a:p>
        </p:txBody>
      </p:sp>
      <p:pic>
        <p:nvPicPr>
          <p:cNvPr id="8" name="Picture 7" descr="image.png"/>
          <p:cNvPicPr>
            <a:picLocks noChangeAspect="1"/>
          </p:cNvPicPr>
          <p:nvPr/>
        </p:nvPicPr>
        <p:blipFill>
          <a:blip r:embed="rId4"/>
          <a:stretch>
            <a:fillRect/>
          </a:stretch>
        </p:blipFill>
        <p:spPr>
          <a:xfrm>
            <a:off x="609600" y="2422327"/>
            <a:ext cx="4025900" cy="473075"/>
          </a:xfrm>
          <a:prstGeom prst="rect">
            <a:avLst/>
          </a:prstGeom>
        </p:spPr>
      </p:pic>
      <p:sp>
        <p:nvSpPr>
          <p:cNvPr id="9" name="TextBox 8"/>
          <p:cNvSpPr txBox="1"/>
          <p:nvPr/>
        </p:nvSpPr>
        <p:spPr>
          <a:xfrm>
            <a:off x="609600" y="289996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 TravMap도 이전 프레임을 자세로 정렬해 합친다(지금은 고정 비율 0.7/0.3 필터). 합칠 비율을 학습된 attention이 정하게 하는 것이 BEVFormer식 시간 융합이다.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 자동차 도메인 계보 — 채택하지 않지만 알아야 할 마일스톤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11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BEVFusion — 카메라와 LiDAR를 같은 BEV에서 합친다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arXiv:2205.13542</a:t>
            </a:r>
            <a:r>
              <a:rPr sz="1050" b="0" i="0">
                <a:solidFill>
                  <a:srgbClr val="16213A"/>
                </a:solidFill>
                <a:latin typeface="Arial"/>
                <a:ea typeface="Malgun Gothic"/>
                <a:cs typeface="Malgun Gothic"/>
              </a:rPr>
              <a:t>, ICRA 2023, MIT). 카메라 특징을 LiDAR 점에 칠하는 점 단위 융합은 카메라의 의미 밀도를 버린다. BEVFusion은 두 센서를 각자 BEV로 바꾼 뒤 합친다. 병목이던 BEV pooling을 최적화해 뷰 변환 지연을 40배 넘게 줄였고, nuScenes에서 3D 검출 mAP·NDS를 1.3%, BEV 지도 분할 mIoU를 13.6% 높이면서 계산은 1.9배 줄였다.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MonoScene과 TPVFormer — 3D를 어떻게 적게 표현하나</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MonoScene arXiv:2112.00726</a:t>
            </a:r>
            <a:r>
              <a:rPr sz="1050" b="0" i="0">
                <a:solidFill>
                  <a:srgbClr val="16213A"/>
                </a:solidFill>
                <a:latin typeface="Arial"/>
                <a:ea typeface="Malgun Gothic"/>
                <a:cs typeface="Malgun Gothic"/>
              </a:rPr>
              <a:t>, CVPR 2022; </a:t>
            </a:r>
            <a:r>
              <a:rPr sz="1050" b="0" i="0">
                <a:solidFill>
                  <a:srgbClr val="1D4ED8"/>
                </a:solidFill>
                <a:latin typeface="Arial"/>
                <a:ea typeface="Malgun Gothic"/>
                <a:cs typeface="Malgun Gothic"/>
                <a:hlinkClick r:id="rId5"/>
              </a:rPr>
              <a:t>TPVFormer arXiv:2302.07817</a:t>
            </a:r>
            <a:r>
              <a:rPr sz="1050" b="0" i="0">
                <a:solidFill>
                  <a:srgbClr val="16213A"/>
                </a:solidFill>
                <a:latin typeface="Arial"/>
                <a:ea typeface="Malgun Gothic"/>
                <a:cs typeface="Malgun Gothic"/>
              </a:rPr>
              <a:t>, CVPR 2023). MonoScene은 단안 영상 한 장에서 2D·3D UNet과 시선 방향 투영으로 3D 의미 장면을 완성해, 카메라 시야 밖까지 그럴듯하게 채웠다. TPVFormer는 BEV 한 장이 높이 구조를 잃는 문제를 BEV에 수직 평면 둘을 더한 세 평면(tri-perspective view)으로 풀었다. 3D 점의 특징은 세 평면 투영 특징의 합이다. 카메라만으로 LiDAR 분할 과제에서 LiDAR 기반과 비슷한 성능을 처음 보였다.</a:t>
            </a:r>
          </a:p>
        </p:txBody>
      </p:sp>
      <p:sp>
        <p:nvSpPr>
          <p:cNvPr id="7" name="TextBox 6"/>
          <p:cNvSpPr txBox="1"/>
          <p:nvPr/>
        </p:nvSpPr>
        <p:spPr>
          <a:xfrm>
            <a:off x="609600" y="272137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Occ3D와 SurroundOcc — 정답 occupancy를 어떻게 만드나</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Occ3D arXiv:2304.14365</a:t>
            </a:r>
            <a:r>
              <a:rPr sz="1050" b="0" i="0">
                <a:solidFill>
                  <a:srgbClr val="16213A"/>
                </a:solidFill>
                <a:latin typeface="Arial"/>
                <a:ea typeface="Malgun Gothic"/>
                <a:cs typeface="Malgun Gothic"/>
              </a:rPr>
              <a:t>, NeurIPS 2023; </a:t>
            </a:r>
            <a:r>
              <a:rPr sz="1050" b="0" i="0">
                <a:solidFill>
                  <a:srgbClr val="1D4ED8"/>
                </a:solidFill>
                <a:latin typeface="Arial"/>
                <a:ea typeface="Malgun Gothic"/>
                <a:cs typeface="Malgun Gothic"/>
                <a:hlinkClick r:id="rId7"/>
              </a:rPr>
              <a:t>SurroundOcc arXiv:2303.09551</a:t>
            </a:r>
            <a:r>
              <a:rPr sz="1050" b="0" i="0">
                <a:solidFill>
                  <a:srgbClr val="16213A"/>
                </a:solidFill>
                <a:latin typeface="Arial"/>
                <a:ea typeface="Malgun Gothic"/>
                <a:cs typeface="Malgun Gothic"/>
              </a:rPr>
              <a:t>, ICCV 2023). 사람이 3D 칸마다 라벨을 칠할 수는 없다. SurroundOcc는 동적 물체와 정적 장면의 LiDAR를 여러 프레임 따로 모은 뒤 Poisson 복원으로 구멍을 메우고 복셀화했다. Occ3D는 복셀 조밀화, </a:t>
            </a:r>
            <a:r>
              <a:rPr sz="1050" b="1" i="0">
                <a:solidFill>
                  <a:srgbClr val="16213A"/>
                </a:solidFill>
                <a:latin typeface="Arial"/>
                <a:ea typeface="Malgun Gothic"/>
                <a:cs typeface="Malgun Gothic"/>
              </a:rPr>
              <a:t>가림 추론</a:t>
            </a:r>
            <a:r>
              <a:rPr sz="1050" b="0" i="0">
                <a:solidFill>
                  <a:srgbClr val="16213A"/>
                </a:solidFill>
                <a:latin typeface="Arial"/>
                <a:ea typeface="Malgun Gothic"/>
                <a:cs typeface="Malgun Gothic"/>
              </a:rPr>
              <a:t>, 영상 기반 정제의 세 단계로 </a:t>
            </a:r>
            <a:r>
              <a:rPr sz="1050" b="1" i="0">
                <a:solidFill>
                  <a:srgbClr val="16213A"/>
                </a:solidFill>
                <a:latin typeface="Arial"/>
                <a:ea typeface="Malgun Gothic"/>
                <a:cs typeface="Malgun Gothic"/>
              </a:rPr>
              <a:t>가시성을 아는</a:t>
            </a:r>
            <a:r>
              <a:rPr sz="1050" b="0" i="0">
                <a:solidFill>
                  <a:srgbClr val="16213A"/>
                </a:solidFill>
                <a:latin typeface="Arial"/>
                <a:ea typeface="Malgun Gothic"/>
                <a:cs typeface="Malgun Gothic"/>
              </a:rPr>
              <a:t> 정답을 만들고, Occ3D-nuScenes와 Occ3D-Waymo 벤치마크를 세웠다. 가려져 보이지 않는 칸은 평가에서 뺀다.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 자동차 도메인 계보 — 채택하지 않지만 알아야 할 마일스톤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12 / 359</a:t>
            </a:r>
          </a:p>
        </p:txBody>
      </p:sp>
      <p:pic>
        <p:nvPicPr>
          <p:cNvPr id="5" name="Picture 4" descr="image.jpg"/>
          <p:cNvPicPr>
            <a:picLocks noChangeAspect="1"/>
          </p:cNvPicPr>
          <p:nvPr/>
        </p:nvPicPr>
        <p:blipFill>
          <a:blip r:embed="rId3"/>
          <a:stretch>
            <a:fillRect/>
          </a:stretch>
        </p:blipFill>
        <p:spPr>
          <a:xfrm>
            <a:off x="2139950" y="1244600"/>
            <a:ext cx="7912100" cy="4445000"/>
          </a:xfrm>
          <a:prstGeom prst="rect">
            <a:avLst/>
          </a:prstGeom>
        </p:spPr>
      </p:pic>
      <p:sp>
        <p:nvSpPr>
          <p:cNvPr id="6" name="TextBox 5"/>
          <p:cNvSpPr txBox="1"/>
          <p:nvPr/>
        </p:nvSpPr>
        <p:spPr>
          <a:xfrm>
            <a:off x="2139950" y="5727700"/>
            <a:ext cx="79121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Occ3D (Fig. 2): 복셀 조밀화, 가림 추론(가시성 마스크), 영상 기반 정제로 조밀한 occupancy 정답을 만드는 파이프라인. 출처: arXiv:2304.14365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 자동차 도메인 계보 — 채택하지 않지만 알아야 할 마일스톤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13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FlashOcc — 3D 복셀 없이 BEV에서 끝낸다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arXiv:2311.12058</a:t>
            </a:r>
            <a:r>
              <a:rPr sz="1050" b="0" i="0">
                <a:solidFill>
                  <a:srgbClr val="16213A"/>
                </a:solidFill>
                <a:latin typeface="Arial"/>
                <a:ea typeface="Malgun Gothic"/>
                <a:cs typeface="Malgun Gothic"/>
              </a:rPr>
              <a:t>, 2023). 특징을 끝까지 BEV에 두고 2D 합성곱만 쓴 뒤, 마지막 출력 채널을 높이 축으로 다시 접어 3D occupancy를 낸다(channel-to-height). 3D 합성곱과 복셀 특징이 없어 여러 칩에 배포하기 쉽고, Occ3D-nuScenes에서 정확도·속도·메모리 모두 이전 방법보다 좋았다. 이 계보에서 </a:t>
            </a:r>
            <a:r>
              <a:rPr sz="1050" b="1" i="0">
                <a:solidFill>
                  <a:srgbClr val="16213A"/>
                </a:solidFill>
                <a:latin typeface="Arial"/>
                <a:ea typeface="Malgun Gothic"/>
                <a:cs typeface="Malgun Gothic"/>
              </a:rPr>
              <a:t>임베디드 배포를 목표로 설계한</a:t>
            </a:r>
            <a:r>
              <a:rPr sz="1050" b="0" i="0">
                <a:solidFill>
                  <a:srgbClr val="16213A"/>
                </a:solidFill>
                <a:latin typeface="Arial"/>
                <a:ea typeface="Malgun Gothic"/>
                <a:cs typeface="Malgun Gothic"/>
              </a:rPr>
              <a:t> 드문 연구다.</a:t>
            </a:r>
          </a:p>
        </p:txBody>
      </p:sp>
      <p:pic>
        <p:nvPicPr>
          <p:cNvPr id="6" name="Picture 5" descr="image.jpg"/>
          <p:cNvPicPr>
            <a:picLocks noChangeAspect="1"/>
          </p:cNvPicPr>
          <p:nvPr/>
        </p:nvPicPr>
        <p:blipFill>
          <a:blip r:embed="rId4"/>
          <a:stretch>
            <a:fillRect/>
          </a:stretch>
        </p:blipFill>
        <p:spPr>
          <a:xfrm>
            <a:off x="1016000" y="1982986"/>
            <a:ext cx="10160000" cy="3625850"/>
          </a:xfrm>
          <a:prstGeom prst="rect">
            <a:avLst/>
          </a:prstGeom>
        </p:spPr>
      </p:pic>
      <p:sp>
        <p:nvSpPr>
          <p:cNvPr id="7" name="TextBox 6"/>
          <p:cNvSpPr txBox="1"/>
          <p:nvPr/>
        </p:nvSpPr>
        <p:spPr>
          <a:xfrm>
            <a:off x="1016000" y="5646936"/>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FlashOcc (Fig. 2): 영상 특징을 BEV로 올려 2D 합성곱으로 처리하고, channel-to-height 변환으로 3D occupancy를 낸다. 출처: arXiv:2311.12058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 자동차 도메인 계보 — 채택하지 않지만 알아야 할 마일스톤</a:t>
            </a:r>
            <a:r>
              <a:rPr sz="1050" b="0" i="0">
                <a:solidFill>
                  <a:srgbClr val="5A6478"/>
                </a:solidFill>
                <a:latin typeface="Arial"/>
                <a:ea typeface="Malgun Gothic"/>
                <a:cs typeface="Malgun Gothic"/>
              </a:rPr>
              <a:t>  자세히: FlashOcc의 channel-to-height</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14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BEV 특징 </a:t>
            </a:r>
            <a:r>
              <a:rPr sz="1050" b="0" i="1">
                <a:solidFill>
                  <a:srgbClr val="16213A"/>
                </a:solidFill>
                <a:latin typeface="Arial"/>
                <a:ea typeface="Malgun Gothic"/>
                <a:cs typeface="Malgun Gothic"/>
              </a:rPr>
              <a:t>F ∈ ℝ^(C × H × W)</a:t>
            </a:r>
            <a:r>
              <a:rPr sz="1050" b="0" i="0">
                <a:solidFill>
                  <a:srgbClr val="16213A"/>
                </a:solidFill>
                <a:latin typeface="Arial"/>
                <a:ea typeface="Malgun Gothic"/>
                <a:cs typeface="Malgun Gothic"/>
              </a:rPr>
              <a:t>를 2D 합성곱으로 처리해 출력 로짓 </a:t>
            </a:r>
            <a:r>
              <a:rPr sz="1050" b="0" i="1">
                <a:solidFill>
                  <a:srgbClr val="16213A"/>
                </a:solidFill>
                <a:latin typeface="Arial"/>
                <a:ea typeface="Malgun Gothic"/>
                <a:cs typeface="Malgun Gothic"/>
              </a:rPr>
              <a:t>O ∈ ℝ^((C' · Z) × H × W)</a:t>
            </a:r>
            <a:r>
              <a:rPr sz="1050" b="0" i="0">
                <a:solidFill>
                  <a:srgbClr val="16213A"/>
                </a:solidFill>
                <a:latin typeface="Arial"/>
                <a:ea typeface="Malgun Gothic"/>
                <a:cs typeface="Malgun Gothic"/>
              </a:rPr>
              <a:t>를 낸다. 이것을 </a:t>
            </a:r>
            <a:r>
              <a:rPr sz="1050" b="0" i="1">
                <a:solidFill>
                  <a:srgbClr val="16213A"/>
                </a:solidFill>
                <a:latin typeface="Arial"/>
                <a:ea typeface="Malgun Gothic"/>
                <a:cs typeface="Malgun Gothic"/>
              </a:rPr>
              <a:t>O ∈ ℝ^(C' × Z × H × W)</a:t>
            </a:r>
            <a:r>
              <a:rPr sz="1050" b="0" i="0">
                <a:solidFill>
                  <a:srgbClr val="16213A"/>
                </a:solidFill>
                <a:latin typeface="Arial"/>
                <a:ea typeface="Malgun Gothic"/>
                <a:cs typeface="Malgun Gothic"/>
              </a:rPr>
              <a:t>로 모양만 바꾸면 높이 칸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개마다 클래스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개의 로짓이 된다.</a:t>
            </a:r>
          </a:p>
        </p:txBody>
      </p:sp>
      <p:pic>
        <p:nvPicPr>
          <p:cNvPr id="6" name="Picture 5" descr="image.png"/>
          <p:cNvPicPr>
            <a:picLocks noChangeAspect="1"/>
          </p:cNvPicPr>
          <p:nvPr/>
        </p:nvPicPr>
        <p:blipFill>
          <a:blip r:embed="rId3"/>
          <a:stretch>
            <a:fillRect/>
          </a:stretch>
        </p:blipFill>
        <p:spPr>
          <a:xfrm>
            <a:off x="609600" y="1549995"/>
            <a:ext cx="1638300" cy="241300"/>
          </a:xfrm>
          <a:prstGeom prst="rect">
            <a:avLst/>
          </a:prstGeom>
        </p:spPr>
      </p:pic>
      <p:sp>
        <p:nvSpPr>
          <p:cNvPr id="7" name="TextBox 6"/>
          <p:cNvSpPr txBox="1"/>
          <p:nvPr/>
        </p:nvSpPr>
        <p:spPr>
          <a:xfrm>
            <a:off x="609600" y="182751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학습할 것은 2D 합성곱뿐이다. 3D 구조는 "어느 채널이 어느 높이인가"라는 약속으로만 표현된다.</a:t>
            </a:r>
          </a:p>
        </p:txBody>
      </p:sp>
      <p:sp>
        <p:nvSpPr>
          <p:cNvPr id="8" name="TextBox 7"/>
          <p:cNvSpPr txBox="1"/>
          <p:nvPr/>
        </p:nvSpPr>
        <p:spPr>
          <a:xfrm>
            <a:off x="609600" y="213290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TravMap은 이미 2.5D(칸마다 높이 하나)라 같은 발상의 극단적인 형태다. 오버행(A.5의 알려진 한계)을 표현하려면 채널을 높이 구간으로 조금 늘리는 FlashOcc식 확장이 3D 복셀보다 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 자동차 도메인 계보 — 채택하지 않지만 알아야 할 마일스톤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15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SparseOcc — 빈 공간을 계산하지 않는다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arXiv:2312.17118</a:t>
            </a:r>
            <a:r>
              <a:rPr sz="1050" b="0" i="0">
                <a:solidFill>
                  <a:srgbClr val="16213A"/>
                </a:solidFill>
                <a:latin typeface="Arial"/>
                <a:ea typeface="Malgun Gothic"/>
                <a:cs typeface="Malgun Gothic"/>
              </a:rPr>
              <a:t>, ECCV 2024). 장면 대부분은 비어 있다. SparseOcc는 카메라만으로 희소한 3D 표현을 먼저 복원하고, 희소 query가 마스크로 고른 2D 특징과만 상호작용한다. 조밀한 3D 특징과 전역 attention이 없다. 깊이 방향으로 겹쳐 세는 기존 mIoU의 문제를 고친 광선 기반 지표 RayIoU를 제안했고, 과거 7프레임 입력에서 RayIoU 34.0, 17.3 FPS를 냈다.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GaussianFormer와 GaussianFormer-2 — 장면을 3D Gaussian으로</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arXiv:2405.17429</a:t>
            </a:r>
            <a:r>
              <a:rPr sz="1050" b="0" i="0">
                <a:solidFill>
                  <a:srgbClr val="16213A"/>
                </a:solidFill>
                <a:latin typeface="Arial"/>
                <a:ea typeface="Malgun Gothic"/>
                <a:cs typeface="Malgun Gothic"/>
              </a:rPr>
              <a:t>, ECCV 2024; </a:t>
            </a:r>
            <a:r>
              <a:rPr sz="1050" b="0" i="0">
                <a:solidFill>
                  <a:srgbClr val="1D4ED8"/>
                </a:solidFill>
                <a:latin typeface="Arial"/>
                <a:ea typeface="Malgun Gothic"/>
                <a:cs typeface="Malgun Gothic"/>
                <a:hlinkClick r:id="rId5"/>
              </a:rPr>
              <a:t>arXiv:2412.04384</a:t>
            </a:r>
            <a:r>
              <a:rPr sz="1050" b="0" i="0">
                <a:solidFill>
                  <a:srgbClr val="16213A"/>
                </a:solidFill>
                <a:latin typeface="Arial"/>
                <a:ea typeface="Malgun Gothic"/>
                <a:cs typeface="Malgun Gothic"/>
              </a:rPr>
              <a:t>, CVPR 2025). 복셀 대신 위치·공분산·의미를 가진 3D Gaussian 집합으로 장면을 표현하고, attention으로 Gaussian 속성을 반복해 다듬는다. 복셀 값은 이웃 Gaussian만 모아 계산한다(Gaussian-to-voxel splatting). 비슷한 성능을 메모리 17.8–24.8%로 냈다. GaussianFormer-2는 Gaussian 대부분이 빈 공간을 설명하는 낭비를 줄이려고, 각 Gaussian을 "주변이 점유됐을 확률"로 해석하는 확률적 중첩을 도입했다.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 자동차 도메인 계보 — 채택하지 않지만 알아야 할 마일스톤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16 / 359</a:t>
            </a:r>
          </a:p>
        </p:txBody>
      </p:sp>
      <p:pic>
        <p:nvPicPr>
          <p:cNvPr id="5" name="Picture 4" descr="image.jpg"/>
          <p:cNvPicPr>
            <a:picLocks noChangeAspect="1"/>
          </p:cNvPicPr>
          <p:nvPr/>
        </p:nvPicPr>
        <p:blipFill>
          <a:blip r:embed="rId3"/>
          <a:stretch>
            <a:fillRect/>
          </a:stretch>
        </p:blipFill>
        <p:spPr>
          <a:xfrm>
            <a:off x="2317750" y="1244600"/>
            <a:ext cx="7556500" cy="4445000"/>
          </a:xfrm>
          <a:prstGeom prst="rect">
            <a:avLst/>
          </a:prstGeom>
        </p:spPr>
      </p:pic>
      <p:sp>
        <p:nvSpPr>
          <p:cNvPr id="6" name="TextBox 5"/>
          <p:cNvSpPr txBox="1"/>
          <p:nvPr/>
        </p:nvSpPr>
        <p:spPr>
          <a:xfrm>
            <a:off x="2317750" y="5727700"/>
            <a:ext cx="75565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GaussianFormer (Fig. 3): 영상 특징에서 3D Gaussian의 위치·공분산·의미를 반복해 다듬고, Gaussian-to-voxel splatting으로 occupancy를 낸다. 출처: arXiv:2405.17429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 자동차 도메인 계보 — 채택하지 않지만 알아야 할 마일스톤</a:t>
            </a:r>
            <a:r>
              <a:rPr sz="1050" b="0" i="0">
                <a:solidFill>
                  <a:srgbClr val="5A6478"/>
                </a:solidFill>
                <a:latin typeface="Arial"/>
                <a:ea typeface="Malgun Gothic"/>
                <a:cs typeface="Malgun Gothic"/>
              </a:rPr>
              <a:t>  자세히: GaussianFormer의 splatting과 GaussianFormer-2의 확률적 중첩</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17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GaussianFormer.</a:t>
            </a:r>
            <a:r>
              <a:rPr sz="1050" b="0" i="0">
                <a:solidFill>
                  <a:srgbClr val="16213A"/>
                </a:solidFill>
                <a:latin typeface="Arial"/>
                <a:ea typeface="Malgun Gothic"/>
                <a:cs typeface="Malgun Gothic"/>
              </a:rPr>
              <a:t> Gaussian </a:t>
            </a:r>
            <a:r>
              <a:rPr sz="1050" b="0" i="1">
                <a:solidFill>
                  <a:srgbClr val="16213A"/>
                </a:solidFill>
                <a:latin typeface="Arial"/>
                <a:ea typeface="Malgun Gothic"/>
                <a:cs typeface="Malgun Gothic"/>
              </a:rPr>
              <a:t>Gᵢ</a:t>
            </a:r>
            <a:r>
              <a:rPr sz="1050" b="0" i="0">
                <a:solidFill>
                  <a:srgbClr val="16213A"/>
                </a:solidFill>
                <a:latin typeface="Arial"/>
                <a:ea typeface="Malgun Gothic"/>
                <a:cs typeface="Malgun Gothic"/>
              </a:rPr>
              <a:t>는 평균 </a:t>
            </a:r>
            <a:r>
              <a:rPr sz="1050" b="0" i="1">
                <a:solidFill>
                  <a:srgbClr val="16213A"/>
                </a:solidFill>
                <a:latin typeface="Arial"/>
                <a:ea typeface="Malgun Gothic"/>
                <a:cs typeface="Malgun Gothic"/>
              </a:rPr>
              <a:t>mᵢ</a:t>
            </a:r>
            <a:r>
              <a:rPr sz="1050" b="0" i="0">
                <a:solidFill>
                  <a:srgbClr val="16213A"/>
                </a:solidFill>
                <a:latin typeface="Arial"/>
                <a:ea typeface="Malgun Gothic"/>
                <a:cs typeface="Malgun Gothic"/>
              </a:rPr>
              <a:t>, 공분산 </a:t>
            </a:r>
            <a:r>
              <a:rPr sz="1050" b="0" i="1">
                <a:solidFill>
                  <a:srgbClr val="16213A"/>
                </a:solidFill>
                <a:latin typeface="Arial"/>
                <a:ea typeface="Malgun Gothic"/>
                <a:cs typeface="Malgun Gothic"/>
              </a:rPr>
              <a:t>Σᵢ</a:t>
            </a:r>
            <a:r>
              <a:rPr sz="1050" b="0" i="0">
                <a:solidFill>
                  <a:srgbClr val="16213A"/>
                </a:solidFill>
                <a:latin typeface="Arial"/>
                <a:ea typeface="Malgun Gothic"/>
                <a:cs typeface="Malgun Gothic"/>
              </a:rPr>
              <a:t>(크기·회전), 의미 벡터 </a:t>
            </a:r>
            <a:r>
              <a:rPr sz="1050" b="0" i="1">
                <a:solidFill>
                  <a:srgbClr val="16213A"/>
                </a:solidFill>
                <a:latin typeface="Arial"/>
                <a:ea typeface="Malgun Gothic"/>
                <a:cs typeface="Malgun Gothic"/>
              </a:rPr>
              <a:t>cᵢ</a:t>
            </a:r>
            <a:r>
              <a:rPr sz="1050" b="0" i="0">
                <a:solidFill>
                  <a:srgbClr val="16213A"/>
                </a:solidFill>
                <a:latin typeface="Arial"/>
                <a:ea typeface="Malgun Gothic"/>
                <a:cs typeface="Malgun Gothic"/>
              </a:rPr>
              <a:t>를 가진다. 질의점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의 의미는 이웃 Gaussian </a:t>
            </a:r>
            <a:r>
              <a:rPr sz="1050" b="0" i="1">
                <a:solidFill>
                  <a:srgbClr val="16213A"/>
                </a:solidFill>
                <a:latin typeface="Arial"/>
                <a:ea typeface="Malgun Gothic"/>
                <a:cs typeface="Malgun Gothic"/>
              </a:rPr>
              <a:t>𝒩(p)</a:t>
            </a:r>
            <a:r>
              <a:rPr sz="1050" b="0" i="0">
                <a:solidFill>
                  <a:srgbClr val="16213A"/>
                </a:solidFill>
                <a:latin typeface="Arial"/>
                <a:ea typeface="Malgun Gothic"/>
                <a:cs typeface="Malgun Gothic"/>
              </a:rPr>
              <a:t>만 더한다(배경 0.1의 리프팅과 반대 방향의 "뿌리기").</a:t>
            </a:r>
          </a:p>
        </p:txBody>
      </p:sp>
      <p:pic>
        <p:nvPicPr>
          <p:cNvPr id="6" name="Picture 5" descr="image.png"/>
          <p:cNvPicPr>
            <a:picLocks noChangeAspect="1"/>
          </p:cNvPicPr>
          <p:nvPr/>
        </p:nvPicPr>
        <p:blipFill>
          <a:blip r:embed="rId3"/>
          <a:stretch>
            <a:fillRect/>
          </a:stretch>
        </p:blipFill>
        <p:spPr>
          <a:xfrm>
            <a:off x="609600" y="1549995"/>
            <a:ext cx="3670300" cy="476250"/>
          </a:xfrm>
          <a:prstGeom prst="rect">
            <a:avLst/>
          </a:prstGeom>
        </p:spPr>
      </p:pic>
      <p:sp>
        <p:nvSpPr>
          <p:cNvPr id="7" name="TextBox 6"/>
          <p:cNvSpPr txBox="1"/>
          <p:nvPr/>
        </p:nvSpPr>
        <p:spPr>
          <a:xfrm>
            <a:off x="609600" y="203001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GaussianFormer-2.</a:t>
            </a:r>
            <a:r>
              <a:rPr sz="1050" b="0" i="0">
                <a:solidFill>
                  <a:srgbClr val="16213A"/>
                </a:solidFill>
                <a:latin typeface="Arial"/>
                <a:ea typeface="Malgun Gothic"/>
                <a:cs typeface="Malgun Gothic"/>
              </a:rPr>
              <a:t> 각 Gaussian을 "점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가 점유될 확률" </a:t>
            </a:r>
            <a:r>
              <a:rPr sz="1050" b="0" i="1">
                <a:solidFill>
                  <a:srgbClr val="16213A"/>
                </a:solidFill>
                <a:latin typeface="Arial"/>
                <a:ea typeface="Malgun Gothic"/>
                <a:cs typeface="Malgun Gothic"/>
              </a:rPr>
              <a:t>αᵢ(p) = exp(-1/2 (p - mᵢ)^⊤ Σᵢ⁻¹ (p - mᵢ))</a:t>
            </a:r>
            <a:r>
              <a:rPr sz="1050" b="0" i="0">
                <a:solidFill>
                  <a:srgbClr val="16213A"/>
                </a:solidFill>
                <a:latin typeface="Arial"/>
                <a:ea typeface="Malgun Gothic"/>
                <a:cs typeface="Malgun Gothic"/>
              </a:rPr>
              <a:t>로 본다. 점유 확률은 "어느 Gaussian도 점유하지 않을 확률"의 여사건이다(확률적 곱).</a:t>
            </a:r>
          </a:p>
        </p:txBody>
      </p:sp>
      <p:pic>
        <p:nvPicPr>
          <p:cNvPr id="8" name="Picture 7" descr="image.png"/>
          <p:cNvPicPr>
            <a:picLocks noChangeAspect="1"/>
          </p:cNvPicPr>
          <p:nvPr/>
        </p:nvPicPr>
        <p:blipFill>
          <a:blip r:embed="rId4"/>
          <a:stretch>
            <a:fillRect/>
          </a:stretch>
        </p:blipFill>
        <p:spPr>
          <a:xfrm>
            <a:off x="609600" y="2335411"/>
            <a:ext cx="1974850" cy="419100"/>
          </a:xfrm>
          <a:prstGeom prst="rect">
            <a:avLst/>
          </a:prstGeom>
        </p:spPr>
      </p:pic>
      <p:sp>
        <p:nvSpPr>
          <p:cNvPr id="9" name="TextBox 8"/>
          <p:cNvSpPr txBox="1"/>
          <p:nvPr/>
        </p:nvSpPr>
        <p:spPr>
          <a:xfrm>
            <a:off x="609600" y="276572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의미는 Gaussian 혼합 모델로 겹침 없이 계산한다. 초기 Gaussian은 표면 깊이 대신 픽셀 광선을 따라 학습한 점유 분포에서 뽑는다.</a:t>
            </a:r>
          </a:p>
        </p:txBody>
      </p:sp>
      <p:sp>
        <p:nvSpPr>
          <p:cNvPr id="10" name="TextBox 9"/>
          <p:cNvSpPr txBox="1"/>
          <p:nvPr/>
        </p:nvSpPr>
        <p:spPr>
          <a:xfrm>
            <a:off x="609600" y="307111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"점유 확률의 곱"은 TravMap의 σ 채널을 여러 관측에서 합칠 때 쓸 수 있는 간단한 규칙이다. 관측마다 "여기가 막혔을 확률"을 내면 </a:t>
            </a:r>
            <a:r>
              <a:rPr sz="1050" b="0" i="1">
                <a:solidFill>
                  <a:srgbClr val="16213A"/>
                </a:solidFill>
                <a:latin typeface="Arial"/>
                <a:ea typeface="Malgun Gothic"/>
                <a:cs typeface="Malgun Gothic"/>
              </a:rPr>
              <a:t>1 - ∏(1 - α)</a:t>
            </a:r>
            <a:r>
              <a:rPr sz="1050" b="0" i="0">
                <a:solidFill>
                  <a:srgbClr val="16213A"/>
                </a:solidFill>
                <a:latin typeface="Arial"/>
                <a:ea typeface="Malgun Gothic"/>
                <a:cs typeface="Malgun Gothic"/>
              </a:rPr>
              <a:t>로 합친다.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18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travplan이 채택한 인식은 자동차 occupancy가 아니라 로봇용 elevation mapping 계보다</a:t>
            </a:r>
            <a:r>
              <a:rPr sz="1050" b="0" i="0">
                <a:solidFill>
                  <a:srgbClr val="16213A"/>
                </a:solidFill>
                <a:latin typeface="Arial"/>
                <a:ea typeface="Malgun Gothic"/>
                <a:cs typeface="Malgun Gothic"/>
              </a:rPr>
              <a:t>(P2.1, </a:t>
            </a:r>
            <a:r>
              <a:rPr sz="1050" b="0" i="0">
                <a:solidFill>
                  <a:srgbClr val="16213A"/>
                </a:solidFill>
                <a:latin typeface="Consolas"/>
                <a:ea typeface="Malgun Gothic"/>
                <a:cs typeface="Malgun Gothic"/>
              </a:rPr>
              <a:t>elevation_mapping_gpu_ros2</a:t>
            </a:r>
            <a:r>
              <a:rPr sz="1050" b="0" i="0">
                <a:solidFill>
                  <a:srgbClr val="16213A"/>
                </a:solidFill>
                <a:latin typeface="Arial"/>
                <a:ea typeface="Malgun Gothic"/>
                <a:cs typeface="Malgun Gothic"/>
              </a:rPr>
              <a:t>). 이 계보는 칸마다 높이를 Kalman 필터로 합치는 단순한 모델에서 출발해, GPU 병렬화와 학습 기반 traversability 필터까지 왔다.</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Robot-centric elevation mapping — 칸마다 높이와 분산을 합친다</a:t>
            </a:r>
            <a:r>
              <a:rPr sz="1050" b="0" i="0">
                <a:solidFill>
                  <a:srgbClr val="16213A"/>
                </a:solidFill>
                <a:latin typeface="Arial"/>
                <a:ea typeface="Malgun Gothic"/>
                <a:cs typeface="Malgun Gothic"/>
              </a:rPr>
              <a:t>(Fankhauser 등, CLAWAR 2014, RA-L 2018, </a:t>
            </a:r>
            <a:r>
              <a:rPr sz="1050" b="0" i="0">
                <a:solidFill>
                  <a:srgbClr val="1D4ED8"/>
                </a:solidFill>
                <a:latin typeface="Arial"/>
                <a:ea typeface="Malgun Gothic"/>
                <a:cs typeface="Malgun Gothic"/>
                <a:hlinkClick r:id="rId3"/>
              </a:rPr>
              <a:t>ANYbotics/elevation_mapping</a:t>
            </a:r>
            <a:r>
              <a:rPr sz="1050" b="0" i="0">
                <a:solidFill>
                  <a:srgbClr val="16213A"/>
                </a:solidFill>
                <a:latin typeface="Arial"/>
                <a:ea typeface="Malgun Gothic"/>
                <a:cs typeface="Malgun Gothic"/>
              </a:rPr>
              <a:t>, BSD-3, ★1.9k). 로봇 중심의 2.5D 격자에서 칸마다 높이와 분산을 1차원 Kalman 필터로 갱신한다. 로봇 자세의 불확실성은 칸의 수평 불확실성으로 전파하고, 이웃 높이의 퍼짐을 거쳐 높이 구간으로 바꾼다. 그래서 오래전에 본 평지는 계속 믿을 만하고, 턱 가장자리만 믿음을 잃는다(Planner 문서 B.14.1). ANYmal 계열 보행 연구에서 널리 쓰였고, 아래 GPU 판의 출발점이다.</a:t>
            </a:r>
          </a:p>
        </p:txBody>
      </p:sp>
      <p:sp>
        <p:nvSpPr>
          <p:cNvPr id="7" name="TextBox 6"/>
          <p:cNvSpPr txBox="1"/>
          <p:nvPr/>
        </p:nvSpPr>
        <p:spPr>
          <a:xfrm>
            <a:off x="609600" y="25048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elevation_mapping_cupy — GPU로 옮기고 기능을 더했다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arXiv:2204.12876</a:t>
            </a:r>
            <a:r>
              <a:rPr sz="1050" b="0" i="0">
                <a:solidFill>
                  <a:srgbClr val="16213A"/>
                </a:solidFill>
                <a:latin typeface="Arial"/>
                <a:ea typeface="Malgun Gothic"/>
                <a:cs typeface="Malgun Gothic"/>
              </a:rPr>
              <a:t>, IROS 2022, ETH RSL, </a:t>
            </a:r>
            <a:r>
              <a:rPr sz="1050" b="0" i="0">
                <a:solidFill>
                  <a:srgbClr val="1D4ED8"/>
                </a:solidFill>
                <a:latin typeface="Arial"/>
                <a:ea typeface="Malgun Gothic"/>
                <a:cs typeface="Malgun Gothic"/>
                <a:hlinkClick r:id="rId5"/>
              </a:rPr>
              <a:t>leggedrobotics/elevation_mapping_cupy</a:t>
            </a:r>
            <a:r>
              <a:rPr sz="1050" b="0" i="0">
                <a:solidFill>
                  <a:srgbClr val="16213A"/>
                </a:solidFill>
                <a:latin typeface="Arial"/>
                <a:ea typeface="Malgun Gothic"/>
                <a:cs typeface="Malgun Gothic"/>
              </a:rPr>
              <a:t>, MIT, ★1.1k, 2026-09까지 활발). 점마다 CUDA 커널로 칸 높이를 갱신하고, 높이 드리프트 보정, 광선 추적 기반 가시성 정리(지나간 동적 장애물 지우기), 학습된 traversability CNN, 법선 계산을 모두 GPU에서 한다. DARPA SubT 지하 탐사와 여러 4족 보행 실험에 배포됐다. travplan이 P2.1에서 검증한 </a:t>
            </a:r>
            <a:r>
              <a:rPr sz="1050" b="0" i="0">
                <a:solidFill>
                  <a:srgbClr val="16213A"/>
                </a:solidFill>
                <a:latin typeface="Consolas"/>
                <a:ea typeface="Malgun Gothic"/>
                <a:cs typeface="Malgun Gothic"/>
              </a:rPr>
              <a:t>elevation_mapping_gpu_ros2</a:t>
            </a:r>
            <a:r>
              <a:rPr sz="1050" b="0" i="0">
                <a:solidFill>
                  <a:srgbClr val="16213A"/>
                </a:solidFill>
                <a:latin typeface="Arial"/>
                <a:ea typeface="Malgun Gothic"/>
                <a:cs typeface="Malgun Gothic"/>
              </a:rPr>
              <a:t>가 이 코드의 Jetson Orin 포트다.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19 / 359</a:t>
            </a:r>
          </a:p>
        </p:txBody>
      </p:sp>
      <p:pic>
        <p:nvPicPr>
          <p:cNvPr id="5" name="Picture 4" descr="image.jpg"/>
          <p:cNvPicPr>
            <a:picLocks noChangeAspect="1"/>
          </p:cNvPicPr>
          <p:nvPr/>
        </p:nvPicPr>
        <p:blipFill>
          <a:blip r:embed="rId3"/>
          <a:stretch>
            <a:fillRect/>
          </a:stretch>
        </p:blipFill>
        <p:spPr>
          <a:xfrm>
            <a:off x="4121150" y="1244600"/>
            <a:ext cx="3949700" cy="4445000"/>
          </a:xfrm>
          <a:prstGeom prst="rect">
            <a:avLst/>
          </a:prstGeom>
        </p:spPr>
      </p:pic>
      <p:sp>
        <p:nvSpPr>
          <p:cNvPr id="6" name="TextBox 5"/>
          <p:cNvSpPr txBox="1"/>
          <p:nvPr/>
        </p:nvSpPr>
        <p:spPr>
          <a:xfrm>
            <a:off x="4121150" y="5727700"/>
            <a:ext cx="39497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elevation_mapping_cupy (Fig. 1): 점군 처리, traversability 추정, 법선 계산을 GPU에서 수행하는 elevation mapping 파이프라인. 출처: arXiv:2204.12876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자세히: 칸 높이의 Kalman 갱신과 상한(upper bound) 층</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20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높이 갱신.</a:t>
            </a:r>
            <a:r>
              <a:rPr sz="1050" b="0" i="0">
                <a:solidFill>
                  <a:srgbClr val="16213A"/>
                </a:solidFill>
                <a:latin typeface="Arial"/>
                <a:ea typeface="Malgun Gothic"/>
                <a:cs typeface="Malgun Gothic"/>
              </a:rPr>
              <a:t> 점 높이 </a:t>
            </a:r>
            <a:r>
              <a:rPr sz="1050" b="0" i="1">
                <a:solidFill>
                  <a:srgbClr val="16213A"/>
                </a:solidFill>
                <a:latin typeface="Arial"/>
                <a:ea typeface="Malgun Gothic"/>
                <a:cs typeface="Malgun Gothic"/>
              </a:rPr>
              <a:t>p_z</a:t>
            </a:r>
            <a:r>
              <a:rPr sz="1050" b="0" i="0">
                <a:solidFill>
                  <a:srgbClr val="16213A"/>
                </a:solidFill>
                <a:latin typeface="Arial"/>
                <a:ea typeface="Malgun Gothic"/>
                <a:cs typeface="Malgun Gothic"/>
              </a:rPr>
              <a:t>의 분산 </a:t>
            </a:r>
            <a:r>
              <a:rPr sz="1050" b="0" i="1">
                <a:solidFill>
                  <a:srgbClr val="16213A"/>
                </a:solidFill>
                <a:latin typeface="Arial"/>
                <a:ea typeface="Malgun Gothic"/>
                <a:cs typeface="Malgun Gothic"/>
              </a:rPr>
              <a:t>σₚ² = α_d d²</a:t>
            </a:r>
            <a:r>
              <a:rPr sz="1050" b="0" i="0">
                <a:solidFill>
                  <a:srgbClr val="16213A"/>
                </a:solidFill>
                <a:latin typeface="Arial"/>
                <a:ea typeface="Malgun Gothic"/>
                <a:cs typeface="Malgun Gothic"/>
              </a:rPr>
              <a:t>(센서에서 거리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의 제곱에 비례)와 칸의 추정 분산 </a:t>
            </a:r>
            <a:r>
              <a:rPr sz="1050" b="0" i="1">
                <a:solidFill>
                  <a:srgbClr val="16213A"/>
                </a:solidFill>
                <a:latin typeface="Arial"/>
                <a:ea typeface="Malgun Gothic"/>
                <a:cs typeface="Malgun Gothic"/>
              </a:rPr>
              <a:t>σₘ²</a:t>
            </a:r>
            <a:r>
              <a:rPr sz="1050" b="0" i="0">
                <a:solidFill>
                  <a:srgbClr val="16213A"/>
                </a:solidFill>
                <a:latin typeface="Arial"/>
                <a:ea typeface="Malgun Gothic"/>
                <a:cs typeface="Malgun Gothic"/>
              </a:rPr>
              <a:t>로 가중 평균한다.</a:t>
            </a:r>
          </a:p>
        </p:txBody>
      </p:sp>
      <p:pic>
        <p:nvPicPr>
          <p:cNvPr id="6" name="Picture 5" descr="image.png"/>
          <p:cNvPicPr>
            <a:picLocks noChangeAspect="1"/>
          </p:cNvPicPr>
          <p:nvPr/>
        </p:nvPicPr>
        <p:blipFill>
          <a:blip r:embed="rId3"/>
          <a:stretch>
            <a:fillRect/>
          </a:stretch>
        </p:blipFill>
        <p:spPr>
          <a:xfrm>
            <a:off x="609600" y="1549995"/>
            <a:ext cx="2828925" cy="473075"/>
          </a:xfrm>
          <a:prstGeom prst="rect">
            <a:avLst/>
          </a:prstGeom>
        </p:spPr>
      </p:pic>
      <p:sp>
        <p:nvSpPr>
          <p:cNvPr id="7" name="TextBox 6"/>
          <p:cNvSpPr txBox="1"/>
          <p:nvPr/>
        </p:nvSpPr>
        <p:spPr>
          <a:xfrm>
            <a:off x="609600" y="2028527"/>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한동안 갱신되지 않은 칸에는 일정 분산 </a:t>
            </a:r>
            <a:r>
              <a:rPr sz="1050" b="0" i="1">
                <a:solidFill>
                  <a:srgbClr val="16213A"/>
                </a:solidFill>
                <a:latin typeface="Arial"/>
                <a:ea typeface="Malgun Gothic"/>
                <a:cs typeface="Malgun Gothic"/>
              </a:rPr>
              <a:t>σₜ²</a:t>
            </a:r>
            <a:r>
              <a:rPr sz="1050" b="0" i="0">
                <a:solidFill>
                  <a:srgbClr val="16213A"/>
                </a:solidFill>
                <a:latin typeface="Arial"/>
                <a:ea typeface="Malgun Gothic"/>
                <a:cs typeface="Malgun Gothic"/>
              </a:rPr>
              <a:t>를 계속 더해 믿음을 낮춘다. 추정과 Mahalanobis 거리가 큰 점은 이상치로 버린다.</a:t>
            </a:r>
          </a:p>
        </p:txBody>
      </p:sp>
      <p:sp>
        <p:nvSpPr>
          <p:cNvPr id="8" name="TextBox 7"/>
          <p:cNvSpPr txBox="1"/>
          <p:nvPr/>
        </p:nvSpPr>
        <p:spPr>
          <a:xfrm>
            <a:off x="609600" y="233392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가시성 정리.</a:t>
            </a:r>
            <a:r>
              <a:rPr sz="1050" b="0" i="0">
                <a:solidFill>
                  <a:srgbClr val="16213A"/>
                </a:solidFill>
                <a:latin typeface="Arial"/>
                <a:ea typeface="Malgun Gothic"/>
                <a:cs typeface="Malgun Gothic"/>
              </a:rPr>
              <a:t> 센서에서 점까지 광선을 따라가다가, 광선 높이가 칸 높이보다 낮으면(칸을 뚫고 지나갔으면) 그 칸의 높이를 지운다. 지나간 보행자가 지도에 남지 않게 한다.</a:t>
            </a:r>
          </a:p>
        </p:txBody>
      </p:sp>
      <p:sp>
        <p:nvSpPr>
          <p:cNvPr id="9" name="TextBox 8"/>
          <p:cNvSpPr txBox="1"/>
          <p:nvPr/>
        </p:nvSpPr>
        <p:spPr>
          <a:xfrm>
            <a:off x="609600" y="263931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상한 층.</a:t>
            </a:r>
            <a:r>
              <a:rPr sz="1050" b="0" i="0">
                <a:solidFill>
                  <a:srgbClr val="16213A"/>
                </a:solidFill>
                <a:latin typeface="Arial"/>
                <a:ea typeface="Malgun Gothic"/>
                <a:cs typeface="Malgun Gothic"/>
              </a:rPr>
              <a:t> 광선이 관측되지 않은 칸 위를 지나가면, 그 칸의 지면은 광선보다 높을 수 없다(높았다면 광선이 거기서 멈췄을 것이다). 그래서 광선 높이를 그 칸 높이의 상한으로 저장한다. 논문은 이 층이 "물체에 가려 생긴 안전한 구멍"(상한의 기울기가 작음)과 "위험한 큰 낙차"(광선이 가파르게 내려가 상한의 기울기가 큼)를 구별하게 해 준다고 설명한다.</a:t>
            </a:r>
          </a:p>
        </p:txBody>
      </p:sp>
      <p:sp>
        <p:nvSpPr>
          <p:cNvPr id="10" name="TextBox 9"/>
          <p:cNvSpPr txBox="1"/>
          <p:nvPr/>
        </p:nvSpPr>
        <p:spPr>
          <a:xfrm>
            <a:off x="609600" y="3161209"/>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L0 가림 실험(TP-0031)에서 포트홀 둘레 실패가 난 원인이 바로 "관측되지 않은 칸을 어떻게 해석하나"였다. 상한 층은 음의 장애물 대응(TP-0044)의 가장 가까운 기존 구현이다. travplan이 가져온 포크(</a:t>
            </a:r>
            <a:r>
              <a:rPr sz="1050" b="0" i="0">
                <a:solidFill>
                  <a:srgbClr val="16213A"/>
                </a:solidFill>
                <a:latin typeface="Consolas"/>
                <a:ea typeface="Malgun Gothic"/>
                <a:cs typeface="Malgun Gothic"/>
              </a:rPr>
              <a:t>travplan_ws/src/elevation_mapping_cupy</a:t>
            </a:r>
            <a:r>
              <a:rPr sz="1050" b="0" i="0">
                <a:solidFill>
                  <a:srgbClr val="16213A"/>
                </a:solidFill>
                <a:latin typeface="Arial"/>
                <a:ea typeface="Malgun Gothic"/>
                <a:cs typeface="Malgun Gothic"/>
              </a:rPr>
              <a:t>)에도 가시성 정리와 상한 설정이 들어 있다(</a:t>
            </a:r>
            <a:r>
              <a:rPr sz="1050" b="0" i="0">
                <a:solidFill>
                  <a:srgbClr val="16213A"/>
                </a:solidFill>
                <a:latin typeface="Consolas"/>
                <a:ea typeface="Malgun Gothic"/>
                <a:cs typeface="Malgun Gothic"/>
              </a:rPr>
              <a:t>enable_visibility_cleanup</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use_only_above_for_upper_bound</a:t>
            </a:r>
            <a:r>
              <a:rPr sz="1050" b="0" i="0">
                <a:solidFill>
                  <a:srgbClr val="16213A"/>
                </a:solidFill>
                <a:latin typeface="Arial"/>
                <a:ea typeface="Malgun Gothic"/>
                <a:cs typeface="Malgun Gothic"/>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21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A.2b.1 그 뒤로 무엇이 바뀌었나 (2023–2026)</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계보가 2022년에서 멈춘 게 아니라 저장소의 기본 브랜치가 멈춰 있었다.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elevation_mapping_cupy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main</a:t>
            </a:r>
            <a:r>
              <a:rPr sz="1050" b="0" i="0">
                <a:solidFill>
                  <a:srgbClr val="16213A"/>
                </a:solidFill>
                <a:latin typeface="Arial"/>
                <a:ea typeface="Malgun Gothic"/>
                <a:cs typeface="Malgun Gothic"/>
              </a:rPr>
              <a:t>은 2025-05에 마지막 커밋이지만, </a:t>
            </a:r>
            <a:r>
              <a:rPr sz="1050" b="1" i="0">
                <a:solidFill>
                  <a:srgbClr val="16213A"/>
                </a:solidFill>
                <a:latin typeface="Consolas"/>
                <a:ea typeface="Malgun Gothic"/>
                <a:cs typeface="Malgun Gothic"/>
              </a:rPr>
              <a:t>ros2</a:t>
            </a:r>
            <a:r>
              <a:rPr sz="1050" b="1" i="0">
                <a:solidFill>
                  <a:srgbClr val="16213A"/>
                </a:solidFill>
                <a:latin typeface="Arial"/>
                <a:ea typeface="Malgun Gothic"/>
                <a:cs typeface="Malgun Gothic"/>
              </a:rPr>
              <a:t> 브랜치는 2026-07-20까지 살아 있고 릴리스가 이어졌다.</a:t>
            </a:r>
            <a:r>
              <a:rPr sz="1050" b="0" i="0">
                <a:solidFill>
                  <a:srgbClr val="16213A"/>
                </a:solidFill>
                <a:latin typeface="Arial"/>
                <a:ea typeface="Malgun Gothic"/>
                <a:cs typeface="Malgun Gothic"/>
              </a:rPr>
              <a:t> 활동 위치를 잘못 보고 있었다.</a:t>
            </a:r>
          </a:p>
        </p:txBody>
      </p:sp>
      <p:graphicFrame>
        <p:nvGraphicFramePr>
          <p:cNvPr id="7" name="Table 6"/>
          <p:cNvGraphicFramePr>
            <a:graphicFrameLocks noGrp="1"/>
          </p:cNvGraphicFramePr>
          <p:nvPr/>
        </p:nvGraphicFramePr>
        <p:xfrm>
          <a:off x="609600" y="2069703"/>
          <a:ext cx="10966450" cy="1182528"/>
        </p:xfrm>
        <a:graphic>
          <a:graphicData uri="http://schemas.openxmlformats.org/drawingml/2006/table">
            <a:tbl>
              <a:tblPr firstRow="1" bandRow="1">
                <a:tableStyleId>{5C22544A-7EE6-4342-B048-85BDC9FD1C3A}</a:tableStyleId>
              </a:tblPr>
              <a:tblGrid>
                <a:gridCol w="3555107"/>
                <a:gridCol w="1102122"/>
                <a:gridCol w="6309221"/>
              </a:tblGrid>
              <a:tr h="197088">
                <a:tc>
                  <a:txBody>
                    <a:bodyPr wrap="square"/>
                    <a:lstStyle/>
                    <a:p>
                      <a:r>
                        <a:rPr sz="800" b="1" i="0">
                          <a:solidFill>
                            <a:srgbClr val="F4F1EA"/>
                          </a:solidFill>
                          <a:latin typeface="Arial"/>
                          <a:ea typeface="Malgun Gothic"/>
                          <a:cs typeface="Malgun Gothic"/>
                        </a:rPr>
                        <a:t>릴리스·사건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시기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내용</a:t>
                      </a:r>
                    </a:p>
                  </a:txBody>
                  <a:tcPr marL="63500" marR="63500" marT="12700" marB="12700">
                    <a:solidFill>
                      <a:srgbClr val="16213A"/>
                    </a:solidFill>
                  </a:tcPr>
                </a:tc>
              </a:tr>
              <a:tr h="197088">
                <a:tc>
                  <a:txBody>
                    <a:bodyPr wrap="square"/>
                    <a:lstStyle/>
                    <a:p>
                      <a:r>
                        <a:rPr sz="800" b="1" i="0">
                          <a:solidFill>
                            <a:srgbClr val="16213A"/>
                          </a:solidFill>
                          <a:latin typeface="Arial"/>
                          <a:ea typeface="Malgun Gothic"/>
                          <a:cs typeface="Malgun Gothic"/>
                        </a:rPr>
                        <a:t>MEM</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3"/>
                        </a:rPr>
                        <a:t>arXiv:2309.16818</a:t>
                      </a:r>
                      <a:r>
                        <a:rPr sz="800" b="0" i="0">
                          <a:solidFill>
                            <a:srgbClr val="16213A"/>
                          </a:solidFill>
                          <a:latin typeface="Arial"/>
                          <a:ea typeface="Malgun Gothic"/>
                          <a:cs typeface="Malgun Gothic"/>
                        </a:rPr>
                        <a:t>, IROS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RGB·시맨틱·학습 특징을 </a:t>
                      </a:r>
                      <a:r>
                        <a:rPr sz="800" b="1" i="0">
                          <a:solidFill>
                            <a:srgbClr val="16213A"/>
                          </a:solidFill>
                          <a:latin typeface="Arial"/>
                          <a:ea typeface="Malgun Gothic"/>
                          <a:cs typeface="Malgun Gothic"/>
                        </a:rPr>
                        <a:t>멀티모달 층</a:t>
                      </a:r>
                      <a:r>
                        <a:rPr sz="800" b="0" i="0">
                          <a:solidFill>
                            <a:srgbClr val="16213A"/>
                          </a:solidFill>
                          <a:latin typeface="Arial"/>
                          <a:ea typeface="Malgun Gothic"/>
                          <a:cs typeface="Malgun Gothic"/>
                        </a:rPr>
                        <a:t>으로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v2.0.0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2025-08</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ROS 2 Humble 전면 이행</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v2.1.0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2026-02</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ROS 2 Jazzy</a:t>
                      </a:r>
                      <a:r>
                        <a:rPr sz="800" b="0" i="0">
                          <a:solidFill>
                            <a:srgbClr val="16213A"/>
                          </a:solidFill>
                          <a:latin typeface="Arial"/>
                          <a:ea typeface="Malgun Gothic"/>
                          <a:cs typeface="Malgun Gothic"/>
                        </a:rPr>
                        <a:t>. 이미지·시맨틱 융합을 지원 경로에서 제거, </a:t>
                      </a:r>
                      <a:r>
                        <a:rPr sz="800" b="0" i="0">
                          <a:solidFill>
                            <a:srgbClr val="16213A"/>
                          </a:solidFill>
                          <a:latin typeface="Consolas"/>
                          <a:ea typeface="Malgun Gothic"/>
                          <a:cs typeface="Malgun Gothic"/>
                        </a:rPr>
                        <a:t>plane_segmentation</a:t>
                      </a:r>
                      <a:r>
                        <a:rPr sz="800" b="0" i="0">
                          <a:solidFill>
                            <a:srgbClr val="16213A"/>
                          </a:solidFill>
                          <a:latin typeface="Arial"/>
                          <a:ea typeface="Malgun Gothic"/>
                          <a:cs typeface="Malgun Gothic"/>
                        </a:rPr>
                        <a:t> 기본 끔</a:t>
                      </a:r>
                    </a:p>
                  </a:txBody>
                  <a:tcPr marL="63500" marR="63500" marT="12700" marB="12700">
                    <a:solidFill>
                      <a:srgbClr val="FFFDF8"/>
                    </a:solidFill>
                  </a:tcPr>
                </a:tc>
              </a:tr>
              <a:tr h="197088">
                <a:tc>
                  <a:txBody>
                    <a:bodyPr wrap="square"/>
                    <a:lstStyle/>
                    <a:p>
                      <a:r>
                        <a:rPr sz="800" b="1" i="0">
                          <a:solidFill>
                            <a:srgbClr val="16213A"/>
                          </a:solidFill>
                          <a:latin typeface="Consolas"/>
                          <a:ea typeface="Malgun Gothic"/>
                          <a:cs typeface="Malgun Gothic"/>
                        </a:rPr>
                        <a:t>elevation_mapping_cupy_core</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4"/>
                        </a:rPr>
                        <a:t>코드</a:t>
                      </a:r>
                      <a:r>
                        <a:rPr sz="800" b="0" i="0">
                          <a:solidFill>
                            <a:srgbClr val="16213A"/>
                          </a:solidFill>
                          <a:latin typeface="Arial"/>
                          <a:ea typeface="Malgun Gothic"/>
                          <a:cs typeface="Malgun Gothic"/>
                        </a:rPr>
                        <a:t>, ★18 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2026-02–08</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ROS 의존이 0인 순수 Python 패키지</a:t>
                      </a:r>
                      <a:r>
                        <a:rPr sz="800" b="1" i="0">
                          <a:solidFill>
                            <a:srgbClr val="C2410C"/>
                          </a:solidFill>
                          <a:latin typeface="Arial"/>
                          <a:ea typeface="Malgun Gothic"/>
                          <a:cs typeface="Malgun Gothic"/>
                        </a:rPr>
                        <a:t>로 분리</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v2.2.0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2026-07</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GPU 정확성·처리량</a:t>
                      </a:r>
                      <a:r>
                        <a:rPr sz="800" b="0" i="0">
                          <a:solidFill>
                            <a:srgbClr val="16213A"/>
                          </a:solidFill>
                          <a:latin typeface="Arial"/>
                          <a:ea typeface="Malgun Gothic"/>
                          <a:cs typeface="Malgun Gothic"/>
                        </a:rPr>
                        <a:t> — race-free 점 융합, 정확한 2D DDA 가시성, dilation과 GridMap 생성 최적화</a:t>
                      </a:r>
                    </a:p>
                  </a:txBody>
                  <a:tcPr marL="63500" marR="63500" marT="12700" marB="12700">
                    <a:solidFill>
                      <a:srgbClr val="FFFDF8"/>
                    </a:solidFill>
                  </a:tcPr>
                </a:tc>
              </a:tr>
            </a:tbl>
          </a:graphicData>
        </a:graphic>
      </p:graphicFrame>
      <p:sp>
        <p:nvSpPr>
          <p:cNvPr id="8" name="TextBox 7"/>
          <p:cNvSpPr txBox="1"/>
          <p:nvPr/>
        </p:nvSpPr>
        <p:spPr>
          <a:xfrm>
            <a:off x="609600" y="364311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v2.2.0의 숫자가 travplan의 TP-0084와 정면으로 겹친다.</a:t>
            </a:r>
            <a:r>
              <a:rPr sz="1050" b="0" i="0">
                <a:solidFill>
                  <a:srgbClr val="16213A"/>
                </a:solidFill>
                <a:latin typeface="Arial"/>
                <a:ea typeface="Malgun Gothic"/>
                <a:cs typeface="Malgun Gothic"/>
              </a:rPr>
              <a:t> 상류가 RTX 4090에서 잰 값으로 </a:t>
            </a:r>
            <a:r>
              <a:rPr sz="1050" b="1" i="0">
                <a:solidFill>
                  <a:srgbClr val="16213A"/>
                </a:solidFill>
                <a:latin typeface="Arial"/>
                <a:ea typeface="Malgun Gothic"/>
                <a:cs typeface="Malgun Gothic"/>
              </a:rPr>
              <a:t>602×602 dilation이 8.704 → 0.590 ms</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600×600 단일층 GridMap 생성이 10.80 → 0.90 ms</a:t>
            </a:r>
            <a:r>
              <a:rPr sz="1050" b="0" i="0">
                <a:solidFill>
                  <a:srgbClr val="16213A"/>
                </a:solidFill>
                <a:latin typeface="Arial"/>
                <a:ea typeface="Malgun Gothic"/>
                <a:cs typeface="Malgun Gothic"/>
              </a:rPr>
              <a:t>(각 p95)다. 우리가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를 GPU로 옮겨 26–44배를 얻은 것과 </a:t>
            </a:r>
            <a:r>
              <a:rPr sz="1050" b="1" i="0">
                <a:solidFill>
                  <a:srgbClr val="16213A"/>
                </a:solidFill>
                <a:latin typeface="Arial"/>
                <a:ea typeface="Malgun Gothic"/>
                <a:cs typeface="Malgun Gothic"/>
              </a:rPr>
              <a:t>같은 종류의 연산</a:t>
            </a:r>
            <a:r>
              <a:rPr sz="1050" b="0" i="0">
                <a:solidFill>
                  <a:srgbClr val="16213A"/>
                </a:solidFill>
                <a:latin typeface="Arial"/>
                <a:ea typeface="Malgun Gothic"/>
                <a:cs typeface="Malgun Gothic"/>
              </a:rPr>
              <a:t>이고, 상류에 이미 최적화된 코드와 벤치마크가 공개돼 있다.</a:t>
            </a:r>
          </a:p>
        </p:txBody>
      </p:sp>
      <p:sp>
        <p:nvSpPr>
          <p:cNvPr id="9" name="TextBox 8"/>
          <p:cNvSpPr txBox="1"/>
          <p:nvPr/>
        </p:nvSpPr>
        <p:spPr>
          <a:xfrm>
            <a:off x="609600" y="4165005"/>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core 패키지가 travplan에 직접 걸린다.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emap_mapper.py</a:t>
            </a:r>
            <a:r>
              <a:rPr sz="1050" b="0" i="0">
                <a:solidFill>
                  <a:srgbClr val="16213A"/>
                </a:solidFill>
                <a:latin typeface="Arial"/>
                <a:ea typeface="Malgun Gothic"/>
                <a:cs typeface="Malgun Gothic"/>
              </a:rPr>
              <a:t>가 쓰는 import 경로·클래스·getter(</a:t>
            </a:r>
            <a:r>
              <a:rPr sz="1050" b="0" i="0">
                <a:solidFill>
                  <a:srgbClr val="16213A"/>
                </a:solidFill>
                <a:latin typeface="Consolas"/>
                <a:ea typeface="Malgun Gothic"/>
                <a:cs typeface="Malgun Gothic"/>
              </a:rPr>
              <a:t>input_pointcloud</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move_to</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update_variance</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get_elevation</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get_variance</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get_upper_bound</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get_is_upper_bound</a:t>
            </a:r>
            <a:r>
              <a:rPr sz="1050" b="0" i="0">
                <a:solidFill>
                  <a:srgbClr val="16213A"/>
                </a:solidFill>
                <a:latin typeface="Arial"/>
                <a:ea typeface="Malgun Gothic"/>
                <a:cs typeface="Malgun Gothic"/>
              </a:rPr>
              <a:t>)가 그대로 있다. 옮기면 ROS 2 워크스페이스와 벤더링 트리를 걷어낼 수 있고, </a:t>
            </a:r>
            <a:r>
              <a:rPr sz="1050" b="1" i="0">
                <a:solidFill>
                  <a:srgbClr val="16213A"/>
                </a:solidFill>
                <a:latin typeface="Arial"/>
                <a:ea typeface="Malgun Gothic"/>
                <a:cs typeface="Malgun Gothic"/>
              </a:rPr>
              <a:t>학습 traversability 필터를 </a:t>
            </a:r>
            <a:r>
              <a:rPr sz="1050" b="1" i="0">
                <a:solidFill>
                  <a:srgbClr val="16213A"/>
                </a:solidFill>
                <a:latin typeface="Consolas"/>
                <a:ea typeface="Malgun Gothic"/>
                <a:cs typeface="Malgun Gothic"/>
              </a:rPr>
              <a:t>weight_file</a:t>
            </a:r>
            <a:r>
              <a:rPr sz="1050" b="1" i="0">
                <a:solidFill>
                  <a:srgbClr val="16213A"/>
                </a:solidFill>
                <a:latin typeface="Arial"/>
                <a:ea typeface="Malgun Gothic"/>
                <a:cs typeface="Malgun Gothic"/>
              </a:rPr>
              <a:t>을 비워 진짜로 끌 수 있다</a:t>
            </a:r>
            <a:r>
              <a:rPr sz="1050" b="0" i="0">
                <a:solidFill>
                  <a:srgbClr val="16213A"/>
                </a:solidFill>
                <a:latin typeface="Arial"/>
                <a:ea typeface="Malgun Gothic"/>
                <a:cs typeface="Malgun Gothic"/>
              </a:rPr>
              <a:t>(A.7.2의 "끌 수 없다"가 core에서는 해소된다). 대신 PyPI에 없어 git 설치이고, travplan의 </a:t>
            </a:r>
            <a:r>
              <a:rPr sz="1050" b="0" i="0">
                <a:solidFill>
                  <a:srgbClr val="16213A"/>
                </a:solidFill>
                <a:latin typeface="Consolas"/>
                <a:ea typeface="Malgun Gothic"/>
                <a:cs typeface="Malgun Gothic"/>
              </a:rPr>
              <a:t>float16</a:t>
            </a:r>
            <a:r>
              <a:rPr sz="1050" b="0" i="0">
                <a:solidFill>
                  <a:srgbClr val="16213A"/>
                </a:solidFill>
                <a:latin typeface="Arial"/>
                <a:ea typeface="Malgun Gothic"/>
                <a:cs typeface="Malgun Gothic"/>
              </a:rPr>
              <a:t> 커널 패치를 다시 적용해야 한다 — </a:t>
            </a:r>
            <a:r>
              <a:rPr sz="1050" b="1" i="0">
                <a:solidFill>
                  <a:srgbClr val="16213A"/>
                </a:solidFill>
                <a:latin typeface="Arial"/>
                <a:ea typeface="Malgun Gothic"/>
                <a:cs typeface="Malgun Gothic"/>
              </a:rPr>
              <a:t>그 패치는 상류에 아직 반영되지 않은 실제 버그라 PR 가치가 있다.</a:t>
            </a:r>
          </a:p>
        </p:txBody>
      </p:sp>
      <p:sp>
        <p:nvSpPr>
          <p:cNvPr id="10" name="TextBox 9"/>
          <p:cNvSpPr txBox="1"/>
          <p:nvPr/>
        </p:nvSpPr>
        <p:spPr>
          <a:xfrm>
            <a:off x="717550" y="5119886"/>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A.2b.2 Orin 실측 — 매핑은 병목이 아니라는 외부 증거</a:t>
            </a:r>
          </a:p>
        </p:txBody>
      </p:sp>
      <p:sp>
        <p:nvSpPr>
          <p:cNvPr id="11" name="TextBox 10"/>
          <p:cNvSpPr txBox="1"/>
          <p:nvPr/>
        </p:nvSpPr>
        <p:spPr>
          <a:xfrm>
            <a:off x="609600" y="542309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travplan은 Orin 하드웨어가 없어 직접 재지 못한다. 대신 같은 코드를 Orin에 올린 보고가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22 / 359</a:t>
            </a:r>
          </a:p>
        </p:txBody>
      </p:sp>
      <p:graphicFrame>
        <p:nvGraphicFramePr>
          <p:cNvPr id="5" name="Table 4"/>
          <p:cNvGraphicFramePr>
            <a:graphicFrameLocks noGrp="1"/>
          </p:cNvGraphicFramePr>
          <p:nvPr/>
        </p:nvGraphicFramePr>
        <p:xfrm>
          <a:off x="609600" y="1244600"/>
          <a:ext cx="10966450" cy="788352"/>
        </p:xfrm>
        <a:graphic>
          <a:graphicData uri="http://schemas.openxmlformats.org/drawingml/2006/table">
            <a:tbl>
              <a:tblPr firstRow="1" bandRow="1">
                <a:tableStyleId>{5C22544A-7EE6-4342-B048-85BDC9FD1C3A}</a:tableStyleId>
              </a:tblPr>
              <a:tblGrid>
                <a:gridCol w="2701528"/>
                <a:gridCol w="1607046"/>
                <a:gridCol w="3005336"/>
                <a:gridCol w="3652540"/>
              </a:tblGrid>
              <a:tr h="197088">
                <a:tc>
                  <a:txBody>
                    <a:bodyPr wrap="square"/>
                    <a:lstStyle/>
                    <a:p>
                      <a:r>
                        <a:rPr sz="800" b="1" i="0">
                          <a:solidFill>
                            <a:srgbClr val="F4F1EA"/>
                          </a:solidFill>
                          <a:latin typeface="Arial"/>
                          <a:ea typeface="Malgun Gothic"/>
                          <a:cs typeface="Malgun Gothic"/>
                        </a:rPr>
                        <a:t>출처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하드웨어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설정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결과</a:t>
                      </a:r>
                    </a:p>
                  </a:txBody>
                  <a:tcPr marL="63500" marR="63500" marT="12700" marB="12700">
                    <a:solidFill>
                      <a:srgbClr val="16213A"/>
                    </a:solidFill>
                  </a:tcPr>
                </a:tc>
              </a:tr>
              <a:tr h="197088">
                <a:tc>
                  <a:txBody>
                    <a:bodyPr wrap="square"/>
                    <a:lstStyle/>
                    <a:p>
                      <a:r>
                        <a:rPr sz="800" b="0" i="0">
                          <a:solidFill>
                            <a:srgbClr val="1D4ED8"/>
                          </a:solidFill>
                          <a:latin typeface="Arial"/>
                          <a:ea typeface="Malgun Gothic"/>
                          <a:cs typeface="Malgun Gothic"/>
                          <a:hlinkClick r:id="rId3"/>
                        </a:rPr>
                        <a:t>elmap-rl-controller</a:t>
                      </a:r>
                      <a:r>
                        <a:rPr sz="800" b="0" i="0">
                          <a:solidFill>
                            <a:srgbClr val="16213A"/>
                          </a:solidFill>
                          <a:latin typeface="Arial"/>
                          <a:ea typeface="Malgun Gothic"/>
                          <a:cs typeface="Malgun Gothic"/>
                        </a:rPr>
                        <a:t> (ICRA 2025, ETH)</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Jetson Orin Nano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해상도 </a:t>
                      </a:r>
                      <a:r>
                        <a:rPr sz="800" b="1" i="0">
                          <a:solidFill>
                            <a:srgbClr val="16213A"/>
                          </a:solidFill>
                          <a:latin typeface="Arial"/>
                          <a:ea typeface="Malgun Gothic"/>
                          <a:cs typeface="Malgun Gothic"/>
                        </a:rPr>
                        <a:t>0.025 m</a:t>
                      </a:r>
                      <a:r>
                        <a:rPr sz="800" b="0" i="0">
                          <a:solidFill>
                            <a:srgbClr val="16213A"/>
                          </a:solidFill>
                          <a:latin typeface="Arial"/>
                          <a:ea typeface="Malgun Gothic"/>
                          <a:cs typeface="Malgun Gothic"/>
                        </a:rPr>
                        <a:t>, 지도 5 × 5 m(200 × 200셀)</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elevation mapping + VIO를 30 Hz 실시간</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nvblox 공식 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AGX Orin / Orin Nano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voxel 0.05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TSDF 0.8 / 2.1 ms, ESDF 1.7 / 6.2 ms (코어 함수 단위)</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Waverider (ICRA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Orin AGX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voxel 0.10 m, 반경 30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지도 통합 29 ms, CPU 2.4 스레드</a:t>
                      </a:r>
                    </a:p>
                  </a:txBody>
                  <a:tcPr marL="63500" marR="63500" marT="12700" marB="12700">
                    <a:solidFill>
                      <a:srgbClr val="FFFDF8"/>
                    </a:solidFill>
                  </a:tcPr>
                </a:tc>
              </a:tr>
            </a:tbl>
          </a:graphicData>
        </a:graphic>
      </p:graphicFrame>
      <p:sp>
        <p:nvSpPr>
          <p:cNvPr id="6" name="TextBox 5"/>
          <p:cNvSpPr txBox="1"/>
          <p:nvPr/>
        </p:nvSpPr>
        <p:spPr>
          <a:xfrm>
            <a:off x="609600" y="2325291"/>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첫 줄이 travplan 설정과 셀 수가 거의 같다</a:t>
            </a:r>
            <a:r>
              <a:rPr sz="1050" b="0" i="0">
                <a:solidFill>
                  <a:srgbClr val="16213A"/>
                </a:solidFill>
                <a:latin typeface="Arial"/>
                <a:ea typeface="Malgun Gothic"/>
                <a:cs typeface="Malgun Gothic"/>
              </a:rPr>
              <a:t> — travplan은 11 m를 0.05 m로 나눠 220 × 220셀이다. 즉 </a:t>
            </a:r>
            <a:r>
              <a:rPr sz="1050" b="1" i="0">
                <a:solidFill>
                  <a:srgbClr val="16213A"/>
                </a:solidFill>
                <a:latin typeface="Arial"/>
                <a:ea typeface="Malgun Gothic"/>
                <a:cs typeface="Malgun Gothic"/>
              </a:rPr>
              <a:t>L1 매핑은 Orin Nano에서도 30 Hz급이 기대되고, 이것이 TP-0083의 "병목은 매핑이 아니라 </a:t>
            </a:r>
            <a:r>
              <a:rPr sz="1050" b="1" i="0">
                <a:solidFill>
                  <a:srgbClr val="16213A"/>
                </a:solidFill>
                <a:latin typeface="Consolas"/>
                <a:ea typeface="Malgun Gothic"/>
                <a:cs typeface="Malgun Gothic"/>
              </a:rPr>
              <a:t>TravMapBuilder</a:t>
            </a:r>
            <a:r>
              <a:rPr sz="1050" b="1" i="0">
                <a:solidFill>
                  <a:srgbClr val="16213A"/>
                </a:solidFill>
                <a:latin typeface="Arial"/>
                <a:ea typeface="Malgun Gothic"/>
                <a:cs typeface="Malgun Gothic"/>
              </a:rPr>
              <a:t>"를 외부에서 뒷받침한다.</a:t>
            </a:r>
            <a:r>
              <a:rPr sz="1050" b="0" i="0">
                <a:solidFill>
                  <a:srgbClr val="16213A"/>
                </a:solidFill>
                <a:latin typeface="Arial"/>
                <a:ea typeface="Malgun Gothic"/>
                <a:cs typeface="Malgun Gothic"/>
              </a:rPr>
              <a:t> 상류 v2.2.0의 자체 벤치는 RTX 4090뿐이고 Jetson 수치가 없다.</a:t>
            </a:r>
          </a:p>
        </p:txBody>
      </p:sp>
      <p:sp>
        <p:nvSpPr>
          <p:cNvPr id="7" name="TextBox 6"/>
          <p:cNvSpPr txBox="1"/>
          <p:nvPr/>
        </p:nvSpPr>
        <p:spPr>
          <a:xfrm>
            <a:off x="717550" y="28471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A.2b.3 음의 장애물을 1급 출력으로 내는 구현 — G-VOM 하나뿐이다</a:t>
            </a:r>
          </a:p>
        </p:txBody>
      </p:sp>
      <p:sp>
        <p:nvSpPr>
          <p:cNvPr id="8" name="TextBox 7"/>
          <p:cNvSpPr txBox="1"/>
          <p:nvPr/>
        </p:nvSpPr>
        <p:spPr>
          <a:xfrm>
            <a:off x="609600" y="3150394"/>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G-VOM</a:t>
            </a:r>
            <a:r>
              <a:rPr sz="1050" b="0" i="0">
                <a:solidFill>
                  <a:srgbClr val="16213A"/>
                </a:solidFill>
                <a:latin typeface="Arial"/>
                <a:ea typeface="Malgun Gothic"/>
                <a:cs typeface="Malgun Gothic"/>
              </a:rPr>
              <a:t>(Overbye·Saripalli, Texas A&amp;M, IEEE IV 2022, </a:t>
            </a:r>
            <a:r>
              <a:rPr sz="1050" b="0" i="0">
                <a:solidFill>
                  <a:srgbClr val="1D4ED8"/>
                </a:solidFill>
                <a:latin typeface="Arial"/>
                <a:ea typeface="Malgun Gothic"/>
                <a:cs typeface="Malgun Gothic"/>
                <a:hlinkClick r:id="rId4"/>
              </a:rPr>
              <a:t>arXiv:2109.13176</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★89, 2023-05 정지). 내부는 3D voxel인데 </a:t>
            </a:r>
            <a:r>
              <a:rPr sz="1050" b="1" i="0">
                <a:solidFill>
                  <a:srgbClr val="16213A"/>
                </a:solidFill>
                <a:latin typeface="Arial"/>
                <a:ea typeface="Malgun Gothic"/>
                <a:cs typeface="Malgun Gothic"/>
              </a:rPr>
              <a:t>출력이 2.5D 여러 장</a:t>
            </a:r>
            <a:r>
              <a:rPr sz="1050" b="0" i="0">
                <a:solidFill>
                  <a:srgbClr val="16213A"/>
                </a:solidFill>
                <a:latin typeface="Arial"/>
                <a:ea typeface="Malgun Gothic"/>
                <a:cs typeface="Malgun Gothic"/>
              </a:rPr>
              <a:t>이다 — 높이, 양의 장애물(경성·연성), 경사, 거칠기, </a:t>
            </a:r>
            <a:r>
              <a:rPr sz="1050" b="1" i="0">
                <a:solidFill>
                  <a:srgbClr val="C2410C"/>
                </a:solidFill>
                <a:latin typeface="Arial"/>
                <a:ea typeface="Malgun Gothic"/>
                <a:cs typeface="Malgun Gothic"/>
              </a:rPr>
              <a:t>음의 장애물</a:t>
            </a:r>
            <a:r>
              <a:rPr sz="1050" b="0" i="0">
                <a:solidFill>
                  <a:srgbClr val="16213A"/>
                </a:solidFill>
                <a:latin typeface="Arial"/>
                <a:ea typeface="Malgun Gothic"/>
                <a:cs typeface="Malgun Gothic"/>
              </a:rPr>
              <a:t>, 그리고 코드·README에만 있는 </a:t>
            </a:r>
            <a:r>
              <a:rPr sz="1050" b="1" i="0">
                <a:solidFill>
                  <a:srgbClr val="16213A"/>
                </a:solidFill>
                <a:latin typeface="Arial"/>
                <a:ea typeface="Malgun Gothic"/>
                <a:cs typeface="Malgun Gothic"/>
              </a:rPr>
              <a:t>가시성</a:t>
            </a:r>
            <a:r>
              <a:rPr sz="1050" b="0" i="0">
                <a:solidFill>
                  <a:srgbClr val="16213A"/>
                </a:solidFill>
                <a:latin typeface="Arial"/>
                <a:ea typeface="Malgun Gothic"/>
                <a:cs typeface="Malgun Gothic"/>
              </a:rPr>
              <a:t>. 정확히는 "음의 장애물을 </a:t>
            </a:r>
            <a:r>
              <a:rPr sz="1050" b="1" i="0">
                <a:solidFill>
                  <a:srgbClr val="16213A"/>
                </a:solidFill>
                <a:latin typeface="Arial"/>
                <a:ea typeface="Malgun Gothic"/>
                <a:cs typeface="Malgun Gothic"/>
              </a:rPr>
              <a:t>별도 토픽</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~negative_obstacle_map</a:t>
            </a:r>
            <a:r>
              <a:rPr sz="1050" b="0" i="0">
                <a:solidFill>
                  <a:srgbClr val="16213A"/>
                </a:solidFill>
                <a:latin typeface="Arial"/>
                <a:ea typeface="Malgun Gothic"/>
                <a:cs typeface="Malgun Gothic"/>
              </a:rPr>
              <a:t>)으로 내는 유일한 3D 구현"이다 — 2.5D 쪽에는 CMU의 </a:t>
            </a:r>
            <a:r>
              <a:rPr sz="1050" b="0" i="0">
                <a:solidFill>
                  <a:srgbClr val="16213A"/>
                </a:solidFill>
                <a:latin typeface="Consolas"/>
                <a:ea typeface="Malgun Gothic"/>
                <a:cs typeface="Malgun Gothic"/>
              </a:rPr>
              <a:t>negObstacle</a:t>
            </a:r>
            <a:r>
              <a:rPr sz="1050" b="0" i="0">
                <a:solidFill>
                  <a:srgbClr val="16213A"/>
                </a:solidFill>
                <a:latin typeface="Arial"/>
                <a:ea typeface="Malgun Gothic"/>
                <a:cs typeface="Malgun Gothic"/>
              </a:rPr>
              <a:t>이 있고 이미지 공간에는 </a:t>
            </a:r>
            <a:r>
              <a:rPr sz="1050" b="0" i="0">
                <a:solidFill>
                  <a:srgbClr val="16213A"/>
                </a:solidFill>
                <a:latin typeface="Consolas"/>
                <a:ea typeface="Malgun Gothic"/>
                <a:cs typeface="Malgun Gothic"/>
              </a:rPr>
              <a:t>depth_nav_tools</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cliff_detector</a:t>
            </a:r>
            <a:r>
              <a:rPr sz="1050" b="0" i="0">
                <a:solidFill>
                  <a:srgbClr val="16213A"/>
                </a:solidFill>
                <a:latin typeface="Arial"/>
                <a:ea typeface="Malgun Gothic"/>
                <a:cs typeface="Malgun Gothic"/>
              </a:rPr>
              <a:t>가 있다(A.2b.5·A.2b.7 ⑤). ⚠️ 그 "가시성"은 광선 추적 가시성장이 아니라 </a:t>
            </a:r>
            <a:r>
              <a:rPr sz="1050" b="1" i="0">
                <a:solidFill>
                  <a:srgbClr val="16213A"/>
                </a:solidFill>
                <a:latin typeface="Arial"/>
                <a:ea typeface="Malgun Gothic"/>
                <a:cs typeface="Malgun Gothic"/>
              </a:rPr>
              <a:t>관측/미관측 이진 마스크</a:t>
            </a:r>
            <a:r>
              <a:rPr sz="1050" b="0" i="0">
                <a:solidFill>
                  <a:srgbClr val="16213A"/>
                </a:solidFill>
                <a:latin typeface="Arial"/>
                <a:ea typeface="Malgun Gothic"/>
                <a:cs typeface="Malgun Gothic"/>
              </a:rPr>
              <a:t>다(</a:t>
            </a:r>
            <a:r>
              <a:rPr sz="1050" b="0" i="0">
                <a:solidFill>
                  <a:srgbClr val="16213A"/>
                </a:solidFill>
                <a:latin typeface="Consolas"/>
                <a:ea typeface="Malgun Gothic"/>
                <a:cs typeface="Malgun Gothic"/>
              </a:rPr>
              <a:t>gvom.py</a:t>
            </a:r>
            <a:r>
              <a:rPr sz="1050" b="0" i="0">
                <a:solidFill>
                  <a:srgbClr val="16213A"/>
                </a:solidFill>
                <a:latin typeface="Arial"/>
                <a:ea typeface="Malgun Gothic"/>
                <a:cs typeface="Malgun Gothic"/>
              </a:rPr>
              <a:t>가 높이값 유무로만 채운다).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23 / 359</a:t>
            </a:r>
          </a:p>
        </p:txBody>
      </p:sp>
      <p:pic>
        <p:nvPicPr>
          <p:cNvPr id="5" name="Picture 4" descr="image.jpg"/>
          <p:cNvPicPr>
            <a:picLocks noChangeAspect="1"/>
          </p:cNvPicPr>
          <p:nvPr/>
        </p:nvPicPr>
        <p:blipFill>
          <a:blip r:embed="rId3"/>
          <a:stretch>
            <a:fillRect/>
          </a:stretch>
        </p:blipFill>
        <p:spPr>
          <a:xfrm>
            <a:off x="609600" y="1244600"/>
            <a:ext cx="5410200" cy="1733550"/>
          </a:xfrm>
          <a:prstGeom prst="rect">
            <a:avLst/>
          </a:prstGeom>
        </p:spPr>
      </p:pic>
      <p:sp>
        <p:nvSpPr>
          <p:cNvPr id="6" name="TextBox 5"/>
          <p:cNvSpPr txBox="1"/>
          <p:nvPr/>
        </p:nvSpPr>
        <p:spPr>
          <a:xfrm>
            <a:off x="609600" y="301625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G-VOM (Fig. 2): 매핑이 내는 출력들. 왼쪽 위부터 시계방향으로 표면 높이(빨강=완경사, 초록=급경사), 장애물 지도(검정=경성 장애물), 거칠기, 음의 장애물. 출처: arXiv:2109.13176</a:t>
            </a:r>
          </a:p>
        </p:txBody>
      </p:sp>
      <p:pic>
        <p:nvPicPr>
          <p:cNvPr id="7" name="Picture 6" descr="image.jpg"/>
          <p:cNvPicPr>
            <a:picLocks noChangeAspect="1"/>
          </p:cNvPicPr>
          <p:nvPr/>
        </p:nvPicPr>
        <p:blipFill>
          <a:blip r:embed="rId4"/>
          <a:stretch>
            <a:fillRect/>
          </a:stretch>
        </p:blipFill>
        <p:spPr>
          <a:xfrm>
            <a:off x="6172200" y="1244600"/>
            <a:ext cx="2667000" cy="2667000"/>
          </a:xfrm>
          <a:prstGeom prst="rect">
            <a:avLst/>
          </a:prstGeom>
        </p:spPr>
      </p:pic>
      <p:sp>
        <p:nvSpPr>
          <p:cNvPr id="8" name="TextBox 7"/>
          <p:cNvSpPr txBox="1"/>
          <p:nvPr/>
        </p:nvSpPr>
        <p:spPr>
          <a:xfrm>
            <a:off x="61722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G-VOM (Fig. 4): 음의 장애물 판정의 핵심. 중심 화소에서 시작해 "알려진 지면"(X)을 찾아 나가며 지면 경사를 외삽하고, 기대 높이와 관측 높이의 차를 임계화한다. 출처: arXiv:2109.13176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자세히: G-VOM의 파이프라인과 실측 지도 — 왜 방법만 쓰고 수치는 못 쓰는가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24 / 359</a:t>
            </a:r>
          </a:p>
        </p:txBody>
      </p:sp>
      <p:pic>
        <p:nvPicPr>
          <p:cNvPr id="5" name="Picture 4" descr="image.jpg"/>
          <p:cNvPicPr>
            <a:picLocks noChangeAspect="1"/>
          </p:cNvPicPr>
          <p:nvPr/>
        </p:nvPicPr>
        <p:blipFill>
          <a:blip r:embed="rId3"/>
          <a:stretch>
            <a:fillRect/>
          </a:stretch>
        </p:blipFill>
        <p:spPr>
          <a:xfrm>
            <a:off x="609600" y="1244600"/>
            <a:ext cx="1974850" cy="2667000"/>
          </a:xfrm>
          <a:prstGeom prst="rect">
            <a:avLst/>
          </a:prstGeom>
        </p:spPr>
      </p:pic>
      <p:sp>
        <p:nvSpPr>
          <p:cNvPr id="6" name="TextBox 5"/>
          <p:cNvSpPr txBox="1"/>
          <p:nvPr/>
        </p:nvSpPr>
        <p:spPr>
          <a:xfrm>
            <a:off x="609600" y="39497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G-VOM (Fig. 3): 국소 매핑 전체 흐름. 위 음영이 점군 입력·처리, 아래 음영이 지도 후처리다. 출처: arXiv:2109.13176</a:t>
            </a:r>
          </a:p>
        </p:txBody>
      </p:sp>
      <p:pic>
        <p:nvPicPr>
          <p:cNvPr id="7" name="Picture 6" descr="image.jpg"/>
          <p:cNvPicPr>
            <a:picLocks noChangeAspect="1"/>
          </p:cNvPicPr>
          <p:nvPr/>
        </p:nvPicPr>
        <p:blipFill>
          <a:blip r:embed="rId4"/>
          <a:stretch>
            <a:fillRect/>
          </a:stretch>
        </p:blipFill>
        <p:spPr>
          <a:xfrm>
            <a:off x="4318000" y="1244600"/>
            <a:ext cx="3321050" cy="2667000"/>
          </a:xfrm>
          <a:prstGeom prst="rect">
            <a:avLst/>
          </a:prstGeom>
        </p:spPr>
      </p:pic>
      <p:sp>
        <p:nvSpPr>
          <p:cNvPr id="8" name="TextBox 7"/>
          <p:cNvSpPr txBox="1"/>
          <p:nvPr/>
        </p:nvSpPr>
        <p:spPr>
          <a:xfrm>
            <a:off x="4318000" y="39497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G-VOM (Fig. 7): Polaris Ranger에서 만든 거칠기(노랑=낮음, 파랑=높음)와 음의 장애물(선명한 분홍) 지도. 빨간 선이 주행 경로다. 출처: arXiv:2109.13176</a:t>
            </a:r>
          </a:p>
        </p:txBody>
      </p:sp>
      <p:pic>
        <p:nvPicPr>
          <p:cNvPr id="9" name="Picture 8" descr="image.jpg"/>
          <p:cNvPicPr>
            <a:picLocks noChangeAspect="1"/>
          </p:cNvPicPr>
          <p:nvPr/>
        </p:nvPicPr>
        <p:blipFill>
          <a:blip r:embed="rId5"/>
          <a:stretch>
            <a:fillRect/>
          </a:stretch>
        </p:blipFill>
        <p:spPr>
          <a:xfrm>
            <a:off x="8026400" y="1244600"/>
            <a:ext cx="3556000" cy="857250"/>
          </a:xfrm>
          <a:prstGeom prst="rect">
            <a:avLst/>
          </a:prstGeom>
        </p:spPr>
      </p:pic>
      <p:sp>
        <p:nvSpPr>
          <p:cNvPr id="10" name="TextBox 9"/>
          <p:cNvSpPr txBox="1"/>
          <p:nvPr/>
        </p:nvSpPr>
        <p:spPr>
          <a:xfrm>
            <a:off x="8026400" y="213995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G-VOM (Fig. 6): 시험 차량 셋(Warthog, Moose, Polaris Ranger). 이 체급이 파라미터가 travplan에 안 맞는 이유다 — 해상도 0.40 m, 음의 장애물 문턱 0.5 m, 로봇 반지름 4.0 m. 출처: arXiv:2109.13176</a:t>
            </a:r>
          </a:p>
        </p:txBody>
      </p:sp>
      <p:sp>
        <p:nvSpPr>
          <p:cNvPr id="11" name="TextBox 10"/>
          <p:cNvSpPr txBox="1"/>
          <p:nvPr/>
        </p:nvSpPr>
        <p:spPr>
          <a:xfrm>
            <a:off x="609600" y="432296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분홍 칸이 핵심이다.</a:t>
            </a:r>
            <a:r>
              <a:rPr sz="1050" b="0" i="0">
                <a:solidFill>
                  <a:srgbClr val="16213A"/>
                </a:solidFill>
                <a:latin typeface="Arial"/>
                <a:ea typeface="Malgun Gothic"/>
                <a:cs typeface="Malgun Gothic"/>
              </a:rPr>
              <a:t> Fig. 7의 음의 장애물이 경로 양옆 배수로를 따라 이어지는데, 이는 "지면 아래 점을 관측해서"가 아니라 </a:t>
            </a:r>
            <a:r>
              <a:rPr sz="1050" b="1" i="0">
                <a:solidFill>
                  <a:srgbClr val="16213A"/>
                </a:solidFill>
                <a:latin typeface="Arial"/>
                <a:ea typeface="Malgun Gothic"/>
                <a:cs typeface="Malgun Gothic"/>
              </a:rPr>
              <a:t>관측되지 않은 칸의 기대 높이를 경사 외삽으로 추정해</a:t>
            </a:r>
            <a:r>
              <a:rPr sz="1050" b="0" i="0">
                <a:solidFill>
                  <a:srgbClr val="16213A"/>
                </a:solidFill>
                <a:latin typeface="Arial"/>
                <a:ea typeface="Malgun Gothic"/>
                <a:cs typeface="Malgun Gothic"/>
              </a:rPr>
              <a:t> 얻은 것이다. travplan의 그림자 상한(TP-0044)은 </a:t>
            </a:r>
            <a:r>
              <a:rPr sz="1050" b="1" i="0">
                <a:solidFill>
                  <a:srgbClr val="16213A"/>
                </a:solidFill>
                <a:latin typeface="Arial"/>
                <a:ea typeface="Malgun Gothic"/>
                <a:cs typeface="Malgun Gothic"/>
              </a:rPr>
              <a:t>광선이 지나간 높이</a:t>
            </a:r>
            <a:r>
              <a:rPr sz="1050" b="0" i="0">
                <a:solidFill>
                  <a:srgbClr val="16213A"/>
                </a:solidFill>
                <a:latin typeface="Arial"/>
                <a:ea typeface="Malgun Gothic"/>
                <a:cs typeface="Malgun Gothic"/>
              </a:rPr>
              <a:t>를 상한으로 쓰므로, 두 신호는 서로 독립이다 — 같은 포트홀을 서로 다른 근거로 지목한다.</a:t>
            </a:r>
          </a:p>
        </p:txBody>
      </p:sp>
      <p:sp>
        <p:nvSpPr>
          <p:cNvPr id="12" name="TextBox 11"/>
          <p:cNvSpPr txBox="1"/>
          <p:nvPr/>
        </p:nvSpPr>
        <p:spPr>
          <a:xfrm>
            <a:off x="609600" y="484485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초록의 "12 m/s 수동 주행"은 오해를 부른다.</a:t>
            </a:r>
            <a:r>
              <a:rPr sz="1050" b="0" i="0">
                <a:solidFill>
                  <a:srgbClr val="16213A"/>
                </a:solidFill>
                <a:latin typeface="Arial"/>
                <a:ea typeface="Malgun Gothic"/>
                <a:cs typeface="Malgun Gothic"/>
              </a:rPr>
              <a:t> §IV-A에 Moose·Ranger의 8·12 m/s 주행은 </a:t>
            </a:r>
            <a:r>
              <a:rPr sz="1050" b="0" i="1">
                <a:solidFill>
                  <a:srgbClr val="16213A"/>
                </a:solidFill>
                <a:latin typeface="Arial"/>
                <a:ea typeface="Malgun Gothic"/>
                <a:cs typeface="Malgun Gothic"/>
              </a:rPr>
              <a:t>"No planning or control … done either"</a:t>
            </a:r>
            <a:r>
              <a:rPr sz="1050" b="0" i="0">
                <a:solidFill>
                  <a:srgbClr val="16213A"/>
                </a:solidFill>
                <a:latin typeface="Arial"/>
                <a:ea typeface="Malgun Gothic"/>
                <a:cs typeface="Malgun Gothic"/>
              </a:rPr>
              <a:t>라 적혀 있다 — </a:t>
            </a:r>
            <a:r>
              <a:rPr sz="1050" b="1" i="0">
                <a:solidFill>
                  <a:srgbClr val="16213A"/>
                </a:solidFill>
                <a:latin typeface="Arial"/>
                <a:ea typeface="Malgun Gothic"/>
                <a:cs typeface="Malgun Gothic"/>
              </a:rPr>
              <a:t>매핑 전용</a:t>
            </a:r>
            <a:r>
              <a:rPr sz="1050" b="0" i="0">
                <a:solidFill>
                  <a:srgbClr val="16213A"/>
                </a:solidFill>
                <a:latin typeface="Arial"/>
                <a:ea typeface="Malgun Gothic"/>
                <a:cs typeface="Malgun Gothic"/>
              </a:rPr>
              <a:t>이다. 폐루프는 Warthog의 4.5·3 m/s뿐이다. 미터 단위 범위(102.4 × 102.4 × 25.6 m)도 논문 문구가 아니라 설정값 [256, 256, 64] × 0.4 m에서 계산한 값이다.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1/7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25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메커니즘이 travplan의 깊이 prior와 발상이 같다.</a:t>
            </a:r>
            <a:r>
              <a:rPr sz="1050" b="0" i="0">
                <a:solidFill>
                  <a:srgbClr val="16213A"/>
                </a:solidFill>
                <a:latin typeface="Arial"/>
                <a:ea typeface="Malgun Gothic"/>
                <a:cs typeface="Malgun Gothic"/>
              </a:rPr>
              <a:t> 지면 아래 점을 찾는 것이 아니라, 미관측 칸의 높이를 추정하고 지면 경사를 외삽해 </a:t>
            </a:r>
            <a:r>
              <a:rPr sz="1050" b="1" i="0">
                <a:solidFill>
                  <a:srgbClr val="16213A"/>
                </a:solidFill>
                <a:latin typeface="Arial"/>
                <a:ea typeface="Malgun Gothic"/>
                <a:cs typeface="Malgun Gothic"/>
              </a:rPr>
              <a:t>기대 높이와 관측 높이의 차</a:t>
            </a:r>
            <a:r>
              <a:rPr sz="1050" b="0" i="0">
                <a:solidFill>
                  <a:srgbClr val="16213A"/>
                </a:solidFill>
                <a:latin typeface="Arial"/>
                <a:ea typeface="Malgun Gothic"/>
                <a:cs typeface="Malgun Gothic"/>
              </a:rPr>
              <a:t>를 임계화한다. </a:t>
            </a:r>
            <a:r>
              <a:rPr sz="1050" b="1" i="0">
                <a:solidFill>
                  <a:srgbClr val="C2410C"/>
                </a:solidFill>
                <a:latin typeface="Arial"/>
                <a:ea typeface="Malgun Gothic"/>
                <a:cs typeface="Malgun Gothic"/>
              </a:rPr>
              <a:t>travplan의 그림자 상한(TP-0044)은 </a:t>
            </a:r>
            <a:r>
              <a:rPr sz="1050" b="1" i="0">
                <a:solidFill>
                  <a:srgbClr val="C2410C"/>
                </a:solidFill>
                <a:latin typeface="Arial"/>
                <a:ea typeface="Malgun Gothic"/>
                <a:cs typeface="Malgun Gothic"/>
              </a:rPr>
              <a:t>광선이 지나간 높이</a:t>
            </a:r>
            <a:r>
              <a:rPr sz="1050" b="1" i="0">
                <a:solidFill>
                  <a:srgbClr val="C2410C"/>
                </a:solidFill>
                <a:latin typeface="Arial"/>
                <a:ea typeface="Malgun Gothic"/>
                <a:cs typeface="Malgun Gothic"/>
              </a:rPr>
              <a:t>를 상한으로 쓰고, G-VOM은 </a:t>
            </a:r>
            <a:r>
              <a:rPr sz="1050" b="1" i="0">
                <a:solidFill>
                  <a:srgbClr val="C2410C"/>
                </a:solidFill>
                <a:latin typeface="Arial"/>
                <a:ea typeface="Malgun Gothic"/>
                <a:cs typeface="Malgun Gothic"/>
              </a:rPr>
              <a:t>지면 경사의 외삽</a:t>
            </a:r>
            <a:r>
              <a:rPr sz="1050" b="1" i="0">
                <a:solidFill>
                  <a:srgbClr val="C2410C"/>
                </a:solidFill>
                <a:latin typeface="Arial"/>
                <a:ea typeface="Malgun Gothic"/>
                <a:cs typeface="Malgun Gothic"/>
              </a:rPr>
              <a:t>을 쓴다 — 서로 독립적인 두 번째 신호다.</a:t>
            </a:r>
            <a:r>
              <a:rPr sz="1050" b="0" i="0">
                <a:solidFill>
                  <a:srgbClr val="16213A"/>
                </a:solidFill>
                <a:latin typeface="Arial"/>
                <a:ea typeface="Malgun Gothic"/>
                <a:cs typeface="Malgun Gothic"/>
              </a:rPr>
              <a:t> TP-0048(오탐 점검)에서 둘을 함께 보면 오탐을 줄일 여지가 있다.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다만 그대로 못 쓴다.</a:t>
            </a:r>
            <a:r>
              <a:rPr sz="1050" b="0" i="0">
                <a:solidFill>
                  <a:srgbClr val="16213A"/>
                </a:solidFill>
                <a:latin typeface="Arial"/>
                <a:ea typeface="Malgun Gothic"/>
                <a:cs typeface="Malgun Gothic"/>
              </a:rPr>
              <a:t> 라이선스가 </a:t>
            </a:r>
            <a:r>
              <a:rPr sz="1050" b="1" i="0">
                <a:solidFill>
                  <a:srgbClr val="16213A"/>
                </a:solidFill>
                <a:latin typeface="Arial"/>
                <a:ea typeface="Malgun Gothic"/>
                <a:cs typeface="Malgun Gothic"/>
              </a:rPr>
              <a:t>GPL-3.0</a:t>
            </a:r>
            <a:r>
              <a:rPr sz="1050" b="0" i="0">
                <a:solidFill>
                  <a:srgbClr val="16213A"/>
                </a:solidFill>
                <a:latin typeface="Arial"/>
                <a:ea typeface="Malgun Gothic"/>
                <a:cs typeface="Malgun Gothic"/>
              </a:rPr>
              <a:t>이라 코드 복사는 travplan에 라이선스 문제를 만든다(논문을 읽고 다시 구현해야 한다). 기본 브랜치가 2023-05에 멈췄고, 무엇보다 </a:t>
            </a:r>
            <a:r>
              <a:rPr sz="1050" b="1" i="0">
                <a:solidFill>
                  <a:srgbClr val="16213A"/>
                </a:solidFill>
                <a:latin typeface="Arial"/>
                <a:ea typeface="Malgun Gothic"/>
                <a:cs typeface="Malgun Gothic"/>
              </a:rPr>
              <a:t>파라미터가 트럭용</a:t>
            </a:r>
            <a:r>
              <a:rPr sz="1050" b="0" i="0">
                <a:solidFill>
                  <a:srgbClr val="16213A"/>
                </a:solidFill>
                <a:latin typeface="Arial"/>
                <a:ea typeface="Malgun Gothic"/>
                <a:cs typeface="Malgun Gothic"/>
              </a:rPr>
              <a:t>이다 — 해상도 0.40 m, 음의 장애물 문턱 0.5 m, 로봇 반지름 4.0 m다. travplan은 0.05 m 해상도에 깊이 prior 0.10 m다. </a:t>
            </a:r>
            <a:r>
              <a:rPr sz="1050" b="1" i="0">
                <a:solidFill>
                  <a:srgbClr val="16213A"/>
                </a:solidFill>
                <a:latin typeface="Arial"/>
                <a:ea typeface="Malgun Gothic"/>
                <a:cs typeface="Malgun Gothic"/>
              </a:rPr>
              <a:t>방법은 이식되지만 수치는 하나도 쓸 수 없다.</a:t>
            </a:r>
          </a:p>
        </p:txBody>
      </p:sp>
      <p:sp>
        <p:nvSpPr>
          <p:cNvPr id="7" name="TextBox 6"/>
          <p:cNvSpPr txBox="1"/>
          <p:nvPr/>
        </p:nvSpPr>
        <p:spPr>
          <a:xfrm>
            <a:off x="717550" y="22883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A.2b.4 FastDEM — </a:t>
            </a:r>
            <a:r>
              <a:rPr sz="1200" b="1" i="0">
                <a:solidFill>
                  <a:srgbClr val="16213A"/>
                </a:solidFill>
                <a:latin typeface="Consolas"/>
                <a:ea typeface="Malgun Gothic"/>
                <a:cs typeface="Malgun Gothic"/>
              </a:rPr>
              <a:t>TravMapBuilder</a:t>
            </a:r>
            <a:r>
              <a:rPr sz="1200" b="1" i="0">
                <a:solidFill>
                  <a:srgbClr val="16213A"/>
                </a:solidFill>
                <a:latin typeface="Arial"/>
                <a:ea typeface="Malgun Gothic"/>
                <a:cs typeface="Malgun Gothic"/>
              </a:rPr>
              <a:t>가 하는 일을 통째로 하는 CPU 구현</a:t>
            </a:r>
          </a:p>
        </p:txBody>
      </p:sp>
      <p:sp>
        <p:nvSpPr>
          <p:cNvPr id="8" name="TextBox 7"/>
          <p:cNvSpPr txBox="1"/>
          <p:nvPr/>
        </p:nvSpPr>
        <p:spPr>
          <a:xfrm>
            <a:off x="609600" y="2591594"/>
            <a:ext cx="10972800" cy="432991"/>
          </a:xfrm>
          <a:prstGeom prst="rect">
            <a:avLst/>
          </a:prstGeom>
          <a:noFill/>
        </p:spPr>
        <p:txBody>
          <a:bodyPr wrap="square" lIns="0" rIns="0" tIns="0" bIns="0" anchor="t">
            <a:spAutoFit/>
            <a:normAutofit/>
          </a:bodyPr>
          <a:lstStyle/>
          <a:p>
            <a:r>
              <a:rPr sz="1050" b="1" i="0">
                <a:solidFill>
                  <a:srgbClr val="1D4ED8"/>
                </a:solidFill>
                <a:latin typeface="Arial"/>
                <a:ea typeface="Malgun Gothic"/>
                <a:cs typeface="Malgun Gothic"/>
                <a:hlinkClick r:id="rId3"/>
              </a:rPr>
              <a:t>FastDEM</a:t>
            </a:r>
            <a:r>
              <a:rPr sz="1050" b="0" i="0">
                <a:solidFill>
                  <a:srgbClr val="16213A"/>
                </a:solidFill>
                <a:latin typeface="Arial"/>
                <a:ea typeface="Malgun Gothic"/>
                <a:cs typeface="Malgun Gothic"/>
              </a:rPr>
              <a:t> (고려대 ISR Lab, ★178, </a:t>
            </a:r>
            <a:r>
              <a:rPr sz="1050" b="1" i="0">
                <a:solidFill>
                  <a:srgbClr val="16213A"/>
                </a:solidFill>
                <a:latin typeface="Arial"/>
                <a:ea typeface="Malgun Gothic"/>
                <a:cs typeface="Malgun Gothic"/>
              </a:rPr>
              <a:t>BSD-3-Clause</a:t>
            </a:r>
            <a:r>
              <a:rPr sz="1050" b="0" i="0">
                <a:solidFill>
                  <a:srgbClr val="16213A"/>
                </a:solidFill>
                <a:latin typeface="Arial"/>
                <a:ea typeface="Malgun Gothic"/>
                <a:cs typeface="Malgun Gothic"/>
              </a:rPr>
              <a:t>, 마지막 푸시 2026-09-04). README 문구를 그대로 옮기면 </a:t>
            </a:r>
            <a:r>
              <a:rPr sz="1050" b="1" i="0">
                <a:solidFill>
                  <a:srgbClr val="C2410C"/>
                </a:solidFill>
                <a:latin typeface="Arial"/>
                <a:ea typeface="Malgun Gothic"/>
                <a:cs typeface="Malgun Gothic"/>
              </a:rPr>
              <a:t>"100+ Hz on Jetson Orin", "~10 ms per scan, on CPU alone", "No PCL, OpenCV, or CUDA required. Just Eigen at core."</a:t>
            </a:r>
            <a:r>
              <a:rPr sz="1050" b="0" i="0">
                <a:solidFill>
                  <a:srgbClr val="16213A"/>
                </a:solidFill>
                <a:latin typeface="Arial"/>
                <a:ea typeface="Malgun Gothic"/>
                <a:cs typeface="Malgun Gothic"/>
              </a:rPr>
              <a:t>(VLP-16 약 30K점/스캔, 15 × 15 m 지도 0.1 m 해상도). ROS 1 Noetic · ROS 2 Humble · ROS 없는 C++ API를 모두 낸다.</a:t>
            </a:r>
          </a:p>
        </p:txBody>
      </p:sp>
      <p:pic>
        <p:nvPicPr>
          <p:cNvPr id="9" name="Picture 8" descr="image.png"/>
          <p:cNvPicPr>
            <a:picLocks noChangeAspect="1"/>
          </p:cNvPicPr>
          <p:nvPr/>
        </p:nvPicPr>
        <p:blipFill>
          <a:blip r:embed="rId4"/>
          <a:stretch>
            <a:fillRect/>
          </a:stretch>
        </p:blipFill>
        <p:spPr>
          <a:xfrm>
            <a:off x="609600" y="3113484"/>
            <a:ext cx="3556000" cy="2006600"/>
          </a:xfrm>
          <a:prstGeom prst="rect">
            <a:avLst/>
          </a:prstGeom>
        </p:spPr>
      </p:pic>
      <p:sp>
        <p:nvSpPr>
          <p:cNvPr id="10" name="TextBox 9"/>
          <p:cNvSpPr txBox="1"/>
          <p:nvPr/>
        </p:nvSpPr>
        <p:spPr>
          <a:xfrm>
            <a:off x="609600" y="5158184"/>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FastDEM: VLP-16 스캔이 들어오는 동안 로봇중심 높이 지도를 갱신한다(CPU만). 출처: FastDEM</a:t>
            </a:r>
          </a:p>
        </p:txBody>
      </p:sp>
      <p:pic>
        <p:nvPicPr>
          <p:cNvPr id="11" name="Picture 10" descr="image.png"/>
          <p:cNvPicPr>
            <a:picLocks noChangeAspect="1"/>
          </p:cNvPicPr>
          <p:nvPr/>
        </p:nvPicPr>
        <p:blipFill>
          <a:blip r:embed="rId5"/>
          <a:stretch>
            <a:fillRect/>
          </a:stretch>
        </p:blipFill>
        <p:spPr>
          <a:xfrm>
            <a:off x="4318000" y="3113484"/>
            <a:ext cx="3556000" cy="2032000"/>
          </a:xfrm>
          <a:prstGeom prst="rect">
            <a:avLst/>
          </a:prstGeom>
        </p:spPr>
      </p:pic>
      <p:sp>
        <p:nvSpPr>
          <p:cNvPr id="12" name="TextBox 11"/>
          <p:cNvSpPr txBox="1"/>
          <p:nvPr/>
        </p:nvSpPr>
        <p:spPr>
          <a:xfrm>
            <a:off x="4318000" y="5183584"/>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FastDEM: RGB-D 입력. travplan의 L1 합성 LiDAR 경로와 같은 자리에 들어간다. 출처: FastDEM</a:t>
            </a:r>
          </a:p>
        </p:txBody>
      </p:sp>
      <p:pic>
        <p:nvPicPr>
          <p:cNvPr id="13" name="Picture 12" descr="image.png"/>
          <p:cNvPicPr>
            <a:picLocks noChangeAspect="1"/>
          </p:cNvPicPr>
          <p:nvPr/>
        </p:nvPicPr>
        <p:blipFill>
          <a:blip r:embed="rId6"/>
          <a:stretch>
            <a:fillRect/>
          </a:stretch>
        </p:blipFill>
        <p:spPr>
          <a:xfrm>
            <a:off x="8026400" y="3113484"/>
            <a:ext cx="3556000" cy="1377950"/>
          </a:xfrm>
          <a:prstGeom prst="rect">
            <a:avLst/>
          </a:prstGeom>
        </p:spPr>
      </p:pic>
      <p:sp>
        <p:nvSpPr>
          <p:cNvPr id="14" name="TextBox 13"/>
          <p:cNvSpPr txBox="1"/>
          <p:nvPr/>
        </p:nvSpPr>
        <p:spPr>
          <a:xfrm>
            <a:off x="8026400" y="4529534"/>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FastDEM: 로봇중심 지도를 누적한 전역 모드. travplan은 로봇중심만 쓴다. 출처: FastDEM</a:t>
            </a:r>
          </a:p>
        </p:txBody>
      </p:sp>
      <p:sp>
        <p:nvSpPr>
          <p:cNvPr id="15" name="TextBox 14"/>
          <p:cNvSpPr txBox="1"/>
          <p:nvPr/>
        </p:nvSpPr>
        <p:spPr>
          <a:xfrm>
            <a:off x="609600" y="555684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두 가지 이유로 이번 조사에서 가장 중요한 항목이다.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2/7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26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레이어가 </a:t>
            </a:r>
            <a:r>
              <a:rPr sz="1050" b="1" i="0">
                <a:solidFill>
                  <a:srgbClr val="16213A"/>
                </a:solidFill>
                <a:latin typeface="Consolas"/>
                <a:ea typeface="Malgun Gothic"/>
                <a:cs typeface="Malgun Gothic"/>
              </a:rPr>
              <a:t>TravMap[8]</a:t>
            </a:r>
            <a:r>
              <a:rPr sz="1050" b="1" i="0">
                <a:solidFill>
                  <a:srgbClr val="16213A"/>
                </a:solidFill>
                <a:latin typeface="Arial"/>
                <a:ea typeface="Malgun Gothic"/>
                <a:cs typeface="Malgun Gothic"/>
              </a:rPr>
              <a:t>과 거의 1:1이다.</a:t>
            </a:r>
            <a:r>
              <a:rPr sz="1050" b="0" i="0">
                <a:solidFill>
                  <a:srgbClr val="16213A"/>
                </a:solidFill>
                <a:latin typeface="Arial"/>
                <a:ea typeface="Malgun Gothic"/>
                <a:cs typeface="Malgun Gothic"/>
              </a:rPr>
              <a:t> elevation·min·max, variance, upper/lower bound를 내고, 국소 PCA(</a:t>
            </a:r>
            <a:r>
              <a:rPr sz="1050" b="0" i="0">
                <a:solidFill>
                  <a:srgbClr val="16213A"/>
                </a:solidFill>
                <a:latin typeface="Consolas"/>
                <a:ea typeface="Malgun Gothic"/>
                <a:cs typeface="Malgun Gothic"/>
              </a:rPr>
              <a:t>analysis_radius=0.3</a:t>
            </a:r>
            <a:r>
              <a:rPr sz="1050" b="0" i="0">
                <a:solidFill>
                  <a:srgbClr val="16213A"/>
                </a:solidFill>
                <a:latin typeface="Arial"/>
                <a:ea typeface="Malgun Gothic"/>
                <a:cs typeface="Malgun Gothic"/>
              </a:rPr>
              <a:t>)로 </a:t>
            </a:r>
            <a:r>
              <a:rPr sz="1050" b="1" i="0">
                <a:solidFill>
                  <a:srgbClr val="16213A"/>
                </a:solidFill>
                <a:latin typeface="Arial"/>
                <a:ea typeface="Malgun Gothic"/>
                <a:cs typeface="Malgun Gothic"/>
              </a:rPr>
              <a:t>step·slope·roughness·curvature·normal</a:t>
            </a:r>
            <a:r>
              <a:rPr sz="1050" b="0" i="0">
                <a:solidFill>
                  <a:srgbClr val="16213A"/>
                </a:solidFill>
                <a:latin typeface="Arial"/>
                <a:ea typeface="Malgun Gothic"/>
                <a:cs typeface="Malgun Gothic"/>
              </a:rPr>
              <a:t>을 뽑는다. 즉 travplan의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가 하는 일을 하는 공개 구현이다. 특히 step을 min/max 차가 아니라 </a:t>
            </a:r>
            <a:r>
              <a:rPr sz="1050" b="1" i="0">
                <a:solidFill>
                  <a:srgbClr val="16213A"/>
                </a:solidFill>
                <a:latin typeface="Arial"/>
                <a:ea typeface="Malgun Gothic"/>
                <a:cs typeface="Malgun Gothic"/>
              </a:rPr>
              <a:t>백분위 띠(5–95 %)</a:t>
            </a:r>
            <a:r>
              <a:rPr sz="1050" b="0" i="0">
                <a:solidFill>
                  <a:srgbClr val="16213A"/>
                </a:solidFill>
                <a:latin typeface="Arial"/>
                <a:ea typeface="Malgun Gothic"/>
                <a:cs typeface="Malgun Gothic"/>
              </a:rPr>
              <a:t>로 계산해 점군 잡음에 강하다 — travplan의 STEP 채널이 단일 이상점에 흔들리는 문제에 바로 쓸 수 있는 설계다.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TP-0084의 비교 기준선이 된다.</a:t>
            </a:r>
            <a:r>
              <a:rPr sz="1050" b="0" i="0">
                <a:solidFill>
                  <a:srgbClr val="16213A"/>
                </a:solidFill>
                <a:latin typeface="Arial"/>
                <a:ea typeface="Malgun Gothic"/>
                <a:cs typeface="Malgun Gothic"/>
              </a:rPr>
              <a:t> BSD-3이라 실제로 빌드해서 쟀다. </a:t>
            </a:r>
            <a:r>
              <a:rPr sz="1050" b="1" i="0">
                <a:solidFill>
                  <a:srgbClr val="C2410C"/>
                </a:solidFill>
                <a:latin typeface="Arial"/>
                <a:ea typeface="Malgun Gothic"/>
                <a:cs typeface="Malgun Gothic"/>
              </a:rPr>
              <a:t>README의 </a:t>
            </a:r>
            <a:r>
              <a:rPr sz="1050" b="1" i="1">
                <a:solidFill>
                  <a:srgbClr val="C2410C"/>
                </a:solidFill>
                <a:latin typeface="Arial"/>
                <a:ea typeface="Malgun Gothic"/>
                <a:cs typeface="Malgun Gothic"/>
              </a:rPr>
              <a:t>"~10 ms per scan"</a:t>
            </a:r>
            <a:r>
              <a:rPr sz="1050" b="1" i="0">
                <a:solidFill>
                  <a:srgbClr val="C2410C"/>
                </a:solidFill>
                <a:latin typeface="Arial"/>
                <a:ea typeface="Malgun Gothic"/>
                <a:cs typeface="Malgun Gothic"/>
              </a:rPr>
              <a:t>은 </a:t>
            </a:r>
            <a:r>
              <a:rPr sz="1050" b="1" i="0">
                <a:solidFill>
                  <a:srgbClr val="C2410C"/>
                </a:solidFill>
                <a:latin typeface="Arial"/>
                <a:ea typeface="Malgun Gothic"/>
                <a:cs typeface="Malgun Gothic"/>
              </a:rPr>
              <a:t>점군 융합이고 특징 추출이 빠진 숫자</a:t>
            </a:r>
            <a:r>
              <a:rPr sz="1050" b="1" i="0">
                <a:solidFill>
                  <a:srgbClr val="C2410C"/>
                </a:solidFill>
                <a:latin typeface="Arial"/>
                <a:ea typeface="Malgun Gothic"/>
                <a:cs typeface="Malgun Gothic"/>
              </a:rPr>
              <a:t>다</a:t>
            </a:r>
            <a:r>
              <a:rPr sz="1050" b="0" i="0">
                <a:solidFill>
                  <a:srgbClr val="16213A"/>
                </a:solidFill>
                <a:latin typeface="Arial"/>
                <a:ea typeface="Malgun Gothic"/>
                <a:cs typeface="Malgun Gothic"/>
              </a:rPr>
              <a:t> — 배포 설정 (</a:t>
            </a:r>
            <a:r>
              <a:rPr sz="1050" b="0" i="0">
                <a:solidFill>
                  <a:srgbClr val="16213A"/>
                </a:solidFill>
                <a:latin typeface="Consolas"/>
                <a:ea typeface="Malgun Gothic"/>
                <a:cs typeface="Malgun Gothic"/>
              </a:rPr>
              <a:t>ros2/config/local_mapping.yaml</a:t>
            </a:r>
            <a:r>
              <a:rPr sz="1050" b="0" i="0">
                <a:solidFill>
                  <a:srgbClr val="16213A"/>
                </a:solidFill>
                <a:latin typeface="Arial"/>
                <a:ea typeface="Malgun Gothic"/>
                <a:cs typeface="Malgun Gothic"/>
              </a:rPr>
              <a:t>)이 </a:t>
            </a:r>
            <a:r>
              <a:rPr sz="1050" b="0" i="0">
                <a:solidFill>
                  <a:srgbClr val="16213A"/>
                </a:solidFill>
                <a:latin typeface="Consolas"/>
                <a:ea typeface="Malgun Gothic"/>
                <a:cs typeface="Malgun Gothic"/>
              </a:rPr>
              <a:t>feature_extraction: enabled: false</a:t>
            </a:r>
            <a:r>
              <a:rPr sz="1050" b="0" i="0">
                <a:solidFill>
                  <a:srgbClr val="16213A"/>
                </a:solidFill>
                <a:latin typeface="Arial"/>
                <a:ea typeface="Malgun Gothic"/>
                <a:cs typeface="Malgun Gothic"/>
              </a:rPr>
              <a:t>이고 </a:t>
            </a:r>
            <a:r>
              <a:rPr sz="1050" b="0" i="0">
                <a:solidFill>
                  <a:srgbClr val="16213A"/>
                </a:solidFill>
                <a:latin typeface="Consolas"/>
                <a:ea typeface="Malgun Gothic"/>
                <a:cs typeface="Malgun Gothic"/>
              </a:rPr>
              <a:t>post_process_rate</a:t>
            </a:r>
            <a:r>
              <a:rPr sz="1050" b="0" i="0">
                <a:solidFill>
                  <a:srgbClr val="16213A"/>
                </a:solidFill>
                <a:latin typeface="Arial"/>
                <a:ea typeface="Malgun Gothic"/>
                <a:cs typeface="Malgun Gothic"/>
              </a:rPr>
              <a:t>가 스캔과 </a:t>
            </a:r>
            <a:r>
              <a:rPr sz="1050" b="1" i="0">
                <a:solidFill>
                  <a:srgbClr val="16213A"/>
                </a:solidFill>
                <a:latin typeface="Arial"/>
                <a:ea typeface="Malgun Gothic"/>
                <a:cs typeface="Malgun Gothic"/>
              </a:rPr>
              <a:t>별도 타이머</a:t>
            </a:r>
            <a:r>
              <a:rPr sz="1050" b="0" i="0">
                <a:solidFill>
                  <a:srgbClr val="16213A"/>
                </a:solidFill>
                <a:latin typeface="Arial"/>
                <a:ea typeface="Malgun Gothic"/>
                <a:cs typeface="Malgun Gothic"/>
              </a:rPr>
              <a:t>(10 Hz)다. 이 사실은 이 저장소에 대한 조사 결과이고, </a:t>
            </a:r>
            <a:r>
              <a:rPr sz="1050" b="1" i="0">
                <a:solidFill>
                  <a:srgbClr val="16213A"/>
                </a:solidFill>
                <a:latin typeface="Arial"/>
                <a:ea typeface="Malgun Gothic"/>
                <a:cs typeface="Malgun Gothic"/>
              </a:rPr>
              <a:t>우리 쪽 수치와의 비교는 개발 기록 A.13.2</a:t>
            </a:r>
            <a:r>
              <a:rPr sz="1050" b="0" i="0">
                <a:solidFill>
                  <a:srgbClr val="16213A"/>
                </a:solidFill>
                <a:latin typeface="Arial"/>
                <a:ea typeface="Malgun Gothic"/>
                <a:cs typeface="Malgun Gothic"/>
              </a:rPr>
              <a:t>에 있다(요약: 같은 격자에서 CPU 대 CPU는 무승부, CUDA가 27배).</a:t>
            </a:r>
          </a:p>
        </p:txBody>
      </p:sp>
      <p:sp>
        <p:nvSpPr>
          <p:cNvPr id="7" name="TextBox 6"/>
          <p:cNvSpPr txBox="1"/>
          <p:nvPr/>
        </p:nvSpPr>
        <p:spPr>
          <a:xfrm>
            <a:off x="609600" y="272137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미관측 처리도 travplan이 원하는 모양이다.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inpainting.hpp</a:t>
            </a:r>
            <a:r>
              <a:rPr sz="1050" b="0" i="0">
                <a:solidFill>
                  <a:srgbClr val="16213A"/>
                </a:solidFill>
                <a:latin typeface="Arial"/>
                <a:ea typeface="Malgun Gothic"/>
                <a:cs typeface="Malgun Gothic"/>
              </a:rPr>
              <a:t>가 </a:t>
            </a:r>
            <a:r>
              <a:rPr sz="1050" b="0" i="0">
                <a:solidFill>
                  <a:srgbClr val="16213A"/>
                </a:solidFill>
                <a:latin typeface="Consolas"/>
                <a:ea typeface="Malgun Gothic"/>
                <a:cs typeface="Malgun Gothic"/>
              </a:rPr>
              <a:t>inplace=false</a:t>
            </a:r>
            <a:r>
              <a:rPr sz="1050" b="0" i="0">
                <a:solidFill>
                  <a:srgbClr val="16213A"/>
                </a:solidFill>
                <a:latin typeface="Arial"/>
                <a:ea typeface="Malgun Gothic"/>
                <a:cs typeface="Malgun Gothic"/>
              </a:rPr>
              <a:t>로 </a:t>
            </a:r>
            <a:r>
              <a:rPr sz="1050" b="0" i="0">
                <a:solidFill>
                  <a:srgbClr val="16213A"/>
                </a:solidFill>
                <a:latin typeface="Consolas"/>
                <a:ea typeface="Malgun Gothic"/>
                <a:cs typeface="Malgun Gothic"/>
              </a:rPr>
              <a:t>elevation_inpainted</a:t>
            </a:r>
            <a:r>
              <a:rPr sz="1050" b="0" i="0">
                <a:solidFill>
                  <a:srgbClr val="16213A"/>
                </a:solidFill>
                <a:latin typeface="Arial"/>
                <a:ea typeface="Malgun Gothic"/>
                <a:cs typeface="Malgun Gothic"/>
              </a:rPr>
              <a:t>를 </a:t>
            </a:r>
            <a:r>
              <a:rPr sz="1050" b="1" i="0">
                <a:solidFill>
                  <a:srgbClr val="16213A"/>
                </a:solidFill>
                <a:latin typeface="Arial"/>
                <a:ea typeface="Malgun Gothic"/>
                <a:cs typeface="Malgun Gothic"/>
              </a:rPr>
              <a:t>별도 레이어</a:t>
            </a:r>
            <a:r>
              <a:rPr sz="1050" b="0" i="0">
                <a:solidFill>
                  <a:srgbClr val="16213A"/>
                </a:solidFill>
                <a:latin typeface="Arial"/>
                <a:ea typeface="Malgun Gothic"/>
                <a:cs typeface="Malgun Gothic"/>
              </a:rPr>
              <a:t>에 써 원래 NaN 마스크를 남기고(travplan이 σ 채널로 하려는 것과 같은 분리), </a:t>
            </a:r>
            <a:r>
              <a:rPr sz="1050" b="0" i="0">
                <a:solidFill>
                  <a:srgbClr val="16213A"/>
                </a:solidFill>
                <a:latin typeface="Consolas"/>
                <a:ea typeface="Malgun Gothic"/>
                <a:cs typeface="Malgun Gothic"/>
              </a:rPr>
              <a:t>raycasting.hpp</a:t>
            </a:r>
            <a:r>
              <a:rPr sz="1050" b="0" i="0">
                <a:solidFill>
                  <a:srgbClr val="16213A"/>
                </a:solidFill>
                <a:latin typeface="Arial"/>
                <a:ea typeface="Malgun Gothic"/>
                <a:cs typeface="Malgun Gothic"/>
              </a:rPr>
              <a:t>는 칸마다 </a:t>
            </a:r>
            <a:r>
              <a:rPr sz="1050" b="1" i="0">
                <a:solidFill>
                  <a:srgbClr val="16213A"/>
                </a:solidFill>
                <a:latin typeface="Consolas"/>
                <a:ea typeface="Malgun Gothic"/>
                <a:cs typeface="Malgun Gothic"/>
              </a:rPr>
              <a:t>visibility_logodds</a:t>
            </a:r>
            <a:r>
              <a:rPr sz="1050" b="0" i="0">
                <a:solidFill>
                  <a:srgbClr val="16213A"/>
                </a:solidFill>
                <a:latin typeface="Arial"/>
                <a:ea typeface="Malgun Gothic"/>
                <a:cs typeface="Malgun Gothic"/>
              </a:rPr>
              <a:t>를 유지한다(관측 시 </a:t>
            </a:r>
            <a:r>
              <a:rPr sz="1050" b="0" i="0">
                <a:solidFill>
                  <a:srgbClr val="16213A"/>
                </a:solidFill>
                <a:latin typeface="Consolas"/>
                <a:ea typeface="Malgun Gothic"/>
                <a:cs typeface="Malgun Gothic"/>
              </a:rPr>
              <a:t>+L_observed</a:t>
            </a:r>
            <a:r>
              <a:rPr sz="1050" b="0" i="0">
                <a:solidFill>
                  <a:srgbClr val="16213A"/>
                </a:solidFill>
                <a:latin typeface="Arial"/>
                <a:ea typeface="Malgun Gothic"/>
                <a:cs typeface="Malgun Gothic"/>
              </a:rPr>
              <a:t>, 광선이 기록 고도 아래를 지나면 </a:t>
            </a:r>
            <a:r>
              <a:rPr sz="1050" b="0" i="0">
                <a:solidFill>
                  <a:srgbClr val="16213A"/>
                </a:solidFill>
                <a:latin typeface="Consolas"/>
                <a:ea typeface="Malgun Gothic"/>
                <a:cs typeface="Malgun Gothic"/>
              </a:rPr>
              <a:t>-L_ghost</a:t>
            </a:r>
            <a:r>
              <a:rPr sz="1050" b="0" i="0">
                <a:solidFill>
                  <a:srgbClr val="16213A"/>
                </a:solidFill>
                <a:latin typeface="Arial"/>
                <a:ea typeface="Malgun Gothic"/>
                <a:cs typeface="Malgun Gothic"/>
              </a:rPr>
              <a:t>, 임계 아래는 ghost로 제거). </a:t>
            </a:r>
            <a:r>
              <a:rPr sz="1050" b="1" i="0">
                <a:solidFill>
                  <a:srgbClr val="16213A"/>
                </a:solidFill>
                <a:latin typeface="Arial"/>
                <a:ea typeface="Malgun Gothic"/>
                <a:cs typeface="Malgun Gothic"/>
              </a:rPr>
              <a:t>"이 칸이 정말 관측됐는지"를 log-odds로 들고 있는 유일한 구현이고</a:t>
            </a:r>
            <a:r>
              <a:rPr sz="1050" b="0" i="0">
                <a:solidFill>
                  <a:srgbClr val="16213A"/>
                </a:solidFill>
                <a:latin typeface="Arial"/>
                <a:ea typeface="Malgun Gothic"/>
                <a:cs typeface="Malgun Gothic"/>
              </a:rPr>
              <a:t>, travplan의 그림자 상한이 이진 마스크로 다루는 것을 연속값으로 다룬다.</a:t>
            </a:r>
          </a:p>
        </p:txBody>
      </p:sp>
      <p:sp>
        <p:nvSpPr>
          <p:cNvPr id="8" name="TextBox 7"/>
          <p:cNvSpPr txBox="1"/>
          <p:nvPr/>
        </p:nvSpPr>
        <p:spPr>
          <a:xfrm>
            <a:off x="717550" y="3459758"/>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A.2b.5 CMU </a:t>
            </a:r>
            <a:r>
              <a:rPr sz="1200" b="1" i="0">
                <a:solidFill>
                  <a:srgbClr val="16213A"/>
                </a:solidFill>
                <a:latin typeface="Consolas"/>
                <a:ea typeface="Malgun Gothic"/>
                <a:cs typeface="Malgun Gothic"/>
              </a:rPr>
              <a:t>terrain_analysis</a:t>
            </a:r>
            <a:r>
              <a:rPr sz="1200" b="1" i="0">
                <a:solidFill>
                  <a:srgbClr val="16213A"/>
                </a:solidFill>
                <a:latin typeface="Arial"/>
                <a:ea typeface="Malgun Gothic"/>
                <a:cs typeface="Malgun Gothic"/>
              </a:rPr>
              <a:t> — 음의 장애물 파라미터가 이미 정리돼 있다</a:t>
            </a:r>
          </a:p>
        </p:txBody>
      </p:sp>
      <p:sp>
        <p:nvSpPr>
          <p:cNvPr id="9" name="TextBox 8"/>
          <p:cNvSpPr txBox="1"/>
          <p:nvPr/>
        </p:nvSpPr>
        <p:spPr>
          <a:xfrm>
            <a:off x="609600" y="376297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A.9.1이 이 저장소의 </a:t>
            </a:r>
            <a:r>
              <a:rPr sz="1050" b="0" i="0">
                <a:solidFill>
                  <a:srgbClr val="16213A"/>
                </a:solidFill>
                <a:latin typeface="Consolas"/>
                <a:ea typeface="Malgun Gothic"/>
                <a:cs typeface="Malgun Gothic"/>
              </a:rPr>
              <a:t>terrain_analysis</a:t>
            </a:r>
            <a:r>
              <a:rPr sz="1050" b="0" i="0">
                <a:solidFill>
                  <a:srgbClr val="16213A"/>
                </a:solidFill>
                <a:latin typeface="Arial"/>
                <a:ea typeface="Malgun Gothic"/>
                <a:cs typeface="Malgun Gothic"/>
              </a:rPr>
              <a:t> 파이프라인을 다루고, 여기서는 같은 저장소의 음의 장애물·미관측 파라미터를 자세히 본다. </a:t>
            </a:r>
            <a:r>
              <a:rPr sz="1050" b="0" i="0">
                <a:solidFill>
                  <a:srgbClr val="1D4ED8"/>
                </a:solidFill>
                <a:latin typeface="Arial"/>
                <a:ea typeface="Malgun Gothic"/>
                <a:cs typeface="Malgun Gothic"/>
                <a:hlinkClick r:id="rId3"/>
              </a:rPr>
              <a:t>autonomy_stack_mecanum_wheel_platform</a:t>
            </a:r>
            <a:r>
              <a:rPr sz="1050" b="0" i="0">
                <a:solidFill>
                  <a:srgbClr val="16213A"/>
                </a:solidFill>
                <a:latin typeface="Arial"/>
                <a:ea typeface="Malgun Gothic"/>
                <a:cs typeface="Malgun Gothic"/>
              </a:rPr>
              <a:t> (★330, </a:t>
            </a:r>
            <a:r>
              <a:rPr sz="1050" b="0" i="0">
                <a:solidFill>
                  <a:srgbClr val="16213A"/>
                </a:solidFill>
                <a:latin typeface="Consolas"/>
                <a:ea typeface="Malgun Gothic"/>
                <a:cs typeface="Malgun Gothic"/>
              </a:rPr>
              <a:t>jazzy</a:t>
            </a:r>
            <a:r>
              <a:rPr sz="1050" b="0" i="0">
                <a:solidFill>
                  <a:srgbClr val="16213A"/>
                </a:solidFill>
                <a:latin typeface="Arial"/>
                <a:ea typeface="Malgun Gothic"/>
                <a:cs typeface="Malgun Gothic"/>
              </a:rPr>
              <a:t> 브랜치, 2026-06-06)에는 base에 없는 파라미터가 있다.</a:t>
            </a:r>
          </a:p>
        </p:txBody>
      </p:sp>
      <p:graphicFrame>
        <p:nvGraphicFramePr>
          <p:cNvPr id="10" name="Table 9"/>
          <p:cNvGraphicFramePr>
            <a:graphicFrameLocks noGrp="1"/>
          </p:cNvGraphicFramePr>
          <p:nvPr/>
        </p:nvGraphicFramePr>
        <p:xfrm>
          <a:off x="609600" y="4284861"/>
          <a:ext cx="10966450" cy="1182528"/>
        </p:xfrm>
        <a:graphic>
          <a:graphicData uri="http://schemas.openxmlformats.org/drawingml/2006/table">
            <a:tbl>
              <a:tblPr firstRow="1" bandRow="1">
                <a:tableStyleId>{5C22544A-7EE6-4342-B048-85BDC9FD1C3A}</a:tableStyleId>
              </a:tblPr>
              <a:tblGrid>
                <a:gridCol w="2679700"/>
                <a:gridCol w="5826125"/>
                <a:gridCol w="2460625"/>
              </a:tblGrid>
              <a:tr h="197088">
                <a:tc>
                  <a:txBody>
                    <a:bodyPr wrap="square"/>
                    <a:lstStyle/>
                    <a:p>
                      <a:r>
                        <a:rPr sz="800" b="1" i="0">
                          <a:solidFill>
                            <a:srgbClr val="F4F1EA"/>
                          </a:solidFill>
                          <a:latin typeface="Arial"/>
                          <a:ea typeface="Malgun Gothic"/>
                          <a:cs typeface="Malgun Gothic"/>
                        </a:rPr>
                        <a:t>파라미터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값</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뜻</a:t>
                      </a:r>
                    </a:p>
                  </a:txBody>
                  <a:tcPr marL="63500" marR="63500" marT="12700" marB="12700">
                    <a:solidFill>
                      <a:srgbClr val="16213A"/>
                    </a:solidFill>
                  </a:tcPr>
                </a:tc>
              </a:tr>
              <a:tr h="197088">
                <a:tc>
                  <a:txBody>
                    <a:bodyPr wrap="square"/>
                    <a:lstStyle/>
                    <a:p>
                      <a:r>
                        <a:rPr sz="800" b="0" i="0">
                          <a:solidFill>
                            <a:srgbClr val="16213A"/>
                          </a:solidFill>
                          <a:latin typeface="Consolas"/>
                          <a:ea typeface="Malgun Gothic"/>
                          <a:cs typeface="Malgun Gothic"/>
                        </a:rPr>
                        <a:t>negObstacle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 끔 / 0 </a:t>
                      </a:r>
                      <a:r>
                        <a:rPr sz="800" b="1" i="0">
                          <a:solidFill>
                            <a:srgbClr val="16213A"/>
                          </a:solidFill>
                          <a:latin typeface="Arial"/>
                          <a:ea typeface="Malgun Gothic"/>
                          <a:cs typeface="Malgun Gothic"/>
                        </a:rPr>
                        <a:t>지면 높이 기준</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disZ</a:t>
                      </a:r>
                      <a:r>
                        <a:rPr sz="800" b="0" i="0">
                          <a:solidFill>
                            <a:srgbClr val="16213A"/>
                          </a:solidFill>
                          <a:latin typeface="Arial"/>
                          <a:ea typeface="Malgun Gothic"/>
                          <a:cs typeface="Malgun Gothic"/>
                        </a:rPr>
                        <a:t> = 셀 지면 대비) / 1 </a:t>
                      </a:r>
                      <a:r>
                        <a:rPr sz="800" b="1" i="0">
                          <a:solidFill>
                            <a:srgbClr val="16213A"/>
                          </a:solidFill>
                          <a:latin typeface="Arial"/>
                          <a:ea typeface="Malgun Gothic"/>
                          <a:cs typeface="Malgun Gothic"/>
                        </a:rPr>
                        <a:t>센서 높이 기준</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pointZ</a:t>
                      </a:r>
                      <a:r>
                        <a:rPr sz="800" b="0" i="0">
                          <a:solidFill>
                            <a:srgbClr val="16213A"/>
                          </a:solidFill>
                          <a:latin typeface="Arial"/>
                          <a:ea typeface="Malgun Gothic"/>
                          <a:cs typeface="Malgun Gothic"/>
                        </a:rPr>
                        <a:t> = </a:t>
                      </a:r>
                      <a:r>
                        <a:rPr sz="800" b="0" i="0">
                          <a:solidFill>
                            <a:srgbClr val="16213A"/>
                          </a:solidFill>
                          <a:latin typeface="Consolas"/>
                          <a:ea typeface="Malgun Gothic"/>
                          <a:cs typeface="Malgun Gothic"/>
                        </a:rPr>
                        <a:t>point.z − vehicleZ</a:t>
                      </a:r>
                      <a:r>
                        <a:rPr sz="800" b="0" i="0">
                          <a:solidFill>
                            <a:srgbClr val="16213A"/>
                          </a:solidFill>
                          <a:latin typeface="Arial"/>
                          <a:ea typeface="Malgun Gothic"/>
                          <a:cs typeface="Malgun Gothic"/>
                        </a:rPr>
                        <a:t>, 오도메트리 원점 대비)</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음의 장애물 </a:t>
                      </a:r>
                      <a:r>
                        <a:rPr sz="800" b="1" i="0">
                          <a:solidFill>
                            <a:srgbClr val="C2410C"/>
                          </a:solidFill>
                          <a:latin typeface="Arial"/>
                          <a:ea typeface="Malgun Gothic"/>
                          <a:cs typeface="Malgun Gothic"/>
                        </a:rPr>
                        <a:t>기준계를 고른다</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negObstacleDis</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negObstacleRelZThre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10.0 m, −0.2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판정 거리와 낙차 문턱</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nearObstacle*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true, 0.75 m, −0.3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근거리 사각지대 전용 완화 문턱</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noDataBlockShrinkNum</a:t>
                      </a:r>
                      <a:r>
                        <a:rPr sz="800" b="0" i="0">
                          <a:solidFill>
                            <a:srgbClr val="16213A"/>
                          </a:solidFill>
                          <a:latin typeface="Arial"/>
                          <a:ea typeface="Malgun Gothic"/>
                          <a:cs typeface="Malgun Gothic"/>
                        </a:rPr>
                        <a:t> / </a:t>
                      </a:r>
                      <a:r>
                        <a:rPr sz="800" b="0" i="0">
                          <a:solidFill>
                            <a:srgbClr val="16213A"/>
                          </a:solidFill>
                          <a:latin typeface="Consolas"/>
                          <a:ea typeface="Malgun Gothic"/>
                          <a:cs typeface="Malgun Gothic"/>
                        </a:rPr>
                        <a:t>noDataBlockExpandNum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no-data 마스크 </a:t>
                      </a:r>
                      <a:r>
                        <a:rPr sz="800" b="1" i="0">
                          <a:solidFill>
                            <a:srgbClr val="16213A"/>
                          </a:solidFill>
                          <a:latin typeface="Arial"/>
                          <a:ea typeface="Malgun Gothic"/>
                          <a:cs typeface="Malgun Gothic"/>
                        </a:rPr>
                        <a:t>침식 → 팽창</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minOutOfFovPointNum</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planarVoxelOutOfFov[]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센서 수직 FOV 최저각 아래 칸을 동적 정리에서 </a:t>
                      </a:r>
                      <a:r>
                        <a:rPr sz="800" b="1" i="0">
                          <a:solidFill>
                            <a:srgbClr val="16213A"/>
                          </a:solidFill>
                          <a:latin typeface="Arial"/>
                          <a:ea typeface="Malgun Gothic"/>
                          <a:cs typeface="Malgun Gothic"/>
                        </a:rPr>
                        <a:t>보호</a:t>
                      </a:r>
                    </a:p>
                  </a:txBody>
                  <a:tcPr marL="63500" marR="63500" marT="12700" marB="12700">
                    <a:solidFill>
                      <a:srgbClr val="FFFDF8"/>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3/7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27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0" i="0">
                <a:solidFill>
                  <a:srgbClr val="16213A"/>
                </a:solidFill>
                <a:latin typeface="Consolas"/>
                <a:ea typeface="Malgun Gothic"/>
                <a:cs typeface="Malgun Gothic"/>
              </a:rPr>
              <a:t>noDataBlockShrink/Expand</a:t>
            </a:r>
            <a:r>
              <a:rPr sz="1050" b="0" i="0">
                <a:solidFill>
                  <a:srgbClr val="16213A"/>
                </a:solidFill>
                <a:latin typeface="Arial"/>
                <a:ea typeface="Malgun Gothic"/>
                <a:cs typeface="Malgun Gothic"/>
              </a:rPr>
              <a:t>가 </a:t>
            </a:r>
            <a:r>
              <a:rPr sz="1050" b="1" i="0">
                <a:solidFill>
                  <a:srgbClr val="16213A"/>
                </a:solidFill>
                <a:latin typeface="Arial"/>
                <a:ea typeface="Malgun Gothic"/>
                <a:cs typeface="Malgun Gothic"/>
              </a:rPr>
              <a:t>TP-0048(오탐 점검)이 필요한 손잡이 그 자체</a:t>
            </a:r>
            <a:r>
              <a:rPr sz="1050" b="0" i="0">
                <a:solidFill>
                  <a:srgbClr val="16213A"/>
                </a:solidFill>
                <a:latin typeface="Arial"/>
                <a:ea typeface="Malgun Gothic"/>
                <a:cs typeface="Malgun Gothic"/>
              </a:rPr>
              <a:t>다 — 미관측 마스크를 침식해 잡음 칸을 지우고 다시 팽창해 실제 구멍만 남긴다. </a:t>
            </a:r>
            <a:r>
              <a:rPr sz="1050" b="0" i="0">
                <a:solidFill>
                  <a:srgbClr val="16213A"/>
                </a:solidFill>
                <a:latin typeface="Consolas"/>
                <a:ea typeface="Malgun Gothic"/>
                <a:cs typeface="Malgun Gothic"/>
              </a:rPr>
              <a:t>planarVoxelOutOfFov</a:t>
            </a:r>
            <a:r>
              <a:rPr sz="1050" b="0" i="0">
                <a:solidFill>
                  <a:srgbClr val="16213A"/>
                </a:solidFill>
                <a:latin typeface="Arial"/>
                <a:ea typeface="Malgun Gothic"/>
                <a:cs typeface="Malgun Gothic"/>
              </a:rPr>
              <a:t>는 "센서가 더는 재확인할 수 없는 칸"을 FOV 기하로 판정하는데, travplan이 그림자 상한을 유지할지 만료시킬지 정하는 규칙으로 바로 쓰인다. </a:t>
            </a:r>
            <a:r>
              <a:rPr sz="1050" b="0" i="0">
                <a:solidFill>
                  <a:srgbClr val="16213A"/>
                </a:solidFill>
                <a:latin typeface="Consolas"/>
                <a:ea typeface="Malgun Gothic"/>
                <a:cs typeface="Malgun Gothic"/>
              </a:rPr>
              <a:t>autonomy_stack_go2</a:t>
            </a:r>
            <a:r>
              <a:rPr sz="1050" b="0" i="0">
                <a:solidFill>
                  <a:srgbClr val="16213A"/>
                </a:solidFill>
                <a:latin typeface="Arial"/>
                <a:ea typeface="Malgun Gothic"/>
                <a:cs typeface="Malgun Gothic"/>
              </a:rPr>
              <a:t>(★550)는 </a:t>
            </a:r>
            <a:r>
              <a:rPr sz="1050" b="0" i="0">
                <a:solidFill>
                  <a:srgbClr val="16213A"/>
                </a:solidFill>
                <a:latin typeface="Consolas"/>
                <a:ea typeface="Malgun Gothic"/>
                <a:cs typeface="Malgun Gothic"/>
              </a:rPr>
              <a:t>noDataObstacle=true</a:t>
            </a:r>
            <a:r>
              <a:rPr sz="1050" b="0" i="0">
                <a:solidFill>
                  <a:srgbClr val="16213A"/>
                </a:solidFill>
                <a:latin typeface="Arial"/>
                <a:ea typeface="Malgun Gothic"/>
                <a:cs typeface="Malgun Gothic"/>
              </a:rPr>
              <a:t>를 켜되 로봇 앞 상자로 제한한다 (</a:t>
            </a:r>
            <a:r>
              <a:rPr sz="1050" b="0" i="0">
                <a:solidFill>
                  <a:srgbClr val="16213A"/>
                </a:solidFill>
                <a:latin typeface="Consolas"/>
                <a:ea typeface="Malgun Gothic"/>
                <a:cs typeface="Malgun Gothic"/>
              </a:rPr>
              <a:t>noDataAreaMinX 0.3 ~ MaxX 1.8</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MinY −0.9 ~ MaxY 0.9</a:t>
            </a:r>
            <a:r>
              <a:rPr sz="1050" b="0" i="0">
                <a:solidFill>
                  <a:srgbClr val="16213A"/>
                </a:solidFill>
                <a:latin typeface="Arial"/>
                <a:ea typeface="Malgun Gothic"/>
                <a:cs typeface="Malgun Gothic"/>
              </a:rPr>
              <a:t>). ⚠️ </a:t>
            </a:r>
            <a:r>
              <a:rPr sz="1050" b="1" i="0">
                <a:solidFill>
                  <a:srgbClr val="16213A"/>
                </a:solidFill>
                <a:latin typeface="Arial"/>
                <a:ea typeface="Malgun Gothic"/>
                <a:cs typeface="Malgun Gothic"/>
              </a:rPr>
              <a:t>라이선스 파일이 없어 코드 복사는 안 되고, 파라미터 설계만 참조한다.</a:t>
            </a:r>
          </a:p>
        </p:txBody>
      </p:sp>
      <p:sp>
        <p:nvSpPr>
          <p:cNvPr id="6" name="TextBox 5"/>
          <p:cNvSpPr txBox="1"/>
          <p:nvPr/>
        </p:nvSpPr>
        <p:spPr>
          <a:xfrm>
            <a:off x="717550" y="1982986"/>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A.2b.6 2.5D를 대체하려는 흐름 — 있지만 이 문제를 풀지 않는다</a:t>
            </a:r>
          </a:p>
        </p:txBody>
      </p:sp>
      <p:sp>
        <p:nvSpPr>
          <p:cNvPr id="7" name="TextBox 6"/>
          <p:cNvSpPr txBox="1"/>
          <p:nvPr/>
        </p:nvSpPr>
        <p:spPr>
          <a:xfrm>
            <a:off x="609600" y="228619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3D로 간 구현이 새로 주는 것은 </a:t>
            </a:r>
            <a:r>
              <a:rPr sz="1050" b="1" i="0">
                <a:solidFill>
                  <a:srgbClr val="16213A"/>
                </a:solidFill>
                <a:latin typeface="Arial"/>
                <a:ea typeface="Malgun Gothic"/>
                <a:cs typeface="Malgun Gothic"/>
              </a:rPr>
              <a:t>오버행</a:t>
            </a:r>
            <a:r>
              <a:rPr sz="1050" b="0" i="0">
                <a:solidFill>
                  <a:srgbClr val="16213A"/>
                </a:solidFill>
                <a:latin typeface="Arial"/>
                <a:ea typeface="Malgun Gothic"/>
                <a:cs typeface="Malgun Gothic"/>
              </a:rPr>
              <a:t>(travplan의 알려진 한계이고 표현의 한계라 후처리로 못 메운다)과 </a:t>
            </a:r>
            <a:r>
              <a:rPr sz="1050" b="1" i="0">
                <a:solidFill>
                  <a:srgbClr val="16213A"/>
                </a:solidFill>
                <a:latin typeface="Arial"/>
                <a:ea typeface="Malgun Gothic"/>
                <a:cs typeface="Malgun Gothic"/>
              </a:rPr>
              <a:t>free/unknown 3-state 질의</a:t>
            </a:r>
            <a:r>
              <a:rPr sz="1050" b="0" i="0">
                <a:solidFill>
                  <a:srgbClr val="16213A"/>
                </a:solidFill>
                <a:latin typeface="Arial"/>
                <a:ea typeface="Malgun Gothic"/>
                <a:cs typeface="Malgun Gothic"/>
              </a:rPr>
              <a:t>다. 그런데 셋이 걸린다.</a:t>
            </a:r>
          </a:p>
        </p:txBody>
      </p:sp>
      <p:sp>
        <p:nvSpPr>
          <p:cNvPr id="8" name="TextBox 7"/>
          <p:cNvSpPr txBox="1"/>
          <p:nvPr/>
        </p:nvSpPr>
        <p:spPr>
          <a:xfrm>
            <a:off x="609600" y="2591594"/>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주류 3D 라이브러리는 기하까지다</a:t>
            </a:r>
            <a:r>
              <a:rPr sz="1050" b="0" i="0">
                <a:solidFill>
                  <a:srgbClr val="16213A"/>
                </a:solidFill>
                <a:latin typeface="Arial"/>
                <a:ea typeface="Malgun Gothic"/>
                <a:cs typeface="Malgun Gothic"/>
              </a:rPr>
              <a:t> — nvblox·Bonxai·VDB 계열·wavemap 전부 그렇고, slope·step·rough·cost·σ는 결국 2.5D 층에서 만들어야 한다. ⚠️ </a:t>
            </a:r>
            <a:r>
              <a:rPr sz="1050" b="1" i="0">
                <a:solidFill>
                  <a:srgbClr val="16213A"/>
                </a:solidFill>
                <a:latin typeface="Arial"/>
                <a:ea typeface="Malgun Gothic"/>
                <a:cs typeface="Malgun Gothic"/>
              </a:rPr>
              <a:t>정정</a:t>
            </a:r>
            <a:r>
              <a:rPr sz="1050" b="0" i="0">
                <a:solidFill>
                  <a:srgbClr val="16213A"/>
                </a:solidFill>
                <a:latin typeface="Arial"/>
                <a:ea typeface="Malgun Gothic"/>
                <a:cs typeface="Malgun Gothic"/>
              </a:rPr>
              <a:t>: 처음에는 "하나도 없다"고 썼는데 </a:t>
            </a:r>
            <a:r>
              <a:rPr sz="1050" b="1" i="0">
                <a:solidFill>
                  <a:srgbClr val="16213A"/>
                </a:solidFill>
                <a:latin typeface="Arial"/>
                <a:ea typeface="Malgun Gothic"/>
                <a:cs typeface="Malgun Gothic"/>
              </a:rPr>
              <a:t>반례가 이 문서 안에 있다</a:t>
            </a:r>
            <a:r>
              <a:rPr sz="1050" b="0" i="0">
                <a:solidFill>
                  <a:srgbClr val="16213A"/>
                </a:solidFill>
                <a:latin typeface="Arial"/>
                <a:ea typeface="Malgun Gothic"/>
                <a:cs typeface="Malgun Gothic"/>
              </a:rPr>
              <a:t> — A.3c의 </a:t>
            </a:r>
            <a:r>
              <a:rPr sz="1050" b="1" i="0">
                <a:solidFill>
                  <a:srgbClr val="16213A"/>
                </a:solidFill>
                <a:latin typeface="Arial"/>
                <a:ea typeface="Malgun Gothic"/>
                <a:cs typeface="Malgun Gothic"/>
              </a:rPr>
              <a:t>TravBlox</a:t>
            </a:r>
            <a:r>
              <a:rPr sz="1050" b="0" i="0">
                <a:solidFill>
                  <a:srgbClr val="16213A"/>
                </a:solidFill>
                <a:latin typeface="Arial"/>
                <a:ea typeface="Malgun Gothic"/>
                <a:cs typeface="Malgun Gothic"/>
              </a:rPr>
              <a:t>가 </a:t>
            </a:r>
            <a:r>
              <a:rPr sz="1050" b="0" i="1">
                <a:solidFill>
                  <a:srgbClr val="16213A"/>
                </a:solidFill>
                <a:latin typeface="Arial"/>
                <a:ea typeface="Malgun Gothic"/>
                <a:cs typeface="Malgun Gothic"/>
              </a:rPr>
              <a:t>"adds </a:t>
            </a:r>
            <a:r>
              <a:rPr sz="1050" b="0" i="1">
                <a:solidFill>
                  <a:srgbClr val="16213A"/>
                </a:solidFill>
                <a:latin typeface="Arial"/>
                <a:ea typeface="Malgun Gothic"/>
                <a:cs typeface="Malgun Gothic"/>
              </a:rPr>
              <a:t>traversability</a:t>
            </a:r>
            <a:r>
              <a:rPr sz="1050" b="0" i="1">
                <a:solidFill>
                  <a:srgbClr val="16213A"/>
                </a:solidFill>
                <a:latin typeface="Arial"/>
                <a:ea typeface="Malgun Gothic"/>
                <a:cs typeface="Malgun Gothic"/>
              </a:rPr>
              <a:t> as a fourth voxel attribute alongside the classical occupied, unknown, and free states"</a:t>
            </a:r>
            <a:r>
              <a:rPr sz="1050" b="0" i="0">
                <a:solidFill>
                  <a:srgbClr val="16213A"/>
                </a:solidFill>
                <a:latin typeface="Arial"/>
                <a:ea typeface="Malgun Gothic"/>
                <a:cs typeface="Malgun Gothic"/>
              </a:rPr>
              <a:t>이고 </a:t>
            </a:r>
            <a:r>
              <a:rPr sz="1050" b="0" i="0">
                <a:solidFill>
                  <a:srgbClr val="16213A"/>
                </a:solidFill>
                <a:latin typeface="Consolas"/>
                <a:ea typeface="Malgun Gothic"/>
                <a:cs typeface="Malgun Gothic"/>
              </a:rPr>
              <a:t>getVoxelTraversability()</a:t>
            </a:r>
            <a:r>
              <a:rPr sz="1050" b="0" i="0">
                <a:solidFill>
                  <a:srgbClr val="16213A"/>
                </a:solidFill>
                <a:latin typeface="Arial"/>
                <a:ea typeface="Malgun Gothic"/>
                <a:cs typeface="Malgun Gothic"/>
              </a:rPr>
              <a:t>를 공개 API로 낸다. </a:t>
            </a:r>
            <a:r>
              <a:rPr sz="1050" b="0" i="0">
                <a:solidFill>
                  <a:srgbClr val="16213A"/>
                </a:solidFill>
                <a:latin typeface="Consolas"/>
                <a:ea typeface="Malgun Gothic"/>
                <a:cs typeface="Malgun Gothic"/>
              </a:rPr>
              <a:t>foresttrav</a:t>
            </a:r>
            <a:r>
              <a:rPr sz="1050" b="0" i="0">
                <a:solidFill>
                  <a:srgbClr val="16213A"/>
                </a:solidFill>
                <a:latin typeface="Arial"/>
                <a:ea typeface="Malgun Gothic"/>
                <a:cs typeface="Malgun Gothic"/>
              </a:rPr>
              <a:t>도 voxel별 학습 traversability다. </a:t>
            </a:r>
            <a:r>
              <a:rPr sz="1050" b="1" i="0">
                <a:solidFill>
                  <a:srgbClr val="16213A"/>
                </a:solidFill>
                <a:latin typeface="Arial"/>
                <a:ea typeface="Malgun Gothic"/>
                <a:cs typeface="Malgun Gothic"/>
              </a:rPr>
              <a:t>주류가 아닐 뿐 없지는 않다.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nvblox가 Nav2로 내보내는 것은 단일 높이 2D 슬라이스</a:t>
            </a:r>
            <a:r>
              <a:rPr sz="1050" b="0" i="0">
                <a:solidFill>
                  <a:srgbClr val="16213A"/>
                </a:solidFill>
                <a:latin typeface="Arial"/>
                <a:ea typeface="Malgun Gothic"/>
                <a:cs typeface="Malgun Gothic"/>
              </a:rPr>
              <a:t>다(</a:t>
            </a:r>
            <a:r>
              <a:rPr sz="1050" b="0" i="0">
                <a:solidFill>
                  <a:srgbClr val="16213A"/>
                </a:solidFill>
                <a:latin typeface="Consolas"/>
                <a:ea typeface="Malgun Gothic"/>
                <a:cs typeface="Malgun Gothic"/>
              </a:rPr>
              <a:t>esdf_mode: "2d"</a:t>
            </a:r>
            <a:r>
              <a:rPr sz="1050" b="0" i="0">
                <a:solidFill>
                  <a:srgbClr val="16213A"/>
                </a:solidFill>
                <a:latin typeface="Arial"/>
                <a:ea typeface="Malgun Gothic"/>
                <a:cs typeface="Malgun Gothic"/>
              </a:rPr>
              <a:t>가 기본). 지면 아래 포트홀은 그 슬라이스에서 장애물이 되지 않는다. </a:t>
            </a:r>
            <a:r>
              <a:rPr sz="1050" b="1" i="0">
                <a:solidFill>
                  <a:srgbClr val="C2410C"/>
                </a:solidFill>
                <a:latin typeface="Arial"/>
                <a:ea typeface="Malgun Gothic"/>
                <a:cs typeface="Malgun Gothic"/>
              </a:rPr>
              <a:t>3D로 가도 음의 장애물은 안 풀린다.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지상 로봇 온보드에서 도는 3D Gaussian splatting 지형 지도는 공개 구현을 찾지 못했다.</a:t>
            </a:r>
          </a:p>
        </p:txBody>
      </p:sp>
      <p:sp>
        <p:nvSpPr>
          <p:cNvPr id="9" name="TextBox 8"/>
          <p:cNvSpPr txBox="1"/>
          <p:nvPr/>
        </p:nvSpPr>
        <p:spPr>
          <a:xfrm>
            <a:off x="609600" y="3813770"/>
            <a:ext cx="10972800" cy="216495"/>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현실의 지배적 패턴은 "대체"가 아니라 </a:t>
            </a:r>
            <a:r>
              <a:rPr sz="1050" b="1" i="0">
                <a:solidFill>
                  <a:srgbClr val="C2410C"/>
                </a:solidFill>
                <a:latin typeface="Arial"/>
                <a:ea typeface="Malgun Gothic"/>
                <a:cs typeface="Malgun Gothic"/>
              </a:rPr>
              <a:t>3D로 융합하고 2.5D로 내보내기</a:t>
            </a:r>
            <a:r>
              <a:rPr sz="1050" b="1" i="0">
                <a:solidFill>
                  <a:srgbClr val="C2410C"/>
                </a:solidFill>
                <a:latin typeface="Arial"/>
                <a:ea typeface="Malgun Gothic"/>
                <a:cs typeface="Malgun Gothic"/>
              </a:rPr>
              <a:t>이고, G-VOM이 그 전형이다.</a:t>
            </a:r>
          </a:p>
        </p:txBody>
      </p:sp>
      <p:sp>
        <p:nvSpPr>
          <p:cNvPr id="10" name="TextBox 9"/>
          <p:cNvSpPr txBox="1"/>
          <p:nvPr/>
        </p:nvSpPr>
        <p:spPr>
          <a:xfrm>
            <a:off x="609600" y="411916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그래도 "2.5D는 부족하다"를 주장하며 코드까지 낸 둘은 읽을 값이 있다.</a:t>
            </a:r>
          </a:p>
        </p:txBody>
      </p:sp>
      <p:graphicFrame>
        <p:nvGraphicFramePr>
          <p:cNvPr id="11" name="Table 10"/>
          <p:cNvGraphicFramePr>
            <a:graphicFrameLocks noGrp="1"/>
          </p:cNvGraphicFramePr>
          <p:nvPr/>
        </p:nvGraphicFramePr>
        <p:xfrm>
          <a:off x="609600" y="4424561"/>
          <a:ext cx="10966449" cy="953928"/>
        </p:xfrm>
        <a:graphic>
          <a:graphicData uri="http://schemas.openxmlformats.org/drawingml/2006/table">
            <a:tbl>
              <a:tblPr firstRow="1" bandRow="1">
                <a:tableStyleId>{5C22544A-7EE6-4342-B048-85BDC9FD1C3A}</a:tableStyleId>
              </a:tblPr>
              <a:tblGrid>
                <a:gridCol w="1921371"/>
                <a:gridCol w="1704280"/>
                <a:gridCol w="7340798"/>
              </a:tblGrid>
              <a:tr h="197088">
                <a:tc>
                  <a:txBody>
                    <a:bodyPr wrap="square"/>
                    <a:lstStyle/>
                    <a:p>
                      <a:r>
                        <a:rPr sz="800" b="1" i="0">
                          <a:solidFill>
                            <a:srgbClr val="F4F1EA"/>
                          </a:solidFill>
                          <a:latin typeface="Arial"/>
                          <a:ea typeface="Malgun Gothic"/>
                          <a:cs typeface="Malgun Gothic"/>
                        </a:rPr>
                        <a:t>구현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라이선스·활동</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주장과 표현</a:t>
                      </a:r>
                    </a:p>
                  </a:txBody>
                  <a:tcPr marL="63500" marR="63500" marT="12700" marB="12700">
                    <a:solidFill>
                      <a:srgbClr val="16213A"/>
                    </a:solidFill>
                  </a:tcPr>
                </a:tc>
              </a:tr>
              <a:tr h="317976">
                <a:tc>
                  <a:txBody>
                    <a:bodyPr wrap="square"/>
                    <a:lstStyle/>
                    <a:p>
                      <a:r>
                        <a:rPr sz="800" b="0" i="0">
                          <a:solidFill>
                            <a:srgbClr val="1D4ED8"/>
                          </a:solidFill>
                          <a:latin typeface="Arial"/>
                          <a:ea typeface="Malgun Gothic"/>
                          <a:cs typeface="Malgun Gothic"/>
                          <a:hlinkClick r:id="rId3"/>
                        </a:rPr>
                        <a:t>SCAN-Planner</a:t>
                      </a:r>
                      <a:r>
                        <a:rPr sz="800" b="0" i="0">
                          <a:solidFill>
                            <a:srgbClr val="16213A"/>
                          </a:solidFill>
                          <a:latin typeface="Arial"/>
                          <a:ea typeface="Malgun Gothic"/>
                          <a:cs typeface="Malgun Gothic"/>
                        </a:rPr>
                        <a:t> ★547</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Apache-2.0</a:t>
                      </a:r>
                      <a:r>
                        <a:rPr sz="800" b="0" i="0">
                          <a:solidFill>
                            <a:srgbClr val="16213A"/>
                          </a:solidFill>
                          <a:latin typeface="Arial"/>
                          <a:ea typeface="Malgun Gothic"/>
                          <a:cs typeface="Malgun Gothic"/>
                        </a:rPr>
                        <a:t>, 2026-07-29, arXiv 2606.19555</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"A 2.5D elevation map cannot faithfully represent overhanging tables, shelves, or multi-level structures"</a:t>
                      </a:r>
                      <a:r>
                        <a:rPr sz="800" b="0" i="0">
                          <a:solidFill>
                            <a:srgbClr val="16213A"/>
                          </a:solidFill>
                          <a:latin typeface="Arial"/>
                          <a:ea typeface="Malgun Gothic"/>
                          <a:cs typeface="Malgun Gothic"/>
                        </a:rPr>
                        <a:t>. 표현은 </a:t>
                      </a:r>
                      <a:r>
                        <a:rPr sz="800" b="1" i="0">
                          <a:solidFill>
                            <a:srgbClr val="16213A"/>
                          </a:solidFill>
                          <a:latin typeface="Arial"/>
                          <a:ea typeface="Malgun Gothic"/>
                          <a:cs typeface="Malgun Gothic"/>
                        </a:rPr>
                        <a:t>하이브리드</a:t>
                      </a:r>
                      <a:r>
                        <a:rPr sz="800" b="0" i="0">
                          <a:solidFill>
                            <a:srgbClr val="16213A"/>
                          </a:solidFill>
                          <a:latin typeface="Arial"/>
                          <a:ea typeface="Malgun Gothic"/>
                          <a:cs typeface="Malgun Gothic"/>
                        </a:rPr>
                        <a:t>(로봇중심 3D sliding occupancy + 지면 추종면 위 A*), 충돌은 </a:t>
                      </a:r>
                      <a:r>
                        <a:rPr sz="800" b="1" i="0">
                          <a:solidFill>
                            <a:srgbClr val="16213A"/>
                          </a:solidFill>
                          <a:latin typeface="Arial"/>
                          <a:ea typeface="Malgun Gothic"/>
                          <a:cs typeface="Malgun Gothic"/>
                        </a:rPr>
                        <a:t>twin-cylinder footprint</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d_xy</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d_up</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d_down</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d_off</a:t>
                      </a:r>
                      <a:r>
                        <a:rPr sz="800" b="0" i="0">
                          <a:solidFill>
                            <a:srgbClr val="16213A"/>
                          </a:solidFill>
                          <a:latin typeface="Arial"/>
                          <a:ea typeface="Malgun Gothic"/>
                          <a:cs typeface="Malgun Gothic"/>
                        </a:rPr>
                        <a:t>)로 두 점만 질의. </a:t>
                      </a:r>
                      <a:r>
                        <a:rPr sz="800" b="1" i="0">
                          <a:solidFill>
                            <a:srgbClr val="16213A"/>
                          </a:solidFill>
                          <a:latin typeface="Arial"/>
                          <a:ea typeface="Malgun Gothic"/>
                          <a:cs typeface="Malgun Gothic"/>
                        </a:rPr>
                        <a:t>Go2 + Mid-360, Orin NX 온보드 실시간</a:t>
                      </a:r>
                    </a:p>
                  </a:txBody>
                  <a:tcPr marL="63500" marR="63500" marT="12700" marB="12700">
                    <a:solidFill>
                      <a:srgbClr val="FFFDF8"/>
                    </a:solidFill>
                  </a:tcPr>
                </a:tc>
              </a:tr>
              <a:tr h="438864">
                <a:tc>
                  <a:txBody>
                    <a:bodyPr wrap="square"/>
                    <a:lstStyle/>
                    <a:p>
                      <a:r>
                        <a:rPr sz="800" b="0" i="0">
                          <a:solidFill>
                            <a:srgbClr val="1D4ED8"/>
                          </a:solidFill>
                          <a:latin typeface="Arial"/>
                          <a:ea typeface="Malgun Gothic"/>
                          <a:cs typeface="Malgun Gothic"/>
                          <a:hlinkClick r:id="rId4"/>
                        </a:rPr>
                        <a:t>traversability_generator3d</a:t>
                      </a:r>
                      <a:r>
                        <a:rPr sz="800" b="0" i="0">
                          <a:solidFill>
                            <a:srgbClr val="16213A"/>
                          </a:solidFill>
                          <a:latin typeface="Arial"/>
                          <a:ea typeface="Malgun Gothic"/>
                          <a:cs typeface="Malgun Gothic"/>
                        </a:rPr>
                        <a:t> ★29 + </a:t>
                      </a:r>
                      <a:r>
                        <a:rPr sz="800" b="0" i="0">
                          <a:solidFill>
                            <a:srgbClr val="1D4ED8"/>
                          </a:solidFill>
                          <a:latin typeface="Arial"/>
                          <a:ea typeface="Malgun Gothic"/>
                          <a:cs typeface="Malgun Gothic"/>
                          <a:hlinkClick r:id="rId5"/>
                        </a:rPr>
                        <a:t>ugv_nav4d</a:t>
                      </a:r>
                      <a:r>
                        <a:rPr sz="800" b="0" i="0">
                          <a:solidFill>
                            <a:srgbClr val="16213A"/>
                          </a:solidFill>
                          <a:latin typeface="Arial"/>
                          <a:ea typeface="Malgun Gothic"/>
                          <a:cs typeface="Malgun Gothic"/>
                        </a:rPr>
                        <a:t> ★74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BSD-3, 2026-09-23, </a:t>
                      </a:r>
                      <a:r>
                        <a:rPr sz="800" b="1" i="0">
                          <a:solidFill>
                            <a:srgbClr val="16213A"/>
                          </a:solidFill>
                          <a:latin typeface="Arial"/>
                          <a:ea typeface="Malgun Gothic"/>
                          <a:cs typeface="Malgun Gothic"/>
                        </a:rPr>
                        <a:t>JOSS 11(118):9410 (2026)</a:t>
                      </a:r>
                      <a:r>
                        <a:rPr sz="800" b="0" i="0">
                          <a:solidFill>
                            <a:srgbClr val="16213A"/>
                          </a:solidFill>
                          <a:latin typeface="Arial"/>
                          <a:ea typeface="Malgun Gothic"/>
                          <a:cs typeface="Malgun Gothic"/>
                        </a:rPr>
                        <a:t> 피어리뷰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MLS(Multi-Level Surface)로 칸마다 복수 표면. 노드 상태에 </a:t>
                      </a:r>
                      <a:r>
                        <a:rPr sz="800" b="1" i="0">
                          <a:solidFill>
                            <a:srgbClr val="C2410C"/>
                          </a:solidFill>
                          <a:latin typeface="Arial"/>
                          <a:ea typeface="Malgun Gothic"/>
                          <a:cs typeface="Malgun Gothic"/>
                        </a:rPr>
                        <a:t>Unknown / Frontier가 1급</a:t>
                      </a:r>
                      <a:r>
                        <a:rPr sz="800" b="0" i="0">
                          <a:solidFill>
                            <a:srgbClr val="16213A"/>
                          </a:solidFill>
                          <a:latin typeface="Arial"/>
                          <a:ea typeface="Malgun Gothic"/>
                          <a:cs typeface="Malgun Gothic"/>
                        </a:rPr>
                        <a:t>이고(</a:t>
                      </a:r>
                      <a:r>
                        <a:rPr sz="800" b="0" i="0">
                          <a:solidFill>
                            <a:srgbClr val="16213A"/>
                          </a:solidFill>
                          <a:latin typeface="Consolas"/>
                          <a:ea typeface="Malgun Gothic"/>
                          <a:cs typeface="Malgun Gothic"/>
                        </a:rPr>
                        <a:t>Hole</a:t>
                      </a:r>
                      <a:r>
                        <a:rPr sz="800" b="0" i="0">
                          <a:solidFill>
                            <a:srgbClr val="16213A"/>
                          </a:solidFill>
                          <a:latin typeface="Arial"/>
                          <a:ea typeface="Malgun Gothic"/>
                          <a:cs typeface="Malgun Gothic"/>
                        </a:rPr>
                        <a:t>은 지도 형식에는 있으나 </a:t>
                      </a:r>
                      <a:r>
                        <a:rPr sz="800" b="1" i="0">
                          <a:solidFill>
                            <a:srgbClr val="C2410C"/>
                          </a:solidFill>
                          <a:latin typeface="Arial"/>
                          <a:ea typeface="Malgun Gothic"/>
                          <a:cs typeface="Malgun Gothic"/>
                        </a:rPr>
                        <a:t>이 라이브러리가 쓰지 않는다</a:t>
                      </a:r>
                      <a:r>
                        <a:rPr sz="800" b="0" i="0">
                          <a:solidFill>
                            <a:srgbClr val="16213A"/>
                          </a:solidFill>
                          <a:latin typeface="Arial"/>
                          <a:ea typeface="Malgun Gothic"/>
                          <a:cs typeface="Malgun Gothic"/>
                        </a:rPr>
                        <a:t> — README 명시) </a:t>
                      </a:r>
                      <a:r>
                        <a:rPr sz="800" b="0" i="1">
                          <a:solidFill>
                            <a:srgbClr val="16213A"/>
                          </a:solidFill>
                          <a:latin typeface="Arial"/>
                          <a:ea typeface="Malgun Gothic"/>
                          <a:cs typeface="Malgun Gothic"/>
                        </a:rPr>
                        <a:t>"patches become unknown if there is not enough support"</a:t>
                      </a:r>
                      <a:r>
                        <a:rPr sz="800" b="0" i="0">
                          <a:solidFill>
                            <a:srgbClr val="16213A"/>
                          </a:solidFill>
                          <a:latin typeface="Arial"/>
                          <a:ea typeface="Malgun Gothic"/>
                          <a:cs typeface="Malgun Gothic"/>
                        </a:rPr>
                        <a:t> — </a:t>
                      </a:r>
                      <a:r>
                        <a:rPr sz="800" b="1" i="0">
                          <a:solidFill>
                            <a:srgbClr val="16213A"/>
                          </a:solidFill>
                          <a:latin typeface="Arial"/>
                          <a:ea typeface="Malgun Gothic"/>
                          <a:cs typeface="Malgun Gothic"/>
                        </a:rPr>
                        <a:t>근거가 부족하면 보간하지 않는다.</a:t>
                      </a:r>
                      <a:r>
                        <a:rPr sz="800" b="0" i="0">
                          <a:solidFill>
                            <a:srgbClr val="16213A"/>
                          </a:solidFill>
                          <a:latin typeface="Arial"/>
                          <a:ea typeface="Malgun Gothic"/>
                          <a:cs typeface="Malgun Gothic"/>
                        </a:rPr>
                        <a:t> 기본값이 보도 범위(</a:t>
                      </a:r>
                      <a:r>
                        <a:rPr sz="800" b="0" i="0">
                          <a:solidFill>
                            <a:srgbClr val="16213A"/>
                          </a:solidFill>
                          <a:latin typeface="Consolas"/>
                          <a:ea typeface="Malgun Gothic"/>
                          <a:cs typeface="Malgun Gothic"/>
                        </a:rPr>
                        <a:t>maxStepHeight</a:t>
                      </a:r>
                      <a:r>
                        <a:rPr sz="800" b="0" i="0">
                          <a:solidFill>
                            <a:srgbClr val="16213A"/>
                          </a:solidFill>
                          <a:latin typeface="Arial"/>
                          <a:ea typeface="Malgun Gothic"/>
                          <a:cs typeface="Malgun Gothic"/>
                        </a:rPr>
                        <a:t> 0.05 m, </a:t>
                      </a:r>
                      <a:r>
                        <a:rPr sz="800" b="0" i="0">
                          <a:solidFill>
                            <a:srgbClr val="16213A"/>
                          </a:solidFill>
                          <a:latin typeface="Consolas"/>
                          <a:ea typeface="Malgun Gothic"/>
                          <a:cs typeface="Malgun Gothic"/>
                        </a:rPr>
                        <a:t>maxSlope</a:t>
                      </a:r>
                      <a:r>
                        <a:rPr sz="800" b="0" i="0">
                          <a:solidFill>
                            <a:srgbClr val="16213A"/>
                          </a:solidFill>
                          <a:latin typeface="Arial"/>
                          <a:ea typeface="Malgun Gothic"/>
                          <a:cs typeface="Malgun Gothic"/>
                        </a:rPr>
                        <a:t> 26°). ⚠️ 빌드가 </a:t>
                      </a:r>
                      <a:r>
                        <a:rPr sz="800" b="1" i="0">
                          <a:solidFill>
                            <a:srgbClr val="16213A"/>
                          </a:solidFill>
                          <a:latin typeface="Arial"/>
                          <a:ea typeface="Malgun Gothic"/>
                          <a:cs typeface="Malgun Gothic"/>
                        </a:rPr>
                        <a:t>Rock 프레임워크</a:t>
                      </a:r>
                      <a:r>
                        <a:rPr sz="800" b="0" i="0">
                          <a:solidFill>
                            <a:srgbClr val="16213A"/>
                          </a:solidFill>
                          <a:latin typeface="Arial"/>
                          <a:ea typeface="Malgun Gothic"/>
                          <a:cs typeface="Malgun Gothic"/>
                        </a:rPr>
                        <a:t> 의존</a:t>
                      </a:r>
                    </a:p>
                  </a:txBody>
                  <a:tcPr marL="63500" marR="63500" marT="12700" marB="12700">
                    <a:solidFill>
                      <a:srgbClr val="F3F0E8"/>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4/7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28 / 359</a:t>
            </a:r>
          </a:p>
        </p:txBody>
      </p:sp>
      <p:pic>
        <p:nvPicPr>
          <p:cNvPr id="5" name="Picture 4" descr="image.jpg"/>
          <p:cNvPicPr>
            <a:picLocks noChangeAspect="1"/>
          </p:cNvPicPr>
          <p:nvPr/>
        </p:nvPicPr>
        <p:blipFill>
          <a:blip r:embed="rId3"/>
          <a:stretch>
            <a:fillRect/>
          </a:stretch>
        </p:blipFill>
        <p:spPr>
          <a:xfrm>
            <a:off x="609600" y="1244600"/>
            <a:ext cx="3556000" cy="1422400"/>
          </a:xfrm>
          <a:prstGeom prst="rect">
            <a:avLst/>
          </a:prstGeom>
        </p:spPr>
      </p:pic>
      <p:sp>
        <p:nvSpPr>
          <p:cNvPr id="6" name="TextBox 5"/>
          <p:cNvSpPr txBox="1"/>
          <p:nvPr/>
        </p:nvSpPr>
        <p:spPr>
          <a:xfrm>
            <a:off x="609600" y="27051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SCAN-Planner (Fig. 6): 2.5D가 지는 장면이 (a) 책상 밑이다 — 상판 아래로 지나갈 수 있는데 2.5D 높이 지도는 상판 높이를 지면으로 보고 돌아간다. 출처: arXiv:2606.19555</a:t>
            </a:r>
          </a:p>
        </p:txBody>
      </p:sp>
      <p:pic>
        <p:nvPicPr>
          <p:cNvPr id="7" name="Picture 6" descr="image.jpg"/>
          <p:cNvPicPr>
            <a:picLocks noChangeAspect="1"/>
          </p:cNvPicPr>
          <p:nvPr/>
        </p:nvPicPr>
        <p:blipFill>
          <a:blip r:embed="rId4"/>
          <a:stretch>
            <a:fillRect/>
          </a:stretch>
        </p:blipFill>
        <p:spPr>
          <a:xfrm>
            <a:off x="4318000" y="1244600"/>
            <a:ext cx="3556000" cy="1587500"/>
          </a:xfrm>
          <a:prstGeom prst="rect">
            <a:avLst/>
          </a:prstGeom>
        </p:spPr>
      </p:pic>
      <p:sp>
        <p:nvSpPr>
          <p:cNvPr id="8" name="TextBox 7"/>
          <p:cNvSpPr txBox="1"/>
          <p:nvPr/>
        </p:nvSpPr>
        <p:spPr>
          <a:xfrm>
            <a:off x="4318000" y="28702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SCAN-Planner (Fig. 8): Go2 + Mid-360, Orin NX 온보드 실내 실험. 출처: arXiv:2606.19555</a:t>
            </a:r>
          </a:p>
        </p:txBody>
      </p:sp>
      <p:pic>
        <p:nvPicPr>
          <p:cNvPr id="9" name="Picture 8" descr="image.jpg"/>
          <p:cNvPicPr>
            <a:picLocks noChangeAspect="1"/>
          </p:cNvPicPr>
          <p:nvPr/>
        </p:nvPicPr>
        <p:blipFill>
          <a:blip r:embed="rId5"/>
          <a:stretch>
            <a:fillRect/>
          </a:stretch>
        </p:blipFill>
        <p:spPr>
          <a:xfrm>
            <a:off x="8026400" y="1244600"/>
            <a:ext cx="3556000" cy="2127250"/>
          </a:xfrm>
          <a:prstGeom prst="rect">
            <a:avLst/>
          </a:prstGeom>
        </p:spPr>
      </p:pic>
      <p:sp>
        <p:nvSpPr>
          <p:cNvPr id="10" name="TextBox 9"/>
          <p:cNvSpPr txBox="1"/>
          <p:nvPr/>
        </p:nvSpPr>
        <p:spPr>
          <a:xfrm>
            <a:off x="8026400" y="340995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ugv_nav4d: MLS 지도. 칸 하나에 표면이 여러 장 쌓이는 것이 2.5D와 다른 점이다. 출처: ugv_nav4d</a:t>
            </a:r>
          </a:p>
        </p:txBody>
      </p:sp>
      <p:sp>
        <p:nvSpPr>
          <p:cNvPr id="11" name="TextBox 10"/>
          <p:cNvSpPr txBox="1"/>
          <p:nvPr/>
        </p:nvSpPr>
        <p:spPr>
          <a:xfrm>
            <a:off x="609600" y="378321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보도 배달로봇에는 이 이득이 안 온다.</a:t>
            </a:r>
            <a:r>
              <a:rPr sz="1050" b="0" i="0">
                <a:solidFill>
                  <a:srgbClr val="16213A"/>
                </a:solidFill>
                <a:latin typeface="Arial"/>
                <a:ea typeface="Malgun Gothic"/>
                <a:cs typeface="Malgun Gothic"/>
              </a:rPr>
              <a:t> 책상 밑·계단·다층 건물·교량 아래가 다층 표면이 필요한 장면인데, travplan의 운용 영역에는 없다. 대신 </a:t>
            </a:r>
            <a:r>
              <a:rPr sz="1050" b="1" i="0">
                <a:solidFill>
                  <a:srgbClr val="16213A"/>
                </a:solidFill>
                <a:latin typeface="Arial"/>
                <a:ea typeface="Malgun Gothic"/>
                <a:cs typeface="Malgun Gothic"/>
              </a:rPr>
              <a:t>간판 캐노피·가로수 가지</a:t>
            </a:r>
            <a:r>
              <a:rPr sz="1050" b="0" i="0">
                <a:solidFill>
                  <a:srgbClr val="16213A"/>
                </a:solidFill>
                <a:latin typeface="Arial"/>
                <a:ea typeface="Malgun Gothic"/>
                <a:cs typeface="Malgun Gothic"/>
              </a:rPr>
              <a:t>처럼 "머리 위 여유"만 문제가 되므로, 표현을 바꾸는 대신 </a:t>
            </a:r>
            <a:r>
              <a:rPr sz="1050" b="0" i="0">
                <a:solidFill>
                  <a:srgbClr val="16213A"/>
                </a:solidFill>
                <a:latin typeface="Consolas"/>
                <a:ea typeface="Malgun Gothic"/>
                <a:cs typeface="Malgun Gothic"/>
              </a:rPr>
              <a:t>clearance</a:t>
            </a:r>
            <a:r>
              <a:rPr sz="1050" b="0" i="0">
                <a:solidFill>
                  <a:srgbClr val="16213A"/>
                </a:solidFill>
                <a:latin typeface="Arial"/>
                <a:ea typeface="Malgun Gothic"/>
                <a:cs typeface="Malgun Gothic"/>
              </a:rPr>
              <a:t> 한 층을 더하는 쪽이 비용이 훨씬 싸다.</a:t>
            </a:r>
          </a:p>
        </p:txBody>
      </p:sp>
      <p:sp>
        <p:nvSpPr>
          <p:cNvPr id="12" name="TextBox 11"/>
          <p:cNvSpPr txBox="1"/>
          <p:nvPr/>
        </p:nvSpPr>
        <p:spPr>
          <a:xfrm>
            <a:off x="609600" y="430510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코드가 없거나 못 쓰는 것: </a:t>
            </a:r>
            <a:r>
              <a:rPr sz="1050" b="0" i="0">
                <a:solidFill>
                  <a:srgbClr val="16213A"/>
                </a:solidFill>
                <a:latin typeface="Consolas"/>
                <a:ea typeface="Malgun Gothic"/>
                <a:cs typeface="Malgun Gothic"/>
              </a:rPr>
              <a:t>InternRobotics/Gallant</a:t>
            </a:r>
            <a:r>
              <a:rPr sz="1050" b="0" i="0">
                <a:solidFill>
                  <a:srgbClr val="16213A"/>
                </a:solidFill>
                <a:latin typeface="Arial"/>
                <a:ea typeface="Malgun Gothic"/>
                <a:cs typeface="Malgun Gothic"/>
              </a:rPr>
              <a:t>(★100, 라이선스 없음), </a:t>
            </a:r>
            <a:r>
              <a:rPr sz="1050" b="0" i="0">
                <a:solidFill>
                  <a:srgbClr val="16213A"/>
                </a:solidFill>
                <a:latin typeface="Consolas"/>
                <a:ea typeface="Malgun Gothic"/>
                <a:cs typeface="Malgun Gothic"/>
              </a:rPr>
              <a:t>byangw/PCT_planner</a:t>
            </a:r>
            <a:r>
              <a:rPr sz="1050" b="0" i="0">
                <a:solidFill>
                  <a:srgbClr val="16213A"/>
                </a:solidFill>
                <a:latin typeface="Arial"/>
                <a:ea typeface="Malgun Gothic"/>
                <a:cs typeface="Malgun Gothic"/>
              </a:rPr>
              <a:t>(★512, </a:t>
            </a:r>
            <a:r>
              <a:rPr sz="1050" b="1" i="0">
                <a:solidFill>
                  <a:srgbClr val="16213A"/>
                </a:solidFill>
                <a:latin typeface="Arial"/>
                <a:ea typeface="Malgun Gothic"/>
                <a:cs typeface="Malgun Gothic"/>
              </a:rPr>
              <a:t>GPL-2.0</a:t>
            </a:r>
            <a:r>
              <a:rPr sz="1050" b="0" i="0">
                <a:solidFill>
                  <a:srgbClr val="16213A"/>
                </a:solidFill>
                <a:latin typeface="Arial"/>
                <a:ea typeface="Malgun Gothic"/>
                <a:cs typeface="Malgun Gothic"/>
              </a:rPr>
              <a:t>, ROS 1만), </a:t>
            </a:r>
            <a:r>
              <a:rPr sz="1050" b="0" i="0">
                <a:solidFill>
                  <a:srgbClr val="16213A"/>
                </a:solidFill>
                <a:latin typeface="Consolas"/>
                <a:ea typeface="Malgun Gothic"/>
                <a:cs typeface="Malgun Gothic"/>
              </a:rPr>
              <a:t>LTU-RAI/Map-Conversion-...</a:t>
            </a:r>
            <a:r>
              <a:rPr sz="1050" b="0" i="0">
                <a:solidFill>
                  <a:srgbClr val="16213A"/>
                </a:solidFill>
                <a:latin typeface="Arial"/>
                <a:ea typeface="Malgun Gothic"/>
                <a:cs typeface="Malgun Gothic"/>
              </a:rPr>
              <a:t>(★194, MIT, 2025-04 정지). </a:t>
            </a:r>
            <a:r>
              <a:rPr sz="1050" b="1" i="0">
                <a:solidFill>
                  <a:srgbClr val="16213A"/>
                </a:solidFill>
                <a:latin typeface="Arial"/>
                <a:ea typeface="Malgun Gothic"/>
                <a:cs typeface="Malgun Gothic"/>
              </a:rPr>
              <a:t>UniPoint</a:t>
            </a:r>
            <a:r>
              <a:rPr sz="1050" b="0" i="0">
                <a:solidFill>
                  <a:srgbClr val="16213A"/>
                </a:solidFill>
                <a:latin typeface="Arial"/>
                <a:ea typeface="Malgun Gothic"/>
                <a:cs typeface="Malgun Gothic"/>
              </a:rPr>
              <a:t>는 2.5D의 실패를 정량화했지만 (</a:t>
            </a:r>
            <a:r>
              <a:rPr sz="1050" b="1" i="0">
                <a:solidFill>
                  <a:srgbClr val="C2410C"/>
                </a:solidFill>
                <a:latin typeface="Arial"/>
                <a:ea typeface="Malgun Gothic"/>
                <a:cs typeface="Malgun Gothic"/>
              </a:rPr>
              <a:t>얇은 수직 구조 소실 — barrier 성공률 </a:t>
            </a:r>
            <a:r>
              <a:rPr sz="1050" b="1" i="0">
                <a:solidFill>
                  <a:srgbClr val="C2410C"/>
                </a:solidFill>
                <a:latin typeface="Arial"/>
                <a:ea typeface="Malgun Gothic"/>
                <a:cs typeface="Malgun Gothic"/>
              </a:rPr>
              <a:t>18 % vs 99.8 %</a:t>
            </a:r>
            <a:r>
              <a:rPr sz="1050" b="0" i="0">
                <a:solidFill>
                  <a:srgbClr val="16213A"/>
                </a:solidFill>
                <a:latin typeface="Arial"/>
                <a:ea typeface="Malgun Gothic"/>
                <a:cs typeface="Malgun Gothic"/>
              </a:rPr>
              <a:t>) 코드가 없다.</a:t>
            </a:r>
          </a:p>
        </p:txBody>
      </p:sp>
      <p:sp>
        <p:nvSpPr>
          <p:cNvPr id="13" name="TextBox 12"/>
          <p:cNvSpPr txBox="1"/>
          <p:nvPr/>
        </p:nvSpPr>
        <p:spPr>
          <a:xfrm>
            <a:off x="609600" y="482699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MLS로 갈아타지 않는다.</a:t>
            </a:r>
            <a:r>
              <a:rPr sz="1050" b="0" i="0">
                <a:solidFill>
                  <a:srgbClr val="16213A"/>
                </a:solidFill>
                <a:latin typeface="Arial"/>
                <a:ea typeface="Malgun Gothic"/>
                <a:cs typeface="Malgun Gothic"/>
              </a:rPr>
              <a:t> 다층 표면의 이득은 계단·다층 건물·교량 아래인데 보도 배달로봇에는 필요 없다. 오버행이라는 알려진 한계를 가장 적게 고쳐 메우는 길은 </a:t>
            </a:r>
            <a:r>
              <a:rPr sz="1050" b="1" i="0">
                <a:solidFill>
                  <a:srgbClr val="16213A"/>
                </a:solidFill>
                <a:latin typeface="Consolas"/>
                <a:ea typeface="Malgun Gothic"/>
                <a:cs typeface="Malgun Gothic"/>
              </a:rPr>
              <a:t>clearance</a:t>
            </a:r>
            <a:r>
              <a:rPr sz="1050" b="1" i="0">
                <a:solidFill>
                  <a:srgbClr val="16213A"/>
                </a:solidFill>
                <a:latin typeface="Arial"/>
                <a:ea typeface="Malgun Gothic"/>
                <a:cs typeface="Malgun Gothic"/>
              </a:rPr>
              <a:t> 레이어 한 장(9번째 채널)</a:t>
            </a:r>
            <a:r>
              <a:rPr sz="1050" b="0" i="0">
                <a:solidFill>
                  <a:srgbClr val="16213A"/>
                </a:solidFill>
                <a:latin typeface="Arial"/>
                <a:ea typeface="Malgun Gothic"/>
                <a:cs typeface="Malgun Gothic"/>
              </a:rPr>
              <a:t>이고, 근거는 SCAN-Planner의 </a:t>
            </a:r>
            <a:r>
              <a:rPr sz="1050" b="0" i="0">
                <a:solidFill>
                  <a:srgbClr val="16213A"/>
                </a:solidFill>
                <a:latin typeface="Consolas"/>
                <a:ea typeface="Malgun Gothic"/>
                <a:cs typeface="Malgun Gothic"/>
              </a:rPr>
              <a:t>d_up</a:t>
            </a:r>
            <a:r>
              <a:rPr sz="1050" b="0" i="0">
                <a:solidFill>
                  <a:srgbClr val="16213A"/>
                </a:solidFill>
                <a:latin typeface="Arial"/>
                <a:ea typeface="Malgun Gothic"/>
                <a:cs typeface="Malgun Gothic"/>
              </a:rPr>
              <a:t>(Apache-2.0, 코드 있음), 구현은 nvblox ESDF 두 번 슬라이스나 LTU-RAI free-space projection(MIT)이다. </a:t>
            </a:r>
            <a:r>
              <a:rPr sz="1050" b="1" i="0">
                <a:solidFill>
                  <a:srgbClr val="16213A"/>
                </a:solidFill>
                <a:latin typeface="Arial"/>
                <a:ea typeface="Malgun Gothic"/>
                <a:cs typeface="Malgun Gothic"/>
              </a:rPr>
              <a:t>현 emap의 visibility cleanup은 오버행을 지우기만 하고 clearance를 표현하지 않는다</a:t>
            </a:r>
            <a:r>
              <a:rPr sz="1050" b="0" i="0">
                <a:solidFill>
                  <a:srgbClr val="16213A"/>
                </a:solidFill>
                <a:latin typeface="Arial"/>
                <a:ea typeface="Malgun Gothic"/>
                <a:cs typeface="Malgun Gothic"/>
              </a:rPr>
              <a:t> — 이 작업의 정당화 근거가 여기다.</a:t>
            </a:r>
          </a:p>
        </p:txBody>
      </p:sp>
      <p:sp>
        <p:nvSpPr>
          <p:cNvPr id="14" name="TextBox 13"/>
          <p:cNvSpPr txBox="1"/>
          <p:nvPr/>
        </p:nvSpPr>
        <p:spPr>
          <a:xfrm>
            <a:off x="609600" y="556537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상용 인터페이스는 전부 2.5D다</a:t>
            </a:r>
            <a:r>
              <a:rPr sz="1050" b="0" i="0">
                <a:solidFill>
                  <a:srgbClr val="16213A"/>
                </a:solidFill>
                <a:latin typeface="Arial"/>
                <a:ea typeface="Malgun Gothic"/>
                <a:cs typeface="Malgun Gothic"/>
              </a:rPr>
              <a:t> (프로토콜 소스로 직접 확인).</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5/7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29 / 359</a:t>
            </a:r>
          </a:p>
        </p:txBody>
      </p:sp>
      <p:sp>
        <p:nvSpPr>
          <p:cNvPr id="5" name="TextBox 4"/>
          <p:cNvSpPr txBox="1"/>
          <p:nvPr/>
        </p:nvSpPr>
        <p:spPr>
          <a:xfrm>
            <a:off x="609600" y="1244600"/>
            <a:ext cx="10972800" cy="2241153"/>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Spot</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local_grid.proto</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LocalGridExtent</a:t>
            </a:r>
            <a:r>
              <a:rPr sz="1050" b="0" i="0">
                <a:solidFill>
                  <a:srgbClr val="16213A"/>
                </a:solidFill>
                <a:latin typeface="Arial"/>
                <a:ea typeface="Malgun Gothic"/>
                <a:cs typeface="Malgun Gothic"/>
              </a:rPr>
              <a:t>에 </a:t>
            </a:r>
            <a:r>
              <a:rPr sz="1050" b="0" i="0">
                <a:solidFill>
                  <a:srgbClr val="16213A"/>
                </a:solidFill>
                <a:latin typeface="Consolas"/>
                <a:ea typeface="Malgun Gothic"/>
                <a:cs typeface="Malgun Gothic"/>
              </a:rPr>
              <a:t>cell_size</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num_cells_x</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num_cells_y</a:t>
            </a:r>
            <a:r>
              <a:rPr sz="1050" b="0" i="0">
                <a:solidFill>
                  <a:srgbClr val="16213A"/>
                </a:solidFill>
                <a:latin typeface="Arial"/>
                <a:ea typeface="Malgun Gothic"/>
                <a:cs typeface="Malgun Gothic"/>
              </a:rPr>
              <a:t>만 있고 </a:t>
            </a:r>
            <a:r>
              <a:rPr sz="1050" b="1" i="0">
                <a:solidFill>
                  <a:srgbClr val="C2410C"/>
                </a:solidFill>
                <a:latin typeface="Arial"/>
                <a:ea typeface="Malgun Gothic"/>
                <a:cs typeface="Malgun Gothic"/>
              </a:rPr>
              <a:t>z 셀 개수가 없다</a:t>
            </a:r>
            <a:r>
              <a:rPr sz="1050" b="0" i="0">
                <a:solidFill>
                  <a:srgbClr val="16213A"/>
                </a:solidFill>
                <a:latin typeface="Arial"/>
                <a:ea typeface="Malgun Gothic"/>
                <a:cs typeface="Malgun Gothic"/>
              </a:rPr>
              <a:t>. grid 5종(</a:t>
            </a:r>
            <a:r>
              <a:rPr sz="1050" b="0" i="0">
                <a:solidFill>
                  <a:srgbClr val="16213A"/>
                </a:solidFill>
                <a:latin typeface="Consolas"/>
                <a:ea typeface="Malgun Gothic"/>
                <a:cs typeface="Malgun Gothic"/>
              </a:rPr>
              <a:t>terrain</a:t>
            </a:r>
            <a:r>
              <a:rPr sz="1050" b="0" i="0">
                <a:solidFill>
                  <a:srgbClr val="16213A"/>
                </a:solidFill>
                <a:latin typeface="Arial"/>
                <a:ea typeface="Malgun Gothic"/>
                <a:cs typeface="Malgun Gothic"/>
              </a:rPr>
              <a:t> z-height, </a:t>
            </a:r>
            <a:r>
              <a:rPr sz="1050" b="0" i="0">
                <a:solidFill>
                  <a:srgbClr val="16213A"/>
                </a:solidFill>
                <a:latin typeface="Consolas"/>
                <a:ea typeface="Malgun Gothic"/>
                <a:cs typeface="Malgun Gothic"/>
              </a:rPr>
              <a:t>terrain_valid</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intensity</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no_step</a:t>
            </a:r>
            <a:r>
              <a:rPr sz="1050" b="0" i="0">
                <a:solidFill>
                  <a:srgbClr val="16213A"/>
                </a:solidFill>
                <a:latin typeface="Arial"/>
                <a:ea typeface="Malgun Gothic"/>
                <a:cs typeface="Malgun Gothic"/>
              </a:rPr>
              <a:t> boolean, </a:t>
            </a:r>
            <a:r>
              <a:rPr sz="1050" b="0" i="0">
                <a:solidFill>
                  <a:srgbClr val="16213A"/>
                </a:solidFill>
                <a:latin typeface="Consolas"/>
                <a:ea typeface="Malgun Gothic"/>
                <a:cs typeface="Malgun Gothic"/>
              </a:rPr>
              <a:t>obstacle_distance</a:t>
            </a:r>
            <a:r>
              <a:rPr sz="1050" b="0" i="0">
                <a:solidFill>
                  <a:srgbClr val="16213A"/>
                </a:solidFill>
                <a:latin typeface="Arial"/>
                <a:ea typeface="Malgun Gothic"/>
                <a:cs typeface="Malgun Gothic"/>
              </a:rPr>
              <a:t> signed distance)이고 문서가 </a:t>
            </a:r>
            <a:r>
              <a:rPr sz="1050" b="0" i="1">
                <a:solidFill>
                  <a:srgbClr val="16213A"/>
                </a:solidFill>
                <a:latin typeface="Arial"/>
                <a:ea typeface="Malgun Gothic"/>
                <a:cs typeface="Malgun Gothic"/>
              </a:rPr>
              <a:t>"does not store or compose the grids over time"</a:t>
            </a:r>
            <a:r>
              <a:rPr sz="1050" b="0" i="0">
                <a:solidFill>
                  <a:srgbClr val="16213A"/>
                </a:solidFill>
                <a:latin typeface="Arial"/>
                <a:ea typeface="Malgun Gothic"/>
                <a:cs typeface="Malgun Gothic"/>
              </a:rPr>
              <a:t>라 쓴다. </a:t>
            </a:r>
            <a:r>
              <a:rPr sz="1050" b="1" i="0">
                <a:solidFill>
                  <a:srgbClr val="C2410C"/>
                </a:solidFill>
                <a:latin typeface="Arial"/>
                <a:ea typeface="Malgun Gothic"/>
                <a:cs typeface="Malgun Gothic"/>
              </a:rPr>
              <a:t>travplan의 "높은 박스 윗면 저비용" 한계를 Spot은 </a:t>
            </a:r>
            <a:r>
              <a:rPr sz="1050" b="1" i="0">
                <a:solidFill>
                  <a:srgbClr val="C2410C"/>
                </a:solidFill>
                <a:latin typeface="Arial"/>
                <a:ea typeface="Malgun Gothic"/>
                <a:cs typeface="Malgun Gothic"/>
              </a:rPr>
              <a:t>40 cm 하드 임계</a:t>
            </a:r>
            <a:r>
              <a:rPr sz="1050" b="1" i="0">
                <a:solidFill>
                  <a:srgbClr val="C2410C"/>
                </a:solidFill>
                <a:latin typeface="Arial"/>
                <a:ea typeface="Malgun Gothic"/>
                <a:cs typeface="Malgun Gothic"/>
              </a:rPr>
              <a:t>로 우회한다</a:t>
            </a:r>
            <a:r>
              <a:rPr sz="1050" b="0" i="0">
                <a:solidFill>
                  <a:srgbClr val="16213A"/>
                </a:solidFill>
                <a:latin typeface="Arial"/>
                <a:ea typeface="Malgun Gothic"/>
                <a:cs typeface="Malgun Gothic"/>
              </a:rPr>
              <a:t> — </a:t>
            </a:r>
            <a:r>
              <a:rPr sz="1050" b="0" i="1">
                <a:solidFill>
                  <a:srgbClr val="16213A"/>
                </a:solidFill>
                <a:latin typeface="Arial"/>
                <a:ea typeface="Malgun Gothic"/>
                <a:cs typeface="Malgun Gothic"/>
              </a:rPr>
              <a:t>"platforms that are too high (a height of &gt; 40 cm) to be obstacles"</a:t>
            </a:r>
            <a:r>
              <a:rPr sz="1050" b="0" i="0">
                <a:solidFill>
                  <a:srgbClr val="16213A"/>
                </a:solidFill>
                <a:latin typeface="Arial"/>
                <a:ea typeface="Malgun Gothic"/>
                <a:cs typeface="Malgun Gothic"/>
              </a:rPr>
              <a:t>. ⚠️ 단 이 임계는 </a:t>
            </a:r>
            <a:r>
              <a:rPr sz="1050" b="1" i="0">
                <a:solidFill>
                  <a:srgbClr val="16213A"/>
                </a:solidFill>
                <a:latin typeface="Consolas"/>
                <a:ea typeface="Malgun Gothic"/>
                <a:cs typeface="Malgun Gothic"/>
              </a:rPr>
              <a:t>obstacle_distance</a:t>
            </a:r>
            <a:r>
              <a:rPr sz="1050" b="1" i="0">
                <a:solidFill>
                  <a:srgbClr val="16213A"/>
                </a:solidFill>
                <a:latin typeface="Arial"/>
                <a:ea typeface="Malgun Gothic"/>
                <a:cs typeface="Malgun Gothic"/>
              </a:rPr>
              <a:t> 격자</a:t>
            </a:r>
            <a:r>
              <a:rPr sz="1050" b="0" i="0">
                <a:solidFill>
                  <a:srgbClr val="16213A"/>
                </a:solidFill>
                <a:latin typeface="Arial"/>
                <a:ea typeface="Malgun Gothic"/>
                <a:cs typeface="Malgun Gothic"/>
              </a:rPr>
              <a:t>에 대한 것이고 </a:t>
            </a:r>
            <a:r>
              <a:rPr sz="1050" b="0" i="0">
                <a:solidFill>
                  <a:srgbClr val="16213A"/>
                </a:solidFill>
                <a:latin typeface="Consolas"/>
                <a:ea typeface="Malgun Gothic"/>
                <a:cs typeface="Malgun Gothic"/>
              </a:rPr>
              <a:t>no_step</a:t>
            </a:r>
            <a:r>
              <a:rPr sz="1050" b="0" i="0">
                <a:solidFill>
                  <a:srgbClr val="16213A"/>
                </a:solidFill>
                <a:latin typeface="Arial"/>
                <a:ea typeface="Malgun Gothic"/>
                <a:cs typeface="Malgun Gothic"/>
              </a:rPr>
              <a:t>의 문턱은 공개돼 있지 않다.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Unitree Go2</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unitree_sdk2</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idl/go2/HeightMap_.hpp</a:t>
            </a:r>
            <a:r>
              <a:rPr sz="1050" b="0" i="0">
                <a:solidFill>
                  <a:srgbClr val="16213A"/>
                </a:solidFill>
                <a:latin typeface="Arial"/>
                <a:ea typeface="Malgun Gothic"/>
                <a:cs typeface="Malgun Gothic"/>
              </a:rPr>
              <a:t>에서 </a:t>
            </a:r>
            <a:r>
              <a:rPr sz="1050" b="0" i="0">
                <a:solidFill>
                  <a:srgbClr val="16213A"/>
                </a:solidFill>
                <a:latin typeface="Consolas"/>
                <a:ea typeface="Malgun Gothic"/>
                <a:cs typeface="Malgun Gothic"/>
              </a:rPr>
              <a:t>origin_</a:t>
            </a:r>
            <a:r>
              <a:rPr sz="1050" b="0" i="0">
                <a:solidFill>
                  <a:srgbClr val="16213A"/>
                </a:solidFill>
                <a:latin typeface="Arial"/>
                <a:ea typeface="Malgun Gothic"/>
                <a:cs typeface="Malgun Gothic"/>
              </a:rPr>
              <a:t>이 </a:t>
            </a:r>
            <a:r>
              <a:rPr sz="1050" b="1" i="0">
                <a:solidFill>
                  <a:srgbClr val="16213A"/>
                </a:solidFill>
                <a:latin typeface="Consolas"/>
                <a:ea typeface="Malgun Gothic"/>
                <a:cs typeface="Malgun Gothic"/>
              </a:rPr>
              <a:t>std::array&lt;float,2&gt;</a:t>
            </a:r>
            <a:r>
              <a:rPr sz="1050" b="0" i="0">
                <a:solidFill>
                  <a:srgbClr val="16213A"/>
                </a:solidFill>
                <a:latin typeface="Arial"/>
                <a:ea typeface="Malgun Gothic"/>
                <a:cs typeface="Malgun Gothic"/>
              </a:rPr>
              <a:t>다 (z가 없어 2.5D 확정). 매퍼는 온보드 클로즈드다. ⚠️ 흔히 인용되는 토픽 </a:t>
            </a:r>
            <a:r>
              <a:rPr sz="1050" b="0" i="0">
                <a:solidFill>
                  <a:srgbClr val="16213A"/>
                </a:solidFill>
                <a:latin typeface="Consolas"/>
                <a:ea typeface="Malgun Gothic"/>
                <a:cs typeface="Malgun Gothic"/>
              </a:rPr>
              <a:t>rt/utlidar/height_map_array</a:t>
            </a:r>
            <a:r>
              <a:rPr sz="1050" b="0" i="0">
                <a:solidFill>
                  <a:srgbClr val="16213A"/>
                </a:solidFill>
                <a:latin typeface="Arial"/>
                <a:ea typeface="Malgun Gothic"/>
                <a:cs typeface="Malgun Gothic"/>
              </a:rPr>
              <a:t>는 </a:t>
            </a:r>
            <a:r>
              <a:rPr sz="1050" b="1" i="0">
                <a:solidFill>
                  <a:srgbClr val="16213A"/>
                </a:solidFill>
                <a:latin typeface="Arial"/>
                <a:ea typeface="Malgun Gothic"/>
                <a:cs typeface="Malgun Gothic"/>
              </a:rPr>
              <a:t>SDK 저장소에 없고</a:t>
            </a:r>
            <a:r>
              <a:rPr sz="1050" b="0" i="0">
                <a:solidFill>
                  <a:srgbClr val="16213A"/>
                </a:solidFill>
                <a:latin typeface="Arial"/>
                <a:ea typeface="Malgun Gothic"/>
                <a:cs typeface="Malgun Gothic"/>
              </a:rPr>
              <a:t> 커뮤니티 문서에만 있으므로 SDK 출처로 쓰지 않는다.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신흥 휴머노이드 기업(Booster·Fourier·AgiBot·Galbot) SDK에 지형·elevation 타입이 </a:t>
            </a:r>
            <a:r>
              <a:rPr sz="1050" b="1" i="0">
                <a:solidFill>
                  <a:srgbClr val="16213A"/>
                </a:solidFill>
                <a:latin typeface="Arial"/>
                <a:ea typeface="Malgun Gothic"/>
                <a:cs typeface="Malgun Gothic"/>
              </a:rPr>
              <a:t>0건</a:t>
            </a:r>
            <a:r>
              <a:rPr sz="1050" b="0" i="0">
                <a:solidFill>
                  <a:srgbClr val="16213A"/>
                </a:solidFill>
                <a:latin typeface="Arial"/>
                <a:ea typeface="Malgun Gothic"/>
                <a:cs typeface="Malgun Gothic"/>
              </a:rPr>
              <a:t>이다.</a:t>
            </a:r>
          </a:p>
          <a:p>
            <a:pPr>
              <a:spcBef>
                <a:spcPts val="200"/>
              </a:spcBef>
            </a:pPr>
            <a:r>
              <a:rPr sz="1050" b="0" i="0">
                <a:solidFill>
                  <a:srgbClr val="5A6478"/>
                </a:solidFill>
                <a:latin typeface="Arial"/>
                <a:ea typeface="Malgun Gothic"/>
                <a:cs typeface="Malgun Gothic"/>
              </a:rPr>
              <a:t>• </a:t>
            </a:r>
            <a:r>
              <a:rPr sz="1050" b="1" i="0">
                <a:solidFill>
                  <a:srgbClr val="C2410C"/>
                </a:solidFill>
                <a:latin typeface="Arial"/>
                <a:ea typeface="Malgun Gothic"/>
                <a:cs typeface="Malgun Gothic"/>
              </a:rPr>
              <a:t>ETH RSL은 2.5D를 버리는 게 아니라 휴머노이드로 확장 중이다.</a:t>
            </a:r>
            <a:r>
              <a:rPr sz="1050" b="0" i="0">
                <a:solidFill>
                  <a:srgbClr val="16213A"/>
                </a:solidFill>
                <a:latin typeface="Arial"/>
                <a:ea typeface="Malgun Gothic"/>
                <a:cs typeface="Malgun Gothic"/>
              </a:rPr>
              <a:t> emap_cupy에 </a:t>
            </a:r>
            <a:r>
              <a:rPr sz="1050" b="0" i="0">
                <a:solidFill>
                  <a:srgbClr val="16213A"/>
                </a:solidFill>
                <a:latin typeface="Consolas"/>
                <a:ea typeface="Malgun Gothic"/>
                <a:cs typeface="Malgun Gothic"/>
              </a:rPr>
              <a:t>dev/jj/g1/main</a:t>
            </a:r>
            <a:r>
              <a:rPr sz="1050" b="0" i="0">
                <a:solidFill>
                  <a:srgbClr val="16213A"/>
                </a:solidFill>
                <a:latin typeface="Arial"/>
                <a:ea typeface="Malgun Gothic"/>
                <a:cs typeface="Malgun Gothic"/>
              </a:rPr>
              <a:t>(2026-07), </a:t>
            </a:r>
            <a:r>
              <a:rPr sz="1050" b="0" i="0">
                <a:solidFill>
                  <a:srgbClr val="16213A"/>
                </a:solidFill>
                <a:latin typeface="Consolas"/>
                <a:ea typeface="Malgun Gothic"/>
                <a:cs typeface="Malgun Gothic"/>
              </a:rPr>
              <a:t>dev/mheyrman/g1</a:t>
            </a:r>
            <a:r>
              <a:rPr sz="1050" b="0" i="0">
                <a:solidFill>
                  <a:srgbClr val="16213A"/>
                </a:solidFill>
                <a:latin typeface="Arial"/>
                <a:ea typeface="Malgun Gothic"/>
                <a:cs typeface="Malgun Gothic"/>
              </a:rPr>
              <a:t>(2026-08-22, </a:t>
            </a:r>
            <a:r>
              <a:rPr sz="1050" b="0" i="1">
                <a:solidFill>
                  <a:srgbClr val="16213A"/>
                </a:solidFill>
                <a:latin typeface="Arial"/>
                <a:ea typeface="Malgun Gothic"/>
                <a:cs typeface="Malgun Gothic"/>
              </a:rPr>
              <a:t>"tune the g1 elevation map for the mid360 scan density"</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pascal-roth/b2w-wild-navigation-semantic-layers</a:t>
            </a:r>
            <a:r>
              <a:rPr sz="1050" b="0" i="0">
                <a:solidFill>
                  <a:srgbClr val="16213A"/>
                </a:solidFill>
                <a:latin typeface="Arial"/>
                <a:ea typeface="Malgun Gothic"/>
                <a:cs typeface="Malgun Gothic"/>
              </a:rPr>
              <a:t>(2026-09-18, B2-W), </a:t>
            </a:r>
            <a:r>
              <a:rPr sz="1050" b="0" i="0">
                <a:solidFill>
                  <a:srgbClr val="16213A"/>
                </a:solidFill>
                <a:latin typeface="Consolas"/>
                <a:ea typeface="Malgun Gothic"/>
                <a:cs typeface="Malgun Gothic"/>
              </a:rPr>
              <a:t>dev/parkour_demo</a:t>
            </a:r>
            <a:r>
              <a:rPr sz="1050" b="0" i="0">
                <a:solidFill>
                  <a:srgbClr val="16213A"/>
                </a:solidFill>
                <a:latin typeface="Arial"/>
                <a:ea typeface="Malgun Gothic"/>
                <a:cs typeface="Malgun Gothic"/>
              </a:rPr>
              <a:t>(2026-09-20) 브랜치가 살아 있다. Hutter 그룹 최신작 </a:t>
            </a:r>
            <a:r>
              <a:rPr sz="1050" b="1" i="0">
                <a:solidFill>
                  <a:srgbClr val="16213A"/>
                </a:solidFill>
                <a:latin typeface="Arial"/>
                <a:ea typeface="Malgun Gothic"/>
                <a:cs typeface="Malgun Gothic"/>
              </a:rPr>
              <a:t>AME</a:t>
            </a:r>
            <a:r>
              <a:rPr sz="1050" b="0" i="0">
                <a:solidFill>
                  <a:srgbClr val="16213A"/>
                </a:solidFill>
                <a:latin typeface="Arial"/>
                <a:ea typeface="Malgun Gothic"/>
                <a:cs typeface="Malgun Gothic"/>
              </a:rPr>
              <a:t>(arXiv 2601.08485, T-RO 조건부 게재)도 여전히 </a:t>
            </a:r>
            <a:r>
              <a:rPr sz="1050" b="0" i="1">
                <a:solidFill>
                  <a:srgbClr val="16213A"/>
                </a:solidFill>
                <a:latin typeface="Arial"/>
                <a:ea typeface="Malgun Gothic"/>
                <a:cs typeface="Malgun Gothic"/>
              </a:rPr>
              <a:t>"local elevations </a:t>
            </a:r>
            <a:r>
              <a:rPr sz="1050" b="0" i="1">
                <a:solidFill>
                  <a:srgbClr val="16213A"/>
                </a:solidFill>
                <a:latin typeface="Arial"/>
                <a:ea typeface="Malgun Gothic"/>
                <a:cs typeface="Malgun Gothic"/>
              </a:rPr>
              <a:t>with uncertainties</a:t>
            </a:r>
            <a:r>
              <a:rPr sz="1050" b="0" i="1">
                <a:solidFill>
                  <a:srgbClr val="16213A"/>
                </a:solidFill>
                <a:latin typeface="Arial"/>
                <a:ea typeface="Malgun Gothic"/>
                <a:cs typeface="Malgun Gothic"/>
              </a:rPr>
              <a:t>"</a:t>
            </a:r>
            <a:r>
              <a:rPr sz="1050" b="0" i="0">
                <a:solidFill>
                  <a:srgbClr val="16213A"/>
                </a:solidFill>
                <a:latin typeface="Arial"/>
                <a:ea typeface="Malgun Gothic"/>
                <a:cs typeface="Malgun Gothic"/>
              </a:rPr>
              <a:t>다 — travplan의 σ 채널과 같은 방향이다.</a:t>
            </a:r>
          </a:p>
        </p:txBody>
      </p:sp>
      <p:sp>
        <p:nvSpPr>
          <p:cNvPr id="6" name="TextBox 5"/>
          <p:cNvSpPr txBox="1"/>
          <p:nvPr/>
        </p:nvSpPr>
        <p:spPr>
          <a:xfrm>
            <a:off x="609600" y="357465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Gaussian splatting 지형 지도는 공개 코드가 0건이다.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gaussian splatting × {terrain, traversability, elevation}</a:t>
            </a:r>
            <a:r>
              <a:rPr sz="1050" b="0" i="0">
                <a:solidFill>
                  <a:srgbClr val="16213A"/>
                </a:solidFill>
                <a:latin typeface="Arial"/>
                <a:ea typeface="Malgun Gothic"/>
                <a:cs typeface="Malgun Gothic"/>
              </a:rPr>
              <a:t> 전수 검색에서 쓸 것이 없었다. 가장 아쉬운 </a:t>
            </a:r>
            <a:r>
              <a:rPr sz="1050" b="1" i="0">
                <a:solidFill>
                  <a:srgbClr val="16213A"/>
                </a:solidFill>
                <a:latin typeface="Arial"/>
                <a:ea typeface="Malgun Gothic"/>
                <a:cs typeface="Malgun Gothic"/>
              </a:rPr>
              <a:t>Splatblox</a:t>
            </a:r>
            <a:r>
              <a:rPr sz="1050" b="0" i="0">
                <a:solidFill>
                  <a:srgbClr val="16213A"/>
                </a:solidFill>
                <a:latin typeface="Arial"/>
                <a:ea typeface="Malgun Gothic"/>
                <a:cs typeface="Malgun Gothic"/>
              </a:rPr>
              <a:t>(UMD, arXiv 2511.18525, 사족+바퀴형 실야외, 성공률 +50 %)는 프로젝트 페이지만 있다. </a:t>
            </a:r>
            <a:r>
              <a:rPr sz="1050" b="0" i="0">
                <a:solidFill>
                  <a:srgbClr val="16213A"/>
                </a:solidFill>
                <a:latin typeface="Consolas"/>
                <a:ea typeface="Malgun Gothic"/>
                <a:cs typeface="Malgun Gothic"/>
              </a:rPr>
              <a:t>RoGS</a:t>
            </a:r>
            <a:r>
              <a:rPr sz="1050" b="0" i="0">
                <a:solidFill>
                  <a:srgbClr val="16213A"/>
                </a:solidFill>
                <a:latin typeface="Arial"/>
                <a:ea typeface="Malgun Gothic"/>
                <a:cs typeface="Malgun Gothic"/>
              </a:rPr>
              <a:t>(★160)는 nuScenes 오프라인 재구성, </a:t>
            </a:r>
            <a:r>
              <a:rPr sz="1050" b="0" i="0">
                <a:solidFill>
                  <a:srgbClr val="16213A"/>
                </a:solidFill>
                <a:latin typeface="Consolas"/>
                <a:ea typeface="Malgun Gothic"/>
                <a:cs typeface="Malgun Gothic"/>
              </a:rPr>
              <a:t>splatnav</a:t>
            </a:r>
            <a:r>
              <a:rPr sz="1050" b="0" i="0">
                <a:solidFill>
                  <a:srgbClr val="16213A"/>
                </a:solidFill>
                <a:latin typeface="Arial"/>
                <a:ea typeface="Malgun Gothic"/>
                <a:cs typeface="Malgun Gothic"/>
              </a:rPr>
              <a:t>(★141)는 드론용이다. </a:t>
            </a:r>
            <a:r>
              <a:rPr sz="1050" b="1" i="0">
                <a:solidFill>
                  <a:srgbClr val="C2410C"/>
                </a:solidFill>
                <a:latin typeface="Arial"/>
                <a:ea typeface="Malgun Gothic"/>
                <a:cs typeface="Malgun Gothic"/>
              </a:rPr>
              <a:t>오늘 GS로 지형 지도를 돌리는 지상 로봇은 없다.</a:t>
            </a:r>
          </a:p>
        </p:txBody>
      </p:sp>
      <p:sp>
        <p:nvSpPr>
          <p:cNvPr id="7" name="TextBox 6"/>
          <p:cNvSpPr txBox="1"/>
          <p:nvPr/>
        </p:nvSpPr>
        <p:spPr>
          <a:xfrm>
            <a:off x="609600" y="4313039"/>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다만 </a:t>
            </a:r>
            <a:r>
              <a:rPr sz="1050" b="1" i="0">
                <a:solidFill>
                  <a:srgbClr val="16213A"/>
                </a:solidFill>
                <a:latin typeface="Arial"/>
                <a:ea typeface="Malgun Gothic"/>
                <a:cs typeface="Malgun Gothic"/>
              </a:rPr>
              <a:t>미관측을 다루는 설계는 읽을 값이 있다.</a:t>
            </a:r>
            <a:r>
              <a:rPr sz="1050" b="0" i="0">
                <a:solidFill>
                  <a:srgbClr val="16213A"/>
                </a:solidFill>
                <a:latin typeface="Arial"/>
                <a:ea typeface="Malgun Gothic"/>
                <a:cs typeface="Malgun Gothic"/>
              </a:rPr>
              <a:t> nvblox는 </a:t>
            </a:r>
            <a:r>
              <a:rPr sz="1050" b="0" i="0">
                <a:solidFill>
                  <a:srgbClr val="16213A"/>
                </a:solidFill>
                <a:latin typeface="Consolas"/>
                <a:ea typeface="Malgun Gothic"/>
                <a:cs typeface="Malgun Gothic"/>
              </a:rPr>
              <a:t>UnobservedEsdfPolicy{kIgnore, kFree, kOccupied}</a:t>
            </a:r>
            <a:r>
              <a:rPr sz="1050" b="0" i="0">
                <a:solidFill>
                  <a:srgbClr val="16213A"/>
                </a:solidFill>
                <a:latin typeface="Arial"/>
                <a:ea typeface="Malgun Gothic"/>
                <a:cs typeface="Malgun Gothic"/>
              </a:rPr>
              <a:t>와 "관측/미관측 경계를 장애물 표면으로 만드는" 옵션을 두고(travplan의 그림자 상한과 개념이 같다), wavemap은 occupied/free/</a:t>
            </a:r>
            <a:r>
              <a:rPr sz="1050" b="1" i="0">
                <a:solidFill>
                  <a:srgbClr val="16213A"/>
                </a:solidFill>
                <a:latin typeface="Arial"/>
                <a:ea typeface="Malgun Gothic"/>
                <a:cs typeface="Malgun Gothic"/>
              </a:rPr>
              <a:t>unobserved</a:t>
            </a:r>
            <a:r>
              <a:rPr sz="1050" b="0" i="0">
                <a:solidFill>
                  <a:srgbClr val="16213A"/>
                </a:solidFill>
                <a:latin typeface="Arial"/>
                <a:ea typeface="Malgun Gothic"/>
                <a:cs typeface="Malgun Gothic"/>
              </a:rPr>
              <a:t> 3상태와 "이 영역이 전부 free인가"를 coarse 레벨에서 묻는 질의를 갖는다 — travplan의 알려진 한계 "센서 범위 밖 미관측 영역 탐색"을 플래너가 다룰 때의 인터페이스 선례다.</a:t>
            </a:r>
          </a:p>
        </p:txBody>
      </p:sp>
      <p:sp>
        <p:nvSpPr>
          <p:cNvPr id="8" name="TextBox 7"/>
          <p:cNvSpPr txBox="1"/>
          <p:nvPr/>
        </p:nvSpPr>
        <p:spPr>
          <a:xfrm>
            <a:off x="609600" y="5051425"/>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 이 절은 travplan이 벤더링한 옛 체인 기준이다 — 상류는 그 사이 우리 쪽으로 움직였다.</a:t>
            </a:r>
            <a:r>
              <a:rPr sz="1050" b="0" i="0">
                <a:solidFill>
                  <a:srgbClr val="16213A"/>
                </a:solidFill>
                <a:latin typeface="Arial"/>
                <a:ea typeface="Malgun Gothic"/>
                <a:cs typeface="Malgun Gothic"/>
              </a:rPr>
              <a:t> 현재 상류 </a:t>
            </a:r>
            <a:r>
              <a:rPr sz="1050" b="0" i="0">
                <a:solidFill>
                  <a:srgbClr val="16213A"/>
                </a:solidFill>
                <a:latin typeface="Consolas"/>
                <a:ea typeface="Malgun Gothic"/>
                <a:cs typeface="Malgun Gothic"/>
              </a:rPr>
              <a:t>ros2</a:t>
            </a:r>
            <a:r>
              <a:rPr sz="1050" b="0" i="0">
                <a:solidFill>
                  <a:srgbClr val="16213A"/>
                </a:solidFill>
                <a:latin typeface="Arial"/>
                <a:ea typeface="Malgun Gothic"/>
                <a:cs typeface="Malgun Gothic"/>
              </a:rPr>
              <a:t>(v2.2.0) 체인은 </a:t>
            </a:r>
            <a:r>
              <a:rPr sz="1050" b="0" i="0">
                <a:solidFill>
                  <a:srgbClr val="16213A"/>
                </a:solidFill>
                <a:latin typeface="Consolas"/>
                <a:ea typeface="Malgun Gothic"/>
                <a:cs typeface="Malgun Gothic"/>
              </a:rPr>
              <a:t>min_filter</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smooth_filter</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near_base_height_filter</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positive_spike_filter</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positive_spike_filter_cleanup</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inpainting</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erosion</a:t>
            </a:r>
            <a:r>
              <a:rPr sz="1050" b="0" i="0">
                <a:solidFill>
                  <a:srgbClr val="16213A"/>
                </a:solidFill>
                <a:latin typeface="Arial"/>
                <a:ea typeface="Malgun Gothic"/>
                <a:cs typeface="Malgun Gothic"/>
              </a:rPr>
              <a:t>이고, </a:t>
            </a:r>
            <a:r>
              <a:rPr sz="1050" b="0" i="0">
                <a:solidFill>
                  <a:srgbClr val="16213A"/>
                </a:solidFill>
                <a:latin typeface="Consolas"/>
                <a:ea typeface="Malgun Gothic"/>
                <a:cs typeface="Malgun Gothic"/>
              </a:rPr>
              <a:t>inpainting</a:t>
            </a:r>
            <a:r>
              <a:rPr sz="1050" b="0" i="0">
                <a:solidFill>
                  <a:srgbClr val="16213A"/>
                </a:solidFill>
                <a:latin typeface="Arial"/>
                <a:ea typeface="Malgun Gothic"/>
                <a:cs typeface="Malgun Gothic"/>
              </a:rPr>
              <a:t>의 입력이 </a:t>
            </a:r>
            <a:r>
              <a:rPr sz="1050" b="0" i="0">
                <a:solidFill>
                  <a:srgbClr val="16213A"/>
                </a:solidFill>
                <a:latin typeface="Consolas"/>
                <a:ea typeface="Malgun Gothic"/>
                <a:cs typeface="Malgun Gothic"/>
              </a:rPr>
              <a:t>min_filter</a:t>
            </a:r>
            <a:r>
              <a:rPr sz="1050" b="0" i="0">
                <a:solidFill>
                  <a:srgbClr val="16213A"/>
                </a:solidFill>
                <a:latin typeface="Arial"/>
                <a:ea typeface="Malgun Gothic"/>
                <a:cs typeface="Malgun Gothic"/>
              </a:rPr>
              <a:t>가 아니라 </a:t>
            </a:r>
            <a:r>
              <a:rPr sz="1050" b="0" i="0">
                <a:solidFill>
                  <a:srgbClr val="16213A"/>
                </a:solidFill>
                <a:latin typeface="Consolas"/>
                <a:ea typeface="Malgun Gothic"/>
                <a:cs typeface="Malgun Gothic"/>
              </a:rPr>
              <a:t>despiked</a:t>
            </a:r>
            <a:r>
              <a:rPr sz="1050" b="0" i="0">
                <a:solidFill>
                  <a:srgbClr val="16213A"/>
                </a:solidFill>
                <a:latin typeface="Arial"/>
                <a:ea typeface="Malgun Gothic"/>
                <a:cs typeface="Malgun Gothic"/>
              </a:rPr>
              <a:t>로 바뀌었다. 게다가 </a:t>
            </a:r>
            <a:r>
              <a:rPr sz="1050" b="0" i="0">
                <a:solidFill>
                  <a:srgbClr val="16213A"/>
                </a:solidFill>
                <a:latin typeface="Consolas"/>
                <a:ea typeface="Malgun Gothic"/>
                <a:cs typeface="Malgun Gothic"/>
              </a:rPr>
              <a:t>max_hole_area</a:t>
            </a:r>
            <a:r>
              <a:rPr sz="1050" b="0" i="0">
                <a:solidFill>
                  <a:srgbClr val="16213A"/>
                </a:solidFill>
                <a:latin typeface="Arial"/>
                <a:ea typeface="Malgun Gothic"/>
                <a:cs typeface="Malgun Gothic"/>
              </a:rPr>
              <a:t>를 25로 낮추고 </a:t>
            </a:r>
            <a:r>
              <a:rPr sz="1050" b="0" i="0">
                <a:solidFill>
                  <a:srgbClr val="16213A"/>
                </a:solidFill>
                <a:latin typeface="Consolas"/>
                <a:ea typeface="Malgun Gothic"/>
                <a:cs typeface="Malgun Gothic"/>
              </a:rPr>
              <a:t>fill_border_holes: False</a:t>
            </a:r>
            <a:r>
              <a:rPr sz="1050" b="0" i="0">
                <a:solidFill>
                  <a:srgbClr val="16213A"/>
                </a:solidFill>
                <a:latin typeface="Arial"/>
                <a:ea typeface="Malgun Gothic"/>
                <a:cs typeface="Malgun Gothic"/>
              </a:rPr>
              <a:t>로 경계에 닿은 미관측을 </a:t>
            </a:r>
            <a:r>
              <a:rPr sz="1050" b="1" i="0">
                <a:solidFill>
                  <a:srgbClr val="16213A"/>
                </a:solidFill>
                <a:latin typeface="Arial"/>
                <a:ea typeface="Malgun Gothic"/>
                <a:cs typeface="Malgun Gothic"/>
              </a:rPr>
              <a:t>미관측으로 남기며</a:t>
            </a:r>
            <a:r>
              <a:rPr sz="1050" b="0" i="0">
                <a:solidFill>
                  <a:srgbClr val="16213A"/>
                </a:solidFill>
                <a:latin typeface="Arial"/>
                <a:ea typeface="Malgun Gothic"/>
                <a:cs typeface="Malgun Gothic"/>
              </a:rPr>
              <a:t>, spike 필터 주석은 </a:t>
            </a:r>
            <a:r>
              <a:rPr sz="1050" b="0" i="1">
                <a:solidFill>
                  <a:srgbClr val="16213A"/>
                </a:solidFill>
                <a:latin typeface="Arial"/>
                <a:ea typeface="Malgun Gothic"/>
                <a:cs typeface="Malgun Gothic"/>
              </a:rPr>
              <a:t>"This is intentionally asymmetric: upward one/few-cell towers are clipped, </a:t>
            </a:r>
            <a:r>
              <a:rPr sz="1050" b="0" i="1">
                <a:solidFill>
                  <a:srgbClr val="16213A"/>
                </a:solidFill>
                <a:latin typeface="Arial"/>
                <a:ea typeface="Malgun Gothic"/>
                <a:cs typeface="Malgun Gothic"/>
              </a:rPr>
              <a:t>trench drops are kept</a:t>
            </a:r>
            <a:r>
              <a:rPr sz="1050" b="0" i="1">
                <a:solidFill>
                  <a:srgbClr val="16213A"/>
                </a:solidFill>
                <a:latin typeface="Arial"/>
                <a:ea typeface="Malgun Gothic"/>
                <a:cs typeface="Malgun Gothic"/>
              </a:rPr>
              <a:t>"</a:t>
            </a:r>
            <a:r>
              <a:rPr sz="1050" b="0" i="0">
                <a:solidFill>
                  <a:srgbClr val="16213A"/>
                </a:solidFill>
                <a:latin typeface="Arial"/>
                <a:ea typeface="Malgun Gothic"/>
                <a:cs typeface="Malgun Gothic"/>
              </a:rPr>
              <a:t>라 적는다. </a:t>
            </a:r>
            <a:r>
              <a:rPr sz="1050" b="1" i="0">
                <a:solidFill>
                  <a:srgbClr val="16213A"/>
                </a:solidFill>
                <a:latin typeface="Arial"/>
                <a:ea typeface="Malgun Gothic"/>
                <a:cs typeface="Malgun Gothic"/>
              </a:rPr>
              <a:t>즉 "상류 기본값을 켜면 포트홀이 사라진다"는 현재 상류에는 더 이상 맞지 않는다.</a:t>
            </a:r>
            <a:r>
              <a:rPr sz="1050" b="0" i="0">
                <a:solidFill>
                  <a:srgbClr val="16213A"/>
                </a:solidFill>
                <a:latin typeface="Arial"/>
                <a:ea typeface="Malgun Gothic"/>
                <a:cs typeface="Malgun Gothic"/>
              </a:rPr>
              <a:t> 아래는 </a:t>
            </a:r>
            <a:r>
              <a:rPr sz="1050" b="1" i="0">
                <a:solidFill>
                  <a:srgbClr val="16213A"/>
                </a:solidFill>
                <a:latin typeface="Arial"/>
                <a:ea typeface="Malgun Gothic"/>
                <a:cs typeface="Malgun Gothic"/>
              </a:rPr>
              <a:t>벤더링본 기준</a:t>
            </a:r>
            <a:r>
              <a:rPr sz="1050" b="0" i="0">
                <a:solidFill>
                  <a:srgbClr val="16213A"/>
                </a:solidFill>
                <a:latin typeface="Arial"/>
                <a:ea typeface="Malgun Gothic"/>
                <a:cs typeface="Malgun Gothic"/>
              </a:rPr>
              <a:t>이다.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6/7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30 / 359</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벤더링본 체인은 </a:t>
            </a:r>
            <a:r>
              <a:rPr sz="1050" b="0" i="0">
                <a:solidFill>
                  <a:srgbClr val="16213A"/>
                </a:solidFill>
                <a:latin typeface="Consolas"/>
                <a:ea typeface="Malgun Gothic"/>
                <a:cs typeface="Malgun Gothic"/>
              </a:rPr>
              <a:t>min_filter</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smooth</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inpainting</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erosion</a:t>
            </a:r>
            <a:r>
              <a:rPr sz="1050" b="0" i="0">
                <a:solidFill>
                  <a:srgbClr val="16213A"/>
                </a:solidFill>
                <a:latin typeface="Arial"/>
                <a:ea typeface="Malgun Gothic"/>
                <a:cs typeface="Malgun Gothic"/>
              </a:rPr>
              <a:t>인데, 커널을 읽어 보면 </a:t>
            </a:r>
            <a:r>
              <a:rPr sz="1050" b="0" i="0">
                <a:solidFill>
                  <a:srgbClr val="16213A"/>
                </a:solidFill>
                <a:latin typeface="Consolas"/>
                <a:ea typeface="Malgun Gothic"/>
                <a:cs typeface="Malgun Gothic"/>
              </a:rPr>
              <a:t>min_filter</a:t>
            </a:r>
            <a:r>
              <a:rPr sz="1050" b="0" i="0">
                <a:solidFill>
                  <a:srgbClr val="16213A"/>
                </a:solidFill>
                <a:latin typeface="Arial"/>
                <a:ea typeface="Malgun Gothic"/>
                <a:cs typeface="Malgun Gothic"/>
              </a:rPr>
              <a:t>는 무효 칸을 </a:t>
            </a:r>
            <a:r>
              <a:rPr sz="1050" b="1" i="0">
                <a:solidFill>
                  <a:srgbClr val="16213A"/>
                </a:solidFill>
                <a:latin typeface="Arial"/>
                <a:ea typeface="Malgun Gothic"/>
                <a:cs typeface="Malgun Gothic"/>
              </a:rPr>
              <a:t>주변 유효 칸의 최솟값</a:t>
            </a:r>
            <a:r>
              <a:rPr sz="1050" b="0" i="0">
                <a:solidFill>
                  <a:srgbClr val="16213A"/>
                </a:solidFill>
                <a:latin typeface="Arial"/>
                <a:ea typeface="Malgun Gothic"/>
                <a:cs typeface="Malgun Gothic"/>
              </a:rPr>
              <a:t>으로 채우고 오프셋이 없다 (</a:t>
            </a:r>
            <a:r>
              <a:rPr sz="1050" b="0" i="0">
                <a:solidFill>
                  <a:srgbClr val="16213A"/>
                </a:solidFill>
                <a:latin typeface="Consolas"/>
                <a:ea typeface="Malgun Gothic"/>
                <a:cs typeface="Malgun Gothic"/>
              </a:rPr>
              <a:t>if(valid &gt; 0.5 &amp;&amp; value &lt; min_value) min_value = value;</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즉 </a:t>
            </a:r>
            <a:r>
              <a:rPr sz="1050" b="1" i="0">
                <a:solidFill>
                  <a:srgbClr val="C2410C"/>
                </a:solidFill>
                <a:latin typeface="Arial"/>
                <a:ea typeface="Malgun Gothic"/>
                <a:cs typeface="Malgun Gothic"/>
              </a:rPr>
              <a:t>관측된 이웃보다 낮은 값을 만들 수 없다.</a:t>
            </a:r>
            <a:r>
              <a:rPr sz="1050" b="1" i="0">
                <a:solidFill>
                  <a:srgbClr val="C2410C"/>
                </a:solidFill>
                <a:latin typeface="Arial"/>
                <a:ea typeface="Malgun Gothic"/>
                <a:cs typeface="Malgun Gothic"/>
              </a:rPr>
              <a:t> 포트홀 테두리가 평지이고 내부가 미관측이면 내부를 테두리 높이로 채워 </a:t>
            </a:r>
            <a:r>
              <a:rPr sz="1050" b="1" i="0">
                <a:solidFill>
                  <a:srgbClr val="C2410C"/>
                </a:solidFill>
                <a:latin typeface="Arial"/>
                <a:ea typeface="Malgun Gothic"/>
                <a:cs typeface="Malgun Gothic"/>
              </a:rPr>
              <a:t>구멍을 지운다.</a:t>
            </a:r>
            <a:r>
              <a:rPr sz="1050" b="0" i="0">
                <a:solidFill>
                  <a:srgbClr val="16213A"/>
                </a:solidFill>
                <a:latin typeface="Arial"/>
                <a:ea typeface="Malgun Gothic"/>
                <a:cs typeface="Malgun Gothic"/>
              </a:rPr>
              <a:t> travplan의 깊이 prior(TP-0047)는 거꾸로 고정 깊이를 빼서 구멍을 만든다. </a:t>
            </a:r>
            <a:r>
              <a:rPr sz="1050" b="0" i="0">
                <a:solidFill>
                  <a:srgbClr val="16213A"/>
                </a:solidFill>
                <a:latin typeface="Consolas"/>
                <a:ea typeface="Malgun Gothic"/>
                <a:cs typeface="Malgun Gothic"/>
              </a:rPr>
              <a:t>inpainting</a:t>
            </a:r>
            <a:r>
              <a:rPr sz="1050" b="0" i="0">
                <a:solidFill>
                  <a:srgbClr val="16213A"/>
                </a:solidFill>
                <a:latin typeface="Arial"/>
                <a:ea typeface="Malgun Gothic"/>
                <a:cs typeface="Malgun Gothic"/>
              </a:rPr>
              <a:t>(OpenCV Telea, 벤더링본에는 </a:t>
            </a:r>
            <a:r>
              <a:rPr sz="1050" b="0" i="0">
                <a:solidFill>
                  <a:srgbClr val="16213A"/>
                </a:solidFill>
                <a:latin typeface="Consolas"/>
                <a:ea typeface="Malgun Gothic"/>
                <a:cs typeface="Malgun Gothic"/>
              </a:rPr>
              <a:t>max_hole_area</a:t>
            </a:r>
            <a:r>
              <a:rPr sz="1050" b="0" i="0">
                <a:solidFill>
                  <a:srgbClr val="16213A"/>
                </a:solidFill>
                <a:latin typeface="Arial"/>
                <a:ea typeface="Malgun Gothic"/>
                <a:cs typeface="Malgun Gothic"/>
              </a:rPr>
              <a:t>가 </a:t>
            </a:r>
            <a:r>
              <a:rPr sz="1050" b="1" i="0">
                <a:solidFill>
                  <a:srgbClr val="16213A"/>
                </a:solidFill>
                <a:latin typeface="Arial"/>
                <a:ea typeface="Malgun Gothic"/>
                <a:cs typeface="Malgun Gothic"/>
              </a:rPr>
              <a:t>없어 크기 제한 없이</a:t>
            </a:r>
            <a:r>
              <a:rPr sz="1050" b="0" i="0">
                <a:solidFill>
                  <a:srgbClr val="16213A"/>
                </a:solidFill>
                <a:latin typeface="Arial"/>
                <a:ea typeface="Malgun Gothic"/>
                <a:cs typeface="Malgun Gothic"/>
              </a:rPr>
              <a:t> 메운다 — 상류 </a:t>
            </a:r>
            <a:r>
              <a:rPr sz="1050" b="0" i="0">
                <a:solidFill>
                  <a:srgbClr val="16213A"/>
                </a:solidFill>
                <a:latin typeface="Consolas"/>
                <a:ea typeface="Malgun Gothic"/>
                <a:cs typeface="Malgun Gothic"/>
              </a:rPr>
              <a:t>ros2</a:t>
            </a:r>
            <a:r>
              <a:rPr sz="1050" b="0" i="0">
                <a:solidFill>
                  <a:srgbClr val="16213A"/>
                </a:solidFill>
                <a:latin typeface="Arial"/>
                <a:ea typeface="Malgun Gothic"/>
                <a:cs typeface="Malgun Gothic"/>
              </a:rPr>
              <a:t>가 기본 64, 설정 25로 넣은 상한이 벤더링본에는 아직 없다)도 함께 미관측 마스크를 지운다. travplan은 지금 </a:t>
            </a:r>
            <a:r>
              <a:rPr sz="1050" b="0" i="0">
                <a:solidFill>
                  <a:srgbClr val="16213A"/>
                </a:solidFill>
                <a:latin typeface="Consolas"/>
                <a:ea typeface="Malgun Gothic"/>
                <a:cs typeface="Malgun Gothic"/>
              </a:rPr>
              <a:t>emap_no_plugins.yaml</a:t>
            </a:r>
            <a:r>
              <a:rPr sz="1050" b="0" i="0">
                <a:solidFill>
                  <a:srgbClr val="16213A"/>
                </a:solidFill>
                <a:latin typeface="Arial"/>
                <a:ea typeface="Malgun Gothic"/>
                <a:cs typeface="Malgun Gothic"/>
              </a:rPr>
              <a:t>에 </a:t>
            </a:r>
            <a:r>
              <a:rPr sz="1050" b="0" i="0">
                <a:solidFill>
                  <a:srgbClr val="16213A"/>
                </a:solidFill>
                <a:latin typeface="Consolas"/>
                <a:ea typeface="Malgun Gothic"/>
                <a:cs typeface="Malgun Gothic"/>
              </a:rPr>
              <a:t>{}</a:t>
            </a:r>
            <a:r>
              <a:rPr sz="1050" b="0" i="0">
                <a:solidFill>
                  <a:srgbClr val="16213A"/>
                </a:solidFill>
                <a:latin typeface="Arial"/>
                <a:ea typeface="Malgun Gothic"/>
                <a:cs typeface="Malgun Gothic"/>
              </a:rPr>
              <a:t>를 넘겨 이 체인을 쓰지 않는데, </a:t>
            </a:r>
            <a:r>
              <a:rPr sz="1050" b="1" i="0">
                <a:solidFill>
                  <a:srgbClr val="16213A"/>
                </a:solidFill>
                <a:latin typeface="Arial"/>
                <a:ea typeface="Malgun Gothic"/>
                <a:cs typeface="Malgun Gothic"/>
              </a:rPr>
              <a:t>그 선택이 옳았다.</a:t>
            </a:r>
            <a:r>
              <a:rPr sz="1050" b="0" i="0">
                <a:solidFill>
                  <a:srgbClr val="16213A"/>
                </a:solidFill>
                <a:latin typeface="Arial"/>
                <a:ea typeface="Malgun Gothic"/>
                <a:cs typeface="Malgun Gothic"/>
              </a:rPr>
              <a:t> TP-0048에는 "기성 기준선"이 아니라 </a:t>
            </a:r>
            <a:r>
              <a:rPr sz="1050" b="1" i="0">
                <a:solidFill>
                  <a:srgbClr val="C2410C"/>
                </a:solidFill>
                <a:latin typeface="Arial"/>
                <a:ea typeface="Malgun Gothic"/>
                <a:cs typeface="Malgun Gothic"/>
              </a:rPr>
              <a:t>대조 실패 사례</a:t>
            </a:r>
            <a:r>
              <a:rPr sz="1050" b="1" i="0">
                <a:solidFill>
                  <a:srgbClr val="C2410C"/>
                </a:solidFill>
                <a:latin typeface="Arial"/>
                <a:ea typeface="Malgun Gothic"/>
                <a:cs typeface="Malgun Gothic"/>
              </a:rPr>
              <a:t>("상류 기본값을 켜면 포트홀이 사라진다")</a:t>
            </a:r>
            <a:r>
              <a:rPr sz="1050" b="0" i="0">
                <a:solidFill>
                  <a:srgbClr val="16213A"/>
                </a:solidFill>
                <a:latin typeface="Arial"/>
                <a:ea typeface="Malgun Gothic"/>
                <a:cs typeface="Malgun Gothic"/>
              </a:rPr>
              <a:t>로 넣는다.</a:t>
            </a:r>
          </a:p>
        </p:txBody>
      </p:sp>
      <p:sp>
        <p:nvSpPr>
          <p:cNvPr id="6" name="TextBox 5"/>
          <p:cNvSpPr txBox="1"/>
          <p:nvPr/>
        </p:nvSpPr>
        <p:spPr>
          <a:xfrm>
            <a:off x="717550" y="2415977"/>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A.2b.7 미관측을 1급 상태로 두는 계보 — travplan이 이미 서 있는 자리</a:t>
            </a:r>
          </a:p>
        </p:txBody>
      </p:sp>
      <p:sp>
        <p:nvSpPr>
          <p:cNvPr id="7" name="TextBox 6"/>
          <p:cNvSpPr txBox="1"/>
          <p:nvPr/>
        </p:nvSpPr>
        <p:spPr>
          <a:xfrm>
            <a:off x="609600" y="2719189"/>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먼저 사실 확인 하나.</a:t>
            </a:r>
            <a:r>
              <a:rPr sz="1050" b="0" i="0">
                <a:solidFill>
                  <a:srgbClr val="16213A"/>
                </a:solidFill>
                <a:latin typeface="Arial"/>
                <a:ea typeface="Malgun Gothic"/>
                <a:cs typeface="Malgun Gothic"/>
              </a:rPr>
              <a:t> 조사 과정에서 "travplan이 emap의 </a:t>
            </a:r>
            <a:r>
              <a:rPr sz="1050" b="0" i="0">
                <a:solidFill>
                  <a:srgbClr val="16213A"/>
                </a:solidFill>
                <a:latin typeface="Consolas"/>
                <a:ea typeface="Malgun Gothic"/>
                <a:cs typeface="Malgun Gothic"/>
              </a:rPr>
              <a:t>upper_bound</a:t>
            </a:r>
            <a:r>
              <a:rPr sz="1050" b="0" i="0">
                <a:solidFill>
                  <a:srgbClr val="16213A"/>
                </a:solidFill>
                <a:latin typeface="Arial"/>
                <a:ea typeface="Malgun Gothic"/>
                <a:cs typeface="Malgun Gothic"/>
              </a:rPr>
              <a:t>를 버리고 있을 수 있다"는 지적이 나왔지만, </a:t>
            </a:r>
            <a:r>
              <a:rPr sz="1050" b="0" i="0">
                <a:solidFill>
                  <a:srgbClr val="16213A"/>
                </a:solidFill>
                <a:latin typeface="Consolas"/>
                <a:ea typeface="Malgun Gothic"/>
                <a:cs typeface="Malgun Gothic"/>
              </a:rPr>
              <a:t>travplan/perception/emap_mapper.py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ElevationMapper._paste()</a:t>
            </a:r>
            <a:r>
              <a:rPr sz="1050" b="0" i="0">
                <a:solidFill>
                  <a:srgbClr val="16213A"/>
                </a:solidFill>
                <a:latin typeface="Arial"/>
                <a:ea typeface="Malgun Gothic"/>
                <a:cs typeface="Malgun Gothic"/>
              </a:rPr>
              <a:t>가 </a:t>
            </a:r>
            <a:r>
              <a:rPr sz="1050" b="0" i="0">
                <a:solidFill>
                  <a:srgbClr val="16213A"/>
                </a:solidFill>
                <a:latin typeface="Consolas"/>
                <a:ea typeface="Malgun Gothic"/>
                <a:cs typeface="Malgun Gothic"/>
              </a:rPr>
              <a:t>get_upper_bound()</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get_is_upper_bound()</a:t>
            </a:r>
            <a:r>
              <a:rPr sz="1050" b="0" i="0">
                <a:solidFill>
                  <a:srgbClr val="16213A"/>
                </a:solidFill>
                <a:latin typeface="Arial"/>
                <a:ea typeface="Malgun Gothic"/>
                <a:cs typeface="Malgun Gothic"/>
              </a:rPr>
              <a:t>를 이미 읽는다. TP-0044의 그림자 상한이 바로 그것이다. </a:t>
            </a:r>
            <a:r>
              <a:rPr sz="1050" b="1" i="0">
                <a:solidFill>
                  <a:srgbClr val="16213A"/>
                </a:solidFill>
                <a:latin typeface="Arial"/>
                <a:ea typeface="Malgun Gothic"/>
                <a:cs typeface="Malgun Gothic"/>
              </a:rPr>
              <a:t>이 축에서 travplan은 뒤처진 게 아니라 앞서 있다</a:t>
            </a:r>
            <a:r>
              <a:rPr sz="1050" b="0" i="0">
                <a:solidFill>
                  <a:srgbClr val="16213A"/>
                </a:solidFill>
                <a:latin typeface="Arial"/>
                <a:ea typeface="Malgun Gothic"/>
                <a:cs typeface="Malgun Gothic"/>
              </a:rPr>
              <a:t> — 아래 구현들과 비교해도 "미관측을 이진 마스크가 아니라 상한값으로 들고 있는" 쪽에 이미 속한다.</a:t>
            </a:r>
          </a:p>
        </p:txBody>
      </p:sp>
      <p:sp>
        <p:nvSpPr>
          <p:cNvPr id="8" name="TextBox 7"/>
          <p:cNvSpPr txBox="1"/>
          <p:nvPr/>
        </p:nvSpPr>
        <p:spPr>
          <a:xfrm>
            <a:off x="609600" y="3457575"/>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emap 상한의 원 논문이 판별 규칙까지 준다.</a:t>
            </a:r>
            <a:r>
              <a:rPr sz="1050" b="0" i="0">
                <a:solidFill>
                  <a:srgbClr val="16213A"/>
                </a:solidFill>
                <a:latin typeface="Arial"/>
                <a:ea typeface="Malgun Gothic"/>
                <a:cs typeface="Malgun Gothic"/>
              </a:rPr>
              <a:t> Miki 외, IROS 2022(</a:t>
            </a:r>
            <a:r>
              <a:rPr sz="1050" b="0" i="0">
                <a:solidFill>
                  <a:srgbClr val="1D4ED8"/>
                </a:solidFill>
                <a:latin typeface="Arial"/>
                <a:ea typeface="Malgun Gothic"/>
                <a:cs typeface="Malgun Gothic"/>
                <a:hlinkClick r:id="rId3"/>
              </a:rPr>
              <a:t>arXiv:2204.12876</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"If a ray passes through a cell, we know that the ground height cannot be larger than the ray height."</a:t>
            </a:r>
            <a:r>
              <a:rPr sz="1050" b="0" i="0">
                <a:solidFill>
                  <a:srgbClr val="16213A"/>
                </a:solidFill>
                <a:latin typeface="Arial"/>
                <a:ea typeface="Malgun Gothic"/>
                <a:cs typeface="Malgun Gothic"/>
              </a:rPr>
              <a:t> 그리고 우리가 찾던 판별자 — </a:t>
            </a:r>
            <a:r>
              <a:rPr sz="1050" b="1" i="1">
                <a:solidFill>
                  <a:srgbClr val="C2410C"/>
                </a:solidFill>
                <a:latin typeface="Arial"/>
                <a:ea typeface="Malgun Gothic"/>
                <a:cs typeface="Malgun Gothic"/>
              </a:rPr>
              <a:t>"The upper bound layer helps distinguish between safe patches caused by obstacle occlusions (which typically exhibit </a:t>
            </a:r>
            <a:r>
              <a:rPr sz="1050" b="1" i="1">
                <a:solidFill>
                  <a:srgbClr val="C2410C"/>
                </a:solidFill>
                <a:latin typeface="Arial"/>
                <a:ea typeface="Malgun Gothic"/>
                <a:cs typeface="Malgun Gothic"/>
              </a:rPr>
              <a:t>small inclinations in the upper bound</a:t>
            </a:r>
            <a:r>
              <a:rPr sz="1050" b="1" i="1">
                <a:solidFill>
                  <a:srgbClr val="C2410C"/>
                </a:solidFill>
                <a:latin typeface="Arial"/>
                <a:ea typeface="Malgun Gothic"/>
                <a:cs typeface="Malgun Gothic"/>
              </a:rPr>
              <a:t>) and unsafe larger drops which cause steeper ray angles resulting in </a:t>
            </a:r>
            <a:r>
              <a:rPr sz="1050" b="1" i="1">
                <a:solidFill>
                  <a:srgbClr val="C2410C"/>
                </a:solidFill>
                <a:latin typeface="Arial"/>
                <a:ea typeface="Malgun Gothic"/>
                <a:cs typeface="Malgun Gothic"/>
              </a:rPr>
              <a:t>larger inclinations</a:t>
            </a:r>
            <a:r>
              <a:rPr sz="1050" b="1" i="1">
                <a:solidFill>
                  <a:srgbClr val="C2410C"/>
                </a:solidFill>
                <a:latin typeface="Arial"/>
                <a:ea typeface="Malgun Gothic"/>
                <a:cs typeface="Malgun Gothic"/>
              </a:rPr>
              <a:t>."</a:t>
            </a:r>
            <a:r>
              <a:rPr sz="1050" b="0" i="0">
                <a:solidFill>
                  <a:srgbClr val="16213A"/>
                </a:solidFill>
                <a:latin typeface="Arial"/>
                <a:ea typeface="Malgun Gothic"/>
                <a:cs typeface="Malgun Gothic"/>
              </a:rPr>
              <a:t> 즉 </a:t>
            </a:r>
            <a:r>
              <a:rPr sz="1050" b="1" i="0">
                <a:solidFill>
                  <a:srgbClr val="16213A"/>
                </a:solidFill>
                <a:latin typeface="Arial"/>
                <a:ea typeface="Malgun Gothic"/>
                <a:cs typeface="Malgun Gothic"/>
              </a:rPr>
              <a:t>상한의 기울기</a:t>
            </a:r>
            <a:r>
              <a:rPr sz="1050" b="0" i="0">
                <a:solidFill>
                  <a:srgbClr val="16213A"/>
                </a:solidFill>
                <a:latin typeface="Arial"/>
                <a:ea typeface="Malgun Gothic"/>
                <a:cs typeface="Malgun Gothic"/>
              </a:rPr>
              <a:t>가 "가려진 평지"와 "진짜 낙차"를 가른다. travplan은 상한을 값으로만 쓰고 이 기울기 검정은 안 한다 — </a:t>
            </a:r>
            <a:r>
              <a:rPr sz="1050" b="1" i="0">
                <a:solidFill>
                  <a:srgbClr val="16213A"/>
                </a:solidFill>
                <a:latin typeface="Arial"/>
                <a:ea typeface="Malgun Gothic"/>
                <a:cs typeface="Malgun Gothic"/>
              </a:rPr>
              <a:t>TP-0048에 그대로 넣을 규칙이다.</a:t>
            </a:r>
            <a:r>
              <a:rPr sz="1050" b="0" i="0">
                <a:solidFill>
                  <a:srgbClr val="16213A"/>
                </a:solidFill>
                <a:latin typeface="Arial"/>
                <a:ea typeface="Malgun Gothic"/>
                <a:cs typeface="Malgun Gothic"/>
              </a:rPr>
              <a:t> (Xavier 실측: 10 × 10 m 4 cm에서 필터된 Realsense 6,276점 49.4 Hz, Bpearl 43,074점 20.0 Hz, 원본 407,040점 16.1 Hz.)</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7/7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31 / 359</a:t>
            </a:r>
          </a:p>
        </p:txBody>
      </p:sp>
      <p:pic>
        <p:nvPicPr>
          <p:cNvPr id="5" name="Picture 4" descr="image.jpg"/>
          <p:cNvPicPr>
            <a:picLocks noChangeAspect="1"/>
          </p:cNvPicPr>
          <p:nvPr/>
        </p:nvPicPr>
        <p:blipFill>
          <a:blip r:embed="rId3"/>
          <a:stretch>
            <a:fillRect/>
          </a:stretch>
        </p:blipFill>
        <p:spPr>
          <a:xfrm>
            <a:off x="3937000" y="1244600"/>
            <a:ext cx="4318000" cy="4445000"/>
          </a:xfrm>
          <a:prstGeom prst="rect">
            <a:avLst/>
          </a:prstGeom>
        </p:spPr>
      </p:pic>
      <p:sp>
        <p:nvSpPr>
          <p:cNvPr id="6" name="TextBox 5"/>
          <p:cNvSpPr txBox="1"/>
          <p:nvPr/>
        </p:nvSpPr>
        <p:spPr>
          <a:xfrm>
            <a:off x="3937000" y="5727700"/>
            <a:ext cx="4318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elevation_mapping_cupy (Fig. 5): 상한의 정의 그 자체. 광선이 칸을 통과했다면 지면은 그 광선보다 높을 수 없다. 위 그림의 음영이 상한 영역이고, 이것이 travplan TP-0044의 근거다. 출처: arXiv:2204.12876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자세히: 상한 기울기 검정이 무엇을 가르는지, 그리고 상류가 그 뒤 무엇을 하는지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32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판별 규칙을 그림으로 읽으면 이렇다.</a:t>
            </a:r>
            <a:r>
              <a:rPr sz="1050" b="0" i="0">
                <a:solidFill>
                  <a:srgbClr val="16213A"/>
                </a:solidFill>
                <a:latin typeface="Arial"/>
                <a:ea typeface="Malgun Gothic"/>
                <a:cs typeface="Malgun Gothic"/>
              </a:rPr>
              <a:t> 가려진 칸의 상한은 "그 칸을 지나간 광선 중 가장 낮은 것"이다. 포트홀처럼 </a:t>
            </a:r>
            <a:r>
              <a:rPr sz="1050" b="1" i="0">
                <a:solidFill>
                  <a:srgbClr val="16213A"/>
                </a:solidFill>
                <a:latin typeface="Arial"/>
                <a:ea typeface="Malgun Gothic"/>
                <a:cs typeface="Malgun Gothic"/>
              </a:rPr>
              <a:t>진짜 낙차</a:t>
            </a:r>
            <a:r>
              <a:rPr sz="1050" b="0" i="0">
                <a:solidFill>
                  <a:srgbClr val="16213A"/>
                </a:solidFill>
                <a:latin typeface="Arial"/>
                <a:ea typeface="Malgun Gothic"/>
                <a:cs typeface="Malgun Gothic"/>
              </a:rPr>
              <a:t>가 있으면 광선이 구멍 안쪽을 훑고 지나가느라 각도가 급해져 </a:t>
            </a:r>
            <a:r>
              <a:rPr sz="1050" b="1" i="0">
                <a:solidFill>
                  <a:srgbClr val="16213A"/>
                </a:solidFill>
                <a:latin typeface="Arial"/>
                <a:ea typeface="Malgun Gothic"/>
                <a:cs typeface="Malgun Gothic"/>
              </a:rPr>
              <a:t>상한의 기울기가 커진다.</a:t>
            </a:r>
            <a:r>
              <a:rPr sz="1050" b="0" i="0">
                <a:solidFill>
                  <a:srgbClr val="16213A"/>
                </a:solidFill>
                <a:latin typeface="Arial"/>
                <a:ea typeface="Malgun Gothic"/>
                <a:cs typeface="Malgun Gothic"/>
              </a:rPr>
              <a:t> 반대로 그냥 장애물에 가려진 </a:t>
            </a:r>
            <a:r>
              <a:rPr sz="1050" b="1" i="0">
                <a:solidFill>
                  <a:srgbClr val="16213A"/>
                </a:solidFill>
                <a:latin typeface="Arial"/>
                <a:ea typeface="Malgun Gothic"/>
                <a:cs typeface="Malgun Gothic"/>
              </a:rPr>
              <a:t>평지</a:t>
            </a:r>
            <a:r>
              <a:rPr sz="1050" b="0" i="0">
                <a:solidFill>
                  <a:srgbClr val="16213A"/>
                </a:solidFill>
                <a:latin typeface="Arial"/>
                <a:ea typeface="Malgun Gothic"/>
                <a:cs typeface="Malgun Gothic"/>
              </a:rPr>
              <a:t>라면 광선은 얕은 각도로 스쳐서 </a:t>
            </a:r>
            <a:r>
              <a:rPr sz="1050" b="1" i="0">
                <a:solidFill>
                  <a:srgbClr val="16213A"/>
                </a:solidFill>
                <a:latin typeface="Arial"/>
                <a:ea typeface="Malgun Gothic"/>
                <a:cs typeface="Malgun Gothic"/>
              </a:rPr>
              <a:t>상한이 거의 평평하다.</a:t>
            </a:r>
            <a:r>
              <a:rPr sz="1050" b="0" i="0">
                <a:solidFill>
                  <a:srgbClr val="16213A"/>
                </a:solidFill>
                <a:latin typeface="Arial"/>
                <a:ea typeface="Malgun Gothic"/>
                <a:cs typeface="Malgun Gothic"/>
              </a:rPr>
              <a:t> 그래서 상한의 값이 아니라 </a:t>
            </a:r>
            <a:r>
              <a:rPr sz="1050" b="1" i="0">
                <a:solidFill>
                  <a:srgbClr val="C2410C"/>
                </a:solidFill>
                <a:latin typeface="Arial"/>
                <a:ea typeface="Malgun Gothic"/>
                <a:cs typeface="Malgun Gothic"/>
              </a:rPr>
              <a:t>상한의 기울기</a:t>
            </a:r>
            <a:r>
              <a:rPr sz="1050" b="0" i="0">
                <a:solidFill>
                  <a:srgbClr val="16213A"/>
                </a:solidFill>
                <a:latin typeface="Arial"/>
                <a:ea typeface="Malgun Gothic"/>
                <a:cs typeface="Malgun Gothic"/>
              </a:rPr>
              <a:t>가 판별자가 된다. travplan은 지금 값만 쓰고 있어 이 정보를 버리고 있다.</a:t>
            </a:r>
          </a:p>
        </p:txBody>
      </p:sp>
      <p:pic>
        <p:nvPicPr>
          <p:cNvPr id="6" name="Picture 5" descr="image.jpg"/>
          <p:cNvPicPr>
            <a:picLocks noChangeAspect="1"/>
          </p:cNvPicPr>
          <p:nvPr/>
        </p:nvPicPr>
        <p:blipFill>
          <a:blip r:embed="rId3"/>
          <a:stretch>
            <a:fillRect/>
          </a:stretch>
        </p:blipFill>
        <p:spPr>
          <a:xfrm>
            <a:off x="609600" y="1982986"/>
            <a:ext cx="2978150" cy="2667000"/>
          </a:xfrm>
          <a:prstGeom prst="rect">
            <a:avLst/>
          </a:prstGeom>
        </p:spPr>
      </p:pic>
      <p:sp>
        <p:nvSpPr>
          <p:cNvPr id="7" name="TextBox 6"/>
          <p:cNvSpPr txBox="1"/>
          <p:nvPr/>
        </p:nvSpPr>
        <p:spPr>
          <a:xfrm>
            <a:off x="609600" y="4688086"/>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emap (Fig. 7): 기능을 하나씩 꺼 보며 지도 품질을 비교한 결과. 어떤 기능이 실제로 값을 하는지 상류가 직접 측정해 놓았다 — travplan이 무엇을 켜고 끌지 정할 때의 근거다(전체 구조는 A.2b 위쪽 Fig. 1 참조). 출처: arXiv:2204.12876</a:t>
            </a:r>
          </a:p>
        </p:txBody>
      </p:sp>
      <p:pic>
        <p:nvPicPr>
          <p:cNvPr id="8" name="Picture 7" descr="image.jpg"/>
          <p:cNvPicPr>
            <a:picLocks noChangeAspect="1"/>
          </p:cNvPicPr>
          <p:nvPr/>
        </p:nvPicPr>
        <p:blipFill>
          <a:blip r:embed="rId4"/>
          <a:stretch>
            <a:fillRect/>
          </a:stretch>
        </p:blipFill>
        <p:spPr>
          <a:xfrm>
            <a:off x="4318000" y="1982986"/>
            <a:ext cx="3556000" cy="2247900"/>
          </a:xfrm>
          <a:prstGeom prst="rect">
            <a:avLst/>
          </a:prstGeom>
        </p:spPr>
      </p:pic>
      <p:sp>
        <p:nvSpPr>
          <p:cNvPr id="9" name="TextBox 8"/>
          <p:cNvSpPr txBox="1"/>
          <p:nvPr/>
        </p:nvSpPr>
        <p:spPr>
          <a:xfrm>
            <a:off x="4318000" y="4268986"/>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emap (Fig. 3): 천장·오버행이 지면 인공물로 들어오지 않게 두는 제외 영역. travplan의 "오버행 미표현" 한계가 여기서 비롯한다 — 상류가 애초에 오버행을 버리도록 설계돼 있다. 출처: arXiv:2204.12876</a:t>
            </a:r>
          </a:p>
        </p:txBody>
      </p:sp>
      <p:pic>
        <p:nvPicPr>
          <p:cNvPr id="10" name="Picture 9" descr="image.jpg"/>
          <p:cNvPicPr>
            <a:picLocks noChangeAspect="1"/>
          </p:cNvPicPr>
          <p:nvPr/>
        </p:nvPicPr>
        <p:blipFill>
          <a:blip r:embed="rId5"/>
          <a:stretch>
            <a:fillRect/>
          </a:stretch>
        </p:blipFill>
        <p:spPr>
          <a:xfrm>
            <a:off x="8026400" y="1982986"/>
            <a:ext cx="3556000" cy="666750"/>
          </a:xfrm>
          <a:prstGeom prst="rect">
            <a:avLst/>
          </a:prstGeom>
        </p:spPr>
      </p:pic>
      <p:sp>
        <p:nvSpPr>
          <p:cNvPr id="11" name="TextBox 10"/>
          <p:cNvSpPr txBox="1"/>
          <p:nvPr/>
        </p:nvSpPr>
        <p:spPr>
          <a:xfrm>
            <a:off x="8026400" y="2687836"/>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emap (Fig. 11): TAMOLS가 쓰는 높이 층들. 먼저 가려진 영역을 인페인팅으로 메운다. A.2b.6에서 본 min_filter/inpainting 기본 체인이 이 용도이고, 보행 로봇에는 맞지만 포트홀을 지워 배달로봇에는 위험하다. 출처: arXiv:2204.12876</a:t>
            </a:r>
          </a:p>
        </p:txBody>
      </p:sp>
      <p:sp>
        <p:nvSpPr>
          <p:cNvPr id="12" name="TextBox 11"/>
          <p:cNvSpPr txBox="1"/>
          <p:nvPr/>
        </p:nvSpPr>
        <p:spPr>
          <a:xfrm>
            <a:off x="609600" y="5203527"/>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2개(문단·식·그림)는 대시보드 리서치 탭의 "자세히: 상한 기울기 검정이 무엇을 가르는지, 그리고 상류가 그 뒤 무엇을 하는지" 토글에 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33 / 359</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a:t>
            </a:r>
            <a:r>
              <a:rPr sz="1050" b="1" i="0">
                <a:solidFill>
                  <a:srgbClr val="16213A"/>
                </a:solidFill>
                <a:latin typeface="Consolas"/>
                <a:ea typeface="Malgun Gothic"/>
                <a:cs typeface="Malgun Gothic"/>
              </a:rPr>
              <a:t>art_planner</a:t>
            </a:r>
            <a:r>
              <a:rPr sz="1050" b="1" i="0">
                <a:solidFill>
                  <a:srgbClr val="16213A"/>
                </a:solidFill>
                <a:latin typeface="Arial"/>
                <a:ea typeface="Malgun Gothic"/>
                <a:cs typeface="Malgun Gothic"/>
              </a:rPr>
              <a:t>가 그 상한을 쓰는 공개 소비자다.</a:t>
            </a:r>
            <a:r>
              <a:rPr sz="1050" b="0" i="0">
                <a:solidFill>
                  <a:srgbClr val="16213A"/>
                </a:solidFill>
                <a:latin typeface="Arial"/>
                <a:ea typeface="Malgun Gothic"/>
                <a:cs typeface="Malgun Gothic"/>
              </a:rPr>
              <a:t> Wellhausen &amp; Hutter, </a:t>
            </a:r>
            <a:r>
              <a:rPr sz="1050" b="0" i="1">
                <a:solidFill>
                  <a:srgbClr val="16213A"/>
                </a:solidFill>
                <a:latin typeface="Arial"/>
                <a:ea typeface="Malgun Gothic"/>
                <a:cs typeface="Malgun Gothic"/>
              </a:rPr>
              <a:t>ArtPlanner</a:t>
            </a:r>
            <a:r>
              <a:rPr sz="1050" b="0" i="0">
                <a:solidFill>
                  <a:srgbClr val="16213A"/>
                </a:solidFill>
                <a:latin typeface="Arial"/>
                <a:ea typeface="Malgun Gothic"/>
                <a:cs typeface="Malgun Gothic"/>
              </a:rPr>
              <a:t>, Field Robotics 2023 (</a:t>
            </a:r>
            <a:r>
              <a:rPr sz="1050" b="0" i="0">
                <a:solidFill>
                  <a:srgbClr val="1D4ED8"/>
                </a:solidFill>
                <a:latin typeface="Arial"/>
                <a:ea typeface="Malgun Gothic"/>
                <a:cs typeface="Malgun Gothic"/>
                <a:hlinkClick r:id="rId3"/>
              </a:rPr>
              <a:t>arXiv:2303.01420</a:t>
            </a:r>
            <a:r>
              <a:rPr sz="1050" b="0" i="0">
                <a:solidFill>
                  <a:srgbClr val="16213A"/>
                </a:solidFill>
                <a:latin typeface="Arial"/>
                <a:ea typeface="Malgun Gothic"/>
                <a:cs typeface="Malgun Gothic"/>
              </a:rPr>
              <a:t>, ★256, BSD-3, 2023-08 정지). 상한 칸을 </a:t>
            </a:r>
            <a:r>
              <a:rPr sz="1050" b="1" i="0">
                <a:solidFill>
                  <a:srgbClr val="16213A"/>
                </a:solidFill>
                <a:latin typeface="Arial"/>
                <a:ea typeface="Malgun Gothic"/>
                <a:cs typeface="Malgun Gothic"/>
              </a:rPr>
              <a:t>virtual surface</a:t>
            </a:r>
            <a:r>
              <a:rPr sz="1050" b="0" i="0">
                <a:solidFill>
                  <a:srgbClr val="16213A"/>
                </a:solidFill>
                <a:latin typeface="Arial"/>
                <a:ea typeface="Malgun Gothic"/>
                <a:cs typeface="Malgun Gothic"/>
              </a:rPr>
              <a:t>로 보고 </a:t>
            </a:r>
            <a:r>
              <a:rPr sz="1050" b="1" i="1">
                <a:solidFill>
                  <a:srgbClr val="C2410C"/>
                </a:solidFill>
                <a:latin typeface="Arial"/>
                <a:ea typeface="Malgun Gothic"/>
                <a:cs typeface="Malgun Gothic"/>
              </a:rPr>
              <a:t>"only use virtual surfaces for planning if they are </a:t>
            </a:r>
            <a:r>
              <a:rPr sz="1050" b="1" i="1">
                <a:solidFill>
                  <a:srgbClr val="C2410C"/>
                </a:solidFill>
                <a:latin typeface="Arial"/>
                <a:ea typeface="Malgun Gothic"/>
                <a:cs typeface="Malgun Gothic"/>
              </a:rPr>
              <a:t>above sensor height</a:t>
            </a:r>
            <a:r>
              <a:rPr sz="1050" b="1" i="1">
                <a:solidFill>
                  <a:srgbClr val="C2410C"/>
                </a:solidFill>
                <a:latin typeface="Arial"/>
                <a:ea typeface="Malgun Gothic"/>
                <a:cs typeface="Malgun Gothic"/>
              </a:rPr>
              <a:t>"</a:t>
            </a:r>
            <a:r>
              <a:rPr sz="1050" b="0" i="0">
                <a:solidFill>
                  <a:srgbClr val="16213A"/>
                </a:solidFill>
                <a:latin typeface="Arial"/>
                <a:ea typeface="Malgun Gothic"/>
                <a:cs typeface="Malgun Gothic"/>
              </a:rPr>
              <a:t>라는 규칙을 쓴다. 논문은 이 규칙을 흔한 두 대안 대신 택했다. 두 대안은 구멍을 </a:t>
            </a:r>
            <a:r>
              <a:rPr sz="1050" b="0" i="1">
                <a:solidFill>
                  <a:srgbClr val="16213A"/>
                </a:solidFill>
                <a:latin typeface="Arial"/>
                <a:ea typeface="Malgun Gothic"/>
                <a:cs typeface="Malgun Gothic"/>
              </a:rPr>
              <a:t>"image inpainting algorithm or considering them untraversable"</a:t>
            </a:r>
            <a:r>
              <a:rPr sz="1050" b="0" i="0">
                <a:solidFill>
                  <a:srgbClr val="16213A"/>
                </a:solidFill>
                <a:latin typeface="Arial"/>
                <a:ea typeface="Malgun Gothic"/>
                <a:cs typeface="Malgun Gothic"/>
              </a:rPr>
              <a:t>로 다루는 것이다(원문 §2.4.1). </a:t>
            </a:r>
            <a:r>
              <a:rPr sz="1050" b="0" i="1">
                <a:solidFill>
                  <a:srgbClr val="16213A"/>
                </a:solidFill>
                <a:latin typeface="Arial"/>
                <a:ea typeface="Malgun Gothic"/>
                <a:cs typeface="Malgun Gothic"/>
              </a:rPr>
              <a:t>"We can therefore not rely on the motion cost network to keep a safe distance from negative obstacles."</a:t>
            </a:r>
            <a:r>
              <a:rPr sz="1050" b="0" i="0">
                <a:solidFill>
                  <a:srgbClr val="16213A"/>
                </a:solidFill>
                <a:latin typeface="Arial"/>
                <a:ea typeface="Malgun Gothic"/>
                <a:cs typeface="Malgun Gothic"/>
              </a:rPr>
              <a:t>는 낙차 둘레에 안전 여유를 따로 두는 이유로 든 문장이다(§2.4.2). 공개 코드의 기본값은 </a:t>
            </a:r>
            <a:r>
              <a:rPr sz="1050" b="0" i="0">
                <a:solidFill>
                  <a:srgbClr val="16213A"/>
                </a:solidFill>
                <a:latin typeface="Consolas"/>
                <a:ea typeface="Malgun Gothic"/>
                <a:cs typeface="Malgun Gothic"/>
              </a:rPr>
              <a:t>unknown_space_untraversable: true</a:t>
            </a:r>
            <a:r>
              <a:rPr sz="1050" b="0" i="0">
                <a:solidFill>
                  <a:srgbClr val="16213A"/>
                </a:solidFill>
                <a:latin typeface="Arial"/>
                <a:ea typeface="Malgun Gothic"/>
                <a:cs typeface="Malgun Gothic"/>
              </a:rPr>
              <a:t>라, virtual surface로 살리지 못한 칸(센서 높이 아래)은 여전히 비주행이다. </a:t>
            </a:r>
            <a:r>
              <a:rPr sz="1050" b="1" i="0">
                <a:solidFill>
                  <a:srgbClr val="16213A"/>
                </a:solidFill>
                <a:latin typeface="Arial"/>
                <a:ea typeface="Malgun Gothic"/>
                <a:cs typeface="Malgun Gothic"/>
              </a:rPr>
              <a:t>고정 깊이(</a:t>
            </a:r>
            <a:r>
              <a:rPr sz="1050" b="1" i="0">
                <a:solidFill>
                  <a:srgbClr val="16213A"/>
                </a:solidFill>
                <a:latin typeface="Consolas"/>
                <a:ea typeface="Malgun Gothic"/>
                <a:cs typeface="Malgun Gothic"/>
              </a:rPr>
              <a:t>--shadow-depth 0.10</a:t>
            </a:r>
            <a:r>
              <a:rPr sz="1050" b="1" i="0">
                <a:solidFill>
                  <a:srgbClr val="16213A"/>
                </a:solidFill>
                <a:latin typeface="Arial"/>
                <a:ea typeface="Malgun Gothic"/>
                <a:cs typeface="Malgun Gothic"/>
              </a:rPr>
              <a:t>) 대신 센서 높이로 문턱을 정하는, 논문으로 방어된 대안이다.</a:t>
            </a:r>
          </a:p>
        </p:txBody>
      </p:sp>
      <p:pic>
        <p:nvPicPr>
          <p:cNvPr id="6" name="Picture 5" descr="image.jpg"/>
          <p:cNvPicPr>
            <a:picLocks noChangeAspect="1"/>
          </p:cNvPicPr>
          <p:nvPr/>
        </p:nvPicPr>
        <p:blipFill>
          <a:blip r:embed="rId4"/>
          <a:stretch>
            <a:fillRect/>
          </a:stretch>
        </p:blipFill>
        <p:spPr>
          <a:xfrm>
            <a:off x="609600" y="2415977"/>
            <a:ext cx="1828800" cy="2667000"/>
          </a:xfrm>
          <a:prstGeom prst="rect">
            <a:avLst/>
          </a:prstGeom>
        </p:spPr>
      </p:pic>
      <p:sp>
        <p:nvSpPr>
          <p:cNvPr id="7" name="TextBox 6"/>
          <p:cNvSpPr txBox="1"/>
          <p:nvPr/>
        </p:nvSpPr>
        <p:spPr>
          <a:xfrm>
            <a:off x="609600" y="5121077"/>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ArtPlanner (Fig. 11a): 온보드 영상과 LiDAR 지도. 오른쪽 아래가 관측되지 않은 낙차다. 출처: arXiv:2303.01420</a:t>
            </a:r>
          </a:p>
        </p:txBody>
      </p:sp>
      <p:pic>
        <p:nvPicPr>
          <p:cNvPr id="8" name="Picture 7" descr="image.jpg"/>
          <p:cNvPicPr>
            <a:picLocks noChangeAspect="1"/>
          </p:cNvPicPr>
          <p:nvPr/>
        </p:nvPicPr>
        <p:blipFill>
          <a:blip r:embed="rId5"/>
          <a:stretch>
            <a:fillRect/>
          </a:stretch>
        </p:blipFill>
        <p:spPr>
          <a:xfrm>
            <a:off x="4318000" y="2415977"/>
            <a:ext cx="1016000" cy="2667000"/>
          </a:xfrm>
          <a:prstGeom prst="rect">
            <a:avLst/>
          </a:prstGeom>
        </p:spPr>
      </p:pic>
      <p:sp>
        <p:nvSpPr>
          <p:cNvPr id="9" name="TextBox 8"/>
          <p:cNvSpPr txBox="1"/>
          <p:nvPr/>
        </p:nvSpPr>
        <p:spPr>
          <a:xfrm>
            <a:off x="4318000" y="5121077"/>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ArtPlanner (Fig. 11b): 높이 지도만 쓸 때의 밟을 수 있는 영역. 가려진 칸이 아예 빠져 플래너가 지나갈 길을 못 찾는다. 출처: arXiv:2303.01420</a:t>
            </a:r>
          </a:p>
        </p:txBody>
      </p:sp>
      <p:pic>
        <p:nvPicPr>
          <p:cNvPr id="10" name="Picture 9" descr="image.jpg"/>
          <p:cNvPicPr>
            <a:picLocks noChangeAspect="1"/>
          </p:cNvPicPr>
          <p:nvPr/>
        </p:nvPicPr>
        <p:blipFill>
          <a:blip r:embed="rId6"/>
          <a:stretch>
            <a:fillRect/>
          </a:stretch>
        </p:blipFill>
        <p:spPr>
          <a:xfrm>
            <a:off x="8026400" y="2415977"/>
            <a:ext cx="1016000" cy="2667000"/>
          </a:xfrm>
          <a:prstGeom prst="rect">
            <a:avLst/>
          </a:prstGeom>
        </p:spPr>
      </p:pic>
      <p:sp>
        <p:nvSpPr>
          <p:cNvPr id="11" name="TextBox 10"/>
          <p:cNvSpPr txBox="1"/>
          <p:nvPr/>
        </p:nvSpPr>
        <p:spPr>
          <a:xfrm>
            <a:off x="8026400" y="5121077"/>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ArtPlanner (Fig. 11c): 상한을 virtual surface로 넣었을 때. 가려졌지만 안전한 칸이 살아나 경로가 이어진다. 출처: arXiv:2303.01420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자세히: ArtPlanner가 인페인팅과 "미관측=비주행" 대신 virtual surface를 쓴 이유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34 / 359</a:t>
            </a:r>
          </a:p>
        </p:txBody>
      </p:sp>
      <p:pic>
        <p:nvPicPr>
          <p:cNvPr id="5" name="Picture 4" descr="image.jpg"/>
          <p:cNvPicPr>
            <a:picLocks noChangeAspect="1"/>
          </p:cNvPicPr>
          <p:nvPr/>
        </p:nvPicPr>
        <p:blipFill>
          <a:blip r:embed="rId3"/>
          <a:stretch>
            <a:fillRect/>
          </a:stretch>
        </p:blipFill>
        <p:spPr>
          <a:xfrm>
            <a:off x="609600" y="1244600"/>
            <a:ext cx="5410200" cy="1155700"/>
          </a:xfrm>
          <a:prstGeom prst="rect">
            <a:avLst/>
          </a:prstGeom>
        </p:spPr>
      </p:pic>
      <p:sp>
        <p:nvSpPr>
          <p:cNvPr id="6" name="TextBox 5"/>
          <p:cNvSpPr txBox="1"/>
          <p:nvPr/>
        </p:nvSpPr>
        <p:spPr>
          <a:xfrm>
            <a:off x="609600" y="24384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ArtPlanner (Fig. 6): 높이 지도 처리 세 단계다. ① 깊이 광선으로 미관측 공간의 virtual surface를 추론한다. ② 발 디딜 수 없는 칸을 팽창한 뒤 침식해 위험 지형 둘레에 안전 여유를 만든다(CMU의 shrink/expand와 같은 발상). ③ 거리에 따라 높아지는 문턱으로 천장에서 돌아온 점을 버린다. 출처: arXiv:2303.01420</a:t>
            </a:r>
          </a:p>
        </p:txBody>
      </p:sp>
      <p:pic>
        <p:nvPicPr>
          <p:cNvPr id="7" name="Picture 6" descr="image.jpg"/>
          <p:cNvPicPr>
            <a:picLocks noChangeAspect="1"/>
          </p:cNvPicPr>
          <p:nvPr/>
        </p:nvPicPr>
        <p:blipFill>
          <a:blip r:embed="rId4"/>
          <a:stretch>
            <a:fillRect/>
          </a:stretch>
        </p:blipFill>
        <p:spPr>
          <a:xfrm>
            <a:off x="6172200" y="1244600"/>
            <a:ext cx="5410200" cy="1250950"/>
          </a:xfrm>
          <a:prstGeom prst="rect">
            <a:avLst/>
          </a:prstGeom>
        </p:spPr>
      </p:pic>
      <p:sp>
        <p:nvSpPr>
          <p:cNvPr id="8" name="TextBox 7"/>
          <p:cNvSpPr txBox="1"/>
          <p:nvPr/>
        </p:nvSpPr>
        <p:spPr>
          <a:xfrm>
            <a:off x="6172200" y="253365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ArtPlanner (Fig. 10): SubT 첫 Preliminary Run의 날카로운 낙차. (b) 낙관적으로 튜닝한 탐사 경로는 이 모서리를 넘었다. (c) 안전 여유가 없으면 ArtPlanner 경로도 모서리에 붙고, (d) 있으면 떨어진다. travplan의 포트홀 실패와 같은 실패 모드다. 출처: arXiv:2303.01420</a:t>
            </a:r>
          </a:p>
        </p:txBody>
      </p:sp>
      <p:sp>
        <p:nvSpPr>
          <p:cNvPr id="9" name="TextBox 8"/>
          <p:cNvSpPr txBox="1"/>
          <p:nvPr/>
        </p:nvSpPr>
        <p:spPr>
          <a:xfrm>
            <a:off x="609600" y="304909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논문은 두 대안 대신 세 번째 길을 택했다.</a:t>
            </a:r>
            <a:r>
              <a:rPr sz="1050" b="0" i="0">
                <a:solidFill>
                  <a:srgbClr val="16213A"/>
                </a:solidFill>
                <a:latin typeface="Arial"/>
                <a:ea typeface="Malgun Gothic"/>
                <a:cs typeface="Malgun Gothic"/>
              </a:rPr>
              <a:t> 두 대안은 가려진 구멍을 (i) </a:t>
            </a:r>
            <a:r>
              <a:rPr sz="1050" b="0" i="1">
                <a:solidFill>
                  <a:srgbClr val="16213A"/>
                </a:solidFill>
                <a:latin typeface="Arial"/>
                <a:ea typeface="Malgun Gothic"/>
                <a:cs typeface="Malgun Gothic"/>
              </a:rPr>
              <a:t>"image inpainting algorithm"</a:t>
            </a:r>
            <a:r>
              <a:rPr sz="1050" b="0" i="0">
                <a:solidFill>
                  <a:srgbClr val="16213A"/>
                </a:solidFill>
                <a:latin typeface="Arial"/>
                <a:ea typeface="Malgun Gothic"/>
                <a:cs typeface="Malgun Gothic"/>
              </a:rPr>
              <a:t>으로 메우거나 (ii) </a:t>
            </a:r>
            <a:r>
              <a:rPr sz="1050" b="0" i="1">
                <a:solidFill>
                  <a:srgbClr val="16213A"/>
                </a:solidFill>
                <a:latin typeface="Arial"/>
                <a:ea typeface="Malgun Gothic"/>
                <a:cs typeface="Malgun Gothic"/>
              </a:rPr>
              <a:t>"considering them untraversable"</a:t>
            </a:r>
            <a:r>
              <a:rPr sz="1050" b="0" i="0">
                <a:solidFill>
                  <a:srgbClr val="16213A"/>
                </a:solidFill>
                <a:latin typeface="Arial"/>
                <a:ea typeface="Malgun Gothic"/>
                <a:cs typeface="Malgun Gothic"/>
              </a:rPr>
              <a:t>로 막는 것이다(§2.4.1). 전부 막으면 가려진 칸이 아예 빠져 Planner가 지나갈 길을 못 찾는다(Fig. 11b). 그래서 </a:t>
            </a:r>
            <a:r>
              <a:rPr sz="1050" b="1" i="0">
                <a:solidFill>
                  <a:srgbClr val="16213A"/>
                </a:solidFill>
                <a:latin typeface="Arial"/>
                <a:ea typeface="Malgun Gothic"/>
                <a:cs typeface="Malgun Gothic"/>
              </a:rPr>
              <a:t>가려진 칸을 "가상 표면"으로 살려두되, 센서 높이보다 위에 있을 때만 계획에 쓴다.</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"We can therefore not rely on the motion cost network to keep a safe distance from negative obstacles."</a:t>
            </a:r>
            <a:r>
              <a:rPr sz="1050" b="0" i="0">
                <a:solidFill>
                  <a:srgbClr val="16213A"/>
                </a:solidFill>
                <a:latin typeface="Arial"/>
                <a:ea typeface="Malgun Gothic"/>
                <a:cs typeface="Malgun Gothic"/>
              </a:rPr>
              <a:t>는 이 선택의 이유가 아니라, 낙차 둘레에 안전 여유(Fig. 6의 ②)를 따로 두는 이유다(§2.4.2). 공개 코드의 기본값 </a:t>
            </a:r>
            <a:r>
              <a:rPr sz="1050" b="0" i="0">
                <a:solidFill>
                  <a:srgbClr val="16213A"/>
                </a:solidFill>
                <a:latin typeface="Consolas"/>
                <a:ea typeface="Malgun Gothic"/>
                <a:cs typeface="Malgun Gothic"/>
              </a:rPr>
              <a:t>unknown_space_untraversable: true</a:t>
            </a:r>
            <a:r>
              <a:rPr sz="1050" b="0" i="0">
                <a:solidFill>
                  <a:srgbClr val="16213A"/>
                </a:solidFill>
                <a:latin typeface="Arial"/>
                <a:ea typeface="Malgun Gothic"/>
                <a:cs typeface="Malgun Gothic"/>
              </a:rPr>
              <a:t>는 virtual surface로 살리지 못한 칸을 여전히 비주행으로 둔다.</a:t>
            </a:r>
          </a:p>
        </p:txBody>
      </p:sp>
      <p:sp>
        <p:nvSpPr>
          <p:cNvPr id="10" name="TextBox 9"/>
          <p:cNvSpPr txBox="1"/>
          <p:nvPr/>
        </p:nvSpPr>
        <p:spPr>
          <a:xfrm>
            <a:off x="609600" y="400397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센서 높이인가.</a:t>
            </a:r>
            <a:r>
              <a:rPr sz="1050" b="0" i="0">
                <a:solidFill>
                  <a:srgbClr val="16213A"/>
                </a:solidFill>
                <a:latin typeface="Arial"/>
                <a:ea typeface="Malgun Gothic"/>
                <a:cs typeface="Malgun Gothic"/>
              </a:rPr>
              <a:t> 광선이 센서 높이 아래에서 상한을 만들었다면, 그 광선은 </a:t>
            </a:r>
            <a:r>
              <a:rPr sz="1050" b="1" i="0">
                <a:solidFill>
                  <a:srgbClr val="16213A"/>
                </a:solidFill>
                <a:latin typeface="Arial"/>
                <a:ea typeface="Malgun Gothic"/>
                <a:cs typeface="Malgun Gothic"/>
              </a:rPr>
              <a:t>아래를 향해</a:t>
            </a:r>
            <a:r>
              <a:rPr sz="1050" b="0" i="0">
                <a:solidFill>
                  <a:srgbClr val="16213A"/>
                </a:solidFill>
                <a:latin typeface="Arial"/>
                <a:ea typeface="Malgun Gothic"/>
                <a:cs typeface="Malgun Gothic"/>
              </a:rPr>
              <a:t> 내려간 것이므로 지형이 실제로 꺼져 있을 수 있다. 반대로 상한이 센서 높이보다 위라면 광선은 거의 수평이라 </a:t>
            </a:r>
            <a:r>
              <a:rPr sz="1050" b="1" i="0">
                <a:solidFill>
                  <a:srgbClr val="16213A"/>
                </a:solidFill>
                <a:latin typeface="Arial"/>
                <a:ea typeface="Malgun Gothic"/>
                <a:cs typeface="Malgun Gothic"/>
              </a:rPr>
              <a:t>평지를 스친 것</a:t>
            </a:r>
            <a:r>
              <a:rPr sz="1050" b="0" i="0">
                <a:solidFill>
                  <a:srgbClr val="16213A"/>
                </a:solidFill>
                <a:latin typeface="Arial"/>
                <a:ea typeface="Malgun Gothic"/>
                <a:cs typeface="Malgun Gothic"/>
              </a:rPr>
              <a:t>이다. travplan의 </a:t>
            </a:r>
            <a:r>
              <a:rPr sz="1050" b="0" i="0">
                <a:solidFill>
                  <a:srgbClr val="16213A"/>
                </a:solidFill>
                <a:latin typeface="Consolas"/>
                <a:ea typeface="Malgun Gothic"/>
                <a:cs typeface="Malgun Gothic"/>
              </a:rPr>
              <a:t>--shadow-depth 0.10</a:t>
            </a:r>
            <a:r>
              <a:rPr sz="1050" b="0" i="0">
                <a:solidFill>
                  <a:srgbClr val="16213A"/>
                </a:solidFill>
                <a:latin typeface="Arial"/>
                <a:ea typeface="Malgun Gothic"/>
                <a:cs typeface="Malgun Gothic"/>
              </a:rPr>
              <a:t>은 이 판정을 고정 상수로 대신하고 있다 — </a:t>
            </a:r>
            <a:r>
              <a:rPr sz="1050" b="1" i="0">
                <a:solidFill>
                  <a:srgbClr val="C2410C"/>
                </a:solidFill>
                <a:latin typeface="Arial"/>
                <a:ea typeface="Malgun Gothic"/>
                <a:cs typeface="Malgun Gothic"/>
              </a:rPr>
              <a:t>센서 기하로 정하는 쪽이 로봇·센서가 바뀌어도 성립한다.</a:t>
            </a:r>
          </a:p>
        </p:txBody>
      </p:sp>
      <p:sp>
        <p:nvSpPr>
          <p:cNvPr id="11" name="TextBox 10"/>
          <p:cNvSpPr txBox="1"/>
          <p:nvPr/>
        </p:nvSpPr>
        <p:spPr>
          <a:xfrm>
            <a:off x="609600" y="452586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 한계.</a:t>
            </a:r>
            <a:r>
              <a:rPr sz="1050" b="0" i="0">
                <a:solidFill>
                  <a:srgbClr val="16213A"/>
                </a:solidFill>
                <a:latin typeface="Arial"/>
                <a:ea typeface="Malgun Gothic"/>
                <a:cs typeface="Malgun Gothic"/>
              </a:rPr>
              <a:t> 재계획이 0.5 Hz이고 ROS 1 Noetic 전용이며 2023-08 이후 정지했다. </a:t>
            </a:r>
            <a:r>
              <a:rPr sz="1050" b="1" i="0">
                <a:solidFill>
                  <a:srgbClr val="16213A"/>
                </a:solidFill>
                <a:latin typeface="Arial"/>
                <a:ea typeface="Malgun Gothic"/>
                <a:cs typeface="Malgun Gothic"/>
              </a:rPr>
              <a:t>규칙만 가져온다.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35 / 359</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CSIRO </a:t>
            </a:r>
            <a:r>
              <a:rPr sz="1050" b="1" i="0">
                <a:solidFill>
                  <a:srgbClr val="16213A"/>
                </a:solidFill>
                <a:latin typeface="Consolas"/>
                <a:ea typeface="Malgun Gothic"/>
                <a:cs typeface="Malgun Gothic"/>
              </a:rPr>
              <a:t>ohm</a:t>
            </a:r>
            <a:r>
              <a:rPr sz="1050" b="1" i="0">
                <a:solidFill>
                  <a:srgbClr val="16213A"/>
                </a:solidFill>
                <a:latin typeface="Arial"/>
                <a:ea typeface="Malgun Gothic"/>
                <a:cs typeface="Malgun Gothic"/>
              </a:rPr>
              <a:t>은 미관측을 열거형 상태로 만들었고 SubT에서 실전 검증됐다.</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csiro-robotics/ohm</a:t>
            </a:r>
            <a:r>
              <a:rPr sz="1050" b="0" i="0">
                <a:solidFill>
                  <a:srgbClr val="16213A"/>
                </a:solidFill>
                <a:latin typeface="Arial"/>
                <a:ea typeface="Malgun Gothic"/>
                <a:cs typeface="Malgun Gothic"/>
              </a:rPr>
              <a:t> (★193, </a:t>
            </a:r>
            <a:r>
              <a:rPr sz="1050" b="1" i="0">
                <a:solidFill>
                  <a:srgbClr val="16213A"/>
                </a:solidFill>
                <a:latin typeface="Arial"/>
                <a:ea typeface="Malgun Gothic"/>
                <a:cs typeface="Malgun Gothic"/>
              </a:rPr>
              <a:t>BSD-3-Clause</a:t>
            </a:r>
            <a:r>
              <a:rPr sz="1050" b="0" i="0">
                <a:solidFill>
                  <a:srgbClr val="16213A"/>
                </a:solidFill>
                <a:latin typeface="Arial"/>
                <a:ea typeface="Malgun Gothic"/>
                <a:cs typeface="Malgun Gothic"/>
              </a:rPr>
              <a:t>, RA-L 2022, </a:t>
            </a:r>
            <a:r>
              <a:rPr sz="1050" b="0" i="0">
                <a:solidFill>
                  <a:srgbClr val="1D4ED8"/>
                </a:solidFill>
                <a:latin typeface="Arial"/>
                <a:ea typeface="Malgun Gothic"/>
                <a:cs typeface="Malgun Gothic"/>
                <a:hlinkClick r:id="rId4"/>
              </a:rPr>
              <a:t>arXiv:2206.06079</a:t>
            </a:r>
            <a:r>
              <a:rPr sz="1050" b="0" i="0">
                <a:solidFill>
                  <a:srgbClr val="16213A"/>
                </a:solidFill>
                <a:latin typeface="Arial"/>
                <a:ea typeface="Malgun Gothic"/>
                <a:cs typeface="Malgun Gothic"/>
              </a:rPr>
              <a:t>, DARPA SubT 결선 2위). </a:t>
            </a:r>
            <a:r>
              <a:rPr sz="1050" b="0" i="0">
                <a:solidFill>
                  <a:srgbClr val="16213A"/>
                </a:solidFill>
                <a:latin typeface="Consolas"/>
                <a:ea typeface="Malgun Gothic"/>
                <a:cs typeface="Malgun Gothic"/>
              </a:rPr>
              <a:t>ohmheightmap/HeightmapVoxelType.h</a:t>
            </a:r>
            <a:r>
              <a:rPr sz="1050" b="0" i="0">
                <a:solidFill>
                  <a:srgbClr val="16213A"/>
                </a:solidFill>
                <a:latin typeface="Arial"/>
                <a:ea typeface="Malgun Gothic"/>
                <a:cs typeface="Malgun Gothic"/>
              </a:rPr>
              <a:t>가 </a:t>
            </a:r>
            <a:r>
              <a:rPr sz="1050" b="1" i="0">
                <a:solidFill>
                  <a:srgbClr val="C2410C"/>
                </a:solidFill>
                <a:latin typeface="Arial"/>
                <a:ea typeface="Malgun Gothic"/>
                <a:cs typeface="Malgun Gothic"/>
              </a:rPr>
              <a:t>여섯 상태를 한 레이어에 부호로 인코딩한다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kUnknown</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kVacant</a:t>
            </a:r>
            <a:r>
              <a:rPr sz="1050" b="0" i="0">
                <a:solidFill>
                  <a:srgbClr val="16213A"/>
                </a:solidFill>
                <a:latin typeface="Arial"/>
                <a:ea typeface="Malgun Gothic"/>
                <a:cs typeface="Malgun Gothic"/>
              </a:rPr>
              <a:t>(시작 위치에서 아직 관측 불가) / </a:t>
            </a:r>
            <a:r>
              <a:rPr sz="1050" b="0" i="0">
                <a:solidFill>
                  <a:srgbClr val="16213A"/>
                </a:solidFill>
                <a:latin typeface="Consolas"/>
                <a:ea typeface="Malgun Gothic"/>
                <a:cs typeface="Malgun Gothic"/>
              </a:rPr>
              <a:t>kSurface</a:t>
            </a:r>
            <a:r>
              <a:rPr sz="1050" b="0" i="0">
                <a:solidFill>
                  <a:srgbClr val="16213A"/>
                </a:solidFill>
                <a:latin typeface="Arial"/>
                <a:ea typeface="Malgun Gothic"/>
                <a:cs typeface="Malgun Gothic"/>
              </a:rPr>
              <a:t>(=1.0) / </a:t>
            </a:r>
            <a:r>
              <a:rPr sz="1050" b="0" i="0">
                <a:solidFill>
                  <a:srgbClr val="16213A"/>
                </a:solidFill>
                <a:latin typeface="Consolas"/>
                <a:ea typeface="Malgun Gothic"/>
                <a:cs typeface="Malgun Gothic"/>
              </a:rPr>
              <a:t>kVirtualSurface</a:t>
            </a:r>
            <a:r>
              <a:rPr sz="1050" b="0" i="0">
                <a:solidFill>
                  <a:srgbClr val="16213A"/>
                </a:solidFill>
                <a:latin typeface="Arial"/>
                <a:ea typeface="Malgun Gothic"/>
                <a:cs typeface="Malgun Gothic"/>
              </a:rPr>
              <a:t>(=−1.0, </a:t>
            </a:r>
            <a:r>
              <a:rPr sz="1050" b="0" i="1">
                <a:solidFill>
                  <a:srgbClr val="16213A"/>
                </a:solidFill>
                <a:latin typeface="Arial"/>
                <a:ea typeface="Malgun Gothic"/>
                <a:cs typeface="Malgun Gothic"/>
              </a:rPr>
              <a:t>"free voxel with an uncertain voxel below it"</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kInferredFatal</a:t>
            </a:r>
            <a:r>
              <a:rPr sz="1050" b="0" i="0">
                <a:solidFill>
                  <a:srgbClr val="16213A"/>
                </a:solidFill>
                <a:latin typeface="Arial"/>
                <a:ea typeface="Malgun Gothic"/>
                <a:cs typeface="Malgun Gothic"/>
              </a:rPr>
              <a:t>(로봇 근처에 뜬 virtual surface) / </a:t>
            </a:r>
            <a:r>
              <a:rPr sz="1050" b="0" i="0">
                <a:solidFill>
                  <a:srgbClr val="16213A"/>
                </a:solidFill>
                <a:latin typeface="Consolas"/>
                <a:ea typeface="Malgun Gothic"/>
                <a:cs typeface="Malgun Gothic"/>
              </a:rPr>
              <a:t>kFatal</a:t>
            </a:r>
            <a:r>
              <a:rPr sz="1050" b="0" i="0">
                <a:solidFill>
                  <a:srgbClr val="16213A"/>
                </a:solidFill>
                <a:latin typeface="Arial"/>
                <a:ea typeface="Malgun Gothic"/>
                <a:cs typeface="Malgun Gothic"/>
              </a:rPr>
              <a:t>. 손잡이가 travplan이 필요한 것과 겹친다 — </a:t>
            </a:r>
            <a:r>
              <a:rPr sz="1050" b="0" i="0">
                <a:solidFill>
                  <a:srgbClr val="16213A"/>
                </a:solidFill>
                <a:latin typeface="Consolas"/>
                <a:ea typeface="Malgun Gothic"/>
                <a:cs typeface="Malgun Gothic"/>
              </a:rPr>
              <a:t>virtualSurfaceFilterThreshold()</a:t>
            </a:r>
            <a:r>
              <a:rPr sz="1050" b="0" i="0">
                <a:solidFill>
                  <a:srgbClr val="16213A"/>
                </a:solidFill>
                <a:latin typeface="Arial"/>
                <a:ea typeface="Malgun Gothic"/>
                <a:cs typeface="Malgun Gothic"/>
              </a:rPr>
              <a:t>가 </a:t>
            </a:r>
            <a:r>
              <a:rPr sz="1050" b="1" i="0">
                <a:solidFill>
                  <a:srgbClr val="16213A"/>
                </a:solidFill>
                <a:latin typeface="Arial"/>
                <a:ea typeface="Malgun Gothic"/>
                <a:cs typeface="Malgun Gothic"/>
              </a:rPr>
              <a:t>TP-0048의 오탐 손잡이 그 자체</a:t>
            </a:r>
            <a:r>
              <a:rPr sz="1050" b="0" i="0">
                <a:solidFill>
                  <a:srgbClr val="16213A"/>
                </a:solidFill>
                <a:latin typeface="Arial"/>
                <a:ea typeface="Malgun Gothic"/>
                <a:cs typeface="Malgun Gothic"/>
              </a:rPr>
              <a:t>이고, </a:t>
            </a:r>
            <a:r>
              <a:rPr sz="1050" b="0" i="0">
                <a:solidFill>
                  <a:srgbClr val="16213A"/>
                </a:solidFill>
                <a:latin typeface="Consolas"/>
                <a:ea typeface="Malgun Gothic"/>
                <a:cs typeface="Malgun Gothic"/>
              </a:rPr>
              <a:t>setPromoteVirtualBelow()</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"better ground results where the ground cannot be properly observed"</a:t>
            </a:r>
            <a:r>
              <a:rPr sz="1050" b="0" i="0">
                <a:solidFill>
                  <a:srgbClr val="16213A"/>
                </a:solidFill>
                <a:latin typeface="Arial"/>
                <a:ea typeface="Malgun Gothic"/>
                <a:cs typeface="Malgun Gothic"/>
              </a:rPr>
              <a:t>를 위해 아래쪽 virtual surface를 씨앗으로 우대한다. 실전 설정이 travplan과 거의 같다: </a:t>
            </a:r>
            <a:r>
              <a:rPr sz="1050" b="1" i="0">
                <a:solidFill>
                  <a:srgbClr val="16213A"/>
                </a:solidFill>
                <a:latin typeface="Arial"/>
                <a:ea typeface="Malgun Gothic"/>
                <a:cs typeface="Malgun Gothic"/>
              </a:rPr>
              <a:t>20 × 20 × 20 m, 0.1 m voxel, 높이 지도 약 5 Hz, Intel NUC8i7BEH.</a:t>
            </a:r>
            <a:r>
              <a:rPr sz="1050" b="0" i="0">
                <a:solidFill>
                  <a:srgbClr val="16213A"/>
                </a:solidFill>
                <a:latin typeface="Arial"/>
                <a:ea typeface="Malgun Gothic"/>
                <a:cs typeface="Malgun Gothic"/>
              </a:rPr>
              <a:t> 속도는 Octomap·Voxblox 대비 GPU로 한 자릿수 앞선다(CUDA 2.721 vs Octomap 0.174 ×10⁶ rays/s).</a:t>
            </a:r>
          </a:p>
        </p:txBody>
      </p:sp>
      <p:pic>
        <p:nvPicPr>
          <p:cNvPr id="6" name="Picture 5" descr="image.jpg"/>
          <p:cNvPicPr>
            <a:picLocks noChangeAspect="1"/>
          </p:cNvPicPr>
          <p:nvPr/>
        </p:nvPicPr>
        <p:blipFill>
          <a:blip r:embed="rId5"/>
          <a:stretch>
            <a:fillRect/>
          </a:stretch>
        </p:blipFill>
        <p:spPr>
          <a:xfrm>
            <a:off x="609600" y="2632472"/>
            <a:ext cx="3556000" cy="1733550"/>
          </a:xfrm>
          <a:prstGeom prst="rect">
            <a:avLst/>
          </a:prstGeom>
        </p:spPr>
      </p:pic>
      <p:sp>
        <p:nvSpPr>
          <p:cNvPr id="7" name="TextBox 6"/>
          <p:cNvSpPr txBox="1"/>
          <p:nvPr/>
        </p:nvSpPr>
        <p:spPr>
          <a:xfrm>
            <a:off x="609600" y="4404122"/>
            <a:ext cx="3556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OHM: 입력 점군(Cave 데이터셋). 출처: arXiv:2206.06079</a:t>
            </a:r>
          </a:p>
        </p:txBody>
      </p:sp>
      <p:pic>
        <p:nvPicPr>
          <p:cNvPr id="8" name="Picture 7" descr="image.jpg"/>
          <p:cNvPicPr>
            <a:picLocks noChangeAspect="1"/>
          </p:cNvPicPr>
          <p:nvPr/>
        </p:nvPicPr>
        <p:blipFill>
          <a:blip r:embed="rId6"/>
          <a:stretch>
            <a:fillRect/>
          </a:stretch>
        </p:blipFill>
        <p:spPr>
          <a:xfrm>
            <a:off x="4318000" y="2632472"/>
            <a:ext cx="3556000" cy="1733550"/>
          </a:xfrm>
          <a:prstGeom prst="rect">
            <a:avLst/>
          </a:prstGeom>
        </p:spPr>
      </p:pic>
      <p:sp>
        <p:nvSpPr>
          <p:cNvPr id="9" name="TextBox 8"/>
          <p:cNvSpPr txBox="1"/>
          <p:nvPr/>
        </p:nvSpPr>
        <p:spPr>
          <a:xfrm>
            <a:off x="4318000" y="4404122"/>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OHM: 점유 지도. 미관측이 "빈 곳"이 아니라 별도 상태로 남는다. 출처: arXiv:2206.06079</a:t>
            </a:r>
          </a:p>
        </p:txBody>
      </p:sp>
      <p:pic>
        <p:nvPicPr>
          <p:cNvPr id="10" name="Picture 9" descr="image.jpg"/>
          <p:cNvPicPr>
            <a:picLocks noChangeAspect="1"/>
          </p:cNvPicPr>
          <p:nvPr/>
        </p:nvPicPr>
        <p:blipFill>
          <a:blip r:embed="rId7"/>
          <a:stretch>
            <a:fillRect/>
          </a:stretch>
        </p:blipFill>
        <p:spPr>
          <a:xfrm>
            <a:off x="8026400" y="2632472"/>
            <a:ext cx="3556000" cy="1733550"/>
          </a:xfrm>
          <a:prstGeom prst="rect">
            <a:avLst/>
          </a:prstGeom>
        </p:spPr>
      </p:pic>
      <p:sp>
        <p:nvSpPr>
          <p:cNvPr id="11" name="TextBox 10"/>
          <p:cNvSpPr txBox="1"/>
          <p:nvPr/>
        </p:nvSpPr>
        <p:spPr>
          <a:xfrm>
            <a:off x="8026400" y="4404122"/>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OHM: NDT-OM. 칸마다 정규분포를 들어 표면 방향을 표현한다. 출처: arXiv:2206.06079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36 / 359</a:t>
            </a:r>
          </a:p>
        </p:txBody>
      </p:sp>
      <p:pic>
        <p:nvPicPr>
          <p:cNvPr id="5" name="Picture 4" descr="image.jpg"/>
          <p:cNvPicPr>
            <a:picLocks noChangeAspect="1"/>
          </p:cNvPicPr>
          <p:nvPr/>
        </p:nvPicPr>
        <p:blipFill>
          <a:blip r:embed="rId3"/>
          <a:stretch>
            <a:fillRect/>
          </a:stretch>
        </p:blipFill>
        <p:spPr>
          <a:xfrm>
            <a:off x="3038475" y="1244600"/>
            <a:ext cx="6115050" cy="2984500"/>
          </a:xfrm>
          <a:prstGeom prst="rect">
            <a:avLst/>
          </a:prstGeom>
        </p:spPr>
      </p:pic>
      <p:sp>
        <p:nvSpPr>
          <p:cNvPr id="6" name="TextBox 5"/>
          <p:cNvSpPr txBox="1"/>
          <p:nvPr/>
        </p:nvSpPr>
        <p:spPr>
          <a:xfrm>
            <a:off x="3038475" y="4267200"/>
            <a:ext cx="611505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OHM: 같은 자료구조로 TSDF도 낸다. 출처: arXiv:2206.06079</a:t>
            </a:r>
          </a:p>
        </p:txBody>
      </p:sp>
      <p:sp>
        <p:nvSpPr>
          <p:cNvPr id="7" name="TextBox 6"/>
          <p:cNvSpPr txBox="1"/>
          <p:nvPr/>
        </p:nvSpPr>
        <p:spPr>
          <a:xfrm>
            <a:off x="609600" y="449828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음의 장애물 짝 논문이 이 계열 </a:t>
            </a:r>
            <a:r>
              <a:rPr sz="1050" b="1" i="0">
                <a:solidFill>
                  <a:srgbClr val="16213A"/>
                </a:solidFill>
                <a:latin typeface="Arial"/>
                <a:ea typeface="Malgun Gothic"/>
                <a:cs typeface="Malgun Gothic"/>
              </a:rPr>
              <a:t>선행 연구</a:t>
            </a:r>
            <a:r>
              <a:rPr sz="1050" b="0" i="0">
                <a:solidFill>
                  <a:srgbClr val="16213A"/>
                </a:solidFill>
                <a:latin typeface="Arial"/>
                <a:ea typeface="Malgun Gothic"/>
                <a:cs typeface="Malgun Gothic"/>
              </a:rPr>
              <a:t>다 — Hines 외, </a:t>
            </a:r>
            <a:r>
              <a:rPr sz="1050" b="0" i="1">
                <a:solidFill>
                  <a:srgbClr val="16213A"/>
                </a:solidFill>
                <a:latin typeface="Arial"/>
                <a:ea typeface="Malgun Gothic"/>
                <a:cs typeface="Malgun Gothic"/>
              </a:rPr>
              <a:t>Virtual Surfaces and Attitude Aware Planning and Behaviours for Negative Obstacle Navigation</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arXiv:2010.16018</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"one of pioneer works to explicitly and simultaneously couple mapping, planning and reactive components in dealing with negative obstacles."</a:t>
            </a:r>
            <a:r>
              <a:rPr sz="1050" b="0" i="0">
                <a:solidFill>
                  <a:srgbClr val="16213A"/>
                </a:solidFill>
                <a:latin typeface="Arial"/>
                <a:ea typeface="Malgun Gothic"/>
                <a:cs typeface="Malgun Gothic"/>
              </a:rPr>
              <a:t> — </a:t>
            </a:r>
            <a:r>
              <a:rPr sz="1050" b="1" i="0">
                <a:solidFill>
                  <a:srgbClr val="C2410C"/>
                </a:solidFill>
                <a:latin typeface="Arial"/>
                <a:ea typeface="Malgun Gothic"/>
                <a:cs typeface="Malgun Gothic"/>
              </a:rPr>
              <a:t>TP-0031/0044/0047 전체의 선행 문헌이다.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37 / 359</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④ 같은 로봇 종류·같은 센서 기하·같은 실패 모드를 다룬 논문이 하나 있다.</a:t>
            </a:r>
            <a:r>
              <a:rPr sz="1050" b="0" i="0">
                <a:solidFill>
                  <a:srgbClr val="16213A"/>
                </a:solidFill>
                <a:latin typeface="Arial"/>
                <a:ea typeface="Malgun Gothic"/>
                <a:cs typeface="Malgun Gothic"/>
              </a:rPr>
              <a:t> Mozzarelli 외(Politecnico di Milano), </a:t>
            </a:r>
            <a:r>
              <a:rPr sz="1050" b="0" i="1">
                <a:solidFill>
                  <a:srgbClr val="16213A"/>
                </a:solidFill>
                <a:latin typeface="Arial"/>
                <a:ea typeface="Malgun Gothic"/>
                <a:cs typeface="Malgun Gothic"/>
              </a:rPr>
              <a:t>Automatic Navigation Map Generation for Mobile Robots in Urban Environments</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arXiv:2403.13431</a:t>
            </a:r>
            <a:r>
              <a:rPr sz="1050" b="0" i="0">
                <a:solidFill>
                  <a:srgbClr val="16213A"/>
                </a:solidFill>
                <a:latin typeface="Arial"/>
                <a:ea typeface="Malgun Gothic"/>
                <a:cs typeface="Malgun Gothic"/>
              </a:rPr>
              <a:t>, 코드 없음). </a:t>
            </a:r>
            <a:r>
              <a:rPr sz="1050" b="1" i="0">
                <a:solidFill>
                  <a:srgbClr val="C2410C"/>
                </a:solidFill>
                <a:latin typeface="Arial"/>
                <a:ea typeface="Malgun Gothic"/>
                <a:cs typeface="Malgun Gothic"/>
              </a:rPr>
              <a:t>보도를 달리는 라스트마일 배달로봇</a:t>
            </a:r>
            <a:r>
              <a:rPr sz="1050" b="1" i="0">
                <a:solidFill>
                  <a:srgbClr val="C2410C"/>
                </a:solidFill>
                <a:latin typeface="Arial"/>
                <a:ea typeface="Malgun Gothic"/>
                <a:cs typeface="Malgun Gothic"/>
              </a:rPr>
              <a:t>을 명시 대상으로 하고</a:t>
            </a:r>
            <a:r>
              <a:rPr sz="1050" b="0" i="0">
                <a:solidFill>
                  <a:srgbClr val="16213A"/>
                </a:solidFill>
                <a:latin typeface="Arial"/>
                <a:ea typeface="Malgun Gothic"/>
                <a:cs typeface="Malgun Gothic"/>
              </a:rPr>
              <a:t>, 플랫폼은 평면 장착 Robosense R16 한 대를 단 2륜 도립진자(Yape)다. 문제를 travplan과 똑같이 규정한다 — 음의 장애물의 수직면은 </a:t>
            </a:r>
            <a:r>
              <a:rPr sz="1050" b="1" i="0">
                <a:solidFill>
                  <a:srgbClr val="16213A"/>
                </a:solidFill>
                <a:latin typeface="Arial"/>
                <a:ea typeface="Malgun Gothic"/>
                <a:cs typeface="Malgun Gothic"/>
              </a:rPr>
              <a:t>직접 관측되지 않고 반사 없는 그림자만 남는다.</a:t>
            </a:r>
            <a:r>
              <a:rPr sz="1050" b="0" i="0">
                <a:solidFill>
                  <a:srgbClr val="16213A"/>
                </a:solidFill>
                <a:latin typeface="Arial"/>
                <a:ea typeface="Malgun Gothic"/>
                <a:cs typeface="Malgun Gothic"/>
              </a:rPr>
              <a:t> 해법이 </a:t>
            </a:r>
            <a:r>
              <a:rPr sz="1050" b="0" i="0">
                <a:solidFill>
                  <a:srgbClr val="16213A"/>
                </a:solidFill>
                <a:latin typeface="Consolas"/>
                <a:ea typeface="Malgun Gothic"/>
                <a:cs typeface="Malgun Gothic"/>
              </a:rPr>
              <a:t>min_filter</a:t>
            </a:r>
            <a:r>
              <a:rPr sz="1050" b="0" i="0">
                <a:solidFill>
                  <a:srgbClr val="16213A"/>
                </a:solidFill>
                <a:latin typeface="Arial"/>
                <a:ea typeface="Malgun Gothic"/>
                <a:cs typeface="Malgun Gothic"/>
              </a:rPr>
              <a:t>와 </a:t>
            </a:r>
            <a:r>
              <a:rPr sz="1050" b="1" i="0">
                <a:solidFill>
                  <a:srgbClr val="16213A"/>
                </a:solidFill>
                <a:latin typeface="Arial"/>
                <a:ea typeface="Malgun Gothic"/>
                <a:cs typeface="Malgun Gothic"/>
              </a:rPr>
              <a:t>같은 원시 연산을 반대 목적으로 쓴다</a:t>
            </a:r>
            <a:r>
              <a:rPr sz="1050" b="0" i="0">
                <a:solidFill>
                  <a:srgbClr val="16213A"/>
                </a:solidFill>
                <a:latin typeface="Arial"/>
                <a:ea typeface="Malgun Gothic"/>
                <a:cs typeface="Malgun Gothic"/>
              </a:rPr>
              <a:t>: 미관측 칸에 이웃의 </a:t>
            </a:r>
            <a:r>
              <a:rPr sz="1050" b="1" i="0">
                <a:solidFill>
                  <a:srgbClr val="16213A"/>
                </a:solidFill>
                <a:latin typeface="Arial"/>
                <a:ea typeface="Malgun Gothic"/>
                <a:cs typeface="Malgun Gothic"/>
              </a:rPr>
              <a:t>최소 고도</a:t>
            </a:r>
            <a:r>
              <a:rPr sz="1050" b="0" i="0">
                <a:solidFill>
                  <a:srgbClr val="16213A"/>
                </a:solidFill>
                <a:latin typeface="Arial"/>
                <a:ea typeface="Malgun Gothic"/>
                <a:cs typeface="Malgun Gothic"/>
              </a:rPr>
              <a:t>를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번 재귀 전파해 놓고, 그렇게 </a:t>
            </a:r>
            <a:r>
              <a:rPr sz="1050" b="1" i="0">
                <a:solidFill>
                  <a:srgbClr val="16213A"/>
                </a:solidFill>
                <a:latin typeface="Arial"/>
                <a:ea typeface="Malgun Gothic"/>
                <a:cs typeface="Malgun Gothic"/>
              </a:rPr>
              <a:t>인공으로 채운 그림자가 만드는 높이 불연속</a:t>
            </a:r>
            <a:r>
              <a:rPr sz="1050" b="0" i="0">
                <a:solidFill>
                  <a:srgbClr val="16213A"/>
                </a:solidFill>
                <a:latin typeface="Arial"/>
                <a:ea typeface="Malgun Gothic"/>
                <a:cs typeface="Malgun Gothic"/>
              </a:rPr>
              <a:t>을 기존 표면 법선 기반 </a:t>
            </a:r>
            <a:r>
              <a:rPr sz="1050" b="0" i="1">
                <a:solidFill>
                  <a:srgbClr val="16213A"/>
                </a:solidFill>
                <a:latin typeface="Arial"/>
                <a:ea typeface="Malgun Gothic"/>
                <a:cs typeface="Malgun Gothic"/>
              </a:rPr>
              <a:t>양의</a:t>
            </a:r>
            <a:r>
              <a:rPr sz="1050" b="0" i="0">
                <a:solidFill>
                  <a:srgbClr val="16213A"/>
                </a:solidFill>
                <a:latin typeface="Arial"/>
                <a:ea typeface="Malgun Gothic"/>
                <a:cs typeface="Malgun Gothic"/>
              </a:rPr>
              <a:t> 장애물 검출기가 잡게 한다. 오탐은 "인공 장애물이 비주행 지형과 교차하지 않으면 버린다"로 억제한다(traversability 층을 검증자로 씀). </a:t>
            </a:r>
            <a:r>
              <a:rPr sz="1050" b="1" i="0">
                <a:solidFill>
                  <a:srgbClr val="16213A"/>
                </a:solidFill>
                <a:latin typeface="Arial"/>
                <a:ea typeface="Malgun Gothic"/>
                <a:cs typeface="Malgun Gothic"/>
              </a:rPr>
              <a:t>A.2b.6에서 본 </a:t>
            </a:r>
            <a:r>
              <a:rPr sz="1050" b="1" i="0">
                <a:solidFill>
                  <a:srgbClr val="16213A"/>
                </a:solidFill>
                <a:latin typeface="Consolas"/>
                <a:ea typeface="Malgun Gothic"/>
                <a:cs typeface="Malgun Gothic"/>
              </a:rPr>
              <a:t>min_filter</a:t>
            </a:r>
            <a:r>
              <a:rPr sz="1050" b="1" i="0">
                <a:solidFill>
                  <a:srgbClr val="16213A"/>
                </a:solidFill>
                <a:latin typeface="Arial"/>
                <a:ea typeface="Malgun Gothic"/>
                <a:cs typeface="Malgun Gothic"/>
              </a:rPr>
              <a:t>의 폴리티를 뒤집은 것이 트릭의 전부다.</a:t>
            </a:r>
          </a:p>
        </p:txBody>
      </p:sp>
      <p:pic>
        <p:nvPicPr>
          <p:cNvPr id="6" name="Picture 5" descr="image.jpg"/>
          <p:cNvPicPr>
            <a:picLocks noChangeAspect="1"/>
          </p:cNvPicPr>
          <p:nvPr/>
        </p:nvPicPr>
        <p:blipFill>
          <a:blip r:embed="rId4"/>
          <a:stretch>
            <a:fillRect/>
          </a:stretch>
        </p:blipFill>
        <p:spPr>
          <a:xfrm>
            <a:off x="609600" y="2415977"/>
            <a:ext cx="3556000" cy="2514600"/>
          </a:xfrm>
          <a:prstGeom prst="rect">
            <a:avLst/>
          </a:prstGeom>
        </p:spPr>
      </p:pic>
      <p:sp>
        <p:nvSpPr>
          <p:cNvPr id="7" name="TextBox 6"/>
          <p:cNvSpPr txBox="1"/>
          <p:nvPr/>
        </p:nvSpPr>
        <p:spPr>
          <a:xfrm>
            <a:off x="609600" y="4968677"/>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Mozzarelli 외 (Fig. 1): Yape. 보도를 달리는 라스트마일 배달로봇이고 2륜 도립진자에 평면 장착 LiDAR 한 대다. travplan의 대상 로봇과 문제 설정이 가장 가깝다. 출처: arXiv:2403.13431</a:t>
            </a:r>
          </a:p>
        </p:txBody>
      </p:sp>
      <p:pic>
        <p:nvPicPr>
          <p:cNvPr id="8" name="Picture 7" descr="image.jpg"/>
          <p:cNvPicPr>
            <a:picLocks noChangeAspect="1"/>
          </p:cNvPicPr>
          <p:nvPr/>
        </p:nvPicPr>
        <p:blipFill>
          <a:blip r:embed="rId5"/>
          <a:stretch>
            <a:fillRect/>
          </a:stretch>
        </p:blipFill>
        <p:spPr>
          <a:xfrm>
            <a:off x="4318000" y="2415977"/>
            <a:ext cx="3556000" cy="1682750"/>
          </a:xfrm>
          <a:prstGeom prst="rect">
            <a:avLst/>
          </a:prstGeom>
        </p:spPr>
      </p:pic>
      <p:sp>
        <p:nvSpPr>
          <p:cNvPr id="9" name="TextBox 8"/>
          <p:cNvSpPr txBox="1"/>
          <p:nvPr/>
        </p:nvSpPr>
        <p:spPr>
          <a:xfrm>
            <a:off x="4318000" y="4136827"/>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Mozzarelli 외: 재귀 확장 전. 낙차의 수직면은 관측되지 않아 반사 없는 그림자만 남는다. 출처: arXiv:2403.13431</a:t>
            </a:r>
          </a:p>
        </p:txBody>
      </p:sp>
      <p:pic>
        <p:nvPicPr>
          <p:cNvPr id="10" name="Picture 9" descr="image.jpg"/>
          <p:cNvPicPr>
            <a:picLocks noChangeAspect="1"/>
          </p:cNvPicPr>
          <p:nvPr/>
        </p:nvPicPr>
        <p:blipFill>
          <a:blip r:embed="rId6"/>
          <a:stretch>
            <a:fillRect/>
          </a:stretch>
        </p:blipFill>
        <p:spPr>
          <a:xfrm>
            <a:off x="8026400" y="2415977"/>
            <a:ext cx="3556000" cy="1638300"/>
          </a:xfrm>
          <a:prstGeom prst="rect">
            <a:avLst/>
          </a:prstGeom>
        </p:spPr>
      </p:pic>
      <p:sp>
        <p:nvSpPr>
          <p:cNvPr id="11" name="TextBox 10"/>
          <p:cNvSpPr txBox="1"/>
          <p:nvPr/>
        </p:nvSpPr>
        <p:spPr>
          <a:xfrm>
            <a:off x="8026400" y="4092377"/>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Mozzarelli 외: 재귀 확장 후. 미관측 칸에 이웃의 최소 고도를 전파하자 인공 높이 불연속이 생기고, 기존 양의 장애물 검출기가 그것을 잡는다. 출처: arXiv:2403.13431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자세히: 같은 min 연산이 왜 상류에서는 실패하고 여기서는 성공하는가 — 오탐 억제까지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38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핵심은 min 연산을 무엇에 먹이느냐다.</a:t>
            </a:r>
            <a:r>
              <a:rPr sz="1050" b="0" i="0">
                <a:solidFill>
                  <a:srgbClr val="16213A"/>
                </a:solidFill>
                <a:latin typeface="Arial"/>
                <a:ea typeface="Malgun Gothic"/>
                <a:cs typeface="Malgun Gothic"/>
              </a:rPr>
              <a:t> 두 방법 모두 "미관측 칸 ← 이웃 유효 칸의 최소 고도"라는 </a:t>
            </a:r>
            <a:r>
              <a:rPr sz="1050" b="1" i="0">
                <a:solidFill>
                  <a:srgbClr val="16213A"/>
                </a:solidFill>
                <a:latin typeface="Arial"/>
                <a:ea typeface="Malgun Gothic"/>
                <a:cs typeface="Malgun Gothic"/>
              </a:rPr>
              <a:t>같은 원시 연산</a:t>
            </a:r>
            <a:r>
              <a:rPr sz="1050" b="0" i="0">
                <a:solidFill>
                  <a:srgbClr val="16213A"/>
                </a:solidFill>
                <a:latin typeface="Arial"/>
                <a:ea typeface="Malgun Gothic"/>
                <a:cs typeface="Malgun Gothic"/>
              </a:rPr>
              <a:t>을 쓴다. 갈리는 지점은 그 다음이다.</a:t>
            </a:r>
          </a:p>
        </p:txBody>
      </p:sp>
      <p:graphicFrame>
        <p:nvGraphicFramePr>
          <p:cNvPr id="6" name="Table 5"/>
          <p:cNvGraphicFramePr>
            <a:graphicFrameLocks noGrp="1"/>
          </p:cNvGraphicFramePr>
          <p:nvPr/>
        </p:nvGraphicFramePr>
        <p:xfrm>
          <a:off x="609600" y="1549995"/>
          <a:ext cx="10966450" cy="985440"/>
        </p:xfrm>
        <a:graphic>
          <a:graphicData uri="http://schemas.openxmlformats.org/drawingml/2006/table">
            <a:tbl>
              <a:tblPr firstRow="1" bandRow="1">
                <a:tableStyleId>{5C22544A-7EE6-4342-B048-85BDC9FD1C3A}</a:tableStyleId>
              </a:tblPr>
              <a:tblGrid>
                <a:gridCol w="1863923"/>
                <a:gridCol w="5259487"/>
                <a:gridCol w="3843040"/>
              </a:tblGrid>
              <a:tr h="197088">
                <a:tc>
                  <a:txBody>
                    <a:bodyPr wrap="square"/>
                    <a:lstStyle/>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상류 </a:t>
                      </a:r>
                      <a:r>
                        <a:rPr sz="800" b="1" i="0">
                          <a:solidFill>
                            <a:srgbClr val="F4F1EA"/>
                          </a:solidFill>
                          <a:latin typeface="Consolas"/>
                          <a:ea typeface="Malgun Gothic"/>
                          <a:cs typeface="Malgun Gothic"/>
                        </a:rPr>
                        <a:t>min_filter</a:t>
                      </a:r>
                      <a:r>
                        <a:rPr sz="800" b="1" i="0">
                          <a:solidFill>
                            <a:srgbClr val="F4F1EA"/>
                          </a:solidFill>
                          <a:latin typeface="Arial"/>
                          <a:ea typeface="Malgun Gothic"/>
                          <a:cs typeface="Malgun Gothic"/>
                        </a:rPr>
                        <a:t> (A.2b.6)</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Mozzarelli 외</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min 전파 결과를</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최종 표면으로 쓴다</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불연속 검출기에 먹인다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그래서 포트홀이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테두리 높이로 </a:t>
                      </a:r>
                      <a:r>
                        <a:rPr sz="800" b="1" i="0">
                          <a:solidFill>
                            <a:srgbClr val="16213A"/>
                          </a:solidFill>
                          <a:latin typeface="Arial"/>
                          <a:ea typeface="Malgun Gothic"/>
                          <a:cs typeface="Malgun Gothic"/>
                        </a:rPr>
                        <a:t>메워져 사라진다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인공 단차가 생겨 </a:t>
                      </a:r>
                      <a:r>
                        <a:rPr sz="800" b="1" i="0">
                          <a:solidFill>
                            <a:srgbClr val="16213A"/>
                          </a:solidFill>
                          <a:latin typeface="Arial"/>
                          <a:ea typeface="Malgun Gothic"/>
                          <a:cs typeface="Malgun Gothic"/>
                        </a:rPr>
                        <a:t>장애물로 잡힌다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반복 횟수</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iteration_n</a:t>
                      </a:r>
                      <a:r>
                        <a:rPr sz="800" b="0" i="0">
                          <a:solidFill>
                            <a:srgbClr val="16213A"/>
                          </a:solidFill>
                          <a:latin typeface="Arial"/>
                          <a:ea typeface="Malgun Gothic"/>
                          <a:cs typeface="Malgun Gothic"/>
                        </a:rPr>
                        <a:t>(기본 5, 벤더링본 3 · 상류 </a:t>
                      </a:r>
                      <a:r>
                        <a:rPr sz="800" b="0" i="0">
                          <a:solidFill>
                            <a:srgbClr val="16213A"/>
                          </a:solidFill>
                          <a:latin typeface="Consolas"/>
                          <a:ea typeface="Malgun Gothic"/>
                          <a:cs typeface="Malgun Gothic"/>
                        </a:rPr>
                        <a:t>ros2</a:t>
                      </a:r>
                      <a:r>
                        <a:rPr sz="800" b="0" i="0">
                          <a:solidFill>
                            <a:srgbClr val="16213A"/>
                          </a:solidFill>
                          <a:latin typeface="Arial"/>
                          <a:ea typeface="Malgun Gothic"/>
                          <a:cs typeface="Malgun Gothic"/>
                        </a:rPr>
                        <a:t> 30)</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Nₑₓₚₐₙₛᵢₒₙₛ</a:t>
                      </a:r>
                      <a:r>
                        <a:rPr sz="800" b="0" i="0">
                          <a:solidFill>
                            <a:srgbClr val="16213A"/>
                          </a:solidFill>
                          <a:latin typeface="Arial"/>
                          <a:ea typeface="Malgun Gothic"/>
                          <a:cs typeface="Malgun Gothic"/>
                        </a:rPr>
                        <a:t> 파라미터</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오탐 억제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비주행 지형과 교차하지 않으면 </a:t>
                      </a:r>
                      <a:r>
                        <a:rPr sz="800" b="1" i="0">
                          <a:solidFill>
                            <a:srgbClr val="16213A"/>
                          </a:solidFill>
                          <a:latin typeface="Arial"/>
                          <a:ea typeface="Malgun Gothic"/>
                          <a:cs typeface="Malgun Gothic"/>
                        </a:rPr>
                        <a:t>버린다</a:t>
                      </a:r>
                    </a:p>
                  </a:txBody>
                  <a:tcPr marL="63500" marR="63500" marT="12700" marB="12700">
                    <a:solidFill>
                      <a:srgbClr val="F3F0E8"/>
                    </a:solidFill>
                  </a:tcPr>
                </a:tc>
              </a:tr>
            </a:tbl>
          </a:graphicData>
        </a:graphic>
      </p:graphicFrame>
      <p:pic>
        <p:nvPicPr>
          <p:cNvPr id="7" name="Picture 6" descr="image.jpg"/>
          <p:cNvPicPr>
            <a:picLocks noChangeAspect="1"/>
          </p:cNvPicPr>
          <p:nvPr/>
        </p:nvPicPr>
        <p:blipFill>
          <a:blip r:embed="rId3"/>
          <a:stretch>
            <a:fillRect/>
          </a:stretch>
        </p:blipFill>
        <p:spPr>
          <a:xfrm>
            <a:off x="609600" y="2877046"/>
            <a:ext cx="3556000" cy="1739900"/>
          </a:xfrm>
          <a:prstGeom prst="rect">
            <a:avLst/>
          </a:prstGeom>
        </p:spPr>
      </p:pic>
      <p:sp>
        <p:nvSpPr>
          <p:cNvPr id="8" name="TextBox 7"/>
          <p:cNvSpPr txBox="1"/>
          <p:nvPr/>
        </p:nvSpPr>
        <p:spPr>
          <a:xfrm>
            <a:off x="609600" y="4655046"/>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Mozzarelli 외: 평면 LiDAR 한 대가 만드는 미탐색 영역. 출처: arXiv:2403.13431</a:t>
            </a:r>
          </a:p>
        </p:txBody>
      </p:sp>
      <p:pic>
        <p:nvPicPr>
          <p:cNvPr id="9" name="Picture 8" descr="image.jpg"/>
          <p:cNvPicPr>
            <a:picLocks noChangeAspect="1"/>
          </p:cNvPicPr>
          <p:nvPr/>
        </p:nvPicPr>
        <p:blipFill>
          <a:blip r:embed="rId4"/>
          <a:stretch>
            <a:fillRect/>
          </a:stretch>
        </p:blipFill>
        <p:spPr>
          <a:xfrm>
            <a:off x="4318000" y="2877046"/>
            <a:ext cx="3556000" cy="1739900"/>
          </a:xfrm>
          <a:prstGeom prst="rect">
            <a:avLst/>
          </a:prstGeom>
        </p:spPr>
      </p:pic>
      <p:sp>
        <p:nvSpPr>
          <p:cNvPr id="10" name="TextBox 9"/>
          <p:cNvSpPr txBox="1"/>
          <p:nvPr/>
        </p:nvSpPr>
        <p:spPr>
          <a:xfrm>
            <a:off x="4318000" y="4655046"/>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Mozzarelli 외: 낙차에서는 그림자가 커진다 — 이것이 신호다. travplan의 TP-0031 가림 모델과 같은 기하다. 출처: arXiv:2403.13431</a:t>
            </a:r>
          </a:p>
        </p:txBody>
      </p:sp>
      <p:pic>
        <p:nvPicPr>
          <p:cNvPr id="11" name="Picture 10" descr="image.jpg"/>
          <p:cNvPicPr>
            <a:picLocks noChangeAspect="1"/>
          </p:cNvPicPr>
          <p:nvPr/>
        </p:nvPicPr>
        <p:blipFill>
          <a:blip r:embed="rId5"/>
          <a:stretch>
            <a:fillRect/>
          </a:stretch>
        </p:blipFill>
        <p:spPr>
          <a:xfrm>
            <a:off x="8026400" y="2877046"/>
            <a:ext cx="3556000" cy="2667000"/>
          </a:xfrm>
          <a:prstGeom prst="rect">
            <a:avLst/>
          </a:prstGeom>
        </p:spPr>
      </p:pic>
      <p:sp>
        <p:nvSpPr>
          <p:cNvPr id="12" name="TextBox 11"/>
          <p:cNvSpPr txBox="1"/>
          <p:nvPr/>
        </p:nvSpPr>
        <p:spPr>
          <a:xfrm>
            <a:off x="8026400" y="5582146"/>
            <a:ext cx="3556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Mozzarelli 외: Piazza Leonardo 실측, 재귀 확장 전. 출처: arXiv:2403.13431</a:t>
            </a:r>
          </a:p>
        </p:txBody>
      </p:sp>
      <p:sp>
        <p:nvSpPr>
          <p:cNvPr id="13" name="TextBox 12"/>
          <p:cNvSpPr txBox="1"/>
          <p:nvPr/>
        </p:nvSpPr>
        <p:spPr>
          <a:xfrm>
            <a:off x="609600" y="5813227"/>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3개(문단·식·그림)는 대시보드 리서치 탭의 "자세히: 같은 min 연산이 왜 상류에서는 실패하고 여기서는 성공하는가 — 오탐 억제까지" 토글에 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39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⑤ 가장 단순한 낙차 검정.</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depth_nav_tools</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cliff_detector</a:t>
            </a:r>
            <a:r>
              <a:rPr sz="1050" b="0" i="0">
                <a:solidFill>
                  <a:srgbClr val="16213A"/>
                </a:solidFill>
                <a:latin typeface="Arial"/>
                <a:ea typeface="Malgun Gothic"/>
                <a:cs typeface="Malgun Gothic"/>
              </a:rPr>
              <a:t> (★69, </a:t>
            </a:r>
            <a:r>
              <a:rPr sz="1050" b="0" i="0">
                <a:solidFill>
                  <a:srgbClr val="16213A"/>
                </a:solidFill>
                <a:latin typeface="Consolas"/>
                <a:ea typeface="Malgun Gothic"/>
                <a:cs typeface="Malgun Gothic"/>
              </a:rPr>
              <a:t>master</a:t>
            </a:r>
            <a:r>
              <a:rPr sz="1050" b="0" i="0">
                <a:solidFill>
                  <a:srgbClr val="16213A"/>
                </a:solidFill>
                <a:latin typeface="Arial"/>
                <a:ea typeface="Malgun Gothic"/>
                <a:cs typeface="Malgun Gothic"/>
              </a:rPr>
              <a:t>가 ROS 2, 2024-12): 센서 높이와 피치로 </a:t>
            </a:r>
            <a:r>
              <a:rPr sz="1050" b="1" i="0">
                <a:solidFill>
                  <a:srgbClr val="16213A"/>
                </a:solidFill>
                <a:latin typeface="Arial"/>
                <a:ea typeface="Malgun Gothic"/>
                <a:cs typeface="Malgun Gothic"/>
              </a:rPr>
              <a:t>"이 광선이 지면 </a:t>
            </a:r>
            <a:r>
              <a:rPr sz="1050" b="1" i="1">
                <a:solidFill>
                  <a:srgbClr val="16213A"/>
                </a:solidFill>
                <a:latin typeface="Arial"/>
                <a:ea typeface="Malgun Gothic"/>
                <a:cs typeface="Malgun Gothic"/>
              </a:rPr>
              <a:t>z=0</a:t>
            </a:r>
            <a:r>
              <a:rPr sz="1050" b="1" i="0">
                <a:solidFill>
                  <a:srgbClr val="16213A"/>
                </a:solidFill>
                <a:latin typeface="Arial"/>
                <a:ea typeface="Malgun Gothic"/>
                <a:cs typeface="Malgun Gothic"/>
              </a:rPr>
              <a:t>에 닿으면 나올 거리"</a:t>
            </a:r>
            <a:r>
              <a:rPr sz="1050" b="0" i="0">
                <a:solidFill>
                  <a:srgbClr val="16213A"/>
                </a:solidFill>
                <a:latin typeface="Arial"/>
                <a:ea typeface="Malgun Gothic"/>
                <a:cs typeface="Malgun Gothic"/>
              </a:rPr>
              <a:t>를 조회표로 미리 계산하고, 실측 거리가 그보다 </a:t>
            </a:r>
            <a:r>
              <a:rPr sz="1050" b="0" i="0">
                <a:solidFill>
                  <a:srgbClr val="16213A"/>
                </a:solidFill>
                <a:latin typeface="Consolas"/>
                <a:ea typeface="Malgun Gothic"/>
                <a:cs typeface="Malgun Gothic"/>
              </a:rPr>
              <a:t>ground_margin</a:t>
            </a:r>
            <a:r>
              <a:rPr sz="1050" b="0" i="0">
                <a:solidFill>
                  <a:srgbClr val="16213A"/>
                </a:solidFill>
                <a:latin typeface="Arial"/>
                <a:ea typeface="Malgun Gothic"/>
                <a:cs typeface="Malgun Gothic"/>
              </a:rPr>
              <a:t>(기본 0.05 m)만큼 크면 낙차로 표시한다 (입력은 </a:t>
            </a:r>
            <a:r>
              <a:rPr sz="1050" b="0" i="0">
                <a:solidFill>
                  <a:srgbClr val="16213A"/>
                </a:solidFill>
                <a:latin typeface="Consolas"/>
                <a:ea typeface="Malgun Gothic"/>
                <a:cs typeface="Malgun Gothic"/>
              </a:rPr>
              <a:t>sensor_mount_height</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sensor_tilt_angle</a:t>
            </a:r>
            <a:r>
              <a:rPr sz="1050" b="0" i="0">
                <a:solidFill>
                  <a:srgbClr val="16213A"/>
                </a:solidFill>
                <a:latin typeface="Arial"/>
                <a:ea typeface="Malgun Gothic"/>
                <a:cs typeface="Malgun Gothic"/>
              </a:rPr>
              <a:t> 둘). 기하만으로 되는 기준선이다.</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⑥ 가려진 부분을 학습으로 메우려면 데이터 만드는 법이 이미 있다.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solving-occlusion</a:t>
            </a:r>
            <a:r>
              <a:rPr sz="1050" b="0" i="0">
                <a:solidFill>
                  <a:srgbClr val="16213A"/>
                </a:solidFill>
                <a:latin typeface="Arial"/>
                <a:ea typeface="Malgun Gothic"/>
                <a:cs typeface="Malgun Gothic"/>
              </a:rPr>
              <a:t>은 방치된 논문 저장소가 아니라 게재된 연구다 — Stölzle 외, RA-L 2022(</a:t>
            </a:r>
            <a:r>
              <a:rPr sz="1050" b="0" i="0">
                <a:solidFill>
                  <a:srgbClr val="1D4ED8"/>
                </a:solidFill>
                <a:latin typeface="Arial"/>
                <a:ea typeface="Malgun Gothic"/>
                <a:cs typeface="Malgun Gothic"/>
                <a:hlinkClick r:id="rId4"/>
              </a:rPr>
              <a:t>arXiv:2109.07150</a:t>
            </a:r>
            <a:r>
              <a:rPr sz="1050" b="0" i="0">
                <a:solidFill>
                  <a:srgbClr val="16213A"/>
                </a:solidFill>
                <a:latin typeface="Arial"/>
                <a:ea typeface="Malgun Gothic"/>
                <a:cs typeface="Malgun Gothic"/>
              </a:rPr>
              <a:t>). 재사용할 수 있는 트릭은 </a:t>
            </a:r>
            <a:r>
              <a:rPr sz="1050" b="1" i="0">
                <a:solidFill>
                  <a:srgbClr val="C2410C"/>
                </a:solidFill>
                <a:latin typeface="Arial"/>
                <a:ea typeface="Malgun Gothic"/>
                <a:cs typeface="Malgun Gothic"/>
              </a:rPr>
              <a:t>이미 불완전한 실제 DEM에 합성 시점에서 레이캐스팅으로 가림을 </a:t>
            </a:r>
            <a:r>
              <a:rPr sz="1050" b="1" i="1">
                <a:solidFill>
                  <a:srgbClr val="C2410C"/>
                </a:solidFill>
                <a:latin typeface="Arial"/>
                <a:ea typeface="Malgun Gothic"/>
                <a:cs typeface="Malgun Gothic"/>
              </a:rPr>
              <a:t>더</a:t>
            </a:r>
            <a:r>
              <a:rPr sz="1050" b="1" i="0">
                <a:solidFill>
                  <a:srgbClr val="C2410C"/>
                </a:solidFill>
                <a:latin typeface="Arial"/>
                <a:ea typeface="Malgun Gothic"/>
                <a:cs typeface="Malgun Gothic"/>
              </a:rPr>
              <a:t> 넣고, 원래 관측됐던 칸을 복원하도록 학습</a:t>
            </a:r>
            <a:r>
              <a:rPr sz="1050" b="0" i="0">
                <a:solidFill>
                  <a:srgbClr val="16213A"/>
                </a:solidFill>
                <a:latin typeface="Arial"/>
                <a:ea typeface="Malgun Gothic"/>
                <a:cs typeface="Malgun Gothic"/>
              </a:rPr>
              <a:t>하는 것이다 — 정답 지도가 필요 없다. L0/L1 가림 학습 데이터를 만드는 데 바로 쓴다.</a:t>
            </a:r>
          </a:p>
        </p:txBody>
      </p:sp>
      <p:pic>
        <p:nvPicPr>
          <p:cNvPr id="7" name="Picture 6" descr="image.jpg"/>
          <p:cNvPicPr>
            <a:picLocks noChangeAspect="1"/>
          </p:cNvPicPr>
          <p:nvPr/>
        </p:nvPicPr>
        <p:blipFill>
          <a:blip r:embed="rId5"/>
          <a:stretch>
            <a:fillRect/>
          </a:stretch>
        </p:blipFill>
        <p:spPr>
          <a:xfrm>
            <a:off x="609600" y="2504877"/>
            <a:ext cx="5410200" cy="1993900"/>
          </a:xfrm>
          <a:prstGeom prst="rect">
            <a:avLst/>
          </a:prstGeom>
        </p:spPr>
      </p:pic>
      <p:sp>
        <p:nvSpPr>
          <p:cNvPr id="8" name="TextBox 7"/>
          <p:cNvSpPr txBox="1"/>
          <p:nvPr/>
        </p:nvSpPr>
        <p:spPr>
          <a:xfrm>
            <a:off x="609600" y="4536877"/>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Stölzle 외 (Fig. 2): 정답 지도 없이 학습하는 방법. 이미 불완전한 실제 DEM에 합성 시점에서 레이캐스팅으로 가림을 더 넣고, 원래 관측됐던 칸을 복원하도록 학습한다. 출처: arXiv:2109.07150</a:t>
            </a:r>
          </a:p>
        </p:txBody>
      </p:sp>
      <p:pic>
        <p:nvPicPr>
          <p:cNvPr id="9" name="Picture 8" descr="image.jpg"/>
          <p:cNvPicPr>
            <a:picLocks noChangeAspect="1"/>
          </p:cNvPicPr>
          <p:nvPr/>
        </p:nvPicPr>
        <p:blipFill>
          <a:blip r:embed="rId6"/>
          <a:stretch>
            <a:fillRect/>
          </a:stretch>
        </p:blipFill>
        <p:spPr>
          <a:xfrm>
            <a:off x="6172200" y="2504877"/>
            <a:ext cx="5397500" cy="2667000"/>
          </a:xfrm>
          <a:prstGeom prst="rect">
            <a:avLst/>
          </a:prstGeom>
        </p:spPr>
      </p:pic>
      <p:sp>
        <p:nvSpPr>
          <p:cNvPr id="10" name="TextBox 9"/>
          <p:cNvSpPr txBox="1"/>
          <p:nvPr/>
        </p:nvSpPr>
        <p:spPr>
          <a:xfrm>
            <a:off x="6172200" y="5209977"/>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Stölzle 외 (Fig. 4): Telea 인페인팅 기준선과 자기지도 학습의 비교. 학습 쪽이 지형의 구조를 지키고, Telea는 뭉갠다. 출처: arXiv:2109.07150</a:t>
            </a:r>
          </a:p>
        </p:txBody>
      </p:sp>
      <p:sp>
        <p:nvSpPr>
          <p:cNvPr id="11" name="TextBox 10"/>
          <p:cNvSpPr txBox="1"/>
          <p:nvPr/>
        </p:nvSpPr>
        <p:spPr>
          <a:xfrm>
            <a:off x="609600" y="558323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같은 방향의 증강으로 Goga 외(Applied Sciences 2026, 16(16):8262)는 </a:t>
            </a:r>
            <a:r>
              <a:rPr sz="1050" b="1" i="0">
                <a:solidFill>
                  <a:srgbClr val="16213A"/>
                </a:solidFill>
                <a:latin typeface="Arial"/>
                <a:ea typeface="Malgun Gothic"/>
                <a:cs typeface="Malgun Gothic"/>
              </a:rPr>
              <a:t>센서 원점에 고정된 각도 섹터</a:t>
            </a:r>
            <a:r>
              <a:rPr sz="1050" b="0" i="0">
                <a:solidFill>
                  <a:srgbClr val="16213A"/>
                </a:solidFill>
                <a:latin typeface="Arial"/>
                <a:ea typeface="Malgun Gothic"/>
                <a:cs typeface="Malgun Gothic"/>
              </a:rPr>
              <a:t>를 지우는데, </a:t>
            </a:r>
            <a:r>
              <a:rPr sz="1050" b="0" i="1">
                <a:solidFill>
                  <a:srgbClr val="16213A"/>
                </a:solidFill>
                <a:latin typeface="Arial"/>
                <a:ea typeface="Malgun Gothic"/>
                <a:cs typeface="Malgun Gothic"/>
              </a:rPr>
              <a:t>"unlike random masks of image inpainting"</a:t>
            </a:r>
            <a:r>
              <a:rPr sz="1050" b="0" i="0">
                <a:solidFill>
                  <a:srgbClr val="16213A"/>
                </a:solidFill>
                <a:latin typeface="Arial"/>
                <a:ea typeface="Malgun Gothic"/>
                <a:cs typeface="Malgun Gothic"/>
              </a:rPr>
              <a:t>이 요점이다(오차 8.3–9.7 % 감소, 구멍 복원 RMSE 2.86 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40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⑦ 채널 구성이 </a:t>
            </a:r>
            <a:r>
              <a:rPr sz="1050" b="1" i="0">
                <a:solidFill>
                  <a:srgbClr val="16213A"/>
                </a:solidFill>
                <a:latin typeface="Consolas"/>
                <a:ea typeface="Malgun Gothic"/>
                <a:cs typeface="Malgun Gothic"/>
              </a:rPr>
              <a:t>TravMap[8]</a:t>
            </a:r>
            <a:r>
              <a:rPr sz="1050" b="1" i="0">
                <a:solidFill>
                  <a:srgbClr val="16213A"/>
                </a:solidFill>
                <a:latin typeface="Arial"/>
                <a:ea typeface="Malgun Gothic"/>
                <a:cs typeface="Malgun Gothic"/>
              </a:rPr>
              <a:t>과 거의 같은 학습 예측기.</a:t>
            </a:r>
            <a:r>
              <a:rPr sz="1050" b="0" i="0">
                <a:solidFill>
                  <a:srgbClr val="16213A"/>
                </a:solidFill>
                <a:latin typeface="Arial"/>
                <a:ea typeface="Malgun Gothic"/>
                <a:cs typeface="Malgun Gothic"/>
              </a:rPr>
              <a:t> UNRealNet(Triest·Scherer, CMU + Field AI, </a:t>
            </a:r>
            <a:r>
              <a:rPr sz="1050" b="0" i="0">
                <a:solidFill>
                  <a:srgbClr val="1D4ED8"/>
                </a:solidFill>
                <a:latin typeface="Arial"/>
                <a:ea typeface="Malgun Gothic"/>
                <a:cs typeface="Malgun Gothic"/>
                <a:hlinkClick r:id="rId3"/>
              </a:rPr>
              <a:t>arXiv:2407.08720</a:t>
            </a:r>
            <a:r>
              <a:rPr sz="1050" b="0" i="0">
                <a:solidFill>
                  <a:srgbClr val="16213A"/>
                </a:solidFill>
                <a:latin typeface="Arial"/>
                <a:ea typeface="Malgun Gothic"/>
                <a:cs typeface="Malgun Gothic"/>
              </a:rPr>
              <a:t>, 코드 없음)은 단일 스캔에서 7 m × 7 m · 5 cm로 </a:t>
            </a:r>
            <a:r>
              <a:rPr sz="1050" b="1" i="0">
                <a:solidFill>
                  <a:srgbClr val="16213A"/>
                </a:solidFill>
                <a:latin typeface="Arial"/>
                <a:ea typeface="Malgun Gothic"/>
                <a:cs typeface="Malgun Gothic"/>
              </a:rPr>
              <a:t>7채널(terrain, elevation, step, local slope, local roughness, slope, roughness)을 칸마다 가우시안 평균+분산</a:t>
            </a:r>
            <a:r>
              <a:rPr sz="1050" b="0" i="0">
                <a:solidFill>
                  <a:srgbClr val="16213A"/>
                </a:solidFill>
                <a:latin typeface="Arial"/>
                <a:ea typeface="Malgun Gothic"/>
                <a:cs typeface="Malgun Gothic"/>
              </a:rPr>
              <a:t>으로 낸다. </a:t>
            </a:r>
            <a:r>
              <a:rPr sz="1050" b="1" i="0">
                <a:solidFill>
                  <a:srgbClr val="C2410C"/>
                </a:solidFill>
                <a:latin typeface="Arial"/>
                <a:ea typeface="Malgun Gothic"/>
                <a:cs typeface="Malgun Gothic"/>
              </a:rPr>
              <a:t>travplan의 8채널과 거의 일치하고, σ 채널까지 같다.</a:t>
            </a:r>
            <a:r>
              <a:rPr sz="1050" b="0" i="0">
                <a:solidFill>
                  <a:srgbClr val="16213A"/>
                </a:solidFill>
                <a:latin typeface="Arial"/>
                <a:ea typeface="Malgun Gothic"/>
                <a:cs typeface="Malgun Gothic"/>
              </a:rPr>
              <a:t> 조밀한 측량 스캐너 라벨로 학습해 </a:t>
            </a:r>
            <a:r>
              <a:rPr sz="1050" b="0" i="1">
                <a:solidFill>
                  <a:srgbClr val="16213A"/>
                </a:solidFill>
                <a:latin typeface="Arial"/>
                <a:ea typeface="Malgun Gothic"/>
                <a:cs typeface="Malgun Gothic"/>
              </a:rPr>
              <a:t>"the network receives a training signal for cells observed in the label that are not observed in the input"</a:t>
            </a:r>
            <a:r>
              <a:rPr sz="1050" b="0" i="0">
                <a:solidFill>
                  <a:srgbClr val="16213A"/>
                </a:solidFill>
                <a:latin typeface="Arial"/>
                <a:ea typeface="Malgun Gothic"/>
                <a:cs typeface="Malgun Gothic"/>
              </a:rPr>
              <a:t> — 즉 </a:t>
            </a:r>
            <a:r>
              <a:rPr sz="1050" b="1" i="0">
                <a:solidFill>
                  <a:srgbClr val="16213A"/>
                </a:solidFill>
                <a:latin typeface="Arial"/>
                <a:ea typeface="Malgun Gothic"/>
                <a:cs typeface="Malgun Gothic"/>
              </a:rPr>
              <a:t>인페인팅을 학습으로 강제</a:t>
            </a:r>
            <a:r>
              <a:rPr sz="1050" b="0" i="0">
                <a:solidFill>
                  <a:srgbClr val="16213A"/>
                </a:solidFill>
                <a:latin typeface="Arial"/>
                <a:ea typeface="Malgun Gothic"/>
                <a:cs typeface="Malgun Gothic"/>
              </a:rPr>
              <a:t>하고 매핑+인페인팅 기준선보다 최대 40 % 낫다고 한다(RTX 3060 Laptop 약 7 Hz).</a:t>
            </a:r>
          </a:p>
        </p:txBody>
      </p:sp>
      <p:pic>
        <p:nvPicPr>
          <p:cNvPr id="6" name="Picture 5" descr="image.jpg"/>
          <p:cNvPicPr>
            <a:picLocks noChangeAspect="1"/>
          </p:cNvPicPr>
          <p:nvPr/>
        </p:nvPicPr>
        <p:blipFill>
          <a:blip r:embed="rId4"/>
          <a:stretch>
            <a:fillRect/>
          </a:stretch>
        </p:blipFill>
        <p:spPr>
          <a:xfrm>
            <a:off x="609600" y="2199481"/>
            <a:ext cx="3657600" cy="2667000"/>
          </a:xfrm>
          <a:prstGeom prst="rect">
            <a:avLst/>
          </a:prstGeom>
        </p:spPr>
      </p:pic>
      <p:sp>
        <p:nvSpPr>
          <p:cNvPr id="7" name="TextBox 6"/>
          <p:cNvSpPr txBox="1"/>
          <p:nvPr/>
        </p:nvSpPr>
        <p:spPr>
          <a:xfrm>
            <a:off x="609600" y="4904581"/>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UNRealNet (Fig. 1): 점군에서 바로 로봇에 무관한 내비게이션 특징과 traversability를 낸다. 채널 구성이 travplan TravMap[8]과 거의 같다. 출처: arXiv:2407.08720</a:t>
            </a:r>
          </a:p>
        </p:txBody>
      </p:sp>
      <p:pic>
        <p:nvPicPr>
          <p:cNvPr id="8" name="Picture 7" descr="image.jpg"/>
          <p:cNvPicPr>
            <a:picLocks noChangeAspect="1"/>
          </p:cNvPicPr>
          <p:nvPr/>
        </p:nvPicPr>
        <p:blipFill>
          <a:blip r:embed="rId5"/>
          <a:stretch>
            <a:fillRect/>
          </a:stretch>
        </p:blipFill>
        <p:spPr>
          <a:xfrm>
            <a:off x="6172200" y="2199481"/>
            <a:ext cx="5410200" cy="2355850"/>
          </a:xfrm>
          <a:prstGeom prst="rect">
            <a:avLst/>
          </a:prstGeom>
        </p:spPr>
      </p:pic>
      <p:sp>
        <p:nvSpPr>
          <p:cNvPr id="9" name="TextBox 8"/>
          <p:cNvSpPr txBox="1"/>
          <p:nvPr/>
        </p:nvSpPr>
        <p:spPr>
          <a:xfrm>
            <a:off x="6172200" y="4593431"/>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UNRealNet (Fig. 2): 측량 스캐너로 고품질 지도를 먼저 만들고(1), 거기서 합성 점군을 뽑아(2) 학습한다. 입력에는 없고 라벨에는 있는 칸이 생겨 인페인팅이 강제된다. 출처: arXiv:2407.08720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자세히: UNRealNet의 채널·불확실성과 travplan 8채널의 대응</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41 / 359</a:t>
            </a:r>
          </a:p>
        </p:txBody>
      </p:sp>
      <p:graphicFrame>
        <p:nvGraphicFramePr>
          <p:cNvPr id="5" name="Table 4"/>
          <p:cNvGraphicFramePr>
            <a:graphicFrameLocks noGrp="1"/>
          </p:cNvGraphicFramePr>
          <p:nvPr/>
        </p:nvGraphicFramePr>
        <p:xfrm>
          <a:off x="609600" y="1244600"/>
          <a:ext cx="10966450" cy="1379616"/>
        </p:xfrm>
        <a:graphic>
          <a:graphicData uri="http://schemas.openxmlformats.org/drawingml/2006/table">
            <a:tbl>
              <a:tblPr firstRow="1" bandRow="1">
                <a:tableStyleId>{5C22544A-7EE6-4342-B048-85BDC9FD1C3A}</a:tableStyleId>
              </a:tblPr>
              <a:tblGrid>
                <a:gridCol w="5925344"/>
                <a:gridCol w="5041106"/>
              </a:tblGrid>
              <a:tr h="197088">
                <a:tc>
                  <a:txBody>
                    <a:bodyPr wrap="square"/>
                    <a:lstStyle/>
                    <a:p>
                      <a:r>
                        <a:rPr sz="800" b="1" i="0">
                          <a:solidFill>
                            <a:srgbClr val="F4F1EA"/>
                          </a:solidFill>
                          <a:latin typeface="Arial"/>
                          <a:ea typeface="Malgun Gothic"/>
                          <a:cs typeface="Malgun Gothic"/>
                        </a:rPr>
                        <a:t>UNRealNet (7채널, 칸별 평균+분산)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a:t>
                      </a:r>
                      <a:r>
                        <a:rPr sz="800" b="1" i="0">
                          <a:solidFill>
                            <a:srgbClr val="F4F1EA"/>
                          </a:solidFill>
                          <a:latin typeface="Consolas"/>
                          <a:ea typeface="Malgun Gothic"/>
                          <a:cs typeface="Malgun Gothic"/>
                        </a:rPr>
                        <a:t>TravMap[8]</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elevation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ELEV</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local slope / slope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SLOPE (+ GRAD_X, GRAD_Y)</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step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STEP</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local roughness / roughness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ROUGH</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terrain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COST</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각 채널의 분산</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SIGMA</a:t>
                      </a:r>
                    </a:p>
                  </a:txBody>
                  <a:tcPr marL="63500" marR="63500" marT="12700" marB="12700">
                    <a:solidFill>
                      <a:srgbClr val="F3F0E8"/>
                    </a:solidFill>
                  </a:tcPr>
                </a:tc>
              </a:tr>
            </a:tbl>
          </a:graphicData>
        </a:graphic>
      </p:graphicFrame>
      <p:sp>
        <p:nvSpPr>
          <p:cNvPr id="6" name="TextBox 5"/>
          <p:cNvSpPr txBox="1"/>
          <p:nvPr/>
        </p:nvSpPr>
        <p:spPr>
          <a:xfrm>
            <a:off x="609600" y="3064371"/>
            <a:ext cx="10972800" cy="216495"/>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travplan이 손으로 만든 8채널을, 이 논문은 하나의 망으로 낸다.</a:t>
            </a:r>
            <a:r>
              <a:rPr sz="1050" b="0" i="0">
                <a:solidFill>
                  <a:srgbClr val="16213A"/>
                </a:solidFill>
                <a:latin typeface="Arial"/>
                <a:ea typeface="Malgun Gothic"/>
                <a:cs typeface="Malgun Gothic"/>
              </a:rPr>
              <a:t> 그래서 TP-0010(TravNet)의 </a:t>
            </a:r>
            <a:r>
              <a:rPr sz="1050" b="1" i="0">
                <a:solidFill>
                  <a:srgbClr val="16213A"/>
                </a:solidFill>
                <a:latin typeface="Arial"/>
                <a:ea typeface="Malgun Gothic"/>
                <a:cs typeface="Malgun Gothic"/>
              </a:rPr>
              <a:t>출력 규격</a:t>
            </a:r>
            <a:r>
              <a:rPr sz="1050" b="0" i="0">
                <a:solidFill>
                  <a:srgbClr val="16213A"/>
                </a:solidFill>
                <a:latin typeface="Arial"/>
                <a:ea typeface="Malgun Gothic"/>
                <a:cs typeface="Malgun Gothic"/>
              </a:rPr>
              <a:t>을 정할 때 가장 가까운 선례다. 다만 코드가 없어 재현은 직접 해야 한다.</a:t>
            </a:r>
          </a:p>
        </p:txBody>
      </p:sp>
      <p:pic>
        <p:nvPicPr>
          <p:cNvPr id="7" name="Picture 6" descr="image.jpg"/>
          <p:cNvPicPr>
            <a:picLocks noChangeAspect="1"/>
          </p:cNvPicPr>
          <p:nvPr/>
        </p:nvPicPr>
        <p:blipFill>
          <a:blip r:embed="rId3"/>
          <a:stretch>
            <a:fillRect/>
          </a:stretch>
        </p:blipFill>
        <p:spPr>
          <a:xfrm>
            <a:off x="609600" y="3369766"/>
            <a:ext cx="3556000" cy="622300"/>
          </a:xfrm>
          <a:prstGeom prst="rect">
            <a:avLst/>
          </a:prstGeom>
        </p:spPr>
      </p:pic>
      <p:sp>
        <p:nvSpPr>
          <p:cNvPr id="8" name="TextBox 7"/>
          <p:cNvSpPr txBox="1"/>
          <p:nvPr/>
        </p:nvSpPr>
        <p:spPr>
          <a:xfrm>
            <a:off x="609600" y="4030166"/>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UNRealNet (Fig. 5): 데이터 한 점. 정답 점군에서 LiDAR를 시뮬레이션해 깊이 영상을 만든다(파랑=가까움). travplan의 L1 합성 LiDAR와 같은 발상이다. 출처: arXiv:2407.08720</a:t>
            </a:r>
          </a:p>
        </p:txBody>
      </p:sp>
      <p:pic>
        <p:nvPicPr>
          <p:cNvPr id="9" name="Picture 8" descr="image.jpg"/>
          <p:cNvPicPr>
            <a:picLocks noChangeAspect="1"/>
          </p:cNvPicPr>
          <p:nvPr/>
        </p:nvPicPr>
        <p:blipFill>
          <a:blip r:embed="rId4"/>
          <a:stretch>
            <a:fillRect/>
          </a:stretch>
        </p:blipFill>
        <p:spPr>
          <a:xfrm>
            <a:off x="4318000" y="3369766"/>
            <a:ext cx="3556000" cy="742950"/>
          </a:xfrm>
          <a:prstGeom prst="rect">
            <a:avLst/>
          </a:prstGeom>
        </p:spPr>
      </p:pic>
      <p:sp>
        <p:nvSpPr>
          <p:cNvPr id="10" name="TextBox 9"/>
          <p:cNvSpPr txBox="1"/>
          <p:nvPr/>
        </p:nvSpPr>
        <p:spPr>
          <a:xfrm>
            <a:off x="4318000" y="4150816"/>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UNRealNet (Fig. 8): 고도 예측 사례. (b) 입력 점군, (c) 학습 + Kalman 필터 결과. 성긴 입력에서 조밀한 고도를 채운다. 출처: arXiv:2407.08720</a:t>
            </a:r>
          </a:p>
        </p:txBody>
      </p:sp>
      <p:pic>
        <p:nvPicPr>
          <p:cNvPr id="11" name="Picture 10" descr="image.jpg"/>
          <p:cNvPicPr>
            <a:picLocks noChangeAspect="1"/>
          </p:cNvPicPr>
          <p:nvPr/>
        </p:nvPicPr>
        <p:blipFill>
          <a:blip r:embed="rId5"/>
          <a:stretch>
            <a:fillRect/>
          </a:stretch>
        </p:blipFill>
        <p:spPr>
          <a:xfrm>
            <a:off x="8026400" y="3369766"/>
            <a:ext cx="3556000" cy="908050"/>
          </a:xfrm>
          <a:prstGeom prst="rect">
            <a:avLst/>
          </a:prstGeom>
        </p:spPr>
      </p:pic>
      <p:sp>
        <p:nvSpPr>
          <p:cNvPr id="12" name="TextBox 11"/>
          <p:cNvSpPr txBox="1"/>
          <p:nvPr/>
        </p:nvSpPr>
        <p:spPr>
          <a:xfrm>
            <a:off x="8026400" y="4315916"/>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UNRealNet (Fig. 4): 고해상도 스캐너가 필요한 이유 — 전선 더미 같은 얇은 구조는 저해상도에서 사라진다. 출처: arXiv:2407.08720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42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⑧ G-VOM을 볼 때는 ETH 포크를 먼저 본다.</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leggedrobotics/G-VOM</a:t>
            </a:r>
            <a:r>
              <a:rPr sz="1050" b="0" i="0">
                <a:solidFill>
                  <a:srgbClr val="16213A"/>
                </a:solidFill>
                <a:latin typeface="Arial"/>
                <a:ea typeface="Malgun Gothic"/>
                <a:cs typeface="Malgun Gothic"/>
              </a:rPr>
              <a:t>은 emap·wavemap을 만든 그 랩이 G-VOM을 포크해 정리한 것이다(</a:t>
            </a:r>
            <a:r>
              <a:rPr sz="1050" b="0" i="1">
                <a:solidFill>
                  <a:srgbClr val="16213A"/>
                </a:solidFill>
                <a:latin typeface="Arial"/>
                <a:ea typeface="Malgun Gothic"/>
                <a:cs typeface="Malgun Gothic"/>
              </a:rPr>
              <a:t>"Initial refactoring"</a:t>
            </a:r>
            <a:r>
              <a:rPr sz="1050" b="0" i="0">
                <a:solidFill>
                  <a:srgbClr val="16213A"/>
                </a:solidFill>
                <a:latin typeface="Arial"/>
                <a:ea typeface="Malgun Gothic"/>
                <a:cs typeface="Malgun Gothic"/>
              </a:rPr>
              <a:t> → </a:t>
            </a:r>
            <a:r>
              <a:rPr sz="1050" b="0" i="1">
                <a:solidFill>
                  <a:srgbClr val="16213A"/>
                </a:solidFill>
                <a:latin typeface="Arial"/>
                <a:ea typeface="Malgun Gothic"/>
                <a:cs typeface="Malgun Gothic"/>
              </a:rPr>
              <a:t>"Cleaned up the map post processing code"</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"Stop crashes when attempting empty map updates"</a:t>
            </a:r>
            <a:r>
              <a:rPr sz="1050" b="0" i="0">
                <a:solidFill>
                  <a:srgbClr val="16213A"/>
                </a:solidFill>
                <a:latin typeface="Arial"/>
                <a:ea typeface="Malgun Gothic"/>
                <a:cs typeface="Malgun Gothic"/>
              </a:rPr>
              <a:t>, 2024-06). </a:t>
            </a:r>
            <a:r>
              <a:rPr sz="1050" b="1" i="0">
                <a:solidFill>
                  <a:srgbClr val="C2410C"/>
                </a:solidFill>
                <a:latin typeface="Arial"/>
                <a:ea typeface="Malgun Gothic"/>
                <a:cs typeface="Malgun Gothic"/>
              </a:rPr>
              <a:t>G-VOM 코드베이스에 대한 사실상 유일한 독립 엔지니어링 리뷰다.</a:t>
            </a:r>
            <a:r>
              <a:rPr sz="1050" b="0" i="0">
                <a:solidFill>
                  <a:srgbClr val="16213A"/>
                </a:solidFill>
                <a:latin typeface="Arial"/>
                <a:ea typeface="Malgun Gothic"/>
                <a:cs typeface="Malgun Gothic"/>
              </a:rPr>
              <a:t> 참고로 A.2b.3에 쓴 G-VOM의 미터 단위 범위는 논문 문구가 아니라 설정값 ([256,256,64] × 0.4 m)에서 계산한 값이고, 초록의 "12 m/s"는 §IV-A에 </a:t>
            </a:r>
            <a:r>
              <a:rPr sz="1050" b="0" i="1">
                <a:solidFill>
                  <a:srgbClr val="16213A"/>
                </a:solidFill>
                <a:latin typeface="Arial"/>
                <a:ea typeface="Malgun Gothic"/>
                <a:cs typeface="Malgun Gothic"/>
              </a:rPr>
              <a:t>"No planning or control … done either"</a:t>
            </a:r>
            <a:r>
              <a:rPr sz="1050" b="0" i="0">
                <a:solidFill>
                  <a:srgbClr val="16213A"/>
                </a:solidFill>
                <a:latin typeface="Arial"/>
                <a:ea typeface="Malgun Gothic"/>
                <a:cs typeface="Malgun Gothic"/>
              </a:rPr>
              <a:t>라 적힌 </a:t>
            </a:r>
            <a:r>
              <a:rPr sz="1050" b="1" i="0">
                <a:solidFill>
                  <a:srgbClr val="16213A"/>
                </a:solidFill>
                <a:latin typeface="Arial"/>
                <a:ea typeface="Malgun Gothic"/>
                <a:cs typeface="Malgun Gothic"/>
              </a:rPr>
              <a:t>매핑 전용</a:t>
            </a:r>
            <a:r>
              <a:rPr sz="1050" b="0" i="0">
                <a:solidFill>
                  <a:srgbClr val="16213A"/>
                </a:solidFill>
                <a:latin typeface="Arial"/>
                <a:ea typeface="Malgun Gothic"/>
                <a:cs typeface="Malgun Gothic"/>
              </a:rPr>
              <a:t> 주행이다 — 폐루프는 Warthog의 4.5·3 m/s뿐이다. 진짜 후속은 레이더 단독 버전이다 (Overbye &amp; Saripalli, ITSC 2023, </a:t>
            </a:r>
            <a:r>
              <a:rPr sz="1050" b="0" i="0">
                <a:solidFill>
                  <a:srgbClr val="1D4ED8"/>
                </a:solidFill>
                <a:latin typeface="Arial"/>
                <a:ea typeface="Malgun Gothic"/>
                <a:cs typeface="Malgun Gothic"/>
                <a:hlinkClick r:id="rId4"/>
              </a:rPr>
              <a:t>arXiv:2310.17620</a:t>
            </a:r>
            <a:r>
              <a:rPr sz="1050" b="0" i="0">
                <a:solidFill>
                  <a:srgbClr val="16213A"/>
                </a:solidFill>
                <a:latin typeface="Arial"/>
                <a:ea typeface="Malgun Gothic"/>
                <a:cs typeface="Malgun Gothic"/>
              </a:rPr>
              <a:t>, 2.5 m/s 350 m 자율).</a:t>
            </a:r>
          </a:p>
        </p:txBody>
      </p:sp>
      <p:sp>
        <p:nvSpPr>
          <p:cNvPr id="6" name="TextBox 5"/>
          <p:cNvSpPr txBox="1"/>
          <p:nvPr/>
        </p:nvSpPr>
        <p:spPr>
          <a:xfrm>
            <a:off x="609600" y="219948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⑨ 이 축에서 코드가 없는 것들</a:t>
            </a:r>
            <a:r>
              <a:rPr sz="1050" b="0" i="0">
                <a:solidFill>
                  <a:srgbClr val="16213A"/>
                </a:solidFill>
                <a:latin typeface="Arial"/>
                <a:ea typeface="Malgun Gothic"/>
                <a:cs typeface="Malgun Gothic"/>
              </a:rPr>
              <a:t>(다시 찾지 않도록 기록): DARPA RACER 매핑 스택 </a:t>
            </a:r>
            <a:r>
              <a:rPr sz="1050" b="1" i="0">
                <a:solidFill>
                  <a:srgbClr val="16213A"/>
                </a:solidFill>
                <a:latin typeface="Arial"/>
                <a:ea typeface="Malgun Gothic"/>
                <a:cs typeface="Malgun Gothic"/>
              </a:rPr>
              <a:t>전무</a:t>
            </a:r>
            <a:r>
              <a:rPr sz="1050" b="0" i="0">
                <a:solidFill>
                  <a:srgbClr val="16213A"/>
                </a:solidFill>
                <a:latin typeface="Arial"/>
                <a:ea typeface="Malgun Gothic"/>
                <a:cs typeface="Malgun Gothic"/>
              </a:rPr>
              <a:t>(RoadRunner도 저장소 없음), TRIP(KAIST, </a:t>
            </a:r>
            <a:r>
              <a:rPr sz="1050" b="0" i="0">
                <a:solidFill>
                  <a:srgbClr val="1D4ED8"/>
                </a:solidFill>
                <a:latin typeface="Arial"/>
                <a:ea typeface="Malgun Gothic"/>
                <a:cs typeface="Malgun Gothic"/>
                <a:hlinkClick r:id="rId5"/>
              </a:rPr>
              <a:t>arXiv:2411.17134</a:t>
            </a:r>
            <a:r>
              <a:rPr sz="1050" b="0" i="0">
                <a:solidFill>
                  <a:srgbClr val="16213A"/>
                </a:solidFill>
                <a:latin typeface="Arial"/>
                <a:ea typeface="Malgun Gothic"/>
                <a:cs typeface="Malgun Gothic"/>
              </a:rPr>
              <a:t> — steppability + BGK 완성, 개념적으로 가장 가까움), WalkOCC/Sidewalk3D(</a:t>
            </a:r>
            <a:r>
              <a:rPr sz="1050" b="0" i="1">
                <a:solidFill>
                  <a:srgbClr val="16213A"/>
                </a:solidFill>
                <a:latin typeface="Arial"/>
                <a:ea typeface="Malgun Gothic"/>
                <a:cs typeface="Malgun Gothic"/>
              </a:rPr>
              <a:t>"code and data will be made available"</a:t>
            </a:r>
            <a:r>
              <a:rPr sz="1050" b="0" i="0">
                <a:solidFill>
                  <a:srgbClr val="16213A"/>
                </a:solidFill>
                <a:latin typeface="Arial"/>
                <a:ea typeface="Malgun Gothic"/>
                <a:cs typeface="Malgun Gothic"/>
              </a:rPr>
              <a:t> 후 미공개 — </a:t>
            </a:r>
            <a:r>
              <a:rPr sz="1050" b="1" i="0">
                <a:solidFill>
                  <a:srgbClr val="16213A"/>
                </a:solidFill>
                <a:latin typeface="Arial"/>
                <a:ea typeface="Malgun Gothic"/>
                <a:cs typeface="Malgun Gothic"/>
              </a:rPr>
              <a:t>보도 특화로는 가장 아쉬운 항목</a:t>
            </a:r>
            <a:r>
              <a:rPr sz="1050" b="0" i="0">
                <a:solidFill>
                  <a:srgbClr val="16213A"/>
                </a:solidFill>
                <a:latin typeface="Arial"/>
                <a:ea typeface="Malgun Gothic"/>
                <a:cs typeface="Malgun Gothic"/>
              </a:rPr>
              <a:t>), 3DTTNet, PRISM, Splatblox. 한 번 인용할 서베이는 Lim 외, </a:t>
            </a:r>
            <a:r>
              <a:rPr sz="1050" b="0" i="0">
                <a:solidFill>
                  <a:srgbClr val="1D4ED8"/>
                </a:solidFill>
                <a:latin typeface="Arial"/>
                <a:ea typeface="Malgun Gothic"/>
                <a:cs typeface="Malgun Gothic"/>
                <a:hlinkClick r:id="rId6"/>
              </a:rPr>
              <a:t>arXiv:2312.16839</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IJCAS 22(2):347–359, 2024</a:t>
            </a:r>
            <a:r>
              <a:rPr sz="1050" b="0" i="0">
                <a:solidFill>
                  <a:srgbClr val="16213A"/>
                </a:solidFill>
                <a:latin typeface="Arial"/>
                <a:ea typeface="Malgun Gothic"/>
                <a:cs typeface="Malgun Gothic"/>
              </a:rPr>
              <a:t>로 게재됐다(음의 장애물을 부분집합 관계로 명시해 다룬다). ⚠️ 중립 서베이가 아니라 </a:t>
            </a:r>
            <a:r>
              <a:rPr sz="1050" b="1" i="0">
                <a:solidFill>
                  <a:srgbClr val="C2410C"/>
                </a:solidFill>
                <a:latin typeface="Arial"/>
                <a:ea typeface="Malgun Gothic"/>
                <a:cs typeface="Malgun Gothic"/>
              </a:rPr>
              <a:t>Patchwork·TRAVEL·B-TMS·TRIP을 쓴 </a:t>
            </a:r>
            <a:r>
              <a:rPr sz="1050" b="1" i="0">
                <a:solidFill>
                  <a:srgbClr val="C2410C"/>
                </a:solidFill>
                <a:latin typeface="Arial"/>
                <a:ea typeface="Malgun Gothic"/>
                <a:cs typeface="Malgun Gothic"/>
              </a:rPr>
              <a:t>그 그룹 자신의 입장 논문</a:t>
            </a:r>
            <a:r>
              <a:rPr sz="1050" b="0" i="0">
                <a:solidFill>
                  <a:srgbClr val="16213A"/>
                </a:solidFill>
                <a:latin typeface="Arial"/>
                <a:ea typeface="Malgun Gothic"/>
                <a:cs typeface="Malgun Gothic"/>
              </a:rPr>
              <a:t>이다(A.2b.8).</a:t>
            </a:r>
          </a:p>
        </p:txBody>
      </p:sp>
      <p:sp>
        <p:nvSpPr>
          <p:cNvPr id="7" name="TextBox 6"/>
          <p:cNvSpPr txBox="1"/>
          <p:nvPr/>
        </p:nvSpPr>
        <p:spPr>
          <a:xfrm>
            <a:off x="609600" y="3154362"/>
            <a:ext cx="10972800" cy="86598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정직한 결론(2026-09-30 정정)</a:t>
            </a:r>
            <a:r>
              <a:rPr sz="1050" b="1" i="0">
                <a:solidFill>
                  <a:srgbClr val="C2410C"/>
                </a:solidFill>
                <a:latin typeface="Arial"/>
                <a:ea typeface="Malgun Gothic"/>
                <a:cs typeface="Malgun Gothic"/>
              </a:rPr>
              <a:t>: 처음에는 "이 축에 가져다 쓸 공개 코드가 없고 travplan이 이미 기준선을 넘어섰다"고 썼는데 </a:t>
            </a:r>
            <a:r>
              <a:rPr sz="1050" b="1" i="0">
                <a:solidFill>
                  <a:srgbClr val="C2410C"/>
                </a:solidFill>
                <a:latin typeface="Arial"/>
                <a:ea typeface="Malgun Gothic"/>
                <a:cs typeface="Malgun Gothic"/>
              </a:rPr>
              <a:t>틀렸다.</a:t>
            </a:r>
            <a:r>
              <a:rPr sz="1050" b="0" i="0">
                <a:solidFill>
                  <a:srgbClr val="16213A"/>
                </a:solidFill>
                <a:latin typeface="Arial"/>
                <a:ea typeface="Malgun Gothic"/>
                <a:cs typeface="Malgun Gothic"/>
              </a:rPr>
              <a:t> ohm은 </a:t>
            </a:r>
            <a:r>
              <a:rPr sz="1050" b="1" i="0">
                <a:solidFill>
                  <a:srgbClr val="16213A"/>
                </a:solidFill>
                <a:latin typeface="Arial"/>
                <a:ea typeface="Malgun Gothic"/>
                <a:cs typeface="Malgun Gothic"/>
              </a:rPr>
              <a:t>BSD-3-Clause 공개 코드</a:t>
            </a:r>
            <a:r>
              <a:rPr sz="1050" b="0" i="0">
                <a:solidFill>
                  <a:srgbClr val="16213A"/>
                </a:solidFill>
                <a:latin typeface="Arial"/>
                <a:ea typeface="Malgun Gothic"/>
                <a:cs typeface="Malgun Gothic"/>
              </a:rPr>
              <a:t>이고(</a:t>
            </a:r>
            <a:r>
              <a:rPr sz="1050" b="0" i="0">
                <a:solidFill>
                  <a:srgbClr val="16213A"/>
                </a:solidFill>
                <a:latin typeface="Consolas"/>
                <a:ea typeface="Malgun Gothic"/>
                <a:cs typeface="Malgun Gothic"/>
              </a:rPr>
              <a:t>LICENSE</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"CSIRO grants you a licence to the Software on the terms of the BSD 3-Clause Licence"</a:t>
            </a:r>
            <a:r>
              <a:rPr sz="1050" b="0" i="0">
                <a:solidFill>
                  <a:srgbClr val="16213A"/>
                </a:solidFill>
                <a:latin typeface="Arial"/>
                <a:ea typeface="Malgun Gothic"/>
                <a:cs typeface="Malgun Gothic"/>
              </a:rPr>
              <a:t> — GitHub가 NOASSERTION으로 표시할 뿐이다), virtual surface를 높이지도 voxel 타입으로 1급 구현하고 있다. 더 결정적으로, </a:t>
            </a:r>
            <a:r>
              <a:rPr sz="1050" b="1" i="0">
                <a:solidFill>
                  <a:srgbClr val="C2410C"/>
                </a:solidFill>
                <a:latin typeface="Arial"/>
                <a:ea typeface="Malgun Gothic"/>
                <a:cs typeface="Malgun Gothic"/>
              </a:rPr>
              <a:t>emap IROS 2022 논문 자체가 상한 층을 선행 연구로 돌린다</a:t>
            </a:r>
            <a:r>
              <a:rPr sz="1050" b="0" i="0">
                <a:solidFill>
                  <a:srgbClr val="16213A"/>
                </a:solidFill>
                <a:latin typeface="Arial"/>
                <a:ea typeface="Malgun Gothic"/>
                <a:cs typeface="Malgun Gothic"/>
              </a:rPr>
              <a:t> — </a:t>
            </a:r>
            <a:r>
              <a:rPr sz="1050" b="0" i="1">
                <a:solidFill>
                  <a:srgbClr val="16213A"/>
                </a:solidFill>
                <a:latin typeface="Arial"/>
                <a:ea typeface="Malgun Gothic"/>
                <a:cs typeface="Malgun Gothic"/>
              </a:rPr>
              <a:t>"we also use the ray casting steps to compute a maximal terrain height for unobserved map cells, </a:t>
            </a:r>
            <a:r>
              <a:rPr sz="1050" b="0" i="1">
                <a:solidFill>
                  <a:srgbClr val="16213A"/>
                </a:solidFill>
                <a:latin typeface="Arial"/>
                <a:ea typeface="Malgun Gothic"/>
                <a:cs typeface="Malgun Gothic"/>
              </a:rPr>
              <a:t>similar to the idea of virtual surfaces</a:t>
            </a:r>
            <a:r>
              <a:rPr sz="1050" b="0" i="1">
                <a:solidFill>
                  <a:srgbClr val="16213A"/>
                </a:solidFill>
                <a:latin typeface="Arial"/>
                <a:ea typeface="Malgun Gothic"/>
                <a:cs typeface="Malgun Gothic"/>
              </a:rPr>
              <a:t>"</a:t>
            </a:r>
            <a:r>
              <a:rPr sz="1050" b="0" i="0">
                <a:solidFill>
                  <a:srgbClr val="16213A"/>
                </a:solidFill>
                <a:latin typeface="Arial"/>
                <a:ea typeface="Malgun Gothic"/>
                <a:cs typeface="Malgun Gothic"/>
              </a:rPr>
              <a:t>(참고문헌에 </a:t>
            </a:r>
            <a:r>
              <a:rPr sz="1050" b="0" i="0">
                <a:solidFill>
                  <a:srgbClr val="16213A"/>
                </a:solidFill>
                <a:latin typeface="Consolas"/>
                <a:ea typeface="Malgun Gothic"/>
                <a:cs typeface="Malgun Gothic"/>
              </a:rPr>
              <a:t>github.com/csiro-robotics/ohm</a:t>
            </a:r>
            <a:r>
              <a:rPr sz="1050" b="0" i="0">
                <a:solidFill>
                  <a:srgbClr val="16213A"/>
                </a:solidFill>
                <a:latin typeface="Arial"/>
                <a:ea typeface="Malgun Gothic"/>
                <a:cs typeface="Malgun Gothic"/>
              </a:rPr>
              <a:t> 포함).</a:t>
            </a:r>
          </a:p>
        </p:txBody>
      </p:sp>
      <p:sp>
        <p:nvSpPr>
          <p:cNvPr id="8" name="TextBox 7"/>
          <p:cNvSpPr txBox="1"/>
          <p:nvPr/>
        </p:nvSpPr>
        <p:spPr>
          <a:xfrm>
            <a:off x="609600" y="4109244"/>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정직한 자리매김은 이렇다: </a:t>
            </a:r>
            <a:r>
              <a:rPr sz="1050" b="1" i="0">
                <a:solidFill>
                  <a:srgbClr val="16213A"/>
                </a:solidFill>
                <a:latin typeface="Arial"/>
                <a:ea typeface="Malgun Gothic"/>
                <a:cs typeface="Malgun Gothic"/>
              </a:rPr>
              <a:t>travplan의 그림자 상한은 새로운 것이 아니라, 이미 발표된 virtual surface 아이디어를 2.5D </a:t>
            </a:r>
            <a:r>
              <a:rPr sz="1050" b="1" i="0">
                <a:solidFill>
                  <a:srgbClr val="16213A"/>
                </a:solidFill>
                <a:latin typeface="Consolas"/>
                <a:ea typeface="Malgun Gothic"/>
                <a:cs typeface="Malgun Gothic"/>
              </a:rPr>
              <a:t>TravMap</a:t>
            </a:r>
            <a:r>
              <a:rPr sz="1050" b="1" i="0">
                <a:solidFill>
                  <a:srgbClr val="16213A"/>
                </a:solidFill>
                <a:latin typeface="Arial"/>
                <a:ea typeface="Malgun Gothic"/>
                <a:cs typeface="Malgun Gothic"/>
              </a:rPr>
              <a:t>에 고정 깊이 prior와 함께 재구현한 것</a:t>
            </a:r>
            <a:r>
              <a:rPr sz="1050" b="0" i="0">
                <a:solidFill>
                  <a:srgbClr val="16213A"/>
                </a:solidFill>
                <a:latin typeface="Arial"/>
                <a:ea typeface="Malgun Gothic"/>
                <a:cs typeface="Malgun Gothic"/>
              </a:rPr>
              <a:t>이다. 그래서 TP-0048에서 가져올 것은 판정 규칙 넷 (emap 논문의 상한 기울기 검정, ArtPlanner의 센서 높이 게이팅, ohm의 </a:t>
            </a:r>
            <a:r>
              <a:rPr sz="1050" b="0" i="0">
                <a:solidFill>
                  <a:srgbClr val="16213A"/>
                </a:solidFill>
                <a:latin typeface="Consolas"/>
                <a:ea typeface="Malgun Gothic"/>
                <a:cs typeface="Malgun Gothic"/>
              </a:rPr>
              <a:t>virtualSurfaceFilterThreshold</a:t>
            </a:r>
            <a:r>
              <a:rPr sz="1050" b="0" i="0">
                <a:solidFill>
                  <a:srgbClr val="16213A"/>
                </a:solidFill>
                <a:latin typeface="Arial"/>
                <a:ea typeface="Malgun Gothic"/>
                <a:cs typeface="Malgun Gothic"/>
              </a:rPr>
              <a:t>, CMU의 shrink/expand)</a:t>
            </a:r>
            <a:r>
              <a:rPr sz="1050" b="1" i="0">
                <a:solidFill>
                  <a:srgbClr val="16213A"/>
                </a:solidFill>
                <a:latin typeface="Arial"/>
                <a:ea typeface="Malgun Gothic"/>
                <a:cs typeface="Malgun Gothic"/>
              </a:rPr>
              <a:t>이고, 그중 ohm은 규칙만이 아니라 코드도 읽을 수 있다.</a:t>
            </a:r>
          </a:p>
        </p:txBody>
      </p:sp>
      <p:sp>
        <p:nvSpPr>
          <p:cNvPr id="9" name="TextBox 8"/>
          <p:cNvSpPr txBox="1"/>
          <p:nvPr/>
        </p:nvSpPr>
        <p:spPr>
          <a:xfrm>
            <a:off x="609600" y="484763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그리고 그 네 규칙 중 둘이 서로 어긋났다.</a:t>
            </a:r>
            <a:r>
              <a:rPr sz="1050" b="0" i="0">
                <a:solidFill>
                  <a:srgbClr val="16213A"/>
                </a:solidFill>
                <a:latin typeface="Arial"/>
                <a:ea typeface="Malgun Gothic"/>
                <a:cs typeface="Malgun Gothic"/>
              </a:rPr>
              <a:t> emap 논문은 </a:t>
            </a:r>
            <a:r>
              <a:rPr sz="1050" b="0" i="1">
                <a:solidFill>
                  <a:srgbClr val="16213A"/>
                </a:solidFill>
                <a:latin typeface="Arial"/>
                <a:ea typeface="Malgun Gothic"/>
                <a:cs typeface="Malgun Gothic"/>
              </a:rPr>
              <a:t>"진짜 낙차면 상한의 기울기가 커진다"</a:t>
            </a:r>
            <a:r>
              <a:rPr sz="1050" b="0" i="0">
                <a:solidFill>
                  <a:srgbClr val="16213A"/>
                </a:solidFill>
                <a:latin typeface="Arial"/>
                <a:ea typeface="Malgun Gothic"/>
                <a:cs typeface="Malgun Gothic"/>
              </a:rPr>
              <a:t>고 하는데, ArtPlanner는 반대를 말한다 — </a:t>
            </a:r>
            <a:r>
              <a:rPr sz="1050" b="0" i="1">
                <a:solidFill>
                  <a:srgbClr val="16213A"/>
                </a:solidFill>
                <a:latin typeface="Arial"/>
                <a:ea typeface="Malgun Gothic"/>
                <a:cs typeface="Malgun Gothic"/>
              </a:rPr>
              <a:t>"when we approach a negative obstacle, like a cliff, its virtual surface will </a:t>
            </a:r>
            <a:r>
              <a:rPr sz="1050" b="0" i="1">
                <a:solidFill>
                  <a:srgbClr val="16213A"/>
                </a:solidFill>
                <a:latin typeface="Arial"/>
                <a:ea typeface="Malgun Gothic"/>
                <a:cs typeface="Malgun Gothic"/>
              </a:rPr>
              <a:t>appear to have a very small inclination</a:t>
            </a:r>
            <a:r>
              <a:rPr sz="1050" b="0" i="1">
                <a:solidFill>
                  <a:srgbClr val="16213A"/>
                </a:solidFill>
                <a:latin typeface="Arial"/>
                <a:ea typeface="Malgun Gothic"/>
                <a:cs typeface="Malgun Gothic"/>
              </a:rPr>
              <a:t>, until we are very close to it."</a:t>
            </a:r>
          </a:p>
        </p:txBody>
      </p:sp>
      <p:sp>
        <p:nvSpPr>
          <p:cNvPr id="10" name="TextBox 9"/>
          <p:cNvSpPr txBox="1"/>
          <p:nvPr/>
        </p:nvSpPr>
        <p:spPr>
          <a:xfrm>
            <a:off x="609600" y="5369520"/>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어느 쪽이 맞는지 쟀다 — 우리 기하에서는 ArtPlanner가 맞았다.</a:t>
            </a:r>
            <a:r>
              <a:rPr sz="1050" b="0" i="0">
                <a:solidFill>
                  <a:srgbClr val="16213A"/>
                </a:solidFill>
                <a:latin typeface="Arial"/>
                <a:ea typeface="Malgun Gothic"/>
                <a:cs typeface="Malgun Gothic"/>
              </a:rPr>
              <a:t> 측정 설계·수치·그림은 개발 기록 </a:t>
            </a:r>
            <a:r>
              <a:rPr sz="1050" b="1" i="0">
                <a:solidFill>
                  <a:srgbClr val="16213A"/>
                </a:solidFill>
                <a:latin typeface="Arial"/>
                <a:ea typeface="Malgun Gothic"/>
                <a:cs typeface="Malgun Gothic"/>
              </a:rPr>
              <a:t>A.13.1</a:t>
            </a:r>
            <a:r>
              <a:rPr sz="1050" b="0" i="0">
                <a:solidFill>
                  <a:srgbClr val="16213A"/>
                </a:solidFill>
                <a:latin typeface="Arial"/>
                <a:ea typeface="Malgun Gothic"/>
                <a:cs typeface="Malgun Gothic"/>
              </a:rPr>
              <a:t>에 있다. 요약만 적으면: 판별기만 바꾸면 같은 재현율에서 전방 오탐이 4.3배가 되고(기본값 대비 17배 중 3.9배는 근거 floor 몫), 오탐을 없애는 문턱에서는 아무것도 잡지 못한다. 기제는 </a:t>
            </a:r>
            <a:r>
              <a:rPr sz="1050" b="1" i="0">
                <a:solidFill>
                  <a:srgbClr val="16213A"/>
                </a:solidFill>
                <a:latin typeface="Arial"/>
                <a:ea typeface="Malgun Gothic"/>
                <a:cs typeface="Malgun Gothic"/>
              </a:rPr>
              <a:t>포트홀의 상한이 거의 평면이라 내부 기울기가 0</a:t>
            </a:r>
            <a:r>
              <a:rPr sz="1050" b="0" i="0">
                <a:solidFill>
                  <a:srgbClr val="16213A"/>
                </a:solidFill>
                <a:latin typeface="Arial"/>
                <a:ea typeface="Malgun Gothic"/>
                <a:cs typeface="Malgun Gothic"/>
              </a:rPr>
              <a:t>이라는 것이다.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43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A.2b.8 KAIST Urban Robotics Lab의 지면 분할 계보 — 허용 라이선스가 둘이다</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따로 보나.</a:t>
            </a:r>
            <a:r>
              <a:rPr sz="1050" b="0" i="0">
                <a:solidFill>
                  <a:srgbClr val="16213A"/>
                </a:solidFill>
                <a:latin typeface="Arial"/>
                <a:ea typeface="Malgun Gothic"/>
                <a:cs typeface="Malgun Gothic"/>
              </a:rPr>
              <a:t> travplan은 이 연구실의 보행 제어(F.4 Dream 계열)와 플래너(B.9 TRG-planner)를 이미 인용한다. 그런데 </a:t>
            </a:r>
            <a:r>
              <a:rPr sz="1050" b="1" i="0">
                <a:solidFill>
                  <a:srgbClr val="C2410C"/>
                </a:solidFill>
                <a:latin typeface="Arial"/>
                <a:ea typeface="Malgun Gothic"/>
                <a:cs typeface="Malgun Gothic"/>
              </a:rPr>
              <a:t>정작 travplan에 가장 가까운 줄기, 즉 </a:t>
            </a:r>
            <a:r>
              <a:rPr sz="1050" b="1" i="0">
                <a:solidFill>
                  <a:srgbClr val="C2410C"/>
                </a:solidFill>
                <a:latin typeface="Arial"/>
                <a:ea typeface="Malgun Gothic"/>
                <a:cs typeface="Malgun Gothic"/>
              </a:rPr>
              <a:t>지면 분할</a:t>
            </a:r>
            <a:r>
              <a:rPr sz="1050" b="1" i="0">
                <a:solidFill>
                  <a:srgbClr val="C2410C"/>
                </a:solidFill>
                <a:latin typeface="Arial"/>
                <a:ea typeface="Malgun Gothic"/>
                <a:cs typeface="Malgun Gothic"/>
              </a:rPr>
              <a:t> 라인(Patchwork 계열)은 문서에 한 줄도 없었다.</a:t>
            </a:r>
            <a:r>
              <a:rPr sz="1050" b="0" i="0">
                <a:solidFill>
                  <a:srgbClr val="16213A"/>
                </a:solidFill>
                <a:latin typeface="Arial"/>
                <a:ea typeface="Malgun Gothic"/>
                <a:cs typeface="Malgun Gothic"/>
              </a:rPr>
              <a:t> (지형 모델링 쪽은 TRIP이 A.10 ⑤에 이미 있다.) 그 라인이 travplan의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 앞단(점군 → 지면/비지면)에 바로 들어갈 자리이고, 라이선스가 갈린다.</a:t>
            </a:r>
          </a:p>
        </p:txBody>
      </p:sp>
      <p:graphicFrame>
        <p:nvGraphicFramePr>
          <p:cNvPr id="7" name="Table 6"/>
          <p:cNvGraphicFramePr>
            <a:graphicFrameLocks noGrp="1"/>
          </p:cNvGraphicFramePr>
          <p:nvPr/>
        </p:nvGraphicFramePr>
        <p:xfrm>
          <a:off x="609600" y="2069703"/>
          <a:ext cx="10966450" cy="1424304"/>
        </p:xfrm>
        <a:graphic>
          <a:graphicData uri="http://schemas.openxmlformats.org/drawingml/2006/table">
            <a:tbl>
              <a:tblPr firstRow="1" bandRow="1">
                <a:tableStyleId>{5C22544A-7EE6-4342-B048-85BDC9FD1C3A}</a:tableStyleId>
              </a:tblPr>
              <a:tblGrid>
                <a:gridCol w="417909"/>
                <a:gridCol w="850801"/>
                <a:gridCol w="2790428"/>
                <a:gridCol w="4122539"/>
                <a:gridCol w="2784773"/>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하는 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2021</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Patchwork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동심 극좌표 구역마다 지면 평면을 맞추고 ground likelihood로 검정</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LimHyungTae/patchwork</a:t>
                      </a:r>
                      <a:r>
                        <a:rPr sz="800" b="0" i="0">
                          <a:solidFill>
                            <a:srgbClr val="16213A"/>
                          </a:solidFill>
                          <a:latin typeface="Arial"/>
                          <a:ea typeface="Malgun Gothic"/>
                          <a:cs typeface="Malgun Gothic"/>
                        </a:rPr>
                        <a:t>(1저자 계정) ★591, </a:t>
                      </a:r>
                      <a:r>
                        <a:rPr sz="800" b="1" i="0">
                          <a:solidFill>
                            <a:srgbClr val="C2410C"/>
                          </a:solidFill>
                          <a:latin typeface="Arial"/>
                          <a:ea typeface="Malgun Gothic"/>
                          <a:cs typeface="Malgun Gothic"/>
                        </a:rPr>
                        <a:t>MIT</a:t>
                      </a:r>
                      <a:r>
                        <a:rPr sz="800" b="0" i="0">
                          <a:solidFill>
                            <a:srgbClr val="16213A"/>
                          </a:solidFill>
                          <a:latin typeface="Arial"/>
                          <a:ea typeface="Malgun Gothic"/>
                          <a:cs typeface="Malgun Gothic"/>
                        </a:rPr>
                        <a:t>. ⚠️ </a:t>
                      </a:r>
                      <a:r>
                        <a:rPr sz="800" b="0" i="0">
                          <a:solidFill>
                            <a:srgbClr val="16213A"/>
                          </a:solidFill>
                          <a:latin typeface="Consolas"/>
                          <a:ea typeface="Malgun Gothic"/>
                          <a:cs typeface="Malgun Gothic"/>
                        </a:rPr>
                        <a:t>url-kaist/Patchwork2</a:t>
                      </a:r>
                      <a:r>
                        <a:rPr sz="800" b="0" i="0">
                          <a:solidFill>
                            <a:srgbClr val="16213A"/>
                          </a:solidFill>
                          <a:latin typeface="Arial"/>
                          <a:ea typeface="Malgun Gothic"/>
                          <a:cs typeface="Malgun Gothic"/>
                        </a:rPr>
                        <a:t>는 </a:t>
                      </a:r>
                      <a:r>
                        <a:rPr sz="800" b="1" i="0">
                          <a:solidFill>
                            <a:srgbClr val="16213A"/>
                          </a:solidFill>
                          <a:latin typeface="Arial"/>
                          <a:ea typeface="Malgun Gothic"/>
                          <a:cs typeface="Malgun Gothic"/>
                        </a:rPr>
                        <a:t>AGPL-3.0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전신이면서 </a:t>
                      </a:r>
                      <a:r>
                        <a:rPr sz="800" b="1" i="0">
                          <a:solidFill>
                            <a:srgbClr val="C2410C"/>
                          </a:solidFill>
                          <a:latin typeface="Arial"/>
                          <a:ea typeface="Malgun Gothic"/>
                          <a:cs typeface="Malgun Gothic"/>
                        </a:rPr>
                        <a:t>제품에 넣을 수 있다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2022</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Patchwork++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구역별 고도·평탄도 문턱을 </a:t>
                      </a:r>
                      <a:r>
                        <a:rPr sz="800" b="1" i="0">
                          <a:solidFill>
                            <a:srgbClr val="16213A"/>
                          </a:solidFill>
                          <a:latin typeface="Arial"/>
                          <a:ea typeface="Malgun Gothic"/>
                          <a:cs typeface="Malgun Gothic"/>
                        </a:rPr>
                        <a:t>데이터에서 적응</a:t>
                      </a:r>
                      <a:r>
                        <a:rPr sz="800" b="0" i="0">
                          <a:solidFill>
                            <a:srgbClr val="16213A"/>
                          </a:solidFill>
                          <a:latin typeface="Arial"/>
                          <a:ea typeface="Malgun Gothic"/>
                          <a:cs typeface="Malgun Gothic"/>
                        </a:rPr>
                        <a:t>시킨다(손튜닝 제거)</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url-kaist/patchwork-plusplus</a:t>
                      </a:r>
                      <a:r>
                        <a:rPr sz="800" b="0" i="0">
                          <a:solidFill>
                            <a:srgbClr val="16213A"/>
                          </a:solidFill>
                          <a:latin typeface="Arial"/>
                          <a:ea typeface="Malgun Gothic"/>
                          <a:cs typeface="Malgun Gothic"/>
                        </a:rPr>
                        <a:t> ★1.1k, </a:t>
                      </a:r>
                      <a:r>
                        <a:rPr sz="800" b="1" i="0">
                          <a:solidFill>
                            <a:srgbClr val="C2410C"/>
                          </a:solidFill>
                          <a:latin typeface="Arial"/>
                          <a:ea typeface="Malgun Gothic"/>
                          <a:cs typeface="Malgun Gothic"/>
                        </a:rPr>
                        <a:t>BSD-2-Clause</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pip install pypatchworkpp</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허용 라이선스 둘 중 하나</a:t>
                      </a:r>
                      <a:r>
                        <a:rPr sz="800" b="0" i="0">
                          <a:solidFill>
                            <a:srgbClr val="16213A"/>
                          </a:solidFill>
                          <a:latin typeface="Arial"/>
                          <a:ea typeface="Malgun Gothic"/>
                          <a:cs typeface="Malgun Gothic"/>
                        </a:rPr>
                        <a:t> — 적응 문턱까지 갖춘 쪽이라 먼저 재 볼 것</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2022</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TRAVEL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삼각 격자장 그래프로 지면과 지상물을 </a:t>
                      </a:r>
                      <a:r>
                        <a:rPr sz="800" b="1" i="0">
                          <a:solidFill>
                            <a:srgbClr val="16213A"/>
                          </a:solidFill>
                          <a:latin typeface="Arial"/>
                          <a:ea typeface="Malgun Gothic"/>
                          <a:cs typeface="Malgun Gothic"/>
                        </a:rPr>
                        <a:t>함께</a:t>
                      </a:r>
                      <a:r>
                        <a:rPr sz="800" b="0" i="0">
                          <a:solidFill>
                            <a:srgbClr val="16213A"/>
                          </a:solidFill>
                          <a:latin typeface="Arial"/>
                          <a:ea typeface="Malgun Gothic"/>
                          <a:cs typeface="Malgun Gothic"/>
                        </a:rPr>
                        <a:t> 분할</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url-kaist/TRAVEL</a:t>
                      </a:r>
                      <a:r>
                        <a:rPr sz="800" b="0" i="0">
                          <a:solidFill>
                            <a:srgbClr val="16213A"/>
                          </a:solidFill>
                          <a:latin typeface="Arial"/>
                          <a:ea typeface="Malgun Gothic"/>
                          <a:cs typeface="Malgun Gothic"/>
                        </a:rPr>
                        <a:t> ★344, </a:t>
                      </a:r>
                      <a:r>
                        <a:rPr sz="800" b="1" i="0">
                          <a:solidFill>
                            <a:srgbClr val="16213A"/>
                          </a:solidFill>
                          <a:latin typeface="Arial"/>
                          <a:ea typeface="Malgun Gothic"/>
                          <a:cs typeface="Malgun Gothic"/>
                        </a:rPr>
                        <a:t>GPL-3.0</a:t>
                      </a:r>
                      <a:r>
                        <a:rPr sz="800" b="0" i="0">
                          <a:solidFill>
                            <a:srgbClr val="16213A"/>
                          </a:solidFill>
                          <a:latin typeface="Arial"/>
                          <a:ea typeface="Malgun Gothic"/>
                          <a:cs typeface="Malgun Gothic"/>
                        </a:rPr>
                        <a:t>(PyPI </a:t>
                      </a:r>
                      <a:r>
                        <a:rPr sz="800" b="0" i="0">
                          <a:solidFill>
                            <a:srgbClr val="16213A"/>
                          </a:solidFill>
                          <a:latin typeface="Consolas"/>
                          <a:ea typeface="Malgun Gothic"/>
                          <a:cs typeface="Malgun Gothic"/>
                        </a:rPr>
                        <a:t>travel-seg</a:t>
                      </a:r>
                      <a:r>
                        <a:rPr sz="800" b="0" i="0">
                          <a:solidFill>
                            <a:srgbClr val="16213A"/>
                          </a:solidFill>
                          <a:latin typeface="Arial"/>
                          <a:ea typeface="Malgun Gothic"/>
                          <a:cs typeface="Malgun Gothic"/>
                        </a:rPr>
                        <a:t>도 GPL)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읽을 거리. GPL이라 제품에 못 넣는다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B-TMS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TRAVEL 위에 베이지안. </a:t>
                      </a:r>
                      <a:r>
                        <a:rPr sz="800" b="1" i="0">
                          <a:solidFill>
                            <a:srgbClr val="C2410C"/>
                          </a:solidFill>
                          <a:latin typeface="Arial"/>
                          <a:ea typeface="Malgun Gothic"/>
                          <a:cs typeface="Malgun Gothic"/>
                        </a:rPr>
                        <a:t>움푹한 곳의 "거짓 음성"을 없앤다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공개 코드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a:t>
                      </a:r>
                      <a:r>
                        <a:rPr sz="800" b="1" i="0">
                          <a:solidFill>
                            <a:srgbClr val="16213A"/>
                          </a:solidFill>
                          <a:latin typeface="Arial"/>
                          <a:ea typeface="Malgun Gothic"/>
                          <a:cs typeface="Malgun Gothic"/>
                        </a:rPr>
                        <a:t>아래 참조</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TRIP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구면 surfel에서 위험을 예측해 2.5D로 되돌린다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공개 코드 없음(</a:t>
                      </a:r>
                      <a:r>
                        <a:rPr sz="800" b="0" i="0">
                          <a:solidFill>
                            <a:srgbClr val="16213A"/>
                          </a:solidFill>
                          <a:latin typeface="Consolas"/>
                          <a:ea typeface="Malgun Gothic"/>
                          <a:cs typeface="Malgun Gothic"/>
                        </a:rPr>
                        <a:t>url-kaist/TRIP</a:t>
                      </a:r>
                      <a:r>
                        <a:rPr sz="800" b="0" i="0">
                          <a:solidFill>
                            <a:srgbClr val="16213A"/>
                          </a:solidFill>
                          <a:latin typeface="Arial"/>
                          <a:ea typeface="Malgun Gothic"/>
                          <a:cs typeface="Malgun Gothic"/>
                        </a:rPr>
                        <a:t> 404)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A.10 ⑤</a:t>
                      </a:r>
                    </a:p>
                  </a:txBody>
                  <a:tcPr marL="63500" marR="63500" marT="12700" marB="12700">
                    <a:solidFill>
                      <a:srgbClr val="FFFDF8"/>
                    </a:solidFill>
                  </a:tcPr>
                </a:tc>
              </a:tr>
            </a:tbl>
          </a:graphicData>
        </a:graphic>
      </p:graphicFrame>
      <p:sp>
        <p:nvSpPr>
          <p:cNvPr id="8" name="TextBox 7"/>
          <p:cNvSpPr txBox="1"/>
          <p:nvPr/>
        </p:nvSpPr>
        <p:spPr>
          <a:xfrm>
            <a:off x="609600" y="3945334"/>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제품에 넣을 수 있는 것은 하나가 아니라 둘이다</a:t>
            </a:r>
            <a:r>
              <a:rPr sz="1050" b="0" i="0">
                <a:solidFill>
                  <a:srgbClr val="16213A"/>
                </a:solidFill>
                <a:latin typeface="Arial"/>
                <a:ea typeface="Malgun Gothic"/>
                <a:cs typeface="Malgun Gothic"/>
              </a:rPr>
              <a:t> — Patchwork(MIT)와 Patchwork++(BSD-2-Clause). 다만 MIT인 것은 1저자 계정의 Patchwork 저장소이고, 같은 계열의 </a:t>
            </a:r>
            <a:r>
              <a:rPr sz="1050" b="0" i="0">
                <a:solidFill>
                  <a:srgbClr val="16213A"/>
                </a:solidFill>
                <a:latin typeface="Consolas"/>
                <a:ea typeface="Malgun Gothic"/>
                <a:cs typeface="Malgun Gothic"/>
              </a:rPr>
              <a:t>url-kaist/Patchwork2</a:t>
            </a:r>
            <a:r>
              <a:rPr sz="1050" b="0" i="0">
                <a:solidFill>
                  <a:srgbClr val="16213A"/>
                </a:solidFill>
                <a:latin typeface="Arial"/>
                <a:ea typeface="Malgun Gothic"/>
                <a:cs typeface="Malgun Gothic"/>
              </a:rPr>
              <a:t>는 </a:t>
            </a:r>
            <a:r>
              <a:rPr sz="1050" b="1" i="0">
                <a:solidFill>
                  <a:srgbClr val="C2410C"/>
                </a:solidFill>
                <a:latin typeface="Arial"/>
                <a:ea typeface="Malgun Gothic"/>
                <a:cs typeface="Malgun Gothic"/>
              </a:rPr>
              <a:t>AGPL-3.0</a:t>
            </a:r>
            <a:r>
              <a:rPr sz="1050" b="0" i="0">
                <a:solidFill>
                  <a:srgbClr val="16213A"/>
                </a:solidFill>
                <a:latin typeface="Arial"/>
                <a:ea typeface="Malgun Gothic"/>
                <a:cs typeface="Malgun Gothic"/>
              </a:rPr>
              <a:t>이라 저장소를 잘못 고르면 라이선스가 뒤집힌다. 막힌 것은 TRAVEL(GPL-3.0)과 코드가 없는 둘이다.</a:t>
            </a:r>
          </a:p>
        </p:txBody>
      </p:sp>
      <p:sp>
        <p:nvSpPr>
          <p:cNvPr id="9" name="TextBox 8"/>
          <p:cNvSpPr txBox="1"/>
          <p:nvPr/>
        </p:nvSpPr>
        <p:spPr>
          <a:xfrm>
            <a:off x="609600" y="4467225"/>
            <a:ext cx="10972800" cy="188516"/>
          </a:xfrm>
          <a:prstGeom prst="rect">
            <a:avLst/>
          </a:prstGeom>
          <a:noFill/>
        </p:spPr>
        <p:txBody>
          <a:bodyPr wrap="square" lIns="0" rIns="0" tIns="0" bIns="0" anchor="t">
            <a:spAutoFit/>
            <a:normAutofit/>
          </a:bodyPr>
          <a:lstStyle/>
          <a:p>
            <a:r>
              <a:rPr sz="1050" b="1" i="0">
                <a:solidFill>
                  <a:srgbClr val="5A6478"/>
                </a:solidFill>
                <a:latin typeface="Arial"/>
                <a:ea typeface="Malgun Gothic"/>
                <a:cs typeface="Malgun Gothic"/>
              </a:rPr>
              <a:t>⚠️ B-TMS는 가져올 것이 아니라 경고다</a:t>
            </a:r>
          </a:p>
        </p:txBody>
      </p:sp>
      <p:sp>
        <p:nvSpPr>
          <p:cNvPr id="10" name="TextBox 9"/>
          <p:cNvSpPr txBox="1"/>
          <p:nvPr/>
        </p:nvSpPr>
        <p:spPr>
          <a:xfrm>
            <a:off x="609600" y="4744641"/>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B-TMS가 abstract에서 드는 문제는 </a:t>
            </a:r>
            <a:r>
              <a:rPr sz="1050" b="0" i="1">
                <a:solidFill>
                  <a:srgbClr val="16213A"/>
                </a:solidFill>
                <a:latin typeface="Arial"/>
                <a:ea typeface="Malgun Gothic"/>
                <a:cs typeface="Malgun Gothic"/>
              </a:rPr>
              <a:t>"when encountering sunken areas, their performance is frequently compromised, and they may even fail to recognize them"</a:t>
            </a:r>
            <a:r>
              <a:rPr sz="1050" b="0" i="0">
                <a:solidFill>
                  <a:srgbClr val="16213A"/>
                </a:solidFill>
                <a:latin typeface="Arial"/>
                <a:ea typeface="Malgun Gothic"/>
                <a:cs typeface="Malgun Gothic"/>
              </a:rPr>
              <a:t>이고, 고치는 방향은 </a:t>
            </a:r>
            <a:r>
              <a:rPr sz="1050" b="1" i="0">
                <a:solidFill>
                  <a:srgbClr val="C2410C"/>
                </a:solidFill>
                <a:latin typeface="Arial"/>
                <a:ea typeface="Malgun Gothic"/>
                <a:cs typeface="Malgun Gothic"/>
              </a:rPr>
              <a:t>논문 </a:t>
            </a:r>
            <a:r>
              <a:rPr sz="1050" b="1" i="0">
                <a:solidFill>
                  <a:srgbClr val="C2410C"/>
                </a:solidFill>
                <a:latin typeface="Arial"/>
                <a:ea typeface="Malgun Gothic"/>
                <a:cs typeface="Malgun Gothic"/>
              </a:rPr>
              <a:t>Fig. 5 캡션</a:t>
            </a:r>
            <a:r>
              <a:rPr sz="1050" b="1" i="0">
                <a:solidFill>
                  <a:srgbClr val="C2410C"/>
                </a:solidFill>
                <a:latin typeface="Arial"/>
                <a:ea typeface="Malgun Gothic"/>
                <a:cs typeface="Malgun Gothic"/>
              </a:rPr>
              <a:t>이 </a:t>
            </a:r>
            <a:r>
              <a:rPr sz="1050" b="1" i="1">
                <a:solidFill>
                  <a:srgbClr val="C2410C"/>
                </a:solidFill>
                <a:latin typeface="Arial"/>
                <a:ea typeface="Malgun Gothic"/>
                <a:cs typeface="Malgun Gothic"/>
              </a:rPr>
              <a:t>"mitigates issues arising from the ceiling ... and </a:t>
            </a:r>
            <a:r>
              <a:rPr sz="1050" b="1" i="1">
                <a:solidFill>
                  <a:srgbClr val="C2410C"/>
                </a:solidFill>
                <a:latin typeface="Arial"/>
                <a:ea typeface="Malgun Gothic"/>
                <a:cs typeface="Malgun Gothic"/>
              </a:rPr>
              <a:t>false negatives in sunken areas</a:t>
            </a:r>
            <a:r>
              <a:rPr sz="1050" b="1" i="1">
                <a:solidFill>
                  <a:srgbClr val="C2410C"/>
                </a:solidFill>
                <a:latin typeface="Arial"/>
                <a:ea typeface="Malgun Gothic"/>
                <a:cs typeface="Malgun Gothic"/>
              </a:rPr>
              <a:t>"</a:t>
            </a:r>
            <a:r>
              <a:rPr sz="1050" b="1" i="0">
                <a:solidFill>
                  <a:srgbClr val="C2410C"/>
                </a:solidFill>
                <a:latin typeface="Arial"/>
                <a:ea typeface="Malgun Gothic"/>
                <a:cs typeface="Malgun Gothic"/>
              </a:rPr>
              <a:t>로 적는다</a:t>
            </a:r>
            <a:r>
              <a:rPr sz="1050" b="0" i="0">
                <a:solidFill>
                  <a:srgbClr val="16213A"/>
                </a:solidFill>
                <a:latin typeface="Arial"/>
                <a:ea typeface="Malgun Gothic"/>
                <a:cs typeface="Malgun Gothic"/>
              </a:rPr>
              <a:t> (travplan이 오래 인용해 온 "removing false negatives in sunken areas"는 </a:t>
            </a:r>
            <a:r>
              <a:rPr sz="1050" b="1" i="0">
                <a:solidFill>
                  <a:srgbClr val="C2410C"/>
                </a:solidFill>
                <a:latin typeface="Arial"/>
                <a:ea typeface="Malgun Gothic"/>
                <a:cs typeface="Malgun Gothic"/>
              </a:rPr>
              <a:t>논문에 없는 문장</a:t>
            </a:r>
            <a:r>
              <a:rPr sz="1050" b="1" i="0">
                <a:solidFill>
                  <a:srgbClr val="C2410C"/>
                </a:solidFill>
                <a:latin typeface="Arial"/>
                <a:ea typeface="Malgun Gothic"/>
                <a:cs typeface="Malgun Gothic"/>
              </a:rPr>
              <a:t>이다</a:t>
            </a:r>
            <a:r>
              <a:rPr sz="1050" b="0" i="0">
                <a:solidFill>
                  <a:srgbClr val="16213A"/>
                </a:solidFill>
                <a:latin typeface="Arial"/>
                <a:ea typeface="Malgun Gothic"/>
                <a:cs typeface="Malgun Gothic"/>
              </a:rPr>
              <a:t> — 'removing'은 전문에 한 번도 나오지 않는다. 2026-10-02 재확인). </a:t>
            </a:r>
            <a:r>
              <a:rPr sz="1050" b="1" i="0">
                <a:solidFill>
                  <a:srgbClr val="C2410C"/>
                </a:solidFill>
                <a:latin typeface="Arial"/>
                <a:ea typeface="Malgun Gothic"/>
                <a:cs typeface="Malgun Gothic"/>
              </a:rPr>
              <a:t>움푹 꺼진 곳을 "지면이 아니다"로 잘못 보던 것을 고쳐, 다시 지면으로 메워 넣는다</a:t>
            </a:r>
            <a:r>
              <a:rPr sz="1050" b="0" i="0">
                <a:solidFill>
                  <a:srgbClr val="16213A"/>
                </a:solidFill>
                <a:latin typeface="Arial"/>
                <a:ea typeface="Malgun Gothic"/>
                <a:cs typeface="Malgun Gothic"/>
              </a:rPr>
              <a:t>는 뜻이다. 네 다리는 그 위를 </a:t>
            </a:r>
            <a:r>
              <a:rPr sz="1050" b="1" i="0">
                <a:solidFill>
                  <a:srgbClr val="16213A"/>
                </a:solidFill>
                <a:latin typeface="Arial"/>
                <a:ea typeface="Malgun Gothic"/>
                <a:cs typeface="Malgun Gothic"/>
              </a:rPr>
              <a:t>딛거나 넘으므로</a:t>
            </a:r>
            <a:r>
              <a:rPr sz="1050" b="0" i="0">
                <a:solidFill>
                  <a:srgbClr val="16213A"/>
                </a:solidFill>
                <a:latin typeface="Arial"/>
                <a:ea typeface="Malgun Gothic"/>
                <a:cs typeface="Malgun Gothic"/>
              </a:rPr>
              <a:t> 맞는 방향이다.</a:t>
            </a:r>
          </a:p>
        </p:txBody>
      </p:sp>
      <p:sp>
        <p:nvSpPr>
          <p:cNvPr id="11" name="TextBox 10"/>
          <p:cNvSpPr txBox="1"/>
          <p:nvPr/>
        </p:nvSpPr>
        <p:spPr>
          <a:xfrm>
            <a:off x="609600" y="569952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바퀴는 거기에 빠진다.</a:t>
            </a:r>
            <a:r>
              <a:rPr sz="1050" b="0" i="0">
                <a:solidFill>
                  <a:srgbClr val="16213A"/>
                </a:solidFill>
                <a:latin typeface="Arial"/>
                <a:ea typeface="Malgun Gothic"/>
                <a:cs typeface="Malgun Gothic"/>
              </a:rPr>
              <a:t> travplan이 A.2b.7에서 상류 </a:t>
            </a:r>
            <a:r>
              <a:rPr sz="1050" b="0" i="0">
                <a:solidFill>
                  <a:srgbClr val="16213A"/>
                </a:solidFill>
                <a:latin typeface="Consolas"/>
                <a:ea typeface="Malgun Gothic"/>
                <a:cs typeface="Malgun Gothic"/>
              </a:rPr>
              <a:t>inpainting</a:t>
            </a:r>
            <a:r>
              <a:rPr sz="1050" b="0" i="0">
                <a:solidFill>
                  <a:srgbClr val="16213A"/>
                </a:solidFill>
                <a:latin typeface="Arial"/>
                <a:ea typeface="Malgun Gothic"/>
                <a:cs typeface="Malgun Gothic"/>
              </a:rPr>
              <a:t> 플러그인을 기각한 것과 </a:t>
            </a:r>
            <a:r>
              <a:rPr sz="1050" b="1" i="0">
                <a:solidFill>
                  <a:srgbClr val="16213A"/>
                </a:solidFill>
                <a:latin typeface="Arial"/>
                <a:ea typeface="Malgun Gothic"/>
                <a:cs typeface="Malgun Gothic"/>
              </a:rPr>
              <a:t>정확히 같은 이유</a:t>
            </a:r>
            <a:r>
              <a:rPr sz="1050" b="0" i="0">
                <a:solidFill>
                  <a:srgbClr val="16213A"/>
                </a:solidFill>
                <a:latin typeface="Arial"/>
                <a:ea typeface="Malgun Gothic"/>
                <a:cs typeface="Malgun Gothic"/>
              </a:rPr>
              <a:t>다 — 미관측·음의 영역을 메우는 동작은 사족에게는 복원이고 바퀴에게는 </a:t>
            </a:r>
            <a:r>
              <a:rPr sz="1050" b="1" i="0">
                <a:solidFill>
                  <a:srgbClr val="16213A"/>
                </a:solidFill>
                <a:latin typeface="Arial"/>
                <a:ea typeface="Malgun Gothic"/>
                <a:cs typeface="Malgun Gothic"/>
              </a:rPr>
              <a:t>구덩이 은폐</a:t>
            </a:r>
            <a:r>
              <a:rPr sz="1050" b="0" i="0">
                <a:solidFill>
                  <a:srgbClr val="16213A"/>
                </a:solidFill>
                <a:latin typeface="Arial"/>
                <a:ea typeface="Malgun Gothic"/>
                <a:cs typeface="Malgun Gothic"/>
              </a:rPr>
              <a:t>다. travplan은 반대 방향으로 간다: 그림자 상한(TP-0044)과 깊이 prior(TP-0047·0067·0095)로 </a:t>
            </a:r>
            <a:r>
              <a:rPr sz="1050" b="1" i="0">
                <a:solidFill>
                  <a:srgbClr val="C2410C"/>
                </a:solidFill>
                <a:latin typeface="Arial"/>
                <a:ea typeface="Malgun Gothic"/>
                <a:cs typeface="Malgun Gothic"/>
              </a:rPr>
              <a:t>못 본 곳을 오히려 더 깊게</a:t>
            </a:r>
            <a:r>
              <a:rPr sz="1050" b="0" i="0">
                <a:solidFill>
                  <a:srgbClr val="16213A"/>
                </a:solidFill>
                <a:latin typeface="Arial"/>
                <a:ea typeface="Malgun Gothic"/>
                <a:cs typeface="Malgun Gothic"/>
              </a:rPr>
              <a:t> 가정한다.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44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그래서 이 연구실 지형 라인을 읽을 때 기준은 하나다 — </a:t>
            </a:r>
            <a:r>
              <a:rPr sz="1050" b="1" i="0">
                <a:solidFill>
                  <a:srgbClr val="C2410C"/>
                </a:solidFill>
                <a:latin typeface="Arial"/>
                <a:ea typeface="Malgun Gothic"/>
                <a:cs typeface="Malgun Gothic"/>
              </a:rPr>
              <a:t>"이 방법이 구덩이를 메우는가, 파는가."</a:t>
            </a:r>
            <a:r>
              <a:rPr sz="1050" b="0" i="0">
                <a:solidFill>
                  <a:srgbClr val="16213A"/>
                </a:solidFill>
                <a:latin typeface="Arial"/>
                <a:ea typeface="Malgun Gothic"/>
                <a:cs typeface="Malgun Gothic"/>
              </a:rPr>
              <a:t> 메우는 쪽은 사족용이고, travplan은 파는 쪽이다. 같은 연구실의 같은 줄기 안에서도 이 축으로 갈린다.</a:t>
            </a:r>
          </a:p>
        </p:txBody>
      </p:sp>
      <p:sp>
        <p:nvSpPr>
          <p:cNvPr id="6" name="TextBox 5"/>
          <p:cNvSpPr txBox="1"/>
          <p:nvPr/>
        </p:nvSpPr>
        <p:spPr>
          <a:xfrm>
            <a:off x="609600" y="1766491"/>
            <a:ext cx="10972800" cy="188516"/>
          </a:xfrm>
          <a:prstGeom prst="rect">
            <a:avLst/>
          </a:prstGeom>
          <a:noFill/>
        </p:spPr>
        <p:txBody>
          <a:bodyPr wrap="square" lIns="0" rIns="0" tIns="0" bIns="0" anchor="t">
            <a:spAutoFit/>
            <a:normAutofit/>
          </a:bodyPr>
          <a:lstStyle/>
          <a:p>
            <a:r>
              <a:rPr sz="1050" b="1" i="0">
                <a:solidFill>
                  <a:srgbClr val="5A6478"/>
                </a:solidFill>
                <a:latin typeface="Arial"/>
                <a:ea typeface="Malgun Gothic"/>
                <a:cs typeface="Malgun Gothic"/>
              </a:rPr>
              <a:t>지면 분할(Patchwork 계열)만은 다르다</a:t>
            </a:r>
          </a:p>
        </p:txBody>
      </p:sp>
      <p:sp>
        <p:nvSpPr>
          <p:cNvPr id="7" name="TextBox 6"/>
          <p:cNvSpPr txBox="1"/>
          <p:nvPr/>
        </p:nvSpPr>
        <p:spPr>
          <a:xfrm>
            <a:off x="609600" y="204390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지면 분할은 </a:t>
            </a:r>
            <a:r>
              <a:rPr sz="1050" b="1" i="0">
                <a:solidFill>
                  <a:srgbClr val="16213A"/>
                </a:solidFill>
                <a:latin typeface="Arial"/>
                <a:ea typeface="Malgun Gothic"/>
                <a:cs typeface="Malgun Gothic"/>
              </a:rPr>
              <a:t>구덩이를 메우지 않는다.</a:t>
            </a:r>
            <a:r>
              <a:rPr sz="1050" b="0" i="0">
                <a:solidFill>
                  <a:srgbClr val="16213A"/>
                </a:solidFill>
                <a:latin typeface="Arial"/>
                <a:ea typeface="Malgun Gothic"/>
                <a:cs typeface="Malgun Gothic"/>
              </a:rPr>
              <a:t> 점이 지면인지 아닌지만 가른다. travplan의 L1은 지금 </a:t>
            </a:r>
            <a:r>
              <a:rPr sz="1050" b="1" i="0">
                <a:solidFill>
                  <a:srgbClr val="16213A"/>
                </a:solidFill>
                <a:latin typeface="Arial"/>
                <a:ea typeface="Malgun Gothic"/>
                <a:cs typeface="Malgun Gothic"/>
              </a:rPr>
              <a:t>모든 LiDAR 점을</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elevation_mapping_cupy</a:t>
            </a:r>
            <a:r>
              <a:rPr sz="1050" b="0" i="0">
                <a:solidFill>
                  <a:srgbClr val="16213A"/>
                </a:solidFill>
                <a:latin typeface="Arial"/>
                <a:ea typeface="Malgun Gothic"/>
                <a:cs typeface="Malgun Gothic"/>
              </a:rPr>
              <a:t>에 넣는데, 여기에 지면/비지면 분할을 앞에 두면 CLAUDE.md가 적어 둔 한계 </a:t>
            </a:r>
            <a:r>
              <a:rPr sz="1050" b="0" i="1">
                <a:solidFill>
                  <a:srgbClr val="16213A"/>
                </a:solidFill>
                <a:latin typeface="Arial"/>
                <a:ea typeface="Malgun Gothic"/>
                <a:cs typeface="Malgun Gothic"/>
              </a:rPr>
              <a:t>"높은 박스 윗면 저비용"</a:t>
            </a:r>
            <a:r>
              <a:rPr sz="1050" b="0" i="0">
                <a:solidFill>
                  <a:srgbClr val="16213A"/>
                </a:solidFill>
                <a:latin typeface="Arial"/>
                <a:ea typeface="Malgun Gothic"/>
                <a:cs typeface="Malgun Gothic"/>
              </a:rPr>
              <a:t>을 앞단에서 줄일 수 있다 — 상자 윗면 점이 지면으로 기록되지 않기 때문이다.</a:t>
            </a:r>
          </a:p>
        </p:txBody>
      </p:sp>
      <p:sp>
        <p:nvSpPr>
          <p:cNvPr id="8" name="TextBox 7"/>
          <p:cNvSpPr txBox="1"/>
          <p:nvPr/>
        </p:nvSpPr>
        <p:spPr>
          <a:xfrm>
            <a:off x="609600" y="2565797"/>
            <a:ext cx="10972800" cy="13497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의존성이 </a:t>
            </a:r>
            <a:r>
              <a:rPr sz="1050" b="1" i="0">
                <a:solidFill>
                  <a:srgbClr val="16213A"/>
                </a:solidFill>
                <a:latin typeface="Arial"/>
                <a:ea typeface="Malgun Gothic"/>
                <a:cs typeface="Malgun Gothic"/>
              </a:rPr>
              <a:t>Eigen뿐</a:t>
            </a:r>
            <a:r>
              <a:rPr sz="1050" b="0" i="0">
                <a:solidFill>
                  <a:srgbClr val="16213A"/>
                </a:solidFill>
                <a:latin typeface="Arial"/>
                <a:ea typeface="Malgun Gothic"/>
                <a:cs typeface="Malgun Gothic"/>
              </a:rPr>
              <a:t>이고 </a:t>
            </a:r>
            <a:r>
              <a:rPr sz="1050" b="0" i="0">
                <a:solidFill>
                  <a:srgbClr val="16213A"/>
                </a:solidFill>
                <a:latin typeface="Consolas"/>
                <a:ea typeface="Malgun Gothic"/>
                <a:cs typeface="Malgun Gothic"/>
              </a:rPr>
              <a:t>pip install pypatchworkpp</a:t>
            </a:r>
            <a:r>
              <a:rPr sz="1050" b="0" i="0">
                <a:solidFill>
                  <a:srgbClr val="16213A"/>
                </a:solidFill>
                <a:latin typeface="Arial"/>
                <a:ea typeface="Malgun Gothic"/>
                <a:cs typeface="Malgun Gothic"/>
              </a:rPr>
              <a:t>로 들어온다. ROS 없이 쓸 수 있다. ⚠️ 다만 </a:t>
            </a:r>
            <a:r>
              <a:rPr sz="1050" b="1" i="0">
                <a:solidFill>
                  <a:srgbClr val="C2410C"/>
                </a:solidFill>
                <a:latin typeface="Arial"/>
                <a:ea typeface="Malgun Gothic"/>
                <a:cs typeface="Malgun Gothic"/>
              </a:rPr>
              <a:t>공식 ROS 래퍼는 GPL-3.0이다</a:t>
            </a:r>
            <a:r>
              <a:rPr sz="1050" b="0" i="0">
                <a:solidFill>
                  <a:srgbClr val="16213A"/>
                </a:solidFill>
                <a:latin typeface="Arial"/>
                <a:ea typeface="Malgun Gothic"/>
                <a:cs typeface="Malgun Gothic"/>
              </a:rPr>
              <a:t> — BSD-2는 코어뿐이고 </a:t>
            </a:r>
            <a:r>
              <a:rPr sz="1050" b="0" i="0">
                <a:solidFill>
                  <a:srgbClr val="1D4ED8"/>
                </a:solidFill>
                <a:latin typeface="Arial"/>
                <a:ea typeface="Malgun Gothic"/>
                <a:cs typeface="Malgun Gothic"/>
                <a:hlinkClick r:id="rId3"/>
              </a:rPr>
              <a:t>url-kaist/patchwork-plusplus-ros</a:t>
            </a:r>
            <a:r>
              <a:rPr sz="1050" b="0" i="0">
                <a:solidFill>
                  <a:srgbClr val="16213A"/>
                </a:solidFill>
                <a:latin typeface="Arial"/>
                <a:ea typeface="Malgun Gothic"/>
                <a:cs typeface="Malgun Gothic"/>
              </a:rPr>
              <a:t>는 GPL-3.0이다. travplan의 P1이 ROS 2 Jazzy이므로 그 래퍼를 가져다 쓰지 않고 </a:t>
            </a:r>
            <a:r>
              <a:rPr sz="1050" b="1" i="0">
                <a:solidFill>
                  <a:srgbClr val="C2410C"/>
                </a:solidFill>
                <a:latin typeface="Arial"/>
                <a:ea typeface="Malgun Gothic"/>
                <a:cs typeface="Malgun Gothic"/>
              </a:rPr>
              <a:t>코어를 직접 링크해야</a:t>
            </a:r>
            <a:r>
              <a:rPr sz="1050" b="0" i="0">
                <a:solidFill>
                  <a:srgbClr val="16213A"/>
                </a:solidFill>
                <a:latin typeface="Arial"/>
                <a:ea typeface="Malgun Gothic"/>
                <a:cs typeface="Malgun Gothic"/>
              </a:rPr>
              <a:t> 한다.</a:t>
            </a:r>
          </a:p>
          <a:p>
            <a:pPr>
              <a:spcBef>
                <a:spcPts val="200"/>
              </a:spcBef>
            </a:pPr>
            <a:r>
              <a:rPr sz="1050" b="0" i="0">
                <a:solidFill>
                  <a:srgbClr val="5A6478"/>
                </a:solidFill>
                <a:latin typeface="Arial"/>
                <a:ea typeface="Malgun Gothic"/>
                <a:cs typeface="Malgun Gothic"/>
              </a:rPr>
              <a:t>• </a:t>
            </a:r>
            <a:r>
              <a:rPr sz="1050" b="1" i="0">
                <a:solidFill>
                  <a:srgbClr val="C2410C"/>
                </a:solidFill>
                <a:latin typeface="Arial"/>
                <a:ea typeface="Malgun Gothic"/>
                <a:cs typeface="Malgun Gothic"/>
              </a:rPr>
              <a:t>BSD-2-Clause라 상용 배달로봇에 넣을 수 있다.</a:t>
            </a:r>
            <a:r>
              <a:rPr sz="1050" b="0" i="0">
                <a:solidFill>
                  <a:srgbClr val="16213A"/>
                </a:solidFill>
                <a:latin typeface="Arial"/>
                <a:ea typeface="Malgun Gothic"/>
                <a:cs typeface="Malgun Gothic"/>
              </a:rPr>
              <a:t> 이 연구실 공개 저장소 27개 중 </a:t>
            </a:r>
            <a:r>
              <a:rPr sz="1050" b="1" i="0">
                <a:solidFill>
                  <a:srgbClr val="C2410C"/>
                </a:solidFill>
                <a:latin typeface="Arial"/>
                <a:ea typeface="Malgun Gothic"/>
                <a:cs typeface="Malgun Gothic"/>
              </a:rPr>
              <a:t>15개가 GPL-3.0</a:t>
            </a:r>
            <a:r>
              <a:rPr sz="1050" b="1" i="0">
                <a:solidFill>
                  <a:srgbClr val="C2410C"/>
                </a:solidFill>
                <a:latin typeface="Arial"/>
                <a:ea typeface="Malgun Gothic"/>
                <a:cs typeface="Malgun Gothic"/>
              </a:rPr>
              <a:t>이고 허용 라이선스는 여섯</a:t>
            </a:r>
            <a:r>
              <a:rPr sz="1050" b="0" i="0">
                <a:solidFill>
                  <a:srgbClr val="16213A"/>
                </a:solidFill>
                <a:latin typeface="Arial"/>
                <a:ea typeface="Malgun Gothic"/>
                <a:cs typeface="Malgun Gothic"/>
              </a:rPr>
              <a:t>이다(Apache-2.0 3, MIT 2, BSD-2 1. 그 밖에 GPL-2.0 2, AGPL-3.0 1 = Patchwork2, 라이선스 없음 3). Patchwork++가 그 BSD-2 하나이고, MIT인 Patchwork는 1저자 계정이라 이 집계 밖이다.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 다만 </a:t>
            </a:r>
            <a:r>
              <a:rPr sz="1050" b="1" i="0">
                <a:solidFill>
                  <a:srgbClr val="16213A"/>
                </a:solidFill>
                <a:latin typeface="Arial"/>
                <a:ea typeface="Malgun Gothic"/>
                <a:cs typeface="Malgun Gothic"/>
              </a:rPr>
              <a:t>아직 재 보지 않았다.</a:t>
            </a:r>
            <a:r>
              <a:rPr sz="1050" b="0" i="0">
                <a:solidFill>
                  <a:srgbClr val="16213A"/>
                </a:solidFill>
                <a:latin typeface="Arial"/>
                <a:ea typeface="Malgun Gothic"/>
                <a:cs typeface="Malgun Gothic"/>
              </a:rPr>
              <a:t> travplan의 합성 LiDAR는 0.05 m 격자에 5 m 사거리이고, Patchwork++는 차량용 64채널 원거리 스캔에 맞춰 조정돼 있다. 구역 수와 문턱이 보도 규모에서 그대로 통하는지는 측정해야 안다.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r>
              <a:rPr sz="1050" b="0" i="0">
                <a:solidFill>
                  <a:srgbClr val="5A6478"/>
                </a:solidFill>
                <a:latin typeface="Arial"/>
                <a:ea typeface="Malgun Gothic"/>
                <a:cs typeface="Malgun Gothic"/>
              </a:rPr>
              <a:t>  자세히: 이 연구실의 "지면 분할과 traversability는 다르다"는 입장</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45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그룹은 2024년에 서베이를 한 편 냈다 — </a:t>
            </a:r>
            <a:r>
              <a:rPr sz="1050" b="0" i="1">
                <a:solidFill>
                  <a:srgbClr val="16213A"/>
                </a:solidFill>
                <a:latin typeface="Arial"/>
                <a:ea typeface="Malgun Gothic"/>
                <a:cs typeface="Malgun Gothic"/>
              </a:rPr>
              <a:t>Similar but Different: A Survey of Ground Segmentation and Traversability Estimation for Terrestrial Robots</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arXiv:2312.16839</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IJCAS 22(2):347–359, 2024</a:t>
            </a:r>
            <a:r>
              <a:rPr sz="1050" b="0" i="0">
                <a:solidFill>
                  <a:srgbClr val="16213A"/>
                </a:solidFill>
                <a:latin typeface="Arial"/>
                <a:ea typeface="Malgun Gothic"/>
                <a:cs typeface="Malgun Gothic"/>
              </a:rPr>
              <a:t>).</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이것은 중립적인 제3자 서베이가 아니라 </a:t>
            </a:r>
            <a:r>
              <a:rPr sz="1050" b="1" i="0">
                <a:solidFill>
                  <a:srgbClr val="C2410C"/>
                </a:solidFill>
                <a:latin typeface="Arial"/>
                <a:ea typeface="Malgun Gothic"/>
                <a:cs typeface="Malgun Gothic"/>
              </a:rPr>
              <a:t>Patchwork·TRAVEL·B-TMS·TRIP을 쓴 바로 그 사람들의 입장 논문</a:t>
            </a:r>
            <a:r>
              <a:rPr sz="1050" b="1" i="0">
                <a:solidFill>
                  <a:srgbClr val="C2410C"/>
                </a:solidFill>
                <a:latin typeface="Arial"/>
                <a:ea typeface="Malgun Gothic"/>
                <a:cs typeface="Malgun Gothic"/>
              </a:rPr>
              <a:t>이다.</a:t>
            </a:r>
            <a:r>
              <a:rPr sz="1050" b="0" i="0">
                <a:solidFill>
                  <a:srgbClr val="16213A"/>
                </a:solidFill>
                <a:latin typeface="Arial"/>
                <a:ea typeface="Malgun Gothic"/>
                <a:cs typeface="Malgun Gothic"/>
              </a:rPr>
              <a:t> 그래서 이들의 지형 논문이 왜 전부 같은 모양인지가 여기서 설명된다. 서베이는 두 개념이 흔히 혼동된다고 보고 네 축으로 가른다 — 로봇 플랫폼의 기동성, 주변 환경 안에서의 로봇 위치, </a:t>
            </a:r>
            <a:r>
              <a:rPr sz="1050" b="1" i="0">
                <a:solidFill>
                  <a:srgbClr val="16213A"/>
                </a:solidFill>
                <a:latin typeface="Arial"/>
                <a:ea typeface="Malgun Gothic"/>
                <a:cs typeface="Malgun Gothic"/>
              </a:rPr>
              <a:t>음의 장애물의 포함 관계</a:t>
            </a:r>
            <a:r>
              <a:rPr sz="1050" b="0" i="0">
                <a:solidFill>
                  <a:srgbClr val="16213A"/>
                </a:solidFill>
                <a:latin typeface="Arial"/>
                <a:ea typeface="Malgun Gothic"/>
                <a:cs typeface="Malgun Gothic"/>
              </a:rPr>
              <a:t>, 그리고 데이터의 포함 관계다.</a:t>
            </a:r>
          </a:p>
        </p:txBody>
      </p:sp>
      <p:sp>
        <p:nvSpPr>
          <p:cNvPr id="7" name="TextBox 6"/>
          <p:cNvSpPr txBox="1"/>
          <p:nvPr/>
        </p:nvSpPr>
        <p:spPr>
          <a:xfrm>
            <a:off x="609600" y="228838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세 번째 축이 travplan에 직접 걸린다. 지면 분할은 "점이 지면인가"를 묻고, traversability는 "로봇이 지나갈 수 있는가"를 묻는다. </a:t>
            </a:r>
            <a:r>
              <a:rPr sz="1050" b="1" i="0">
                <a:solidFill>
                  <a:srgbClr val="C2410C"/>
                </a:solidFill>
                <a:latin typeface="Arial"/>
                <a:ea typeface="Malgun Gothic"/>
                <a:cs typeface="Malgun Gothic"/>
              </a:rPr>
              <a:t>구덩이 바닥은 </a:t>
            </a:r>
            <a:r>
              <a:rPr sz="1050" b="1" i="0">
                <a:solidFill>
                  <a:srgbClr val="C2410C"/>
                </a:solidFill>
                <a:latin typeface="Arial"/>
                <a:ea typeface="Malgun Gothic"/>
                <a:cs typeface="Malgun Gothic"/>
              </a:rPr>
              <a:t>지면이지만 지나갈 수 없다</a:t>
            </a:r>
            <a:r>
              <a:rPr sz="1050" b="1" i="0">
                <a:solidFill>
                  <a:srgbClr val="C2410C"/>
                </a:solidFill>
                <a:latin typeface="Arial"/>
                <a:ea typeface="Malgun Gothic"/>
                <a:cs typeface="Malgun Gothic"/>
              </a:rPr>
              <a:t>.</a:t>
            </a:r>
            <a:r>
              <a:rPr sz="1050" b="0" i="0">
                <a:solidFill>
                  <a:srgbClr val="16213A"/>
                </a:solidFill>
                <a:latin typeface="Arial"/>
                <a:ea typeface="Malgun Gothic"/>
                <a:cs typeface="Malgun Gothic"/>
              </a:rPr>
              <a:t> 이 구분이 B-TMS가 왜 구덩이를 메우고 travplan이 왜 파는지의 근거다 — 두 쪽이 </a:t>
            </a:r>
            <a:r>
              <a:rPr sz="1050" b="1" i="0">
                <a:solidFill>
                  <a:srgbClr val="16213A"/>
                </a:solidFill>
                <a:latin typeface="Arial"/>
                <a:ea typeface="Malgun Gothic"/>
                <a:cs typeface="Malgun Gothic"/>
              </a:rPr>
              <a:t>서로 다른 질문에 답하고 있다.</a:t>
            </a:r>
          </a:p>
        </p:txBody>
      </p:sp>
      <p:sp>
        <p:nvSpPr>
          <p:cNvPr id="8" name="TextBox 7"/>
          <p:cNvSpPr txBox="1"/>
          <p:nvPr/>
        </p:nvSpPr>
        <p:spPr>
          <a:xfrm>
            <a:off x="609600" y="281027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travplan은 이 서베이를 이미 두 곳에서 인용하는데(D.1, A.2b.7), 중립 서베이로 다루고 있었다. 저자 관계를 밝혀 두면 그 분류 축이 왜 그렇게 그어졌는지가 읽힌다.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A.2b 로봇 지형 지도의 계보 — travplan이 쓰는 쪽</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46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수치.</a:t>
            </a:r>
            <a:r>
              <a:rPr sz="1050" b="0" i="0">
                <a:solidFill>
                  <a:srgbClr val="16213A"/>
                </a:solidFill>
                <a:latin typeface="Arial"/>
                <a:ea typeface="Malgun Gothic"/>
                <a:cs typeface="Malgun Gothic"/>
              </a:rPr>
              <a:t> SemanticKITTI 단일 스캔(식생 제외) 기준으로 B-TMS가 자기 논문 Table II에 세 방법을 함께 싣는다 — B-TMS P 95.5 / R 97.0 / F1 96.2 @ 22 ms, TRAVEL 96.3 / 95.1 / 95.7 @ 18 ms, Patchwork 94.2 / 97.6 / 95.8 @ 25 ms. </a:t>
            </a:r>
            <a:r>
              <a:rPr sz="1050" b="1" i="0">
                <a:solidFill>
                  <a:srgbClr val="C2410C"/>
                </a:solidFill>
                <a:latin typeface="Arial"/>
                <a:ea typeface="Malgun Gothic"/>
                <a:cs typeface="Malgun Gothic"/>
              </a:rPr>
              <a:t>셋이 F1 0.5 %p 안에 있다.</a:t>
            </a:r>
            <a:r>
              <a:rPr sz="1050" b="0" i="0">
                <a:solidFill>
                  <a:srgbClr val="16213A"/>
                </a:solidFill>
                <a:latin typeface="Arial"/>
                <a:ea typeface="Malgun Gothic"/>
                <a:cs typeface="Malgun Gothic"/>
              </a:rPr>
              <a:t> 즉 </a:t>
            </a:r>
            <a:r>
              <a:rPr sz="1050" b="1" i="0">
                <a:solidFill>
                  <a:srgbClr val="16213A"/>
                </a:solidFill>
                <a:latin typeface="Arial"/>
                <a:ea typeface="Malgun Gothic"/>
                <a:cs typeface="Malgun Gothic"/>
              </a:rPr>
              <a:t>정확도로 고를 일이 아니라 라이선스와 의존성으로 고를 일이다.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A.2c 고전 점유 격자와 거리장 — 드론 계열이 20년 판 자리</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47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travplan이 TP-0071에서 치명 셀의 거리 변환(EDT)을 직접 만들어 쓰기 시작했다.</a:t>
            </a:r>
            <a:r>
              <a:rPr sz="1050" b="0" i="0">
                <a:solidFill>
                  <a:srgbClr val="16213A"/>
                </a:solidFill>
                <a:latin typeface="Arial"/>
                <a:ea typeface="Malgun Gothic"/>
                <a:cs typeface="Malgun Gothic"/>
              </a:rPr>
              <a:t> 그 자리를 오래 판 계보가 따로 있다. ZJU FAST Lab(Fei Gao)과 그 전신인 HKUST 쪽의 </a:t>
            </a:r>
            <a:r>
              <a:rPr sz="1050" b="1" i="0">
                <a:solidFill>
                  <a:srgbClr val="16213A"/>
                </a:solidFill>
                <a:latin typeface="Arial"/>
                <a:ea typeface="Malgun Gothic"/>
                <a:cs typeface="Malgun Gothic"/>
              </a:rPr>
              <a:t>비학습 점유 격자·거리장</a:t>
            </a:r>
            <a:r>
              <a:rPr sz="1050" b="0" i="0">
                <a:solidFill>
                  <a:srgbClr val="16213A"/>
                </a:solidFill>
                <a:latin typeface="Arial"/>
                <a:ea typeface="Malgun Gothic"/>
                <a:cs typeface="Malgun Gothic"/>
              </a:rPr>
              <a:t> 연구다. 학습이 하나도 들어가지 않는데도 travplan에 걸리는 이유는, </a:t>
            </a:r>
            <a:r>
              <a:rPr sz="1050" b="1" i="0">
                <a:solidFill>
                  <a:srgbClr val="C2410C"/>
                </a:solidFill>
                <a:latin typeface="Arial"/>
                <a:ea typeface="Malgun Gothic"/>
                <a:cs typeface="Malgun Gothic"/>
              </a:rPr>
              <a:t>우리가 지금 손으로 만들고 있는 자료구조를 이 계열이 이미 최적화해 두었기 때문</a:t>
            </a:r>
            <a:r>
              <a:rPr sz="1050" b="0" i="0">
                <a:solidFill>
                  <a:srgbClr val="16213A"/>
                </a:solidFill>
                <a:latin typeface="Arial"/>
                <a:ea typeface="Malgun Gothic"/>
                <a:cs typeface="Malgun Gothic"/>
              </a:rPr>
              <a:t>이다.</a:t>
            </a:r>
          </a:p>
        </p:txBody>
      </p:sp>
      <p:graphicFrame>
        <p:nvGraphicFramePr>
          <p:cNvPr id="6" name="Table 5"/>
          <p:cNvGraphicFramePr>
            <a:graphicFrameLocks noGrp="1"/>
          </p:cNvGraphicFramePr>
          <p:nvPr/>
        </p:nvGraphicFramePr>
        <p:xfrm>
          <a:off x="609600" y="1766491"/>
          <a:ext cx="10966450" cy="1773792"/>
        </p:xfrm>
        <a:graphic>
          <a:graphicData uri="http://schemas.openxmlformats.org/drawingml/2006/table">
            <a:tbl>
              <a:tblPr firstRow="1" bandRow="1">
                <a:tableStyleId>{5C22544A-7EE6-4342-B048-85BDC9FD1C3A}</a:tableStyleId>
              </a:tblPr>
              <a:tblGrid>
                <a:gridCol w="623590"/>
                <a:gridCol w="2931418"/>
                <a:gridCol w="5634236"/>
                <a:gridCol w="1777206"/>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Ewok (TUM, 참조)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3D </a:t>
                      </a:r>
                      <a:r>
                        <a:rPr sz="800" b="1" i="0">
                          <a:solidFill>
                            <a:srgbClr val="16213A"/>
                          </a:solidFill>
                          <a:latin typeface="Arial"/>
                          <a:ea typeface="Malgun Gothic"/>
                          <a:cs typeface="Malgun Gothic"/>
                        </a:rPr>
                        <a:t>원형 버퍼</a:t>
                      </a:r>
                      <a:r>
                        <a:rPr sz="800" b="0" i="0">
                          <a:solidFill>
                            <a:srgbClr val="16213A"/>
                          </a:solidFill>
                          <a:latin typeface="Arial"/>
                          <a:ea typeface="Malgun Gothic"/>
                          <a:cs typeface="Malgun Gothic"/>
                        </a:rPr>
                        <a:t> 점유 격자 + uniform B-spline 재계획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2019</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FIESTA</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전역 ESDF를 증분으로</a:t>
                      </a:r>
                      <a:r>
                        <a:rPr sz="800" b="0" i="0">
                          <a:solidFill>
                            <a:srgbClr val="16213A"/>
                          </a:solidFill>
                          <a:latin typeface="Arial"/>
                          <a:ea typeface="Malgun Gothic"/>
                          <a:cs typeface="Malgun Gothic"/>
                        </a:rPr>
                        <a:t> 유지. 삽입·삭제 두 큐 + 최근접 장애물 이중 연결 리스트</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3"/>
                        </a:rPr>
                        <a:t>FIESTA</a:t>
                      </a:r>
                      <a:r>
                        <a:rPr sz="800" b="0" i="0">
                          <a:solidFill>
                            <a:srgbClr val="16213A"/>
                          </a:solidFill>
                          <a:latin typeface="Arial"/>
                          <a:ea typeface="Malgun Gothic"/>
                          <a:cs typeface="Malgun Gothic"/>
                        </a:rPr>
                        <a:t> 0.8k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2019</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Fast-Planner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log-odds 점유 격자 + </a:t>
                      </a:r>
                      <a:r>
                        <a:rPr sz="800" b="1" i="0">
                          <a:solidFill>
                            <a:srgbClr val="16213A"/>
                          </a:solidFill>
                          <a:latin typeface="Arial"/>
                          <a:ea typeface="Malgun Gothic"/>
                          <a:cs typeface="Malgun Gothic"/>
                        </a:rPr>
                        <a:t>국소 배치 EDT</a:t>
                      </a:r>
                      <a:r>
                        <a:rPr sz="800" b="0" i="0">
                          <a:solidFill>
                            <a:srgbClr val="16213A"/>
                          </a:solidFill>
                          <a:latin typeface="Arial"/>
                          <a:ea typeface="Malgun Gothic"/>
                          <a:cs typeface="Malgun Gothic"/>
                        </a:rPr>
                        <a:t>(Felzenszwalb O(n) 스윕, 양·음 2패스)</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4"/>
                        </a:rPr>
                        <a:t>Fast-Planner</a:t>
                      </a:r>
                      <a:r>
                        <a:rPr sz="800" b="0" i="0">
                          <a:solidFill>
                            <a:srgbClr val="16213A"/>
                          </a:solidFill>
                          <a:latin typeface="Arial"/>
                          <a:ea typeface="Malgun Gothic"/>
                          <a:cs typeface="Malgun Gothic"/>
                        </a:rPr>
                        <a:t> 3.4k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2020</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EGO-Planner</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ESDF를 없앴다.</a:t>
                      </a:r>
                      <a:r>
                        <a:rPr sz="800" b="0" i="0">
                          <a:solidFill>
                            <a:srgbClr val="16213A"/>
                          </a:solidFill>
                          <a:latin typeface="Arial"/>
                          <a:ea typeface="Malgun Gothic"/>
                          <a:cs typeface="Malgun Gothic"/>
                        </a:rPr>
                        <a:t> 제어점마다 </a:t>
                      </a:r>
                      <a:r>
                        <a:rPr sz="800" b="0" i="1">
                          <a:solidFill>
                            <a:srgbClr val="16213A"/>
                          </a:solidFill>
                          <a:latin typeface="Arial"/>
                          <a:ea typeface="Malgun Gothic"/>
                          <a:cs typeface="Malgun Gothic"/>
                        </a:rPr>
                        <a:t>{p, v}</a:t>
                      </a:r>
                      <a:r>
                        <a:rPr sz="800" b="0" i="0">
                          <a:solidFill>
                            <a:srgbClr val="16213A"/>
                          </a:solidFill>
                          <a:latin typeface="Arial"/>
                          <a:ea typeface="Malgun Gothic"/>
                          <a:cs typeface="Malgun Gothic"/>
                        </a:rPr>
                        <a:t> 앵커 평면으로 거리·경사를 직접 만든다</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ego-planner</a:t>
                      </a:r>
                      <a:r>
                        <a:rPr sz="800" b="0" i="0">
                          <a:solidFill>
                            <a:srgbClr val="16213A"/>
                          </a:solidFill>
                          <a:latin typeface="Arial"/>
                          <a:ea typeface="Malgun Gothic"/>
                          <a:cs typeface="Malgun Gothic"/>
                        </a:rPr>
                        <a:t> 2.7k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EGO-Planner-v2 (Science Robotics)</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ring buffer 점유 격자 + 증분 팽창 카운터 + 시간 감쇠</a:t>
                      </a:r>
                      <a:r>
                        <a:rPr sz="800" b="0" i="0">
                          <a:solidFill>
                            <a:srgbClr val="16213A"/>
                          </a:solidFill>
                          <a:latin typeface="Arial"/>
                          <a:ea typeface="Malgun Gothic"/>
                          <a:cs typeface="Malgun Gothic"/>
                        </a:rPr>
                        <a:t>. 논문이 아니라 코드에만 있다</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EGO-Planner-v2</a:t>
                      </a:r>
                      <a:r>
                        <a:rPr sz="800" b="0" i="0">
                          <a:solidFill>
                            <a:srgbClr val="16213A"/>
                          </a:solidFill>
                          <a:latin typeface="Arial"/>
                          <a:ea typeface="Malgun Gothic"/>
                          <a:cs typeface="Malgun Gothic"/>
                        </a:rPr>
                        <a:t> 0.7k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RC-ESDF</a:t>
                      </a:r>
                      <a:r>
                        <a:rPr sz="800" b="0" i="0">
                          <a:solidFill>
                            <a:srgbClr val="16213A"/>
                          </a:solidFill>
                          <a:latin typeface="Arial"/>
                          <a:ea typeface="Malgun Gothic"/>
                          <a:cs typeface="Malgun Gothic"/>
                        </a:rPr>
                        <a:t>(IROS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거리장을 환경이 아니라 </a:t>
                      </a:r>
                      <a:r>
                        <a:rPr sz="800" b="1" i="0">
                          <a:solidFill>
                            <a:srgbClr val="16213A"/>
                          </a:solidFill>
                          <a:latin typeface="Arial"/>
                          <a:ea typeface="Malgun Gothic"/>
                          <a:cs typeface="Malgun Gothic"/>
                        </a:rPr>
                        <a:t>로봇 몸체 좌표계</a:t>
                      </a:r>
                      <a:r>
                        <a:rPr sz="800" b="0" i="0">
                          <a:solidFill>
                            <a:srgbClr val="16213A"/>
                          </a:solidFill>
                          <a:latin typeface="Arial"/>
                          <a:ea typeface="Malgun Gothic"/>
                          <a:cs typeface="Malgun Gothic"/>
                        </a:rPr>
                        <a:t>에 오프라인으로 만든다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(공식 코드 없음)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ROG-Map </a:t>
                      </a:r>
                      <a:r>
                        <a:rPr sz="800" b="0" i="1">
                          <a:solidFill>
                            <a:srgbClr val="16213A"/>
                          </a:solidFill>
                          <a:latin typeface="Arial"/>
                          <a:ea typeface="Malgun Gothic"/>
                          <a:cs typeface="Malgun Gothic"/>
                        </a:rPr>
                        <a:t>(Fei Gao 아님 — HKU MaRS)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robocentric 슬라이딩 격자, O(n) 증분 팽창, </a:t>
                      </a:r>
                      <a:r>
                        <a:rPr sz="800" b="1" i="0">
                          <a:solidFill>
                            <a:srgbClr val="16213A"/>
                          </a:solidFill>
                          <a:latin typeface="Arial"/>
                          <a:ea typeface="Malgun Gothic"/>
                          <a:cs typeface="Malgun Gothic"/>
                        </a:rPr>
                        <a:t>Unknown을 별도 상태로</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ROG-Map</a:t>
                      </a:r>
                      <a:r>
                        <a:rPr sz="800" b="0" i="0">
                          <a:solidFill>
                            <a:srgbClr val="16213A"/>
                          </a:solidFill>
                          <a:latin typeface="Arial"/>
                          <a:ea typeface="Malgun Gothic"/>
                          <a:cs typeface="Malgun Gothic"/>
                        </a:rPr>
                        <a:t> 0.6k</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2025</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SEB-Naver</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지상 비평탄 지형</a:t>
                      </a:r>
                      <a:r>
                        <a:rPr sz="800" b="0" i="0">
                          <a:solidFill>
                            <a:srgbClr val="16213A"/>
                          </a:solidFill>
                          <a:latin typeface="Arial"/>
                          <a:ea typeface="Malgun Gothic"/>
                          <a:cs typeface="Malgun Gothic"/>
                        </a:rPr>
                        <a:t>. SE(2) 위험 지도를 GPU로 만들고 그 위에 </a:t>
                      </a:r>
                      <a:r>
                        <a:rPr sz="800" b="1" i="0">
                          <a:solidFill>
                            <a:srgbClr val="16213A"/>
                          </a:solidFill>
                          <a:latin typeface="Arial"/>
                          <a:ea typeface="Malgun Gothic"/>
                          <a:cs typeface="Malgun Gothic"/>
                        </a:rPr>
                        <a:t>Felzenszwalb SDF</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seb_naver</a:t>
                      </a:r>
                      <a:r>
                        <a:rPr sz="800" b="0" i="0">
                          <a:solidFill>
                            <a:srgbClr val="16213A"/>
                          </a:solidFill>
                          <a:latin typeface="Arial"/>
                          <a:ea typeface="Malgun Gothic"/>
                          <a:cs typeface="Malgun Gothic"/>
                        </a:rPr>
                        <a:t> 0.1k</a:t>
                      </a:r>
                    </a:p>
                  </a:txBody>
                  <a:tcPr marL="63500" marR="63500" marT="12700" marB="12700">
                    <a:solidFill>
                      <a:srgbClr val="F3F0E8"/>
                    </a:solidFill>
                  </a:tcPr>
                </a:tc>
              </a:tr>
            </a:tbl>
          </a:graphicData>
        </a:graphic>
      </p:graphicFrame>
      <p:sp>
        <p:nvSpPr>
          <p:cNvPr id="7" name="TextBox 6"/>
          <p:cNvSpPr txBox="1"/>
          <p:nvPr/>
        </p:nvSpPr>
        <p:spPr>
          <a:xfrm>
            <a:off x="609600" y="407898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정정 하나.</a:t>
            </a:r>
            <a:r>
              <a:rPr sz="1050" b="0" i="0">
                <a:solidFill>
                  <a:srgbClr val="16213A"/>
                </a:solidFill>
                <a:latin typeface="Arial"/>
                <a:ea typeface="Malgun Gothic"/>
                <a:cs typeface="Malgun Gothic"/>
              </a:rPr>
              <a:t> 흔히 이 묶음으로 언급되는 </a:t>
            </a:r>
            <a:r>
              <a:rPr sz="1050" b="1" i="0">
                <a:solidFill>
                  <a:srgbClr val="16213A"/>
                </a:solidFill>
                <a:latin typeface="Arial"/>
                <a:ea typeface="Malgun Gothic"/>
                <a:cs typeface="Malgun Gothic"/>
              </a:rPr>
              <a:t>ROG-Map에 Fei Gao는 저자가 아니다</a:t>
            </a:r>
            <a:r>
              <a:rPr sz="1050" b="0" i="0">
                <a:solidFill>
                  <a:srgbClr val="16213A"/>
                </a:solidFill>
                <a:latin typeface="Arial"/>
                <a:ea typeface="Malgun Gothic"/>
                <a:cs typeface="Malgun Gothic"/>
              </a:rPr>
              <a:t>(HKU MaRS Lab, Fu Zhang). 기법은 같은 계열이라 함께 둔다.</a:t>
            </a:r>
          </a:p>
        </p:txBody>
      </p:sp>
      <p:sp>
        <p:nvSpPr>
          <p:cNvPr id="8" name="TextBox 7"/>
          <p:cNvSpPr txBox="1"/>
          <p:nvPr/>
        </p:nvSpPr>
        <p:spPr>
          <a:xfrm>
            <a:off x="609600" y="43843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ESDF를 전부 만드는 값이 얼마인가.</a:t>
            </a:r>
            <a:r>
              <a:rPr sz="1050" b="0" i="0">
                <a:solidFill>
                  <a:srgbClr val="16213A"/>
                </a:solidFill>
                <a:latin typeface="Arial"/>
                <a:ea typeface="Malgun Gothic"/>
                <a:cs typeface="Malgun Gothic"/>
              </a:rPr>
              <a:t> EGO-Planner가 잰 숫자가 외부 참조점이 된다 — 10 × 4 × 2 m를 0.1 m로 나눈 </a:t>
            </a:r>
            <a:r>
              <a:rPr sz="1050" b="1" i="0">
                <a:solidFill>
                  <a:srgbClr val="16213A"/>
                </a:solidFill>
                <a:latin typeface="Arial"/>
                <a:ea typeface="Malgun Gothic"/>
                <a:cs typeface="Malgun Gothic"/>
              </a:rPr>
              <a:t>80,000 voxel에 5.07 ms</a:t>
            </a:r>
            <a:r>
              <a:rPr sz="1050" b="0" i="0">
                <a:solidFill>
                  <a:srgbClr val="16213A"/>
                </a:solidFill>
                <a:latin typeface="Arial"/>
                <a:ea typeface="Malgun Gothic"/>
                <a:cs typeface="Malgun Gothic"/>
              </a:rPr>
              <a:t>다(양·음 2패스 포함, 약 63 ns/voxel). 궤적 최적화 자체는 0.37 ms인데 거리장이 그 13배다. </a:t>
            </a:r>
            <a:r>
              <a:rPr sz="1050" b="1" i="0">
                <a:solidFill>
                  <a:srgbClr val="C2410C"/>
                </a:solidFill>
                <a:latin typeface="Arial"/>
                <a:ea typeface="Malgun Gothic"/>
                <a:cs typeface="Malgun Gothic"/>
              </a:rPr>
              <a:t>travplan의 계획 시간 목표가 10 ms인데, 격자 EDT 하나가 그 절반을 먹을 수 있다는 경고다.</a:t>
            </a:r>
          </a:p>
        </p:txBody>
      </p:sp>
      <p:sp>
        <p:nvSpPr>
          <p:cNvPr id="9" name="TextBox 8"/>
          <p:cNvSpPr txBox="1"/>
          <p:nvPr/>
        </p:nvSpPr>
        <p:spPr>
          <a:xfrm>
            <a:off x="609600" y="490626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FIESTA는 증분으로 유지한다.</a:t>
            </a:r>
            <a:r>
              <a:rPr sz="1050" b="0" i="0">
                <a:solidFill>
                  <a:srgbClr val="16213A"/>
                </a:solidFill>
                <a:latin typeface="Arial"/>
                <a:ea typeface="Malgun Gothic"/>
                <a:cs typeface="Malgun Gothic"/>
              </a:rPr>
              <a:t> 점유가 바뀐 복셀만 큐에 넣고 BFS로 전파하며, 어떤 장애물을 최근접으로 참조하는 복셀들을 그 장애물의 이중 연결 리스트로 묶어 둔다. 장애물이 지워지면 그 리스트만 순회하면 된다. VLP-16으로 20 Hz. 다만 논문이 스스로 증명하기를, </a:t>
            </a:r>
            <a:r>
              <a:rPr sz="1050" b="1" i="0">
                <a:solidFill>
                  <a:srgbClr val="16213A"/>
                </a:solidFill>
                <a:latin typeface="Arial"/>
                <a:ea typeface="Malgun Gothic"/>
                <a:cs typeface="Malgun Gothic"/>
              </a:rPr>
              <a:t>BFS 기반 증분 갱신은 어떤 연결성을 써도 정확할 수 없다</a:t>
            </a:r>
            <a:r>
              <a:rPr sz="1050" b="0" i="0">
                <a:solidFill>
                  <a:srgbClr val="16213A"/>
                </a:solidFill>
                <a:latin typeface="Arial"/>
                <a:ea typeface="Malgun Gothic"/>
                <a:cs typeface="Malgun Gothic"/>
              </a:rPr>
              <a:t> — Felzenszwalb 스윕만 정확한데 그건 증분이 안 된다.</a:t>
            </a:r>
          </a:p>
        </p:txBody>
      </p:sp>
      <p:sp>
        <p:nvSpPr>
          <p:cNvPr id="10" name="TextBox 9"/>
          <p:cNvSpPr txBox="1"/>
          <p:nvPr/>
        </p:nvSpPr>
        <p:spPr>
          <a:xfrm>
            <a:off x="609600" y="542815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EGO-Planner는 거리장을 아예 버렸다.</a:t>
            </a:r>
            <a:r>
              <a:rPr sz="1050" b="0" i="0">
                <a:solidFill>
                  <a:srgbClr val="16213A"/>
                </a:solidFill>
                <a:latin typeface="Arial"/>
                <a:ea typeface="Malgun Gothic"/>
                <a:cs typeface="Malgun Gothic"/>
              </a:rPr>
              <a:t> 근거는 하나다 — 궤적이 훑는 공간이 ESDF를 갱신한 범위의 극히 일부다. 대신 제어점 </a:t>
            </a:r>
            <a:r>
              <a:rPr sz="1050" b="0" i="1">
                <a:solidFill>
                  <a:srgbClr val="16213A"/>
                </a:solidFill>
                <a:latin typeface="Arial"/>
                <a:ea typeface="Malgun Gothic"/>
                <a:cs typeface="Malgun Gothic"/>
              </a:rPr>
              <a:t>Qᵢ</a:t>
            </a:r>
            <a:r>
              <a:rPr sz="1050" b="0" i="0">
                <a:solidFill>
                  <a:srgbClr val="16213A"/>
                </a:solidFill>
                <a:latin typeface="Arial"/>
                <a:ea typeface="Malgun Gothic"/>
                <a:cs typeface="Malgun Gothic"/>
              </a:rPr>
              <a:t>마다 앵커 </a:t>
            </a:r>
            <a:r>
              <a:rPr sz="1050" b="0" i="1">
                <a:solidFill>
                  <a:srgbClr val="16213A"/>
                </a:solidFill>
                <a:latin typeface="Arial"/>
                <a:ea typeface="Malgun Gothic"/>
                <a:cs typeface="Malgun Gothic"/>
              </a:rPr>
              <a:t>{p_(ij), v_(ij)}</a:t>
            </a:r>
            <a:r>
              <a:rPr sz="1050" b="0" i="0">
                <a:solidFill>
                  <a:srgbClr val="16213A"/>
                </a:solidFill>
                <a:latin typeface="Arial"/>
                <a:ea typeface="Malgun Gothic"/>
                <a:cs typeface="Malgun Gothic"/>
              </a:rPr>
              <a:t>를 붙이고, 거리를 </a:t>
            </a:r>
            <a:r>
              <a:rPr sz="1050" b="1" i="0">
                <a:solidFill>
                  <a:srgbClr val="16213A"/>
                </a:solidFill>
                <a:latin typeface="Arial"/>
                <a:ea typeface="Malgun Gothic"/>
                <a:cs typeface="Malgun Gothic"/>
              </a:rPr>
              <a:t>반공간까지의 부호 있는 거리</a:t>
            </a:r>
            <a:r>
              <a:rPr sz="1050" b="0" i="0">
                <a:solidFill>
                  <a:srgbClr val="16213A"/>
                </a:solidFill>
                <a:latin typeface="Arial"/>
                <a:ea typeface="Malgun Gothic"/>
                <a:cs typeface="Malgun Gothic"/>
              </a:rPr>
              <a:t>로 정의한다.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A.2c 고전 점유 격자와 거리장 — 드론 계열이 20년 판 자리</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48 / 359</a:t>
            </a:r>
          </a:p>
        </p:txBody>
      </p:sp>
      <p:pic>
        <p:nvPicPr>
          <p:cNvPr id="5" name="Picture 4" descr="image.png"/>
          <p:cNvPicPr>
            <a:picLocks noChangeAspect="1"/>
          </p:cNvPicPr>
          <p:nvPr/>
        </p:nvPicPr>
        <p:blipFill>
          <a:blip r:embed="rId3"/>
          <a:stretch>
            <a:fillRect/>
          </a:stretch>
        </p:blipFill>
        <p:spPr>
          <a:xfrm>
            <a:off x="609600" y="1244600"/>
            <a:ext cx="2619375" cy="406400"/>
          </a:xfrm>
          <a:prstGeom prst="rect">
            <a:avLst/>
          </a:prstGeom>
        </p:spPr>
      </p:pic>
      <p:sp>
        <p:nvSpPr>
          <p:cNvPr id="6" name="TextBox 5"/>
          <p:cNvSpPr txBox="1"/>
          <p:nvPr/>
        </p:nvSpPr>
        <p:spPr>
          <a:xfrm>
            <a:off x="609600" y="1663799"/>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경사가 보간 없이 상수라 싸다. </a:t>
            </a:r>
            <a:r>
              <a:rPr sz="1050" b="1" i="0">
                <a:solidFill>
                  <a:srgbClr val="16213A"/>
                </a:solidFill>
                <a:latin typeface="Arial"/>
                <a:ea typeface="Malgun Gothic"/>
                <a:cs typeface="Malgun Gothic"/>
              </a:rPr>
              <a:t>그런데 travplan에는 옮겨지지 않는다.</a:t>
            </a:r>
            <a:r>
              <a:rPr sz="1050" b="0" i="0">
                <a:solidFill>
                  <a:srgbClr val="16213A"/>
                </a:solidFill>
                <a:latin typeface="Arial"/>
                <a:ea typeface="Malgun Gothic"/>
                <a:cs typeface="Malgun Gothic"/>
              </a:rPr>
              <a:t> 성립 조건이 정면으로 어긋나기 때문이다 — 질의점이 B-spline 제어점 </a:t>
            </a:r>
            <a:r>
              <a:rPr sz="1050" b="1" i="0">
                <a:solidFill>
                  <a:srgbClr val="16213A"/>
                </a:solidFill>
                <a:latin typeface="Arial"/>
                <a:ea typeface="Malgun Gothic"/>
                <a:cs typeface="Malgun Gothic"/>
              </a:rPr>
              <a:t>20여 개</a:t>
            </a:r>
            <a:r>
              <a:rPr sz="1050" b="0" i="0">
                <a:solidFill>
                  <a:srgbClr val="16213A"/>
                </a:solidFill>
                <a:latin typeface="Arial"/>
                <a:ea typeface="Malgun Gothic"/>
                <a:cs typeface="Malgun Gothic"/>
              </a:rPr>
              <a:t>여야 하고,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는 </a:t>
            </a:r>
            <a:r>
              <a:rPr sz="1050" b="1" i="0">
                <a:solidFill>
                  <a:srgbClr val="16213A"/>
                </a:solidFill>
                <a:latin typeface="Arial"/>
                <a:ea typeface="Malgun Gothic"/>
                <a:cs typeface="Malgun Gothic"/>
              </a:rPr>
              <a:t>재사용 가능한 장이 아니라</a:t>
            </a:r>
            <a:r>
              <a:rPr sz="1050" b="0" i="0">
                <a:solidFill>
                  <a:srgbClr val="16213A"/>
                </a:solidFill>
                <a:latin typeface="Arial"/>
                <a:ea typeface="Malgun Gothic"/>
                <a:cs typeface="Malgun Gothic"/>
              </a:rPr>
              <a:t> 앵커 근처에서만 유효한 국소 대리값이며, 반복마다 A*로 유도 경로를 다시 뽑아야 한다. travplan의 MPPI는 한 주기에 수백~수천 질의점을 평가하고, 비용도 거리 하나가 아니라 8채널 </a:t>
            </a:r>
            <a:r>
              <a:rPr sz="1050" b="0" i="0">
                <a:solidFill>
                  <a:srgbClr val="16213A"/>
                </a:solidFill>
                <a:latin typeface="Consolas"/>
                <a:ea typeface="Malgun Gothic"/>
                <a:cs typeface="Malgun Gothic"/>
              </a:rPr>
              <a:t>TravMap</a:t>
            </a:r>
            <a:r>
              <a:rPr sz="1050" b="0" i="0">
                <a:solidFill>
                  <a:srgbClr val="16213A"/>
                </a:solidFill>
                <a:latin typeface="Arial"/>
                <a:ea typeface="Malgun Gothic"/>
                <a:cs typeface="Malgun Gothic"/>
              </a:rPr>
              <a:t> 보간이다.</a:t>
            </a:r>
          </a:p>
        </p:txBody>
      </p:sp>
      <p:sp>
        <p:nvSpPr>
          <p:cNvPr id="7" name="TextBox 6"/>
          <p:cNvSpPr txBox="1"/>
          <p:nvPr/>
        </p:nvSpPr>
        <p:spPr>
          <a:xfrm>
            <a:off x="609600" y="240218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④ 그리고 같은 연구실이 지상 지형에서는 EDT를 쓴다.</a:t>
            </a:r>
            <a:r>
              <a:rPr sz="1050" b="0" i="0">
                <a:solidFill>
                  <a:srgbClr val="16213A"/>
                </a:solidFill>
                <a:latin typeface="Arial"/>
                <a:ea typeface="Malgun Gothic"/>
                <a:cs typeface="Malgun Gothic"/>
              </a:rPr>
              <a:t> SEB-Naver(IROS 2025)는 </a:t>
            </a:r>
            <a:r>
              <a:rPr sz="1050" b="0" i="1">
                <a:solidFill>
                  <a:srgbClr val="16213A"/>
                </a:solidFill>
                <a:latin typeface="Arial"/>
                <a:ea typeface="Malgun Gothic"/>
                <a:cs typeface="Malgun Gothic"/>
              </a:rPr>
              <a:t>R²</a:t>
            </a:r>
            <a:r>
              <a:rPr sz="1050" b="0" i="0">
                <a:solidFill>
                  <a:srgbClr val="16213A"/>
                </a:solidFill>
                <a:latin typeface="Arial"/>
                <a:ea typeface="Malgun Gothic"/>
                <a:cs typeface="Malgun Gothic"/>
              </a:rPr>
              <a:t> 격자로는 pitch·roll이 다른 자세가 같은 칸에 뭉개진다는 문제로 </a:t>
            </a:r>
            <a:r>
              <a:rPr sz="1050" b="1" i="0">
                <a:solidFill>
                  <a:srgbClr val="16213A"/>
                </a:solidFill>
                <a:latin typeface="Arial"/>
                <a:ea typeface="Malgun Gothic"/>
                <a:cs typeface="Malgun Gothic"/>
              </a:rPr>
              <a:t>SE(2) 격자</a:t>
            </a:r>
            <a:r>
              <a:rPr sz="1050" b="0" i="0">
                <a:solidFill>
                  <a:srgbClr val="16213A"/>
                </a:solidFill>
                <a:latin typeface="Arial"/>
                <a:ea typeface="Malgun Gothic"/>
                <a:cs typeface="Malgun Gothic"/>
              </a:rPr>
              <a:t>로 가고, GPU로 위험 지도를 만든 뒤 </a:t>
            </a:r>
            <a:r>
              <a:rPr sz="1050" b="1" i="0">
                <a:solidFill>
                  <a:srgbClr val="16213A"/>
                </a:solidFill>
                <a:latin typeface="Arial"/>
                <a:ea typeface="Malgun Gothic"/>
                <a:cs typeface="Malgun Gothic"/>
              </a:rPr>
              <a:t>Felzenszwalb 거리 변환으로 SDF를 얹는다.</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즉 "드론 계열은 ESDF를 버렸는데 travplan은 왜 쓰나"에 대한 답이 그 연구실 자신의 지상 로봇 논문에 있다.</a:t>
            </a:r>
            <a:r>
              <a:rPr sz="1050" b="0" i="0">
                <a:solidFill>
                  <a:srgbClr val="16213A"/>
                </a:solidFill>
                <a:latin typeface="Arial"/>
                <a:ea typeface="Malgun Gothic"/>
                <a:cs typeface="Malgun Gothic"/>
              </a:rPr>
              <a:t> 인용 목록에 elevation_mapping_cupy(A.2b)와 가림 고도 복원이 들어 있어, travplan의 L1 루프·그림자 prior와 참조 계보가 겹친다.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A.2c 고전 점유 격자와 거리장 — 드론 계열이 20년 판 자리</a:t>
            </a:r>
            <a:r>
              <a:rPr sz="1050" b="0" i="0">
                <a:solidFill>
                  <a:srgbClr val="5A6478"/>
                </a:solidFill>
                <a:latin typeface="Arial"/>
                <a:ea typeface="Malgun Gothic"/>
                <a:cs typeface="Malgun Gothic"/>
              </a:rPr>
              <a:t>  자세히: 이 계열이 미관측 셀을 어떻게 다루나 — 그리고 travplan이 왜 따라가면 안 되나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49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답이 일관되게 "자유공간"이다.</a:t>
            </a:r>
          </a:p>
        </p:txBody>
      </p:sp>
      <p:sp>
        <p:nvSpPr>
          <p:cNvPr id="6" name="TextBox 5"/>
          <p:cNvSpPr txBox="1"/>
          <p:nvPr/>
        </p:nvSpPr>
        <p:spPr>
          <a:xfrm>
            <a:off x="609600" y="1549995"/>
            <a:ext cx="10972800" cy="11586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Fast-Planner</a:t>
            </a:r>
            <a:r>
              <a:rPr sz="1050" b="0" i="0">
                <a:solidFill>
                  <a:srgbClr val="16213A"/>
                </a:solidFill>
                <a:latin typeface="Arial"/>
                <a:ea typeface="Malgun Gothic"/>
                <a:cs typeface="Malgun Gothic"/>
              </a:rPr>
              <a:t>: 지도에는 </a:t>
            </a:r>
            <a:r>
              <a:rPr sz="1050" b="0" i="0">
                <a:solidFill>
                  <a:srgbClr val="16213A"/>
                </a:solidFill>
                <a:latin typeface="Consolas"/>
                <a:ea typeface="Malgun Gothic"/>
                <a:cs typeface="Malgun Gothic"/>
              </a:rPr>
              <a:t>isUnknown()</a:t>
            </a:r>
            <a:r>
              <a:rPr sz="1050" b="0" i="0">
                <a:solidFill>
                  <a:srgbClr val="16213A"/>
                </a:solidFill>
                <a:latin typeface="Arial"/>
                <a:ea typeface="Malgun Gothic"/>
                <a:cs typeface="Malgun Gothic"/>
              </a:rPr>
              <a:t>으로 미관측을 구분해 두지만, EDT의 소스 집합은 팽창된 점유 셀뿐이라 </a:t>
            </a:r>
            <a:r>
              <a:rPr sz="1050" b="1" i="0">
                <a:solidFill>
                  <a:srgbClr val="16213A"/>
                </a:solidFill>
                <a:latin typeface="Arial"/>
                <a:ea typeface="Malgun Gothic"/>
                <a:cs typeface="Malgun Gothic"/>
              </a:rPr>
              <a:t>미관측은 거리장에서 자유공간으로 들어간다.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EGO-Planner v1</a:t>
            </a:r>
            <a:r>
              <a:rPr sz="1050" b="0" i="0">
                <a:solidFill>
                  <a:srgbClr val="16213A"/>
                </a:solidFill>
                <a:latin typeface="Arial"/>
                <a:ea typeface="Malgun Gothic"/>
                <a:cs typeface="Malgun Gothic"/>
              </a:rPr>
              <a:t>: 충돌 판정이 쓰는 팽창 버퍼에서 미관측은 0, 즉 자유다.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EGO-Planner v2</a:t>
            </a:r>
            <a:r>
              <a:rPr sz="1050" b="0" i="0">
                <a:solidFill>
                  <a:srgbClr val="16213A"/>
                </a:solidFill>
                <a:latin typeface="Arial"/>
                <a:ea typeface="Malgun Gothic"/>
                <a:cs typeface="Malgun Gothic"/>
              </a:rPr>
              <a:t>: 더 단정적이다. 질의점이 ring buffer </a:t>
            </a:r>
            <a:r>
              <a:rPr sz="1050" b="1" i="0">
                <a:solidFill>
                  <a:srgbClr val="16213A"/>
                </a:solidFill>
                <a:latin typeface="Arial"/>
                <a:ea typeface="Malgun Gothic"/>
                <a:cs typeface="Malgun Gothic"/>
              </a:rPr>
              <a:t>밖이면 그냥 </a:t>
            </a:r>
            <a:r>
              <a:rPr sz="1050" b="1" i="0">
                <a:solidFill>
                  <a:srgbClr val="16213A"/>
                </a:solidFill>
                <a:latin typeface="Consolas"/>
                <a:ea typeface="Malgun Gothic"/>
                <a:cs typeface="Malgun Gothic"/>
              </a:rPr>
              <a:t>0</a:t>
            </a:r>
            <a:r>
              <a:rPr sz="1050" b="1" i="0">
                <a:solidFill>
                  <a:srgbClr val="16213A"/>
                </a:solidFill>
                <a:latin typeface="Arial"/>
                <a:ea typeface="Malgun Gothic"/>
                <a:cs typeface="Malgun Gothic"/>
              </a:rPr>
              <a:t>(자유)을 반환</a:t>
            </a:r>
            <a:r>
              <a:rPr sz="1050" b="0" i="0">
                <a:solidFill>
                  <a:srgbClr val="16213A"/>
                </a:solidFill>
                <a:latin typeface="Arial"/>
                <a:ea typeface="Malgun Gothic"/>
                <a:cs typeface="Malgun Gothic"/>
              </a:rPr>
              <a:t>한다. 국소 지도 밖 세상 전부가 자유공간이다. 여기에 2 Hz 시간 감쇠가 겹쳐, 점유였던 셀도 시간이 지나면 자유로 돌아간다.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ROG-Map</a:t>
            </a:r>
            <a:r>
              <a:rPr sz="1050" b="0" i="0">
                <a:solidFill>
                  <a:srgbClr val="16213A"/>
                </a:solidFill>
                <a:latin typeface="Arial"/>
                <a:ea typeface="Malgun Gothic"/>
                <a:cs typeface="Malgun Gothic"/>
              </a:rPr>
              <a:t>: 이 계열에서 </a:t>
            </a:r>
            <a:r>
              <a:rPr sz="1050" b="1" i="0">
                <a:solidFill>
                  <a:srgbClr val="16213A"/>
                </a:solidFill>
                <a:latin typeface="Arial"/>
                <a:ea typeface="Malgun Gothic"/>
                <a:cs typeface="Malgun Gothic"/>
              </a:rPr>
              <a:t>Occupied / KnownFree / Unknown 세 상태를 자료구조 수준에서 유지하는 유일한 예</a:t>
            </a:r>
            <a:r>
              <a:rPr sz="1050" b="0" i="0">
                <a:solidFill>
                  <a:srgbClr val="16213A"/>
                </a:solidFill>
                <a:latin typeface="Arial"/>
                <a:ea typeface="Malgun Gothic"/>
                <a:cs typeface="Malgun Gothic"/>
              </a:rPr>
              <a:t>다. 팽창은 Occupied에서만 전파한다.</a:t>
            </a:r>
          </a:p>
        </p:txBody>
      </p:sp>
      <p:sp>
        <p:nvSpPr>
          <p:cNvPr id="7" name="TextBox 6"/>
          <p:cNvSpPr txBox="1"/>
          <p:nvPr/>
        </p:nvSpPr>
        <p:spPr>
          <a:xfrm>
            <a:off x="609600" y="27975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드론에서는 그래도 되나.</a:t>
            </a:r>
            <a:r>
              <a:rPr sz="1050" b="0" i="0">
                <a:solidFill>
                  <a:srgbClr val="16213A"/>
                </a:solidFill>
                <a:latin typeface="Arial"/>
                <a:ea typeface="Malgun Gothic"/>
                <a:cs typeface="Malgun Gothic"/>
              </a:rPr>
              <a:t> 공중은 대개 비어 있다. 미관측을 자유로 봐도 대체로 안전하고, 3D라 우회 경로가 많다.</a:t>
            </a:r>
          </a:p>
        </p:txBody>
      </p:sp>
      <p:sp>
        <p:nvSpPr>
          <p:cNvPr id="8" name="TextBox 7"/>
          <p:cNvSpPr txBox="1"/>
          <p:nvPr/>
        </p:nvSpPr>
        <p:spPr>
          <a:xfrm>
            <a:off x="609600" y="3102967"/>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지면은 반대다.</a:t>
            </a:r>
            <a:r>
              <a:rPr sz="1050" b="1" i="0">
                <a:solidFill>
                  <a:srgbClr val="C2410C"/>
                </a:solidFill>
                <a:latin typeface="Arial"/>
                <a:ea typeface="Malgun Gothic"/>
                <a:cs typeface="Malgun Gothic"/>
              </a:rPr>
              <a:t> 미관측은 </a:t>
            </a:r>
            <a:r>
              <a:rPr sz="1050" b="1" i="0">
                <a:solidFill>
                  <a:srgbClr val="C2410C"/>
                </a:solidFill>
                <a:latin typeface="Arial"/>
                <a:ea typeface="Malgun Gothic"/>
                <a:cs typeface="Malgun Gothic"/>
              </a:rPr>
              <a:t>음의 장애물 후보</a:t>
            </a:r>
            <a:r>
              <a:rPr sz="1050" b="1" i="0">
                <a:solidFill>
                  <a:srgbClr val="C2410C"/>
                </a:solidFill>
                <a:latin typeface="Arial"/>
                <a:ea typeface="Malgun Gothic"/>
                <a:cs typeface="Malgun Gothic"/>
              </a:rPr>
              <a:t>다.</a:t>
            </a:r>
            <a:r>
              <a:rPr sz="1050" b="0" i="0">
                <a:solidFill>
                  <a:srgbClr val="16213A"/>
                </a:solidFill>
                <a:latin typeface="Arial"/>
                <a:ea typeface="Malgun Gothic"/>
                <a:cs typeface="Malgun Gothic"/>
              </a:rPr>
              <a:t> 반사가 돌아오지 않는 칸이 곧 포트홀일 수 있다. travplan이 TP-0031(가림)에서 정확히 이 실패를 봤고, TP-0044(그림자 상한)와 TP-0047·TP-0067(깊이 prior)로 되돌렸다. 이 계열의 낙관적 미관측 처리는 </a:t>
            </a:r>
            <a:r>
              <a:rPr sz="1050" b="1" i="0">
                <a:solidFill>
                  <a:srgbClr val="16213A"/>
                </a:solidFill>
                <a:latin typeface="Arial"/>
                <a:ea typeface="Malgun Gothic"/>
                <a:cs typeface="Malgun Gothic"/>
              </a:rPr>
              <a:t>그대로 옮기면 안 되는 부분</a:t>
            </a:r>
            <a:r>
              <a:rPr sz="1050" b="0" i="0">
                <a:solidFill>
                  <a:srgbClr val="16213A"/>
                </a:solidFill>
                <a:latin typeface="Arial"/>
                <a:ea typeface="Malgun Gothic"/>
                <a:cs typeface="Malgun Gothic"/>
              </a:rPr>
              <a:t>이다.</a:t>
            </a:r>
          </a:p>
        </p:txBody>
      </p:sp>
      <p:sp>
        <p:nvSpPr>
          <p:cNvPr id="9" name="TextBox 8"/>
          <p:cNvSpPr txBox="1"/>
          <p:nvPr/>
        </p:nvSpPr>
        <p:spPr>
          <a:xfrm>
            <a:off x="609600" y="362485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전제가 갈리는 지점이 넷 더 있다.</a:t>
            </a:r>
          </a:p>
        </p:txBody>
      </p:sp>
      <p:sp>
        <p:nvSpPr>
          <p:cNvPr id="10" name="TextBox 9"/>
          <p:cNvSpPr txBox="1"/>
          <p:nvPr/>
        </p:nvSpPr>
        <p:spPr>
          <a:xfrm>
            <a:off x="609600" y="3930253"/>
            <a:ext cx="10972800" cy="13751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안전 = 거리 단조성.</a:t>
            </a:r>
            <a:r>
              <a:rPr sz="1050" b="0" i="0">
                <a:solidFill>
                  <a:srgbClr val="16213A"/>
                </a:solidFill>
                <a:latin typeface="Arial"/>
                <a:ea typeface="Malgun Gothic"/>
                <a:cs typeface="Malgun Gothic"/>
              </a:rPr>
              <a:t> 드론은 장애물에서 멀수록 안전하므로 거리장 한 장이 안전의 완전한 대리 지표다. travplan은 slope·step·rough가 독립적으로 위험을 만들어, EDT는 </a:t>
            </a:r>
            <a:r>
              <a:rPr sz="1050" b="0" i="0">
                <a:solidFill>
                  <a:srgbClr val="16213A"/>
                </a:solidFill>
                <a:latin typeface="Consolas"/>
                <a:ea typeface="Malgun Gothic"/>
                <a:cs typeface="Malgun Gothic"/>
              </a:rPr>
              <a:t>TravMap</a:t>
            </a:r>
            <a:r>
              <a:rPr sz="1050" b="0" i="0">
                <a:solidFill>
                  <a:srgbClr val="16213A"/>
                </a:solidFill>
                <a:latin typeface="Arial"/>
                <a:ea typeface="Malgun Gothic"/>
                <a:cs typeface="Malgun Gothic"/>
              </a:rPr>
              <a:t> 여러 채널 중 </a:t>
            </a:r>
            <a:r>
              <a:rPr sz="1050" b="1" i="0">
                <a:solidFill>
                  <a:srgbClr val="16213A"/>
                </a:solidFill>
                <a:latin typeface="Arial"/>
                <a:ea typeface="Malgun Gothic"/>
                <a:cs typeface="Malgun Gothic"/>
              </a:rPr>
              <a:t>치명 셀 하나</a:t>
            </a:r>
            <a:r>
              <a:rPr sz="1050" b="0" i="0">
                <a:solidFill>
                  <a:srgbClr val="16213A"/>
                </a:solidFill>
                <a:latin typeface="Arial"/>
                <a:ea typeface="Malgun Gothic"/>
                <a:cs typeface="Malgun Gothic"/>
              </a:rPr>
              <a:t>에만 대응하는 부분 지표다.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충돌 판정 차원.</a:t>
            </a:r>
            <a:r>
              <a:rPr sz="1050" b="0" i="0">
                <a:solidFill>
                  <a:srgbClr val="16213A"/>
                </a:solidFill>
                <a:latin typeface="Arial"/>
                <a:ea typeface="Malgun Gothic"/>
                <a:cs typeface="Malgun Gothic"/>
              </a:rPr>
              <a:t> 드론은 점·구 근사가 통한다. 지상 로봇은 yaw가 통과 가능성을, pitch·roll이 전복 위험을 바꾼다. SEB-Naver가 SE(2)로 간 이유이고, 대가로 격자 수가 SO(2) bin(8–32)배가 되어 GPU가 필요해진다.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지도의 수명.</a:t>
            </a:r>
            <a:r>
              <a:rPr sz="1050" b="0" i="0">
                <a:solidFill>
                  <a:srgbClr val="16213A"/>
                </a:solidFill>
                <a:latin typeface="Arial"/>
                <a:ea typeface="Malgun Gothic"/>
                <a:cs typeface="Malgun Gothic"/>
              </a:rPr>
              <a:t> 드론은 ring buffer + 감쇠로 과거를 버려도 된다. 지상 로봇은 경로가 지면에 묶여 있어 되돌아올 때 같은 포트홀을 다시 만난다 — 지형 기억이 더 오래 필요하다.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자유공간 abstraction.</a:t>
            </a:r>
            <a:r>
              <a:rPr sz="1050" b="0" i="0">
                <a:solidFill>
                  <a:srgbClr val="16213A"/>
                </a:solidFill>
                <a:latin typeface="Arial"/>
                <a:ea typeface="Malgun Gothic"/>
                <a:cs typeface="Malgun Gothic"/>
              </a:rPr>
              <a:t> 볼록 다면체로 자유공간을 덮는 표현은 2.5D 지형의 </a:t>
            </a:r>
            <a:r>
              <a:rPr sz="1050" b="1" i="0">
                <a:solidFill>
                  <a:srgbClr val="16213A"/>
                </a:solidFill>
                <a:latin typeface="Arial"/>
                <a:ea typeface="Malgun Gothic"/>
                <a:cs typeface="Malgun Gothic"/>
              </a:rPr>
              <a:t>연속 비용을 지운다.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A.2c 고전 점유 격자와 거리장 — 드론 계열이 20년 판 자리</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50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travplan이 가져올 것 셋.</a:t>
            </a:r>
          </a:p>
        </p:txBody>
      </p:sp>
      <p:sp>
        <p:nvSpPr>
          <p:cNvPr id="6" name="TextBox 5"/>
          <p:cNvSpPr txBox="1"/>
          <p:nvPr/>
        </p:nvSpPr>
        <p:spPr>
          <a:xfrm>
            <a:off x="609600" y="1549995"/>
            <a:ext cx="10972800" cy="13497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C2410C"/>
                </a:solidFill>
                <a:latin typeface="Arial"/>
                <a:ea typeface="Malgun Gothic"/>
                <a:cs typeface="Malgun Gothic"/>
              </a:rPr>
              <a:t>증분 팽창 카운터</a:t>
            </a:r>
            <a:r>
              <a:rPr sz="1050" b="0" i="0">
                <a:solidFill>
                  <a:srgbClr val="16213A"/>
                </a:solidFill>
                <a:latin typeface="Arial"/>
                <a:ea typeface="Malgun Gothic"/>
                <a:cs typeface="Malgun Gothic"/>
              </a:rPr>
              <a:t> (EGO-Planner-v2, ROG-Map). 셀이 치명/비치명으로 바뀌는 순간에만 </a:t>
            </a:r>
            <a:r>
              <a:rPr sz="1050" b="0" i="1">
                <a:solidFill>
                  <a:srgbClr val="16213A"/>
                </a:solidFill>
                <a:latin typeface="Arial"/>
                <a:ea typeface="Malgun Gothic"/>
                <a:cs typeface="Malgun Gothic"/>
              </a:rPr>
              <a:t>(2r+1)²</a:t>
            </a:r>
            <a:r>
              <a:rPr sz="1050" b="0" i="0">
                <a:solidFill>
                  <a:srgbClr val="16213A"/>
                </a:solidFill>
                <a:latin typeface="Arial"/>
                <a:ea typeface="Malgun Gothic"/>
                <a:cs typeface="Malgun Gothic"/>
              </a:rPr>
              <a:t> 이웃 카운터를 ±1 하고, 셀 자신의 점유에는 큰 상수를 더해 "치명"과 "팽창됨"을 한 정수로 구분한다. ROG-Map 기준 팽창 시간 0.004–0.771 ms이고 </a:t>
            </a:r>
            <a:r>
              <a:rPr sz="1050" b="1" i="0">
                <a:solidFill>
                  <a:srgbClr val="16213A"/>
                </a:solidFill>
                <a:latin typeface="Arial"/>
                <a:ea typeface="Malgun Gothic"/>
                <a:cs typeface="Malgun Gothic"/>
              </a:rPr>
              <a:t>순회 격자 수가 70–97% 준다.</a:t>
            </a:r>
            <a:r>
              <a:rPr sz="1050" b="0" i="0">
                <a:solidFill>
                  <a:srgbClr val="16213A"/>
                </a:solidFill>
                <a:latin typeface="Arial"/>
                <a:ea typeface="Malgun Gothic"/>
                <a:cs typeface="Malgun Gothic"/>
              </a:rPr>
              <a:t> TP-0083에서 병목이 매핑이 아니라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로 나왔으므로 직접 효과가 있는 지점이다.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EDT 범위를 바뀐 셀의 AABB + 마진으로 제한</a:t>
            </a:r>
            <a:r>
              <a:rPr sz="1050" b="0" i="0">
                <a:solidFill>
                  <a:srgbClr val="16213A"/>
                </a:solidFill>
                <a:latin typeface="Arial"/>
                <a:ea typeface="Malgun Gothic"/>
                <a:cs typeface="Malgun Gothic"/>
              </a:rPr>
              <a:t>(Fast-Planner). 전체 격자가 아니라 이번 프레임에 치명 판정이 바뀐 영역만 스윕한다. 양·음 2패스로 부호 있는 장을 만드는 구성도 그대로 쓸 수 있다.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RC-ESDF — 거리장을 로봇 몸체에 만든다.</a:t>
            </a:r>
            <a:r>
              <a:rPr sz="1050" b="0" i="0">
                <a:solidFill>
                  <a:srgbClr val="16213A"/>
                </a:solidFill>
                <a:latin typeface="Arial"/>
                <a:ea typeface="Malgun Gothic"/>
                <a:cs typeface="Malgun Gothic"/>
              </a:rPr>
              <a:t> 비동축 스워브는 풋프린트가 직사각형이고 yaw가 통과 가능성을 바꾼다. 환경 EDT를 외접원으로 팽창시키는 보수적 처리 대신, 로봇 모양 거리장을 한 번 만들고 치명 셀을 몸체 좌표계로 옮겨 넣으면 whole-body 제약이 된다(보고된 1회 반복 2.00 → 0.11 ms). 형상이 고정이라 오프라인 비용이 사실상 0이다.</a:t>
            </a:r>
          </a:p>
        </p:txBody>
      </p:sp>
      <p:sp>
        <p:nvSpPr>
          <p:cNvPr id="7" name="TextBox 6"/>
          <p:cNvSpPr txBox="1"/>
          <p:nvPr/>
        </p:nvSpPr>
        <p:spPr>
          <a:xfrm>
            <a:off x="609600" y="29886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가져오지 않을 것 둘.</a:t>
            </a:r>
            <a:r>
              <a:rPr sz="1050" b="0" i="0">
                <a:solidFill>
                  <a:srgbClr val="16213A"/>
                </a:solidFill>
                <a:latin typeface="Arial"/>
                <a:ea typeface="Malgun Gothic"/>
                <a:cs typeface="Malgun Gothic"/>
              </a:rPr>
              <a:t> EGO-Planner식 </a:t>
            </a:r>
            <a:r>
              <a:rPr sz="1050" b="1" i="0">
                <a:solidFill>
                  <a:srgbClr val="16213A"/>
                </a:solidFill>
                <a:latin typeface="Arial"/>
                <a:ea typeface="Malgun Gothic"/>
                <a:cs typeface="Malgun Gothic"/>
              </a:rPr>
              <a:t>ESDF 제거 자체</a:t>
            </a:r>
            <a:r>
              <a:rPr sz="1050" b="0" i="0">
                <a:solidFill>
                  <a:srgbClr val="16213A"/>
                </a:solidFill>
                <a:latin typeface="Arial"/>
                <a:ea typeface="Malgun Gothic"/>
                <a:cs typeface="Malgun Gothic"/>
              </a:rPr>
              <a:t>(위 ③의 조건이 어긋난다)와 </a:t>
            </a:r>
            <a:r>
              <a:rPr sz="1050" b="1" i="0">
                <a:solidFill>
                  <a:srgbClr val="16213A"/>
                </a:solidFill>
                <a:latin typeface="Arial"/>
                <a:ea typeface="Malgun Gothic"/>
                <a:cs typeface="Malgun Gothic"/>
              </a:rPr>
              <a:t>FIESTA식 전역 증분 ESDF</a:t>
            </a:r>
            <a:r>
              <a:rPr sz="1050" b="0" i="0">
                <a:solidFill>
                  <a:srgbClr val="16213A"/>
                </a:solidFill>
                <a:latin typeface="Arial"/>
                <a:ea typeface="Malgun Gothic"/>
                <a:cs typeface="Malgun Gothic"/>
              </a:rPr>
              <a:t>다. 후자는 </a:t>
            </a:r>
            <a:r>
              <a:rPr sz="1050" b="0" i="0">
                <a:solidFill>
                  <a:srgbClr val="16213A"/>
                </a:solidFill>
                <a:latin typeface="Consolas"/>
                <a:ea typeface="Malgun Gothic"/>
                <a:cs typeface="Malgun Gothic"/>
              </a:rPr>
              <a:t>TravMap</a:t>
            </a:r>
            <a:r>
              <a:rPr sz="1050" b="0" i="0">
                <a:solidFill>
                  <a:srgbClr val="16213A"/>
                </a:solidFill>
                <a:latin typeface="Arial"/>
                <a:ea typeface="Malgun Gothic"/>
                <a:cs typeface="Malgun Gothic"/>
              </a:rPr>
              <a:t>이 이미 고정 크기 밀집 텐서이고 전체 EDT가 밀리초대라, 해시·이중 연결 리스트·두 큐를 얹어 얻는 이득보다 자료구조 복잡도가 크다. </a:t>
            </a:r>
            <a:r>
              <a:rPr sz="1050" b="1" i="0">
                <a:solidFill>
                  <a:srgbClr val="C2410C"/>
                </a:solidFill>
                <a:latin typeface="Arial"/>
                <a:ea typeface="Malgun Gothic"/>
                <a:cs typeface="Malgun Gothic"/>
              </a:rPr>
              <a:t>정확한 스윕을 부정확한 근사로 바꾸는 거래가 된다.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 보도·다리 로봇용 최신 연구 (2025–2026)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51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최근 연구는 자동차의 "앞쪽 카메라 여러 대" 가정을 버리고, </a:t>
            </a:r>
            <a:r>
              <a:rPr sz="1050" b="1" i="0">
                <a:solidFill>
                  <a:srgbClr val="16213A"/>
                </a:solidFill>
                <a:latin typeface="Arial"/>
                <a:ea typeface="Malgun Gothic"/>
                <a:cs typeface="Malgun Gothic"/>
              </a:rPr>
              <a:t>카메라 한 대(단안이나 360° 파노라마)와 몸체 흔들림 보정</a:t>
            </a:r>
            <a:r>
              <a:rPr sz="1050" b="0" i="0">
                <a:solidFill>
                  <a:srgbClr val="16213A"/>
                </a:solidFill>
                <a:latin typeface="Arial"/>
                <a:ea typeface="Malgun Gothic"/>
                <a:cs typeface="Malgun Gothic"/>
              </a:rPr>
              <a:t>으로 옮겨 갔다. 소형 보도 로봇의 센서·전력 예산에 훨씬 잘 맞는다. 다만 대부분 2025년 말 이후 연구라 Jetson에서 돌린 증거는 아직 얇다.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WalkOCC</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arXiv:2606.19122</a:t>
            </a:r>
            <a:r>
              <a:rPr sz="1050" b="0" i="0">
                <a:solidFill>
                  <a:srgbClr val="16213A"/>
                </a:solidFill>
                <a:latin typeface="Arial"/>
                <a:ea typeface="Malgun Gothic"/>
                <a:cs typeface="Malgun Gothic"/>
              </a:rPr>
              <a:t>) — 보도 배달로봇을 겨냥한 단안 카메라 3D occupancy다. 카메라 픽셀을 ray-marching으로 3D voxel에 투영한다. 학습에는 적은 수의 LiDAR–RGB 쌍(기하 기준)과 쌍이 없는 대량의 단안 이미지(시각 일반화)를 함께 써서, 비싼 3D 쌍 데이터 의존을 줄인다. 자체 Sidewalk3D 데이터셋을 만들었다. </a:t>
            </a:r>
            <a:r>
              <a:rPr sz="1050" b="1" i="0">
                <a:solidFill>
                  <a:srgbClr val="16213A"/>
                </a:solidFill>
                <a:latin typeface="Arial"/>
                <a:ea typeface="Malgun Gothic"/>
                <a:cs typeface="Malgun Gothic"/>
              </a:rPr>
              <a:t>travplan의 지형 시나리오와 문제 설정이 가장 가깝다.</a:t>
            </a:r>
          </a:p>
        </p:txBody>
      </p:sp>
      <p:pic>
        <p:nvPicPr>
          <p:cNvPr id="7" name="Picture 6" descr="image.jpg"/>
          <p:cNvPicPr>
            <a:picLocks noChangeAspect="1"/>
          </p:cNvPicPr>
          <p:nvPr/>
        </p:nvPicPr>
        <p:blipFill>
          <a:blip r:embed="rId4"/>
          <a:stretch>
            <a:fillRect/>
          </a:stretch>
        </p:blipFill>
        <p:spPr>
          <a:xfrm>
            <a:off x="1016000" y="2288381"/>
            <a:ext cx="10160000" cy="3473450"/>
          </a:xfrm>
          <a:prstGeom prst="rect">
            <a:avLst/>
          </a:prstGeom>
        </p:spPr>
      </p:pic>
      <p:sp>
        <p:nvSpPr>
          <p:cNvPr id="8" name="TextBox 7"/>
          <p:cNvSpPr txBox="1"/>
          <p:nvPr/>
        </p:nvSpPr>
        <p:spPr>
          <a:xfrm>
            <a:off x="1016000" y="5799931"/>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WalkOCC (Fig. 1): 보도 위 여러 종류 로봇 앞의 3D occupancy 예측 결과. 카메라 한 대로 연석·계단·기둥을 복셀로 복원한다. 출처: arXiv:2606.19122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 보도·다리 로봇용 최신 연구 (2025–2026)</a:t>
            </a:r>
            <a:r>
              <a:rPr sz="1050" b="0" i="0">
                <a:solidFill>
                  <a:srgbClr val="5A6478"/>
                </a:solidFill>
                <a:latin typeface="Arial"/>
                <a:ea typeface="Malgun Gothic"/>
                <a:cs typeface="Malgun Gothic"/>
              </a:rPr>
              <a:t>  자세히: WalkOCC의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52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구조: Encoder → Lift → BEV → Decoder.</a:t>
            </a:r>
            <a:r>
              <a:rPr sz="1050" b="0" i="0">
                <a:solidFill>
                  <a:srgbClr val="16213A"/>
                </a:solidFill>
                <a:latin typeface="Arial"/>
                <a:ea typeface="Malgun Gothic"/>
                <a:cs typeface="Malgun Gothic"/>
              </a:rPr>
              <a:t> ResNet-50 + FPN이 영상 특징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를 낸다. 깊이 가지가 픽셀마다 깊이 구간 분포 </a:t>
            </a:r>
            <a:r>
              <a:rPr sz="1050" b="0" i="1">
                <a:solidFill>
                  <a:srgbClr val="16213A"/>
                </a:solidFill>
                <a:latin typeface="Arial"/>
                <a:ea typeface="Malgun Gothic"/>
                <a:cs typeface="Malgun Gothic"/>
              </a:rPr>
              <a:t>D̂(d)</a:t>
            </a:r>
            <a:r>
              <a:rPr sz="1050" b="0" i="0">
                <a:solidFill>
                  <a:srgbClr val="16213A"/>
                </a:solidFill>
                <a:latin typeface="Arial"/>
                <a:ea typeface="Malgun Gothic"/>
                <a:cs typeface="Malgun Gothic"/>
              </a:rPr>
              <a:t>를 예측하고(LiDAR를 투영한 깊이로 지도), 특징을 카메라 광선을 따라 3D로 들어 올린다(Lift-Splat 방식).</a:t>
            </a:r>
          </a:p>
        </p:txBody>
      </p:sp>
      <p:pic>
        <p:nvPicPr>
          <p:cNvPr id="6" name="Picture 5" descr="image.png"/>
          <p:cNvPicPr>
            <a:picLocks noChangeAspect="1"/>
          </p:cNvPicPr>
          <p:nvPr/>
        </p:nvPicPr>
        <p:blipFill>
          <a:blip r:embed="rId3"/>
          <a:stretch>
            <a:fillRect/>
          </a:stretch>
        </p:blipFill>
        <p:spPr>
          <a:xfrm>
            <a:off x="609600" y="1766491"/>
            <a:ext cx="2533650" cy="422275"/>
          </a:xfrm>
          <a:prstGeom prst="rect">
            <a:avLst/>
          </a:prstGeom>
        </p:spPr>
      </p:pic>
      <p:sp>
        <p:nvSpPr>
          <p:cNvPr id="7" name="TextBox 6"/>
          <p:cNvSpPr txBox="1"/>
          <p:nvPr/>
        </p:nvSpPr>
        <p:spPr>
          <a:xfrm>
            <a:off x="609600" y="220037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2D–3D 일관성 손실(핵심 장치).</a:t>
            </a:r>
            <a:r>
              <a:rPr sz="1050" b="0" i="0">
                <a:solidFill>
                  <a:srgbClr val="16213A"/>
                </a:solidFill>
                <a:latin typeface="Arial"/>
                <a:ea typeface="Malgun Gothic"/>
                <a:cs typeface="Malgun Gothic"/>
              </a:rPr>
              <a:t> 픽셀마다 광선을 쏴서 지나가는 voxel의 3D 의미 logit </a:t>
            </a:r>
            <a:r>
              <a:rPr sz="1050" b="0" i="1">
                <a:solidFill>
                  <a:srgbClr val="16213A"/>
                </a:solidFill>
                <a:latin typeface="Arial"/>
                <a:ea typeface="Malgun Gothic"/>
                <a:cs typeface="Malgun Gothic"/>
              </a:rPr>
              <a:t>p̂_d</a:t>
            </a:r>
            <a:r>
              <a:rPr sz="1050" b="0" i="0">
                <a:solidFill>
                  <a:srgbClr val="16213A"/>
                </a:solidFill>
                <a:latin typeface="Arial"/>
                <a:ea typeface="Malgun Gothic"/>
                <a:cs typeface="Malgun Gothic"/>
              </a:rPr>
              <a:t>를 깊이 확률로 가중 평균하면, "3D 예측을 다시 영상으로 그린" 2D 의미 분포가 된다. 배경 voxel은 빼고 정규화한다.</a:t>
            </a:r>
          </a:p>
        </p:txBody>
      </p:sp>
      <p:pic>
        <p:nvPicPr>
          <p:cNvPr id="8" name="Picture 7" descr="image.png"/>
          <p:cNvPicPr>
            <a:picLocks noChangeAspect="1"/>
          </p:cNvPicPr>
          <p:nvPr/>
        </p:nvPicPr>
        <p:blipFill>
          <a:blip r:embed="rId4"/>
          <a:stretch>
            <a:fillRect/>
          </a:stretch>
        </p:blipFill>
        <p:spPr>
          <a:xfrm>
            <a:off x="609600" y="2722265"/>
            <a:ext cx="3609975" cy="539750"/>
          </a:xfrm>
          <a:prstGeom prst="rect">
            <a:avLst/>
          </a:prstGeom>
        </p:spPr>
      </p:pic>
      <p:sp>
        <p:nvSpPr>
          <p:cNvPr id="9" name="TextBox 8"/>
          <p:cNvSpPr txBox="1"/>
          <p:nvPr/>
        </p:nvSpPr>
        <p:spPr>
          <a:xfrm>
            <a:off x="609600" y="325576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렌더링 결과가 2D 정답 라벨과 맞도록 교차 엔트로피 </a:t>
            </a:r>
            <a:r>
              <a:rPr sz="1050" b="0" i="1">
                <a:solidFill>
                  <a:srgbClr val="16213A"/>
                </a:solidFill>
                <a:latin typeface="Arial"/>
                <a:ea typeface="Malgun Gothic"/>
                <a:cs typeface="Malgun Gothic"/>
              </a:rPr>
              <a:t>ℒ_(cons)</a:t>
            </a:r>
            <a:r>
              <a:rPr sz="1050" b="0" i="0">
                <a:solidFill>
                  <a:srgbClr val="16213A"/>
                </a:solidFill>
                <a:latin typeface="Arial"/>
                <a:ea typeface="Malgun Gothic"/>
                <a:cs typeface="Malgun Gothic"/>
              </a:rPr>
              <a:t>를 건다. </a:t>
            </a:r>
            <a:r>
              <a:rPr sz="1050" b="1" i="0">
                <a:solidFill>
                  <a:srgbClr val="C2410C"/>
                </a:solidFill>
                <a:latin typeface="Arial"/>
                <a:ea typeface="Malgun Gothic"/>
                <a:cs typeface="Malgun Gothic"/>
              </a:rPr>
              <a:t>3D 쌍 데이터가 없는 영상도 2D 라벨만 있으면 3D 예측을 교정하는 신호가 된다.</a:t>
            </a:r>
          </a:p>
        </p:txBody>
      </p:sp>
      <p:sp>
        <p:nvSpPr>
          <p:cNvPr id="10" name="TextBox 9"/>
          <p:cNvSpPr txBox="1"/>
          <p:nvPr/>
        </p:nvSpPr>
        <p:spPr>
          <a:xfrm>
            <a:off x="609600" y="356115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혼합 학습.</a:t>
            </a:r>
            <a:r>
              <a:rPr sz="1050" b="0" i="0">
                <a:solidFill>
                  <a:srgbClr val="16213A"/>
                </a:solidFill>
                <a:latin typeface="Arial"/>
                <a:ea typeface="Malgun Gothic"/>
                <a:cs typeface="Malgun Gothic"/>
              </a:rPr>
              <a:t> 네 손실을 더한다. 2D 분할 라벨만 있는 대량의 영상과, LiDAR–RGB 쌍이 있는 소량의 데이터를 한 모델에 함께 넣는다.</a:t>
            </a:r>
          </a:p>
        </p:txBody>
      </p:sp>
      <p:pic>
        <p:nvPicPr>
          <p:cNvPr id="11" name="Picture 10" descr="image.png"/>
          <p:cNvPicPr>
            <a:picLocks noChangeAspect="1"/>
          </p:cNvPicPr>
          <p:nvPr/>
        </p:nvPicPr>
        <p:blipFill>
          <a:blip r:embed="rId5"/>
          <a:stretch>
            <a:fillRect/>
          </a:stretch>
        </p:blipFill>
        <p:spPr>
          <a:xfrm>
            <a:off x="609600" y="3866555"/>
            <a:ext cx="3762375" cy="241300"/>
          </a:xfrm>
          <a:prstGeom prst="rect">
            <a:avLst/>
          </a:prstGeom>
        </p:spPr>
      </p:pic>
      <p:sp>
        <p:nvSpPr>
          <p:cNvPr id="12" name="TextBox 11"/>
          <p:cNvSpPr txBox="1"/>
          <p:nvPr/>
        </p:nvSpPr>
        <p:spPr>
          <a:xfrm>
            <a:off x="609600" y="414407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실물 보도 데이터를 모을 때 LiDAR 쌍은 적고 카메라 영상은 많을 것이다. 이 혼합 학습은 그 비율에 맞춘 학습법이다.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 보도·다리 로봇용 최신 연구 (2025–2026)</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53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OneOcc</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arXiv:2511.03571</a:t>
            </a:r>
            <a:r>
              <a:rPr sz="1050" b="0" i="0">
                <a:solidFill>
                  <a:srgbClr val="16213A"/>
                </a:solidFill>
                <a:latin typeface="Arial"/>
                <a:ea typeface="Malgun Gothic"/>
                <a:cs typeface="Malgun Gothic"/>
              </a:rPr>
              <a:t>, CVPR 2026,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 다리 로봇에 단 360° 파노라마 카메라 한 대로 주변 전체를 채운다. 세 가지 장치를 쓴다. 원본 어안 이미지와 펼친 정방형 이미지를 함께 쓰는 Dual-Projection Fusion, 가까운 곳과 먼 곳에 각각 맞는 좌표계를 쓰는 Bi-Grid Voxelization, 걸음에 따른 흔들림을 보정하는 Gait Displacement Compensation이다. QuadOcc에서 mIoU 20.56으로 LiDAR 기준선을 넘었다. Jetson AGX Orin INT8/FP16에서 돈다고 주장하지만 코드가 아직 공개되지 않아 확인하지 못했다.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 보도·다리 로봇용 최신 연구 (2025–2026)</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54 / 359</a:t>
            </a:r>
          </a:p>
        </p:txBody>
      </p:sp>
      <p:pic>
        <p:nvPicPr>
          <p:cNvPr id="5" name="Picture 4" descr="image.jpg"/>
          <p:cNvPicPr>
            <a:picLocks noChangeAspect="1"/>
          </p:cNvPicPr>
          <p:nvPr/>
        </p:nvPicPr>
        <p:blipFill>
          <a:blip r:embed="rId3"/>
          <a:stretch>
            <a:fillRect/>
          </a:stretch>
        </p:blipFill>
        <p:spPr>
          <a:xfrm>
            <a:off x="3121025" y="1244600"/>
            <a:ext cx="5949950" cy="4445000"/>
          </a:xfrm>
          <a:prstGeom prst="rect">
            <a:avLst/>
          </a:prstGeom>
        </p:spPr>
      </p:pic>
      <p:sp>
        <p:nvSpPr>
          <p:cNvPr id="6" name="TextBox 5"/>
          <p:cNvSpPr txBox="1"/>
          <p:nvPr/>
        </p:nvSpPr>
        <p:spPr>
          <a:xfrm>
            <a:off x="3121025" y="5727700"/>
            <a:ext cx="594995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OneOcc (Fig. 1): 4족 로봇 위 360° 카메라 한 대로 주변 전체를 복셀로 채우는 모습. 출처: arXiv:2511.03571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 보도·다리 로봇용 최신 연구 (2025–2026)</a:t>
            </a:r>
            <a:r>
              <a:rPr sz="1050" b="0" i="0">
                <a:solidFill>
                  <a:srgbClr val="5A6478"/>
                </a:solidFill>
                <a:latin typeface="Arial"/>
                <a:ea typeface="Malgun Gothic"/>
                <a:cs typeface="Malgun Gothic"/>
              </a:rPr>
              <a:t>  자세히: OneOcc의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55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Bi-Grid Voxelization.</a:t>
            </a:r>
            <a:r>
              <a:rPr sz="1050" b="0" i="0">
                <a:solidFill>
                  <a:srgbClr val="16213A"/>
                </a:solidFill>
                <a:latin typeface="Arial"/>
                <a:ea typeface="Malgun Gothic"/>
                <a:cs typeface="Malgun Gothic"/>
              </a:rPr>
              <a:t> 가까운 곳의 발 디딤·장애물은 직교(Cartesian) voxel이 정확하고, 파노라마 영상의 가로축은 방위각에 선형이라 원통(polar) voxel이 자연스럽다. 두 격자의 중심점을 모두 영상에 투영해 특징을 뽑고 합친다.</a:t>
            </a:r>
          </a:p>
        </p:txBody>
      </p:sp>
      <p:pic>
        <p:nvPicPr>
          <p:cNvPr id="6" name="Picture 5" descr="image.png"/>
          <p:cNvPicPr>
            <a:picLocks noChangeAspect="1"/>
          </p:cNvPicPr>
          <p:nvPr/>
        </p:nvPicPr>
        <p:blipFill>
          <a:blip r:embed="rId3"/>
          <a:stretch>
            <a:fillRect/>
          </a:stretch>
        </p:blipFill>
        <p:spPr>
          <a:xfrm>
            <a:off x="609600" y="1766491"/>
            <a:ext cx="3819525" cy="241300"/>
          </a:xfrm>
          <a:prstGeom prst="rect">
            <a:avLst/>
          </a:prstGeom>
        </p:spPr>
      </p:pic>
      <p:pic>
        <p:nvPicPr>
          <p:cNvPr id="7" name="Picture 6" descr="image.png"/>
          <p:cNvPicPr>
            <a:picLocks noChangeAspect="1"/>
          </p:cNvPicPr>
          <p:nvPr/>
        </p:nvPicPr>
        <p:blipFill>
          <a:blip r:embed="rId4"/>
          <a:stretch>
            <a:fillRect/>
          </a:stretch>
        </p:blipFill>
        <p:spPr>
          <a:xfrm>
            <a:off x="609600" y="2044898"/>
            <a:ext cx="3806825" cy="254000"/>
          </a:xfrm>
          <a:prstGeom prst="rect">
            <a:avLst/>
          </a:prstGeom>
        </p:spPr>
      </p:pic>
      <p:sp>
        <p:nvSpPr>
          <p:cNvPr id="8" name="TextBox 7"/>
          <p:cNvSpPr txBox="1"/>
          <p:nvPr/>
        </p:nvSpPr>
        <p:spPr>
          <a:xfrm>
            <a:off x="609600" y="233263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πᵥ</a:t>
            </a:r>
            <a:r>
              <a:rPr sz="1050" b="0" i="0">
                <a:solidFill>
                  <a:srgbClr val="16213A"/>
                </a:solidFill>
                <a:latin typeface="Arial"/>
                <a:ea typeface="Malgun Gothic"/>
                <a:cs typeface="Malgun Gothic"/>
              </a:rPr>
              <a:t>: 펼친 정방형 영상(equi) 또는 원본 어안(raw)으로의 투영, </a:t>
            </a:r>
            <a:r>
              <a:rPr sz="1050" b="0" i="1">
                <a:solidFill>
                  <a:srgbClr val="16213A"/>
                </a:solidFill>
                <a:latin typeface="Arial"/>
                <a:ea typeface="Malgun Gothic"/>
                <a:cs typeface="Malgun Gothic"/>
              </a:rPr>
              <a:t>κ</a:t>
            </a:r>
            <a:r>
              <a:rPr sz="1050" b="0" i="0">
                <a:solidFill>
                  <a:srgbClr val="16213A"/>
                </a:solidFill>
                <a:latin typeface="Arial"/>
                <a:ea typeface="Malgun Gothic"/>
                <a:cs typeface="Malgun Gothic"/>
              </a:rPr>
              <a:t>: 카메라 보정값. 이것이 Dual-Projection이다.)</a:t>
            </a:r>
          </a:p>
        </p:txBody>
      </p:sp>
      <p:sp>
        <p:nvSpPr>
          <p:cNvPr id="9" name="TextBox 8"/>
          <p:cNvSpPr txBox="1"/>
          <p:nvPr/>
        </p:nvSpPr>
        <p:spPr>
          <a:xfrm>
            <a:off x="609600" y="263802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Gait Displacement Compensation.</a:t>
            </a:r>
            <a:r>
              <a:rPr sz="1050" b="0" i="0">
                <a:solidFill>
                  <a:srgbClr val="16213A"/>
                </a:solidFill>
                <a:latin typeface="Arial"/>
                <a:ea typeface="Malgun Gothic"/>
                <a:cs typeface="Malgun Gothic"/>
              </a:rPr>
              <a:t> 걸음 충격은 영상을 흔든다. voxel로 들어 올린 뒤 고치면 이미 양자화된 뒤라 늦다. 그래서 </a:t>
            </a:r>
            <a:r>
              <a:rPr sz="1050" b="1" i="0">
                <a:solidFill>
                  <a:srgbClr val="16213A"/>
                </a:solidFill>
                <a:latin typeface="Arial"/>
                <a:ea typeface="Malgun Gothic"/>
                <a:cs typeface="Malgun Gothic"/>
              </a:rPr>
              <a:t>투영 좌표 단계에서</a:t>
            </a:r>
            <a:r>
              <a:rPr sz="1050" b="0" i="0">
                <a:solidFill>
                  <a:srgbClr val="16213A"/>
                </a:solidFill>
                <a:latin typeface="Arial"/>
                <a:ea typeface="Malgun Gothic"/>
                <a:cs typeface="Malgun Gothic"/>
              </a:rPr>
              <a:t> 2D 이동량을 회귀해 샘플링 위치를 고친다. 회귀 헤드를 0으로 초기화해 학습 시작 때는 아무 보정도 하지 않는다(zero-conv 기법).</a:t>
            </a:r>
          </a:p>
        </p:txBody>
      </p:sp>
      <p:pic>
        <p:nvPicPr>
          <p:cNvPr id="10" name="Picture 9" descr="image.png"/>
          <p:cNvPicPr>
            <a:picLocks noChangeAspect="1"/>
          </p:cNvPicPr>
          <p:nvPr/>
        </p:nvPicPr>
        <p:blipFill>
          <a:blip r:embed="rId5"/>
          <a:stretch>
            <a:fillRect/>
          </a:stretch>
        </p:blipFill>
        <p:spPr>
          <a:xfrm>
            <a:off x="609600" y="3159919"/>
            <a:ext cx="3625850" cy="254000"/>
          </a:xfrm>
          <a:prstGeom prst="rect">
            <a:avLst/>
          </a:prstGeom>
        </p:spPr>
      </p:pic>
      <p:sp>
        <p:nvSpPr>
          <p:cNvPr id="11" name="TextBox 10"/>
          <p:cNvSpPr txBox="1"/>
          <p:nvPr/>
        </p:nvSpPr>
        <p:spPr>
          <a:xfrm>
            <a:off x="609600" y="344765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스워브 로봇도 보도 요철에서 카메라가 흔들린다. </a:t>
            </a:r>
            <a:r>
              <a:rPr sz="1050" b="1" i="0">
                <a:solidFill>
                  <a:srgbClr val="C2410C"/>
                </a:solidFill>
                <a:latin typeface="Arial"/>
                <a:ea typeface="Malgun Gothic"/>
                <a:cs typeface="Malgun Gothic"/>
              </a:rPr>
              <a:t>흔들림을 "특징 샘플링 좌표의 작은 이동"으로 흡수하는 가벼운 보정</a:t>
            </a:r>
            <a:r>
              <a:rPr sz="1050" b="0" i="0">
                <a:solidFill>
                  <a:srgbClr val="16213A"/>
                </a:solidFill>
                <a:latin typeface="Arial"/>
                <a:ea typeface="Malgun Gothic"/>
                <a:cs typeface="Malgun Gothic"/>
              </a:rPr>
              <a:t>은 TravNet 영상 입력 단계에 붙일 수 있다.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 보도·다리 로봇용 최신 연구 (2025–2026)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56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O3N</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arXiv:2603.12144</a:t>
            </a:r>
            <a:r>
              <a:rPr sz="1050" b="0" i="0">
                <a:solidFill>
                  <a:srgbClr val="16213A"/>
                </a:solidFill>
                <a:latin typeface="Arial"/>
                <a:ea typeface="Malgun Gothic"/>
                <a:cs typeface="Malgun Gothic"/>
              </a:rPr>
              <a:t>) — 전방위 이미지 한 장으로 </a:t>
            </a:r>
            <a:r>
              <a:rPr sz="1050" b="1" i="0">
                <a:solidFill>
                  <a:srgbClr val="16213A"/>
                </a:solidFill>
                <a:latin typeface="Arial"/>
                <a:ea typeface="Malgun Gothic"/>
                <a:cs typeface="Malgun Gothic"/>
              </a:rPr>
              <a:t>개방 어휘</a:t>
            </a:r>
            <a:r>
              <a:rPr sz="1050" b="0" i="0">
                <a:solidFill>
                  <a:srgbClr val="16213A"/>
                </a:solidFill>
                <a:latin typeface="Arial"/>
                <a:ea typeface="Malgun Gothic"/>
                <a:cs typeface="Malgun Gothic"/>
              </a:rPr>
              <a:t> occupancy를 만든다. voxel을 나선형으로 훑는 state-space model(Polar-spiral Mamba)과 CLIP 정렬을 써서, 학습 때 못 본 물체에도 이름을 붙인다. 지연 시간은 보고하지 않았다.</a:t>
            </a:r>
          </a:p>
        </p:txBody>
      </p:sp>
      <p:pic>
        <p:nvPicPr>
          <p:cNvPr id="6" name="Picture 5" descr="image.jpg"/>
          <p:cNvPicPr>
            <a:picLocks noChangeAspect="1"/>
          </p:cNvPicPr>
          <p:nvPr/>
        </p:nvPicPr>
        <p:blipFill>
          <a:blip r:embed="rId4"/>
          <a:stretch>
            <a:fillRect/>
          </a:stretch>
        </p:blipFill>
        <p:spPr>
          <a:xfrm>
            <a:off x="1016000" y="1766491"/>
            <a:ext cx="10160000" cy="2216150"/>
          </a:xfrm>
          <a:prstGeom prst="rect">
            <a:avLst/>
          </a:prstGeom>
        </p:spPr>
      </p:pic>
      <p:sp>
        <p:nvSpPr>
          <p:cNvPr id="7" name="TextBox 6"/>
          <p:cNvSpPr txBox="1"/>
          <p:nvPr/>
        </p:nvSpPr>
        <p:spPr>
          <a:xfrm>
            <a:off x="1016000" y="4020741"/>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O3N (Fig. 1): 전방위 이미지 한 장으로 학습 때 못 본 물체까지 이름을 붙여 3D로 채운다(개방 어휘). 출처: arXiv:2603.12144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 보도·다리 로봇용 최신 연구 (2025–2026)</a:t>
            </a:r>
            <a:r>
              <a:rPr sz="1050" b="0" i="0">
                <a:solidFill>
                  <a:srgbClr val="5A6478"/>
                </a:solidFill>
                <a:latin typeface="Arial"/>
                <a:ea typeface="Malgun Gothic"/>
                <a:cs typeface="Malgun Gothic"/>
              </a:rPr>
              <a:t>  자세히: O3N의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57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배경: 개방 어휘 인식.</a:t>
            </a:r>
            <a:r>
              <a:rPr sz="1050" b="0" i="0">
                <a:solidFill>
                  <a:srgbClr val="16213A"/>
                </a:solidFill>
                <a:latin typeface="Arial"/>
                <a:ea typeface="Malgun Gothic"/>
                <a:cs typeface="Malgun Gothic"/>
              </a:rPr>
              <a:t> CLIP은 영상과 문장을 같은 공간에 넣는다. voxel 특징이 이 공간에 정렬되면, 학습에 없던 클래스도 이름(문장)만 주면 찾을 수 있다.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Polar-spiral Mamba.</a:t>
            </a:r>
            <a:r>
              <a:rPr sz="1050" b="0" i="0">
                <a:solidFill>
                  <a:srgbClr val="16213A"/>
                </a:solidFill>
                <a:latin typeface="Arial"/>
                <a:ea typeface="Malgun Gothic"/>
                <a:cs typeface="Malgun Gothic"/>
              </a:rPr>
              <a:t> 원통 voxel </a:t>
            </a:r>
            <a:r>
              <a:rPr sz="1050" b="0" i="1">
                <a:solidFill>
                  <a:srgbClr val="16213A"/>
                </a:solidFill>
                <a:latin typeface="Arial"/>
                <a:ea typeface="Malgun Gothic"/>
                <a:cs typeface="Malgun Gothic"/>
              </a:rPr>
              <a:t>Vₚ ∈ ℝ^(C × R × P × Z)</a:t>
            </a:r>
            <a:r>
              <a:rPr sz="1050" b="0" i="0">
                <a:solidFill>
                  <a:srgbClr val="16213A"/>
                </a:solidFill>
                <a:latin typeface="Arial"/>
                <a:ea typeface="Malgun Gothic"/>
                <a:cs typeface="Malgun Gothic"/>
              </a:rPr>
              <a:t>를 높이축으로 눌러 BEV로 만든 뒤, 중심에서 바깥으로 나선을 그리며 한 줄로 펴서 Mamba(state-space model)에 넣는다. 가까운 곳부터 먼 곳으로 이어지는 순서가 보존되고, 계산량은 길이에 선형이다.</a:t>
            </a:r>
          </a:p>
        </p:txBody>
      </p:sp>
      <p:sp>
        <p:nvSpPr>
          <p:cNvPr id="7" name="TextBox 6"/>
          <p:cNvSpPr txBox="1"/>
          <p:nvPr/>
        </p:nvSpPr>
        <p:spPr>
          <a:xfrm>
            <a:off x="609600" y="20718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Occupancy cost aggregation.</a:t>
            </a:r>
            <a:r>
              <a:rPr sz="1050" b="0" i="0">
                <a:solidFill>
                  <a:srgbClr val="16213A"/>
                </a:solidFill>
                <a:latin typeface="Arial"/>
                <a:ea typeface="Malgun Gothic"/>
                <a:cs typeface="Malgun Gothic"/>
              </a:rPr>
              <a:t> voxel 특징을 문장 특징에 직접 맞추면 학습에 본 클래스로 치우친다. 대신 voxel–문장 </a:t>
            </a:r>
            <a:r>
              <a:rPr sz="1050" b="1" i="0">
                <a:solidFill>
                  <a:srgbClr val="16213A"/>
                </a:solidFill>
                <a:latin typeface="Arial"/>
                <a:ea typeface="Malgun Gothic"/>
                <a:cs typeface="Malgun Gothic"/>
              </a:rPr>
              <a:t>코사인 유사도 볼륨</a:t>
            </a:r>
            <a:r>
              <a:rPr sz="1050" b="0" i="0">
                <a:solidFill>
                  <a:srgbClr val="16213A"/>
                </a:solidFill>
                <a:latin typeface="Arial"/>
                <a:ea typeface="Malgun Gothic"/>
                <a:cs typeface="Malgun Gothic"/>
              </a:rPr>
              <a:t>을 만들고 이를 3D 합성곱과 클래스 간 transformer로 다듬는다.</a:t>
            </a:r>
          </a:p>
        </p:txBody>
      </p:sp>
      <p:pic>
        <p:nvPicPr>
          <p:cNvPr id="8" name="Picture 7" descr="image.png"/>
          <p:cNvPicPr>
            <a:picLocks noChangeAspect="1"/>
          </p:cNvPicPr>
          <p:nvPr/>
        </p:nvPicPr>
        <p:blipFill>
          <a:blip r:embed="rId3"/>
          <a:stretch>
            <a:fillRect/>
          </a:stretch>
        </p:blipFill>
        <p:spPr>
          <a:xfrm>
            <a:off x="609600" y="2593777"/>
            <a:ext cx="1400175" cy="412750"/>
          </a:xfrm>
          <a:prstGeom prst="rect">
            <a:avLst/>
          </a:prstGeom>
        </p:spPr>
      </p:pic>
      <p:sp>
        <p:nvSpPr>
          <p:cNvPr id="9" name="TextBox 8"/>
          <p:cNvSpPr txBox="1"/>
          <p:nvPr/>
        </p:nvSpPr>
        <p:spPr>
          <a:xfrm>
            <a:off x="609600" y="301942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Natural modality alignment.</a:t>
            </a:r>
            <a:r>
              <a:rPr sz="1050" b="0" i="0">
                <a:solidFill>
                  <a:srgbClr val="16213A"/>
                </a:solidFill>
                <a:latin typeface="Arial"/>
                <a:ea typeface="Malgun Gothic"/>
                <a:cs typeface="Malgun Gothic"/>
              </a:rPr>
              <a:t> 문장 임베딩과 "본 클래스 픽셀 특징의 EMA prototype" 사이 차이를 경사 없이(random walk 반복) 좁혀, 본 적 없는 의미를 과적합 없이 다룬다.</a:t>
            </a:r>
          </a:p>
        </p:txBody>
      </p:sp>
      <p:sp>
        <p:nvSpPr>
          <p:cNvPr id="10" name="TextBox 9"/>
          <p:cNvSpPr txBox="1"/>
          <p:nvPr/>
        </p:nvSpPr>
        <p:spPr>
          <a:xfrm>
            <a:off x="609600" y="332482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보도 위 "처음 보는 물체"(입간판, 공사 자재)를 이름 없이도 장애물로 처리하는 방향의 참고다. 지연 시간이 보고되지 않아 당장 배포 후보는 아니다.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 보도·다리 로봇용 최신 연구 (2025–2026)</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58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PanoMMOcc / VoxelHound</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arXiv:2603.13108</a:t>
            </a:r>
            <a:r>
              <a:rPr sz="1050" b="0" i="0">
                <a:solidFill>
                  <a:srgbClr val="16213A"/>
                </a:solidFill>
                <a:latin typeface="Arial"/>
                <a:ea typeface="Malgun Gothic"/>
                <a:cs typeface="Malgun Gothic"/>
              </a:rPr>
              <a:t>) — 다리 로봇용 파노라마 멀티모달 occupancy다. 걸을 때 몸이 위아래로 흔들리는 문제를 Vertical Jitter Compensation으로 보정한다.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 보도·다리 로봇용 최신 연구 (2025–2026)</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59 / 359</a:t>
            </a:r>
          </a:p>
        </p:txBody>
      </p:sp>
      <p:pic>
        <p:nvPicPr>
          <p:cNvPr id="5" name="Picture 4" descr="image.jpg"/>
          <p:cNvPicPr>
            <a:picLocks noChangeAspect="1"/>
          </p:cNvPicPr>
          <p:nvPr/>
        </p:nvPicPr>
        <p:blipFill>
          <a:blip r:embed="rId3"/>
          <a:stretch>
            <a:fillRect/>
          </a:stretch>
        </p:blipFill>
        <p:spPr>
          <a:xfrm>
            <a:off x="4330700" y="1244600"/>
            <a:ext cx="3530600" cy="4445000"/>
          </a:xfrm>
          <a:prstGeom prst="rect">
            <a:avLst/>
          </a:prstGeom>
        </p:spPr>
      </p:pic>
      <p:sp>
        <p:nvSpPr>
          <p:cNvPr id="6" name="TextBox 5"/>
          <p:cNvSpPr txBox="1"/>
          <p:nvPr/>
        </p:nvSpPr>
        <p:spPr>
          <a:xfrm>
            <a:off x="4330700" y="5727700"/>
            <a:ext cx="35306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PanoMMOcc (Fig. 1): 차량 탑재와 4족 탑재 인식 비교. 4족은 360°를 한 번에 보지만 몸이 위아래로 흔들린다. 출처: arXiv:2603.13108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 보도·다리 로봇용 최신 연구 (2025–2026)</a:t>
            </a:r>
            <a:r>
              <a:rPr sz="1050" b="0" i="0">
                <a:solidFill>
                  <a:srgbClr val="5A6478"/>
                </a:solidFill>
                <a:latin typeface="Arial"/>
                <a:ea typeface="Malgun Gothic"/>
                <a:cs typeface="Malgun Gothic"/>
              </a:rPr>
              <a:t>  자세히: PanoMMOcc / VoxelHound의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60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입력.</a:t>
            </a:r>
            <a:r>
              <a:rPr sz="1050" b="0" i="0">
                <a:solidFill>
                  <a:srgbClr val="16213A"/>
                </a:solidFill>
                <a:latin typeface="Arial"/>
                <a:ea typeface="Malgun Gothic"/>
                <a:cs typeface="Malgun Gothic"/>
              </a:rPr>
              <a:t> 파노라마 RGB, 열화상, 편광 영상, LiDAR 네 가지를 Unitree Go2로 모았다. 카메라 셋은 각자 백본+FPN을 거쳐 BEV로 옮기고, LiDAR는 voxel화해 BEV로 누른 뒤 합친다.</a:t>
            </a:r>
          </a:p>
        </p:txBody>
      </p:sp>
      <p:pic>
        <p:nvPicPr>
          <p:cNvPr id="6" name="Picture 5" descr="image.png"/>
          <p:cNvPicPr>
            <a:picLocks noChangeAspect="1"/>
          </p:cNvPicPr>
          <p:nvPr/>
        </p:nvPicPr>
        <p:blipFill>
          <a:blip r:embed="rId3"/>
          <a:stretch>
            <a:fillRect/>
          </a:stretch>
        </p:blipFill>
        <p:spPr>
          <a:xfrm>
            <a:off x="609600" y="1549995"/>
            <a:ext cx="1797050" cy="241300"/>
          </a:xfrm>
          <a:prstGeom prst="rect">
            <a:avLst/>
          </a:prstGeom>
        </p:spPr>
      </p:pic>
      <p:sp>
        <p:nvSpPr>
          <p:cNvPr id="7" name="TextBox 6"/>
          <p:cNvSpPr txBox="1"/>
          <p:nvPr/>
        </p:nvSpPr>
        <p:spPr>
          <a:xfrm>
            <a:off x="609600" y="182751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Vertical Jitter Compensation.</a:t>
            </a:r>
            <a:r>
              <a:rPr sz="1050" b="0" i="0">
                <a:solidFill>
                  <a:srgbClr val="16213A"/>
                </a:solidFill>
                <a:latin typeface="Arial"/>
                <a:ea typeface="Malgun Gothic"/>
                <a:cs typeface="Malgun Gothic"/>
              </a:rPr>
              <a:t> 걸음 때문에 영상이 위아래로 흔들린다. 특징 지도를 가로로 평균해 세로 구조만 남기고, 작은 합성곱+회귀 헤드로 세로 이동량 </a:t>
            </a:r>
            <a:r>
              <a:rPr sz="1050" b="0" i="1">
                <a:solidFill>
                  <a:srgbClr val="16213A"/>
                </a:solidFill>
                <a:latin typeface="Arial"/>
                <a:ea typeface="Malgun Gothic"/>
                <a:cs typeface="Malgun Gothic"/>
              </a:rPr>
              <a:t>Δ h</a:t>
            </a:r>
            <a:r>
              <a:rPr sz="1050" b="0" i="0">
                <a:solidFill>
                  <a:srgbClr val="16213A"/>
                </a:solidFill>
                <a:latin typeface="Arial"/>
                <a:ea typeface="Malgun Gothic"/>
                <a:cs typeface="Malgun Gothic"/>
              </a:rPr>
              <a:t>를 추정한 뒤, 샘플링 격자를 그만큼 옮겨 다시 읽는다.</a:t>
            </a:r>
          </a:p>
        </p:txBody>
      </p:sp>
      <p:pic>
        <p:nvPicPr>
          <p:cNvPr id="8" name="Picture 7" descr="image.png"/>
          <p:cNvPicPr>
            <a:picLocks noChangeAspect="1"/>
          </p:cNvPicPr>
          <p:nvPr/>
        </p:nvPicPr>
        <p:blipFill>
          <a:blip r:embed="rId4"/>
          <a:stretch>
            <a:fillRect/>
          </a:stretch>
        </p:blipFill>
        <p:spPr>
          <a:xfrm>
            <a:off x="609600" y="2349401"/>
            <a:ext cx="7153275" cy="546100"/>
          </a:xfrm>
          <a:prstGeom prst="rect">
            <a:avLst/>
          </a:prstGeom>
        </p:spPr>
      </p:pic>
      <p:sp>
        <p:nvSpPr>
          <p:cNvPr id="9" name="TextBox 8"/>
          <p:cNvSpPr txBox="1"/>
          <p:nvPr/>
        </p:nvSpPr>
        <p:spPr>
          <a:xfrm>
            <a:off x="609600" y="289232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OneOcc의 GDC와 같은 발상을 세로 한 축으로 줄인 버전이다. 바퀴 로봇이라면 흔들림은 주로 세로(pitch)라 이 단순한 형태로 충분할 수 있다.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 보도·다리 로봇용 최신 연구 (2025–2026)</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61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STONE</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arXiv:2603.09175</a:t>
            </a:r>
            <a:r>
              <a:rPr sz="1050" b="0" i="0">
                <a:solidFill>
                  <a:srgbClr val="16213A"/>
                </a:solidFill>
                <a:latin typeface="Arial"/>
                <a:ea typeface="Malgun Gothic"/>
                <a:cs typeface="Malgun Gothic"/>
              </a:rPr>
              <a:t>) — 배포 모델이 아니라 오프로드 traversability 데이터셋이다. 128채널 LiDAR, 카메라 6대, 4D 레이더로 모았고, 경사·고도·거칠기 라벨을 자동으로 만든다. TravNet을 학습하고 평가할 때 쓸 수 있다.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 보도·다리 로봇용 최신 연구 (2025–2026)</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62 / 359</a:t>
            </a:r>
          </a:p>
        </p:txBody>
      </p:sp>
      <p:pic>
        <p:nvPicPr>
          <p:cNvPr id="5" name="Picture 4" descr="image.jpg"/>
          <p:cNvPicPr>
            <a:picLocks noChangeAspect="1"/>
          </p:cNvPicPr>
          <p:nvPr/>
        </p:nvPicPr>
        <p:blipFill>
          <a:blip r:embed="rId3"/>
          <a:stretch>
            <a:fillRect/>
          </a:stretch>
        </p:blipFill>
        <p:spPr>
          <a:xfrm>
            <a:off x="1136650" y="1244600"/>
            <a:ext cx="9918700" cy="4445000"/>
          </a:xfrm>
          <a:prstGeom prst="rect">
            <a:avLst/>
          </a:prstGeom>
        </p:spPr>
      </p:pic>
      <p:sp>
        <p:nvSpPr>
          <p:cNvPr id="6" name="TextBox 5"/>
          <p:cNvSpPr txBox="1"/>
          <p:nvPr/>
        </p:nvSpPr>
        <p:spPr>
          <a:xfrm>
            <a:off x="1136650" y="5727700"/>
            <a:ext cx="99187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STONE (Fig. 5): LiDAR를 누적해 경사·거칠기 등으로 traversability 지도를 자동 생성하는 과정(사람 라벨 없음). 출처: arXiv:2603.09175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 보도·다리 로봇용 최신 연구 (2025–2026)</a:t>
            </a:r>
            <a:r>
              <a:rPr sz="1050" b="0" i="0">
                <a:solidFill>
                  <a:srgbClr val="5A6478"/>
                </a:solidFill>
                <a:latin typeface="Arial"/>
                <a:ea typeface="Malgun Gothic"/>
                <a:cs typeface="Malgun Gothic"/>
              </a:rPr>
              <a:t>  자세히: STONE의 자동 라벨 생성과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63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세 단계.</a:t>
            </a:r>
            <a:r>
              <a:rPr sz="1050" b="0" i="0">
                <a:solidFill>
                  <a:srgbClr val="16213A"/>
                </a:solidFill>
                <a:latin typeface="Arial"/>
                <a:ea typeface="Malgun Gothic"/>
                <a:cs typeface="Malgun Gothic"/>
              </a:rPr>
              <a:t> ① LiDAR를 누적해 조밀한 표면 메시를 복원한다(Poisson). ② 정점마다 기하 특징 셋을 계산한다. ③ 로봇 궤적으로 라벨을 붙인다.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기하 특징.</a:t>
            </a:r>
            <a:r>
              <a:rPr sz="1050" b="0" i="0">
                <a:solidFill>
                  <a:srgbClr val="16213A"/>
                </a:solidFill>
                <a:latin typeface="Arial"/>
                <a:ea typeface="Malgun Gothic"/>
                <a:cs typeface="Malgun Gothic"/>
              </a:rPr>
              <a:t> 높이 </a:t>
            </a:r>
            <a:r>
              <a:rPr sz="1050" b="0" i="1">
                <a:solidFill>
                  <a:srgbClr val="16213A"/>
                </a:solidFill>
                <a:latin typeface="Arial"/>
                <a:ea typeface="Malgun Gothic"/>
                <a:cs typeface="Malgun Gothic"/>
              </a:rPr>
              <a:t>hᵢ = zᵢ</a:t>
            </a:r>
            <a:r>
              <a:rPr sz="1050" b="0" i="0">
                <a:solidFill>
                  <a:srgbClr val="16213A"/>
                </a:solidFill>
                <a:latin typeface="Arial"/>
                <a:ea typeface="Malgun Gothic"/>
                <a:cs typeface="Malgun Gothic"/>
              </a:rPr>
              <a:t>, 경사(법선과 수직축 사이 각), 거칠기(이웃 정점과 최적 평면 사이 오차의 로그).</a:t>
            </a:r>
          </a:p>
        </p:txBody>
      </p:sp>
      <p:pic>
        <p:nvPicPr>
          <p:cNvPr id="7" name="Picture 6" descr="image.png"/>
          <p:cNvPicPr>
            <a:picLocks noChangeAspect="1"/>
          </p:cNvPicPr>
          <p:nvPr/>
        </p:nvPicPr>
        <p:blipFill>
          <a:blip r:embed="rId3"/>
          <a:stretch>
            <a:fillRect/>
          </a:stretch>
        </p:blipFill>
        <p:spPr>
          <a:xfrm>
            <a:off x="609600" y="1855391"/>
            <a:ext cx="3917950" cy="501650"/>
          </a:xfrm>
          <a:prstGeom prst="rect">
            <a:avLst/>
          </a:prstGeom>
        </p:spPr>
      </p:pic>
      <p:sp>
        <p:nvSpPr>
          <p:cNvPr id="8" name="TextBox 7"/>
          <p:cNvSpPr txBox="1"/>
          <p:nvPr/>
        </p:nvSpPr>
        <p:spPr>
          <a:xfrm>
            <a:off x="609600" y="235684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궤적 기반 자동 라벨.</a:t>
            </a:r>
            <a:r>
              <a:rPr sz="1050" b="0" i="0">
                <a:solidFill>
                  <a:srgbClr val="16213A"/>
                </a:solidFill>
                <a:latin typeface="Arial"/>
                <a:ea typeface="Malgun Gothic"/>
                <a:cs typeface="Malgun Gothic"/>
              </a:rPr>
              <a:t> 로봇이 실제로 지나간 voxel의 특징 분포를 가우시안 </a:t>
            </a:r>
            <a:r>
              <a:rPr sz="1050" b="0" i="1">
                <a:solidFill>
                  <a:srgbClr val="16213A"/>
                </a:solidFill>
                <a:latin typeface="Arial"/>
                <a:ea typeface="Malgun Gothic"/>
                <a:cs typeface="Malgun Gothic"/>
              </a:rPr>
              <a:t>𝒩(μ, Σ)</a:t>
            </a:r>
            <a:r>
              <a:rPr sz="1050" b="0" i="0">
                <a:solidFill>
                  <a:srgbClr val="16213A"/>
                </a:solidFill>
                <a:latin typeface="Arial"/>
                <a:ea typeface="Malgun Gothic"/>
                <a:cs typeface="Malgun Gothic"/>
              </a:rPr>
              <a:t>로 근사한다. 다른 voxel은 이 분포까지의 Mahalanobis 거리로 판정한다. 가우시안 가정에서 거리 제곱은 자유도 3인 카이제곱 분포를 따르므로, 임계값을 신뢰 수준으로 정할 수 있다.</a:t>
            </a:r>
          </a:p>
        </p:txBody>
      </p:sp>
      <p:pic>
        <p:nvPicPr>
          <p:cNvPr id="9" name="Picture 8" descr="image.png"/>
          <p:cNvPicPr>
            <a:picLocks noChangeAspect="1"/>
          </p:cNvPicPr>
          <p:nvPr/>
        </p:nvPicPr>
        <p:blipFill>
          <a:blip r:embed="rId4"/>
          <a:stretch>
            <a:fillRect/>
          </a:stretch>
        </p:blipFill>
        <p:spPr>
          <a:xfrm>
            <a:off x="609600" y="2878733"/>
            <a:ext cx="2860675" cy="241300"/>
          </a:xfrm>
          <a:prstGeom prst="rect">
            <a:avLst/>
          </a:prstGeom>
        </p:spPr>
      </p:pic>
      <p:sp>
        <p:nvSpPr>
          <p:cNvPr id="10" name="TextBox 9"/>
          <p:cNvSpPr txBox="1"/>
          <p:nvPr/>
        </p:nvSpPr>
        <p:spPr>
          <a:xfrm>
            <a:off x="609600" y="3156248"/>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궤적 위: 통과 가능(T)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궤적 밖이지만 </a:t>
            </a:r>
            <a:r>
              <a:rPr sz="1050" b="0" i="1">
                <a:solidFill>
                  <a:srgbClr val="16213A"/>
                </a:solidFill>
                <a:latin typeface="Arial"/>
                <a:ea typeface="Malgun Gothic"/>
                <a:cs typeface="Malgun Gothic"/>
              </a:rPr>
              <a:t>D² ≤ χ²_(3, 0.95)</a:t>
            </a:r>
            <a:r>
              <a:rPr sz="1050" b="0" i="0">
                <a:solidFill>
                  <a:srgbClr val="16213A"/>
                </a:solidFill>
                <a:latin typeface="Arial"/>
                <a:ea typeface="Malgun Gothic"/>
                <a:cs typeface="Malgun Gothic"/>
              </a:rPr>
              <a:t>: 통과 가능성 있음(P)</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그 밖: 통과 불가(N)</a:t>
            </a:r>
          </a:p>
        </p:txBody>
      </p:sp>
      <p:sp>
        <p:nvSpPr>
          <p:cNvPr id="11" name="TextBox 10"/>
          <p:cNvSpPr txBox="1"/>
          <p:nvPr/>
        </p:nvSpPr>
        <p:spPr>
          <a:xfrm>
            <a:off x="609600" y="394543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TravMap의 slope·rough 채널 정의와 거의 같은 특징으로, 사람 라벨 없이 "궤적 분포에서 얼마나 먼가"를 라벨로 쓴다.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FootprintLabeler</a:t>
            </a:r>
            <a:r>
              <a:rPr sz="1050" b="0" i="0">
                <a:solidFill>
                  <a:srgbClr val="16213A"/>
                </a:solidFill>
                <a:latin typeface="Arial"/>
                <a:ea typeface="Malgun Gothic"/>
                <a:cs typeface="Malgun Gothic"/>
              </a:rPr>
              <a:t>의 라벨 없음 영역을 P/N으로 나누는 간단한 대안이다(배경 0.9의 PU 문제와 연결).</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A.3b 폼팩터별 최신 연구 — 바퀴·4족·휴머노이드 (2026)</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64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위 넷은 전부 </a:t>
            </a:r>
            <a:r>
              <a:rPr sz="1050" b="1" i="0">
                <a:solidFill>
                  <a:srgbClr val="16213A"/>
                </a:solidFill>
                <a:latin typeface="Arial"/>
                <a:ea typeface="Malgun Gothic"/>
                <a:cs typeface="Malgun Gothic"/>
              </a:rPr>
              <a:t>카메라 3D occupancy</a:t>
            </a:r>
            <a:r>
              <a:rPr sz="1050" b="0" i="0">
                <a:solidFill>
                  <a:srgbClr val="16213A"/>
                </a:solidFill>
                <a:latin typeface="Arial"/>
                <a:ea typeface="Malgun Gothic"/>
                <a:cs typeface="Malgun Gothic"/>
              </a:rPr>
              <a:t>다. 그 축만 보면 흐름을 놓친다. 2026년에 폼팩터마다 다른 답이 나왔고, </a:t>
            </a:r>
            <a:r>
              <a:rPr sz="1050" b="1" i="0">
                <a:solidFill>
                  <a:srgbClr val="C2410C"/>
                </a:solidFill>
                <a:latin typeface="Arial"/>
                <a:ea typeface="Malgun Gothic"/>
                <a:cs typeface="Malgun Gothic"/>
              </a:rPr>
              <a:t>그중 travplan에 가장 가까운 것은 카메라 occupancy가 아니라 </a:t>
            </a:r>
            <a:r>
              <a:rPr sz="1050" b="1" i="0">
                <a:solidFill>
                  <a:srgbClr val="C2410C"/>
                </a:solidFill>
                <a:latin typeface="Arial"/>
                <a:ea typeface="Malgun Gothic"/>
                <a:cs typeface="Malgun Gothic"/>
              </a:rPr>
              <a:t>가림 고도 완성</a:t>
            </a:r>
            <a:r>
              <a:rPr sz="1050" b="1" i="0">
                <a:solidFill>
                  <a:srgbClr val="C2410C"/>
                </a:solidFill>
                <a:latin typeface="Arial"/>
                <a:ea typeface="Malgun Gothic"/>
                <a:cs typeface="Malgun Gothic"/>
              </a:rPr>
              <a:t>과 </a:t>
            </a:r>
            <a:r>
              <a:rPr sz="1050" b="1" i="0">
                <a:solidFill>
                  <a:srgbClr val="C2410C"/>
                </a:solidFill>
                <a:latin typeface="Arial"/>
                <a:ea typeface="Malgun Gothic"/>
                <a:cs typeface="Malgun Gothic"/>
              </a:rPr>
              <a:t>바퀴 접지점 기준 비용</a:t>
            </a:r>
            <a:r>
              <a:rPr sz="1050" b="1" i="0">
                <a:solidFill>
                  <a:srgbClr val="C2410C"/>
                </a:solidFill>
                <a:latin typeface="Arial"/>
                <a:ea typeface="Malgun Gothic"/>
                <a:cs typeface="Malgun Gothic"/>
              </a:rPr>
              <a:t>이다.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바퀴 로봇 — 얇지 않다. 세 갈래로 나왔다.</a:t>
            </a:r>
          </a:p>
        </p:txBody>
      </p:sp>
      <p:graphicFrame>
        <p:nvGraphicFramePr>
          <p:cNvPr id="7" name="Table 6"/>
          <p:cNvGraphicFramePr>
            <a:graphicFrameLocks noGrp="1"/>
          </p:cNvGraphicFramePr>
          <p:nvPr/>
        </p:nvGraphicFramePr>
        <p:xfrm>
          <a:off x="609600" y="2071886"/>
          <a:ext cx="10966450" cy="1182528"/>
        </p:xfrm>
        <a:graphic>
          <a:graphicData uri="http://schemas.openxmlformats.org/drawingml/2006/table">
            <a:tbl>
              <a:tblPr firstRow="1" bandRow="1">
                <a:tableStyleId>{5C22544A-7EE6-4342-B048-85BDC9FD1C3A}</a:tableStyleId>
              </a:tblPr>
              <a:tblGrid>
                <a:gridCol w="1176834"/>
                <a:gridCol w="1005979"/>
                <a:gridCol w="1905198"/>
                <a:gridCol w="3635375"/>
                <a:gridCol w="3243064"/>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입력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실물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a:t>
                      </a:r>
                    </a:p>
                  </a:txBody>
                  <a:tcPr marL="63500" marR="63500" marT="12700" marB="12700">
                    <a:solidFill>
                      <a:srgbClr val="16213A"/>
                    </a:solidFill>
                  </a:tcPr>
                </a:tc>
              </a:tr>
              <a:tr h="197088">
                <a:tc>
                  <a:txBody>
                    <a:bodyPr wrap="square"/>
                    <a:lstStyle/>
                    <a:p>
                      <a:r>
                        <a:rPr sz="800" b="0" i="0">
                          <a:solidFill>
                            <a:srgbClr val="1D4ED8"/>
                          </a:solidFill>
                          <a:latin typeface="Arial"/>
                          <a:ea typeface="Malgun Gothic"/>
                          <a:cs typeface="Malgun Gothic"/>
                          <a:hlinkClick r:id="rId3"/>
                        </a:rPr>
                        <a:t>VCTP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고도 + 표면 ID 레이어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RGator 기록(오프라인 계획)</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바퀴 접지점에서 샘플링</a:t>
                      </a:r>
                      <a:r>
                        <a:rPr sz="800" b="1" i="0">
                          <a:solidFill>
                            <a:srgbClr val="C2410C"/>
                          </a:solidFill>
                          <a:latin typeface="Arial"/>
                          <a:ea typeface="Malgun Gothic"/>
                          <a:cs typeface="Malgun Gothic"/>
                        </a:rPr>
                        <a:t>, 8방위 heading별 비용</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4"/>
                        </a:rPr>
                        <a:t>FLINT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RGB 단독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필드 주행, 라우트 자율율 99%</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21.6M 파라미터, CPU 14.7 FPS</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5"/>
                        </a:rPr>
                        <a:t>UNI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스마트폰 카메라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전동 휠체어</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로봇 없이</a:t>
                      </a:r>
                      <a:r>
                        <a:rPr sz="800" b="0" i="0">
                          <a:solidFill>
                            <a:srgbClr val="16213A"/>
                          </a:solidFill>
                          <a:latin typeface="Arial"/>
                          <a:ea typeface="Malgun Gothic"/>
                          <a:cs typeface="Malgun Gothic"/>
                        </a:rPr>
                        <a:t> 보행보조기로 37.2 km 수집</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6"/>
                        </a:rPr>
                        <a:t>CAT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IROS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지형 지도 + 로봇 형태 벡터</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바퀴 + 4족 둘 다</a:t>
                      </a:r>
                      <a:r>
                        <a:rPr sz="800" b="0" i="0">
                          <a:solidFill>
                            <a:srgbClr val="16213A"/>
                          </a:solidFill>
                          <a:latin typeface="Arial"/>
                          <a:ea typeface="Malgun Gothic"/>
                          <a:cs typeface="Malgun Gothic"/>
                        </a:rPr>
                        <a:t>, 임베디드 4.8 Hz</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SPADE로 형태를 비용에 주입</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7"/>
                        </a:rPr>
                        <a:t>Go2-W 장거리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2026.06</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고유수용만</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Tsukuba Challenge 2.8 km 무정지</a:t>
                      </a:r>
                      <a:r>
                        <a:rPr sz="800" b="0" i="0">
                          <a:solidFill>
                            <a:srgbClr val="16213A"/>
                          </a:solidFill>
                          <a:latin typeface="Arial"/>
                          <a:ea typeface="Malgun Gothic"/>
                          <a:cs typeface="Malgun Gothic"/>
                        </a:rPr>
                        <a:t>(보도·공원·계단)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외수용 없이 장거리</a:t>
                      </a:r>
                    </a:p>
                  </a:txBody>
                  <a:tcPr marL="63500" marR="63500" marT="12700" marB="12700">
                    <a:solidFill>
                      <a:srgbClr val="FFFDF8"/>
                    </a:solidFill>
                  </a:tcPr>
                </a:tc>
              </a:tr>
            </a:tbl>
          </a:graphicData>
        </a:graphic>
      </p:graphicFrame>
      <p:sp>
        <p:nvSpPr>
          <p:cNvPr id="8" name="TextBox 7"/>
          <p:cNvSpPr txBox="1"/>
          <p:nvPr/>
        </p:nvSpPr>
        <p:spPr>
          <a:xfrm>
            <a:off x="609600" y="364529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VCTP가 travplan에 가장 직접적이다.</a:t>
            </a:r>
            <a:r>
              <a:rPr sz="1050" b="0" i="0">
                <a:solidFill>
                  <a:srgbClr val="16213A"/>
                </a:solidFill>
                <a:latin typeface="Arial"/>
                <a:ea typeface="Malgun Gothic"/>
                <a:cs typeface="Malgun Gothic"/>
              </a:rPr>
              <a:t> 같은 칸이라도 heading이 바뀌면 타이어가 닿는 표면과 차체 pitch·roll이 달라진다는 문제를 정면으로 다룬다. 수치가 구체적이다 — </a:t>
            </a:r>
            <a:r>
              <a:rPr sz="1050" b="1" i="0">
                <a:solidFill>
                  <a:srgbClr val="C2410C"/>
                </a:solidFill>
                <a:latin typeface="Arial"/>
                <a:ea typeface="Malgun Gothic"/>
                <a:cs typeface="Malgun Gothic"/>
              </a:rPr>
              <a:t>차체 중심이 아니라 </a:t>
            </a:r>
            <a:r>
              <a:rPr sz="1050" b="1" i="0">
                <a:solidFill>
                  <a:srgbClr val="C2410C"/>
                </a:solidFill>
                <a:latin typeface="Arial"/>
                <a:ea typeface="Malgun Gothic"/>
                <a:cs typeface="Malgun Gothic"/>
              </a:rPr>
              <a:t>바퀴 접지점에서 고도·표면을 샘플링하면 모델 표면비용이 39.3% 낮아진다.</a:t>
            </a:r>
            <a:r>
              <a:rPr sz="1050" b="0" i="0">
                <a:solidFill>
                  <a:srgbClr val="16213A"/>
                </a:solidFill>
                <a:latin typeface="Arial"/>
                <a:ea typeface="Malgun Gothic"/>
                <a:cs typeface="Malgun Gothic"/>
              </a:rPr>
              <a:t> travplan의 </a:t>
            </a:r>
            <a:r>
              <a:rPr sz="1050" b="0" i="0">
                <a:solidFill>
                  <a:srgbClr val="16213A"/>
                </a:solidFill>
                <a:latin typeface="Consolas"/>
                <a:ea typeface="Malgun Gothic"/>
                <a:cs typeface="Malgun Gothic"/>
              </a:rPr>
              <a:t>GeometricTraversability</a:t>
            </a:r>
            <a:r>
              <a:rPr sz="1050" b="0" i="0">
                <a:solidFill>
                  <a:srgbClr val="16213A"/>
                </a:solidFill>
                <a:latin typeface="Arial"/>
                <a:ea typeface="Malgun Gothic"/>
                <a:cs typeface="Malgun Gothic"/>
              </a:rPr>
              <a:t>는 지금 step·slope를 </a:t>
            </a:r>
            <a:r>
              <a:rPr sz="1050" b="1" i="0">
                <a:solidFill>
                  <a:srgbClr val="16213A"/>
                </a:solidFill>
                <a:latin typeface="Arial"/>
                <a:ea typeface="Malgun Gothic"/>
                <a:cs typeface="Malgun Gothic"/>
              </a:rPr>
              <a:t>셀 중심</a:t>
            </a:r>
            <a:r>
              <a:rPr sz="1050" b="0" i="0">
                <a:solidFill>
                  <a:srgbClr val="16213A"/>
                </a:solidFill>
                <a:latin typeface="Arial"/>
                <a:ea typeface="Malgun Gothic"/>
                <a:cs typeface="Malgun Gothic"/>
              </a:rPr>
              <a:t> 기준으로 계산한다. 비동축 스워브는 접지점이 네 군데이고 heading에 따라 위치가 바뀌므로(설계 문서 §3.5), 이 변경은 작은 국소 수정이다. 다만 논문은 오프라인 계획만 보였으니 근거로만 쓰고 수치는 직접 재야 한다.</a:t>
            </a:r>
          </a:p>
        </p:txBody>
      </p:sp>
      <p:sp>
        <p:nvSpPr>
          <p:cNvPr id="9" name="TextBox 8"/>
          <p:cNvSpPr txBox="1"/>
          <p:nvPr/>
        </p:nvSpPr>
        <p:spPr>
          <a:xfrm>
            <a:off x="609600" y="438368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FLINT는 반대 방향의 증거다.</a:t>
            </a:r>
            <a:r>
              <a:rPr sz="1050" b="0" i="0">
                <a:solidFill>
                  <a:srgbClr val="16213A"/>
                </a:solidFill>
                <a:latin typeface="Arial"/>
                <a:ea typeface="Malgun Gothic"/>
                <a:cs typeface="Malgun Gothic"/>
              </a:rPr>
              <a:t> 21.6M 파라미터로 비교 백본보다 38배 작은데, 실제 배포된 foundation-model 시스템보다 </a:t>
            </a:r>
            <a:r>
              <a:rPr sz="1050" b="1" i="0">
                <a:solidFill>
                  <a:srgbClr val="16213A"/>
                </a:solidFill>
                <a:latin typeface="Arial"/>
                <a:ea typeface="Malgun Gothic"/>
                <a:cs typeface="Malgun Gothic"/>
              </a:rPr>
              <a:t>재생한 필드 로그 24개 중 23개</a:t>
            </a:r>
            <a:r>
              <a:rPr sz="1050" b="0" i="0">
                <a:solidFill>
                  <a:srgbClr val="16213A"/>
                </a:solidFill>
                <a:latin typeface="Arial"/>
                <a:ea typeface="Malgun Gothic"/>
                <a:cs typeface="Malgun Gothic"/>
              </a:rPr>
              <a:t>에서 더 싸고 정확한 costmap을 냈고 사람 라벨 기준선도 이겼다. </a:t>
            </a:r>
            <a:r>
              <a:rPr sz="1050" b="0" i="0">
                <a:solidFill>
                  <a:srgbClr val="16213A"/>
                </a:solidFill>
                <a:latin typeface="Consolas"/>
                <a:ea typeface="Malgun Gothic"/>
                <a:cs typeface="Malgun Gothic"/>
              </a:rPr>
              <a:t>docs/design-travnet-ssl.md</a:t>
            </a:r>
            <a:r>
              <a:rPr sz="1050" b="0" i="0">
                <a:solidFill>
                  <a:srgbClr val="16213A"/>
                </a:solidFill>
                <a:latin typeface="Arial"/>
                <a:ea typeface="Malgun Gothic"/>
                <a:cs typeface="Malgun Gothic"/>
              </a:rPr>
              <a:t>가 DINOv2 계열 헤드를 전제로 한다면 다시 볼 근거다 — 계획 시간 20 ms를 Fail로 두는 프로젝트에서 백본 크기는 곧 통과·실패다.</a:t>
            </a:r>
          </a:p>
        </p:txBody>
      </p:sp>
      <p:sp>
        <p:nvSpPr>
          <p:cNvPr id="10" name="TextBox 9"/>
          <p:cNvSpPr txBox="1"/>
          <p:nvPr/>
        </p:nvSpPr>
        <p:spPr>
          <a:xfrm>
            <a:off x="609600" y="490557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4족 — 자기지도 traversability의 WVN 이후 최신은 COTRATE다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8"/>
              </a:rPr>
              <a:t>arXiv:2605.28442</a:t>
            </a:r>
            <a:r>
              <a:rPr sz="1050" b="0" i="0">
                <a:solidFill>
                  <a:srgbClr val="16213A"/>
                </a:solidFill>
                <a:latin typeface="Arial"/>
                <a:ea typeface="Malgun Gothic"/>
                <a:cs typeface="Malgun Gothic"/>
              </a:rPr>
              <a:t>, 2026-05, Univ. Freiburg). WVN의 한계를 정확히 지목한다 — 사람이 그 지형들을 일일이 원격조작해야 한다는 것이다. 답은 셋이다. 고유수용·IMU로 도는 </a:t>
            </a:r>
            <a:r>
              <a:rPr sz="1050" b="1" i="0">
                <a:solidFill>
                  <a:srgbClr val="16213A"/>
                </a:solidFill>
                <a:latin typeface="Arial"/>
                <a:ea typeface="Malgun Gothic"/>
                <a:cs typeface="Malgun Gothic"/>
              </a:rPr>
              <a:t>로봇 무관</a:t>
            </a:r>
            <a:r>
              <a:rPr sz="1050" b="0" i="0">
                <a:solidFill>
                  <a:srgbClr val="16213A"/>
                </a:solidFill>
                <a:latin typeface="Arial"/>
                <a:ea typeface="Malgun Gothic"/>
                <a:cs typeface="Malgun Gothic"/>
              </a:rPr>
              <a:t> 지형 평가기가 점수를 내고 그 점수가 시각망을 지도하며, continual learning의 망각을 다양성 기반 특징 선택 + 작은 replay 메모리로 막고, </a:t>
            </a:r>
            <a:r>
              <a:rPr sz="1050" b="1" i="0">
                <a:solidFill>
                  <a:srgbClr val="16213A"/>
                </a:solidFill>
                <a:latin typeface="Arial"/>
                <a:ea typeface="Malgun Gothic"/>
                <a:cs typeface="Malgun Gothic"/>
              </a:rPr>
              <a:t>Spot(다리)과 Husky(바퀴)</a:t>
            </a:r>
            <a:r>
              <a:rPr sz="1050" b="0" i="0">
                <a:solidFill>
                  <a:srgbClr val="16213A"/>
                </a:solidFill>
                <a:latin typeface="Arial"/>
                <a:ea typeface="Malgun Gothic"/>
                <a:cs typeface="Malgun Gothic"/>
              </a:rPr>
              <a:t> 사이로 표현이 전이된다. 11 지형 약 5만 장, RTX 3070 mobile에서 20 Hz. </a:t>
            </a:r>
            <a:r>
              <a:rPr sz="1050" b="1" i="0">
                <a:solidFill>
                  <a:srgbClr val="C2410C"/>
                </a:solidFill>
                <a:latin typeface="Arial"/>
                <a:ea typeface="Malgun Gothic"/>
                <a:cs typeface="Malgun Gothic"/>
              </a:rPr>
              <a:t>한 줄로 줄이면 이 분야가 "foundation model을 </a:t>
            </a:r>
            <a:r>
              <a:rPr sz="1050" b="1" i="0">
                <a:solidFill>
                  <a:srgbClr val="C2410C"/>
                </a:solidFill>
                <a:latin typeface="Arial"/>
                <a:ea typeface="Malgun Gothic"/>
                <a:cs typeface="Malgun Gothic"/>
              </a:rPr>
              <a:t>백본</a:t>
            </a:r>
            <a:r>
              <a:rPr sz="1050" b="1" i="0">
                <a:solidFill>
                  <a:srgbClr val="C2410C"/>
                </a:solidFill>
                <a:latin typeface="Arial"/>
                <a:ea typeface="Malgun Gothic"/>
                <a:cs typeface="Malgun Gothic"/>
              </a:rPr>
              <a:t>으로"에서 "foundation model을 </a:t>
            </a:r>
            <a:r>
              <a:rPr sz="1050" b="1" i="0">
                <a:solidFill>
                  <a:srgbClr val="C2410C"/>
                </a:solidFill>
                <a:latin typeface="Arial"/>
                <a:ea typeface="Malgun Gothic"/>
                <a:cs typeface="Malgun Gothic"/>
              </a:rPr>
              <a:t>라벨러</a:t>
            </a:r>
            <a:r>
              <a:rPr sz="1050" b="1" i="0">
                <a:solidFill>
                  <a:srgbClr val="C2410C"/>
                </a:solidFill>
                <a:latin typeface="Arial"/>
                <a:ea typeface="Malgun Gothic"/>
                <a:cs typeface="Malgun Gothic"/>
              </a:rPr>
              <a:t>로" 옮겨 갔고, 라벨의 출처가 </a:t>
            </a:r>
            <a:r>
              <a:rPr sz="1050" b="1" i="0">
                <a:solidFill>
                  <a:srgbClr val="C2410C"/>
                </a:solidFill>
                <a:latin typeface="Arial"/>
                <a:ea typeface="Malgun Gothic"/>
                <a:cs typeface="Malgun Gothic"/>
              </a:rPr>
              <a:t>실제 접지 궤적(footprint)</a:t>
            </a:r>
            <a:r>
              <a:rPr sz="1050" b="1" i="0">
                <a:solidFill>
                  <a:srgbClr val="C2410C"/>
                </a:solidFill>
                <a:latin typeface="Arial"/>
                <a:ea typeface="Malgun Gothic"/>
                <a:cs typeface="Malgun Gothic"/>
              </a:rPr>
              <a:t>으로 수렴했다.</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A.3b 폼팩터별 최신 연구 — 바퀴·4족·휴머노이드 (2026)</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65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휴머노이드 — 2026에 네 패턴이 굳었다.</a:t>
            </a:r>
            <a:r>
              <a:rPr sz="1050" b="0" i="0">
                <a:solidFill>
                  <a:srgbClr val="16213A"/>
                </a:solidFill>
                <a:latin typeface="Arial"/>
                <a:ea typeface="Malgun Gothic"/>
                <a:cs typeface="Malgun Gothic"/>
              </a:rPr>
              <a:t> ① 몸통 LiDAR → 로봇중심 rolling height map(전방 깊이 카메라의 발밑 블라인드를 없앤다), ② </a:t>
            </a:r>
            <a:r>
              <a:rPr sz="1050" b="1" i="0">
                <a:solidFill>
                  <a:srgbClr val="16213A"/>
                </a:solidFill>
                <a:latin typeface="Arial"/>
                <a:ea typeface="Malgun Gothic"/>
                <a:cs typeface="Malgun Gothic"/>
              </a:rPr>
              <a:t>표현 분리</a:t>
            </a:r>
            <a:r>
              <a:rPr sz="1050" b="0" i="0">
                <a:solidFill>
                  <a:srgbClr val="16213A"/>
                </a:solidFill>
                <a:latin typeface="Arial"/>
                <a:ea typeface="Malgun Gothic"/>
                <a:cs typeface="Malgun Gothic"/>
              </a:rPr>
              <a:t> — 수평 고도 지도 + 수직 여유 지도(</a:t>
            </a:r>
            <a:r>
              <a:rPr sz="1050" b="0" i="0">
                <a:solidFill>
                  <a:srgbClr val="1D4ED8"/>
                </a:solidFill>
                <a:latin typeface="Arial"/>
                <a:ea typeface="Malgun Gothic"/>
                <a:cs typeface="Malgun Gothic"/>
                <a:hlinkClick r:id="rId3"/>
              </a:rPr>
              <a:t>ADAPT</a:t>
            </a:r>
            <a:r>
              <a:rPr sz="1050" b="0" i="0">
                <a:solidFill>
                  <a:srgbClr val="16213A"/>
                </a:solidFill>
                <a:latin typeface="Arial"/>
                <a:ea typeface="Malgun Gothic"/>
                <a:cs typeface="Malgun Gothic"/>
              </a:rPr>
              <a:t>, Unitree G1 zero-shot), ③ </a:t>
            </a:r>
            <a:r>
              <a:rPr sz="1050" b="1" i="0">
                <a:solidFill>
                  <a:srgbClr val="16213A"/>
                </a:solidFill>
                <a:latin typeface="Arial"/>
                <a:ea typeface="Malgun Gothic"/>
                <a:cs typeface="Malgun Gothic"/>
              </a:rPr>
              <a:t>능동 인식</a:t>
            </a:r>
            <a:r>
              <a:rPr sz="1050" b="0" i="0">
                <a:solidFill>
                  <a:srgbClr val="16213A"/>
                </a:solidFill>
                <a:latin typeface="Arial"/>
                <a:ea typeface="Malgun Gothic"/>
                <a:cs typeface="Malgun Gothic"/>
              </a:rPr>
              <a:t> — 어디를 볼지와 </a:t>
            </a:r>
            <a:r>
              <a:rPr sz="1050" b="1" i="0">
                <a:solidFill>
                  <a:srgbClr val="16213A"/>
                </a:solidFill>
                <a:latin typeface="Arial"/>
                <a:ea typeface="Malgun Gothic"/>
                <a:cs typeface="Malgun Gothic"/>
              </a:rPr>
              <a:t>얼마나 멀리 볼지를 정책이 고른다</a:t>
            </a:r>
            <a:r>
              <a:rPr sz="1050" b="0" i="0">
                <a:solidFill>
                  <a:srgbClr val="16213A"/>
                </a:solidFill>
                <a:latin typeface="Arial"/>
                <a:ea typeface="Malgun Gothic"/>
                <a:cs typeface="Malgun Gothic"/>
              </a:rPr>
              <a:t>(ADAPT는 감지 범위를 학습 가능한 action으로 둔다), ④ </a:t>
            </a:r>
            <a:r>
              <a:rPr sz="1050" b="1" i="0">
                <a:solidFill>
                  <a:srgbClr val="16213A"/>
                </a:solidFill>
                <a:latin typeface="Arial"/>
                <a:ea typeface="Malgun Gothic"/>
                <a:cs typeface="Malgun Gothic"/>
              </a:rPr>
              <a:t>점 단위 융합으로 센서 고장 내구성</a:t>
            </a:r>
            <a:r>
              <a:rPr sz="1050" b="0" i="0">
                <a:solidFill>
                  <a:srgbClr val="16213A"/>
                </a:solidFill>
                <a:latin typeface="Arial"/>
                <a:ea typeface="Malgun Gothic"/>
                <a:cs typeface="Malgun Gothic"/>
              </a:rPr>
              <a:t> — </a:t>
            </a:r>
            <a:r>
              <a:rPr sz="1050" b="0" i="0">
                <a:solidFill>
                  <a:srgbClr val="1D4ED8"/>
                </a:solidFill>
                <a:latin typeface="Arial"/>
                <a:ea typeface="Malgun Gothic"/>
                <a:cs typeface="Malgun Gothic"/>
                <a:hlinkClick r:id="rId4"/>
              </a:rPr>
              <a:t>UniPoint</a:t>
            </a:r>
            <a:r>
              <a:rPr sz="1050" b="0" i="0">
                <a:solidFill>
                  <a:srgbClr val="16213A"/>
                </a:solidFill>
                <a:latin typeface="Arial"/>
                <a:ea typeface="Malgun Gothic"/>
                <a:cs typeface="Malgun Gothic"/>
              </a:rPr>
              <a:t>(RA-L </a:t>
            </a:r>
            <a:r>
              <a:rPr sz="1050" b="1" i="0">
                <a:solidFill>
                  <a:srgbClr val="16213A"/>
                </a:solidFill>
                <a:latin typeface="Arial"/>
                <a:ea typeface="Malgun Gothic"/>
                <a:cs typeface="Malgun Gothic"/>
              </a:rPr>
              <a:t>투고</a:t>
            </a:r>
            <a:r>
              <a:rPr sz="1050" b="0" i="0">
                <a:solidFill>
                  <a:srgbClr val="16213A"/>
                </a:solidFill>
                <a:latin typeface="Arial"/>
                <a:ea typeface="Malgun Gothic"/>
                <a:cs typeface="Malgun Gothic"/>
              </a:rPr>
              <a:t>, 2026-09)는 360° LiDAR 1대와 깊이 카메라 2대를 </a:t>
            </a:r>
            <a:r>
              <a:rPr sz="1050" b="1" i="0">
                <a:solidFill>
                  <a:srgbClr val="16213A"/>
                </a:solidFill>
                <a:latin typeface="Arial"/>
                <a:ea typeface="Malgun Gothic"/>
                <a:cs typeface="Malgun Gothic"/>
              </a:rPr>
              <a:t>높이 지도로 투영하기 전에</a:t>
            </a:r>
            <a:r>
              <a:rPr sz="1050" b="0" i="0">
                <a:solidFill>
                  <a:srgbClr val="16213A"/>
                </a:solidFill>
                <a:latin typeface="Arial"/>
                <a:ea typeface="Malgun Gothic"/>
                <a:cs typeface="Malgun Gothic"/>
              </a:rPr>
              <a:t> point 수준에서 합쳐, 센서 하나가 죽어도 성능이 서서히 떨어진다. 실세계 7지형, 70 cm 플랫폼과 100 cm 갭을 </a:t>
            </a:r>
            <a:r>
              <a:rPr sz="1050" b="1" i="0">
                <a:solidFill>
                  <a:srgbClr val="16213A"/>
                </a:solidFill>
                <a:latin typeface="Arial"/>
                <a:ea typeface="Malgun Gothic"/>
                <a:cs typeface="Malgun Gothic"/>
              </a:rPr>
              <a:t>RK3588 온보드</a:t>
            </a:r>
            <a:r>
              <a:rPr sz="1050" b="0" i="0">
                <a:solidFill>
                  <a:srgbClr val="16213A"/>
                </a:solidFill>
                <a:latin typeface="Arial"/>
                <a:ea typeface="Malgun Gothic"/>
                <a:cs typeface="Malgun Gothic"/>
              </a:rPr>
              <a:t>로 통과했다.</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A.3b 폼팩터별 최신 연구 — 바퀴·4족·휴머노이드 (2026)</a:t>
            </a:r>
            <a:r>
              <a:rPr sz="1050" b="0" i="0">
                <a:solidFill>
                  <a:srgbClr val="5A6478"/>
                </a:solidFill>
                <a:latin typeface="Arial"/>
                <a:ea typeface="Malgun Gothic"/>
                <a:cs typeface="Malgun Gothic"/>
              </a:rPr>
              <a:t>  자세히: 가림 고도 완성 — travplan의 TP-0044·0047과 같은 문제를 학습으로 푼 2026 연구</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66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Robot-Centric Elevation Map Completion with Sensor Geometry-Aware Augmentation and Uncertainty Estimation</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Applied Sciences 16(16):8262, 2026-08</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DOI</a:t>
            </a:r>
            <a:r>
              <a:rPr sz="1050" b="0" i="0">
                <a:solidFill>
                  <a:srgbClr val="16213A"/>
                </a:solidFill>
                <a:latin typeface="Arial"/>
                <a:ea typeface="Malgun Gothic"/>
                <a:cs typeface="Malgun Gothic"/>
              </a:rPr>
              <a:t>, CC BY).</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핵심 장치가 </a:t>
            </a:r>
            <a:r>
              <a:rPr sz="1050" b="1" i="0">
                <a:solidFill>
                  <a:srgbClr val="16213A"/>
                </a:solidFill>
                <a:latin typeface="Consolas"/>
                <a:ea typeface="Malgun Gothic"/>
                <a:cs typeface="Malgun Gothic"/>
              </a:rPr>
              <a:t>ray-cone augmentation</a:t>
            </a:r>
            <a:r>
              <a:rPr sz="1050" b="1" i="0">
                <a:solidFill>
                  <a:srgbClr val="16213A"/>
                </a:solidFill>
                <a:latin typeface="Arial"/>
                <a:ea typeface="Malgun Gothic"/>
                <a:cs typeface="Malgun Gothic"/>
              </a:rPr>
              <a:t>이다.</a:t>
            </a:r>
            <a:r>
              <a:rPr sz="1050" b="0" i="0">
                <a:solidFill>
                  <a:srgbClr val="16213A"/>
                </a:solidFill>
                <a:latin typeface="Arial"/>
                <a:ea typeface="Malgun Gothic"/>
                <a:cs typeface="Malgun Gothic"/>
              </a:rPr>
              <a:t> 학습 중에 고도 지도를 무작위로 지우는 대신, </a:t>
            </a:r>
            <a:r>
              <a:rPr sz="1050" b="1" i="0">
                <a:solidFill>
                  <a:srgbClr val="16213A"/>
                </a:solidFill>
                <a:latin typeface="Arial"/>
                <a:ea typeface="Malgun Gothic"/>
                <a:cs typeface="Malgun Gothic"/>
              </a:rPr>
              <a:t>센서 원점에 꼭지를 둔 각도 섹터</a:t>
            </a:r>
            <a:r>
              <a:rPr sz="1050" b="0" i="0">
                <a:solidFill>
                  <a:srgbClr val="16213A"/>
                </a:solidFill>
                <a:latin typeface="Arial"/>
                <a:ea typeface="Malgun Gothic"/>
                <a:cs typeface="Malgun Gothic"/>
              </a:rPr>
              <a:t>를 지운다. 이미지 인페인팅의 무작위 마스크와 달리 이 섹터는 실제 배포에서 생기는 커버리지 공백(카메라 고장, 카메라 수 축소, 가림)과 </a:t>
            </a:r>
            <a:r>
              <a:rPr sz="1050" b="1" i="0">
                <a:solidFill>
                  <a:srgbClr val="16213A"/>
                </a:solidFill>
                <a:latin typeface="Arial"/>
                <a:ea typeface="Malgun Gothic"/>
                <a:cs typeface="Malgun Gothic"/>
              </a:rPr>
              <a:t>모양이 같다.</a:t>
            </a:r>
          </a:p>
        </p:txBody>
      </p:sp>
      <p:sp>
        <p:nvSpPr>
          <p:cNvPr id="7" name="TextBox 6"/>
          <p:cNvSpPr txBox="1"/>
          <p:nvPr/>
        </p:nvSpPr>
        <p:spPr>
          <a:xfrm>
            <a:off x="609600" y="2071886"/>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travplan이 이것을 그대로 재현할 수 있다.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SimConfig(occlusion=True)</a:t>
            </a:r>
            <a:r>
              <a:rPr sz="1050" b="0" i="0">
                <a:solidFill>
                  <a:srgbClr val="16213A"/>
                </a:solidFill>
                <a:latin typeface="Arial"/>
                <a:ea typeface="Malgun Gothic"/>
                <a:cs typeface="Malgun Gothic"/>
              </a:rPr>
              <a:t>의 2.5D 시선 검사가 만드는 공백이 바로 그 "센서 원점에 꼭지를 둔 섹터"다(TP-0031). 즉 학습 마스크를 따로 설계할 필요가 없고 시뮬이 이미 만들고 있다.</a:t>
            </a:r>
          </a:p>
        </p:txBody>
      </p:sp>
      <p:sp>
        <p:nvSpPr>
          <p:cNvPr id="8" name="TextBox 7"/>
          <p:cNvSpPr txBox="1"/>
          <p:nvPr/>
        </p:nvSpPr>
        <p:spPr>
          <a:xfrm>
            <a:off x="609600" y="25937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 셋.</a:t>
            </a:r>
            <a:r>
              <a:rPr sz="1050" b="0" i="0">
                <a:solidFill>
                  <a:srgbClr val="16213A"/>
                </a:solidFill>
                <a:latin typeface="Arial"/>
                <a:ea typeface="Malgun Gothic"/>
                <a:cs typeface="Malgun Gothic"/>
              </a:rPr>
              <a:t> 섹터 결손에서 완성 오차 </a:t>
            </a:r>
            <a:r>
              <a:rPr sz="1050" b="1" i="0">
                <a:solidFill>
                  <a:srgbClr val="16213A"/>
                </a:solidFill>
                <a:latin typeface="Arial"/>
                <a:ea typeface="Malgun Gothic"/>
                <a:cs typeface="Malgun Gothic"/>
              </a:rPr>
              <a:t>8.3–9.7% 감소</a:t>
            </a:r>
            <a:r>
              <a:rPr sz="1050" b="0" i="0">
                <a:solidFill>
                  <a:srgbClr val="16213A"/>
                </a:solidFill>
                <a:latin typeface="Arial"/>
                <a:ea typeface="Malgun Gothic"/>
                <a:cs typeface="Malgun Gothic"/>
              </a:rPr>
              <a:t>(정상 입력에서는 손실 없음), </a:t>
            </a:r>
            <a:r>
              <a:rPr sz="1050" b="1" i="0">
                <a:solidFill>
                  <a:srgbClr val="16213A"/>
                </a:solidFill>
                <a:latin typeface="Arial"/>
                <a:ea typeface="Malgun Gothic"/>
                <a:cs typeface="Malgun Gothic"/>
              </a:rPr>
              <a:t>구멍 RMSE 2.86 m로 가장 좋은 고전 보간 대비 45% 개선</a:t>
            </a:r>
            <a:r>
              <a:rPr sz="1050" b="0" i="0">
                <a:solidFill>
                  <a:srgbClr val="16213A"/>
                </a:solidFill>
                <a:latin typeface="Arial"/>
                <a:ea typeface="Malgun Gothic"/>
                <a:cs typeface="Malgun Gothic"/>
              </a:rPr>
              <a:t>, 그리고 </a:t>
            </a:r>
            <a:r>
              <a:rPr sz="1050" b="1" i="0">
                <a:solidFill>
                  <a:srgbClr val="C2410C"/>
                </a:solidFill>
                <a:latin typeface="Arial"/>
                <a:ea typeface="Malgun Gothic"/>
                <a:cs typeface="Malgun Gothic"/>
              </a:rPr>
              <a:t>셀마다 불확실성을 함께 낸다</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TravMap</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SIGMA</a:t>
            </a:r>
            <a:r>
              <a:rPr sz="1050" b="0" i="0">
                <a:solidFill>
                  <a:srgbClr val="16213A"/>
                </a:solidFill>
                <a:latin typeface="Arial"/>
                <a:ea typeface="Malgun Gothic"/>
                <a:cs typeface="Malgun Gothic"/>
              </a:rPr>
              <a:t> 채널에 그대로 들어갈 형태다. 학습은 masked β-NLL, 평가는 환경 단위 leave-one-out 5-fold다.</a:t>
            </a:r>
          </a:p>
        </p:txBody>
      </p:sp>
      <p:sp>
        <p:nvSpPr>
          <p:cNvPr id="9" name="TextBox 8"/>
          <p:cNvSpPr txBox="1"/>
          <p:nvPr/>
        </p:nvSpPr>
        <p:spPr>
          <a:xfrm>
            <a:off x="609600" y="311566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travplan과의 관계.</a:t>
            </a:r>
            <a:r>
              <a:rPr sz="1050" b="0" i="0">
                <a:solidFill>
                  <a:srgbClr val="16213A"/>
                </a:solidFill>
                <a:latin typeface="Arial"/>
                <a:ea typeface="Malgun Gothic"/>
                <a:cs typeface="Malgun Gothic"/>
              </a:rPr>
              <a:t> TP-0044(그림자 상한)와 TP-0047·TP-0067(깊이 prior)은 같은 문제를 </a:t>
            </a:r>
            <a:r>
              <a:rPr sz="1050" b="1" i="0">
                <a:solidFill>
                  <a:srgbClr val="16213A"/>
                </a:solidFill>
                <a:latin typeface="Arial"/>
                <a:ea typeface="Malgun Gothic"/>
                <a:cs typeface="Malgun Gothic"/>
              </a:rPr>
              <a:t>손으로 만든 규칙</a:t>
            </a:r>
            <a:r>
              <a:rPr sz="1050" b="0" i="0">
                <a:solidFill>
                  <a:srgbClr val="16213A"/>
                </a:solidFill>
                <a:latin typeface="Arial"/>
                <a:ea typeface="Malgun Gothic"/>
                <a:cs typeface="Malgun Gothic"/>
              </a:rPr>
              <a:t>으로 푼 것이다. 이 논문은 같은 문제를 학습으로 풀면서 σ까지 낸다. 보고 지표의 성격도 </a:t>
            </a:r>
            <a:r>
              <a:rPr sz="1050" b="0" i="0">
                <a:solidFill>
                  <a:srgbClr val="16213A"/>
                </a:solidFill>
                <a:latin typeface="Consolas"/>
                <a:ea typeface="Malgun Gothic"/>
                <a:cs typeface="Malgun Gothic"/>
              </a:rPr>
              <a:t>scripts/eval_map_quality.py</a:t>
            </a:r>
            <a:r>
              <a:rPr sz="1050" b="0" i="0">
                <a:solidFill>
                  <a:srgbClr val="16213A"/>
                </a:solidFill>
                <a:latin typeface="Arial"/>
                <a:ea typeface="Malgun Gothic"/>
                <a:cs typeface="Malgun Gothic"/>
              </a:rPr>
              <a:t>의 PRD P1.5 지표와 같다. 기반 데이터셋은 </a:t>
            </a:r>
            <a:r>
              <a:rPr sz="1050" b="0" i="0">
                <a:solidFill>
                  <a:srgbClr val="1D4ED8"/>
                </a:solidFill>
                <a:latin typeface="Arial"/>
                <a:ea typeface="Malgun Gothic"/>
                <a:cs typeface="Malgun Gothic"/>
                <a:hlinkClick r:id="rId4"/>
              </a:rPr>
              <a:t>TartanGround</a:t>
            </a:r>
            <a:r>
              <a:rPr sz="1050" b="0" i="0">
                <a:solidFill>
                  <a:srgbClr val="16213A"/>
                </a:solidFill>
                <a:latin typeface="Arial"/>
                <a:ea typeface="Malgun Gothic"/>
                <a:cs typeface="Malgun Gothic"/>
              </a:rPr>
              <a:t>(IROS 2025, ETH+CMU, 70 환경 150만 샘플, 바퀴·다리 모두)인데 </a:t>
            </a:r>
            <a:r>
              <a:rPr sz="1050" b="1" i="0">
                <a:solidFill>
                  <a:srgbClr val="C2410C"/>
                </a:solidFill>
                <a:latin typeface="Arial"/>
                <a:ea typeface="Malgun Gothic"/>
                <a:cs typeface="Malgun Gothic"/>
              </a:rPr>
              <a:t>CC BY 4.0이다</a:t>
            </a:r>
            <a:r>
              <a:rPr sz="1050" b="1" i="0">
                <a:solidFill>
                  <a:srgbClr val="C2410C"/>
                </a:solidFill>
                <a:latin typeface="Arial"/>
                <a:ea typeface="Malgun Gothic"/>
                <a:cs typeface="Malgun Gothic"/>
              </a:rPr>
              <a:t>(툴킷은 MIT). 논문 자체는 CC BY-NC-SA라 혼동하기 쉽다.</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A.3b 폼팩터별 최신 연구 — 바퀴·4족·휴머노이드 (2026)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67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데이터셋 둘.</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TartanGround</a:t>
            </a:r>
            <a:r>
              <a:rPr sz="1050" b="0" i="0">
                <a:solidFill>
                  <a:srgbClr val="16213A"/>
                </a:solidFill>
                <a:latin typeface="Arial"/>
                <a:ea typeface="Malgun Gothic"/>
                <a:cs typeface="Malgun Gothic"/>
              </a:rPr>
              <a:t>(IROS 2025)는 70 환경 910 궤적 </a:t>
            </a:r>
            <a:r>
              <a:rPr sz="1050" b="1" i="0">
                <a:solidFill>
                  <a:srgbClr val="16213A"/>
                </a:solidFill>
                <a:latin typeface="Arial"/>
                <a:ea typeface="Malgun Gothic"/>
                <a:cs typeface="Malgun Gothic"/>
              </a:rPr>
              <a:t>150만 샘플</a:t>
            </a:r>
            <a:r>
              <a:rPr sz="1050" b="0" i="0">
                <a:solidFill>
                  <a:srgbClr val="16213A"/>
                </a:solidFill>
                <a:latin typeface="Arial"/>
                <a:ea typeface="Malgun Gothic"/>
                <a:cs typeface="Malgun Gothic"/>
              </a:rPr>
              <a:t>로 바퀴·다리를 모두 담고 occupancy·시맨틱·기하 traversability를 함께 낸다(CC BY 4.0). </a:t>
            </a:r>
            <a:r>
              <a:rPr sz="1050" b="0" i="0">
                <a:solidFill>
                  <a:srgbClr val="1D4ED8"/>
                </a:solidFill>
                <a:latin typeface="Arial"/>
                <a:ea typeface="Malgun Gothic"/>
                <a:cs typeface="Malgun Gothic"/>
                <a:hlinkClick r:id="rId4"/>
              </a:rPr>
              <a:t>GND</a:t>
            </a:r>
            <a:r>
              <a:rPr sz="1050" b="0" i="0">
                <a:solidFill>
                  <a:srgbClr val="16213A"/>
                </a:solidFill>
                <a:latin typeface="Arial"/>
                <a:ea typeface="Malgun Gothic"/>
                <a:cs typeface="Malgun Gothic"/>
              </a:rPr>
              <a:t>(ICRA 2025)는 </a:t>
            </a:r>
            <a:r>
              <a:rPr sz="1050" b="1" i="0">
                <a:solidFill>
                  <a:srgbClr val="16213A"/>
                </a:solidFill>
                <a:latin typeface="Arial"/>
                <a:ea typeface="Malgun Gothic"/>
                <a:cs typeface="Malgun Gothic"/>
              </a:rPr>
              <a:t>10개 캠퍼스 2.7 km²</a:t>
            </a:r>
            <a:r>
              <a:rPr sz="1050" b="0" i="0">
                <a:solidFill>
                  <a:srgbClr val="16213A"/>
                </a:solidFill>
                <a:latin typeface="Arial"/>
                <a:ea typeface="Malgun Gothic"/>
                <a:cs typeface="Malgun Gothic"/>
              </a:rPr>
              <a:t>를 보행로·차도·계단·오프로드·장애물로 나눠 라벨했다(</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31★). travplan이 L2 보도 장면을 찾을 때(TP-0041) 함께 볼 후보다.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A.3c 검증된 오픈소스 색인 (2026-09-30 gh api 확인)</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68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A.2b·A.3·A.3b에서 다룬 것 말고도 폼팩터별 조사에서 나온 저장소를 한자리에 모은다. 별·라이선스·마지막 커밋은 모두 2026-09-30에 </a:t>
            </a:r>
            <a:r>
              <a:rPr sz="1050" b="0" i="0">
                <a:solidFill>
                  <a:srgbClr val="16213A"/>
                </a:solidFill>
                <a:latin typeface="Consolas"/>
                <a:ea typeface="Malgun Gothic"/>
                <a:cs typeface="Malgun Gothic"/>
              </a:rPr>
              <a:t>gh api</a:t>
            </a:r>
            <a:r>
              <a:rPr sz="1050" b="0" i="0">
                <a:solidFill>
                  <a:srgbClr val="16213A"/>
                </a:solidFill>
                <a:latin typeface="Arial"/>
                <a:ea typeface="Malgun Gothic"/>
                <a:cs typeface="Malgun Gothic"/>
              </a:rPr>
              <a:t>로 직접 확인했고, "활동"은 </a:t>
            </a:r>
            <a:r>
              <a:rPr sz="1050" b="1" i="0">
                <a:solidFill>
                  <a:srgbClr val="16213A"/>
                </a:solidFill>
                <a:latin typeface="Arial"/>
                <a:ea typeface="Malgun Gothic"/>
                <a:cs typeface="Malgun Gothic"/>
              </a:rPr>
              <a:t>기본 브랜치 기준</a:t>
            </a:r>
            <a:r>
              <a:rPr sz="1050" b="0" i="0">
                <a:solidFill>
                  <a:srgbClr val="16213A"/>
                </a:solidFill>
                <a:latin typeface="Arial"/>
                <a:ea typeface="Malgun Gothic"/>
                <a:cs typeface="Malgun Gothic"/>
              </a:rPr>
              <a:t>이다 — 이 조사에서 저장소 여러 개가 기본 브랜치는 멈췄는데 다른 브랜치만 살아 있었다(A.2b.1의 emap이 대표 사례다).</a:t>
            </a:r>
          </a:p>
        </p:txBody>
      </p:sp>
      <p:graphicFrame>
        <p:nvGraphicFramePr>
          <p:cNvPr id="6" name="Table 5"/>
          <p:cNvGraphicFramePr>
            <a:graphicFrameLocks noGrp="1"/>
          </p:cNvGraphicFramePr>
          <p:nvPr/>
        </p:nvGraphicFramePr>
        <p:xfrm>
          <a:off x="609600" y="1766491"/>
          <a:ext cx="10966449" cy="3300648"/>
        </p:xfrm>
        <a:graphic>
          <a:graphicData uri="http://schemas.openxmlformats.org/drawingml/2006/table">
            <a:tbl>
              <a:tblPr firstRow="1" bandRow="1">
                <a:tableStyleId>{5C22544A-7EE6-4342-B048-85BDC9FD1C3A}</a:tableStyleId>
              </a:tblPr>
              <a:tblGrid>
                <a:gridCol w="1939925"/>
                <a:gridCol w="353020"/>
                <a:gridCol w="2669480"/>
                <a:gridCol w="497185"/>
                <a:gridCol w="2466975"/>
                <a:gridCol w="3039864"/>
              </a:tblGrid>
              <a:tr h="197088">
                <a:tc>
                  <a:txBody>
                    <a:bodyPr wrap="square"/>
                    <a:lstStyle/>
                    <a:p>
                      <a:r>
                        <a:rPr sz="800" b="1" i="0">
                          <a:solidFill>
                            <a:srgbClr val="F4F1EA"/>
                          </a:solidFill>
                          <a:latin typeface="Arial"/>
                          <a:ea typeface="Malgun Gothic"/>
                          <a:cs typeface="Malgun Gothic"/>
                        </a:rPr>
                        <a:t>저장소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활동</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무엇인가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관점</a:t>
                      </a:r>
                    </a:p>
                  </a:txBody>
                  <a:tcPr marL="63500" marR="63500" marT="12700" marB="12700">
                    <a:solidFill>
                      <a:srgbClr val="16213A"/>
                    </a:solidFill>
                  </a:tcPr>
                </a:tc>
              </a:tr>
              <a:tr h="317976">
                <a:tc>
                  <a:txBody>
                    <a:bodyPr wrap="square"/>
                    <a:lstStyle/>
                    <a:p>
                      <a:r>
                        <a:rPr sz="800" b="0" i="0">
                          <a:solidFill>
                            <a:srgbClr val="1D4ED8"/>
                          </a:solidFill>
                          <a:latin typeface="Arial"/>
                          <a:ea typeface="Malgun Gothic"/>
                          <a:cs typeface="Malgun Gothic"/>
                          <a:hlinkClick r:id="rId3"/>
                        </a:rPr>
                        <a:t>jkk-research/urban_road_filter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357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2026-07</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기본 브랜치가 </a:t>
                      </a:r>
                      <a:r>
                        <a:rPr sz="800" b="1" i="0">
                          <a:solidFill>
                            <a:srgbClr val="16213A"/>
                          </a:solidFill>
                          <a:latin typeface="Consolas"/>
                          <a:ea typeface="Malgun Gothic"/>
                          <a:cs typeface="Malgun Gothic"/>
                        </a:rPr>
                        <a:t>ros2</a:t>
                      </a:r>
                      <a:r>
                        <a:rPr sz="800" b="1" i="0">
                          <a:solidFill>
                            <a:srgbClr val="16213A"/>
                          </a:solidFill>
                          <a:latin typeface="Arial"/>
                          <a:ea typeface="Malgun Gothic"/>
                          <a:cs typeface="Malgun Gothic"/>
                        </a:rPr>
                        <a:t>.</a:t>
                      </a:r>
                      <a:r>
                        <a:rPr sz="800" b="0" i="0">
                          <a:solidFill>
                            <a:srgbClr val="16213A"/>
                          </a:solidFill>
                          <a:latin typeface="Arial"/>
                          <a:ea typeface="Malgun Gothic"/>
                          <a:cs typeface="Malgun Gothic"/>
                        </a:rPr>
                        <a:t> 연석 검출기 3종 교체 가능(Sensors 2022)</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연석 검출 기준선.</a:t>
                      </a:r>
                      <a:r>
                        <a:rPr sz="800" b="0" i="0">
                          <a:solidFill>
                            <a:srgbClr val="16213A"/>
                          </a:solidFill>
                          <a:latin typeface="Arial"/>
                          <a:ea typeface="Malgun Gothic"/>
                          <a:cs typeface="Malgun Gothic"/>
                        </a:rPr>
                        <a:t> 단, </a:t>
                      </a:r>
                      <a:r>
                        <a:rPr sz="800" b="1" i="0">
                          <a:solidFill>
                            <a:srgbClr val="16213A"/>
                          </a:solidFill>
                          <a:latin typeface="Arial"/>
                          <a:ea typeface="Malgun Gothic"/>
                          <a:cs typeface="Malgun Gothic"/>
                        </a:rPr>
                        <a:t>내림 연석과 오름 연석을 구분하지 않는다</a:t>
                      </a:r>
                    </a:p>
                  </a:txBody>
                  <a:tcPr marL="63500" marR="63500" marT="12700" marB="12700">
                    <a:solidFill>
                      <a:srgbClr val="FFFDF8"/>
                    </a:solidFill>
                  </a:tcPr>
                </a:tc>
              </a:tr>
              <a:tr h="317976">
                <a:tc>
                  <a:txBody>
                    <a:bodyPr wrap="square"/>
                    <a:lstStyle/>
                    <a:p>
                      <a:r>
                        <a:rPr sz="800" b="0" i="0">
                          <a:solidFill>
                            <a:srgbClr val="1D4ED8"/>
                          </a:solidFill>
                          <a:latin typeface="Arial"/>
                          <a:ea typeface="Malgun Gothic"/>
                          <a:cs typeface="Malgun Gothic"/>
                          <a:hlinkClick r:id="rId4"/>
                        </a:rPr>
                        <a:t>suchetanrs/traversability_mapping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GPL-3.0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포즈그래프에 붙는 </a:t>
                      </a:r>
                      <a:r>
                        <a:rPr sz="800" b="1" i="0">
                          <a:solidFill>
                            <a:srgbClr val="16213A"/>
                          </a:solidFill>
                          <a:latin typeface="Arial"/>
                          <a:ea typeface="Malgun Gothic"/>
                          <a:cs typeface="Malgun Gothic"/>
                        </a:rPr>
                        <a:t>전역</a:t>
                      </a:r>
                      <a:r>
                        <a:rPr sz="800" b="0" i="0">
                          <a:solidFill>
                            <a:srgbClr val="16213A"/>
                          </a:solidFill>
                          <a:latin typeface="Arial"/>
                          <a:ea typeface="Malgun Gothic"/>
                          <a:cs typeface="Malgun Gothic"/>
                        </a:rPr>
                        <a:t> traversability 지도 → 루프 클로저 후에도 지도가 남는다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로봇중심이 아니라 전역이라 travplan과 방향이 다름. Humble·Jazzy CI 있음</a:t>
                      </a:r>
                    </a:p>
                  </a:txBody>
                  <a:tcPr marL="63500" marR="63500" marT="12700" marB="12700">
                    <a:solidFill>
                      <a:srgbClr val="F3F0E8"/>
                    </a:solidFill>
                  </a:tcPr>
                </a:tc>
              </a:tr>
              <a:tr h="317976">
                <a:tc>
                  <a:txBody>
                    <a:bodyPr wrap="square"/>
                    <a:lstStyle/>
                    <a:p>
                      <a:r>
                        <a:rPr sz="800" b="0" i="0">
                          <a:solidFill>
                            <a:srgbClr val="1D4ED8"/>
                          </a:solidFill>
                          <a:latin typeface="Arial"/>
                          <a:ea typeface="Malgun Gothic"/>
                          <a:cs typeface="Malgun Gothic"/>
                          <a:hlinkClick r:id="rId5"/>
                        </a:rPr>
                        <a:t>LTU-RAI/TravBlox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Voxblox TSDF/ESDF에 traversability를 </a:t>
                      </a:r>
                      <a:r>
                        <a:rPr sz="800" b="1" i="0">
                          <a:solidFill>
                            <a:srgbClr val="16213A"/>
                          </a:solidFill>
                          <a:latin typeface="Arial"/>
                          <a:ea typeface="Malgun Gothic"/>
                          <a:cs typeface="Malgun Gothic"/>
                        </a:rPr>
                        <a:t>네 번째 voxel 속성</a:t>
                      </a:r>
                      <a:r>
                        <a:rPr sz="800" b="0" i="0">
                          <a:solidFill>
                            <a:srgbClr val="16213A"/>
                          </a:solidFill>
                          <a:latin typeface="Arial"/>
                          <a:ea typeface="Malgun Gothic"/>
                          <a:cs typeface="Malgun Gothic"/>
                        </a:rPr>
                        <a:t>으로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속도 미보고, README 체크리스트 미완</a:t>
                      </a:r>
                    </a:p>
                  </a:txBody>
                  <a:tcPr marL="63500" marR="63500" marT="12700" marB="12700">
                    <a:solidFill>
                      <a:srgbClr val="FFFDF8"/>
                    </a:solidFill>
                  </a:tcPr>
                </a:tc>
              </a:tr>
              <a:tr h="317976">
                <a:tc>
                  <a:txBody>
                    <a:bodyPr wrap="square"/>
                    <a:lstStyle/>
                    <a:p>
                      <a:r>
                        <a:rPr sz="800" b="0" i="0">
                          <a:solidFill>
                            <a:srgbClr val="1D4ED8"/>
                          </a:solidFill>
                          <a:latin typeface="Arial"/>
                          <a:ea typeface="Malgun Gothic"/>
                          <a:cs typeface="Malgun Gothic"/>
                          <a:hlinkClick r:id="rId6"/>
                        </a:rPr>
                        <a:t>LARIAD/Offroad-Nav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로봇중심 2.5D + </a:t>
                      </a:r>
                      <a:r>
                        <a:rPr sz="800" b="1" i="0">
                          <a:solidFill>
                            <a:srgbClr val="16213A"/>
                          </a:solidFill>
                          <a:latin typeface="Arial"/>
                          <a:ea typeface="Malgun Gothic"/>
                          <a:cs typeface="Malgun Gothic"/>
                        </a:rPr>
                        <a:t>Depth Anything V2 + VINS-Mono</a:t>
                      </a:r>
                      <a:r>
                        <a:rPr sz="800" b="0" i="0">
                          <a:solidFill>
                            <a:srgbClr val="16213A"/>
                          </a:solidFill>
                          <a:latin typeface="Arial"/>
                          <a:ea typeface="Malgun Gothic"/>
                          <a:cs typeface="Malgun Gothic"/>
                        </a:rPr>
                        <a:t> 미터 복원, Isaac Sim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A.11.2와 연결. </a:t>
                      </a:r>
                      <a:r>
                        <a:rPr sz="800" b="1" i="0">
                          <a:solidFill>
                            <a:srgbClr val="16213A"/>
                          </a:solidFill>
                          <a:latin typeface="Arial"/>
                          <a:ea typeface="Malgun Gothic"/>
                          <a:cs typeface="Malgun Gothic"/>
                        </a:rPr>
                        <a:t>미관측·음의 장애물 모델링 없음</a:t>
                      </a:r>
                    </a:p>
                  </a:txBody>
                  <a:tcPr marL="63500" marR="63500" marT="12700" marB="12700">
                    <a:solidFill>
                      <a:srgbClr val="F3F0E8"/>
                    </a:solidFill>
                  </a:tcPr>
                </a:tc>
              </a:tr>
              <a:tr h="438864">
                <a:tc>
                  <a:txBody>
                    <a:bodyPr wrap="square"/>
                    <a:lstStyle/>
                    <a:p>
                      <a:r>
                        <a:rPr sz="800" b="0" i="0">
                          <a:solidFill>
                            <a:srgbClr val="1D4ED8"/>
                          </a:solidFill>
                          <a:latin typeface="Arial"/>
                          <a:ea typeface="Malgun Gothic"/>
                          <a:cs typeface="Malgun Gothic"/>
                          <a:hlinkClick r:id="rId7"/>
                        </a:rPr>
                        <a:t>ethz-asl/BIEVR-LIO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313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RSS 2026. </a:t>
                      </a:r>
                      <a:r>
                        <a:rPr sz="800" b="1" i="0">
                          <a:solidFill>
                            <a:srgbClr val="16213A"/>
                          </a:solidFill>
                          <a:latin typeface="Arial"/>
                          <a:ea typeface="Malgun Gothic"/>
                          <a:cs typeface="Malgun Gothic"/>
                        </a:rPr>
                        <a:t>주 기여는 LiDAR-관성 오도메트리</a:t>
                      </a:r>
                      <a:r>
                        <a:rPr sz="800" b="0" i="0">
                          <a:solidFill>
                            <a:srgbClr val="16213A"/>
                          </a:solidFill>
                          <a:latin typeface="Arial"/>
                          <a:ea typeface="Malgun Gothic"/>
                          <a:cs typeface="Malgun Gothic"/>
                        </a:rPr>
                        <a:t>이고 지형 표현은 하위 응용이다. 표면을 voxel별 </a:t>
                      </a:r>
                      <a:r>
                        <a:rPr sz="800" b="1" i="0">
                          <a:solidFill>
                            <a:srgbClr val="16213A"/>
                          </a:solidFill>
                          <a:latin typeface="Arial"/>
                          <a:ea typeface="Malgun Gothic"/>
                          <a:cs typeface="Malgun Gothic"/>
                        </a:rPr>
                        <a:t>방향성 높이 이미지("bump image")</a:t>
                      </a:r>
                      <a:r>
                        <a:rPr sz="800" b="0" i="0">
                          <a:solidFill>
                            <a:srgbClr val="16213A"/>
                          </a:solidFill>
                          <a:latin typeface="Arial"/>
                          <a:ea typeface="Malgun Gothic"/>
                          <a:cs typeface="Malgun Gothic"/>
                        </a:rPr>
                        <a:t>로</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2.5D와 완전 voxel의 중간 — 오버행을 표현한다.</a:t>
                      </a:r>
                      <a:r>
                        <a:rPr sz="800" b="0" i="0">
                          <a:solidFill>
                            <a:srgbClr val="16213A"/>
                          </a:solidFill>
                          <a:latin typeface="Arial"/>
                          <a:ea typeface="Malgun Gothic"/>
                          <a:cs typeface="Malgun Gothic"/>
                        </a:rPr>
                        <a:t> 지켜볼 것</a:t>
                      </a:r>
                    </a:p>
                  </a:txBody>
                  <a:tcPr marL="63500" marR="63500" marT="12700" marB="12700">
                    <a:solidFill>
                      <a:srgbClr val="FFFDF8"/>
                    </a:solidFill>
                  </a:tcPr>
                </a:tc>
              </a:tr>
              <a:tr h="438864">
                <a:tc>
                  <a:txBody>
                    <a:bodyPr wrap="square"/>
                    <a:lstStyle/>
                    <a:p>
                      <a:r>
                        <a:rPr sz="800" b="0" i="0">
                          <a:solidFill>
                            <a:srgbClr val="1D4ED8"/>
                          </a:solidFill>
                          <a:latin typeface="Arial"/>
                          <a:ea typeface="Malgun Gothic"/>
                          <a:cs typeface="Malgun Gothic"/>
                          <a:hlinkClick r:id="rId8"/>
                        </a:rPr>
                        <a:t>csiro-robotics/raycloudtools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118</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BSD-3 상당</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licence.txt</a:t>
                      </a:r>
                      <a:r>
                        <a:rPr sz="800" b="0" i="0">
                          <a:solidFill>
                            <a:srgbClr val="16213A"/>
                          </a:solidFill>
                          <a:latin typeface="Arial"/>
                          <a:ea typeface="Malgun Gothic"/>
                          <a:cs typeface="Malgun Gothic"/>
                        </a:rPr>
                        <a:t>가 </a:t>
                      </a:r>
                      <a:r>
                        <a:rPr sz="800" b="0" i="1">
                          <a:solidFill>
                            <a:srgbClr val="16213A"/>
                          </a:solidFill>
                          <a:latin typeface="Arial"/>
                          <a:ea typeface="Malgun Gothic"/>
                          <a:cs typeface="Malgun Gothic"/>
                        </a:rPr>
                        <a:t>"CSIRO Open Source Software Licence Agreement (variation of the BSD / MIT License)"</a:t>
                      </a:r>
                      <a:r>
                        <a:rPr sz="800" b="0" i="0">
                          <a:solidFill>
                            <a:srgbClr val="16213A"/>
                          </a:solidFill>
                          <a:latin typeface="Arial"/>
                          <a:ea typeface="Malgun Gothic"/>
                          <a:cs typeface="Malgun Gothic"/>
                        </a:rPr>
                        <a:t>, GitHub는 NOASSERTION 표시)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2026-09</a:t>
                      </a:r>
                    </a:p>
                  </a:txBody>
                  <a:tcPr marL="63500" marR="63500" marT="12700" marB="12700">
                    <a:solidFill>
                      <a:srgbClr val="F3F0E8"/>
                    </a:solidFill>
                  </a:tcPr>
                </a:tc>
                <a:tc>
                  <a:txBody>
                    <a:bodyPr wrap="square"/>
                    <a:lstStyle/>
                    <a:p>
                      <a:r>
                        <a:rPr sz="800" b="0" i="1">
                          <a:solidFill>
                            <a:srgbClr val="16213A"/>
                          </a:solidFill>
                          <a:latin typeface="Arial"/>
                          <a:ea typeface="Malgun Gothic"/>
                          <a:cs typeface="Malgun Gothic"/>
                        </a:rPr>
                        <a:t>"ray clouds are point clouds with sensor location included per point"</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free와 unobserved를 가르는 가장 깔끔한 자료 구조</a:t>
                      </a:r>
                    </a:p>
                  </a:txBody>
                  <a:tcPr marL="63500" marR="63500" marT="12700" marB="12700">
                    <a:solidFill>
                      <a:srgbClr val="F3F0E8"/>
                    </a:solidFill>
                  </a:tcPr>
                </a:tc>
              </a:tr>
              <a:tr h="317976">
                <a:tc>
                  <a:txBody>
                    <a:bodyPr wrap="square"/>
                    <a:lstStyle/>
                    <a:p>
                      <a:r>
                        <a:rPr sz="800" b="0" i="0">
                          <a:solidFill>
                            <a:srgbClr val="1D4ED8"/>
                          </a:solidFill>
                          <a:latin typeface="Arial"/>
                          <a:ea typeface="Malgun Gothic"/>
                          <a:cs typeface="Malgun Gothic"/>
                          <a:hlinkClick r:id="rId9"/>
                        </a:rPr>
                        <a:t>csiro-robotics/foresttrav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MIT</a:t>
                      </a:r>
                      <a:r>
                        <a:rPr sz="800" b="0" i="0">
                          <a:solidFill>
                            <a:srgbClr val="16213A"/>
                          </a:solidFill>
                          <a:latin typeface="Arial"/>
                          <a:ea typeface="Malgun Gothic"/>
                          <a:cs typeface="Malgun Gothic"/>
                        </a:rPr>
                        <a:t>(파일 기준)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짙은 초목에서 voxel별 학습 traversability(IEEE Access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보도와 도메인이 다름</a:t>
                      </a:r>
                    </a:p>
                  </a:txBody>
                  <a:tcPr marL="63500" marR="63500" marT="12700" marB="12700">
                    <a:solidFill>
                      <a:srgbClr val="FFFDF8"/>
                    </a:solidFill>
                  </a:tcPr>
                </a:tc>
              </a:tr>
              <a:tr h="317976">
                <a:tc>
                  <a:txBody>
                    <a:bodyPr wrap="square"/>
                    <a:lstStyle/>
                    <a:p>
                      <a:r>
                        <a:rPr sz="800" b="0" i="0">
                          <a:solidFill>
                            <a:srgbClr val="1D4ED8"/>
                          </a:solidFill>
                          <a:latin typeface="Arial"/>
                          <a:ea typeface="Malgun Gothic"/>
                          <a:cs typeface="Malgun Gothic"/>
                          <a:hlinkClick r:id="rId10"/>
                        </a:rPr>
                        <a:t>nubot-nudt/LuSeg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IROS 2025. RGB-D 분할 ~57 Hz. </a:t>
                      </a:r>
                      <a:r>
                        <a:rPr sz="800" b="1" i="0">
                          <a:solidFill>
                            <a:srgbClr val="C2410C"/>
                          </a:solidFill>
                          <a:latin typeface="Arial"/>
                          <a:ea typeface="Malgun Gothic"/>
                          <a:cs typeface="Malgun Gothic"/>
                        </a:rPr>
                        <a:t>동결 RGB 특징 대비 대조 손실로 </a:t>
                      </a:r>
                      <a:r>
                        <a:rPr sz="800" b="1" i="0">
                          <a:solidFill>
                            <a:srgbClr val="C2410C"/>
                          </a:solidFill>
                          <a:latin typeface="Arial"/>
                          <a:ea typeface="Malgun Gothic"/>
                          <a:cs typeface="Malgun Gothic"/>
                        </a:rPr>
                        <a:t>함몰 클래스를 깊이 잡음과 분리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포트홀을 깊이 잡음과 구분하는 학습 기법 참고</a:t>
                      </a:r>
                    </a:p>
                  </a:txBody>
                  <a:tcPr marL="63500" marR="63500" marT="12700" marB="12700">
                    <a:solidFill>
                      <a:srgbClr val="F3F0E8"/>
                    </a:solidFill>
                  </a:tcPr>
                </a:tc>
              </a:tr>
              <a:tr h="317976">
                <a:tc>
                  <a:txBody>
                    <a:bodyPr wrap="square"/>
                    <a:lstStyle/>
                    <a:p>
                      <a:r>
                        <a:rPr sz="800" b="0" i="0">
                          <a:solidFill>
                            <a:srgbClr val="1D4ED8"/>
                          </a:solidFill>
                          <a:latin typeface="Arial"/>
                          <a:ea typeface="Malgun Gothic"/>
                          <a:cs typeface="Malgun Gothic"/>
                          <a:hlinkClick r:id="rId11"/>
                        </a:rPr>
                        <a:t>guoyangzhao/CurbNet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T-ITS 2025(HKUST). LiDAR 연석 분할 + </a:t>
                      </a:r>
                      <a:r>
                        <a:rPr sz="800" b="1" i="0">
                          <a:solidFill>
                            <a:srgbClr val="16213A"/>
                          </a:solidFill>
                          <a:latin typeface="Arial"/>
                          <a:ea typeface="Malgun Gothic"/>
                          <a:cs typeface="Malgun Gothic"/>
                        </a:rPr>
                        <a:t>3D-Curb 데이터셋</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데이터셋만 유용. 오름/내림 구분 없음</a:t>
                      </a:r>
                    </a:p>
                  </a:txBody>
                  <a:tcPr marL="63500" marR="63500" marT="12700" marB="12700">
                    <a:solidFill>
                      <a:srgbClr val="FFFDF8"/>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A.3c 검증된 오픈소스 색인 (2026-09-30 gh api 확인)</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69 / 359</a:t>
            </a:r>
          </a:p>
        </p:txBody>
      </p:sp>
      <p:graphicFrame>
        <p:nvGraphicFramePr>
          <p:cNvPr id="5" name="Table 4"/>
          <p:cNvGraphicFramePr>
            <a:graphicFrameLocks noGrp="1"/>
          </p:cNvGraphicFramePr>
          <p:nvPr/>
        </p:nvGraphicFramePr>
        <p:xfrm>
          <a:off x="609600" y="1244600"/>
          <a:ext cx="10966449" cy="1392792"/>
        </p:xfrm>
        <a:graphic>
          <a:graphicData uri="http://schemas.openxmlformats.org/drawingml/2006/table">
            <a:tbl>
              <a:tblPr firstRow="1" bandRow="1">
                <a:tableStyleId>{5C22544A-7EE6-4342-B048-85BDC9FD1C3A}</a:tableStyleId>
              </a:tblPr>
              <a:tblGrid>
                <a:gridCol w="1939925"/>
                <a:gridCol w="353020"/>
                <a:gridCol w="2669480"/>
                <a:gridCol w="497185"/>
                <a:gridCol w="2466975"/>
                <a:gridCol w="3039864"/>
              </a:tblGrid>
              <a:tr h="197088">
                <a:tc>
                  <a:txBody>
                    <a:bodyPr wrap="square"/>
                    <a:lstStyle/>
                    <a:p>
                      <a:r>
                        <a:rPr sz="800" b="1" i="0">
                          <a:solidFill>
                            <a:srgbClr val="F4F1EA"/>
                          </a:solidFill>
                          <a:latin typeface="Arial"/>
                          <a:ea typeface="Malgun Gothic"/>
                          <a:cs typeface="Malgun Gothic"/>
                        </a:rPr>
                        <a:t>저장소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활동</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무엇인가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관점</a:t>
                      </a:r>
                    </a:p>
                  </a:txBody>
                  <a:tcPr marL="63500" marR="63500" marT="12700" marB="12700">
                    <a:solidFill>
                      <a:srgbClr val="16213A"/>
                    </a:solidFill>
                  </a:tcPr>
                </a:tc>
              </a:tr>
              <a:tr h="317976">
                <a:tc>
                  <a:txBody>
                    <a:bodyPr wrap="square"/>
                    <a:lstStyle/>
                    <a:p>
                      <a:r>
                        <a:rPr sz="800" b="0" i="0">
                          <a:solidFill>
                            <a:srgbClr val="1D4ED8"/>
                          </a:solidFill>
                          <a:latin typeface="Arial"/>
                          <a:ea typeface="Malgun Gothic"/>
                          <a:cs typeface="Malgun Gothic"/>
                          <a:hlinkClick r:id="rId3"/>
                        </a:rPr>
                        <a:t>lab-sun/AMFNet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IEEE IV 2023. </a:t>
                      </a:r>
                      <a:r>
                        <a:rPr sz="800" b="1" i="0">
                          <a:solidFill>
                            <a:srgbClr val="C2410C"/>
                          </a:solidFill>
                          <a:latin typeface="Arial"/>
                          <a:ea typeface="Malgun Gothic"/>
                          <a:cs typeface="Malgun Gothic"/>
                        </a:rPr>
                        <a:t>적응 가중 마스크로 </a:t>
                      </a:r>
                      <a:r>
                        <a:rPr sz="800" b="1" i="0">
                          <a:solidFill>
                            <a:srgbClr val="C2410C"/>
                          </a:solidFill>
                          <a:latin typeface="Arial"/>
                          <a:ea typeface="Malgun Gothic"/>
                          <a:cs typeface="Malgun Gothic"/>
                        </a:rPr>
                        <a:t>깊이 무효 픽셀의 특징을 낮춘다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포트홀 테두리가 정확히 그 입력을 만든다</a:t>
                      </a:r>
                    </a:p>
                  </a:txBody>
                  <a:tcPr marL="63500" marR="63500" marT="12700" marB="12700">
                    <a:solidFill>
                      <a:srgbClr val="FFFDF8"/>
                    </a:solidFill>
                  </a:tcPr>
                </a:tc>
              </a:tr>
              <a:tr h="317976">
                <a:tc>
                  <a:txBody>
                    <a:bodyPr wrap="square"/>
                    <a:lstStyle/>
                    <a:p>
                      <a:r>
                        <a:rPr sz="800" b="0" i="0">
                          <a:solidFill>
                            <a:srgbClr val="1D4ED8"/>
                          </a:solidFill>
                          <a:latin typeface="Arial"/>
                          <a:ea typeface="Malgun Gothic"/>
                          <a:cs typeface="Malgun Gothic"/>
                          <a:hlinkClick r:id="rId4"/>
                        </a:rPr>
                        <a:t>ethz-mrl/supereight2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44</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다중</a:t>
                      </a:r>
                      <a:r>
                        <a:rPr sz="800" b="0" i="0">
                          <a:solidFill>
                            <a:srgbClr val="16213A"/>
                          </a:solidFill>
                          <a:latin typeface="Arial"/>
                          <a:ea typeface="Malgun Gothic"/>
                          <a:cs typeface="Malgun Gothic"/>
                        </a:rPr>
                        <a:t>(REUSE: BSD-3·MIT·CC-BY)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멀티해상도 TSDF/occupancy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라이선스가 단일 BSD-3이 </a:t>
                      </a:r>
                      <a:r>
                        <a:rPr sz="800" b="1" i="0">
                          <a:solidFill>
                            <a:srgbClr val="16213A"/>
                          </a:solidFill>
                          <a:latin typeface="Arial"/>
                          <a:ea typeface="Malgun Gothic"/>
                          <a:cs typeface="Malgun Gothic"/>
                        </a:rPr>
                        <a:t>아니다</a:t>
                      </a:r>
                    </a:p>
                  </a:txBody>
                  <a:tcPr marL="63500" marR="63500" marT="12700" marB="12700">
                    <a:solidFill>
                      <a:srgbClr val="F3F0E8"/>
                    </a:solidFill>
                  </a:tcPr>
                </a:tc>
              </a:tr>
              <a:tr h="559752">
                <a:tc>
                  <a:txBody>
                    <a:bodyPr wrap="square"/>
                    <a:lstStyle/>
                    <a:p>
                      <a:r>
                        <a:rPr sz="800" b="0" i="0">
                          <a:solidFill>
                            <a:srgbClr val="1D4ED8"/>
                          </a:solidFill>
                          <a:latin typeface="Arial"/>
                          <a:ea typeface="Malgun Gothic"/>
                          <a:cs typeface="Malgun Gothic"/>
                          <a:hlinkClick r:id="rId5"/>
                        </a:rPr>
                        <a:t>kiwicampus/elevation_mapping_cpu</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2026-03</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보도 배달 회사(Kiwibot)의</a:t>
                      </a:r>
                      <a:r>
                        <a:rPr sz="800" b="1" i="0">
                          <a:solidFill>
                            <a:srgbClr val="C2410C"/>
                          </a:solidFill>
                          <a:latin typeface="Arial"/>
                          <a:ea typeface="Malgun Gothic"/>
                          <a:cs typeface="Malgun Gothic"/>
                        </a:rPr>
                        <a:t> ANYbotics elevation_mapping ROS 2 Humble 포팅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의존할 크기는 아니지만 </a:t>
                      </a:r>
                      <a:r>
                        <a:rPr sz="800" b="1" i="0">
                          <a:solidFill>
                            <a:srgbClr val="16213A"/>
                          </a:solidFill>
                          <a:latin typeface="Arial"/>
                          <a:ea typeface="Malgun Gothic"/>
                          <a:cs typeface="Malgun Gothic"/>
                        </a:rPr>
                        <a:t>통합 설계가 P1 문제 그대로다</a:t>
                      </a:r>
                      <a:r>
                        <a:rPr sz="800" b="0" i="0">
                          <a:solidFill>
                            <a:srgbClr val="16213A"/>
                          </a:solidFill>
                          <a:latin typeface="Arial"/>
                          <a:ea typeface="Malgun Gothic"/>
                          <a:cs typeface="Malgun Gothic"/>
                        </a:rPr>
                        <a:t> — </a:t>
                      </a:r>
                      <a:r>
                        <a:rPr sz="800" b="0" i="0">
                          <a:solidFill>
                            <a:srgbClr val="16213A"/>
                          </a:solidFill>
                          <a:latin typeface="Consolas"/>
                          <a:ea typeface="Malgun Gothic"/>
                          <a:cs typeface="Malgun Gothic"/>
                        </a:rPr>
                        <a:t>input_sources</a:t>
                      </a:r>
                      <a:r>
                        <a:rPr sz="800" b="0" i="0">
                          <a:solidFill>
                            <a:srgbClr val="16213A"/>
                          </a:solidFill>
                          <a:latin typeface="Arial"/>
                          <a:ea typeface="Malgun Gothic"/>
                          <a:cs typeface="Malgun Gothic"/>
                        </a:rPr>
                        <a:t> 다중 센서, cropbox, visibility cleanup 유지, Nav2가 2D </a:t>
                      </a:r>
                      <a:r>
                        <a:rPr sz="800" b="0" i="0">
                          <a:solidFill>
                            <a:srgbClr val="16213A"/>
                          </a:solidFill>
                          <a:latin typeface="Consolas"/>
                          <a:ea typeface="Malgun Gothic"/>
                          <a:cs typeface="Malgun Gothic"/>
                        </a:rPr>
                        <a:t>base_link</a:t>
                      </a:r>
                      <a:r>
                        <a:rPr sz="800" b="0" i="0">
                          <a:solidFill>
                            <a:srgbClr val="16213A"/>
                          </a:solidFill>
                          <a:latin typeface="Arial"/>
                          <a:ea typeface="Malgun Gothic"/>
                          <a:cs typeface="Malgun Gothic"/>
                        </a:rPr>
                        <a:t>를 쓰도록 </a:t>
                      </a:r>
                      <a:r>
                        <a:rPr sz="800" b="0" i="0">
                          <a:solidFill>
                            <a:srgbClr val="16213A"/>
                          </a:solidFill>
                          <a:latin typeface="Consolas"/>
                          <a:ea typeface="Malgun Gothic"/>
                          <a:cs typeface="Malgun Gothic"/>
                        </a:rPr>
                        <a:t>base_link_3d</a:t>
                      </a:r>
                      <a:r>
                        <a:rPr sz="800" b="0" i="0">
                          <a:solidFill>
                            <a:srgbClr val="16213A"/>
                          </a:solidFill>
                          <a:latin typeface="Arial"/>
                          <a:ea typeface="Malgun Gothic"/>
                          <a:cs typeface="Malgun Gothic"/>
                        </a:rPr>
                        <a:t> TF를 따로 둔 것</a:t>
                      </a:r>
                    </a:p>
                  </a:txBody>
                  <a:tcPr marL="63500" marR="63500" marT="12700" marB="12700">
                    <a:solidFill>
                      <a:srgbClr val="FFFDF8"/>
                    </a:solidFill>
                  </a:tcPr>
                </a:tc>
              </a:tr>
            </a:tbl>
          </a:graphicData>
        </a:graphic>
      </p:graphicFrame>
      <p:sp>
        <p:nvSpPr>
          <p:cNvPr id="6" name="TextBox 5"/>
          <p:cNvSpPr txBox="1"/>
          <p:nvPr/>
        </p:nvSpPr>
        <p:spPr>
          <a:xfrm>
            <a:off x="609600" y="308084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코드가 없어 논문만 쓰는 것</a:t>
            </a:r>
            <a:r>
              <a:rPr sz="1050" b="0" i="0">
                <a:solidFill>
                  <a:srgbClr val="16213A"/>
                </a:solidFill>
                <a:latin typeface="Arial"/>
                <a:ea typeface="Malgun Gothic"/>
                <a:cs typeface="Malgun Gothic"/>
              </a:rPr>
              <a:t>(A.2b.7 ⑨와 별개로 이번 조사에서 추가 확인): LOGOS (</a:t>
            </a:r>
            <a:r>
              <a:rPr sz="1050" b="0" i="0">
                <a:solidFill>
                  <a:srgbClr val="1D4ED8"/>
                </a:solidFill>
                <a:latin typeface="Arial"/>
                <a:ea typeface="Malgun Gothic"/>
                <a:cs typeface="Malgun Gothic"/>
                <a:hlinkClick r:id="rId6"/>
              </a:rPr>
              <a:t>arXiv:2606.21527</a:t>
            </a:r>
            <a:r>
              <a:rPr sz="1050" b="0" i="0">
                <a:solidFill>
                  <a:srgbClr val="16213A"/>
                </a:solidFill>
                <a:latin typeface="Arial"/>
                <a:ea typeface="Malgun Gothic"/>
                <a:cs typeface="Malgun Gothic"/>
              </a:rPr>
              <a:t>, SJTU) — 도로면을 2D 가우시안 혼합으로 보고 </a:t>
            </a:r>
            <a:r>
              <a:rPr sz="1050" b="0" i="0">
                <a:solidFill>
                  <a:srgbClr val="16213A"/>
                </a:solidFill>
                <a:latin typeface="Consolas"/>
                <a:ea typeface="Malgun Gothic"/>
                <a:cs typeface="Malgun Gothic"/>
              </a:rPr>
              <a:t>h(p) &lt; -ε_d</a:t>
            </a:r>
            <a:r>
              <a:rPr sz="1050" b="0" i="0">
                <a:solidFill>
                  <a:srgbClr val="16213A"/>
                </a:solidFill>
                <a:latin typeface="Arial"/>
                <a:ea typeface="Malgun Gothic"/>
                <a:cs typeface="Malgun Gothic"/>
              </a:rPr>
              <a:t>면 음의 장애물로 판정, </a:t>
            </a:r>
            <a:r>
              <a:rPr sz="1050" b="1" i="0">
                <a:solidFill>
                  <a:srgbClr val="C2410C"/>
                </a:solidFill>
                <a:latin typeface="Arial"/>
                <a:ea typeface="Malgun Gothic"/>
                <a:cs typeface="Malgun Gothic"/>
              </a:rPr>
              <a:t>역전파 없이 </a:t>
            </a:r>
            <a:r>
              <a:rPr sz="1050" b="1" i="0">
                <a:solidFill>
                  <a:srgbClr val="C2410C"/>
                </a:solidFill>
                <a:latin typeface="Arial"/>
                <a:ea typeface="Malgun Gothic"/>
                <a:cs typeface="Malgun Gothic"/>
              </a:rPr>
              <a:t>M1 Pro에서 31–57 ms</a:t>
            </a:r>
            <a:r>
              <a:rPr sz="1050" b="0" i="0">
                <a:solidFill>
                  <a:srgbClr val="16213A"/>
                </a:solidFill>
                <a:latin typeface="Arial"/>
                <a:ea typeface="Malgun Gothic"/>
                <a:cs typeface="Malgun Gothic"/>
              </a:rPr>
              <a:t>. Gallant(라이선스 없음), PCT_planner(GPL-2.0, ROS 1만), UniPoint(코드 없음).</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A.4 공개 모델·데이터셋 현황</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70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로봇용 3D/BEV occupancy를 바로 실행할 수 있는 HuggingFace 모델이나 Space는 찾지 못했다(검색 결과는 대부분 주차장 점유 감지였다). 유지보수 중이면서 ONNX/TensorRT export 문서(MMDeploy)와 실측치를 갖춘 리포는 </a:t>
            </a:r>
            <a:r>
              <a:rPr sz="1050" b="1" i="0">
                <a:solidFill>
                  <a:srgbClr val="1D4ED8"/>
                </a:solidFill>
                <a:latin typeface="Arial"/>
                <a:ea typeface="Malgun Gothic"/>
                <a:cs typeface="Malgun Gothic"/>
                <a:hlinkClick r:id="rId3"/>
              </a:rPr>
              <a:t>FlashOcc</a:t>
            </a:r>
            <a:r>
              <a:rPr sz="1050" b="0" i="0">
                <a:solidFill>
                  <a:srgbClr val="16213A"/>
                </a:solidFill>
                <a:latin typeface="Arial"/>
                <a:ea typeface="Malgun Gothic"/>
                <a:cs typeface="Malgun Gothic"/>
              </a:rPr>
              <a:t> 하나다. 데이터셋은 </a:t>
            </a:r>
            <a:r>
              <a:rPr sz="1050" b="1" i="0">
                <a:solidFill>
                  <a:srgbClr val="1D4ED8"/>
                </a:solidFill>
                <a:latin typeface="Arial"/>
                <a:ea typeface="Malgun Gothic"/>
                <a:cs typeface="Malgun Gothic"/>
                <a:hlinkClick r:id="rId4"/>
              </a:rPr>
              <a:t>UniOcc</a:t>
            </a:r>
            <a:r>
              <a:rPr sz="1050" b="0" i="0">
                <a:solidFill>
                  <a:srgbClr val="16213A"/>
                </a:solidFill>
                <a:latin typeface="Arial"/>
                <a:ea typeface="Malgun Gothic"/>
                <a:cs typeface="Malgun Gothic"/>
              </a:rPr>
              <a:t>와 STONE이 쓸 만하다.</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A.5 비교</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71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비교 대상이 두 종류라 표를 나눈다. </a:t>
            </a:r>
            <a:r>
              <a:rPr sz="1050" b="1" i="0">
                <a:solidFill>
                  <a:srgbClr val="C2410C"/>
                </a:solidFill>
                <a:latin typeface="Arial"/>
                <a:ea typeface="Malgun Gothic"/>
                <a:cs typeface="Malgun Gothic"/>
              </a:rPr>
              <a:t>지도 구현체</a:t>
            </a:r>
            <a:r>
              <a:rPr sz="1050" b="1" i="0">
                <a:solidFill>
                  <a:srgbClr val="C2410C"/>
                </a:solidFill>
                <a:latin typeface="Arial"/>
                <a:ea typeface="Malgun Gothic"/>
                <a:cs typeface="Malgun Gothic"/>
              </a:rPr>
              <a:t>는 점군을 받아 2.5D/3D 지도를 유지하는 시스템이고, </a:t>
            </a:r>
            <a:r>
              <a:rPr sz="1050" b="1" i="0">
                <a:solidFill>
                  <a:srgbClr val="C2410C"/>
                </a:solidFill>
                <a:latin typeface="Arial"/>
                <a:ea typeface="Malgun Gothic"/>
                <a:cs typeface="Malgun Gothic"/>
              </a:rPr>
              <a:t>인식 모델</a:t>
            </a:r>
            <a:r>
              <a:rPr sz="1050" b="1" i="0">
                <a:solidFill>
                  <a:srgbClr val="C2410C"/>
                </a:solidFill>
                <a:latin typeface="Arial"/>
                <a:ea typeface="Malgun Gothic"/>
                <a:cs typeface="Malgun Gothic"/>
              </a:rPr>
              <a:t>은 영상에서 occupancy를 추론하는 신경망이다.</a:t>
            </a:r>
            <a:r>
              <a:rPr sz="1050" b="0" i="0">
                <a:solidFill>
                  <a:srgbClr val="16213A"/>
                </a:solidFill>
                <a:latin typeface="Arial"/>
                <a:ea typeface="Malgun Gothic"/>
                <a:cs typeface="Malgun Gothic"/>
              </a:rPr>
              <a:t> travplan은 앞쪽을 L1로 쓰고, 뒤쪽은 TravNet 후보다.</a:t>
            </a:r>
          </a:p>
        </p:txBody>
      </p:sp>
      <p:sp>
        <p:nvSpPr>
          <p:cNvPr id="6" name="TextBox 5"/>
          <p:cNvSpPr txBox="1"/>
          <p:nvPr/>
        </p:nvSpPr>
        <p:spPr>
          <a:xfrm>
            <a:off x="717550" y="176649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A.5.1 지도 구현체 — travplan이 실제로 고를 수 있는 것</a:t>
            </a:r>
          </a:p>
        </p:txBody>
      </p:sp>
      <p:graphicFrame>
        <p:nvGraphicFramePr>
          <p:cNvPr id="7" name="Table 6"/>
          <p:cNvGraphicFramePr>
            <a:graphicFrameLocks noGrp="1"/>
          </p:cNvGraphicFramePr>
          <p:nvPr/>
        </p:nvGraphicFramePr>
        <p:xfrm>
          <a:off x="609600" y="2069703"/>
          <a:ext cx="10966449" cy="3135072"/>
        </p:xfrm>
        <a:graphic>
          <a:graphicData uri="http://schemas.openxmlformats.org/drawingml/2006/table">
            <a:tbl>
              <a:tblPr firstRow="1" bandRow="1">
                <a:tableStyleId>{5C22544A-7EE6-4342-B048-85BDC9FD1C3A}</a:tableStyleId>
              </a:tblPr>
              <a:tblGrid>
                <a:gridCol w="1873945"/>
                <a:gridCol w="655538"/>
                <a:gridCol w="1358999"/>
                <a:gridCol w="1069578"/>
                <a:gridCol w="2281535"/>
                <a:gridCol w="1391642"/>
                <a:gridCol w="2335212"/>
              </a:tblGrid>
              <a:tr h="197088">
                <a:tc>
                  <a:txBody>
                    <a:bodyPr wrap="square"/>
                    <a:lstStyle/>
                    <a:p>
                      <a:r>
                        <a:rPr sz="800" b="1" i="0">
                          <a:solidFill>
                            <a:srgbClr val="F4F1EA"/>
                          </a:solidFill>
                          <a:latin typeface="Arial"/>
                          <a:ea typeface="Malgun Gothic"/>
                          <a:cs typeface="Malgun Gothic"/>
                        </a:rPr>
                        <a:t>구현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활동</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표현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미관측·음의 장애물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실측 속도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관점</a:t>
                      </a:r>
                    </a:p>
                  </a:txBody>
                  <a:tcPr marL="63500" marR="63500" marT="12700" marB="12700">
                    <a:solidFill>
                      <a:srgbClr val="16213A"/>
                    </a:solidFill>
                  </a:tcPr>
                </a:tc>
              </a:tr>
              <a:tr h="317976">
                <a:tc>
                  <a:txBody>
                    <a:bodyPr wrap="square"/>
                    <a:lstStyle/>
                    <a:p>
                      <a:r>
                        <a:rPr sz="800" b="1" i="0">
                          <a:solidFill>
                            <a:srgbClr val="16213A"/>
                          </a:solidFill>
                          <a:latin typeface="Consolas"/>
                          <a:ea typeface="Malgun Gothic"/>
                          <a:cs typeface="Malgun Gothic"/>
                        </a:rPr>
                        <a:t>elevation_mapping_cupy</a:t>
                      </a:r>
                      <a:r>
                        <a:rPr sz="800" b="0" i="0">
                          <a:solidFill>
                            <a:srgbClr val="16213A"/>
                          </a:solidFill>
                          <a:latin typeface="Arial"/>
                          <a:ea typeface="Malgun Gothic"/>
                          <a:cs typeface="Malgun Gothic"/>
                        </a:rPr>
                        <a:t> (현재 L1)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ros2</a:t>
                      </a:r>
                      <a:r>
                        <a:rPr sz="800" b="0" i="0">
                          <a:solidFill>
                            <a:srgbClr val="16213A"/>
                          </a:solidFill>
                          <a:latin typeface="Arial"/>
                          <a:ea typeface="Malgun Gothic"/>
                          <a:cs typeface="Malgun Gothic"/>
                        </a:rPr>
                        <a:t> 2026-07 (</a:t>
                      </a:r>
                      <a:r>
                        <a:rPr sz="800" b="0" i="0">
                          <a:solidFill>
                            <a:srgbClr val="16213A"/>
                          </a:solidFill>
                          <a:latin typeface="Consolas"/>
                          <a:ea typeface="Malgun Gothic"/>
                          <a:cs typeface="Malgun Gothic"/>
                        </a:rPr>
                        <a:t>main</a:t>
                      </a:r>
                      <a:r>
                        <a:rPr sz="800" b="0" i="0">
                          <a:solidFill>
                            <a:srgbClr val="16213A"/>
                          </a:solidFill>
                          <a:latin typeface="Arial"/>
                          <a:ea typeface="Malgun Gothic"/>
                          <a:cs typeface="Malgun Gothic"/>
                        </a:rPr>
                        <a:t>은 2025-05)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2.5D 로봇중심, GPU</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upper_bound</a:t>
                      </a:r>
                      <a:r>
                        <a:rPr sz="800" b="0" i="0">
                          <a:solidFill>
                            <a:srgbClr val="16213A"/>
                          </a:solidFill>
                          <a:latin typeface="Arial"/>
                          <a:ea typeface="Malgun Gothic"/>
                          <a:cs typeface="Malgun Gothic"/>
                        </a:rPr>
                        <a:t> + </a:t>
                      </a:r>
                      <a:r>
                        <a:rPr sz="800" b="0" i="0">
                          <a:solidFill>
                            <a:srgbClr val="16213A"/>
                          </a:solidFill>
                          <a:latin typeface="Consolas"/>
                          <a:ea typeface="Malgun Gothic"/>
                          <a:cs typeface="Malgun Gothic"/>
                        </a:rPr>
                        <a:t>is_upper_bound</a:t>
                      </a:r>
                      <a:r>
                        <a:rPr sz="800" b="0" i="0">
                          <a:solidFill>
                            <a:srgbClr val="16213A"/>
                          </a:solidFill>
                          <a:latin typeface="Arial"/>
                          <a:ea typeface="Malgun Gothic"/>
                          <a:cs typeface="Malgun Gothic"/>
                        </a:rPr>
                        <a:t> (TP-0044가 소비)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Xavier 20–49 Hz, 4090 dilation 0.59 ms</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유지.</a:t>
                      </a:r>
                      <a:r>
                        <a:rPr sz="800" b="0" i="0">
                          <a:solidFill>
                            <a:srgbClr val="16213A"/>
                          </a:solidFill>
                          <a:latin typeface="Arial"/>
                          <a:ea typeface="Malgun Gothic"/>
                          <a:cs typeface="Malgun Gothic"/>
                        </a:rPr>
                        <a:t> core 패키지로 옮기면 ROS 의존 제거 + 학습 필터 끄기 가능</a:t>
                      </a:r>
                    </a:p>
                  </a:txBody>
                  <a:tcPr marL="63500" marR="63500" marT="12700" marB="12700">
                    <a:solidFill>
                      <a:srgbClr val="FFFDF8"/>
                    </a:solidFill>
                  </a:tcPr>
                </a:tc>
              </a:tr>
              <a:tr h="317976">
                <a:tc>
                  <a:txBody>
                    <a:bodyPr wrap="square"/>
                    <a:lstStyle/>
                    <a:p>
                      <a:r>
                        <a:rPr sz="800" b="1" i="0">
                          <a:solidFill>
                            <a:srgbClr val="C2410C"/>
                          </a:solidFill>
                          <a:latin typeface="Arial"/>
                          <a:ea typeface="Malgun Gothic"/>
                          <a:cs typeface="Malgun Gothic"/>
                        </a:rPr>
                        <a:t>FastDEM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BSD-3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2026-09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2.5D, </a:t>
                      </a:r>
                      <a:r>
                        <a:rPr sz="800" b="1" i="0">
                          <a:solidFill>
                            <a:srgbClr val="16213A"/>
                          </a:solidFill>
                          <a:latin typeface="Arial"/>
                          <a:ea typeface="Malgun Gothic"/>
                          <a:cs typeface="Malgun Gothic"/>
                        </a:rPr>
                        <a:t>CPU만</a:t>
                      </a:r>
                      <a:r>
                        <a:rPr sz="800" b="0" i="0">
                          <a:solidFill>
                            <a:srgbClr val="16213A"/>
                          </a:solidFill>
                          <a:latin typeface="Arial"/>
                          <a:ea typeface="Malgun Gothic"/>
                          <a:cs typeface="Malgun Gothic"/>
                        </a:rPr>
                        <a:t> (Eigen)</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visibility_logodds</a:t>
                      </a:r>
                      <a:r>
                        <a:rPr sz="800" b="0" i="0">
                          <a:solidFill>
                            <a:srgbClr val="16213A"/>
                          </a:solidFill>
                          <a:latin typeface="Arial"/>
                          <a:ea typeface="Malgun Gothic"/>
                          <a:cs typeface="Malgun Gothic"/>
                        </a:rPr>
                        <a:t>, 인페인팅 별도 레이어</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Orin 100+ Hz, 스캔당 ~10 ms</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TP-0084 비교 기준선으로 세운다.</a:t>
                      </a:r>
                      <a:r>
                        <a:rPr sz="800" b="0" i="0">
                          <a:solidFill>
                            <a:srgbClr val="16213A"/>
                          </a:solidFill>
                          <a:latin typeface="Arial"/>
                          <a:ea typeface="Malgun Gothic"/>
                          <a:cs typeface="Malgun Gothic"/>
                        </a:rPr>
                        <a:t> 레이어가 </a:t>
                      </a:r>
                      <a:r>
                        <a:rPr sz="800" b="0" i="0">
                          <a:solidFill>
                            <a:srgbClr val="16213A"/>
                          </a:solidFill>
                          <a:latin typeface="Consolas"/>
                          <a:ea typeface="Malgun Gothic"/>
                          <a:cs typeface="Malgun Gothic"/>
                        </a:rPr>
                        <a:t>TravMap[8]</a:t>
                      </a:r>
                      <a:r>
                        <a:rPr sz="800" b="0" i="0">
                          <a:solidFill>
                            <a:srgbClr val="16213A"/>
                          </a:solidFill>
                          <a:latin typeface="Arial"/>
                          <a:ea typeface="Malgun Gothic"/>
                          <a:cs typeface="Malgun Gothic"/>
                        </a:rPr>
                        <a:t>과 1:1</a:t>
                      </a:r>
                    </a:p>
                  </a:txBody>
                  <a:tcPr marL="63500" marR="63500" marT="12700" marB="12700">
                    <a:solidFill>
                      <a:srgbClr val="F3F0E8"/>
                    </a:solidFill>
                  </a:tcPr>
                </a:tc>
              </a:tr>
              <a:tr h="317976">
                <a:tc>
                  <a:txBody>
                    <a:bodyPr wrap="square"/>
                    <a:lstStyle/>
                    <a:p>
                      <a:r>
                        <a:rPr sz="800" b="1" i="0">
                          <a:solidFill>
                            <a:srgbClr val="16213A"/>
                          </a:solidFill>
                          <a:latin typeface="Arial"/>
                          <a:ea typeface="Malgun Gothic"/>
                          <a:cs typeface="Malgun Gothic"/>
                        </a:rPr>
                        <a:t>CSIRO ohm</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BSD-3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master</a:t>
                      </a:r>
                      <a:r>
                        <a:rPr sz="800" b="0" i="0">
                          <a:solidFill>
                            <a:srgbClr val="16213A"/>
                          </a:solidFill>
                          <a:latin typeface="Arial"/>
                          <a:ea typeface="Malgun Gothic"/>
                          <a:cs typeface="Malgun Gothic"/>
                        </a:rPr>
                        <a:t> 2023-02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3D voxel → 2.5D 높이지도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6상태 열거형 + </a:t>
                      </a:r>
                      <a:r>
                        <a:rPr sz="800" b="0" i="0">
                          <a:solidFill>
                            <a:srgbClr val="16213A"/>
                          </a:solidFill>
                          <a:latin typeface="Consolas"/>
                          <a:ea typeface="Malgun Gothic"/>
                          <a:cs typeface="Malgun Gothic"/>
                        </a:rPr>
                        <a:t>virtualSurfaceFilterThreshold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NUC에서 높이지도 ~5 Hz, 20³ m/0.1 m</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TP-0048 규칙 설계에 읽는다.</a:t>
                      </a:r>
                      <a:r>
                        <a:rPr sz="800" b="0" i="0">
                          <a:solidFill>
                            <a:srgbClr val="16213A"/>
                          </a:solidFill>
                          <a:latin typeface="Arial"/>
                          <a:ea typeface="Malgun Gothic"/>
                          <a:cs typeface="Malgun Gothic"/>
                        </a:rPr>
                        <a:t> SubT 실전 검증</a:t>
                      </a:r>
                    </a:p>
                  </a:txBody>
                  <a:tcPr marL="63500" marR="63500" marT="12700" marB="12700">
                    <a:solidFill>
                      <a:srgbClr val="FFFDF8"/>
                    </a:solidFill>
                  </a:tcPr>
                </a:tc>
              </a:tr>
              <a:tr h="317976">
                <a:tc>
                  <a:txBody>
                    <a:bodyPr wrap="square"/>
                    <a:lstStyle/>
                    <a:p>
                      <a:r>
                        <a:rPr sz="800" b="1" i="0">
                          <a:solidFill>
                            <a:srgbClr val="16213A"/>
                          </a:solidFill>
                          <a:latin typeface="Arial"/>
                          <a:ea typeface="Malgun Gothic"/>
                          <a:cs typeface="Malgun Gothic"/>
                        </a:rPr>
                        <a:t>G-VOM</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GPL-3.0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2023 정지 (ETH 포크 2024-06)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3D voxel → 2.5D 5장</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negative_obstacle</a:t>
                      </a:r>
                      <a:r>
                        <a:rPr sz="800" b="0" i="0">
                          <a:solidFill>
                            <a:srgbClr val="16213A"/>
                          </a:solidFill>
                          <a:latin typeface="Arial"/>
                          <a:ea typeface="Malgun Gothic"/>
                          <a:cs typeface="Malgun Gothic"/>
                        </a:rPr>
                        <a:t> + </a:t>
                      </a:r>
                      <a:r>
                        <a:rPr sz="800" b="0" i="0">
                          <a:solidFill>
                            <a:srgbClr val="16213A"/>
                          </a:solidFill>
                          <a:latin typeface="Consolas"/>
                          <a:ea typeface="Malgun Gothic"/>
                          <a:cs typeface="Malgun Gothic"/>
                        </a:rPr>
                        <a:t>visibility</a:t>
                      </a:r>
                      <a:r>
                        <a:rPr sz="800" b="0" i="0">
                          <a:solidFill>
                            <a:srgbClr val="16213A"/>
                          </a:solidFill>
                          <a:latin typeface="Arial"/>
                          <a:ea typeface="Malgun Gothic"/>
                          <a:cs typeface="Malgun Gothic"/>
                        </a:rPr>
                        <a:t> 1급 출력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트럭용 0.4 m</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재구현만.</a:t>
                      </a:r>
                      <a:r>
                        <a:rPr sz="800" b="0" i="0">
                          <a:solidFill>
                            <a:srgbClr val="16213A"/>
                          </a:solidFill>
                          <a:latin typeface="Arial"/>
                          <a:ea typeface="Malgun Gothic"/>
                          <a:cs typeface="Malgun Gothic"/>
                        </a:rPr>
                        <a:t> 파라미터는 트럭용이라 못 씀</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CMU </a:t>
                      </a:r>
                      <a:r>
                        <a:rPr sz="800" b="1" i="0">
                          <a:solidFill>
                            <a:srgbClr val="16213A"/>
                          </a:solidFill>
                          <a:latin typeface="Consolas"/>
                          <a:ea typeface="Malgun Gothic"/>
                          <a:cs typeface="Malgun Gothic"/>
                        </a:rPr>
                        <a:t>terrain_analysis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2026-06 </a:t>
                      </a:r>
                      <a:r>
                        <a:rPr sz="800" b="0" i="0">
                          <a:solidFill>
                            <a:srgbClr val="16213A"/>
                          </a:solidFill>
                          <a:latin typeface="Consolas"/>
                          <a:ea typeface="Malgun Gothic"/>
                          <a:cs typeface="Malgun Gothic"/>
                        </a:rPr>
                        <a:t>jazzy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2.5D planar voxel</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negObstacle</a:t>
                      </a:r>
                      <a:r>
                        <a:rPr sz="800" b="0" i="0">
                          <a:solidFill>
                            <a:srgbClr val="16213A"/>
                          </a:solidFill>
                          <a:latin typeface="Arial"/>
                          <a:ea typeface="Malgun Gothic"/>
                          <a:cs typeface="Malgun Gothic"/>
                        </a:rPr>
                        <a:t> 기준계 선택, </a:t>
                      </a:r>
                      <a:r>
                        <a:rPr sz="800" b="1" i="0">
                          <a:solidFill>
                            <a:srgbClr val="C2410C"/>
                          </a:solidFill>
                          <a:latin typeface="Arial"/>
                          <a:ea typeface="Malgun Gothic"/>
                          <a:cs typeface="Malgun Gothic"/>
                        </a:rPr>
                        <a:t>shrink/expand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실시간</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파라미터 설계만 참조</a:t>
                      </a:r>
                      <a:r>
                        <a:rPr sz="800" b="0" i="0">
                          <a:solidFill>
                            <a:srgbClr val="16213A"/>
                          </a:solidFill>
                          <a:latin typeface="Arial"/>
                          <a:ea typeface="Malgun Gothic"/>
                          <a:cs typeface="Malgun Gothic"/>
                        </a:rPr>
                        <a:t> (라이선스 없음)</a:t>
                      </a:r>
                    </a:p>
                  </a:txBody>
                  <a:tcPr marL="63500" marR="63500" marT="12700" marB="12700">
                    <a:solidFill>
                      <a:srgbClr val="FFFDF8"/>
                    </a:solidFill>
                  </a:tcPr>
                </a:tc>
              </a:tr>
              <a:tr h="317976">
                <a:tc>
                  <a:txBody>
                    <a:bodyPr wrap="square"/>
                    <a:lstStyle/>
                    <a:p>
                      <a:r>
                        <a:rPr sz="800" b="1" i="0">
                          <a:solidFill>
                            <a:srgbClr val="16213A"/>
                          </a:solidFill>
                          <a:latin typeface="Arial"/>
                          <a:ea typeface="Malgun Gothic"/>
                          <a:cs typeface="Malgun Gothic"/>
                        </a:rPr>
                        <a:t>nvblox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3D TSDF/ESDF</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UnobservedEsdfPolicy</a:t>
                      </a:r>
                      <a:r>
                        <a:rPr sz="800" b="0" i="0">
                          <a:solidFill>
                            <a:srgbClr val="16213A"/>
                          </a:solidFill>
                          <a:latin typeface="Arial"/>
                          <a:ea typeface="Malgun Gothic"/>
                          <a:cs typeface="Malgun Gothic"/>
                        </a:rPr>
                        <a:t> 3종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Orin Nano ESDF 6.2 ms</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clearance</a:t>
                      </a:r>
                      <a:r>
                        <a:rPr sz="800" b="0" i="0">
                          <a:solidFill>
                            <a:srgbClr val="16213A"/>
                          </a:solidFill>
                          <a:latin typeface="Arial"/>
                          <a:ea typeface="Malgun Gothic"/>
                          <a:cs typeface="Malgun Gothic"/>
                        </a:rPr>
                        <a:t> 채널 구현 수단</a:t>
                      </a:r>
                    </a:p>
                  </a:txBody>
                  <a:tcPr marL="63500" marR="63500" marT="12700" marB="12700">
                    <a:solidFill>
                      <a:srgbClr val="F3F0E8"/>
                    </a:solidFill>
                  </a:tcPr>
                </a:tc>
              </a:tr>
              <a:tr h="317976">
                <a:tc>
                  <a:txBody>
                    <a:bodyPr wrap="square"/>
                    <a:lstStyle/>
                    <a:p>
                      <a:r>
                        <a:rPr sz="800" b="1" i="0">
                          <a:solidFill>
                            <a:srgbClr val="16213A"/>
                          </a:solidFill>
                          <a:latin typeface="Arial"/>
                          <a:ea typeface="Malgun Gothic"/>
                          <a:cs typeface="Malgun Gothic"/>
                        </a:rPr>
                        <a:t>wavemap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멀티해상도 3D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occupied/free/</a:t>
                      </a:r>
                      <a:r>
                        <a:rPr sz="800" b="1" i="0">
                          <a:solidFill>
                            <a:srgbClr val="16213A"/>
                          </a:solidFill>
                          <a:latin typeface="Arial"/>
                          <a:ea typeface="Malgun Gothic"/>
                          <a:cs typeface="Malgun Gothic"/>
                        </a:rPr>
                        <a:t>unobserved</a:t>
                      </a:r>
                      <a:r>
                        <a:rPr sz="800" b="0" i="0">
                          <a:solidFill>
                            <a:srgbClr val="16213A"/>
                          </a:solidFill>
                          <a:latin typeface="Arial"/>
                          <a:ea typeface="Malgun Gothic"/>
                          <a:cs typeface="Malgun Gothic"/>
                        </a:rPr>
                        <a:t> 3상태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논문은 데스크톱(i9-9900K)만 보고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미관측 질의 인터페이스 선례. ⚠️ Orin 29 ms는 </a:t>
                      </a:r>
                      <a:r>
                        <a:rPr sz="800" b="1" i="0">
                          <a:solidFill>
                            <a:srgbClr val="16213A"/>
                          </a:solidFill>
                          <a:latin typeface="Arial"/>
                          <a:ea typeface="Malgun Gothic"/>
                          <a:cs typeface="Malgun Gothic"/>
                        </a:rPr>
                        <a:t>Waverider</a:t>
                      </a:r>
                      <a:r>
                        <a:rPr sz="800" b="0" i="0">
                          <a:solidFill>
                            <a:srgbClr val="16213A"/>
                          </a:solidFill>
                          <a:latin typeface="Arial"/>
                          <a:ea typeface="Malgun Gothic"/>
                          <a:cs typeface="Malgun Gothic"/>
                        </a:rPr>
                        <a:t>의 수치다(A.2b.2)</a:t>
                      </a:r>
                    </a:p>
                  </a:txBody>
                  <a:tcPr marL="63500" marR="63500" marT="12700" marB="12700">
                    <a:solidFill>
                      <a:srgbClr val="FFFDF8"/>
                    </a:solidFill>
                  </a:tcPr>
                </a:tc>
              </a:tr>
              <a:tr h="317976">
                <a:tc>
                  <a:txBody>
                    <a:bodyPr wrap="square"/>
                    <a:lstStyle/>
                    <a:p>
                      <a:r>
                        <a:rPr sz="800" b="1" i="0">
                          <a:solidFill>
                            <a:srgbClr val="16213A"/>
                          </a:solidFill>
                          <a:latin typeface="Arial"/>
                          <a:ea typeface="Malgun Gothic"/>
                          <a:cs typeface="Malgun Gothic"/>
                        </a:rPr>
                        <a:t>traversability_generator3d</a:t>
                      </a:r>
                      <a:r>
                        <a:rPr sz="800" b="0" i="0">
                          <a:solidFill>
                            <a:srgbClr val="16213A"/>
                          </a:solidFill>
                          <a:latin typeface="Arial"/>
                          <a:ea typeface="Malgun Gothic"/>
                          <a:cs typeface="Malgun Gothic"/>
                        </a:rPr>
                        <a:t> + </a:t>
                      </a:r>
                      <a:r>
                        <a:rPr sz="800" b="0" i="0">
                          <a:solidFill>
                            <a:srgbClr val="16213A"/>
                          </a:solidFill>
                          <a:latin typeface="Consolas"/>
                          <a:ea typeface="Malgun Gothic"/>
                          <a:cs typeface="Malgun Gothic"/>
                        </a:rPr>
                        <a:t>ugv_nav4d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BSD-3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2026-09, JOSS 2026</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MLS</a:t>
                      </a:r>
                      <a:r>
                        <a:rPr sz="800" b="0" i="0">
                          <a:solidFill>
                            <a:srgbClr val="16213A"/>
                          </a:solidFill>
                          <a:latin typeface="Arial"/>
                          <a:ea typeface="Malgun Gothic"/>
                          <a:cs typeface="Malgun Gothic"/>
                        </a:rPr>
                        <a:t> 다층 표면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Unknown/</a:t>
                      </a:r>
                      <a:r>
                        <a:rPr sz="800" b="1" i="0">
                          <a:solidFill>
                            <a:srgbClr val="16213A"/>
                          </a:solidFill>
                          <a:latin typeface="Arial"/>
                          <a:ea typeface="Malgun Gothic"/>
                          <a:cs typeface="Malgun Gothic"/>
                        </a:rPr>
                        <a:t>Frontier</a:t>
                      </a:r>
                      <a:r>
                        <a:rPr sz="800" b="0" i="0">
                          <a:solidFill>
                            <a:srgbClr val="16213A"/>
                          </a:solidFill>
                          <a:latin typeface="Arial"/>
                          <a:ea typeface="Malgun Gothic"/>
                          <a:cs typeface="Malgun Gothic"/>
                        </a:rPr>
                        <a:t> 1급 (Hole은 미사용)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미보고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오버행의 유일한 활성 답. ⚠️ Rock 빌드</a:t>
                      </a:r>
                    </a:p>
                  </a:txBody>
                  <a:tcPr marL="63500" marR="63500" marT="12700" marB="12700">
                    <a:solidFill>
                      <a:srgbClr val="F3F0E8"/>
                    </a:solidFill>
                  </a:tcPr>
                </a:tc>
              </a:tr>
              <a:tr h="317976">
                <a:tc>
                  <a:txBody>
                    <a:bodyPr wrap="square"/>
                    <a:lstStyle/>
                    <a:p>
                      <a:r>
                        <a:rPr sz="800" b="1" i="0">
                          <a:solidFill>
                            <a:srgbClr val="16213A"/>
                          </a:solidFill>
                          <a:latin typeface="Arial"/>
                          <a:ea typeface="Malgun Gothic"/>
                          <a:cs typeface="Malgun Gothic"/>
                        </a:rPr>
                        <a:t>SCAN-Planner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2026-07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3D sliding + 지면추종면</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d_up</a:t>
                      </a:r>
                      <a:r>
                        <a:rPr sz="800" b="0" i="0">
                          <a:solidFill>
                            <a:srgbClr val="16213A"/>
                          </a:solidFill>
                          <a:latin typeface="Arial"/>
                          <a:ea typeface="Malgun Gothic"/>
                          <a:cs typeface="Malgun Gothic"/>
                        </a:rPr>
                        <a:t> twin-cylinder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Orin NX 실시간</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clearance</a:t>
                      </a:r>
                      <a:r>
                        <a:rPr sz="800" b="0" i="0">
                          <a:solidFill>
                            <a:srgbClr val="16213A"/>
                          </a:solidFill>
                          <a:latin typeface="Arial"/>
                          <a:ea typeface="Malgun Gothic"/>
                          <a:cs typeface="Malgun Gothic"/>
                        </a:rPr>
                        <a:t> 채널의 근거</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ROG-Map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GPL-3.0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3D 링버퍼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50 Hz 중 5.96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A.2c (드론 계열)</a:t>
                      </a:r>
                    </a:p>
                  </a:txBody>
                  <a:tcPr marL="63500" marR="63500" marT="12700" marB="12700">
                    <a:solidFill>
                      <a:srgbClr val="F3F0E8"/>
                    </a:solidFill>
                  </a:tcPr>
                </a:tc>
              </a:tr>
            </a:tbl>
          </a:graphicData>
        </a:graphic>
      </p:graphicFrame>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지형 지도·Occupancy · A. Occupancy Network — 지형·장애물 인식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A.5 비교</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72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A.5.2 인식 모델 — TravNet 후보</a:t>
            </a:r>
          </a:p>
        </p:txBody>
      </p:sp>
      <p:graphicFrame>
        <p:nvGraphicFramePr>
          <p:cNvPr id="6" name="Table 5"/>
          <p:cNvGraphicFramePr>
            <a:graphicFrameLocks noGrp="1"/>
          </p:cNvGraphicFramePr>
          <p:nvPr/>
        </p:nvGraphicFramePr>
        <p:xfrm>
          <a:off x="609600" y="1547812"/>
          <a:ext cx="10966450" cy="1576704"/>
        </p:xfrm>
        <a:graphic>
          <a:graphicData uri="http://schemas.openxmlformats.org/drawingml/2006/table">
            <a:tbl>
              <a:tblPr firstRow="1" bandRow="1">
                <a:tableStyleId>{5C22544A-7EE6-4342-B048-85BDC9FD1C3A}</a:tableStyleId>
              </a:tblPr>
              <a:tblGrid>
                <a:gridCol w="2107902"/>
                <a:gridCol w="1063228"/>
                <a:gridCol w="2121991"/>
                <a:gridCol w="3344168"/>
                <a:gridCol w="1245791"/>
                <a:gridCol w="1083370"/>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입력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방식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장점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단점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Orin</a:t>
                      </a:r>
                    </a:p>
                  </a:txBody>
                  <a:tcPr marL="63500" marR="63500" marT="12700" marB="12700">
                    <a:solidFill>
                      <a:srgbClr val="16213A"/>
                    </a:solidFill>
                  </a:tcPr>
                </a:tc>
              </a:tr>
              <a:tr h="197088">
                <a:tc>
                  <a:txBody>
                    <a:bodyPr wrap="square"/>
                    <a:lstStyle/>
                    <a:p>
                      <a:r>
                        <a:rPr sz="800" b="1" i="0">
                          <a:solidFill>
                            <a:srgbClr val="C2410C"/>
                          </a:solidFill>
                          <a:latin typeface="Arial"/>
                          <a:ea typeface="Malgun Gothic"/>
                          <a:cs typeface="Malgun Gothic"/>
                        </a:rPr>
                        <a:t>UNRealNet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단일 LiDAR 스캔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PointPillars + UNet, 칸별 </a:t>
                      </a:r>
                      <a:r>
                        <a:rPr sz="800" b="1" i="0">
                          <a:solidFill>
                            <a:srgbClr val="16213A"/>
                          </a:solidFill>
                          <a:latin typeface="Arial"/>
                          <a:ea typeface="Malgun Gothic"/>
                          <a:cs typeface="Malgun Gothic"/>
                        </a:rPr>
                        <a:t>평균+분산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채널이 </a:t>
                      </a:r>
                      <a:r>
                        <a:rPr sz="800" b="0" i="0">
                          <a:solidFill>
                            <a:srgbClr val="16213A"/>
                          </a:solidFill>
                          <a:latin typeface="Consolas"/>
                          <a:ea typeface="Malgun Gothic"/>
                          <a:cs typeface="Malgun Gothic"/>
                        </a:rPr>
                        <a:t>TravMap[8]</a:t>
                      </a:r>
                      <a:r>
                        <a:rPr sz="800" b="0" i="0">
                          <a:solidFill>
                            <a:srgbClr val="16213A"/>
                          </a:solidFill>
                          <a:latin typeface="Arial"/>
                          <a:ea typeface="Malgun Gothic"/>
                          <a:cs typeface="Malgun Gothic"/>
                        </a:rPr>
                        <a:t>과 거의 일치(σ 포함), 인페인팅을 학습으로 강제</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코드 미공개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3060 Laptop 7 Hz</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WalkOCC / Sidewalk3D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단안 카메라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ray-marching + 하이브리드 학습</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보도 특화</a:t>
                      </a:r>
                      <a:r>
                        <a:rPr sz="800" b="0" i="0">
                          <a:solidFill>
                            <a:srgbClr val="16213A"/>
                          </a:solidFill>
                          <a:latin typeface="Arial"/>
                          <a:ea typeface="Malgun Gothic"/>
                          <a:cs typeface="Malgun Gothic"/>
                        </a:rPr>
                        <a:t>(연석·측구 분할)</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코드 약속 후 미공개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미검증</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OneOcc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360° 파노라마 1대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Dual-Projection + Bi-Grid + 흔들림 보정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다리 로봇 흔들림 대응, LiDAR 기준선 초과</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코드 미공개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주장뿐</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O3N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전방위 카메라 1대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Polar-spiral Mamba + CLIP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개방 어휘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지연 미보고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불명</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FlashOcc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멀티카메라 BEV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BEV 유지 + channel-to-height</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TensorRT export 검증</a:t>
                      </a:r>
                      <a:r>
                        <a:rPr sz="800" b="0" i="0">
                          <a:solidFill>
                            <a:srgbClr val="16213A"/>
                          </a:solidFill>
                          <a:latin typeface="Arial"/>
                          <a:ea typeface="Malgun Gothic"/>
                          <a:cs typeface="Malgun Gothic"/>
                        </a:rPr>
                        <a:t>, 약 27 fps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자동차 멀티카메라 전제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검증(자동차용)</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GroundGrid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LiDAR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격자 기반 지면 분할</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94.78 % mIoU @ </a:t>
                      </a:r>
                      <a:r>
                        <a:rPr sz="800" b="1" i="0">
                          <a:solidFill>
                            <a:srgbClr val="C2410C"/>
                          </a:solidFill>
                          <a:latin typeface="Arial"/>
                          <a:ea typeface="Malgun Gothic"/>
                          <a:cs typeface="Malgun Gothic"/>
                        </a:rPr>
                        <a:t>171 Hz</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ros2-jazzy</a:t>
                      </a:r>
                      <a:r>
                        <a:rPr sz="800" b="0" i="0">
                          <a:solidFill>
                            <a:srgbClr val="16213A"/>
                          </a:solidFill>
                          <a:latin typeface="Arial"/>
                          <a:ea typeface="Malgun Gothic"/>
                          <a:cs typeface="Malgun Gothic"/>
                        </a:rPr>
                        <a:t> 브랜치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지면 분할까지만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CPU 실시간</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MonoScene/TPVFormer/SurroundOcc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멀티카메라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voxel 시맨틱 완성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자동차 벤치마크 정확도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프레임당 0.87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부적합</a:t>
                      </a:r>
                    </a:p>
                  </a:txBody>
                  <a:tcPr marL="63500" marR="63500" marT="12700" marB="12700">
                    <a:solidFill>
                      <a:srgbClr val="FFFDF8"/>
                    </a:solidFill>
                  </a:tcPr>
                </a:tc>
              </a:tr>
            </a:tbl>
          </a:graphicData>
        </a:graphic>
      </p:graphicFrame>
      <p:sp>
        <p:nvSpPr>
          <p:cNvPr id="7" name="TextBox 6"/>
          <p:cNvSpPr txBox="1"/>
          <p:nvPr/>
        </p:nvSpPr>
        <p:spPr>
          <a:xfrm>
            <a:off x="717550" y="3613944"/>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A.5.3 상용 인터페이스 — 전부 2.5D다</a:t>
            </a:r>
          </a:p>
        </p:txBody>
      </p:sp>
      <p:graphicFrame>
        <p:nvGraphicFramePr>
          <p:cNvPr id="8" name="Table 7"/>
          <p:cNvGraphicFramePr>
            <a:graphicFrameLocks noGrp="1"/>
          </p:cNvGraphicFramePr>
          <p:nvPr/>
        </p:nvGraphicFramePr>
        <p:xfrm>
          <a:off x="609600" y="3917156"/>
          <a:ext cx="10966450" cy="1030128"/>
        </p:xfrm>
        <a:graphic>
          <a:graphicData uri="http://schemas.openxmlformats.org/drawingml/2006/table">
            <a:tbl>
              <a:tblPr firstRow="1" bandRow="1">
                <a:tableStyleId>{5C22544A-7EE6-4342-B048-85BDC9FD1C3A}</a:tableStyleId>
              </a:tblPr>
              <a:tblGrid>
                <a:gridCol w="1633835"/>
                <a:gridCol w="3981450"/>
                <a:gridCol w="1650504"/>
                <a:gridCol w="3700661"/>
              </a:tblGrid>
              <a:tr h="197088">
                <a:tc>
                  <a:txBody>
                    <a:bodyPr wrap="square"/>
                    <a:lstStyle/>
                    <a:p>
                      <a:r>
                        <a:rPr sz="800" b="1" i="0">
                          <a:solidFill>
                            <a:srgbClr val="F4F1EA"/>
                          </a:solidFill>
                          <a:latin typeface="Arial"/>
                          <a:ea typeface="Malgun Gothic"/>
                          <a:cs typeface="Malgun Gothic"/>
                        </a:rPr>
                        <a:t>제품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지형 인터페이스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z 차원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특징</a:t>
                      </a:r>
                    </a:p>
                  </a:txBody>
                  <a:tcPr marL="63500" marR="63500" marT="12700" marB="12700">
                    <a:solidFill>
                      <a:srgbClr val="16213A"/>
                    </a:solidFill>
                  </a:tcPr>
                </a:tc>
              </a:tr>
              <a:tr h="317976">
                <a:tc>
                  <a:txBody>
                    <a:bodyPr wrap="square"/>
                    <a:lstStyle/>
                    <a:p>
                      <a:r>
                        <a:rPr sz="800" b="1" i="0">
                          <a:solidFill>
                            <a:srgbClr val="16213A"/>
                          </a:solidFill>
                          <a:latin typeface="Arial"/>
                          <a:ea typeface="Malgun Gothic"/>
                          <a:cs typeface="Malgun Gothic"/>
                        </a:rPr>
                        <a:t>Spot</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local_grid.proto</a:t>
                      </a:r>
                      <a:r>
                        <a:rPr sz="800" b="0" i="0">
                          <a:solidFill>
                            <a:srgbClr val="16213A"/>
                          </a:solidFill>
                          <a:latin typeface="Arial"/>
                          <a:ea typeface="Malgun Gothic"/>
                          <a:cs typeface="Malgun Gothic"/>
                        </a:rPr>
                        <a:t> 5종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 (</a:t>
                      </a:r>
                      <a:r>
                        <a:rPr sz="800" b="0" i="0">
                          <a:solidFill>
                            <a:srgbClr val="16213A"/>
                          </a:solidFill>
                          <a:latin typeface="Consolas"/>
                          <a:ea typeface="Malgun Gothic"/>
                          <a:cs typeface="Malgun Gothic"/>
                        </a:rPr>
                        <a:t>cell_size</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num_cells_x/y</a:t>
                      </a:r>
                      <a:r>
                        <a:rPr sz="800" b="0" i="0">
                          <a:solidFill>
                            <a:srgbClr val="16213A"/>
                          </a:solidFill>
                          <a:latin typeface="Arial"/>
                          <a:ea typeface="Malgun Gothic"/>
                          <a:cs typeface="Malgun Gothic"/>
                        </a:rPr>
                        <a:t>만)</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no_step</a:t>
                      </a:r>
                      <a:r>
                        <a:rPr sz="800" b="0" i="0">
                          <a:solidFill>
                            <a:srgbClr val="16213A"/>
                          </a:solidFill>
                          <a:latin typeface="Arial"/>
                          <a:ea typeface="Malgun Gothic"/>
                          <a:cs typeface="Malgun Gothic"/>
                        </a:rPr>
                        <a:t> boolean + </a:t>
                      </a:r>
                      <a:r>
                        <a:rPr sz="800" b="0" i="0">
                          <a:solidFill>
                            <a:srgbClr val="16213A"/>
                          </a:solidFill>
                          <a:latin typeface="Consolas"/>
                          <a:ea typeface="Malgun Gothic"/>
                          <a:cs typeface="Malgun Gothic"/>
                        </a:rPr>
                        <a:t>obstacle_distance</a:t>
                      </a:r>
                      <a:r>
                        <a:rPr sz="800" b="0" i="0">
                          <a:solidFill>
                            <a:srgbClr val="16213A"/>
                          </a:solidFill>
                          <a:latin typeface="Arial"/>
                          <a:ea typeface="Malgun Gothic"/>
                          <a:cs typeface="Malgun Gothic"/>
                        </a:rPr>
                        <a:t> SDF, </a:t>
                      </a:r>
                      <a:r>
                        <a:rPr sz="800" b="1" i="0">
                          <a:solidFill>
                            <a:srgbClr val="16213A"/>
                          </a:solidFill>
                          <a:latin typeface="Arial"/>
                          <a:ea typeface="Malgun Gothic"/>
                          <a:cs typeface="Malgun Gothic"/>
                        </a:rPr>
                        <a:t>&gt; 40 cm는 장애물 아님</a:t>
                      </a:r>
                      <a:r>
                        <a:rPr sz="800" b="0" i="0">
                          <a:solidFill>
                            <a:srgbClr val="16213A"/>
                          </a:solidFill>
                          <a:latin typeface="Arial"/>
                          <a:ea typeface="Malgun Gothic"/>
                          <a:cs typeface="Malgun Gothic"/>
                        </a:rPr>
                        <a:t> 하드 임계</a:t>
                      </a:r>
                    </a:p>
                  </a:txBody>
                  <a:tcPr marL="63500" marR="63500" marT="12700" marB="12700">
                    <a:solidFill>
                      <a:srgbClr val="FFFDF8"/>
                    </a:solidFill>
                  </a:tcPr>
                </a:tc>
              </a:tr>
              <a:tr h="317976">
                <a:tc>
                  <a:txBody>
                    <a:bodyPr wrap="square"/>
                    <a:lstStyle/>
                    <a:p>
                      <a:r>
                        <a:rPr sz="800" b="1" i="0">
                          <a:solidFill>
                            <a:srgbClr val="16213A"/>
                          </a:solidFill>
                          <a:latin typeface="Arial"/>
                          <a:ea typeface="Malgun Gothic"/>
                          <a:cs typeface="Malgun Gothic"/>
                        </a:rPr>
                        <a:t>Unitree Go2</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idl/go2/HeightMap_.hpp</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resolution_</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width_</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height_</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origin_</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data_</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 (</a:t>
                      </a:r>
                      <a:r>
                        <a:rPr sz="800" b="0" i="0">
                          <a:solidFill>
                            <a:srgbClr val="16213A"/>
                          </a:solidFill>
                          <a:latin typeface="Consolas"/>
                          <a:ea typeface="Malgun Gothic"/>
                          <a:cs typeface="Malgun Gothic"/>
                        </a:rPr>
                        <a:t>origin_</a:t>
                      </a:r>
                      <a:r>
                        <a:rPr sz="800" b="0" i="0">
                          <a:solidFill>
                            <a:srgbClr val="16213A"/>
                          </a:solidFill>
                          <a:latin typeface="Arial"/>
                          <a:ea typeface="Malgun Gothic"/>
                          <a:cs typeface="Malgun Gothic"/>
                        </a:rPr>
                        <a:t>이 </a:t>
                      </a:r>
                      <a:r>
                        <a:rPr sz="800" b="0" i="0">
                          <a:solidFill>
                            <a:srgbClr val="16213A"/>
                          </a:solidFill>
                          <a:latin typeface="Consolas"/>
                          <a:ea typeface="Malgun Gothic"/>
                          <a:cs typeface="Malgun Gothic"/>
                        </a:rPr>
                        <a:t>array&lt;float,2&gt;</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매퍼는 온보드 클로즈드. 흔히 인용되는 토픽 </a:t>
                      </a:r>
                      <a:r>
                        <a:rPr sz="800" b="0" i="0">
                          <a:solidFill>
                            <a:srgbClr val="16213A"/>
                          </a:solidFill>
                          <a:latin typeface="Consolas"/>
                          <a:ea typeface="Malgun Gothic"/>
                          <a:cs typeface="Malgun Gothic"/>
                        </a:rPr>
                        <a:t>rt/utlidar/height_map_array</a:t>
                      </a:r>
                      <a:r>
                        <a:rPr sz="800" b="0" i="0">
                          <a:solidFill>
                            <a:srgbClr val="16213A"/>
                          </a:solidFill>
                          <a:latin typeface="Arial"/>
                          <a:ea typeface="Malgun Gothic"/>
                          <a:cs typeface="Malgun Gothic"/>
                        </a:rPr>
                        <a:t>는 SDK에 없다(A.2b.6)</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Booster·Fourier·AgiBot·Galbot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지형 타입 </a:t>
                      </a:r>
                      <a:r>
                        <a:rPr sz="800" b="1" i="0">
                          <a:solidFill>
                            <a:srgbClr val="16213A"/>
                          </a:solidFill>
                          <a:latin typeface="Arial"/>
                          <a:ea typeface="Malgun Gothic"/>
                          <a:cs typeface="Malgun Gothic"/>
                        </a:rPr>
                        <a:t>0건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SDK에 elevation 개념 없음</a:t>
                      </a:r>
                    </a:p>
                  </a:txBody>
                  <a:tcPr marL="63500" marR="63500" marT="12700" marB="12700">
                    <a:solidFill>
                      <a:srgbClr val="FFFDF8"/>
                    </a:solidFill>
                  </a:tcPr>
                </a:tc>
              </a:tr>
            </a:tbl>
          </a:graphicData>
        </a:graphic>
      </p:graphicFrame>
      <p:sp>
        <p:nvSpPr>
          <p:cNvPr id="9" name="TextBox 8"/>
          <p:cNvSpPr txBox="1"/>
          <p:nvPr/>
        </p:nvSpPr>
        <p:spPr>
          <a:xfrm>
            <a:off x="717550" y="5300067"/>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A.5.4 결론</a:t>
            </a:r>
          </a:p>
        </p:txBody>
      </p:sp>
      <p:sp>
        <p:nvSpPr>
          <p:cNvPr id="10" name="TextBox 9"/>
          <p:cNvSpPr txBox="1"/>
          <p:nvPr/>
        </p:nvSpPr>
        <p:spPr>
          <a:xfrm>
            <a:off x="609600" y="5603280"/>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표현을 바꾸지 않는다.</a:t>
            </a:r>
            <a:r>
              <a:rPr sz="1050" b="0" i="0">
                <a:solidFill>
                  <a:srgbClr val="16213A"/>
                </a:solidFill>
                <a:latin typeface="Arial"/>
                <a:ea typeface="Malgun Gothic"/>
                <a:cs typeface="Malgun Gothic"/>
              </a:rPr>
              <a:t> 2.5D를 대체하려는 연구는 실재하지만(A.2b.6) traversability 의미론을 내는 3D 라이브러리가 없고, 상용 인터페이스도 전부 2.5D이며, ETH RSL조차 2.5D를 휴머노이드로 </a:t>
            </a:r>
            <a:r>
              <a:rPr sz="1050" b="1" i="0">
                <a:solidFill>
                  <a:srgbClr val="16213A"/>
                </a:solidFill>
                <a:latin typeface="Arial"/>
                <a:ea typeface="Malgun Gothic"/>
                <a:cs typeface="Malgun Gothic"/>
              </a:rPr>
              <a:t>확장</a:t>
            </a:r>
            <a:r>
              <a:rPr sz="1050" b="0" i="0">
                <a:solidFill>
                  <a:srgbClr val="16213A"/>
                </a:solidFill>
                <a:latin typeface="Arial"/>
                <a:ea typeface="Malgun Gothic"/>
                <a:cs typeface="Malgun Gothic"/>
              </a:rPr>
              <a:t> 중이다. 가져올 것 셋만 고른다: </a:t>
            </a:r>
            <a:r>
              <a:rPr sz="1050" b="1" i="0">
                <a:solidFill>
                  <a:srgbClr val="16213A"/>
                </a:solidFill>
                <a:latin typeface="Arial"/>
                <a:ea typeface="Malgun Gothic"/>
                <a:cs typeface="Malgun Gothic"/>
              </a:rPr>
              <a:t>(1) FastDEM을 TP-0084 CPU 기준선으로</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(2) TP-0048의 판정 규칙 네 개</a:t>
            </a:r>
            <a:r>
              <a:rPr sz="1050" b="0" i="0">
                <a:solidFill>
                  <a:srgbClr val="16213A"/>
                </a:solidFill>
                <a:latin typeface="Arial"/>
                <a:ea typeface="Malgun Gothic"/>
                <a:cs typeface="Malgun Gothic"/>
              </a:rPr>
              <a:t>(A.2b.7 결론), </a:t>
            </a:r>
            <a:r>
              <a:rPr sz="1050" b="1" i="0">
                <a:solidFill>
                  <a:srgbClr val="16213A"/>
                </a:solidFill>
                <a:latin typeface="Arial"/>
                <a:ea typeface="Malgun Gothic"/>
                <a:cs typeface="Malgun Gothic"/>
              </a:rPr>
              <a:t>(3) </a:t>
            </a:r>
            <a:r>
              <a:rPr sz="1050" b="1" i="0">
                <a:solidFill>
                  <a:srgbClr val="16213A"/>
                </a:solidFill>
                <a:latin typeface="Consolas"/>
                <a:ea typeface="Malgun Gothic"/>
                <a:cs typeface="Malgun Gothic"/>
              </a:rPr>
              <a:t>clearance</a:t>
            </a:r>
            <a:r>
              <a:rPr sz="1050" b="1" i="0">
                <a:solidFill>
                  <a:srgbClr val="16213A"/>
                </a:solidFill>
                <a:latin typeface="Arial"/>
                <a:ea typeface="Malgun Gothic"/>
                <a:cs typeface="Malgun Gothic"/>
              </a:rPr>
              <a:t> 9번째 채널</a:t>
            </a:r>
            <a:r>
              <a:rPr sz="1050" b="0" i="0">
                <a:solidFill>
                  <a:srgbClr val="16213A"/>
                </a:solidFill>
                <a:latin typeface="Arial"/>
                <a:ea typeface="Malgun Gothic"/>
                <a:cs typeface="Malgun Gothic"/>
              </a:rPr>
              <a:t>로 오버행 한계를 최소 변경으로 메운다.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인식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작업 기록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인식 (docs/research-perception.md)    73 / 359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A.13 진행 기록 — 지도 구축</a:t>
            </a:r>
          </a:p>
          <a:p>
            <a:pPr>
              <a:spcAft>
                <a:spcPts val="400"/>
              </a:spcAft>
            </a:pPr>
            <a:r>
              <a:rPr sz="1000" b="0" i="0">
                <a:solidFill>
                  <a:srgbClr val="C9D1E0"/>
                </a:solidFill>
                <a:latin typeface="Arial"/>
                <a:ea typeface="Malgun Gothic"/>
                <a:cs typeface="Malgun Gothic"/>
              </a:rPr>
              <a:t>A.13.1 TP-0085 — 그림자 판별 규칙 셋을 재서 하나를 골랐다</a:t>
            </a:r>
          </a:p>
          <a:p>
            <a:pPr>
              <a:spcAft>
                <a:spcPts val="400"/>
              </a:spcAft>
            </a:pPr>
            <a:r>
              <a:rPr sz="1000" b="0" i="0">
                <a:solidFill>
                  <a:srgbClr val="C9D1E0"/>
                </a:solidFill>
                <a:latin typeface="Arial"/>
                <a:ea typeface="Malgun Gothic"/>
                <a:cs typeface="Malgun Gothic"/>
              </a:rPr>
              <a:t>A.13.2 TP-0086 — FastDEM을 CPU 기준선으로 세웠고, 내 주장이 틀렸다</a:t>
            </a:r>
          </a:p>
          <a:p>
            <a:pPr>
              <a:spcAft>
                <a:spcPts val="400"/>
              </a:spcAft>
            </a:pPr>
            <a:r>
              <a:rPr sz="1000" b="0" i="0">
                <a:solidFill>
                  <a:srgbClr val="C9D1E0"/>
                </a:solidFill>
                <a:latin typeface="Arial"/>
                <a:ea typeface="Malgun Gothic"/>
                <a:cs typeface="Malgun Gothic"/>
              </a:rPr>
              <a:t>A.13.3 TP-0096 — 같은 장면에서 층을 맞대 보니 "부분적으로 같다"</a:t>
            </a:r>
          </a:p>
          <a:p>
            <a:pPr>
              <a:spcAft>
                <a:spcPts val="400"/>
              </a:spcAft>
            </a:pPr>
            <a:r>
              <a:rPr sz="1000" b="0" i="0">
                <a:solidFill>
                  <a:srgbClr val="C9D1E0"/>
                </a:solidFill>
                <a:latin typeface="Arial"/>
                <a:ea typeface="Malgun Gothic"/>
                <a:cs typeface="Malgun Gothic"/>
              </a:rPr>
              <a:t>A.13.4 TP-0088 — elevation_mapping_cupy_core 이전은 NO-GO, 가드만 가져온다</a:t>
            </a:r>
          </a:p>
          <a:p>
            <a:pPr>
              <a:spcAft>
                <a:spcPts val="400"/>
              </a:spcAft>
            </a:pPr>
            <a:r>
              <a:rPr sz="1000" b="0" i="0">
                <a:solidFill>
                  <a:srgbClr val="C9D1E0"/>
                </a:solidFill>
                <a:latin typeface="Arial"/>
                <a:ea typeface="Malgun Gothic"/>
                <a:cs typeface="Malgun Gothic"/>
              </a:rPr>
              <a:t>A.13.5 TP-0082 — 학습 필터를 기준선으로 세우려다 평가 기반의 순환을 찾았다</a:t>
            </a:r>
          </a:p>
          <a:p>
            <a:pPr>
              <a:spcAft>
                <a:spcPts val="400"/>
              </a:spcAft>
            </a:pPr>
            <a:r>
              <a:rPr sz="1000" b="0" i="0">
                <a:solidFill>
                  <a:srgbClr val="C9D1E0"/>
                </a:solidFill>
                <a:latin typeface="Arial"/>
                <a:ea typeface="Malgun Gothic"/>
                <a:cs typeface="Malgun Gothic"/>
              </a:rPr>
              <a:t>A.13.6 TP-0100 — belief를 차체 기준으로 재니, 위험은 "못 본 칸"에 있고 깊이 prior는 그것을 막지 않는다</a:t>
            </a:r>
          </a:p>
          <a:p>
            <a:pPr>
              <a:spcAft>
                <a:spcPts val="400"/>
              </a:spcAft>
            </a:pPr>
            <a:r>
              <a:rPr sz="1000" b="0" i="0">
                <a:solidFill>
                  <a:srgbClr val="C9D1E0"/>
                </a:solidFill>
                <a:latin typeface="Arial"/>
                <a:ea typeface="Malgun Gothic"/>
                <a:cs typeface="Malgun Gothic"/>
              </a:rPr>
              <a:t>A.13.7 TP-0101 — 로봇 둘레 못 본 칸을 치명으로 두면, L0에서는 거의 공짜이고 L1에서는 느려진다</a:t>
            </a:r>
          </a:p>
          <a:p>
            <a:pPr>
              <a:spcAft>
                <a:spcPts val="400"/>
              </a:spcAft>
            </a:pPr>
            <a:r>
              <a:rPr sz="1000" b="0" i="0">
                <a:solidFill>
                  <a:srgbClr val="C9D1E0"/>
                </a:solidFill>
                <a:latin typeface="Arial"/>
                <a:ea typeface="Malgun Gothic"/>
                <a:cs typeface="Malgun Gothic"/>
              </a:rPr>
              <a:t>A.13.8 TP-0065 — 전면 스테레오를 L1의 두 번째 입력으로 넣으니, 근거리 미관측 옵션의 대가가 사라진다</a:t>
            </a:r>
          </a:p>
          <a:p>
            <a:pPr>
              <a:spcAft>
                <a:spcPts val="400"/>
              </a:spcAft>
            </a:pPr>
            <a:r>
              <a:rPr sz="1000" b="0" i="0">
                <a:solidFill>
                  <a:srgbClr val="C9D1E0"/>
                </a:solidFill>
                <a:latin typeface="Arial"/>
                <a:ea typeface="Malgun Gothic"/>
                <a:cs typeface="Malgun Gothic"/>
              </a:rPr>
              <a:t>A.13.9 TP-0095 — 깊이 prior 후보에 잡음 필터를 걸면, 내림 턱 오탐은 전부 사라지고 포트홀은 대부분 남는다</a:t>
            </a:r>
          </a:p>
          <a:p>
            <a:pPr>
              <a:spcAft>
                <a:spcPts val="400"/>
              </a:spcAft>
            </a:pPr>
            <a:r>
              <a:rPr sz="1000" b="0" i="0">
                <a:solidFill>
                  <a:srgbClr val="C9D1E0"/>
                </a:solidFill>
                <a:latin typeface="Arial"/>
                <a:ea typeface="Malgun Gothic"/>
                <a:cs typeface="Malgun Gothic"/>
              </a:rPr>
              <a:t>A.13.10 TP-0102 — 몸체가 흔들려도 자세만 보상하면 elevation mapping은 1 cm대로 맞다 (Playground, 사족 보행·바퀴 사족)</a:t>
            </a:r>
          </a:p>
          <a:p>
            <a:pPr>
              <a:spcAft>
                <a:spcPts val="400"/>
              </a:spcAft>
            </a:pPr>
            <a:r>
              <a:rPr sz="1000" b="0" i="0">
                <a:solidFill>
                  <a:srgbClr val="C9D1E0"/>
                </a:solidFill>
                <a:latin typeface="Arial"/>
                <a:ea typeface="Malgun Gothic"/>
                <a:cs typeface="Malgun Gothic"/>
              </a:rPr>
              <a:t>A.13.11 TP-0089 — 궤적 참조는 같은 만큼 비키면서 시간은 덜 낸다</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A.13.12 TP-0098 — 매퍼의 순서 의존 넷을 닫으니 L1이 비트 단위로 재현된다</a:t>
            </a:r>
          </a:p>
          <a:p>
            <a:pPr>
              <a:spcAft>
                <a:spcPts val="400"/>
              </a:spcAft>
            </a:pPr>
            <a:r>
              <a:rPr sz="1000" b="0" i="0">
                <a:solidFill>
                  <a:srgbClr val="C9D1E0"/>
                </a:solidFill>
                <a:latin typeface="Arial"/>
                <a:ea typeface="Malgun Gothic"/>
                <a:cs typeface="Malgun Gothic"/>
              </a:rPr>
              <a:t>A.13.13 TP-0054 — 매퍼 분산은 σ가 되지 못하고, cost 민감도 σ는 오차를 맞히지만 폐루프를 바꾸지 못한다</a:t>
            </a:r>
          </a:p>
          <a:p>
            <a:pPr>
              <a:spcAft>
                <a:spcPts val="400"/>
              </a:spcAft>
            </a:pPr>
            <a:r>
              <a:rPr sz="1000" b="0" i="0">
                <a:solidFill>
                  <a:srgbClr val="C9D1E0"/>
                </a:solidFill>
                <a:latin typeface="Arial"/>
                <a:ea typeface="Malgun Gothic"/>
                <a:cs typeface="Malgun Gothic"/>
              </a:rPr>
              <a:t>A.13.14 TP-0141 — 한 칸 폭 통로는 1 cm 잡음 편향에 닫힌다: random_mix s3 레벨 2·3의 결정적 멈춤</a:t>
            </a:r>
          </a:p>
          <a:p>
            <a:pPr>
              <a:spcAft>
                <a:spcPts val="400"/>
              </a:spcAft>
            </a:pPr>
            <a:r>
              <a:rPr sz="1000" b="0" i="0">
                <a:solidFill>
                  <a:srgbClr val="C9D1E0"/>
                </a:solidFill>
                <a:latin typeface="Arial"/>
                <a:ea typeface="Malgun Gothic"/>
                <a:cs typeface="Malgun Gothic"/>
              </a:rPr>
              <a:t>A.13.15 TP-0142 — 턱 특징 전에 15 cm 평활: 잡음 편향이 사라지고, 좁은 통로가 열린다(선택)</a:t>
            </a:r>
          </a:p>
          <a:p>
            <a:pPr>
              <a:spcAft>
                <a:spcPts val="400"/>
              </a:spcAft>
            </a:pPr>
            <a:r>
              <a:rPr sz="1000" b="0" i="0">
                <a:solidFill>
                  <a:srgbClr val="C9D1E0"/>
                </a:solidFill>
                <a:latin typeface="Arial"/>
                <a:ea typeface="Malgun Gothic"/>
                <a:cs typeface="Malgun Gothic"/>
              </a:rPr>
              <a:t>A.13.16 다음 병목 측정 — L1 인식에서 레벨 3은 4분의 1이 치명이다(2026-10-03)</a:t>
            </a:r>
          </a:p>
          <a:p>
            <a:pPr>
              <a:spcAft>
                <a:spcPts val="400"/>
              </a:spcAft>
            </a:pPr>
            <a:r>
              <a:rPr sz="1000" b="0" i="0">
                <a:solidFill>
                  <a:srgbClr val="C9D1E0"/>
                </a:solidFill>
                <a:latin typeface="Arial"/>
                <a:ea typeface="Malgun Gothic"/>
                <a:cs typeface="Malgun Gothic"/>
              </a:rPr>
              <a:t>A.13.17 TP-0146 — L1 레벨 3 치명의 원인: 매퍼 칸이 반 칸 어긋나 있었고, 테두리 뒤 스치는 칸이 얕게 채워졌다</a:t>
            </a:r>
          </a:p>
          <a:p>
            <a:pPr>
              <a:spcAft>
                <a:spcPts val="400"/>
              </a:spcAft>
            </a:pPr>
            <a:r>
              <a:rPr sz="1000" b="0" i="0">
                <a:solidFill>
                  <a:srgbClr val="C9D1E0"/>
                </a:solidFill>
                <a:latin typeface="Arial"/>
                <a:ea typeface="Malgun Gothic"/>
                <a:cs typeface="Malgun Gothic"/>
              </a:rPr>
              <a:t>A.13.18 TP-0148 — 포트홀 가장자리의 mixed pixel: 구덩이에만 한 칸 여유를 둔다</a:t>
            </a:r>
          </a:p>
          <a:p>
            <a:pPr>
              <a:spcAft>
                <a:spcPts val="400"/>
              </a:spcAft>
            </a:pPr>
            <a:r>
              <a:rPr sz="1000" b="0" i="0">
                <a:solidFill>
                  <a:srgbClr val="C9D1E0"/>
                </a:solidFill>
                <a:latin typeface="Arial"/>
                <a:ea typeface="Malgun Gothic"/>
                <a:cs typeface="Malgun Gothic"/>
              </a:rPr>
              <a:t>A.13.19 다음 병목 측정 2 — 권장 L1에 스워브 plant를 얹으면 레벨 3이 다시 무너진다(TP-0149)</a:t>
            </a:r>
          </a:p>
          <a:p>
            <a:pPr>
              <a:spcAft>
                <a:spcPts val="400"/>
              </a:spcAft>
            </a:pPr>
            <a:r>
              <a:rPr sz="1000" b="0" i="0">
                <a:solidFill>
                  <a:srgbClr val="C9D1E0"/>
                </a:solidFill>
                <a:latin typeface="Arial"/>
                <a:ea typeface="Malgun Gothic"/>
                <a:cs typeface="Malgun Gothic"/>
              </a:rPr>
              <a:t>A.13.20 TP-0153 — L1 벤치마크의 GPU 경로: CPU와 비트 단위로 같고 3.5배 빠르다</a:t>
            </a:r>
          </a:p>
          <a:p>
            <a:pPr>
              <a:spcAft>
                <a:spcPts val="400"/>
              </a:spcAft>
            </a:pPr>
            <a:r>
              <a:rPr sz="1000" b="0" i="0">
                <a:solidFill>
                  <a:srgbClr val="C9D1E0"/>
                </a:solidFill>
                <a:latin typeface="Arial"/>
                <a:ea typeface="Malgun Gothic"/>
                <a:cs typeface="Malgun Gothic"/>
              </a:rPr>
              <a:t>A.13.21 다음 병목 측정 3 — 보행자 5명을 권장 L1 + 스워브 plant에 얹는다(TP-0154)</a:t>
            </a:r>
          </a:p>
          <a:p>
            <a:pPr>
              <a:spcAft>
                <a:spcPts val="400"/>
              </a:spcAft>
            </a:pPr>
            <a:r>
              <a:rPr sz="1000" b="0" i="0">
                <a:solidFill>
                  <a:srgbClr val="C9D1E0"/>
                </a:solidFill>
                <a:latin typeface="Arial"/>
                <a:ea typeface="Malgun Gothic"/>
                <a:cs typeface="Malgun Gothic"/>
              </a:rPr>
              <a:t>A.13.22 보행자 충돌 8건 진단 — MPPI의 보행자 hard 벌점이 포화한다(TP-0160)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 진행 기록 — 지도 구축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74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리서치 절(A.2b·A.10)이 </a:t>
            </a:r>
            <a:r>
              <a:rPr sz="1050" b="1" i="0">
                <a:solidFill>
                  <a:srgbClr val="16213A"/>
                </a:solidFill>
                <a:latin typeface="Arial"/>
                <a:ea typeface="Malgun Gothic"/>
                <a:cs typeface="Malgun Gothic"/>
              </a:rPr>
              <a:t>남이 무엇을 했나</a:t>
            </a:r>
            <a:r>
              <a:rPr sz="1050" b="0" i="0">
                <a:solidFill>
                  <a:srgbClr val="16213A"/>
                </a:solidFill>
                <a:latin typeface="Arial"/>
                <a:ea typeface="Malgun Gothic"/>
                <a:cs typeface="Malgun Gothic"/>
              </a:rPr>
              <a:t>라면, 여기는 </a:t>
            </a:r>
            <a:r>
              <a:rPr sz="1050" b="1" i="0">
                <a:solidFill>
                  <a:srgbClr val="16213A"/>
                </a:solidFill>
                <a:latin typeface="Arial"/>
                <a:ea typeface="Malgun Gothic"/>
                <a:cs typeface="Malgun Gothic"/>
              </a:rPr>
              <a:t>우리가 무엇을 고치고 쟀나</a:t>
            </a:r>
            <a:r>
              <a:rPr sz="1050" b="0" i="0">
                <a:solidFill>
                  <a:srgbClr val="16213A"/>
                </a:solidFill>
                <a:latin typeface="Arial"/>
                <a:ea typeface="Malgun Gothic"/>
                <a:cs typeface="Malgun Gothic"/>
              </a:rPr>
              <a:t>다. </a:t>
            </a:r>
            <a:r>
              <a:rPr sz="1050" b="0" i="0">
                <a:solidFill>
                  <a:srgbClr val="16213A"/>
                </a:solidFill>
                <a:latin typeface="Consolas"/>
                <a:ea typeface="Malgun Gothic"/>
                <a:cs typeface="Malgun Gothic"/>
              </a:rPr>
              <a:t>docs/research-mpc.md</a:t>
            </a:r>
            <a:r>
              <a:rPr sz="1050" b="0" i="0">
                <a:solidFill>
                  <a:srgbClr val="16213A"/>
                </a:solidFill>
                <a:latin typeface="Arial"/>
                <a:ea typeface="Malgun Gothic"/>
                <a:cs typeface="Malgun Gothic"/>
              </a:rPr>
              <a:t> §M.3과 같은 역할이고, TP 번호와 커밋이 붙는다.</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 TP-0085 — 그림자 판별 규칙 셋을 재서 하나를 골랐다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75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a:t>
            </a:r>
            <a:r>
              <a:rPr sz="1050" b="0" i="0">
                <a:solidFill>
                  <a:srgbClr val="16213A"/>
                </a:solidFill>
                <a:latin typeface="Arial"/>
                <a:ea typeface="Malgun Gothic"/>
                <a:cs typeface="Malgun Gothic"/>
              </a:rPr>
              <a:t> 가려진 평지와 진짜 낙차를 가르는 규칙에 대해 문헌이 어긋난다(A.2b.7). emap IROS 2022는 </a:t>
            </a:r>
            <a:r>
              <a:rPr sz="1050" b="0" i="1">
                <a:solidFill>
                  <a:srgbClr val="16213A"/>
                </a:solidFill>
                <a:latin typeface="Arial"/>
                <a:ea typeface="Malgun Gothic"/>
                <a:cs typeface="Malgun Gothic"/>
              </a:rPr>
              <a:t>"진짜 낙차면 상한의 기울기가 커진다"</a:t>
            </a:r>
            <a:r>
              <a:rPr sz="1050" b="0" i="0">
                <a:solidFill>
                  <a:srgbClr val="16213A"/>
                </a:solidFill>
                <a:latin typeface="Arial"/>
                <a:ea typeface="Malgun Gothic"/>
                <a:cs typeface="Malgun Gothic"/>
              </a:rPr>
              <a:t>, ArtPlanner는 </a:t>
            </a:r>
            <a:r>
              <a:rPr sz="1050" b="0" i="1">
                <a:solidFill>
                  <a:srgbClr val="16213A"/>
                </a:solidFill>
                <a:latin typeface="Arial"/>
                <a:ea typeface="Malgun Gothic"/>
                <a:cs typeface="Malgun Gothic"/>
              </a:rPr>
              <a:t>"절벽의 virtual surface는 가까워질 때까지 기울기가 작아 보인다"</a:t>
            </a:r>
            <a:r>
              <a:rPr sz="1050" b="0" i="0">
                <a:solidFill>
                  <a:srgbClr val="16213A"/>
                </a:solidFill>
                <a:latin typeface="Arial"/>
                <a:ea typeface="Malgun Gothic"/>
                <a:cs typeface="Malgun Gothic"/>
              </a:rPr>
              <a:t>. 그리고 travplan은 둘 중 어느 것도 아닌 </a:t>
            </a:r>
            <a:r>
              <a:rPr sz="1050" b="1" i="0">
                <a:solidFill>
                  <a:srgbClr val="16213A"/>
                </a:solidFill>
                <a:latin typeface="Arial"/>
                <a:ea typeface="Malgun Gothic"/>
                <a:cs typeface="Malgun Gothic"/>
              </a:rPr>
              <a:t>제3의 규칙</a:t>
            </a:r>
            <a:r>
              <a:rPr sz="1050" b="0" i="0">
                <a:solidFill>
                  <a:srgbClr val="16213A"/>
                </a:solidFill>
                <a:latin typeface="Arial"/>
                <a:ea typeface="Malgun Gothic"/>
                <a:cs typeface="Malgun Gothic"/>
              </a:rPr>
              <a:t>을 쓴다 — </a:t>
            </a:r>
            <a:r>
              <a:rPr sz="1050" b="0" i="0">
                <a:solidFill>
                  <a:srgbClr val="16213A"/>
                </a:solidFill>
                <a:latin typeface="Consolas"/>
                <a:ea typeface="Malgun Gothic"/>
                <a:cs typeface="Malgun Gothic"/>
              </a:rPr>
              <a:t>TravMapBuilder._evidence_floor</a:t>
            </a:r>
            <a:r>
              <a:rPr sz="1050" b="0" i="0">
                <a:solidFill>
                  <a:srgbClr val="16213A"/>
                </a:solidFill>
                <a:latin typeface="Arial"/>
                <a:ea typeface="Malgun Gothic"/>
                <a:cs typeface="Malgun Gothic"/>
              </a:rPr>
              <a:t>(TP-0067)의 </a:t>
            </a:r>
            <a:r>
              <a:rPr sz="1050" b="0" i="1">
                <a:solidFill>
                  <a:srgbClr val="16213A"/>
                </a:solidFill>
                <a:latin typeface="Arial"/>
                <a:ea typeface="Malgun Gothic"/>
                <a:cs typeface="Malgun Gothic"/>
              </a:rPr>
              <a:t>"1 m 안에 이미 관측된 지면이 그 시선을 설명하면 제대로 본 것"</a:t>
            </a:r>
            <a:r>
              <a:rPr sz="1050" b="0" i="0">
                <a:solidFill>
                  <a:srgbClr val="16213A"/>
                </a:solidFill>
                <a:latin typeface="Arial"/>
                <a:ea typeface="Malgun Gothic"/>
                <a:cs typeface="Malgun Gothic"/>
              </a:rPr>
              <a:t>.</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에 </a:t>
            </a:r>
            <a:r>
              <a:rPr sz="1050" b="0" i="0">
                <a:solidFill>
                  <a:srgbClr val="16213A"/>
                </a:solidFill>
                <a:latin typeface="Consolas"/>
                <a:ea typeface="Malgun Gothic"/>
                <a:cs typeface="Malgun Gothic"/>
              </a:rPr>
              <a:t>shadow_rule</a:t>
            </a:r>
            <a:r>
              <a:rPr sz="1050" b="0" i="0">
                <a:solidFill>
                  <a:srgbClr val="16213A"/>
                </a:solidFill>
                <a:latin typeface="Arial"/>
                <a:ea typeface="Malgun Gothic"/>
                <a:cs typeface="Malgun Gothic"/>
              </a:rPr>
              <a:t>을 넣고 판정부를 </a:t>
            </a:r>
            <a:r>
              <a:rPr sz="1050" b="0" i="0">
                <a:solidFill>
                  <a:srgbClr val="16213A"/>
                </a:solidFill>
                <a:latin typeface="Consolas"/>
                <a:ea typeface="Malgun Gothic"/>
                <a:cs typeface="Malgun Gothic"/>
              </a:rPr>
              <a:t>_negative()</a:t>
            </a:r>
            <a:r>
              <a:rPr sz="1050" b="0" i="0">
                <a:solidFill>
                  <a:srgbClr val="16213A"/>
                </a:solidFill>
                <a:latin typeface="Arial"/>
                <a:ea typeface="Malgun Gothic"/>
                <a:cs typeface="Malgun Gothic"/>
              </a:rPr>
              <a:t>로 뽑았다 (</a:t>
            </a:r>
            <a:r>
              <a:rPr sz="1050" b="0" i="0">
                <a:solidFill>
                  <a:srgbClr val="16213A"/>
                </a:solidFill>
                <a:latin typeface="Consolas"/>
                <a:ea typeface="Malgun Gothic"/>
                <a:cs typeface="Malgun Gothic"/>
              </a:rPr>
              <a:t>gradient</a:t>
            </a:r>
            <a:r>
              <a:rPr sz="1050" b="0" i="0">
                <a:solidFill>
                  <a:srgbClr val="16213A"/>
                </a:solidFill>
                <a:latin typeface="Arial"/>
                <a:ea typeface="Malgun Gothic"/>
                <a:cs typeface="Malgun Gothic"/>
              </a:rPr>
              <a:t>는 </a:t>
            </a:r>
            <a:r>
              <a:rPr sz="1050" b="0" i="0">
                <a:solidFill>
                  <a:srgbClr val="16213A"/>
                </a:solidFill>
                <a:latin typeface="Consolas"/>
                <a:ea typeface="Malgun Gothic"/>
                <a:cs typeface="Malgun Gothic"/>
              </a:rPr>
              <a:t>features.py::_grad</a:t>
            </a:r>
            <a:r>
              <a:rPr sz="1050" b="0" i="0">
                <a:solidFill>
                  <a:srgbClr val="16213A"/>
                </a:solidFill>
                <a:latin typeface="Arial"/>
                <a:ea typeface="Malgun Gothic"/>
                <a:cs typeface="Malgun Gothic"/>
              </a:rPr>
              <a:t> 재사용). 측정은 새 스크립트를 만들지 않고 기존 </a:t>
            </a:r>
            <a:r>
              <a:rPr sz="1050" b="0" i="0">
                <a:solidFill>
                  <a:srgbClr val="16213A"/>
                </a:solidFill>
                <a:latin typeface="Consolas"/>
                <a:ea typeface="Malgun Gothic"/>
                <a:cs typeface="Malgun Gothic"/>
              </a:rPr>
              <a:t>scripts/eval_shadow_false_alarm.py</a:t>
            </a:r>
            <a:r>
              <a:rPr sz="1050" b="0" i="0">
                <a:solidFill>
                  <a:srgbClr val="16213A"/>
                </a:solidFill>
                <a:latin typeface="Arial"/>
                <a:ea typeface="Malgun Gothic"/>
                <a:cs typeface="Malgun Gothic"/>
              </a:rPr>
              <a:t>의 변형 사전에 </a:t>
            </a:r>
            <a:r>
              <a:rPr sz="1050" b="0" i="0">
                <a:solidFill>
                  <a:srgbClr val="16213A"/>
                </a:solidFill>
                <a:latin typeface="Consolas"/>
                <a:ea typeface="Malgun Gothic"/>
                <a:cs typeface="Malgun Gothic"/>
              </a:rPr>
              <a:t>gT</a:t>
            </a:r>
            <a:r>
              <a:rPr sz="1050" b="0" i="0">
                <a:solidFill>
                  <a:srgbClr val="16213A"/>
                </a:solidFill>
                <a:latin typeface="Arial"/>
                <a:ea typeface="Malgun Gothic"/>
                <a:cs typeface="Malgun Gothic"/>
              </a:rPr>
              <a:t>를 더했다 — 그 하네스가 이미 GT 경로를 따라가며 셀 단위로 오탐과 재현율을 낸다. </a:t>
            </a:r>
            <a:r>
              <a:rPr sz="1050" b="1" i="0">
                <a:solidFill>
                  <a:srgbClr val="C2410C"/>
                </a:solidFill>
                <a:latin typeface="Arial"/>
                <a:ea typeface="Malgun Gothic"/>
                <a:cs typeface="Malgun Gothic"/>
              </a:rPr>
              <a:t>시나리오가 두 오류를 갈라 준다</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NEGATIVE_SCENARIOS</a:t>
            </a:r>
            <a:r>
              <a:rPr sz="1050" b="0" i="0">
                <a:solidFill>
                  <a:srgbClr val="16213A"/>
                </a:solidFill>
                <a:latin typeface="Arial"/>
                <a:ea typeface="Malgun Gothic"/>
                <a:cs typeface="Malgun Gothic"/>
              </a:rPr>
              <a:t>는 GT 치명 셀이 </a:t>
            </a:r>
            <a:r>
              <a:rPr sz="1050" b="1" i="0">
                <a:solidFill>
                  <a:srgbClr val="16213A"/>
                </a:solidFill>
                <a:latin typeface="Arial"/>
                <a:ea typeface="Malgun Gothic"/>
                <a:cs typeface="Malgun Gothic"/>
              </a:rPr>
              <a:t>하나도 없어</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tests/test_negative_scenarios.py</a:t>
            </a:r>
            <a:r>
              <a:rPr sz="1050" b="0" i="0">
                <a:solidFill>
                  <a:srgbClr val="16213A"/>
                </a:solidFill>
                <a:latin typeface="Arial"/>
                <a:ea typeface="Malgun Gothic"/>
                <a:cs typeface="Malgun Gothic"/>
              </a:rPr>
              <a:t>) 오탐만 재고, </a:t>
            </a:r>
            <a:r>
              <a:rPr sz="1050" b="0" i="0">
                <a:solidFill>
                  <a:srgbClr val="16213A"/>
                </a:solidFill>
                <a:latin typeface="Consolas"/>
                <a:ea typeface="Malgun Gothic"/>
                <a:cs typeface="Malgun Gothic"/>
              </a:rPr>
              <a:t>bumps_potholes</a:t>
            </a:r>
            <a:r>
              <a:rPr sz="1050" b="0" i="0">
                <a:solidFill>
                  <a:srgbClr val="16213A"/>
                </a:solidFill>
                <a:latin typeface="Arial"/>
                <a:ea typeface="Malgun Gothic"/>
                <a:cs typeface="Malgun Gothic"/>
              </a:rPr>
              <a:t>는 진짜 낙차가 있어 재현율을 잰다. 4 시나리오 × 6 seed.</a:t>
            </a:r>
          </a:p>
        </p:txBody>
      </p:sp>
      <p:graphicFrame>
        <p:nvGraphicFramePr>
          <p:cNvPr id="7" name="Table 6"/>
          <p:cNvGraphicFramePr>
            <a:graphicFrameLocks noGrp="1"/>
          </p:cNvGraphicFramePr>
          <p:nvPr/>
        </p:nvGraphicFramePr>
        <p:xfrm>
          <a:off x="609600" y="2721372"/>
          <a:ext cx="10966450" cy="1182528"/>
        </p:xfrm>
        <a:graphic>
          <a:graphicData uri="http://schemas.openxmlformats.org/drawingml/2006/table">
            <a:tbl>
              <a:tblPr firstRow="1" bandRow="1">
                <a:tableStyleId>{5C22544A-7EE6-4342-B048-85BDC9FD1C3A}</a:tableStyleId>
              </a:tblPr>
              <a:tblGrid>
                <a:gridCol w="4868763"/>
                <a:gridCol w="2376289"/>
                <a:gridCol w="3721398"/>
              </a:tblGrid>
              <a:tr h="197088">
                <a:tc>
                  <a:txBody>
                    <a:bodyPr wrap="square"/>
                    <a:lstStyle/>
                    <a:p>
                      <a:r>
                        <a:rPr sz="800" b="1" i="0">
                          <a:solidFill>
                            <a:srgbClr val="F4F1EA"/>
                          </a:solidFill>
                          <a:latin typeface="Arial"/>
                          <a:ea typeface="Malgun Gothic"/>
                          <a:cs typeface="Malgun Gothic"/>
                        </a:rPr>
                        <a:t>규칙</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재현율(포트홀)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전방 오탐(</a:t>
                      </a:r>
                      <a:r>
                        <a:rPr sz="800" b="1" i="0">
                          <a:solidFill>
                            <a:srgbClr val="F4F1EA"/>
                          </a:solidFill>
                          <a:latin typeface="Consolas"/>
                          <a:ea typeface="Malgun Gothic"/>
                          <a:cs typeface="Malgun Gothic"/>
                        </a:rPr>
                        <a:t>down_curb</a:t>
                      </a:r>
                      <a:r>
                        <a:rPr sz="800" b="1" i="0">
                          <a:solidFill>
                            <a:srgbClr val="F4F1EA"/>
                          </a:solidFill>
                          <a:latin typeface="Arial"/>
                          <a:ea typeface="Malgun Gothic"/>
                          <a:cs typeface="Malgun Gothic"/>
                        </a:rPr>
                        <a:t>)</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상한만 (prior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0.76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1.7</a:t>
                      </a:r>
                    </a:p>
                  </a:txBody>
                  <a:tcPr marL="63500" marR="63500" marT="12700" marB="12700">
                    <a:solidFill>
                      <a:srgbClr val="FFFDF8"/>
                    </a:solidFill>
                  </a:tcPr>
                </a:tc>
              </a:tr>
              <a:tr h="197088">
                <a:tc>
                  <a:txBody>
                    <a:bodyPr wrap="square"/>
                    <a:lstStyle/>
                    <a:p>
                      <a:r>
                        <a:rPr sz="800" b="1" i="0">
                          <a:solidFill>
                            <a:srgbClr val="C2410C"/>
                          </a:solidFill>
                          <a:latin typeface="Arial"/>
                          <a:ea typeface="Malgun Gothic"/>
                          <a:cs typeface="Malgun Gothic"/>
                        </a:rPr>
                        <a:t>근거 규칙</a:t>
                      </a:r>
                      <a:r>
                        <a:rPr sz="800" b="1" i="0">
                          <a:solidFill>
                            <a:srgbClr val="C2410C"/>
                          </a:solidFill>
                          <a:latin typeface="Arial"/>
                          <a:ea typeface="Malgun Gothic"/>
                          <a:cs typeface="Malgun Gothic"/>
                        </a:rPr>
                        <a:t>(TP-0067, 현재 기본값)</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0.89</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2.8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기울기 0.15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0.89 (동일)</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47.0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기울기 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0.95 (더 높음)</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63.7</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기울기 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0.77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1.7 (= prior 없음과 같다)</a:t>
                      </a:r>
                    </a:p>
                  </a:txBody>
                  <a:tcPr marL="63500" marR="63500" marT="12700" marB="12700">
                    <a:solidFill>
                      <a:srgbClr val="FFFDF8"/>
                    </a:solidFill>
                  </a:tcPr>
                </a:tc>
              </a:tr>
            </a:tbl>
          </a:graphicData>
        </a:graphic>
      </p:graphicFrame>
      <p:sp>
        <p:nvSpPr>
          <p:cNvPr id="8" name="TextBox 7"/>
          <p:cNvSpPr txBox="1"/>
          <p:nvPr/>
        </p:nvSpPr>
        <p:spPr>
          <a:xfrm>
            <a:off x="609600" y="429478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판별기만 바꾸면 같은 재현율에서 전방 오탐이 4.3배가 된다</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g0.15</a:t>
            </a:r>
            <a:r>
              <a:rPr sz="1050" b="0" i="0">
                <a:solidFill>
                  <a:srgbClr val="16213A"/>
                </a:solidFill>
                <a:latin typeface="Arial"/>
                <a:ea typeface="Malgun Gothic"/>
                <a:cs typeface="Malgun Gothic"/>
              </a:rPr>
              <a:t> 47.0 대 </a:t>
            </a:r>
            <a:r>
              <a:rPr sz="1050" b="0" i="0">
                <a:solidFill>
                  <a:srgbClr val="16213A"/>
                </a:solidFill>
                <a:latin typeface="Consolas"/>
                <a:ea typeface="Malgun Gothic"/>
                <a:cs typeface="Malgun Gothic"/>
              </a:rPr>
              <a:t>sd0</a:t>
            </a:r>
            <a:r>
              <a:rPr sz="1050" b="0" i="0">
                <a:solidFill>
                  <a:srgbClr val="16213A"/>
                </a:solidFill>
                <a:latin typeface="Arial"/>
                <a:ea typeface="Malgun Gothic"/>
                <a:cs typeface="Malgun Gothic"/>
              </a:rPr>
              <a:t> 10.9). 현재 기본값(</a:t>
            </a:r>
            <a:r>
              <a:rPr sz="1050" b="0" i="0">
                <a:solidFill>
                  <a:srgbClr val="16213A"/>
                </a:solidFill>
                <a:latin typeface="Consolas"/>
                <a:ea typeface="Malgun Gothic"/>
                <a:cs typeface="Malgun Gothic"/>
              </a:rPr>
              <a:t>sd</a:t>
            </a:r>
            <a:r>
              <a:rPr sz="1050" b="0" i="0">
                <a:solidFill>
                  <a:srgbClr val="16213A"/>
                </a:solidFill>
                <a:latin typeface="Arial"/>
                <a:ea typeface="Malgun Gothic"/>
                <a:cs typeface="Malgun Gothic"/>
              </a:rPr>
              <a:t>, 근거 floor까지 쓰는 쪽) 대비로는 17배인데, 그 차이의 3.9배는 판별기가 아니라 </a:t>
            </a:r>
            <a:r>
              <a:rPr sz="1050" b="1" i="0">
                <a:solidFill>
                  <a:srgbClr val="16213A"/>
                </a:solidFill>
                <a:latin typeface="Arial"/>
                <a:ea typeface="Malgun Gothic"/>
                <a:cs typeface="Malgun Gothic"/>
              </a:rPr>
              <a:t>근거 floor 몫</a:t>
            </a:r>
            <a:r>
              <a:rPr sz="1050" b="0" i="0">
                <a:solidFill>
                  <a:srgbClr val="16213A"/>
                </a:solidFill>
                <a:latin typeface="Arial"/>
                <a:ea typeface="Malgun Gothic"/>
                <a:cs typeface="Malgun Gothic"/>
              </a:rPr>
              <a:t>이다(</a:t>
            </a:r>
            <a:r>
              <a:rPr sz="1050" b="0" i="0">
                <a:solidFill>
                  <a:srgbClr val="16213A"/>
                </a:solidFill>
                <a:latin typeface="Consolas"/>
                <a:ea typeface="Malgun Gothic"/>
                <a:cs typeface="Malgun Gothic"/>
              </a:rPr>
              <a:t>sd0</a:t>
            </a:r>
            <a:r>
              <a:rPr sz="1050" b="0" i="0">
                <a:solidFill>
                  <a:srgbClr val="16213A"/>
                </a:solidFill>
                <a:latin typeface="Arial"/>
                <a:ea typeface="Malgun Gothic"/>
                <a:cs typeface="Malgun Gothic"/>
              </a:rPr>
              <a:t> 10.9 대 </a:t>
            </a:r>
            <a:r>
              <a:rPr sz="1050" b="0" i="0">
                <a:solidFill>
                  <a:srgbClr val="16213A"/>
                </a:solidFill>
                <a:latin typeface="Consolas"/>
                <a:ea typeface="Malgun Gothic"/>
                <a:cs typeface="Malgun Gothic"/>
              </a:rPr>
              <a:t>sd</a:t>
            </a:r>
            <a:r>
              <a:rPr sz="1050" b="0" i="0">
                <a:solidFill>
                  <a:srgbClr val="16213A"/>
                </a:solidFill>
                <a:latin typeface="Arial"/>
                <a:ea typeface="Malgun Gothic"/>
                <a:cs typeface="Malgun Gothic"/>
              </a:rPr>
              <a:t> 2.8). 문턱을 올려 오탐을 없애면 재현율이 prior를 안 쓴 값으로 돌아간다 — 아무것도 걸리지 않는다는 뜻이다. </a:t>
            </a:r>
            <a:r>
              <a:rPr sz="1050" b="1" i="0">
                <a:solidFill>
                  <a:srgbClr val="16213A"/>
                </a:solidFill>
                <a:latin typeface="Arial"/>
                <a:ea typeface="Malgun Gothic"/>
                <a:cs typeface="Malgun Gothic"/>
              </a:rPr>
              <a:t>어느 작동점에서도 이기지 못한다.</a:t>
            </a:r>
          </a:p>
        </p:txBody>
      </p:sp>
      <p:sp>
        <p:nvSpPr>
          <p:cNvPr id="9" name="TextBox 8"/>
          <p:cNvSpPr txBox="1"/>
          <p:nvPr/>
        </p:nvSpPr>
        <p:spPr>
          <a:xfrm>
            <a:off x="609600" y="481667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지는지</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tests/test_shadow_depth_evidence.py::test_gradient_rule_misses_a_pit_whose_bound_is_flat</a:t>
            </a:r>
            <a:r>
              <a:rPr sz="1050" b="0" i="0">
                <a:solidFill>
                  <a:srgbClr val="16213A"/>
                </a:solidFill>
                <a:latin typeface="Arial"/>
                <a:ea typeface="Malgun Gothic"/>
                <a:cs typeface="Malgun Gothic"/>
              </a:rPr>
              <a:t>). 포트홀의 시선은 사방 테두리를 스치므로 남는 상한이 </a:t>
            </a:r>
            <a:r>
              <a:rPr sz="1050" b="1" i="0">
                <a:solidFill>
                  <a:srgbClr val="16213A"/>
                </a:solidFill>
                <a:latin typeface="Arial"/>
                <a:ea typeface="Malgun Gothic"/>
                <a:cs typeface="Malgun Gothic"/>
              </a:rPr>
              <a:t>거의 평면</a:t>
            </a:r>
            <a:r>
              <a:rPr sz="1050" b="0" i="0">
                <a:solidFill>
                  <a:srgbClr val="16213A"/>
                </a:solidFill>
                <a:latin typeface="Arial"/>
                <a:ea typeface="Malgun Gothic"/>
                <a:cs typeface="Malgun Gothic"/>
              </a:rPr>
              <a:t>이다. 그 </a:t>
            </a:r>
            <a:r>
              <a:rPr sz="1050" b="0" i="1">
                <a:solidFill>
                  <a:srgbClr val="16213A"/>
                </a:solidFill>
                <a:latin typeface="Arial"/>
                <a:ea typeface="Malgun Gothic"/>
                <a:cs typeface="Malgun Gothic"/>
              </a:rPr>
              <a:t>기울기</a:t>
            </a:r>
            <a:r>
              <a:rPr sz="1050" b="0" i="0">
                <a:solidFill>
                  <a:srgbClr val="16213A"/>
                </a:solidFill>
                <a:latin typeface="Arial"/>
                <a:ea typeface="Malgun Gothic"/>
                <a:cs typeface="Malgun Gothic"/>
              </a:rPr>
              <a:t>는 내부에서 0이라 규칙이 못 본다. 가파른 곳은 테두리뿐인데, 거기의 가파름은 "지면 → 상한" 단차이므로 </a:t>
            </a:r>
            <a:r>
              <a:rPr sz="1050" b="1" i="0">
                <a:solidFill>
                  <a:srgbClr val="C2410C"/>
                </a:solidFill>
                <a:latin typeface="Arial"/>
                <a:ea typeface="Malgun Gothic"/>
                <a:cs typeface="Malgun Gothic"/>
              </a:rPr>
              <a:t>근거 규칙을 다른 이름으로 부른 것</a:t>
            </a:r>
            <a:r>
              <a:rPr sz="1050" b="1" i="0">
                <a:solidFill>
                  <a:srgbClr val="C2410C"/>
                </a:solidFill>
                <a:latin typeface="Arial"/>
                <a:ea typeface="Malgun Gothic"/>
                <a:cs typeface="Malgun Gothic"/>
              </a:rPr>
              <a:t>이다.</a:t>
            </a:r>
            <a:r>
              <a:rPr sz="1050" b="0" i="0">
                <a:solidFill>
                  <a:srgbClr val="16213A"/>
                </a:solidFill>
                <a:latin typeface="Arial"/>
                <a:ea typeface="Malgun Gothic"/>
                <a:cs typeface="Malgun Gothic"/>
              </a:rPr>
              <a:t> 즉 2.5D 상한 래스터에서 기울기 검정은 </a:t>
            </a:r>
            <a:r>
              <a:rPr sz="1050" b="1" i="0">
                <a:solidFill>
                  <a:srgbClr val="16213A"/>
                </a:solidFill>
                <a:latin typeface="Arial"/>
                <a:ea typeface="Malgun Gothic"/>
                <a:cs typeface="Malgun Gothic"/>
              </a:rPr>
              <a:t>근거 규칙으로 퇴화하거나 아무것도 못 잡거나</a:t>
            </a:r>
            <a:r>
              <a:rPr sz="1050" b="0" i="0">
                <a:solidFill>
                  <a:srgbClr val="16213A"/>
                </a:solidFill>
                <a:latin typeface="Arial"/>
                <a:ea typeface="Malgun Gothic"/>
                <a:cs typeface="Malgun Gothic"/>
              </a:rPr>
              <a:t> 둘 중 하나다. (구현 주의: </a:t>
            </a:r>
            <a:r>
              <a:rPr sz="1050" b="0" i="0">
                <a:solidFill>
                  <a:srgbClr val="16213A"/>
                </a:solidFill>
                <a:latin typeface="Consolas"/>
                <a:ea typeface="Malgun Gothic"/>
                <a:cs typeface="Malgun Gothic"/>
              </a:rPr>
              <a:t>_grad</a:t>
            </a:r>
            <a:r>
              <a:rPr sz="1050" b="0" i="0">
                <a:solidFill>
                  <a:srgbClr val="16213A"/>
                </a:solidFill>
                <a:latin typeface="Arial"/>
                <a:ea typeface="Malgun Gothic"/>
                <a:cs typeface="Malgun Gothic"/>
              </a:rPr>
              <a:t>가 ±1 중심차분이라 그림자 테두리 셀은 채움 불연속을 잰다. 그림자를 한 칸 침식해야 상한의 진짜 기울기가 나온다 — 처음엔 이걸 놓쳐 오탐이 326.9까지 튀었다.)</a:t>
            </a:r>
          </a:p>
        </p:txBody>
      </p:sp>
      <p:sp>
        <p:nvSpPr>
          <p:cNvPr id="10" name="TextBox 9"/>
          <p:cNvSpPr txBox="1"/>
          <p:nvPr/>
        </p:nvSpPr>
        <p:spPr>
          <a:xfrm>
            <a:off x="609600" y="577155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기본값을 바꾸지 않았다.</a:t>
            </a:r>
            <a:r>
              <a:rPr sz="1050" b="0" i="0">
                <a:solidFill>
                  <a:srgbClr val="16213A"/>
                </a:solidFill>
                <a:latin typeface="Arial"/>
                <a:ea typeface="Malgun Gothic"/>
                <a:cs typeface="Malgun Gothic"/>
              </a:rPr>
              <a:t> 근거 규칙이 이겼다. 다만 기울기 0.1에서 </a:t>
            </a:r>
            <a:r>
              <a:rPr sz="1050" b="1" i="0">
                <a:solidFill>
                  <a:srgbClr val="16213A"/>
                </a:solidFill>
                <a:latin typeface="Arial"/>
                <a:ea typeface="Malgun Gothic"/>
                <a:cs typeface="Malgun Gothic"/>
              </a:rPr>
              <a:t>재현율 0.95로 근거 규칙의 0.89를 넘으므로</a:t>
            </a:r>
            <a:r>
              <a:rPr sz="1050" b="0" i="0">
                <a:solidFill>
                  <a:srgbClr val="16213A"/>
                </a:solidFill>
                <a:latin typeface="Arial"/>
                <a:ea typeface="Malgun Gothic"/>
                <a:cs typeface="Malgun Gothic"/>
              </a:rPr>
              <a:t> 근거 규칙이 놓치는 낙차가 있다는 단서는 남는다(TP-0095). 회귀는 </a:t>
            </a:r>
            <a:r>
              <a:rPr sz="1050" b="0" i="0">
                <a:solidFill>
                  <a:srgbClr val="16213A"/>
                </a:solidFill>
                <a:latin typeface="Consolas"/>
                <a:ea typeface="Malgun Gothic"/>
                <a:cs typeface="Malgun Gothic"/>
              </a:rPr>
              <a:t>guidance+mppi</a:t>
            </a:r>
            <a:r>
              <a:rPr sz="1050" b="0" i="0">
                <a:solidFill>
                  <a:srgbClr val="16213A"/>
                </a:solidFill>
                <a:latin typeface="Arial"/>
                <a:ea typeface="Malgun Gothic"/>
                <a:cs typeface="Malgun Gothic"/>
              </a:rPr>
              <a:t> 가림+상한+깊이 prior </a:t>
            </a:r>
            <a:r>
              <a:rPr sz="1050" b="1" i="0">
                <a:solidFill>
                  <a:srgbClr val="16213A"/>
                </a:solidFill>
                <a:latin typeface="Arial"/>
                <a:ea typeface="Malgun Gothic"/>
                <a:cs typeface="Malgun Gothic"/>
              </a:rPr>
              <a:t>40/40 유지</a:t>
            </a:r>
            <a:r>
              <a:rPr sz="1050" b="0" i="0">
                <a:solidFill>
                  <a:srgbClr val="16213A"/>
                </a:solidFill>
                <a:latin typeface="Arial"/>
                <a:ea typeface="Malgun Gothic"/>
                <a:cs typeface="Malgun Gothic"/>
              </a:rPr>
              <a:t>. 수치: </a:t>
            </a:r>
            <a:r>
              <a:rPr sz="1050" b="0" i="0">
                <a:solidFill>
                  <a:srgbClr val="16213A"/>
                </a:solidFill>
                <a:latin typeface="Consolas"/>
                <a:ea typeface="Malgun Gothic"/>
                <a:cs typeface="Malgun Gothic"/>
              </a:rPr>
              <a:t>results/p2-shadow-rules.tsv</a:t>
            </a:r>
            <a:r>
              <a:rPr sz="1050" b="0" i="0">
                <a:solidFill>
                  <a:srgbClr val="16213A"/>
                </a:solidFill>
                <a:latin typeface="Arial"/>
                <a:ea typeface="Malgun Gothic"/>
                <a:cs typeface="Malgun Gothic"/>
              </a:rPr>
              <a: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 TP-0085 — 그림자 판별 규칙 셋을 재서 하나를 골랐다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76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근거 floor는 TP-0067(2026-09-28)이 넣었다. 그때 0.07 m 내림 턱의 진행 통로 안 오탐이 9.1칸에서 1.3칸으로 줄었다. 포트홀 재현율은 0.88 그대로였다.</a:t>
            </a:r>
          </a:p>
        </p:txBody>
      </p:sp>
      <p:pic>
        <p:nvPicPr>
          <p:cNvPr id="6" name="Picture 5" descr="image.jpg"/>
          <p:cNvPicPr>
            <a:picLocks noChangeAspect="1"/>
          </p:cNvPicPr>
          <p:nvPr/>
        </p:nvPicPr>
        <p:blipFill>
          <a:blip r:embed="rId3"/>
          <a:stretch>
            <a:fillRect/>
          </a:stretch>
        </p:blipFill>
        <p:spPr>
          <a:xfrm>
            <a:off x="1108075" y="1549995"/>
            <a:ext cx="9975850" cy="3403600"/>
          </a:xfrm>
          <a:prstGeom prst="rect">
            <a:avLst/>
          </a:prstGeom>
        </p:spPr>
      </p:pic>
      <p:sp>
        <p:nvSpPr>
          <p:cNvPr id="7" name="TextBox 6"/>
          <p:cNvSpPr txBox="1"/>
          <p:nvPr/>
        </p:nvSpPr>
        <p:spPr>
          <a:xfrm>
            <a:off x="1108075" y="4991695"/>
            <a:ext cx="99758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TP-0067 (Fig. 1): 왼쪽은 0.07 m 내림 턱의 진행 통로 안 오탐 칸이고, 오른쪽은 포트홀의 치명 셀 재현율이다. 회색이 상한만, 빨강이 깊이 prior(TP-0047), 초록이 근거 floor(그림의 '증거 제한')다. 4 시나리오 × seed 0–2로 재서 seed 6개인 위 표와 수치가 조금 다르다. 출처: scripts/make_evidence_figures.py --only false_alarm</a:t>
            </a:r>
          </a:p>
        </p:txBody>
      </p:sp>
      <p:sp>
        <p:nvSpPr>
          <p:cNvPr id="8" name="TextBox 7"/>
          <p:cNvSpPr txBox="1"/>
          <p:nvPr/>
        </p:nvSpPr>
        <p:spPr>
          <a:xfrm>
            <a:off x="717550" y="5364956"/>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그 판별이 실제로 무엇을 받아서 하는가</a:t>
            </a:r>
          </a:p>
        </p:txBody>
      </p:sp>
      <p:sp>
        <p:nvSpPr>
          <p:cNvPr id="9" name="TextBox 8"/>
          <p:cNvSpPr txBox="1"/>
          <p:nvPr/>
        </p:nvSpPr>
        <p:spPr>
          <a:xfrm>
            <a:off x="609600" y="5668169"/>
            <a:ext cx="10972800" cy="216495"/>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규칙이 보는 것은 </a:t>
            </a:r>
            <a:r>
              <a:rPr sz="1050" b="1" i="0">
                <a:solidFill>
                  <a:srgbClr val="C2410C"/>
                </a:solidFill>
                <a:latin typeface="Arial"/>
                <a:ea typeface="Malgun Gothic"/>
                <a:cs typeface="Malgun Gothic"/>
              </a:rPr>
              <a:t>딱 두 장의 배열</a:t>
            </a:r>
            <a:r>
              <a:rPr sz="1050" b="1" i="0">
                <a:solidFill>
                  <a:srgbClr val="C2410C"/>
                </a:solidFill>
                <a:latin typeface="Arial"/>
                <a:ea typeface="Malgun Gothic"/>
                <a:cs typeface="Malgun Gothic"/>
              </a:rPr>
              <a:t>이다</a:t>
            </a:r>
            <a:r>
              <a:rPr sz="1050" b="0" i="0">
                <a:solidFill>
                  <a:srgbClr val="16213A"/>
                </a:solidFill>
                <a:latin typeface="Arial"/>
                <a:ea typeface="Malgun Gothic"/>
                <a:cs typeface="Malgun Gothic"/>
              </a:rPr>
              <a:t> — 로봇이 본 고도(</a:t>
            </a:r>
            <a:r>
              <a:rPr sz="1050" b="0" i="0">
                <a:solidFill>
                  <a:srgbClr val="16213A"/>
                </a:solidFill>
                <a:latin typeface="Consolas"/>
                <a:ea typeface="Malgun Gothic"/>
                <a:cs typeface="Malgun Gothic"/>
              </a:rPr>
              <a:t>belief_elev</a:t>
            </a:r>
            <a:r>
              <a:rPr sz="1050" b="0" i="0">
                <a:solidFill>
                  <a:srgbClr val="16213A"/>
                </a:solidFill>
                <a:latin typeface="Arial"/>
                <a:ea typeface="Malgun Gothic"/>
                <a:cs typeface="Malgun Gothic"/>
              </a:rPr>
              <a:t>, 미관측은 NaN)와 시선 천장(</a:t>
            </a:r>
            <a:r>
              <a:rPr sz="1050" b="0" i="0">
                <a:solidFill>
                  <a:srgbClr val="16213A"/>
                </a:solidFill>
                <a:latin typeface="Consolas"/>
                <a:ea typeface="Malgun Gothic"/>
                <a:cs typeface="Malgun Gothic"/>
              </a:rPr>
              <a:t>belief_ceiling</a:t>
            </a:r>
            <a:r>
              <a:rPr sz="1050" b="0" i="0">
                <a:solidFill>
                  <a:srgbClr val="16213A"/>
                </a:solidFill>
                <a:latin typeface="Arial"/>
                <a:ea typeface="Malgun Gothic"/>
                <a:cs typeface="Malgun Gothic"/>
              </a:rPr>
              <a:t>, 상한이 없으면 </a:t>
            </a:r>
            <a:r>
              <a:rPr sz="1050" b="0" i="0">
                <a:solidFill>
                  <a:srgbClr val="16213A"/>
                </a:solidFill>
                <a:latin typeface="Consolas"/>
                <a:ea typeface="Malgun Gothic"/>
                <a:cs typeface="Malgun Gothic"/>
              </a:rPr>
              <a:t>+inf</a:t>
            </a:r>
            <a:r>
              <a:rPr sz="1050" b="0" i="0">
                <a:solidFill>
                  <a:srgbClr val="16213A"/>
                </a:solidFill>
                <a:latin typeface="Arial"/>
                <a:ea typeface="Malgun Gothic"/>
                <a:cs typeface="Malgun Gothic"/>
              </a:rPr>
              <a:t>). 참 지형은 시뮬만 알고 규칙에는 들어가지 않는다.</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 TP-0085 — 그림자 판별 규칙 셋을 재서 하나를 골랐다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77 / 359</a:t>
            </a:r>
          </a:p>
        </p:txBody>
      </p:sp>
      <p:pic>
        <p:nvPicPr>
          <p:cNvPr id="5" name="Picture 4" descr="image.jpg"/>
          <p:cNvPicPr>
            <a:picLocks noChangeAspect="1"/>
          </p:cNvPicPr>
          <p:nvPr/>
        </p:nvPicPr>
        <p:blipFill>
          <a:blip r:embed="rId3"/>
          <a:stretch>
            <a:fillRect/>
          </a:stretch>
        </p:blipFill>
        <p:spPr>
          <a:xfrm>
            <a:off x="609600" y="1244600"/>
            <a:ext cx="3556000" cy="895350"/>
          </a:xfrm>
          <a:prstGeom prst="rect">
            <a:avLst/>
          </a:prstGeom>
        </p:spPr>
      </p:pic>
      <p:sp>
        <p:nvSpPr>
          <p:cNvPr id="6" name="TextBox 5"/>
          <p:cNvSpPr txBox="1"/>
          <p:nvPr/>
        </p:nvSpPr>
        <p:spPr>
          <a:xfrm>
            <a:off x="609600" y="217805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TP-0085: 한 장면에서 입력이 어떻게 쓰이는지. ① 참 지형(시뮬만 안다) → ② 로봇이 본 고도(회색이 미관측) → ③ 시선 천장 → ④ 규칙이 "낙차다"라 한 칸(초록 근거·파랑 기울기) → ⑤ 나온 비용(초록 윤곽이 GT 치명). 빨간 점이 로봇이고, 셀이 보이도록 로봇 둘레 ±3 m만 잘랐다.</a:t>
            </a:r>
          </a:p>
        </p:txBody>
      </p:sp>
      <p:pic>
        <p:nvPicPr>
          <p:cNvPr id="7" name="Picture 6" descr="image.png"/>
          <p:cNvPicPr>
            <a:picLocks noChangeAspect="1"/>
          </p:cNvPicPr>
          <p:nvPr/>
        </p:nvPicPr>
        <p:blipFill>
          <a:blip r:embed="rId4"/>
          <a:stretch>
            <a:fillRect/>
          </a:stretch>
        </p:blipFill>
        <p:spPr>
          <a:xfrm>
            <a:off x="4318000" y="1244600"/>
            <a:ext cx="3556000" cy="812800"/>
          </a:xfrm>
          <a:prstGeom prst="rect">
            <a:avLst/>
          </a:prstGeom>
        </p:spPr>
      </p:pic>
      <p:sp>
        <p:nvSpPr>
          <p:cNvPr id="8" name="TextBox 7"/>
          <p:cNvSpPr txBox="1"/>
          <p:nvPr/>
        </p:nvSpPr>
        <p:spPr>
          <a:xfrm>
            <a:off x="4318000" y="20955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TP-0085: 같은 것을 주행 내내. 미관측이 줄어드는 만큼 천장이 채워지고, 규칙은 그 둘만으로 판정한다. 출발 때 미관측이 절반을 넘다가 도착 시 2 %까지 떨어진다.</a:t>
            </a:r>
          </a:p>
        </p:txBody>
      </p:sp>
      <p:pic>
        <p:nvPicPr>
          <p:cNvPr id="9" name="Picture 8" descr="image.jpg"/>
          <p:cNvPicPr>
            <a:picLocks noChangeAspect="1"/>
          </p:cNvPicPr>
          <p:nvPr/>
        </p:nvPicPr>
        <p:blipFill>
          <a:blip r:embed="rId5"/>
          <a:stretch>
            <a:fillRect/>
          </a:stretch>
        </p:blipFill>
        <p:spPr>
          <a:xfrm>
            <a:off x="8026400" y="1244600"/>
            <a:ext cx="3556000" cy="1314450"/>
          </a:xfrm>
          <a:prstGeom prst="rect">
            <a:avLst/>
          </a:prstGeom>
        </p:spPr>
      </p:pic>
      <p:sp>
        <p:nvSpPr>
          <p:cNvPr id="10" name="TextBox 9"/>
          <p:cNvSpPr txBox="1"/>
          <p:nvPr/>
        </p:nvSpPr>
        <p:spPr>
          <a:xfrm>
            <a:off x="8026400" y="259715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TP-0085: 왼쪽은 오탐 대 재현율(왼쪽 위가 좋다) — 초록(현재)이 같은 높이의 기울기 곡선보다 한참 왼쪽에 있다. 오른쪽은 시나리오별 오탐. down_ramp·drain_channel은 모든 변형이 0이라 down_curb만 구분력이 있다.</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A.13.2 TP-0086 — FastDEM을 CPU 기준선으로 세웠고, 내 주장이 틀렸다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78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a:t>
            </a:r>
            <a:r>
              <a:rPr sz="1050" b="0" i="0">
                <a:solidFill>
                  <a:srgbClr val="16213A"/>
                </a:solidFill>
                <a:latin typeface="Arial"/>
                <a:ea typeface="Malgun Gothic"/>
                <a:cs typeface="Malgun Gothic"/>
              </a:rPr>
              <a:t> TP-0083이 L1 병목을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로 짚고 TP-0084가 GPU로 옮겨 26–44배를 얻었다. FastDEM(A.2b.4)은 같은 일을 CPU만으로 한다고 하므로, </a:t>
            </a:r>
            <a:r>
              <a:rPr sz="1050" b="1" i="0">
                <a:solidFill>
                  <a:srgbClr val="16213A"/>
                </a:solidFill>
                <a:latin typeface="Arial"/>
                <a:ea typeface="Malgun Gothic"/>
                <a:cs typeface="Malgun Gothic"/>
              </a:rPr>
              <a:t>"GPU가 필요했나"</a:t>
            </a:r>
            <a:r>
              <a:rPr sz="1050" b="0" i="0">
                <a:solidFill>
                  <a:srgbClr val="16213A"/>
                </a:solidFill>
                <a:latin typeface="Arial"/>
                <a:ea typeface="Malgun Gothic"/>
                <a:cs typeface="Malgun Gothic"/>
              </a:rPr>
              <a:t>를 되물을 기준선이 된다.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정정.</a:t>
            </a:r>
            <a:r>
              <a:rPr sz="1050" b="0" i="0">
                <a:solidFill>
                  <a:srgbClr val="16213A"/>
                </a:solidFill>
                <a:latin typeface="Arial"/>
                <a:ea typeface="Malgun Gothic"/>
                <a:cs typeface="Malgun Gothic"/>
              </a:rPr>
              <a:t> 처음에는 </a:t>
            </a:r>
            <a:r>
              <a:rPr sz="1050" b="0" i="1">
                <a:solidFill>
                  <a:srgbClr val="16213A"/>
                </a:solidFill>
                <a:latin typeface="Arial"/>
                <a:ea typeface="Malgun Gothic"/>
                <a:cs typeface="Malgun Gothic"/>
              </a:rPr>
              <a:t>"FastDEM이 같은 계산을 CPU에서 스캔당 10 ms에 내므로 TP-0084의 전제를 반박한다"</a:t>
            </a:r>
            <a:r>
              <a:rPr sz="1050" b="0" i="0">
                <a:solidFill>
                  <a:srgbClr val="16213A"/>
                </a:solidFill>
                <a:latin typeface="Arial"/>
                <a:ea typeface="Malgun Gothic"/>
                <a:cs typeface="Malgun Gothic"/>
              </a:rPr>
              <a:t>고 썼는데 </a:t>
            </a:r>
            <a:r>
              <a:rPr sz="1050" b="1" i="0">
                <a:solidFill>
                  <a:srgbClr val="16213A"/>
                </a:solidFill>
                <a:latin typeface="Arial"/>
                <a:ea typeface="Malgun Gothic"/>
                <a:cs typeface="Malgun Gothic"/>
              </a:rPr>
              <a:t>틀렸다.</a:t>
            </a:r>
            <a:r>
              <a:rPr sz="1050" b="0" i="0">
                <a:solidFill>
                  <a:srgbClr val="16213A"/>
                </a:solidFill>
                <a:latin typeface="Arial"/>
                <a:ea typeface="Malgun Gothic"/>
                <a:cs typeface="Malgun Gothic"/>
              </a:rPr>
              <a:t> README의 10 ms는 </a:t>
            </a:r>
            <a:r>
              <a:rPr sz="1050" b="1" i="0">
                <a:solidFill>
                  <a:srgbClr val="16213A"/>
                </a:solidFill>
                <a:latin typeface="Arial"/>
                <a:ea typeface="Malgun Gothic"/>
                <a:cs typeface="Malgun Gothic"/>
              </a:rPr>
              <a:t>점군 융합이고 특징 추출이 빠진 숫자</a:t>
            </a:r>
            <a:r>
              <a:rPr sz="1050" b="0" i="0">
                <a:solidFill>
                  <a:srgbClr val="16213A"/>
                </a:solidFill>
                <a:latin typeface="Arial"/>
                <a:ea typeface="Malgun Gothic"/>
                <a:cs typeface="Malgun Gothic"/>
              </a:rPr>
              <a:t>다 (A.2b.4). 두 단계를 나눠 재는 하네스를 썼다(</a:t>
            </a:r>
            <a:r>
              <a:rPr sz="1050" b="0" i="0">
                <a:solidFill>
                  <a:srgbClr val="16213A"/>
                </a:solidFill>
                <a:latin typeface="Consolas"/>
                <a:ea typeface="Malgun Gothic"/>
                <a:cs typeface="Malgun Gothic"/>
              </a:rPr>
              <a:t>scripts/fastdem_baseline/</a:t>
            </a:r>
            <a:r>
              <a:rPr sz="1050" b="0" i="0">
                <a:solidFill>
                  <a:srgbClr val="16213A"/>
                </a:solidFill>
                <a:latin typeface="Arial"/>
                <a:ea typeface="Malgun Gothic"/>
                <a:cs typeface="Malgun Gothic"/>
              </a:rPr>
              <a:t>).</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Release 빌드, 단일 코어 — </a:t>
            </a:r>
            <a:r>
              <a:rPr sz="1050" b="1" i="0">
                <a:solidFill>
                  <a:srgbClr val="16213A"/>
                </a:solidFill>
                <a:latin typeface="Arial"/>
                <a:ea typeface="Malgun Gothic"/>
                <a:cs typeface="Malgun Gothic"/>
              </a:rPr>
              <a:t>FastDEM에는 OpenMP·</a:t>
            </a:r>
            <a:r>
              <a:rPr sz="1050" b="1" i="0">
                <a:solidFill>
                  <a:srgbClr val="16213A"/>
                </a:solidFill>
                <a:latin typeface="Consolas"/>
                <a:ea typeface="Malgun Gothic"/>
                <a:cs typeface="Malgun Gothic"/>
              </a:rPr>
              <a:t>std::thread</a:t>
            </a:r>
            <a:r>
              <a:rPr sz="1050" b="1" i="0">
                <a:solidFill>
                  <a:srgbClr val="16213A"/>
                </a:solidFill>
                <a:latin typeface="Arial"/>
                <a:ea typeface="Malgun Gothic"/>
                <a:cs typeface="Malgun Gothic"/>
              </a:rPr>
              <a:t>·TBB가 없어 코어를 더 줘도 변하지 않는다.</a:t>
            </a:r>
          </a:p>
        </p:txBody>
      </p:sp>
      <p:graphicFrame>
        <p:nvGraphicFramePr>
          <p:cNvPr id="8" name="Table 7"/>
          <p:cNvGraphicFramePr>
            <a:graphicFrameLocks noGrp="1"/>
          </p:cNvGraphicFramePr>
          <p:nvPr/>
        </p:nvGraphicFramePr>
        <p:xfrm>
          <a:off x="609600" y="2593777"/>
          <a:ext cx="10966449" cy="788352"/>
        </p:xfrm>
        <a:graphic>
          <a:graphicData uri="http://schemas.openxmlformats.org/drawingml/2006/table">
            <a:tbl>
              <a:tblPr firstRow="1" bandRow="1">
                <a:tableStyleId>{5C22544A-7EE6-4342-B048-85BDC9FD1C3A}</a:tableStyleId>
              </a:tblPr>
              <a:tblGrid>
                <a:gridCol w="2883396"/>
                <a:gridCol w="792460"/>
                <a:gridCol w="1666875"/>
                <a:gridCol w="1610816"/>
                <a:gridCol w="2137370"/>
                <a:gridCol w="968077"/>
                <a:gridCol w="907455"/>
              </a:tblGrid>
              <a:tr h="197088">
                <a:tc>
                  <a:txBody>
                    <a:bodyPr wrap="square"/>
                    <a:lstStyle/>
                    <a:p>
                      <a:r>
                        <a:rPr sz="800" b="1" i="0">
                          <a:solidFill>
                            <a:srgbClr val="F4F1EA"/>
                          </a:solidFill>
                          <a:latin typeface="Arial"/>
                          <a:ea typeface="Malgun Gothic"/>
                          <a:cs typeface="Malgun Gothic"/>
                        </a:rPr>
                        <a:t>격자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FastDEM integrate</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FastDEM </a:t>
                      </a:r>
                      <a:r>
                        <a:rPr sz="800" b="1" i="0">
                          <a:solidFill>
                            <a:srgbClr val="F4F1EA"/>
                          </a:solidFill>
                          <a:latin typeface="Arial"/>
                          <a:ea typeface="Malgun Gothic"/>
                          <a:cs typeface="Malgun Gothic"/>
                        </a:rPr>
                        <a:t>features</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TravMapBuilder</a:t>
                      </a:r>
                      <a:r>
                        <a:rPr sz="800" b="1" i="0">
                          <a:solidFill>
                            <a:srgbClr val="F4F1EA"/>
                          </a:solidFill>
                          <a:latin typeface="Arial"/>
                          <a:ea typeface="Malgun Gothic"/>
                          <a:cs typeface="Malgun Gothic"/>
                        </a:rPr>
                        <a:t> 1스레드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12스레드</a:t>
                      </a:r>
                    </a:p>
                  </a:txBody>
                  <a:tcPr marL="63500" marR="63500" marT="12700" marB="12700">
                    <a:solidFill>
                      <a:srgbClr val="16213A"/>
                    </a:solidFill>
                  </a:tcPr>
                </a:tc>
                <a:tc>
                  <a:txBody>
                    <a:bodyPr wrap="square"/>
                    <a:lstStyle/>
                    <a:p>
                      <a:r>
                        <a:rPr sz="800" b="1" i="0">
                          <a:solidFill>
                            <a:srgbClr val="C2410C"/>
                          </a:solidFill>
                          <a:latin typeface="Arial"/>
                          <a:ea typeface="Malgun Gothic"/>
                          <a:cs typeface="Malgun Gothic"/>
                        </a:rPr>
                        <a:t>CUDA</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15 × 15 m @ 0.10 (FastDEM 배포값)</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22,500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1.55 ms</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6.89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8.97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7.30 ms</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1.11 ms</a:t>
                      </a:r>
                    </a:p>
                  </a:txBody>
                  <a:tcPr marL="63500" marR="63500" marT="12700" marB="12700">
                    <a:solidFill>
                      <a:srgbClr val="FFFDF8"/>
                    </a:solidFill>
                  </a:tcPr>
                </a:tc>
              </a:tr>
              <a:tr h="197088">
                <a:tc>
                  <a:txBody>
                    <a:bodyPr wrap="square"/>
                    <a:lstStyle/>
                    <a:p>
                      <a:r>
                        <a:rPr sz="800" b="1" i="0">
                          <a:solidFill>
                            <a:srgbClr val="C2410C"/>
                          </a:solidFill>
                          <a:latin typeface="Arial"/>
                          <a:ea typeface="Malgun Gothic"/>
                          <a:cs typeface="Malgun Gothic"/>
                        </a:rPr>
                        <a:t>11.1 × 11.1 m @ 0.05 (travplan)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49,284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1.98 ms</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40.11 ms</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43.70 ms</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31.43 ms</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1.47 ms</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15 × 15 m @ 0.05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90,000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—¹</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43.26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80.83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—¹</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—¹</a:t>
                      </a:r>
                    </a:p>
                  </a:txBody>
                  <a:tcPr marL="63500" marR="63500" marT="12700" marB="12700">
                    <a:solidFill>
                      <a:srgbClr val="FFFDF8"/>
                    </a:solidFill>
                  </a:tcPr>
                </a:tc>
              </a:tr>
            </a:tbl>
          </a:graphicData>
        </a:graphic>
      </p:graphicFrame>
      <p:sp>
        <p:nvSpPr>
          <p:cNvPr id="9" name="TextBox 8"/>
          <p:cNvSpPr txBox="1"/>
          <p:nvPr/>
        </p:nvSpPr>
        <p:spPr>
          <a:xfrm>
            <a:off x="609600" y="3674467"/>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¹ </a:t>
            </a:r>
            <a:r>
              <a:rPr sz="1050" b="0" i="0">
                <a:solidFill>
                  <a:srgbClr val="16213A"/>
                </a:solidFill>
                <a:latin typeface="Consolas"/>
                <a:ea typeface="Malgun Gothic"/>
                <a:cs typeface="Malgun Gothic"/>
              </a:rPr>
              <a:t>results/p2-fastdem-baseline.tsv</a:t>
            </a:r>
            <a:r>
              <a:rPr sz="1050" b="0" i="0">
                <a:solidFill>
                  <a:srgbClr val="16213A"/>
                </a:solidFill>
                <a:latin typeface="Arial"/>
                <a:ea typeface="Malgun Gothic"/>
                <a:cs typeface="Malgun Gothic"/>
              </a:rPr>
              <a:t>에 기록이 없는 칸이다. 최초 표에는 3.98 / 59.36 / 1.17이 적혀 있었으나 근거 파일에 그 행이 없어 2026-10-01에 지웠다(재측정은 머신이 다른 작업으로 부하 상태라 비교 불가였다). </a:t>
            </a:r>
            <a:r>
              <a:rPr sz="1050" b="1" i="0">
                <a:solidFill>
                  <a:srgbClr val="C2410C"/>
                </a:solidFill>
                <a:latin typeface="Arial"/>
                <a:ea typeface="Malgun Gothic"/>
                <a:cs typeface="Malgun Gothic"/>
              </a:rPr>
              <a:t>근거 파일에 없는 수치는 표에 적지 않는다.</a:t>
            </a:r>
          </a:p>
        </p:txBody>
      </p:sp>
      <p:sp>
        <p:nvSpPr>
          <p:cNvPr id="10" name="TextBox 9"/>
          <p:cNvSpPr txBox="1"/>
          <p:nvPr/>
        </p:nvSpPr>
        <p:spPr>
          <a:xfrm>
            <a:off x="609600" y="4196358"/>
            <a:ext cx="10972800" cy="86598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"무승부"는 커버리지 교란이었다</a:t>
            </a:r>
            <a:r>
              <a:rPr sz="1050" b="1" i="0">
                <a:solidFill>
                  <a:srgbClr val="C2410C"/>
                </a:solidFill>
                <a:latin typeface="Arial"/>
                <a:ea typeface="Malgun Gothic"/>
                <a:cs typeface="Malgun Gothic"/>
              </a:rPr>
              <a:t>(2026-10-01 정정).</a:t>
            </a:r>
            <a:r>
              <a:rPr sz="1050" b="0" i="0">
                <a:solidFill>
                  <a:srgbClr val="16213A"/>
                </a:solidFill>
                <a:latin typeface="Arial"/>
                <a:ea typeface="Malgun Gothic"/>
                <a:cs typeface="Malgun Gothic"/>
              </a:rPr>
              <a:t> FastDEM의 40.11 ms는 격자 전체가 아니라 </a:t>
            </a:r>
            <a:r>
              <a:rPr sz="1050" b="1" i="0">
                <a:solidFill>
                  <a:srgbClr val="16213A"/>
                </a:solidFill>
                <a:latin typeface="Arial"/>
                <a:ea typeface="Malgun Gothic"/>
                <a:cs typeface="Malgun Gothic"/>
              </a:rPr>
              <a:t>측정된 칸만</a:t>
            </a:r>
            <a:r>
              <a:rPr sz="1050" b="0" i="0">
                <a:solidFill>
                  <a:srgbClr val="16213A"/>
                </a:solidFill>
                <a:latin typeface="Arial"/>
                <a:ea typeface="Malgun Gothic"/>
                <a:cs typeface="Malgun Gothic"/>
              </a:rPr>
              <a:t> 돈다(</a:t>
            </a:r>
            <a:r>
              <a:rPr sz="1050" b="0" i="0">
                <a:solidFill>
                  <a:srgbClr val="16213A"/>
                </a:solidFill>
                <a:latin typeface="Consolas"/>
                <a:ea typeface="Malgun Gothic"/>
                <a:cs typeface="Malgun Gothic"/>
              </a:rPr>
              <a:t>feature_extraction.cpp:59-61</a:t>
            </a:r>
            <a:r>
              <a:rPr sz="1050" b="0" i="0">
                <a:solidFill>
                  <a:srgbClr val="16213A"/>
                </a:solidFill>
                <a:latin typeface="Arial"/>
                <a:ea typeface="Malgun Gothic"/>
                <a:cs typeface="Malgun Gothic"/>
              </a:rPr>
              <a:t>이 미측정 칸을 첫 줄에서 건너뛴다). 그 행의 점 예산으로 채워지는 칸은 49,284칸 중 </a:t>
            </a:r>
            <a:r>
              <a:rPr sz="1050" b="1" i="0">
                <a:solidFill>
                  <a:srgbClr val="16213A"/>
                </a:solidFill>
                <a:latin typeface="Arial"/>
                <a:ea typeface="Malgun Gothic"/>
                <a:cs typeface="Malgun Gothic"/>
              </a:rPr>
              <a:t>61 % 이하</a:t>
            </a:r>
            <a:r>
              <a:rPr sz="1050" b="0" i="0">
                <a:solidFill>
                  <a:srgbClr val="16213A"/>
                </a:solidFill>
                <a:latin typeface="Arial"/>
                <a:ea typeface="Malgun Gothic"/>
                <a:cs typeface="Malgun Gothic"/>
              </a:rPr>
              <a:t>이고, 같은 격자를 더 채우면 비용이 1.7배로 오른다(재실행). 빽빽하게 채운 같은 크기 격자에서는 </a:t>
            </a:r>
            <a:r>
              <a:rPr sz="1050" b="0" i="0">
                <a:solidFill>
                  <a:srgbClr val="16213A"/>
                </a:solidFill>
                <a:latin typeface="Consolas"/>
                <a:ea typeface="Malgun Gothic"/>
                <a:cs typeface="Malgun Gothic"/>
              </a:rPr>
              <a:t>applyFeatureExtraction</a:t>
            </a:r>
            <a:r>
              <a:rPr sz="1050" b="0" i="0">
                <a:solidFill>
                  <a:srgbClr val="16213A"/>
                </a:solidFill>
                <a:latin typeface="Arial"/>
                <a:ea typeface="Malgun Gothic"/>
                <a:cs typeface="Malgun Gothic"/>
              </a:rPr>
              <a:t>이 127–150 ms로,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의 43.70 ms(1스레드)의 약 3배, 31.43 ms(12스레드)의 약 4배다.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는 커버리지와 무관하게 격자 전체를 돌므로 시간이 변하지 않는다. 즉 </a:t>
            </a:r>
            <a:r>
              <a:rPr sz="1050" b="1" i="0">
                <a:solidFill>
                  <a:srgbClr val="16213A"/>
                </a:solidFill>
                <a:latin typeface="Arial"/>
                <a:ea typeface="Malgun Gothic"/>
                <a:cs typeface="Malgun Gothic"/>
              </a:rPr>
              <a:t>CPU 대 CPU도 무승부가 아니고</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CUDA 이전(TP-0084)은 더 강하게 정당화된다</a:t>
            </a:r>
            <a:r>
              <a:rPr sz="1050" b="0" i="0">
                <a:solidFill>
                  <a:srgbClr val="16213A"/>
                </a:solidFill>
                <a:latin typeface="Arial"/>
                <a:ea typeface="Malgun Gothic"/>
                <a:cs typeface="Malgun Gothic"/>
              </a:rPr>
              <a:t>(같은 11.1 격자에서 FastDEM 대비 27배).</a:t>
            </a:r>
          </a:p>
        </p:txBody>
      </p:sp>
      <p:sp>
        <p:nvSpPr>
          <p:cNvPr id="11" name="TextBox 10"/>
          <p:cNvSpPr txBox="1"/>
          <p:nvPr/>
        </p:nvSpPr>
        <p:spPr>
          <a:xfrm>
            <a:off x="609600" y="5151239"/>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두 구현이 같은 일을 하지 않는다.</a:t>
            </a:r>
            <a:r>
              <a:rPr sz="1050" b="0" i="0">
                <a:solidFill>
                  <a:srgbClr val="16213A"/>
                </a:solidFill>
                <a:latin typeface="Arial"/>
                <a:ea typeface="Malgun Gothic"/>
                <a:cs typeface="Malgun Gothic"/>
              </a:rPr>
              <a:t> FastDEM은 칸마다 반경 0.3 m 이웃으로 </a:t>
            </a:r>
            <a:r>
              <a:rPr sz="1050" b="1" i="0">
                <a:solidFill>
                  <a:srgbClr val="16213A"/>
                </a:solidFill>
                <a:latin typeface="Arial"/>
                <a:ea typeface="Malgun Gothic"/>
                <a:cs typeface="Malgun Gothic"/>
              </a:rPr>
              <a:t>국소 PCA</a:t>
            </a:r>
            <a:r>
              <a:rPr sz="1050" b="0" i="0">
                <a:solidFill>
                  <a:srgbClr val="16213A"/>
                </a:solidFill>
                <a:latin typeface="Arial"/>
                <a:ea typeface="Malgun Gothic"/>
                <a:cs typeface="Malgun Gothic"/>
              </a:rPr>
              <a:t>를 돌려 curvature와 </a:t>
            </a:r>
            <a:r>
              <a:rPr sz="1050" b="1" i="0">
                <a:solidFill>
                  <a:srgbClr val="16213A"/>
                </a:solidFill>
                <a:latin typeface="Arial"/>
                <a:ea typeface="Malgun Gothic"/>
                <a:cs typeface="Malgun Gothic"/>
              </a:rPr>
              <a:t>법선</a:t>
            </a:r>
            <a:r>
              <a:rPr sz="1050" b="0" i="0">
                <a:solidFill>
                  <a:srgbClr val="16213A"/>
                </a:solidFill>
                <a:latin typeface="Arial"/>
                <a:ea typeface="Malgun Gothic"/>
                <a:cs typeface="Malgun Gothic"/>
              </a:rPr>
              <a:t>까지 낸다. 루프는 격자 전체를 돌지만 </a:t>
            </a:r>
            <a:r>
              <a:rPr sz="1050" b="1" i="0">
                <a:solidFill>
                  <a:srgbClr val="C2410C"/>
                </a:solidFill>
                <a:latin typeface="Arial"/>
                <a:ea typeface="Malgun Gothic"/>
                <a:cs typeface="Malgun Gothic"/>
              </a:rPr>
              <a:t>미측정 칸은 첫 줄에서 건너뛰므로</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feature_extraction.cpp:59-61</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비용이 측정된 칸 수에 비례한다</a:t>
            </a:r>
            <a:r>
              <a:rPr sz="1050" b="0" i="0">
                <a:solidFill>
                  <a:srgbClr val="16213A"/>
                </a:solidFill>
                <a:latin typeface="Arial"/>
                <a:ea typeface="Malgun Gothic"/>
                <a:cs typeface="Malgun Gothic"/>
              </a:rPr>
              <a:t> — 세 번째 행에서 셀당 비용이 떨어지는 이유다.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는 conv/pool로 격자 </a:t>
            </a:r>
            <a:r>
              <a:rPr sz="1050" b="1" i="0">
                <a:solidFill>
                  <a:srgbClr val="16213A"/>
                </a:solidFill>
                <a:latin typeface="Arial"/>
                <a:ea typeface="Malgun Gothic"/>
                <a:cs typeface="Malgun Gothic"/>
              </a:rPr>
              <a:t>전체</a:t>
            </a:r>
            <a:r>
              <a:rPr sz="1050" b="0" i="0">
                <a:solidFill>
                  <a:srgbClr val="16213A"/>
                </a:solidFill>
                <a:latin typeface="Arial"/>
                <a:ea typeface="Malgun Gothic"/>
                <a:cs typeface="Malgun Gothic"/>
              </a:rPr>
              <a:t>를 돈다. </a:t>
            </a:r>
            <a:r>
              <a:rPr sz="1050" b="1" i="0">
                <a:solidFill>
                  <a:srgbClr val="C2410C"/>
                </a:solidFill>
                <a:latin typeface="Arial"/>
                <a:ea typeface="Malgun Gothic"/>
                <a:cs typeface="Malgun Gothic"/>
              </a:rPr>
              <a:t>FastDEM이 "느리다"가 아니라 </a:t>
            </a:r>
            <a:r>
              <a:rPr sz="1050" b="1" i="0">
                <a:solidFill>
                  <a:srgbClr val="C2410C"/>
                </a:solidFill>
                <a:latin typeface="Arial"/>
                <a:ea typeface="Malgun Gothic"/>
                <a:cs typeface="Malgun Gothic"/>
              </a:rPr>
              <a:t>더 많은 것을 비슷한 값에 낸다</a:t>
            </a:r>
            <a:r>
              <a:rPr sz="1050" b="1" i="0">
                <a:solidFill>
                  <a:srgbClr val="C2410C"/>
                </a:solidFill>
                <a:latin typeface="Arial"/>
                <a:ea typeface="Malgun Gothic"/>
                <a:cs typeface="Malgun Gothic"/>
              </a:rPr>
              <a:t>로 읽어야 한다.</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A.13.2 TP-0086 — FastDEM을 CPU 기준선으로 세웠고, 내 주장이 틀렸다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79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아직 안 한 것</a:t>
            </a:r>
            <a:r>
              <a:rPr sz="1050" b="0" i="0">
                <a:solidFill>
                  <a:srgbClr val="16213A"/>
                </a:solidFill>
                <a:latin typeface="Arial"/>
                <a:ea typeface="Malgun Gothic"/>
                <a:cs typeface="Malgun Gothic"/>
              </a:rPr>
              <a:t>: 이 측정은 </a:t>
            </a:r>
            <a:r>
              <a:rPr sz="1050" b="1" i="0">
                <a:solidFill>
                  <a:srgbClr val="16213A"/>
                </a:solidFill>
                <a:latin typeface="Arial"/>
                <a:ea typeface="Malgun Gothic"/>
                <a:cs typeface="Malgun Gothic"/>
              </a:rPr>
              <a:t>시간만</a:t>
            </a:r>
            <a:r>
              <a:rPr sz="1050" b="0" i="0">
                <a:solidFill>
                  <a:srgbClr val="16213A"/>
                </a:solidFill>
                <a:latin typeface="Arial"/>
                <a:ea typeface="Malgun Gothic"/>
                <a:cs typeface="Malgun Gothic"/>
              </a:rPr>
              <a:t> 재고, FastDEM에 먹인 점군도 travplan 지형이 아니라 FastDEM 자체의 합성 지형이다. </a:t>
            </a:r>
            <a:r>
              <a:rPr sz="1050" b="1" i="0">
                <a:solidFill>
                  <a:srgbClr val="16213A"/>
                </a:solidFill>
                <a:latin typeface="Arial"/>
                <a:ea typeface="Malgun Gothic"/>
                <a:cs typeface="Malgun Gothic"/>
              </a:rPr>
              <a:t>같은 장면에서 같은 출력을 내는가는 TP-0096</a:t>
            </a:r>
            <a:r>
              <a:rPr sz="1050" b="0" i="0">
                <a:solidFill>
                  <a:srgbClr val="16213A"/>
                </a:solidFill>
                <a:latin typeface="Arial"/>
                <a:ea typeface="Malgun Gothic"/>
                <a:cs typeface="Malgun Gothic"/>
              </a:rPr>
              <a:t>에서 다룬다. 수치: </a:t>
            </a:r>
            <a:r>
              <a:rPr sz="1050" b="0" i="0">
                <a:solidFill>
                  <a:srgbClr val="16213A"/>
                </a:solidFill>
                <a:latin typeface="Consolas"/>
                <a:ea typeface="Malgun Gothic"/>
                <a:cs typeface="Malgun Gothic"/>
              </a:rPr>
              <a:t>results/p2-fastdem-baseline.tsv</a:t>
            </a:r>
            <a:r>
              <a:rPr sz="1050" b="0" i="0">
                <a:solidFill>
                  <a:srgbClr val="16213A"/>
                </a:solidFill>
                <a:latin typeface="Arial"/>
                <a:ea typeface="Malgun Gothic"/>
                <a:cs typeface="Malgun Gothic"/>
              </a:rPr>
              <a: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A.13.3 TP-0096 — 같은 장면에서 층을 맞대 보니 "부분적으로 같다"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80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a:t>
            </a:r>
            <a:r>
              <a:rPr sz="1050" b="0" i="0">
                <a:solidFill>
                  <a:srgbClr val="16213A"/>
                </a:solidFill>
                <a:latin typeface="Arial"/>
                <a:ea typeface="Malgun Gothic"/>
                <a:cs typeface="Malgun Gothic"/>
              </a:rPr>
              <a:t> TP-0086(A.13.2)은 </a:t>
            </a:r>
            <a:r>
              <a:rPr sz="1050" b="1" i="0">
                <a:solidFill>
                  <a:srgbClr val="16213A"/>
                </a:solidFill>
                <a:latin typeface="Arial"/>
                <a:ea typeface="Malgun Gothic"/>
                <a:cs typeface="Malgun Gothic"/>
              </a:rPr>
              <a:t>시간만</a:t>
            </a:r>
            <a:r>
              <a:rPr sz="1050" b="0" i="0">
                <a:solidFill>
                  <a:srgbClr val="16213A"/>
                </a:solidFill>
                <a:latin typeface="Arial"/>
                <a:ea typeface="Malgun Gothic"/>
                <a:cs typeface="Malgun Gothic"/>
              </a:rPr>
              <a:t> 쟀고, FastDEM에 먹인 점군도 travplan 지형이 아니라 FastDEM 자체의 합성 지형이었다. 같은 장면에서 </a:t>
            </a:r>
            <a:r>
              <a:rPr sz="1050" b="1" i="0">
                <a:solidFill>
                  <a:srgbClr val="16213A"/>
                </a:solidFill>
                <a:latin typeface="Arial"/>
                <a:ea typeface="Malgun Gothic"/>
                <a:cs typeface="Malgun Gothic"/>
              </a:rPr>
              <a:t>같은 출력</a:t>
            </a:r>
            <a:r>
              <a:rPr sz="1050" b="0" i="0">
                <a:solidFill>
                  <a:srgbClr val="16213A"/>
                </a:solidFill>
                <a:latin typeface="Arial"/>
                <a:ea typeface="Malgun Gothic"/>
                <a:cs typeface="Malgun Gothic"/>
              </a:rPr>
              <a:t>을 내는지는 안 쟀다.</a:t>
            </a:r>
          </a:p>
        </p:txBody>
      </p:sp>
      <p:sp>
        <p:nvSpPr>
          <p:cNvPr id="6" name="TextBox 5"/>
          <p:cNvSpPr txBox="1"/>
          <p:nvPr/>
        </p:nvSpPr>
        <p:spPr>
          <a:xfrm>
            <a:off x="609600" y="154999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하네스.</a:t>
            </a:r>
            <a:r>
              <a:rPr sz="1050" b="0" i="0">
                <a:solidFill>
                  <a:srgbClr val="16213A"/>
                </a:solidFill>
                <a:latin typeface="Arial"/>
                <a:ea typeface="Malgun Gothic"/>
                <a:cs typeface="Malgun Gothic"/>
              </a:rPr>
              <a:t> 세 단계다(</a:t>
            </a:r>
            <a:r>
              <a:rPr sz="1050" b="0" i="0">
                <a:solidFill>
                  <a:srgbClr val="16213A"/>
                </a:solidFill>
                <a:latin typeface="Consolas"/>
                <a:ea typeface="Malgun Gothic"/>
                <a:cs typeface="Malgun Gothic"/>
              </a:rPr>
              <a:t>scripts/fastdem_baseline/</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export_scene.py</a:t>
            </a:r>
            <a:r>
              <a:rPr sz="1050" b="0" i="0">
                <a:solidFill>
                  <a:srgbClr val="16213A"/>
                </a:solidFill>
                <a:latin typeface="Arial"/>
                <a:ea typeface="Malgun Gothic"/>
                <a:cs typeface="Malgun Gothic"/>
              </a:rPr>
              <a:t>가 장면을 내보내고, </a:t>
            </a:r>
            <a:r>
              <a:rPr sz="1050" b="0" i="0">
                <a:solidFill>
                  <a:srgbClr val="16213A"/>
                </a:solidFill>
                <a:latin typeface="Consolas"/>
                <a:ea typeface="Malgun Gothic"/>
                <a:cs typeface="Malgun Gothic"/>
              </a:rPr>
              <a:t>compare_scene.cpp</a:t>
            </a:r>
            <a:r>
              <a:rPr sz="1050" b="0" i="0">
                <a:solidFill>
                  <a:srgbClr val="16213A"/>
                </a:solidFill>
                <a:latin typeface="Arial"/>
                <a:ea typeface="Malgun Gothic"/>
                <a:cs typeface="Malgun Gothic"/>
              </a:rPr>
              <a:t>가 FastDEM을 돌리고, </a:t>
            </a:r>
            <a:r>
              <a:rPr sz="1050" b="0" i="0">
                <a:solidFill>
                  <a:srgbClr val="16213A"/>
                </a:solidFill>
                <a:latin typeface="Consolas"/>
                <a:ea typeface="Malgun Gothic"/>
                <a:cs typeface="Malgun Gothic"/>
              </a:rPr>
              <a:t>compare_layers.py</a:t>
            </a:r>
            <a:r>
              <a:rPr sz="1050" b="0" i="0">
                <a:solidFill>
                  <a:srgbClr val="16213A"/>
                </a:solidFill>
                <a:latin typeface="Arial"/>
                <a:ea typeface="Malgun Gothic"/>
                <a:cs typeface="Malgun Gothic"/>
              </a:rPr>
              <a:t>가 맞댄다. 교환은 </a:t>
            </a:r>
            <a:r>
              <a:rPr sz="1050" b="1" i="0">
                <a:solidFill>
                  <a:srgbClr val="16213A"/>
                </a:solidFill>
                <a:latin typeface="Arial"/>
                <a:ea typeface="Malgun Gothic"/>
                <a:cs typeface="Malgun Gothic"/>
              </a:rPr>
              <a:t>양방향 npz</a:t>
            </a:r>
            <a:r>
              <a:rPr sz="1050" b="0" i="0">
                <a:solidFill>
                  <a:srgbClr val="16213A"/>
                </a:solidFill>
                <a:latin typeface="Arial"/>
                <a:ea typeface="Malgun Gothic"/>
                <a:cs typeface="Malgun Gothic"/>
              </a:rPr>
              <a:t> + 점군용 headerless float32 </a:t>
            </a:r>
            <a:r>
              <a:rPr sz="1050" b="0" i="0">
                <a:solidFill>
                  <a:srgbClr val="16213A"/>
                </a:solidFill>
                <a:latin typeface="Consolas"/>
                <a:ea typeface="Malgun Gothic"/>
                <a:cs typeface="Malgun Gothic"/>
              </a:rPr>
              <a:t>.bin</a:t>
            </a:r>
            <a:r>
              <a:rPr sz="1050" b="0" i="0">
                <a:solidFill>
                  <a:srgbClr val="16213A"/>
                </a:solidFill>
                <a:latin typeface="Arial"/>
                <a:ea typeface="Malgun Gothic"/>
                <a:cs typeface="Malgun Gothic"/>
              </a:rPr>
              <a:t>이고, FastDEM의 </a:t>
            </a:r>
            <a:r>
              <a:rPr sz="1050" b="0" i="0">
                <a:solidFill>
                  <a:srgbClr val="16213A"/>
                </a:solidFill>
                <a:latin typeface="Consolas"/>
                <a:ea typeface="Malgun Gothic"/>
                <a:cs typeface="Malgun Gothic"/>
              </a:rPr>
              <a:t>io::loadNpz</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saveNpz</a:t>
            </a:r>
            <a:r>
              <a:rPr sz="1050" b="0" i="0">
                <a:solidFill>
                  <a:srgbClr val="16213A"/>
                </a:solidFill>
                <a:latin typeface="Arial"/>
                <a:ea typeface="Malgun Gothic"/>
                <a:cs typeface="Malgun Gothic"/>
              </a:rPr>
              <a:t>와 nanoPCL의 </a:t>
            </a:r>
            <a:r>
              <a:rPr sz="1050" b="0" i="0">
                <a:solidFill>
                  <a:srgbClr val="16213A"/>
                </a:solidFill>
                <a:latin typeface="Consolas"/>
                <a:ea typeface="Malgun Gothic"/>
                <a:cs typeface="Malgun Gothic"/>
              </a:rPr>
              <a:t>loadBIN</a:t>
            </a:r>
            <a:r>
              <a:rPr sz="1050" b="0" i="0">
                <a:solidFill>
                  <a:srgbClr val="16213A"/>
                </a:solidFill>
                <a:latin typeface="Arial"/>
                <a:ea typeface="Malgun Gothic"/>
                <a:cs typeface="Malgun Gothic"/>
              </a:rPr>
              <a:t>이 그대로 받는다. ⚠️ </a:t>
            </a:r>
            <a:r>
              <a:rPr sz="1050" b="0" i="0">
                <a:solidFill>
                  <a:srgbClr val="16213A"/>
                </a:solidFill>
                <a:latin typeface="Consolas"/>
                <a:ea typeface="Malgun Gothic"/>
                <a:cs typeface="Malgun Gothic"/>
              </a:rPr>
              <a:t>np.savez</a:t>
            </a:r>
            <a:r>
              <a:rPr sz="1050" b="0" i="0">
                <a:solidFill>
                  <a:srgbClr val="16213A"/>
                </a:solidFill>
                <a:latin typeface="Arial"/>
                <a:ea typeface="Malgun Gothic"/>
                <a:cs typeface="Malgun Gothic"/>
              </a:rPr>
              <a:t>여야 하고 </a:t>
            </a:r>
            <a:r>
              <a:rPr sz="1050" b="0" i="0">
                <a:solidFill>
                  <a:srgbClr val="16213A"/>
                </a:solidFill>
                <a:latin typeface="Consolas"/>
                <a:ea typeface="Malgun Gothic"/>
                <a:cs typeface="Malgun Gothic"/>
              </a:rPr>
              <a:t>savez_compressed</a:t>
            </a:r>
            <a:r>
              <a:rPr sz="1050" b="0" i="0">
                <a:solidFill>
                  <a:srgbClr val="16213A"/>
                </a:solidFill>
                <a:latin typeface="Arial"/>
                <a:ea typeface="Malgun Gothic"/>
                <a:cs typeface="Malgun Gothic"/>
              </a:rPr>
              <a:t>는 안 되며 </a:t>
            </a:r>
            <a:r>
              <a:rPr sz="1050" b="1" i="0">
                <a:solidFill>
                  <a:srgbClr val="16213A"/>
                </a:solidFill>
                <a:latin typeface="Arial"/>
                <a:ea typeface="Malgun Gothic"/>
                <a:cs typeface="Malgun Gothic"/>
              </a:rPr>
              <a:t>F-order</a:t>
            </a:r>
            <a:r>
              <a:rPr sz="1050" b="0" i="0">
                <a:solidFill>
                  <a:srgbClr val="16213A"/>
                </a:solidFill>
                <a:latin typeface="Arial"/>
                <a:ea typeface="Malgun Gothic"/>
                <a:cs typeface="Malgun Gothic"/>
              </a:rPr>
              <a:t>여야 한다 — </a:t>
            </a:r>
            <a:r>
              <a:rPr sz="1050" b="0" i="0">
                <a:solidFill>
                  <a:srgbClr val="16213A"/>
                </a:solidFill>
                <a:latin typeface="Consolas"/>
                <a:ea typeface="Malgun Gothic"/>
                <a:cs typeface="Malgun Gothic"/>
              </a:rPr>
              <a:t>parseNpyHeader</a:t>
            </a:r>
            <a:r>
              <a:rPr sz="1050" b="0" i="0">
                <a:solidFill>
                  <a:srgbClr val="16213A"/>
                </a:solidFill>
                <a:latin typeface="Arial"/>
                <a:ea typeface="Malgun Gothic"/>
                <a:cs typeface="Malgun Gothic"/>
              </a:rPr>
              <a:t>가 </a:t>
            </a:r>
            <a:r>
              <a:rPr sz="1050" b="0" i="0">
                <a:solidFill>
                  <a:srgbClr val="16213A"/>
                </a:solidFill>
                <a:latin typeface="Consolas"/>
                <a:ea typeface="Malgun Gothic"/>
                <a:cs typeface="Malgun Gothic"/>
              </a:rPr>
              <a:t>fortran_order</a:t>
            </a:r>
            <a:r>
              <a:rPr sz="1050" b="0" i="0">
                <a:solidFill>
                  <a:srgbClr val="16213A"/>
                </a:solidFill>
                <a:latin typeface="Arial"/>
                <a:ea typeface="Malgun Gothic"/>
                <a:cs typeface="Malgun Gothic"/>
              </a:rPr>
              <a:t>를 읽지 않고 열 우선 Eigen 행렬에 그대로 </a:t>
            </a:r>
            <a:r>
              <a:rPr sz="1050" b="0" i="0">
                <a:solidFill>
                  <a:srgbClr val="16213A"/>
                </a:solidFill>
                <a:latin typeface="Consolas"/>
                <a:ea typeface="Malgun Gothic"/>
                <a:cs typeface="Malgun Gothic"/>
              </a:rPr>
              <a:t>memcpy</a:t>
            </a:r>
            <a:r>
              <a:rPr sz="1050" b="0" i="0">
                <a:solidFill>
                  <a:srgbClr val="16213A"/>
                </a:solidFill>
                <a:latin typeface="Arial"/>
                <a:ea typeface="Malgun Gothic"/>
                <a:cs typeface="Malgun Gothic"/>
              </a:rPr>
              <a:t>한다.</a:t>
            </a:r>
          </a:p>
        </p:txBody>
      </p:sp>
      <p:sp>
        <p:nvSpPr>
          <p:cNvPr id="7" name="TextBox 6"/>
          <p:cNvSpPr txBox="1"/>
          <p:nvPr/>
        </p:nvSpPr>
        <p:spPr>
          <a:xfrm>
            <a:off x="609600" y="22883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정렬이 맞는다는 증거.</a:t>
            </a:r>
            <a:r>
              <a:rPr sz="1050" b="0" i="0">
                <a:solidFill>
                  <a:srgbClr val="16213A"/>
                </a:solidFill>
                <a:latin typeface="Arial"/>
                <a:ea typeface="Malgun Gothic"/>
                <a:cs typeface="Malgun Gothic"/>
              </a:rPr>
              <a:t> 격자 대응은 </a:t>
            </a:r>
            <a:r>
              <a:rPr sz="1050" b="0" i="0">
                <a:solidFill>
                  <a:srgbClr val="16213A"/>
                </a:solidFill>
                <a:latin typeface="Consolas"/>
                <a:ea typeface="Malgun Gothic"/>
                <a:cs typeface="Malgun Gothic"/>
              </a:rPr>
              <a:t>A_travplan[H,W] = np.flip(M_fastdem).T</a:t>
            </a:r>
            <a:r>
              <a:rPr sz="1050" b="0" i="0">
                <a:solidFill>
                  <a:srgbClr val="16213A"/>
                </a:solidFill>
                <a:latin typeface="Arial"/>
                <a:ea typeface="Malgun Gothic"/>
                <a:cs typeface="Malgun Gothic"/>
              </a:rPr>
              <a:t>이고, 실제 travplan LiDAR 스캔의 고도 오차가 GT 대비 </a:t>
            </a:r>
            <a:r>
              <a:rPr sz="1050" b="1" i="0">
                <a:solidFill>
                  <a:srgbClr val="C2410C"/>
                </a:solidFill>
                <a:latin typeface="Arial"/>
                <a:ea typeface="Malgun Gothic"/>
                <a:cs typeface="Malgun Gothic"/>
              </a:rPr>
              <a:t>RMS 13.8 mm</a:t>
            </a:r>
            <a:r>
              <a:rPr sz="1050" b="1" i="0">
                <a:solidFill>
                  <a:srgbClr val="C2410C"/>
                </a:solidFill>
                <a:latin typeface="Arial"/>
                <a:ea typeface="Malgun Gothic"/>
                <a:cs typeface="Malgun Gothic"/>
              </a:rPr>
              <a:t>(편향 −1.4 mm, MAE 3.2 mm)</a:t>
            </a:r>
            <a:r>
              <a:rPr sz="1050" b="0" i="0">
                <a:solidFill>
                  <a:srgbClr val="16213A"/>
                </a:solidFill>
                <a:latin typeface="Arial"/>
                <a:ea typeface="Malgun Gothic"/>
                <a:cs typeface="Malgun Gothic"/>
              </a:rPr>
              <a:t>다. 30 mm대 꼬리는 </a:t>
            </a:r>
            <a:r>
              <a:rPr sz="1050" b="0" i="0">
                <a:solidFill>
                  <a:srgbClr val="16213A"/>
                </a:solidFill>
                <a:latin typeface="Consolas"/>
                <a:ea typeface="Malgun Gothic"/>
                <a:cs typeface="Malgun Gothic"/>
              </a:rPr>
              <a:t>bumps_potholes</a:t>
            </a:r>
            <a:r>
              <a:rPr sz="1050" b="0" i="0">
                <a:solidFill>
                  <a:srgbClr val="16213A"/>
                </a:solidFill>
                <a:latin typeface="Arial"/>
                <a:ea typeface="Malgun Gothic"/>
                <a:cs typeface="Malgun Gothic"/>
              </a:rPr>
              <a:t> 포트홀 가장자리이지 정렬 오차가 아니다. 전치나 중심이 틀렸다면 연석에서 터진다. </a:t>
            </a:r>
            <a:r>
              <a:rPr sz="1050" b="0" i="0">
                <a:solidFill>
                  <a:srgbClr val="16213A"/>
                </a:solidFill>
                <a:latin typeface="Consolas"/>
                <a:ea typeface="Malgun Gothic"/>
                <a:cs typeface="Malgun Gothic"/>
              </a:rPr>
              <a:t>GLOBAL</a:t>
            </a:r>
            <a:r>
              <a:rPr sz="1050" b="0" i="0">
                <a:solidFill>
                  <a:srgbClr val="16213A"/>
                </a:solidFill>
                <a:latin typeface="Arial"/>
                <a:ea typeface="Malgun Gothic"/>
                <a:cs typeface="Malgun Gothic"/>
              </a:rPr>
              <a:t> 모드를 썼다 — </a:t>
            </a:r>
            <a:r>
              <a:rPr sz="1050" b="0" i="0">
                <a:solidFill>
                  <a:srgbClr val="16213A"/>
                </a:solidFill>
                <a:latin typeface="Consolas"/>
                <a:ea typeface="Malgun Gothic"/>
                <a:cs typeface="Malgun Gothic"/>
              </a:rPr>
              <a:t>LOCAL</a:t>
            </a:r>
            <a:r>
              <a:rPr sz="1050" b="0" i="0">
                <a:solidFill>
                  <a:srgbClr val="16213A"/>
                </a:solidFill>
                <a:latin typeface="Arial"/>
                <a:ea typeface="Malgun Gothic"/>
                <a:cs typeface="Malgun Gothic"/>
              </a:rPr>
              <a:t>은 첫 </a:t>
            </a:r>
            <a:r>
              <a:rPr sz="1050" b="0" i="0">
                <a:solidFill>
                  <a:srgbClr val="16213A"/>
                </a:solidFill>
                <a:latin typeface="Consolas"/>
                <a:ea typeface="Malgun Gothic"/>
                <a:cs typeface="Malgun Gothic"/>
              </a:rPr>
              <a:t>integrate</a:t>
            </a:r>
            <a:r>
              <a:rPr sz="1050" b="0" i="0">
                <a:solidFill>
                  <a:srgbClr val="16213A"/>
                </a:solidFill>
                <a:latin typeface="Arial"/>
                <a:ea typeface="Malgun Gothic"/>
                <a:cs typeface="Malgun Gothic"/>
              </a:rPr>
              <a:t>에 순환 버퍼 시작 인덱스가 (0,0) → (175,15)로 감긴다.</a:t>
            </a:r>
          </a:p>
        </p:txBody>
      </p:sp>
      <p:sp>
        <p:nvSpPr>
          <p:cNvPr id="8" name="TextBox 7"/>
          <p:cNvSpPr txBox="1"/>
          <p:nvPr/>
        </p:nvSpPr>
        <p:spPr>
          <a:xfrm>
            <a:off x="609600" y="30267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두 실험.</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E1</a:t>
            </a:r>
            <a:r>
              <a:rPr sz="1050" b="0" i="0">
                <a:solidFill>
                  <a:srgbClr val="16213A"/>
                </a:solidFill>
                <a:latin typeface="Arial"/>
                <a:ea typeface="Malgun Gothic"/>
                <a:cs typeface="Malgun Gothic"/>
              </a:rPr>
              <a:t>은 양쪽에 </a:t>
            </a:r>
            <a:r>
              <a:rPr sz="1050" b="1" i="0">
                <a:solidFill>
                  <a:srgbClr val="16213A"/>
                </a:solidFill>
                <a:latin typeface="Arial"/>
                <a:ea typeface="Malgun Gothic"/>
                <a:cs typeface="Malgun Gothic"/>
              </a:rPr>
              <a:t>동일한 GT 고도 격자</a:t>
            </a:r>
            <a:r>
              <a:rPr sz="1050" b="0" i="0">
                <a:solidFill>
                  <a:srgbClr val="16213A"/>
                </a:solidFill>
                <a:latin typeface="Arial"/>
                <a:ea typeface="Malgun Gothic"/>
                <a:cs typeface="Malgun Gothic"/>
              </a:rPr>
              <a:t>를 먹여 특징 정의만 비교하고, </a:t>
            </a:r>
            <a:r>
              <a:rPr sz="1050" b="0" i="0">
                <a:solidFill>
                  <a:srgbClr val="16213A"/>
                </a:solidFill>
                <a:latin typeface="Consolas"/>
                <a:ea typeface="Malgun Gothic"/>
                <a:cs typeface="Malgun Gothic"/>
              </a:rPr>
              <a:t>E2</a:t>
            </a:r>
            <a:r>
              <a:rPr sz="1050" b="0" i="0">
                <a:solidFill>
                  <a:srgbClr val="16213A"/>
                </a:solidFill>
                <a:latin typeface="Arial"/>
                <a:ea typeface="Malgun Gothic"/>
                <a:cs typeface="Malgun Gothic"/>
              </a:rPr>
              <a:t>는 FastDEM이 travplan 스캔 12장을 스스로 융합하게 해 융합·커버리지까지 포함한다. 4 시나리오 × 2 seed.</a:t>
            </a:r>
          </a:p>
        </p:txBody>
      </p:sp>
      <p:graphicFrame>
        <p:nvGraphicFramePr>
          <p:cNvPr id="9" name="Table 8"/>
          <p:cNvGraphicFramePr>
            <a:graphicFrameLocks noGrp="1"/>
          </p:cNvGraphicFramePr>
          <p:nvPr/>
        </p:nvGraphicFramePr>
        <p:xfrm>
          <a:off x="609600" y="3332162"/>
          <a:ext cx="10966449" cy="1379616"/>
        </p:xfrm>
        <a:graphic>
          <a:graphicData uri="http://schemas.openxmlformats.org/drawingml/2006/table">
            <a:tbl>
              <a:tblPr firstRow="1" bandRow="1">
                <a:tableStyleId>{5C22544A-7EE6-4342-B048-85BDC9FD1C3A}</a:tableStyleId>
              </a:tblPr>
              <a:tblGrid>
                <a:gridCol w="2753320"/>
                <a:gridCol w="1309191"/>
                <a:gridCol w="1309191"/>
                <a:gridCol w="5594747"/>
              </a:tblGrid>
              <a:tr h="197088">
                <a:tc>
                  <a:txBody>
                    <a:bodyPr wrap="square"/>
                    <a:lstStyle/>
                    <a:p>
                      <a:r>
                        <a:rPr sz="800" b="1" i="0">
                          <a:solidFill>
                            <a:srgbClr val="F4F1EA"/>
                          </a:solidFill>
                          <a:latin typeface="Arial"/>
                          <a:ea typeface="Malgun Gothic"/>
                          <a:cs typeface="Malgun Gothic"/>
                        </a:rPr>
                        <a:t>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E1 r</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E2 r</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읽는 법</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slope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0.975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0.969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단위 변환 후</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slope (양쪽 팽창)</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0.989</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0.984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로봇 반경 팽창까지 맞추면</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step (범위 대 범위)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0.861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0.945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추세 항을 뺀 통제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step (정의 그대로)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0.763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0.826</a:t>
                      </a:r>
                    </a:p>
                  </a:txBody>
                  <a:tcPr marL="63500" marR="63500" marT="12700" marB="12700">
                    <a:solidFill>
                      <a:srgbClr val="F3F0E8"/>
                    </a:solidFill>
                  </a:tcPr>
                </a:tc>
                <a:tc>
                  <a:txBody>
                    <a:bodyPr wrap="square"/>
                    <a:lstStyle/>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rough</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0.774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0.854</a:t>
                      </a:r>
                    </a:p>
                  </a:txBody>
                  <a:tcPr marL="63500" marR="63500" marT="12700" marB="12700">
                    <a:solidFill>
                      <a:srgbClr val="FFFDF8"/>
                    </a:solidFill>
                  </a:tcPr>
                </a:tc>
                <a:tc>
                  <a:txBody>
                    <a:bodyPr wrap="square"/>
                    <a:lstStyle/>
                    <a:p/>
                  </a:txBody>
                  <a:tcPr marL="63500" marR="63500" marT="12700" marB="12700">
                    <a:solidFill>
                      <a:srgbClr val="FFFDF8"/>
                    </a:solidFill>
                  </a:tcPr>
                </a:tc>
              </a:tr>
              <a:tr h="197088">
                <a:tc>
                  <a:txBody>
                    <a:bodyPr wrap="square"/>
                    <a:lstStyle/>
                    <a:p>
                      <a:r>
                        <a:rPr sz="800" b="1" i="0">
                          <a:solidFill>
                            <a:srgbClr val="C2410C"/>
                          </a:solidFill>
                          <a:latin typeface="Arial"/>
                          <a:ea typeface="Malgun Gothic"/>
                          <a:cs typeface="Malgun Gothic"/>
                        </a:rPr>
                        <a:t>cost</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0.941</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0.940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양쪽 특징을 travplan 추정기에 통과시킨 것</a:t>
                      </a:r>
                    </a:p>
                  </a:txBody>
                  <a:tcPr marL="63500" marR="63500" marT="12700" marB="12700">
                    <a:solidFill>
                      <a:srgbClr val="F3F0E8"/>
                    </a:solidFill>
                  </a:tcPr>
                </a:tc>
              </a:tr>
            </a:tbl>
          </a:graphicData>
        </a:graphic>
      </p:graphicFrame>
      <p:sp>
        <p:nvSpPr>
          <p:cNvPr id="10" name="TextBox 9"/>
          <p:cNvSpPr txBox="1"/>
          <p:nvPr/>
        </p:nvSpPr>
        <p:spPr>
          <a:xfrm>
            <a:off x="609600" y="515193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답: 부분적으로 같다.</a:t>
            </a:r>
          </a:p>
        </p:txBody>
      </p:sp>
      <p:sp>
        <p:nvSpPr>
          <p:cNvPr id="11" name="TextBox 10"/>
          <p:cNvSpPr txBox="1"/>
          <p:nvPr/>
        </p:nvSpPr>
        <p:spPr>
          <a:xfrm>
            <a:off x="609600" y="5457329"/>
            <a:ext cx="10972800" cy="6748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slope</a:t>
            </a:r>
            <a:r>
              <a:rPr sz="1050" b="0" i="0">
                <a:solidFill>
                  <a:srgbClr val="16213A"/>
                </a:solidFill>
                <a:latin typeface="Arial"/>
                <a:ea typeface="Malgun Gothic"/>
                <a:cs typeface="Malgun Gothic"/>
              </a:rPr>
              <a:t> — 변환하면 실질적으로 호환된다(r 0.975, 편향 </a:t>
            </a:r>
            <a:r>
              <a:rPr sz="1050" b="1" i="0">
                <a:solidFill>
                  <a:srgbClr val="16213A"/>
                </a:solidFill>
                <a:latin typeface="Arial"/>
                <a:ea typeface="Malgun Gothic"/>
                <a:cs typeface="Malgun Gothic"/>
              </a:rPr>
              <a:t>0.19°</a:t>
            </a:r>
            <a:r>
              <a:rPr sz="1050" b="0" i="0">
                <a:solidFill>
                  <a:srgbClr val="16213A"/>
                </a:solidFill>
                <a:latin typeface="Arial"/>
                <a:ea typeface="Malgun Gothic"/>
                <a:cs typeface="Malgun Gothic"/>
              </a:rPr>
              <a:t> = +0.0033 rad). ⚠️ 다만 </a:t>
            </a:r>
            <a:r>
              <a:rPr sz="1050" b="0" i="1">
                <a:solidFill>
                  <a:srgbClr val="16213A"/>
                </a:solidFill>
                <a:latin typeface="Arial"/>
                <a:ea typeface="Malgun Gothic"/>
                <a:cs typeface="Malgun Gothic"/>
              </a:rPr>
              <a:t>"단위만 다른 같은 양"</a:t>
            </a:r>
            <a:r>
              <a:rPr sz="1050" b="0" i="0">
                <a:solidFill>
                  <a:srgbClr val="16213A"/>
                </a:solidFill>
                <a:latin typeface="Arial"/>
                <a:ea typeface="Malgun Gothic"/>
                <a:cs typeface="Malgun Gothic"/>
              </a:rPr>
              <a:t>은 과장이다. FastDEM은 0.6 m 원반 PCA 법선의 </a:t>
            </a:r>
            <a:r>
              <a:rPr sz="1050" b="0" i="0">
                <a:solidFill>
                  <a:srgbClr val="16213A"/>
                </a:solidFill>
                <a:latin typeface="Consolas"/>
                <a:ea typeface="Malgun Gothic"/>
                <a:cs typeface="Malgun Gothic"/>
              </a:rPr>
              <a:t>acos|n_z|</a:t>
            </a:r>
            <a:r>
              <a:rPr sz="1050" b="0" i="0">
                <a:solidFill>
                  <a:srgbClr val="16213A"/>
                </a:solidFill>
                <a:latin typeface="Arial"/>
                <a:ea typeface="Malgun Gothic"/>
                <a:cs typeface="Malgun Gothic"/>
              </a:rPr>
              <a:t>, travplan은 0.35 m 박스평균 면의 중심차분 </a:t>
            </a:r>
            <a:r>
              <a:rPr sz="1050" b="0" i="0">
                <a:solidFill>
                  <a:srgbClr val="16213A"/>
                </a:solidFill>
                <a:latin typeface="Consolas"/>
                <a:ea typeface="Malgun Gothic"/>
                <a:cs typeface="Malgun Gothic"/>
              </a:rPr>
              <a:t>atan</a:t>
            </a:r>
            <a:r>
              <a:rPr sz="1050" b="0" i="0">
                <a:solidFill>
                  <a:srgbClr val="16213A"/>
                </a:solidFill>
                <a:latin typeface="Arial"/>
                <a:ea typeface="Malgun Gothic"/>
                <a:cs typeface="Malgun Gothic"/>
              </a:rPr>
              <a:t>이다 — </a:t>
            </a:r>
            <a:r>
              <a:rPr sz="1050" b="1" i="0">
                <a:solidFill>
                  <a:srgbClr val="16213A"/>
                </a:solidFill>
                <a:latin typeface="Arial"/>
                <a:ea typeface="Malgun Gothic"/>
                <a:cs typeface="Malgun Gothic"/>
              </a:rPr>
              <a:t>추정기가 다르고, 일치는 경험적 결과다.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step</a:t>
            </a:r>
            <a:r>
              <a:rPr sz="1050" b="0" i="0">
                <a:solidFill>
                  <a:srgbClr val="16213A"/>
                </a:solidFill>
                <a:latin typeface="Arial"/>
                <a:ea typeface="Malgun Gothic"/>
                <a:cs typeface="Malgun Gothic"/>
              </a:rPr>
              <a:t> — </a:t>
            </a:r>
            <a:r>
              <a:rPr sz="1050" b="1" i="0">
                <a:solidFill>
                  <a:srgbClr val="C2410C"/>
                </a:solidFill>
                <a:latin typeface="Arial"/>
                <a:ea typeface="Malgun Gothic"/>
                <a:cs typeface="Malgun Gothic"/>
              </a:rPr>
              <a:t>구조적으로 다르다.</a:t>
            </a:r>
            <a:r>
              <a:rPr sz="1050" b="0" i="0">
                <a:solidFill>
                  <a:srgbClr val="16213A"/>
                </a:solidFill>
                <a:latin typeface="Arial"/>
                <a:ea typeface="Malgun Gothic"/>
                <a:cs typeface="Malgun Gothic"/>
              </a:rPr>
              <a:t> FastDEM은 반경 안 z의 </a:t>
            </a:r>
            <a:r>
              <a:rPr sz="1050" b="1" i="0">
                <a:solidFill>
                  <a:srgbClr val="16213A"/>
                </a:solidFill>
                <a:latin typeface="Arial"/>
                <a:ea typeface="Malgun Gothic"/>
                <a:cs typeface="Malgun Gothic"/>
              </a:rPr>
              <a:t>백분위 범위</a:t>
            </a:r>
            <a:r>
              <a:rPr sz="1050" b="0" i="0">
                <a:solidFill>
                  <a:srgbClr val="16213A"/>
                </a:solidFill>
                <a:latin typeface="Arial"/>
                <a:ea typeface="Malgun Gothic"/>
                <a:cs typeface="Malgun Gothic"/>
              </a:rPr>
              <a:t>(p95−p05)이고 추세 제거가 없다. travplan은 거기서 1.05 m 추세를 뺀다. 경사면에서 갈릴 수밖에 없다.</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A.13.3 TP-0096 — 같은 장면에서 층을 맞대 보니 "부분적으로 같다"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81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rough</a:t>
            </a:r>
            <a:r>
              <a:rPr sz="1050" b="0" i="0">
                <a:solidFill>
                  <a:srgbClr val="16213A"/>
                </a:solidFill>
                <a:latin typeface="Arial"/>
                <a:ea typeface="Malgun Gothic"/>
                <a:cs typeface="Malgun Gothic"/>
              </a:rPr>
              <a:t> — 평지에서 맞고 경사에서 갈린다. FastDEM은 </a:t>
            </a:r>
            <a:r>
              <a:rPr sz="1050" b="1" i="0">
                <a:solidFill>
                  <a:srgbClr val="16213A"/>
                </a:solidFill>
                <a:latin typeface="Arial"/>
                <a:ea typeface="Malgun Gothic"/>
                <a:cs typeface="Malgun Gothic"/>
              </a:rPr>
              <a:t>맞춘 평면</a:t>
            </a:r>
            <a:r>
              <a:rPr sz="1050" b="0" i="0">
                <a:solidFill>
                  <a:srgbClr val="16213A"/>
                </a:solidFill>
                <a:latin typeface="Arial"/>
                <a:ea typeface="Malgun Gothic"/>
                <a:cs typeface="Malgun Gothic"/>
              </a:rPr>
              <a:t>에 대한 잔차, travplan은 </a:t>
            </a:r>
            <a:r>
              <a:rPr sz="1050" b="1" i="0">
                <a:solidFill>
                  <a:srgbClr val="16213A"/>
                </a:solidFill>
                <a:latin typeface="Arial"/>
                <a:ea typeface="Malgun Gothic"/>
                <a:cs typeface="Malgun Gothic"/>
              </a:rPr>
              <a:t>상수(박스 평균)</a:t>
            </a:r>
            <a:r>
              <a:rPr sz="1050" b="0" i="0">
                <a:solidFill>
                  <a:srgbClr val="16213A"/>
                </a:solidFill>
                <a:latin typeface="Arial"/>
                <a:ea typeface="Malgun Gothic"/>
                <a:cs typeface="Malgun Gothic"/>
              </a:rPr>
              <a:t>에 대한 잔차다.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치명 판정 수준에서 누가 더 보수적인가</a:t>
            </a:r>
            <a:r>
              <a:rPr sz="1050" b="0" i="0">
                <a:solidFill>
                  <a:srgbClr val="16213A"/>
                </a:solidFill>
                <a:latin typeface="Arial"/>
                <a:ea typeface="Malgun Gothic"/>
                <a:cs typeface="Malgun Gothic"/>
              </a:rPr>
              <a:t> — 여기서 최초 보고를 정정한다.</a:t>
            </a:r>
          </a:p>
        </p:txBody>
      </p:sp>
      <p:graphicFrame>
        <p:nvGraphicFramePr>
          <p:cNvPr id="7" name="Table 6"/>
          <p:cNvGraphicFramePr>
            <a:graphicFrameLocks noGrp="1"/>
          </p:cNvGraphicFramePr>
          <p:nvPr/>
        </p:nvGraphicFramePr>
        <p:xfrm>
          <a:off x="609600" y="1855391"/>
          <a:ext cx="10966450" cy="788352"/>
        </p:xfrm>
        <a:graphic>
          <a:graphicData uri="http://schemas.openxmlformats.org/drawingml/2006/table">
            <a:tbl>
              <a:tblPr firstRow="1" bandRow="1">
                <a:tableStyleId>{5C22544A-7EE6-4342-B048-85BDC9FD1C3A}</a:tableStyleId>
              </a:tblPr>
              <a:tblGrid>
                <a:gridCol w="1027212"/>
                <a:gridCol w="2029916"/>
                <a:gridCol w="2309912"/>
                <a:gridCol w="2260600"/>
                <a:gridCol w="3338810"/>
              </a:tblGrid>
              <a:tr h="197088">
                <a:tc>
                  <a:txBody>
                    <a:bodyPr wrap="square"/>
                    <a:lstStyle/>
                    <a:p>
                      <a:r>
                        <a:rPr sz="800" b="1" i="0">
                          <a:solidFill>
                            <a:srgbClr val="F4F1EA"/>
                          </a:solidFill>
                          <a:latin typeface="Arial"/>
                          <a:ea typeface="Malgun Gothic"/>
                          <a:cs typeface="Malgun Gothic"/>
                        </a:rPr>
                        <a:t>채널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치명 IoU</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FastDEM만 (최대)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travplan만 (최대)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travplan이 더 보수적인 실행</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slope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0.9425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0.0110</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0.0213</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11/16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step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0.5321</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0.2244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0.0139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0/16</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rough</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0.6240 (n=11)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0.0527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0.0093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1/16</a:t>
                      </a:r>
                    </a:p>
                  </a:txBody>
                  <a:tcPr marL="63500" marR="63500" marT="12700" marB="12700">
                    <a:solidFill>
                      <a:srgbClr val="FFFDF8"/>
                    </a:solidFill>
                  </a:tcPr>
                </a:tc>
              </a:tr>
            </a:tbl>
          </a:graphicData>
        </a:graphic>
      </p:graphicFrame>
      <p:sp>
        <p:nvSpPr>
          <p:cNvPr id="8" name="TextBox 7"/>
          <p:cNvSpPr txBox="1"/>
          <p:nvPr/>
        </p:nvSpPr>
        <p:spPr>
          <a:xfrm>
            <a:off x="609600" y="2936081"/>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비용 수준에서는 FastDEM이 16/16 더 보수적이지만, 채널 수준에서는 균일하지 않다</a:t>
            </a:r>
            <a:r>
              <a:rPr sz="1050" b="0" i="0">
                <a:solidFill>
                  <a:srgbClr val="16213A"/>
                </a:solidFill>
                <a:latin typeface="Arial"/>
                <a:ea typeface="Malgun Gothic"/>
                <a:cs typeface="Malgun Gothic"/>
              </a:rPr>
              <a:t> — </a:t>
            </a:r>
            <a:r>
              <a:rPr sz="1050" b="1" i="0">
                <a:solidFill>
                  <a:srgbClr val="16213A"/>
                </a:solidFill>
                <a:latin typeface="Arial"/>
                <a:ea typeface="Malgun Gothic"/>
                <a:cs typeface="Malgun Gothic"/>
              </a:rPr>
              <a:t>slope에서는 travplan이 11/16으로 더 보수적</a:t>
            </a:r>
            <a:r>
              <a:rPr sz="1050" b="0" i="0">
                <a:solidFill>
                  <a:srgbClr val="16213A"/>
                </a:solidFill>
                <a:latin typeface="Arial"/>
                <a:ea typeface="Malgun Gothic"/>
                <a:cs typeface="Malgun Gothic"/>
              </a:rPr>
              <a:t>이다. 최초 보고의 </a:t>
            </a:r>
            <a:r>
              <a:rPr sz="1050" b="0" i="1">
                <a:solidFill>
                  <a:srgbClr val="16213A"/>
                </a:solidFill>
                <a:latin typeface="Arial"/>
                <a:ea typeface="Malgun Gothic"/>
                <a:cs typeface="Malgun Gothic"/>
              </a:rPr>
              <a:t>"FastDEM이 일관되게 더 보수적"</a:t>
            </a:r>
            <a:r>
              <a:rPr sz="1050" b="0" i="0">
                <a:solidFill>
                  <a:srgbClr val="16213A"/>
                </a:solidFill>
                <a:latin typeface="Arial"/>
                <a:ea typeface="Malgun Gothic"/>
                <a:cs typeface="Malgun Gothic"/>
              </a:rPr>
              <a:t>은 비용 수준에서만 맞다. (</a:t>
            </a:r>
            <a:r>
              <a:rPr sz="1050" b="0" i="0">
                <a:solidFill>
                  <a:srgbClr val="16213A"/>
                </a:solidFill>
                <a:latin typeface="Consolas"/>
                <a:ea typeface="Malgun Gothic"/>
                <a:cs typeface="Malgun Gothic"/>
              </a:rPr>
              <a:t>rough</a:t>
            </a:r>
            <a:r>
              <a:rPr sz="1050" b="0" i="0">
                <a:solidFill>
                  <a:srgbClr val="16213A"/>
                </a:solidFill>
                <a:latin typeface="Arial"/>
                <a:ea typeface="Malgun Gothic"/>
                <a:cs typeface="Malgun Gothic"/>
              </a:rPr>
              <a:t>의 n=11은 양쪽 다 아무것도 치명으로 안 잡은 실행이 있어 IoU가 정의되지 않기 때문이다.)</a:t>
            </a:r>
          </a:p>
        </p:txBody>
      </p:sp>
      <p:sp>
        <p:nvSpPr>
          <p:cNvPr id="9" name="TextBox 8"/>
          <p:cNvSpPr txBox="1"/>
          <p:nvPr/>
        </p:nvSpPr>
        <p:spPr>
          <a:xfrm>
            <a:off x="609600" y="345797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아직 남은 교란: 분석 지지(support)가 다르다.</a:t>
            </a:r>
            <a:r>
              <a:rPr sz="1050" b="0" i="0">
                <a:solidFill>
                  <a:srgbClr val="16213A"/>
                </a:solidFill>
                <a:latin typeface="Arial"/>
                <a:ea typeface="Malgun Gothic"/>
                <a:cs typeface="Malgun Gothic"/>
              </a:rPr>
              <a:t> FastDEM은 세 특징 </a:t>
            </a:r>
            <a:r>
              <a:rPr sz="1050" b="1" i="0">
                <a:solidFill>
                  <a:srgbClr val="16213A"/>
                </a:solidFill>
                <a:latin typeface="Arial"/>
                <a:ea typeface="Malgun Gothic"/>
                <a:cs typeface="Malgun Gothic"/>
              </a:rPr>
              <a:t>모두</a:t>
            </a:r>
            <a:r>
              <a:rPr sz="1050" b="0" i="0">
                <a:solidFill>
                  <a:srgbClr val="16213A"/>
                </a:solidFill>
                <a:latin typeface="Arial"/>
                <a:ea typeface="Malgun Gothic"/>
                <a:cs typeface="Malgun Gothic"/>
              </a:rPr>
              <a:t> 반경 0.3 m 원반 하나를 쓰는데, travplan은 slope 0.35 m · step 0.35 m · rough 0.25 m로 다르다. </a:t>
            </a:r>
            <a:r>
              <a:rPr sz="1050" b="0" i="0">
                <a:solidFill>
                  <a:srgbClr val="16213A"/>
                </a:solidFill>
                <a:latin typeface="Consolas"/>
                <a:ea typeface="Malgun Gothic"/>
                <a:cs typeface="Malgun Gothic"/>
              </a:rPr>
              <a:t>step_m_vs_rng</a:t>
            </a:r>
            <a:r>
              <a:rPr sz="1050" b="0" i="0">
                <a:solidFill>
                  <a:srgbClr val="16213A"/>
                </a:solidFill>
                <a:latin typeface="Arial"/>
                <a:ea typeface="Malgun Gothic"/>
                <a:cs typeface="Malgun Gothic"/>
              </a:rPr>
              <a:t>는 </a:t>
            </a:r>
            <a:r>
              <a:rPr sz="1050" b="1" i="0">
                <a:solidFill>
                  <a:srgbClr val="16213A"/>
                </a:solidFill>
                <a:latin typeface="Arial"/>
                <a:ea typeface="Malgun Gothic"/>
                <a:cs typeface="Malgun Gothic"/>
              </a:rPr>
              <a:t>추세 항 교란을 제거하지만 지지 교란은 제거하지 못한다.</a:t>
            </a:r>
            <a:r>
              <a:rPr sz="1050" b="0" i="0">
                <a:solidFill>
                  <a:srgbClr val="16213A"/>
                </a:solidFill>
                <a:latin typeface="Arial"/>
                <a:ea typeface="Malgun Gothic"/>
                <a:cs typeface="Malgun Gothic"/>
              </a:rPr>
              <a:t> 정직하게 적어 둔다.</a:t>
            </a:r>
          </a:p>
        </p:txBody>
      </p:sp>
      <p:sp>
        <p:nvSpPr>
          <p:cNvPr id="10" name="TextBox 9"/>
          <p:cNvSpPr txBox="1"/>
          <p:nvPr/>
        </p:nvSpPr>
        <p:spPr>
          <a:xfrm>
            <a:off x="609600" y="397986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그리고 우리 코드에 대해 하나 알게 됐다 — </a:t>
            </a:r>
            <a:r>
              <a:rPr sz="1050" b="1" i="0">
                <a:solidFill>
                  <a:srgbClr val="C2410C"/>
                </a:solidFill>
                <a:latin typeface="Arial"/>
                <a:ea typeface="Malgun Gothic"/>
                <a:cs typeface="Malgun Gothic"/>
              </a:rPr>
              <a:t>travplan의 step 창은 0.30 m가 아니라 실제로 0.35 m다.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FeatureConfig.step_window_m = 0.30</a:t>
            </a:r>
            <a:r>
              <a:rPr sz="1050" b="0" i="0">
                <a:solidFill>
                  <a:srgbClr val="16213A"/>
                </a:solidFill>
                <a:latin typeface="Arial"/>
                <a:ea typeface="Malgun Gothic"/>
                <a:cs typeface="Malgun Gothic"/>
              </a:rPr>
              <a:t>이지만 </a:t>
            </a:r>
            <a:r>
              <a:rPr sz="1050" b="0" i="0">
                <a:solidFill>
                  <a:srgbClr val="16213A"/>
                </a:solidFill>
                <a:latin typeface="Consolas"/>
                <a:ea typeface="Malgun Gothic"/>
                <a:cs typeface="Malgun Gothic"/>
              </a:rPr>
              <a:t>_odd(round(0.30/0.05)) = _odd(6) = 7</a:t>
            </a:r>
            <a:r>
              <a:rPr sz="1050" b="0" i="0">
                <a:solidFill>
                  <a:srgbClr val="16213A"/>
                </a:solidFill>
                <a:latin typeface="Arial"/>
                <a:ea typeface="Malgun Gothic"/>
                <a:cs typeface="Malgun Gothic"/>
              </a:rPr>
              <a:t>셀이 된다.</a:t>
            </a:r>
          </a:p>
        </p:txBody>
      </p:sp>
      <p:sp>
        <p:nvSpPr>
          <p:cNvPr id="11" name="TextBox 10"/>
          <p:cNvSpPr txBox="1"/>
          <p:nvPr/>
        </p:nvSpPr>
        <p:spPr>
          <a:xfrm>
            <a:off x="609600" y="450175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 </a:t>
            </a:r>
            <a:r>
              <a:rPr sz="1050" b="0" i="0">
                <a:solidFill>
                  <a:srgbClr val="16213A"/>
                </a:solidFill>
                <a:latin typeface="Consolas"/>
                <a:ea typeface="Malgun Gothic"/>
                <a:cs typeface="Malgun Gothic"/>
              </a:rPr>
              <a:t>results/p2-fastdem-layers.tsv</a:t>
            </a:r>
            <a:r>
              <a:rPr sz="1050" b="0" i="0">
                <a:solidFill>
                  <a:srgbClr val="16213A"/>
                </a:solidFill>
                <a:latin typeface="Arial"/>
                <a:ea typeface="Malgun Gothic"/>
                <a:cs typeface="Malgun Gothic"/>
              </a:rPr>
              <a:t>(291행).</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A.13.4 TP-0088 — elevation_mapping_cupy_core 이전은 NO-GO, 가드만 가져온다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82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a:t>
            </a:r>
            <a:r>
              <a:rPr sz="1050" b="0" i="0">
                <a:solidFill>
                  <a:srgbClr val="16213A"/>
                </a:solidFill>
                <a:latin typeface="Arial"/>
                <a:ea typeface="Malgun Gothic"/>
                <a:cs typeface="Malgun Gothic"/>
              </a:rPr>
              <a:t> 벤더링한 ROS 워크스페이스 트리를 걷어내고, </a:t>
            </a:r>
            <a:r>
              <a:rPr sz="1050" b="1" i="0">
                <a:solidFill>
                  <a:srgbClr val="C2410C"/>
                </a:solidFill>
                <a:latin typeface="Arial"/>
                <a:ea typeface="Malgun Gothic"/>
                <a:cs typeface="Malgun Gothic"/>
              </a:rPr>
              <a:t>무조건 돌아가고 출력은 버려지는 학습 traversability 필터를 </a:t>
            </a:r>
            <a:r>
              <a:rPr sz="1050" b="1" i="0">
                <a:solidFill>
                  <a:srgbClr val="C2410C"/>
                </a:solidFill>
                <a:latin typeface="Arial"/>
                <a:ea typeface="Malgun Gothic"/>
                <a:cs typeface="Malgun Gothic"/>
              </a:rPr>
              <a:t>끌 수 있게</a:t>
            </a:r>
            <a:r>
              <a:rPr sz="1050" b="0" i="0">
                <a:solidFill>
                  <a:srgbClr val="16213A"/>
                </a:solidFill>
                <a:latin typeface="Arial"/>
                <a:ea typeface="Malgun Gothic"/>
                <a:cs typeface="Malgun Gothic"/>
              </a:rPr>
              <a:t> 하려는 것이었다(A.2b.1, A.7.2).</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a:t>
            </a:r>
            <a:r>
              <a:rPr sz="1050" b="0" i="0">
                <a:solidFill>
                  <a:srgbClr val="16213A"/>
                </a:solidFill>
                <a:latin typeface="Arial"/>
                <a:ea typeface="Malgun Gothic"/>
                <a:cs typeface="Malgun Gothic"/>
              </a:rPr>
              <a:t> 스크래치 venv(</a:t>
            </a:r>
            <a:r>
              <a:rPr sz="1050" b="0" i="0">
                <a:solidFill>
                  <a:srgbClr val="16213A"/>
                </a:solidFill>
                <a:latin typeface="Consolas"/>
                <a:ea typeface="Malgun Gothic"/>
                <a:cs typeface="Malgun Gothic"/>
              </a:rPr>
              <a:t>/tmp/venv-emapcore</a:t>
            </a:r>
            <a:r>
              <a:rPr sz="1050" b="0" i="0">
                <a:solidFill>
                  <a:srgbClr val="16213A"/>
                </a:solidFill>
                <a:latin typeface="Arial"/>
                <a:ea typeface="Malgun Gothic"/>
                <a:cs typeface="Malgun Gothic"/>
              </a:rPr>
              <a:t>)에 git 설치하고 GPU에서 돌려 벤더링 트리와 나란히 비교했다. </a:t>
            </a:r>
            <a:r>
              <a:rPr sz="1050" b="0" i="0">
                <a:solidFill>
                  <a:srgbClr val="16213A"/>
                </a:solidFill>
                <a:latin typeface="Consolas"/>
                <a:ea typeface="Malgun Gothic"/>
                <a:cs typeface="Malgun Gothic"/>
              </a:rPr>
              <a:t>.venv-emap</a:t>
            </a:r>
            <a:r>
              <a:rPr sz="1050" b="0" i="0">
                <a:solidFill>
                  <a:srgbClr val="16213A"/>
                </a:solidFill>
                <a:latin typeface="Arial"/>
                <a:ea typeface="Malgun Gothic"/>
                <a:cs typeface="Malgun Gothic"/>
              </a:rPr>
              <a:t>은 L1이 의존하므로 건드리지 않았다.</a:t>
            </a:r>
          </a:p>
        </p:txBody>
      </p:sp>
      <p:sp>
        <p:nvSpPr>
          <p:cNvPr id="7" name="TextBox 6"/>
          <p:cNvSpPr txBox="1"/>
          <p:nvPr/>
        </p:nvSpPr>
        <p:spPr>
          <a:xfrm>
            <a:off x="609600" y="18553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API는 정확히 맞는다.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ElevationMap(Parameter)</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move_to</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input_pointcloud</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update_variance</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get_elevation</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get_variance</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get_upper_bound</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get_is_upper_bound</a:t>
            </a:r>
            <a:r>
              <a:rPr sz="1050" b="0" i="0">
                <a:solidFill>
                  <a:srgbClr val="16213A"/>
                </a:solidFill>
                <a:latin typeface="Arial"/>
                <a:ea typeface="Malgun Gothic"/>
                <a:cs typeface="Malgun Gothic"/>
              </a:rPr>
              <a:t> 전부 같은 시그니처다. 설치도 된다.</a:t>
            </a:r>
          </a:p>
        </p:txBody>
      </p:sp>
      <p:sp>
        <p:nvSpPr>
          <p:cNvPr id="8" name="TextBox 7"/>
          <p:cNvSpPr txBox="1"/>
          <p:nvPr/>
        </p:nvSpPr>
        <p:spPr>
          <a:xfrm>
            <a:off x="609600" y="23772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그런데 그대로는 안 돈다.</a:t>
            </a:r>
          </a:p>
        </p:txBody>
      </p:sp>
      <p:sp>
        <p:nvSpPr>
          <p:cNvPr id="9" name="TextBox 8"/>
          <p:cNvSpPr txBox="1"/>
          <p:nvPr/>
        </p:nvSpPr>
        <p:spPr>
          <a:xfrm>
            <a:off x="609600" y="2682677"/>
            <a:ext cx="10972800" cy="13497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C2410C"/>
                </a:solidFill>
                <a:latin typeface="Arial"/>
                <a:ea typeface="Malgun Gothic"/>
                <a:cs typeface="Malgun Gothic"/>
              </a:rPr>
              <a:t>float16 패치를 다시 대야 한다.</a:t>
            </a:r>
            <a:r>
              <a:rPr sz="1050" b="0" i="0">
                <a:solidFill>
                  <a:srgbClr val="16213A"/>
                </a:solidFill>
                <a:latin typeface="Arial"/>
                <a:ea typeface="Malgun Gothic"/>
                <a:cs typeface="Malgun Gothic"/>
              </a:rPr>
              <a:t> core </a:t>
            </a:r>
            <a:r>
              <a:rPr sz="1050" b="0" i="0">
                <a:solidFill>
                  <a:srgbClr val="16213A"/>
                </a:solidFill>
                <a:latin typeface="Consolas"/>
                <a:ea typeface="Malgun Gothic"/>
                <a:cs typeface="Malgun Gothic"/>
              </a:rPr>
              <a:t>kernels/custom_kernels.py</a:t>
            </a:r>
            <a:r>
              <a:rPr sz="1050" b="0" i="0">
                <a:solidFill>
                  <a:srgbClr val="16213A"/>
                </a:solidFill>
                <a:latin typeface="Arial"/>
                <a:ea typeface="Malgun Gothic"/>
                <a:cs typeface="Malgun Gothic"/>
              </a:rPr>
              <a:t>에 bare </a:t>
            </a:r>
            <a:r>
              <a:rPr sz="1050" b="0" i="0">
                <a:solidFill>
                  <a:srgbClr val="16213A"/>
                </a:solidFill>
                <a:latin typeface="Consolas"/>
                <a:ea typeface="Malgun Gothic"/>
                <a:cs typeface="Malgun Gothic"/>
              </a:rPr>
              <a:t>float16</a:t>
            </a:r>
            <a:r>
              <a:rPr sz="1050" b="0" i="0">
                <a:solidFill>
                  <a:srgbClr val="16213A"/>
                </a:solidFill>
                <a:latin typeface="Arial"/>
                <a:ea typeface="Malgun Gothic"/>
                <a:cs typeface="Malgun Gothic"/>
              </a:rPr>
              <a:t>이 72곳 남아 있고, 첫 </a:t>
            </a:r>
            <a:r>
              <a:rPr sz="1050" b="0" i="0">
                <a:solidFill>
                  <a:srgbClr val="16213A"/>
                </a:solidFill>
                <a:latin typeface="Consolas"/>
                <a:ea typeface="Malgun Gothic"/>
                <a:cs typeface="Malgun Gothic"/>
              </a:rPr>
              <a:t>input_pointcloud</a:t>
            </a:r>
            <a:r>
              <a:rPr sz="1050" b="0" i="0">
                <a:solidFill>
                  <a:srgbClr val="16213A"/>
                </a:solidFill>
                <a:latin typeface="Arial"/>
                <a:ea typeface="Malgun Gothic"/>
                <a:cs typeface="Malgun Gothic"/>
              </a:rPr>
              <a:t>에서 NVRTC가 </a:t>
            </a:r>
            <a:r>
              <a:rPr sz="1050" b="0" i="1">
                <a:solidFill>
                  <a:srgbClr val="16213A"/>
                </a:solidFill>
                <a:latin typeface="Arial"/>
                <a:ea typeface="Malgun Gothic"/>
                <a:cs typeface="Malgun Gothic"/>
              </a:rPr>
              <a:t>"function </a:t>
            </a:r>
            <a:r>
              <a:rPr sz="1050" b="0" i="1">
                <a:solidFill>
                  <a:srgbClr val="16213A"/>
                </a:solidFill>
                <a:latin typeface="Consolas"/>
                <a:ea typeface="Malgun Gothic"/>
                <a:cs typeface="Malgun Gothic"/>
              </a:rPr>
              <a:t>clamp</a:t>
            </a:r>
            <a:r>
              <a:rPr sz="1050" b="0" i="1">
                <a:solidFill>
                  <a:srgbClr val="16213A"/>
                </a:solidFill>
                <a:latin typeface="Arial"/>
                <a:ea typeface="Malgun Gothic"/>
                <a:cs typeface="Malgun Gothic"/>
              </a:rPr>
              <a:t> returns incomplete type </a:t>
            </a:r>
            <a:r>
              <a:rPr sz="1050" b="0" i="1">
                <a:solidFill>
                  <a:srgbClr val="16213A"/>
                </a:solidFill>
                <a:latin typeface="Consolas"/>
                <a:ea typeface="Malgun Gothic"/>
                <a:cs typeface="Malgun Gothic"/>
              </a:rPr>
              <a:t>float16</a:t>
            </a:r>
            <a:r>
              <a:rPr sz="1050" b="0" i="1">
                <a:solidFill>
                  <a:srgbClr val="16213A"/>
                </a:solidFill>
                <a:latin typeface="Arial"/>
                <a:ea typeface="Malgun Gothic"/>
                <a:cs typeface="Malgun Gothic"/>
              </a:rPr>
              <a:t>"</a:t>
            </a:r>
            <a:r>
              <a:rPr sz="1050" b="0" i="0">
                <a:solidFill>
                  <a:srgbClr val="16213A"/>
                </a:solidFill>
                <a:latin typeface="Arial"/>
                <a:ea typeface="Malgun Gothic"/>
                <a:cs typeface="Malgun Gothic"/>
              </a:rPr>
              <a:t>로 죽는다. </a:t>
            </a:r>
            <a:r>
              <a:rPr sz="1050" b="1" i="0">
                <a:solidFill>
                  <a:srgbClr val="16213A"/>
                </a:solidFill>
                <a:latin typeface="Arial"/>
                <a:ea typeface="Malgun Gothic"/>
                <a:cs typeface="Malgun Gothic"/>
              </a:rPr>
              <a:t>상류 PR 후보다.</a:t>
            </a:r>
          </a:p>
          <a:p>
            <a:pPr>
              <a:spcBef>
                <a:spcPts val="200"/>
              </a:spcBef>
            </a:pPr>
            <a:r>
              <a:rPr sz="1050" b="0" i="0">
                <a:solidFill>
                  <a:srgbClr val="5A6478"/>
                </a:solidFill>
                <a:latin typeface="Arial"/>
                <a:ea typeface="Malgun Gothic"/>
                <a:cs typeface="Malgun Gothic"/>
              </a:rPr>
              <a:t>2. </a:t>
            </a:r>
            <a:r>
              <a:rPr sz="1050" b="1" i="0">
                <a:solidFill>
                  <a:srgbClr val="C2410C"/>
                </a:solidFill>
                <a:latin typeface="Arial"/>
                <a:ea typeface="Malgun Gothic"/>
                <a:cs typeface="Malgun Gothic"/>
              </a:rPr>
              <a:t>격자 인덱스 관례가 전치돼 있다.</a:t>
            </a:r>
            <a:r>
              <a:rPr sz="1050" b="0" i="0">
                <a:solidFill>
                  <a:srgbClr val="16213A"/>
                </a:solidFill>
                <a:latin typeface="Arial"/>
                <a:ea typeface="Malgun Gothic"/>
                <a:cs typeface="Malgun Gothic"/>
              </a:rPr>
              <a:t> 벤더링본은 </a:t>
            </a:r>
            <a:r>
              <a:rPr sz="1050" b="0" i="0">
                <a:solidFill>
                  <a:srgbClr val="16213A"/>
                </a:solidFill>
                <a:latin typeface="Consolas"/>
                <a:ea typeface="Malgun Gothic"/>
                <a:cs typeface="Malgun Gothic"/>
              </a:rPr>
              <a:t>width*idx_y + idx_x</a:t>
            </a:r>
            <a:r>
              <a:rPr sz="1050" b="0" i="0">
                <a:solidFill>
                  <a:srgbClr val="16213A"/>
                </a:solidFill>
                <a:latin typeface="Arial"/>
                <a:ea typeface="Malgun Gothic"/>
                <a:cs typeface="Malgun Gothic"/>
              </a:rPr>
              <a:t>(row=Y, col=X — </a:t>
            </a:r>
            <a:r>
              <a:rPr sz="1050" b="0" i="0">
                <a:solidFill>
                  <a:srgbClr val="16213A"/>
                </a:solidFill>
                <a:latin typeface="Consolas"/>
                <a:ea typeface="Malgun Gothic"/>
                <a:cs typeface="Malgun Gothic"/>
              </a:rPr>
              <a:t>emap_mapper._paste</a:t>
            </a:r>
            <a:r>
              <a:rPr sz="1050" b="0" i="0">
                <a:solidFill>
                  <a:srgbClr val="16213A"/>
                </a:solidFill>
                <a:latin typeface="Arial"/>
                <a:ea typeface="Malgun Gothic"/>
                <a:cs typeface="Malgun Gothic"/>
              </a:rPr>
              <a:t>가 가정하는 것), core는 </a:t>
            </a:r>
            <a:r>
              <a:rPr sz="1050" b="0" i="0">
                <a:solidFill>
                  <a:srgbClr val="16213A"/>
                </a:solidFill>
                <a:latin typeface="Consolas"/>
                <a:ea typeface="Malgun Gothic"/>
                <a:cs typeface="Malgun Gothic"/>
              </a:rPr>
              <a:t>width*idx_x + idx_y</a:t>
            </a:r>
            <a:r>
              <a:rPr sz="1050" b="0" i="0">
                <a:solidFill>
                  <a:srgbClr val="16213A"/>
                </a:solidFill>
                <a:latin typeface="Arial"/>
                <a:ea typeface="Malgun Gothic"/>
                <a:cs typeface="Malgun Gothic"/>
              </a:rPr>
              <a:t>다. GPU에서 실측했다 — world (x=+1.0, y=0)의 표식이 벤더링본에서는 row 109–112/col 129–132, core에서는 row 128–130/col 108–112에 찍힌다.</a:t>
            </a:r>
          </a:p>
          <a:p>
            <a:pPr>
              <a:spcBef>
                <a:spcPts val="200"/>
              </a:spcBef>
            </a:pPr>
            <a:r>
              <a:rPr sz="1050" b="0" i="0">
                <a:solidFill>
                  <a:srgbClr val="5A6478"/>
                </a:solidFill>
                <a:latin typeface="Arial"/>
                <a:ea typeface="Malgun Gothic"/>
                <a:cs typeface="Malgun Gothic"/>
              </a:rPr>
              <a:t>3. </a:t>
            </a:r>
            <a:r>
              <a:rPr sz="1050" b="1" i="0">
                <a:solidFill>
                  <a:srgbClr val="C2410C"/>
                </a:solidFill>
                <a:latin typeface="Arial"/>
                <a:ea typeface="Malgun Gothic"/>
                <a:cs typeface="Malgun Gothic"/>
              </a:rPr>
              <a:t>같은 점군에서 유효 셀이 절반이다</a:t>
            </a:r>
            <a:r>
              <a:rPr sz="1050" b="0" i="0">
                <a:solidFill>
                  <a:srgbClr val="16213A"/>
                </a:solidFill>
                <a:latin typeface="Arial"/>
                <a:ea typeface="Malgun Gothic"/>
                <a:cs typeface="Malgun Gothic"/>
              </a:rPr>
              <a:t> — core 3615 (7.5 %) 대 벤더링본 7211 (14.9 %). 약 3600칸이 upper-bound-only로 넘어가고(</a:t>
            </a:r>
            <a:r>
              <a:rPr sz="1050" b="0" i="0">
                <a:solidFill>
                  <a:srgbClr val="16213A"/>
                </a:solidFill>
                <a:latin typeface="Consolas"/>
                <a:ea typeface="Malgun Gothic"/>
                <a:cs typeface="Malgun Gothic"/>
              </a:rPr>
              <a:t>is_upper&gt;0.5</a:t>
            </a:r>
            <a:r>
              <a:rPr sz="1050" b="0" i="0">
                <a:solidFill>
                  <a:srgbClr val="16213A"/>
                </a:solidFill>
                <a:latin typeface="Arial"/>
                <a:ea typeface="Malgun Gothic"/>
                <a:cs typeface="Malgun Gothic"/>
              </a:rPr>
              <a:t>: core 2703, 벤더링본 0), </a:t>
            </a:r>
            <a:r>
              <a:rPr sz="1050" b="0" i="0">
                <a:solidFill>
                  <a:srgbClr val="16213A"/>
                </a:solidFill>
                <a:latin typeface="Consolas"/>
                <a:ea typeface="Malgun Gothic"/>
                <a:cs typeface="Malgun Gothic"/>
              </a:rPr>
              <a:t>_paste</a:t>
            </a:r>
            <a:r>
              <a:rPr sz="1050" b="0" i="0">
                <a:solidFill>
                  <a:srgbClr val="16213A"/>
                </a:solidFill>
                <a:latin typeface="Arial"/>
                <a:ea typeface="Malgun Gothic"/>
                <a:cs typeface="Malgun Gothic"/>
              </a:rPr>
              <a:t>는 그런 칸을 NaN으로 두므로 </a:t>
            </a:r>
            <a:r>
              <a:rPr sz="1050" b="1" i="0">
                <a:solidFill>
                  <a:srgbClr val="16213A"/>
                </a:solidFill>
                <a:latin typeface="Arial"/>
                <a:ea typeface="Malgun Gothic"/>
                <a:cs typeface="Malgun Gothic"/>
              </a:rPr>
              <a:t>travplan은 관측 지형의 절반을 미관측으로 보게 된다.</a:t>
            </a:r>
          </a:p>
        </p:txBody>
      </p:sp>
      <p:sp>
        <p:nvSpPr>
          <p:cNvPr id="10" name="TextBox 9"/>
          <p:cNvSpPr txBox="1"/>
          <p:nvPr/>
        </p:nvSpPr>
        <p:spPr>
          <a:xfrm>
            <a:off x="609600" y="412134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판정: 드롭인 교체는 NO-GO.</a:t>
            </a:r>
            <a:r>
              <a:rPr sz="1050" b="0" i="0">
                <a:solidFill>
                  <a:srgbClr val="16213A"/>
                </a:solidFill>
                <a:latin typeface="Arial"/>
                <a:ea typeface="Malgun Gothic"/>
                <a:cs typeface="Malgun Gothic"/>
              </a:rPr>
              <a:t> ⚠️ 단, 비교 기준이 참값이 아니라 </a:t>
            </a:r>
            <a:r>
              <a:rPr sz="1050" b="1" i="0">
                <a:solidFill>
                  <a:srgbClr val="16213A"/>
                </a:solidFill>
                <a:latin typeface="Arial"/>
                <a:ea typeface="Malgun Gothic"/>
                <a:cs typeface="Malgun Gothic"/>
              </a:rPr>
              <a:t>travplan이 이미 다섯 군데 패치한 벤더링 트리</a:t>
            </a:r>
            <a:r>
              <a:rPr sz="1050" b="0" i="0">
                <a:solidFill>
                  <a:srgbClr val="16213A"/>
                </a:solidFill>
                <a:latin typeface="Arial"/>
                <a:ea typeface="Malgun Gothic"/>
                <a:cs typeface="Malgun Gothic"/>
              </a:rPr>
              <a:t>(float16·인덱싱·셀 중심 반올림·센서 상대 높이 게이트·법선 부호)라는 점은 적어 둔다. 전치는 관례 차이라 적응이 싸고, </a:t>
            </a:r>
            <a:r>
              <a:rPr sz="1050" b="1" i="0">
                <a:solidFill>
                  <a:srgbClr val="C2410C"/>
                </a:solidFill>
                <a:latin typeface="Arial"/>
                <a:ea typeface="Malgun Gothic"/>
                <a:cs typeface="Malgun Gothic"/>
              </a:rPr>
              <a:t>유효 셀 절반이 진짜 블로커이며 그 원인은 아직 미상이다</a:t>
            </a:r>
            <a:r>
              <a:rPr sz="1050" b="0" i="0">
                <a:solidFill>
                  <a:srgbClr val="16213A"/>
                </a:solidFill>
                <a:latin typeface="Arial"/>
                <a:ea typeface="Malgun Gothic"/>
                <a:cs typeface="Malgun Gothic"/>
              </a:rPr>
              <a:t> — 최초 보고는 "지도 중심 기준 높이 게이트" 탓으로 돌렸지만 이 프로브는 센서 XY와 지도 중심 XY가 같아서 그 게이트로는 설명되지 않는다.</a:t>
            </a:r>
          </a:p>
        </p:txBody>
      </p:sp>
      <p:sp>
        <p:nvSpPr>
          <p:cNvPr id="11" name="TextBox 10"/>
          <p:cNvSpPr txBox="1"/>
          <p:nvPr/>
        </p:nvSpPr>
        <p:spPr>
          <a:xfrm>
            <a:off x="609600" y="485973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대신 가져올 것(TP-0097).</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선택적 필터 가드는 양방향으로 실증됐다.</a:t>
            </a:r>
            <a:r>
              <a:rPr sz="1050" b="0" i="0">
                <a:solidFill>
                  <a:srgbClr val="16213A"/>
                </a:solidFill>
                <a:latin typeface="Arial"/>
                <a:ea typeface="Malgun Gothic"/>
                <a:cs typeface="Malgun Gothic"/>
              </a:rPr>
              <a:t> core는 </a:t>
            </a:r>
            <a:r>
              <a:rPr sz="1050" b="0" i="0">
                <a:solidFill>
                  <a:srgbClr val="16213A"/>
                </a:solidFill>
                <a:latin typeface="Consolas"/>
                <a:ea typeface="Malgun Gothic"/>
                <a:cs typeface="Malgun Gothic"/>
              </a:rPr>
              <a:t>weight_file=""</a:t>
            </a:r>
            <a:r>
              <a:rPr sz="1050" b="0" i="0">
                <a:solidFill>
                  <a:srgbClr val="16213A"/>
                </a:solidFill>
                <a:latin typeface="Arial"/>
                <a:ea typeface="Malgun Gothic"/>
                <a:cs typeface="Malgun Gothic"/>
              </a:rPr>
              <a:t>이면 </a:t>
            </a:r>
            <a:r>
              <a:rPr sz="1050" b="0" i="0">
                <a:solidFill>
                  <a:srgbClr val="16213A"/>
                </a:solidFill>
                <a:latin typeface="Consolas"/>
                <a:ea typeface="Malgun Gothic"/>
                <a:cs typeface="Malgun Gothic"/>
              </a:rPr>
              <a:t>traversability_filter</a:t>
            </a:r>
            <a:r>
              <a:rPr sz="1050" b="0" i="0">
                <a:solidFill>
                  <a:srgbClr val="16213A"/>
                </a:solidFill>
                <a:latin typeface="Arial"/>
                <a:ea typeface="Malgun Gothic"/>
                <a:cs typeface="Malgun Gothic"/>
              </a:rPr>
              <a:t>가 </a:t>
            </a:r>
            <a:r>
              <a:rPr sz="1050" b="0" i="0">
                <a:solidFill>
                  <a:srgbClr val="16213A"/>
                </a:solidFill>
                <a:latin typeface="Consolas"/>
                <a:ea typeface="Malgun Gothic"/>
                <a:cs typeface="Malgun Gothic"/>
              </a:rPr>
              <a:t>None</a:t>
            </a:r>
            <a:r>
              <a:rPr sz="1050" b="0" i="0">
                <a:solidFill>
                  <a:srgbClr val="16213A"/>
                </a:solidFill>
                <a:latin typeface="Arial"/>
                <a:ea typeface="Malgun Gothic"/>
                <a:cs typeface="Malgun Gothic"/>
              </a:rPr>
              <a:t>이고 </a:t>
            </a:r>
            <a:r>
              <a:rPr sz="1050" b="1" i="0">
                <a:solidFill>
                  <a:srgbClr val="16213A"/>
                </a:solidFill>
                <a:latin typeface="Arial"/>
                <a:ea typeface="Malgun Gothic"/>
                <a:cs typeface="Malgun Gothic"/>
              </a:rPr>
              <a:t>torch를 import조차 하지 않는다</a:t>
            </a:r>
            <a:r>
              <a:rPr sz="1050" b="0" i="0">
                <a:solidFill>
                  <a:srgbClr val="16213A"/>
                </a:solidFill>
                <a:latin typeface="Arial"/>
                <a:ea typeface="Malgun Gothic"/>
                <a:cs typeface="Malgun Gothic"/>
              </a:rPr>
              <a:t>. 벤더링본은 CUDA torch 없이는 </a:t>
            </a:r>
            <a:r>
              <a:rPr sz="1050" b="1" i="0">
                <a:solidFill>
                  <a:srgbClr val="16213A"/>
                </a:solidFill>
                <a:latin typeface="Arial"/>
                <a:ea typeface="Malgun Gothic"/>
                <a:cs typeface="Malgun Gothic"/>
              </a:rPr>
              <a:t>생성조차 안 된다</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ModuleNotFoundError</a:t>
            </a:r>
            <a:r>
              <a:rPr sz="1050" b="0" i="0">
                <a:solidFill>
                  <a:srgbClr val="16213A"/>
                </a:solidFill>
                <a:latin typeface="Arial"/>
                <a:ea typeface="Malgun Gothic"/>
                <a:cs typeface="Malgun Gothic"/>
              </a:rPr>
              <a:t> at </a:t>
            </a:r>
            <a:r>
              <a:rPr sz="1050" b="0" i="0">
                <a:solidFill>
                  <a:srgbClr val="16213A"/>
                </a:solidFill>
                <a:latin typeface="Consolas"/>
                <a:ea typeface="Malgun Gothic"/>
                <a:cs typeface="Malgun Gothic"/>
              </a:rPr>
              <a:t>elevation_mapping.py:147</a:t>
            </a:r>
            <a:r>
              <a:rPr sz="1050" b="0" i="0">
                <a:solidFill>
                  <a:srgbClr val="16213A"/>
                </a:solidFill>
                <a:latin typeface="Arial"/>
                <a:ea typeface="Malgun Gothic"/>
                <a:cs typeface="Malgun Gothic"/>
              </a:rPr>
              <a:t>). ⚠️ 최초 보고의 </a:t>
            </a:r>
            <a:r>
              <a:rPr sz="1050" b="0" i="1">
                <a:solidFill>
                  <a:srgbClr val="16213A"/>
                </a:solidFill>
                <a:latin typeface="Arial"/>
                <a:ea typeface="Malgun Gothic"/>
                <a:cs typeface="Malgun Gothic"/>
              </a:rPr>
              <a:t>"필터를 끄면 0.139 ms(18.8 %) 절감"</a:t>
            </a:r>
            <a:r>
              <a:rPr sz="1050" b="0" i="0">
                <a:solidFill>
                  <a:srgbClr val="16213A"/>
                </a:solidFill>
                <a:latin typeface="Arial"/>
                <a:ea typeface="Malgun Gothic"/>
                <a:cs typeface="Malgun Gothic"/>
              </a:rPr>
              <a:t>은 </a:t>
            </a:r>
            <a:r>
              <a:rPr sz="1050" b="1" i="0">
                <a:solidFill>
                  <a:srgbClr val="16213A"/>
                </a:solidFill>
                <a:latin typeface="Arial"/>
                <a:ea typeface="Malgun Gothic"/>
                <a:cs typeface="Malgun Gothic"/>
              </a:rPr>
              <a:t>재현되지 않는다</a:t>
            </a:r>
            <a:r>
              <a:rPr sz="1050" b="0" i="0">
                <a:solidFill>
                  <a:srgbClr val="16213A"/>
                </a:solidFill>
                <a:latin typeface="Arial"/>
                <a:ea typeface="Malgun Gothic"/>
                <a:cs typeface="Malgun Gothic"/>
              </a:rPr>
              <a:t> — 5회 재실행에서 0.061–0.090 ms(9–12.5 %)이고 </a:t>
            </a:r>
            <a:r>
              <a:rPr sz="1050" b="1" i="0">
                <a:solidFill>
                  <a:srgbClr val="C2410C"/>
                </a:solidFill>
                <a:latin typeface="Arial"/>
                <a:ea typeface="Malgun Gothic"/>
                <a:cs typeface="Malgun Gothic"/>
              </a:rPr>
              <a:t>ON 측정 자체의 런간 흔들림(0.655–0.752 ms)이 주장한 절감보다 크다.</a:t>
            </a:r>
            <a:r>
              <a:rPr sz="1050" b="0" i="0">
                <a:solidFill>
                  <a:srgbClr val="16213A"/>
                </a:solidFill>
                <a:latin typeface="Arial"/>
                <a:ea typeface="Malgun Gothic"/>
                <a:cs typeface="Malgun Gothic"/>
              </a:rPr>
              <a:t> 그러니 backport의 근거는 시간이 아니라 </a:t>
            </a:r>
            <a:r>
              <a:rPr sz="1050" b="1" i="0">
                <a:solidFill>
                  <a:srgbClr val="16213A"/>
                </a:solidFill>
                <a:latin typeface="Arial"/>
                <a:ea typeface="Malgun Gothic"/>
                <a:cs typeface="Malgun Gothic"/>
              </a:rPr>
              <a:t>CUDA-torch 의존을 떼는 것</a:t>
            </a:r>
            <a:r>
              <a:rPr sz="1050" b="0" i="0">
                <a:solidFill>
                  <a:srgbClr val="16213A"/>
                </a:solidFill>
                <a:latin typeface="Arial"/>
                <a:ea typeface="Malgun Gothic"/>
                <a:cs typeface="Malgun Gothic"/>
              </a:rPr>
              <a:t>이다.</a:t>
            </a:r>
          </a:p>
        </p:txBody>
      </p:sp>
      <p:sp>
        <p:nvSpPr>
          <p:cNvPr id="12" name="TextBox 11"/>
          <p:cNvSpPr txBox="1"/>
          <p:nvPr/>
        </p:nvSpPr>
        <p:spPr>
          <a:xfrm>
            <a:off x="609600" y="559812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수치와 정정 5건: </a:t>
            </a:r>
            <a:r>
              <a:rPr sz="1050" b="0" i="0">
                <a:solidFill>
                  <a:srgbClr val="16213A"/>
                </a:solidFill>
                <a:latin typeface="Consolas"/>
                <a:ea typeface="Malgun Gothic"/>
                <a:cs typeface="Malgun Gothic"/>
              </a:rPr>
              <a:t>results/p2-emap-core-migration.tsv</a:t>
            </a:r>
            <a:r>
              <a:rPr sz="1050" b="0" i="0">
                <a:solidFill>
                  <a:srgbClr val="16213A"/>
                </a:solidFill>
                <a:latin typeface="Arial"/>
                <a:ea typeface="Malgun Gothic"/>
                <a:cs typeface="Malgun Gothic"/>
              </a:rPr>
              <a: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A.13.5 TP-0082 — 학습 필터를 기준선으로 세우려다 평가 기반의 순환을 찾았다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83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결론 먼저.</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elevation_mapping_cupy가 싣고 다니는 "학습 traversability 필터"는 traversability 모델이 아니라 </a:t>
            </a:r>
            <a:r>
              <a:rPr sz="1050" b="1" i="0">
                <a:solidFill>
                  <a:srgbClr val="C2410C"/>
                </a:solidFill>
                <a:latin typeface="Arial"/>
                <a:ea typeface="Malgun Gothic"/>
                <a:cs typeface="Malgun Gothic"/>
              </a:rPr>
              <a:t>다리 달린 로봇의 발디딤 점수(foothold score)</a:t>
            </a:r>
            <a:r>
              <a:rPr sz="1050" b="1" i="0">
                <a:solidFill>
                  <a:srgbClr val="C2410C"/>
                </a:solidFill>
                <a:latin typeface="Arial"/>
                <a:ea typeface="Malgun Gothic"/>
                <a:cs typeface="Malgun Gothic"/>
              </a:rPr>
              <a:t> 망이다.</a:t>
            </a:r>
            <a:r>
              <a:rPr sz="1050" b="0" i="0">
                <a:solidFill>
                  <a:srgbClr val="16213A"/>
                </a:solidFill>
                <a:latin typeface="Arial"/>
                <a:ea typeface="Malgun Gothic"/>
                <a:cs typeface="Malgun Gothic"/>
              </a:rPr>
              <a:t> 그리고 그것을 기하 추정기와 맞대려다 </a:t>
            </a:r>
            <a:r>
              <a:rPr sz="1050" b="1" i="0">
                <a:solidFill>
                  <a:srgbClr val="C2410C"/>
                </a:solidFill>
                <a:latin typeface="Arial"/>
                <a:ea typeface="Malgun Gothic"/>
                <a:cs typeface="Malgun Gothic"/>
              </a:rPr>
              <a:t>이 저장소의 정답(GT)이 기하 추정기 자신이라는 것</a:t>
            </a:r>
            <a:r>
              <a:rPr sz="1050" b="0" i="0">
                <a:solidFill>
                  <a:srgbClr val="16213A"/>
                </a:solidFill>
                <a:latin typeface="Arial"/>
                <a:ea typeface="Malgun Gothic"/>
                <a:cs typeface="Malgun Gothic"/>
              </a:rPr>
              <a:t>을 발견했다. 그래서 먼저 </a:t>
            </a:r>
            <a:r>
              <a:rPr sz="1050" b="1" i="0">
                <a:solidFill>
                  <a:srgbClr val="16213A"/>
                </a:solidFill>
                <a:latin typeface="Arial"/>
                <a:ea typeface="Malgun Gothic"/>
                <a:cs typeface="Malgun Gothic"/>
              </a:rPr>
              <a:t>추정기와 독립인 기준</a:t>
            </a:r>
            <a:r>
              <a:rPr sz="1050" b="0" i="0">
                <a:solidFill>
                  <a:srgbClr val="16213A"/>
                </a:solidFill>
                <a:latin typeface="Arial"/>
                <a:ea typeface="Malgun Gothic"/>
                <a:cs typeface="Malgun Gothic"/>
              </a:rPr>
              <a:t>을 만들고, 그 위에서 셋을 비교했다.</a:t>
            </a:r>
          </a:p>
        </p:txBody>
      </p:sp>
      <p:sp>
        <p:nvSpPr>
          <p:cNvPr id="6" name="TextBox 5"/>
          <p:cNvSpPr txBox="1"/>
          <p:nvPr/>
        </p:nvSpPr>
        <p:spPr>
          <a:xfrm>
            <a:off x="717550" y="176649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필터의 정체 — 가중치 120개를 뜯어서</a:t>
            </a:r>
          </a:p>
        </p:txBody>
      </p:sp>
      <p:sp>
        <p:nvSpPr>
          <p:cNvPr id="7" name="TextBox 6"/>
          <p:cNvSpPr txBox="1"/>
          <p:nvPr/>
        </p:nvSpPr>
        <p:spPr>
          <a:xfrm>
            <a:off x="609600" y="2069703"/>
            <a:ext cx="10972800" cy="432991"/>
          </a:xfrm>
          <a:prstGeom prst="rect">
            <a:avLst/>
          </a:prstGeom>
          <a:noFill/>
        </p:spPr>
        <p:txBody>
          <a:bodyPr wrap="square" lIns="0" rIns="0" tIns="0" bIns="0" anchor="t">
            <a:spAutoFit/>
            <a:normAutofit/>
          </a:bodyPr>
          <a:lstStyle/>
          <a:p>
            <a:r>
              <a:rPr sz="1050" b="0" i="0">
                <a:solidFill>
                  <a:srgbClr val="16213A"/>
                </a:solidFill>
                <a:latin typeface="Consolas"/>
                <a:ea typeface="Malgun Gothic"/>
                <a:cs typeface="Malgun Gothic"/>
              </a:rPr>
              <a:t>config/core/weights.dat</a:t>
            </a:r>
            <a:r>
              <a:rPr sz="1050" b="0" i="0">
                <a:solidFill>
                  <a:srgbClr val="16213A"/>
                </a:solidFill>
                <a:latin typeface="Arial"/>
                <a:ea typeface="Malgun Gothic"/>
                <a:cs typeface="Malgun Gothic"/>
              </a:rPr>
              <a:t>는 1138바이트 pickle이고 학습된 스칼라가 </a:t>
            </a:r>
            <a:r>
              <a:rPr sz="1050" b="1" i="0">
                <a:solidFill>
                  <a:srgbClr val="16213A"/>
                </a:solidFill>
                <a:latin typeface="Arial"/>
                <a:ea typeface="Malgun Gothic"/>
                <a:cs typeface="Malgun Gothic"/>
              </a:rPr>
              <a:t>120개</a:t>
            </a:r>
            <a:r>
              <a:rPr sz="1050" b="0" i="0">
                <a:solidFill>
                  <a:srgbClr val="16213A"/>
                </a:solidFill>
                <a:latin typeface="Arial"/>
                <a:ea typeface="Malgun Gothic"/>
                <a:cs typeface="Malgun Gothic"/>
              </a:rPr>
              <a:t>다. 3×3 conv 셋(dilation 1·2·3)을 </a:t>
            </a:r>
            <a:r>
              <a:rPr sz="1050" b="1" i="0">
                <a:solidFill>
                  <a:srgbClr val="16213A"/>
                </a:solidFill>
                <a:latin typeface="Arial"/>
                <a:ea typeface="Malgun Gothic"/>
                <a:cs typeface="Malgun Gothic"/>
              </a:rPr>
              <a:t>병렬로</a:t>
            </a:r>
            <a:r>
              <a:rPr sz="1050" b="0" i="0">
                <a:solidFill>
                  <a:srgbClr val="16213A"/>
                </a:solidFill>
                <a:latin typeface="Arial"/>
                <a:ea typeface="Malgun Gothic"/>
                <a:cs typeface="Malgun Gothic"/>
              </a:rPr>
              <a:t> 태우고, 12채널을 이어 붙여 절댓값을 취한 뒤 1×1로 모으고 </a:t>
            </a:r>
            <a:r>
              <a:rPr sz="1050" b="0" i="0">
                <a:solidFill>
                  <a:srgbClr val="16213A"/>
                </a:solidFill>
                <a:latin typeface="Consolas"/>
                <a:ea typeface="Malgun Gothic"/>
                <a:cs typeface="Malgun Gothic"/>
              </a:rPr>
              <a:t>exp(-·)</a:t>
            </a:r>
            <a:r>
              <a:rPr sz="1050" b="0" i="0">
                <a:solidFill>
                  <a:srgbClr val="16213A"/>
                </a:solidFill>
                <a:latin typeface="Arial"/>
                <a:ea typeface="Malgun Gothic"/>
                <a:cs typeface="Malgun Gothic"/>
              </a:rPr>
              <a:t>를 씌운다. 출력은 (0, 1]이고 </a:t>
            </a:r>
            <a:r>
              <a:rPr sz="1050" b="1" i="0">
                <a:solidFill>
                  <a:srgbClr val="C2410C"/>
                </a:solidFill>
                <a:latin typeface="Arial"/>
                <a:ea typeface="Malgun Gothic"/>
                <a:cs typeface="Malgun Gothic"/>
              </a:rPr>
              <a:t>1이 주행 가능</a:t>
            </a:r>
            <a:r>
              <a:rPr sz="1050" b="0" i="0">
                <a:solidFill>
                  <a:srgbClr val="16213A"/>
                </a:solidFill>
                <a:latin typeface="Arial"/>
                <a:ea typeface="Malgun Gothic"/>
                <a:cs typeface="Malgun Gothic"/>
              </a:rPr>
              <a:t>이라 travplan의 cost와 부호가 반대다.</a:t>
            </a:r>
          </a:p>
        </p:txBody>
      </p:sp>
      <p:sp>
        <p:nvSpPr>
          <p:cNvPr id="8" name="TextBox 7"/>
          <p:cNvSpPr txBox="1"/>
          <p:nvPr/>
        </p:nvSpPr>
        <p:spPr>
          <a:xfrm>
            <a:off x="609600" y="2591594"/>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출처는 emap 논문이 아니다. IROS 2022 논문은 </a:t>
            </a:r>
            <a:r>
              <a:rPr sz="1050" b="0" i="1">
                <a:solidFill>
                  <a:srgbClr val="16213A"/>
                </a:solidFill>
                <a:latin typeface="Arial"/>
                <a:ea typeface="Malgun Gothic"/>
                <a:cs typeface="Malgun Gothic"/>
              </a:rPr>
              <a:t>"we deploy a simple CNN model trained to output traversability values for robot navigation [45]"</a:t>
            </a:r>
            <a:r>
              <a:rPr sz="1050" b="0" i="0">
                <a:solidFill>
                  <a:srgbClr val="16213A"/>
                </a:solidFill>
                <a:latin typeface="Arial"/>
                <a:ea typeface="Malgun Gothic"/>
                <a:cs typeface="Malgun Gothic"/>
              </a:rPr>
              <a:t> 한 문장뿐이고 전부 [45]로 미룬다. [45]는 </a:t>
            </a:r>
            <a:r>
              <a:rPr sz="1050" b="1" i="0">
                <a:solidFill>
                  <a:srgbClr val="16213A"/>
                </a:solidFill>
                <a:latin typeface="Arial"/>
                <a:ea typeface="Malgun Gothic"/>
                <a:cs typeface="Malgun Gothic"/>
              </a:rPr>
              <a:t>Wellhausen &amp; Hutter, "Rough terrain navigation for legged robots using reachability planning and template learning" (IROS 2021)</a:t>
            </a:r>
            <a:r>
              <a:rPr sz="1050" b="0" i="0">
                <a:solidFill>
                  <a:srgbClr val="16213A"/>
                </a:solidFill>
                <a:latin typeface="Arial"/>
                <a:ea typeface="Malgun Gothic"/>
                <a:cs typeface="Malgun Gothic"/>
              </a:rPr>
              <a:t>이고, emap 저자 본인이 upstream 이슈 #70에서 확인해 줬다. 그 논문 초록은 이렇게 시작한다 — </a:t>
            </a:r>
            <a:r>
              <a:rPr sz="1050" b="0" i="1">
                <a:solidFill>
                  <a:srgbClr val="16213A"/>
                </a:solidFill>
                <a:latin typeface="Arial"/>
                <a:ea typeface="Malgun Gothic"/>
                <a:cs typeface="Malgun Gothic"/>
              </a:rPr>
              <a:t>"Navigation planning for legged robots has distinct challenges compared to </a:t>
            </a:r>
            <a:r>
              <a:rPr sz="1050" b="0" i="1">
                <a:solidFill>
                  <a:srgbClr val="16213A"/>
                </a:solidFill>
                <a:latin typeface="Arial"/>
                <a:ea typeface="Malgun Gothic"/>
                <a:cs typeface="Malgun Gothic"/>
              </a:rPr>
              <a:t>wheeled and tracked systems</a:t>
            </a:r>
            <a:r>
              <a:rPr sz="1050" b="0" i="1">
                <a:solidFill>
                  <a:srgbClr val="16213A"/>
                </a:solidFill>
                <a:latin typeface="Arial"/>
                <a:ea typeface="Malgun Gothic"/>
                <a:cs typeface="Malgun Gothic"/>
              </a:rPr>
              <a:t> due to the ability to lift legs off the ground and </a:t>
            </a:r>
            <a:r>
              <a:rPr sz="1050" b="0" i="1">
                <a:solidFill>
                  <a:srgbClr val="16213A"/>
                </a:solidFill>
                <a:latin typeface="Arial"/>
                <a:ea typeface="Malgun Gothic"/>
                <a:cs typeface="Malgun Gothic"/>
              </a:rPr>
              <a:t>step over obstacles</a:t>
            </a:r>
            <a:r>
              <a:rPr sz="1050" b="0" i="1">
                <a:solidFill>
                  <a:srgbClr val="16213A"/>
                </a:solidFill>
                <a:latin typeface="Arial"/>
                <a:ea typeface="Malgun Gothic"/>
                <a:cs typeface="Malgun Gothic"/>
              </a:rPr>
              <a:t>."</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우리가 바퀴 로봇이라는 것이 정확히 그 문장이 배제한 경우다.</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A.13.5 TP-0082 — 학습 필터를 기준선으로 세우려다 평가 기반의 순환을 찾았다</a:t>
            </a:r>
            <a:r>
              <a:rPr sz="1050" b="0" i="0">
                <a:solidFill>
                  <a:srgbClr val="5A6478"/>
                </a:solidFill>
                <a:latin typeface="Arial"/>
                <a:ea typeface="Malgun Gothic"/>
                <a:cs typeface="Malgun Gothic"/>
              </a:rPr>
              <a:t>  자세히: 측정한 구조적 성질 넷</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84 / 359</a:t>
            </a:r>
          </a:p>
        </p:txBody>
      </p:sp>
      <p:sp>
        <p:nvSpPr>
          <p:cNvPr id="5" name="TextBox 4"/>
          <p:cNvSpPr txBox="1"/>
          <p:nvPr/>
        </p:nvSpPr>
        <p:spPr>
          <a:xfrm>
            <a:off x="609600" y="1244600"/>
            <a:ext cx="10972800" cy="250844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커널 12개가 전부 합 0</a:t>
            </a:r>
            <a:r>
              <a:rPr sz="1050" b="0" i="0">
                <a:solidFill>
                  <a:srgbClr val="16213A"/>
                </a:solidFill>
                <a:latin typeface="Arial"/>
                <a:ea typeface="Malgun Gothic"/>
                <a:cs typeface="Malgun Gothic"/>
              </a:rPr>
              <a:t>이다(최대 |합| 5.2e-08). 각 커널의 L1 norm은 정확히 1.0이고 마지막 1×1의 12개 가중치는 전부 양수(3.62–3.81)다. 그래서 출력이 (0,1]에 갇히고 단조이며, </a:t>
            </a:r>
            <a:r>
              <a:rPr sz="1050" b="1" i="0">
                <a:solidFill>
                  <a:srgbClr val="C2410C"/>
                </a:solidFill>
                <a:latin typeface="Arial"/>
                <a:ea typeface="Malgun Gothic"/>
                <a:cs typeface="Malgun Gothic"/>
              </a:rPr>
              <a:t>고도 원점에 완전히 불변</a:t>
            </a:r>
            <a:r>
              <a:rPr sz="1050" b="0" i="0">
                <a:solidFill>
                  <a:srgbClr val="16213A"/>
                </a:solidFill>
                <a:latin typeface="Arial"/>
                <a:ea typeface="Malgun Gothic"/>
                <a:cs typeface="Malgun Gothic"/>
              </a:rPr>
              <a:t>이다 (지도 전체에 1 m를 더해도 출력이 9.5e-07 움직인다). travplan의 다른 datum은 처리할 필요가 없다.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기울어진 평면에서는 닫힌 형태</a:t>
            </a:r>
            <a:r>
              <a:rPr sz="1050" b="0" i="0">
                <a:solidFill>
                  <a:srgbClr val="16213A"/>
                </a:solidFill>
                <a:latin typeface="Arial"/>
                <a:ea typeface="Malgun Gothic"/>
                <a:cs typeface="Malgun Gothic"/>
              </a:rPr>
              <a:t>다: </a:t>
            </a:r>
            <a:r>
              <a:rPr sz="1050" b="0" i="1">
                <a:solidFill>
                  <a:srgbClr val="16213A"/>
                </a:solidFill>
                <a:latin typeface="Arial"/>
                <a:ea typeface="Malgun Gothic"/>
                <a:cs typeface="Malgun Gothic"/>
              </a:rPr>
              <a:t>t = exp(-k(φ)· res·tanθ)</a:t>
            </a:r>
            <a:r>
              <a:rPr sz="1050" b="0" i="0">
                <a:solidFill>
                  <a:srgbClr val="16213A"/>
                </a:solidFill>
                <a:latin typeface="Arial"/>
                <a:ea typeface="Malgun Gothic"/>
                <a:cs typeface="Malgun Gothic"/>
              </a:rPr>
              <a:t>. 2°와 10°에서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가 소수점까지 같고 해상도에도 불변이다.</a:t>
            </a:r>
          </a:p>
          <a:p>
            <a:pPr>
              <a:spcBef>
                <a:spcPts val="200"/>
              </a:spcBef>
            </a:pPr>
            <a:r>
              <a:rPr sz="1050" b="0" i="0">
                <a:solidFill>
                  <a:srgbClr val="5A6478"/>
                </a:solidFill>
                <a:latin typeface="Arial"/>
                <a:ea typeface="Malgun Gothic"/>
                <a:cs typeface="Malgun Gothic"/>
              </a:rPr>
              <a:t>• </a:t>
            </a:r>
            <a:r>
              <a:rPr sz="1050" b="1" i="0">
                <a:solidFill>
                  <a:srgbClr val="C2410C"/>
                </a:solidFill>
                <a:latin typeface="Arial"/>
                <a:ea typeface="Malgun Gothic"/>
                <a:cs typeface="Malgun Gothic"/>
              </a:rPr>
              <a:t>이방성이 1.47배</a:t>
            </a:r>
            <a:r>
              <a:rPr sz="1050" b="1" i="0">
                <a:solidFill>
                  <a:srgbClr val="C2410C"/>
                </a:solidFill>
                <a:latin typeface="Arial"/>
                <a:ea typeface="Malgun Gothic"/>
                <a:cs typeface="Malgun Gothic"/>
              </a:rPr>
              <a:t>다.</a:t>
            </a:r>
            <a:r>
              <a:rPr sz="1050" b="0" i="0">
                <a:solidFill>
                  <a:srgbClr val="16213A"/>
                </a:solidFill>
                <a:latin typeface="Arial"/>
                <a:ea typeface="Malgun Gothic"/>
                <a:cs typeface="Malgun Gothic"/>
              </a:rPr>
              <a:t> 전체 원주를 5° 간격으로 스윕하면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가 방위각 140°에서 35.36으로 최소, 행 방향(90°)에서 51.99로 최대다. 열 방향은 45.88이다. </a:t>
            </a:r>
            <a:r>
              <a:rPr sz="1050" b="0" i="0">
                <a:solidFill>
                  <a:srgbClr val="16213A"/>
                </a:solidFill>
                <a:latin typeface="Consolas"/>
                <a:ea typeface="Malgun Gothic"/>
                <a:cs typeface="Malgun Gothic"/>
              </a:rPr>
              <a:t>abs()</a:t>
            </a:r>
            <a:r>
              <a:rPr sz="1050" b="0" i="0">
                <a:solidFill>
                  <a:srgbClr val="16213A"/>
                </a:solidFill>
                <a:latin typeface="Arial"/>
                <a:ea typeface="Malgun Gothic"/>
                <a:cs typeface="Malgun Gothic"/>
              </a:rPr>
              <a:t> 때문에 180° 대칭이지만 그 외에는 대칭이 아니라서 </a:t>
            </a:r>
            <a:r>
              <a:rPr sz="1050" b="1" i="0">
                <a:solidFill>
                  <a:srgbClr val="16213A"/>
                </a:solidFill>
                <a:latin typeface="Arial"/>
                <a:ea typeface="Malgun Gothic"/>
                <a:cs typeface="Malgun Gothic"/>
              </a:rPr>
              <a:t>최솟값이 대각선에 있지 않다</a:t>
            </a:r>
            <a:r>
              <a:rPr sz="1050" b="0" i="0">
                <a:solidFill>
                  <a:srgbClr val="16213A"/>
                </a:solidFill>
                <a:latin typeface="Arial"/>
                <a:ea typeface="Malgun Gothic"/>
                <a:cs typeface="Malgun Gothic"/>
              </a:rPr>
              <a:t> — 사분면만 재면 놓친다(처음에 그렇게 놓쳤다).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그 닫힌 형태는 실제 지형으로 넘어오지 않는다.</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exp(-45.88|∇ z|)</a:t>
            </a:r>
            <a:r>
              <a:rPr sz="1050" b="0" i="0">
                <a:solidFill>
                  <a:srgbClr val="16213A"/>
                </a:solidFill>
                <a:latin typeface="Arial"/>
                <a:ea typeface="Malgun Gothic"/>
                <a:cs typeface="Malgun Gothic"/>
              </a:rPr>
              <a:t>와 상관 0.69–0.81, 최대 오차 0.98이다. dilation 2·3 가지가 0.10 m·0.15 m 지연의 곡률을 보기 때문이다. 그러니 "그냥 기울기 벌점"이라고 요약하면 틀린다.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수용 영역이 7×7칸</a:t>
            </a:r>
            <a:r>
              <a:rPr sz="1050" b="0" i="0">
                <a:solidFill>
                  <a:srgbClr val="16213A"/>
                </a:solidFill>
                <a:latin typeface="Arial"/>
                <a:ea typeface="Malgun Gothic"/>
                <a:cs typeface="Malgun Gothic"/>
              </a:rPr>
              <a:t>이라 물리 크기가 격자에 딸려 간다. 가중치는 4 cm에서 맞춰졌고(저자 Wellhausen이 upstream 이슈 #20에서 명시: </a:t>
            </a:r>
            <a:r>
              <a:rPr sz="1050" b="0" i="1">
                <a:solidFill>
                  <a:srgbClr val="16213A"/>
                </a:solidFill>
                <a:latin typeface="Arial"/>
                <a:ea typeface="Malgun Gothic"/>
                <a:cs typeface="Malgun Gothic"/>
              </a:rPr>
              <a:t>"the traversability weights included here were trained on a 4cm grid"</a:t>
            </a:r>
            <a:r>
              <a:rPr sz="1050" b="0" i="0">
                <a:solidFill>
                  <a:srgbClr val="16213A"/>
                </a:solidFill>
                <a:latin typeface="Arial"/>
                <a:ea typeface="Malgun Gothic"/>
                <a:cs typeface="Malgun Gothic"/>
              </a:rPr>
              <a:t>), 우리 0.05 m에서는 모든 기울기가 약 25% 더 치명적으로 읽힌다.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높은 평평한 상자 윗면에 눈이 먼다.</a:t>
            </a:r>
            <a:r>
              <a:rPr sz="1050" b="0" i="0">
                <a:solidFill>
                  <a:srgbClr val="16213A"/>
                </a:solidFill>
                <a:latin typeface="Arial"/>
                <a:ea typeface="Malgun Gothic"/>
                <a:cs typeface="Malgun Gothic"/>
              </a:rPr>
              <a:t> 0.5 m 상자 윗면이 0.999999로, 평지 1.000000과 구분되지 않는다. CLAUDE.md가 적어 둔 travplan의 한계 "높은 박스 윗면 저비용"을 고치는 게 아니라 </a:t>
            </a:r>
            <a:r>
              <a:rPr sz="1050" b="1" i="0">
                <a:solidFill>
                  <a:srgbClr val="16213A"/>
                </a:solidFill>
                <a:latin typeface="Arial"/>
                <a:ea typeface="Malgun Gothic"/>
                <a:cs typeface="Malgun Gothic"/>
              </a:rPr>
              <a:t>그대로 재현한다</a:t>
            </a:r>
            <a:r>
              <a:rPr sz="1050" b="0" i="0">
                <a:solidFill>
                  <a:srgbClr val="16213A"/>
                </a:solidFill>
                <a:latin typeface="Arial"/>
                <a:ea typeface="Malgun Gothic"/>
                <a:cs typeface="Malgun Gothic"/>
              </a:rPr>
              <a: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A.13.5 TP-0082 — 학습 필터를 기준선으로 세우려다 평가 기반의 순환을 찾았다</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85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붙이면서 정한 것 셋</a:t>
            </a:r>
          </a:p>
        </p:txBody>
      </p:sp>
      <p:sp>
        <p:nvSpPr>
          <p:cNvPr id="6" name="TextBox 5"/>
          <p:cNvSpPr txBox="1"/>
          <p:nvPr/>
        </p:nvSpPr>
        <p:spPr>
          <a:xfrm>
            <a:off x="609600" y="1547812"/>
            <a:ext cx="10972800" cy="649486"/>
          </a:xfrm>
          <a:prstGeom prst="rect">
            <a:avLst/>
          </a:prstGeom>
          <a:noFill/>
        </p:spPr>
        <p:txBody>
          <a:bodyPr wrap="square" lIns="0" rIns="0" tIns="0" bIns="0" anchor="t">
            <a:spAutoFit/>
            <a:normAutofit/>
          </a:bodyPr>
          <a:lstStyle/>
          <a:p>
            <a:r>
              <a:rPr sz="1050" b="0" i="0">
                <a:solidFill>
                  <a:srgbClr val="16213A"/>
                </a:solidFill>
                <a:latin typeface="Consolas"/>
                <a:ea typeface="Malgun Gothic"/>
                <a:cs typeface="Malgun Gothic"/>
              </a:rPr>
              <a:t>travplan/representation/rsl_filter.py</a:t>
            </a:r>
            <a:r>
              <a:rPr sz="1050" b="0" i="0">
                <a:solidFill>
                  <a:srgbClr val="16213A"/>
                </a:solidFill>
                <a:latin typeface="Arial"/>
                <a:ea typeface="Malgun Gothic"/>
                <a:cs typeface="Malgun Gothic"/>
              </a:rPr>
              <a:t>에 </a:t>
            </a:r>
            <a:r>
              <a:rPr sz="1050" b="0" i="0">
                <a:solidFill>
                  <a:srgbClr val="16213A"/>
                </a:solidFill>
                <a:latin typeface="Consolas"/>
                <a:ea typeface="Malgun Gothic"/>
                <a:cs typeface="Malgun Gothic"/>
              </a:rPr>
              <a:t>TraversabilityEstimator</a:t>
            </a:r>
            <a:r>
              <a:rPr sz="1050" b="0" i="0">
                <a:solidFill>
                  <a:srgbClr val="16213A"/>
                </a:solidFill>
                <a:latin typeface="Arial"/>
                <a:ea typeface="Malgun Gothic"/>
                <a:cs typeface="Malgun Gothic"/>
              </a:rPr>
              <a:t>로 붙였다. 배포본 </a:t>
            </a:r>
            <a:r>
              <a:rPr sz="1050" b="0" i="0">
                <a:solidFill>
                  <a:srgbClr val="16213A"/>
                </a:solidFill>
                <a:latin typeface="Consolas"/>
                <a:ea typeface="Malgun Gothic"/>
                <a:cs typeface="Malgun Gothic"/>
              </a:rPr>
              <a:t>get_filter_torch</a:t>
            </a:r>
            <a:r>
              <a:rPr sz="1050" b="0" i="0">
                <a:solidFill>
                  <a:srgbClr val="16213A"/>
                </a:solidFill>
                <a:latin typeface="Arial"/>
                <a:ea typeface="Malgun Gothic"/>
                <a:cs typeface="Malgun Gothic"/>
              </a:rPr>
              <a:t>가 </a:t>
            </a:r>
            <a:r>
              <a:rPr sz="1050" b="0" i="0">
                <a:solidFill>
                  <a:srgbClr val="16213A"/>
                </a:solidFill>
                <a:latin typeface="Consolas"/>
                <a:ea typeface="Malgun Gothic"/>
                <a:cs typeface="Malgun Gothic"/>
              </a:rPr>
              <a:t>.cuda()</a:t>
            </a:r>
            <a:r>
              <a:rPr sz="1050" b="0" i="0">
                <a:solidFill>
                  <a:srgbClr val="16213A"/>
                </a:solidFill>
                <a:latin typeface="Arial"/>
                <a:ea typeface="Malgun Gothic"/>
                <a:cs typeface="Malgun Gothic"/>
              </a:rPr>
              <a:t>로 끝나 CPU에서 못 쓰므로 같은 가중치로 다시 세웠고, 실제 장면에서 배포본과 </a:t>
            </a:r>
            <a:r>
              <a:rPr sz="1050" b="1" i="0">
                <a:solidFill>
                  <a:srgbClr val="16213A"/>
                </a:solidFill>
                <a:latin typeface="Arial"/>
                <a:ea typeface="Malgun Gothic"/>
                <a:cs typeface="Malgun Gothic"/>
              </a:rPr>
              <a:t>1.2e-07</a:t>
            </a:r>
            <a:r>
              <a:rPr sz="1050" b="0" i="0">
                <a:solidFill>
                  <a:srgbClr val="16213A"/>
                </a:solidFill>
                <a:latin typeface="Arial"/>
                <a:ea typeface="Malgun Gothic"/>
                <a:cs typeface="Malgun Gothic"/>
              </a:rPr>
              <a:t>까지 일치한다. </a:t>
            </a:r>
            <a:r>
              <a:rPr sz="1050" b="0" i="0">
                <a:solidFill>
                  <a:srgbClr val="16213A"/>
                </a:solidFill>
                <a:latin typeface="Consolas"/>
                <a:ea typeface="Malgun Gothic"/>
                <a:cs typeface="Malgun Gothic"/>
              </a:rPr>
              <a:t>GeometricFeatures</a:t>
            </a:r>
            <a:r>
              <a:rPr sz="1050" b="0" i="0">
                <a:solidFill>
                  <a:srgbClr val="16213A"/>
                </a:solidFill>
                <a:latin typeface="Arial"/>
                <a:ea typeface="Malgun Gothic"/>
                <a:cs typeface="Malgun Gothic"/>
              </a:rPr>
              <a:t>에 </a:t>
            </a:r>
            <a:r>
              <a:rPr sz="1050" b="0" i="0">
                <a:solidFill>
                  <a:srgbClr val="16213A"/>
                </a:solidFill>
                <a:latin typeface="Consolas"/>
                <a:ea typeface="Malgun Gothic"/>
                <a:cs typeface="Malgun Gothic"/>
              </a:rPr>
              <a:t>elev</a:t>
            </a:r>
            <a:r>
              <a:rPr sz="1050" b="0" i="0">
                <a:solidFill>
                  <a:srgbClr val="16213A"/>
                </a:solidFill>
                <a:latin typeface="Arial"/>
                <a:ea typeface="Malgun Gothic"/>
                <a:cs typeface="Malgun Gothic"/>
              </a:rPr>
              <a:t>를 선택 필드로 더했다 — 이 필터는 feature가 아니라 고도 한 채널을 받는데, 프로토콜 서명을 바꾸면 CLAUDE.md가 지정한 교체점이 깨지기 때문이다.</a:t>
            </a:r>
          </a:p>
        </p:txBody>
      </p:sp>
      <p:graphicFrame>
        <p:nvGraphicFramePr>
          <p:cNvPr id="7" name="Table 6"/>
          <p:cNvGraphicFramePr>
            <a:graphicFrameLocks noGrp="1"/>
          </p:cNvGraphicFramePr>
          <p:nvPr/>
        </p:nvGraphicFramePr>
        <p:xfrm>
          <a:off x="609600" y="2286198"/>
          <a:ext cx="10966450" cy="788352"/>
        </p:xfrm>
        <a:graphic>
          <a:graphicData uri="http://schemas.openxmlformats.org/drawingml/2006/table">
            <a:tbl>
              <a:tblPr firstRow="1" bandRow="1">
                <a:tableStyleId>{5C22544A-7EE6-4342-B048-85BDC9FD1C3A}</a:tableStyleId>
              </a:tblPr>
              <a:tblGrid>
                <a:gridCol w="3438029"/>
                <a:gridCol w="7528421"/>
              </a:tblGrid>
              <a:tr h="197088">
                <a:tc>
                  <a:txBody>
                    <a:bodyPr wrap="square"/>
                    <a:lstStyle/>
                    <a:p>
                      <a:r>
                        <a:rPr sz="800" b="1" i="0">
                          <a:solidFill>
                            <a:srgbClr val="F4F1EA"/>
                          </a:solidFill>
                          <a:latin typeface="Arial"/>
                          <a:ea typeface="Malgun Gothic"/>
                          <a:cs typeface="Malgun Gothic"/>
                        </a:rPr>
                        <a:t>정한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왜</a:t>
                      </a:r>
                    </a:p>
                  </a:txBody>
                  <a:tcPr marL="63500" marR="63500" marT="12700" marB="12700">
                    <a:solidFill>
                      <a:srgbClr val="16213A"/>
                    </a:solidFill>
                  </a:tcPr>
                </a:tc>
              </a:tr>
              <a:tr h="197088">
                <a:tc>
                  <a:txBody>
                    <a:bodyPr wrap="square"/>
                    <a:lstStyle/>
                    <a:p>
                      <a:r>
                        <a:rPr sz="800" b="1" i="0">
                          <a:solidFill>
                            <a:srgbClr val="16213A"/>
                          </a:solidFill>
                          <a:latin typeface="Arial"/>
                          <a:ea typeface="Malgun Gothic"/>
                          <a:cs typeface="Malgun Gothic"/>
                        </a:rPr>
                        <a:t>부호</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soft</a:t>
                      </a:r>
                      <a:r>
                        <a:rPr sz="800" b="0" i="0">
                          <a:solidFill>
                            <a:srgbClr val="16213A"/>
                          </a:solidFill>
                          <a:latin typeface="Arial"/>
                          <a:ea typeface="Malgun Gothic"/>
                          <a:cs typeface="Malgun Gothic"/>
                        </a:rPr>
                        <a:t>는 </a:t>
                      </a:r>
                      <a:r>
                        <a:rPr sz="800" b="0" i="0">
                          <a:solidFill>
                            <a:srgbClr val="16213A"/>
                          </a:solidFill>
                          <a:latin typeface="Consolas"/>
                          <a:ea typeface="Malgun Gothic"/>
                          <a:cs typeface="Malgun Gothic"/>
                        </a:rPr>
                        <a:t>1-t</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gate</a:t>
                      </a:r>
                      <a:r>
                        <a:rPr sz="800" b="0" i="0">
                          <a:solidFill>
                            <a:srgbClr val="16213A"/>
                          </a:solidFill>
                          <a:latin typeface="Arial"/>
                          <a:ea typeface="Malgun Gothic"/>
                          <a:cs typeface="Malgun Gothic"/>
                        </a:rPr>
                        <a:t>는 문턱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상류의 세 소비자(art_planner, </a:t>
                      </a:r>
                      <a:r>
                        <a:rPr sz="800" b="0" i="0">
                          <a:solidFill>
                            <a:srgbClr val="16213A"/>
                          </a:solidFill>
                          <a:latin typeface="Consolas"/>
                          <a:ea typeface="Malgun Gothic"/>
                          <a:cs typeface="Malgun Gothic"/>
                        </a:rPr>
                        <a:t>check_safety</a:t>
                      </a:r>
                      <a:r>
                        <a:rPr sz="800" b="0" i="0">
                          <a:solidFill>
                            <a:srgbClr val="16213A"/>
                          </a:solidFill>
                          <a:latin typeface="Arial"/>
                          <a:ea typeface="Malgun Gothic"/>
                          <a:cs typeface="Malgun Gothic"/>
                        </a:rPr>
                        <a:t>, drift 보정 커널)가 </a:t>
                      </a:r>
                      <a:r>
                        <a:rPr sz="800" b="1" i="0">
                          <a:solidFill>
                            <a:srgbClr val="16213A"/>
                          </a:solidFill>
                          <a:latin typeface="Arial"/>
                          <a:ea typeface="Malgun Gothic"/>
                          <a:cs typeface="Malgun Gothic"/>
                        </a:rPr>
                        <a:t>모두 게이트</a:t>
                      </a:r>
                      <a:r>
                        <a:rPr sz="800" b="0" i="0">
                          <a:solidFill>
                            <a:srgbClr val="16213A"/>
                          </a:solidFill>
                          <a:latin typeface="Arial"/>
                          <a:ea typeface="Malgun Gothic"/>
                          <a:cs typeface="Malgun Gothic"/>
                        </a:rPr>
                        <a:t>다. 소프트 비용으로 쓰는 선례가 없다</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격자 이득</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rescale_to_train_res</a:t>
                      </a:r>
                      <a:r>
                        <a:rPr sz="800" b="0" i="0">
                          <a:solidFill>
                            <a:srgbClr val="16213A"/>
                          </a:solidFill>
                          <a:latin typeface="Arial"/>
                          <a:ea typeface="Malgun Gothic"/>
                          <a:cs typeface="Malgun Gothic"/>
                        </a:rPr>
                        <a:t>로 4 cm 기준 복원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가중치가 칸당 미터에 반응하므로 0.05 m에서 25% 더 보수적이다</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footprint</a:t>
                      </a:r>
                      <a:r>
                        <a:rPr sz="800" b="0" i="0">
                          <a:solidFill>
                            <a:srgbClr val="16213A"/>
                          </a:solidFill>
                          <a:latin typeface="Arial"/>
                          <a:ea typeface="Malgun Gothic"/>
                          <a:cs typeface="Malgun Gothic"/>
                        </a:rPr>
                        <a:t>: 13칸 창으로 비용 팽창</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상류 층은 팽창이 없다(지지 ±3칸). 0.30 m 턱을 3칸 지나면 1.0을 읽어서, 팽창 없이는 우리 cost와 비교 자체가 성립하지 않는다</a:t>
                      </a:r>
                    </a:p>
                  </a:txBody>
                  <a:tcPr marL="63500" marR="63500" marT="12700" marB="12700">
                    <a:solidFill>
                      <a:srgbClr val="FFFDF8"/>
                    </a:solidFill>
                  </a:tcPr>
                </a:tc>
              </a:tr>
            </a:tbl>
          </a:graphicData>
        </a:graphic>
      </p:graphicFrame>
      <p:sp>
        <p:nvSpPr>
          <p:cNvPr id="8" name="TextBox 7"/>
          <p:cNvSpPr txBox="1"/>
          <p:nvPr/>
        </p:nvSpPr>
        <p:spPr>
          <a:xfrm>
            <a:off x="717550" y="3366889"/>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그런데 정답이 순환이었다</a:t>
            </a:r>
          </a:p>
        </p:txBody>
      </p:sp>
      <p:sp>
        <p:nvSpPr>
          <p:cNvPr id="9" name="TextBox 8"/>
          <p:cNvSpPr txBox="1"/>
          <p:nvPr/>
        </p:nvSpPr>
        <p:spPr>
          <a:xfrm>
            <a:off x="609600" y="3670102"/>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셋을 무엇에 대고 잴지 보다가 찾았다. </a:t>
            </a:r>
            <a:r>
              <a:rPr sz="1050" b="0" i="0">
                <a:solidFill>
                  <a:srgbClr val="16213A"/>
                </a:solidFill>
                <a:latin typeface="Consolas"/>
                <a:ea typeface="Malgun Gothic"/>
                <a:cs typeface="Malgun Gothic"/>
              </a:rPr>
              <a:t>sim/kinematic_sim.py</a:t>
            </a:r>
            <a:r>
              <a:rPr sz="1050" b="0" i="0">
                <a:solidFill>
                  <a:srgbClr val="16213A"/>
                </a:solidFill>
                <a:latin typeface="Arial"/>
                <a:ea typeface="Malgun Gothic"/>
                <a:cs typeface="Malgun Gothic"/>
              </a:rPr>
              <a:t>가 </a:t>
            </a:r>
            <a:r>
              <a:rPr sz="1050" b="0" i="0">
                <a:solidFill>
                  <a:srgbClr val="16213A"/>
                </a:solidFill>
                <a:latin typeface="Consolas"/>
                <a:ea typeface="Malgun Gothic"/>
                <a:cs typeface="Malgun Gothic"/>
              </a:rPr>
              <a:t>gt_map</a:t>
            </a:r>
            <a:r>
              <a:rPr sz="1050" b="0" i="0">
                <a:solidFill>
                  <a:srgbClr val="16213A"/>
                </a:solidFill>
                <a:latin typeface="Arial"/>
                <a:ea typeface="Malgun Gothic"/>
                <a:cs typeface="Malgun Gothic"/>
              </a:rPr>
              <a:t>을 만들 때 estimator를 넘기지 않고, </a:t>
            </a:r>
            <a:r>
              <a:rPr sz="1050" b="0" i="0">
                <a:solidFill>
                  <a:srgbClr val="16213A"/>
                </a:solidFill>
                <a:latin typeface="Consolas"/>
                <a:ea typeface="Malgun Gothic"/>
                <a:cs typeface="Malgun Gothic"/>
              </a:rPr>
              <a:t>representation/builder.py</a:t>
            </a:r>
            <a:r>
              <a:rPr sz="1050" b="0" i="0">
                <a:solidFill>
                  <a:srgbClr val="16213A"/>
                </a:solidFill>
                <a:latin typeface="Arial"/>
                <a:ea typeface="Malgun Gothic"/>
                <a:cs typeface="Malgun Gothic"/>
              </a:rPr>
              <a:t>는 그러면 </a:t>
            </a:r>
            <a:r>
              <a:rPr sz="1050" b="0" i="0">
                <a:solidFill>
                  <a:srgbClr val="16213A"/>
                </a:solidFill>
                <a:latin typeface="Consolas"/>
                <a:ea typeface="Malgun Gothic"/>
                <a:cs typeface="Malgun Gothic"/>
              </a:rPr>
              <a:t>GeometricTraversability()</a:t>
            </a:r>
            <a:r>
              <a:rPr sz="1050" b="0" i="0">
                <a:solidFill>
                  <a:srgbClr val="16213A"/>
                </a:solidFill>
                <a:latin typeface="Arial"/>
                <a:ea typeface="Malgun Gothic"/>
                <a:cs typeface="Malgun Gothic"/>
              </a:rPr>
              <a:t>를 쓴다. </a:t>
            </a:r>
            <a:r>
              <a:rPr sz="1050" b="1" i="0">
                <a:solidFill>
                  <a:srgbClr val="C2410C"/>
                </a:solidFill>
                <a:latin typeface="Arial"/>
                <a:ea typeface="Malgun Gothic"/>
                <a:cs typeface="Malgun Gothic"/>
              </a:rPr>
              <a:t>즉 "GT cost"는 기하 추정기를 참 지형에 적용한 것 그 자체다.</a:t>
            </a:r>
            <a:r>
              <a:rPr sz="1050" b="0" i="0">
                <a:solidFill>
                  <a:srgbClr val="16213A"/>
                </a:solidFill>
                <a:latin typeface="Arial"/>
                <a:ea typeface="Malgun Gothic"/>
                <a:cs typeface="Malgun Gothic"/>
              </a:rPr>
              <a:t> 에피소드의 </a:t>
            </a:r>
            <a:r>
              <a:rPr sz="1050" b="0" i="0">
                <a:solidFill>
                  <a:srgbClr val="16213A"/>
                </a:solidFill>
                <a:latin typeface="Consolas"/>
                <a:ea typeface="Malgun Gothic"/>
                <a:cs typeface="Malgun Gothic"/>
              </a:rPr>
              <a:t>failed</a:t>
            </a:r>
            <a:r>
              <a:rPr sz="1050" b="0" i="0">
                <a:solidFill>
                  <a:srgbClr val="16213A"/>
                </a:solidFill>
                <a:latin typeface="Arial"/>
                <a:ea typeface="Malgun Gothic"/>
                <a:cs typeface="Malgun Gothic"/>
              </a:rPr>
              <a:t> 판정에 roll/pitch 한계가 붙어 있지만 그것도 독립이 아니다 — roll·pitch는 지도의 </a:t>
            </a:r>
            <a:r>
              <a:rPr sz="1050" b="0" i="0">
                <a:solidFill>
                  <a:srgbClr val="16213A"/>
                </a:solidFill>
                <a:latin typeface="Consolas"/>
                <a:ea typeface="Malgun Gothic"/>
                <a:cs typeface="Malgun Gothic"/>
              </a:rPr>
              <a:t>GRAD_X</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GRAD_Y</a:t>
            </a:r>
            <a:r>
              <a:rPr sz="1050" b="0" i="0">
                <a:solidFill>
                  <a:srgbClr val="16213A"/>
                </a:solidFill>
                <a:latin typeface="Arial"/>
                <a:ea typeface="Malgun Gothic"/>
                <a:cs typeface="Malgun Gothic"/>
              </a:rPr>
              <a:t>에서 오고 </a:t>
            </a:r>
            <a:r>
              <a:rPr sz="1050" b="0" i="0">
                <a:solidFill>
                  <a:srgbClr val="16213A"/>
                </a:solidFill>
                <a:latin typeface="Consolas"/>
                <a:ea typeface="Malgun Gothic"/>
                <a:cs typeface="Malgun Gothic"/>
              </a:rPr>
              <a:t>slope</a:t>
            </a:r>
            <a:r>
              <a:rPr sz="1050" b="0" i="0">
                <a:solidFill>
                  <a:srgbClr val="16213A"/>
                </a:solidFill>
                <a:latin typeface="Arial"/>
                <a:ea typeface="Malgun Gothic"/>
                <a:cs typeface="Malgun Gothic"/>
              </a:rPr>
              <a:t>는 같은 기울기의 팽창된 </a:t>
            </a:r>
            <a:r>
              <a:rPr sz="1050" b="0" i="0">
                <a:solidFill>
                  <a:srgbClr val="16213A"/>
                </a:solidFill>
                <a:latin typeface="Consolas"/>
                <a:ea typeface="Malgun Gothic"/>
                <a:cs typeface="Malgun Gothic"/>
              </a:rPr>
              <a:t>atan</a:t>
            </a:r>
            <a:r>
              <a:rPr sz="1050" b="0" i="0">
                <a:solidFill>
                  <a:srgbClr val="16213A"/>
                </a:solidFill>
                <a:latin typeface="Arial"/>
                <a:ea typeface="Malgun Gothic"/>
                <a:cs typeface="Malgun Gothic"/>
              </a:rPr>
              <a:t>인데, cost가 </a:t>
            </a:r>
            <a:r>
              <a:rPr sz="1050" b="0" i="0">
                <a:solidFill>
                  <a:srgbClr val="16213A"/>
                </a:solidFill>
                <a:latin typeface="Consolas"/>
                <a:ea typeface="Malgun Gothic"/>
                <a:cs typeface="Malgun Gothic"/>
              </a:rPr>
              <a:t>max_slope_rad</a:t>
            </a:r>
            <a:r>
              <a:rPr sz="1050" b="0" i="0">
                <a:solidFill>
                  <a:srgbClr val="16213A"/>
                </a:solidFill>
                <a:latin typeface="Arial"/>
                <a:ea typeface="Malgun Gothic"/>
                <a:cs typeface="Malgun Gothic"/>
              </a:rPr>
              <a:t> 0.26에서 이미 포화한다. 그 값은 </a:t>
            </a:r>
            <a:r>
              <a:rPr sz="1050" b="0" i="0">
                <a:solidFill>
                  <a:srgbClr val="16213A"/>
                </a:solidFill>
                <a:latin typeface="Consolas"/>
                <a:ea typeface="Malgun Gothic"/>
                <a:cs typeface="Malgun Gothic"/>
              </a:rPr>
              <a:t>roll_limit</a:t>
            </a:r>
            <a:r>
              <a:rPr sz="1050" b="0" i="0">
                <a:solidFill>
                  <a:srgbClr val="16213A"/>
                </a:solidFill>
                <a:latin typeface="Arial"/>
                <a:ea typeface="Malgun Gothic"/>
                <a:cs typeface="Malgun Gothic"/>
              </a:rPr>
              <a:t> 0.30·</a:t>
            </a:r>
            <a:r>
              <a:rPr sz="1050" b="0" i="0">
                <a:solidFill>
                  <a:srgbClr val="16213A"/>
                </a:solidFill>
                <a:latin typeface="Consolas"/>
                <a:ea typeface="Malgun Gothic"/>
                <a:cs typeface="Malgun Gothic"/>
              </a:rPr>
              <a:t>pitch_limit</a:t>
            </a:r>
            <a:r>
              <a:rPr sz="1050" b="0" i="0">
                <a:solidFill>
                  <a:srgbClr val="16213A"/>
                </a:solidFill>
                <a:latin typeface="Arial"/>
                <a:ea typeface="Malgun Gothic"/>
                <a:cs typeface="Malgun Gothic"/>
              </a:rPr>
              <a:t> 0.35보다 </a:t>
            </a:r>
            <a:r>
              <a:rPr sz="1050" b="1" i="0">
                <a:solidFill>
                  <a:srgbClr val="16213A"/>
                </a:solidFill>
                <a:latin typeface="Arial"/>
                <a:ea typeface="Malgun Gothic"/>
                <a:cs typeface="Malgun Gothic"/>
              </a:rPr>
              <a:t>낮다</a:t>
            </a:r>
            <a:r>
              <a:rPr sz="1050" b="0" i="0">
                <a:solidFill>
                  <a:srgbClr val="16213A"/>
                </a:solidFill>
                <a:latin typeface="Arial"/>
                <a:ea typeface="Malgun Gothic"/>
                <a:cs typeface="Malgun Gothic"/>
              </a:rPr>
              <a:t>. 넘어질 만큼 가파르면 이미 cost 1.0이다.</a:t>
            </a:r>
          </a:p>
        </p:txBody>
      </p:sp>
      <p:sp>
        <p:nvSpPr>
          <p:cNvPr id="10" name="TextBox 9"/>
          <p:cNvSpPr txBox="1"/>
          <p:nvPr/>
        </p:nvSpPr>
        <p:spPr>
          <a:xfrm>
            <a:off x="609600" y="462498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그래서 </a:t>
            </a:r>
            <a:r>
              <a:rPr sz="1050" b="0" i="0">
                <a:solidFill>
                  <a:srgbClr val="16213A"/>
                </a:solidFill>
                <a:latin typeface="Consolas"/>
                <a:ea typeface="Malgun Gothic"/>
                <a:cs typeface="Malgun Gothic"/>
              </a:rPr>
              <a:t>cost_mae</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lethal_recall</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auroc</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mean_gt_cost</a:t>
            </a:r>
            <a:r>
              <a:rPr sz="1050" b="0" i="0">
                <a:solidFill>
                  <a:srgbClr val="16213A"/>
                </a:solidFill>
                <a:latin typeface="Arial"/>
                <a:ea typeface="Malgun Gothic"/>
                <a:cs typeface="Malgun Gothic"/>
              </a:rPr>
              <a:t>는 모두 기하 추정기에 </a:t>
            </a:r>
            <a:r>
              <a:rPr sz="1050" b="1" i="0">
                <a:solidFill>
                  <a:srgbClr val="16213A"/>
                </a:solidFill>
                <a:latin typeface="Arial"/>
                <a:ea typeface="Malgun Gothic"/>
                <a:cs typeface="Malgun Gothic"/>
              </a:rPr>
              <a:t>정의상</a:t>
            </a:r>
            <a:r>
              <a:rPr sz="1050" b="0" i="0">
                <a:solidFill>
                  <a:srgbClr val="16213A"/>
                </a:solidFill>
                <a:latin typeface="Arial"/>
                <a:ea typeface="Malgun Gothic"/>
                <a:cs typeface="Malgun Gothic"/>
              </a:rPr>
              <a:t> 만점을 준다. 이 지표들로 셋을 줄 세우는 것은 결과가 아니라 동어반복이다.</a:t>
            </a:r>
          </a:p>
        </p:txBody>
      </p:sp>
      <p:sp>
        <p:nvSpPr>
          <p:cNvPr id="11" name="TextBox 10"/>
          <p:cNvSpPr txBox="1"/>
          <p:nvPr/>
        </p:nvSpPr>
        <p:spPr>
          <a:xfrm>
            <a:off x="717550" y="4930378"/>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그래서 만든 독립 기준 — 차체를 지형에 세워 본다</a:t>
            </a:r>
          </a:p>
        </p:txBody>
      </p:sp>
      <p:sp>
        <p:nvSpPr>
          <p:cNvPr id="12" name="TextBox 11"/>
          <p:cNvSpPr txBox="1"/>
          <p:nvPr/>
        </p:nvSpPr>
        <p:spPr>
          <a:xfrm>
            <a:off x="609600" y="5233591"/>
            <a:ext cx="10972800" cy="216495"/>
          </a:xfrm>
          <a:prstGeom prst="rect">
            <a:avLst/>
          </a:prstGeom>
          <a:noFill/>
        </p:spPr>
        <p:txBody>
          <a:bodyPr wrap="square" lIns="0" rIns="0" tIns="0" bIns="0" anchor="t">
            <a:spAutoFit/>
            <a:normAutofit/>
          </a:bodyPr>
          <a:lstStyle/>
          <a:p>
            <a:r>
              <a:rPr sz="1050" b="0" i="0">
                <a:solidFill>
                  <a:srgbClr val="16213A"/>
                </a:solidFill>
                <a:latin typeface="Consolas"/>
                <a:ea typeface="Malgun Gothic"/>
                <a:cs typeface="Malgun Gothic"/>
              </a:rPr>
              <a:t>travplan/sim/ground_truth.py::chassis_feasibility</a:t>
            </a:r>
            <a:r>
              <a:rPr sz="1050" b="0" i="0">
                <a:solidFill>
                  <a:srgbClr val="16213A"/>
                </a:solidFill>
                <a:latin typeface="Arial"/>
                <a:ea typeface="Malgun Gothic"/>
                <a:cs typeface="Malgun Gothic"/>
              </a:rPr>
              <a:t>다. 칸마다, 방위각 8개마다 실제 차체를 올려놓고 묻는다.</a:t>
            </a:r>
          </a:p>
        </p:txBody>
      </p:sp>
      <p:sp>
        <p:nvSpPr>
          <p:cNvPr id="13" name="TextBox 12"/>
          <p:cNvSpPr txBox="1"/>
          <p:nvPr/>
        </p:nvSpPr>
        <p:spPr>
          <a:xfrm>
            <a:off x="609600" y="5538986"/>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자세</a:t>
            </a:r>
            <a:r>
              <a:rPr sz="1050" b="0" i="0">
                <a:solidFill>
                  <a:srgbClr val="16213A"/>
                </a:solidFill>
                <a:latin typeface="Arial"/>
                <a:ea typeface="Malgun Gothic"/>
                <a:cs typeface="Malgun Gothic"/>
              </a:rPr>
              <a:t>를 네 바퀴 접지 높이에서 낸다(평활·팽창된 표면 기울기가 아니라).</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배 밑 간섭</a:t>
            </a:r>
            <a:r>
              <a:rPr sz="1050" b="0" i="0">
                <a:solidFill>
                  <a:srgbClr val="16213A"/>
                </a:solidFill>
                <a:latin typeface="Arial"/>
                <a:ea typeface="Malgun Gothic"/>
                <a:cs typeface="Malgun Gothic"/>
              </a:rPr>
              <a:t>: 바퀴가 딛는 평면을 지형이 지상고 넘게 뚫고 올라오는가. </a:t>
            </a:r>
            <a:r>
              <a:rPr sz="1050" b="0" i="0">
                <a:solidFill>
                  <a:srgbClr val="16213A"/>
                </a:solidFill>
                <a:latin typeface="Consolas"/>
                <a:ea typeface="Malgun Gothic"/>
                <a:cs typeface="Malgun Gothic"/>
              </a:rPr>
              <a:t>GeometricTraversability</a:t>
            </a:r>
            <a:r>
              <a:rPr sz="1050" b="0" i="0">
                <a:solidFill>
                  <a:srgbClr val="16213A"/>
                </a:solidFill>
                <a:latin typeface="Arial"/>
                <a:ea typeface="Malgun Gothic"/>
                <a:cs typeface="Malgun Gothic"/>
              </a:rPr>
              <a:t>에는 고중심 개념이 </a:t>
            </a:r>
            <a:r>
              <a:rPr sz="1050" b="1" i="0">
                <a:solidFill>
                  <a:srgbClr val="16213A"/>
                </a:solidFill>
                <a:latin typeface="Arial"/>
                <a:ea typeface="Malgun Gothic"/>
                <a:cs typeface="Malgun Gothic"/>
              </a:rPr>
              <a:t>아예 없다</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바퀴 지지</a:t>
            </a:r>
            <a:r>
              <a:rPr sz="1050" b="0" i="0">
                <a:solidFill>
                  <a:srgbClr val="16213A"/>
                </a:solidFill>
                <a:latin typeface="Arial"/>
                <a:ea typeface="Malgun Gothic"/>
                <a:cs typeface="Malgun Gothic"/>
              </a:rPr>
              <a:t>: 접지점 하나가 나머지 평면 아래로 매달리는가. </a:t>
            </a:r>
            <a:r>
              <a:rPr sz="1050" b="0" i="0">
                <a:solidFill>
                  <a:srgbClr val="16213A"/>
                </a:solidFill>
                <a:latin typeface="Consolas"/>
                <a:ea typeface="Malgun Gothic"/>
                <a:cs typeface="Malgun Gothic"/>
              </a:rPr>
              <a:t>step</a:t>
            </a:r>
            <a:r>
              <a:rPr sz="1050" b="0" i="0">
                <a:solidFill>
                  <a:srgbClr val="16213A"/>
                </a:solidFill>
                <a:latin typeface="Arial"/>
                <a:ea typeface="Malgun Gothic"/>
                <a:cs typeface="Malgun Gothic"/>
              </a:rPr>
              <a:t>은 이것을 같은 높이의 융기와 구분하지 못한다.</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A.13.5 TP-0082 — 학습 필터를 기준선으로 세우려다 평가 기반의 순환을 찾았다</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86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셋 중 둘은 기하 비용에 존재하지 않고, 셋 다 </a:t>
            </a:r>
            <a:r>
              <a:rPr sz="1050" b="1" i="0">
                <a:solidFill>
                  <a:srgbClr val="16213A"/>
                </a:solidFill>
                <a:latin typeface="Arial"/>
                <a:ea typeface="Malgun Gothic"/>
                <a:cs typeface="Malgun Gothic"/>
              </a:rPr>
              <a:t>방위각에 의존</a:t>
            </a:r>
            <a:r>
              <a:rPr sz="1050" b="0" i="0">
                <a:solidFill>
                  <a:srgbClr val="16213A"/>
                </a:solidFill>
                <a:latin typeface="Arial"/>
                <a:ea typeface="Malgun Gothic"/>
                <a:cs typeface="Malgun Gothic"/>
              </a:rPr>
              <a:t>한다. 등방 팽창 feature 더미로는 표현할 수 없어서 재진술이 아니라 기준이 된다. 기하 값은 AntBot G50 공개 값이다(</a:t>
            </a:r>
            <a:r>
              <a:rPr sz="1050" b="0" i="0">
                <a:solidFill>
                  <a:srgbClr val="16213A"/>
                </a:solidFill>
                <a:latin typeface="Consolas"/>
                <a:ea typeface="Malgun Gothic"/>
                <a:cs typeface="Malgun Gothic"/>
              </a:rPr>
              <a:t>antbot.xacro</a:t>
            </a:r>
            <a:r>
              <a:rPr sz="1050" b="0" i="0">
                <a:solidFill>
                  <a:srgbClr val="16213A"/>
                </a:solidFill>
                <a:latin typeface="Arial"/>
                <a:ea typeface="Malgun Gothic"/>
                <a:cs typeface="Malgun Gothic"/>
              </a:rPr>
              <a:t>, Apache-2.0): 휠베이스 0.530 m, 윤거 0.401 m, 바퀴 반지름 0.103 m. </a:t>
            </a:r>
            <a:r>
              <a:rPr sz="1050" b="0" i="0">
                <a:solidFill>
                  <a:srgbClr val="16213A"/>
                </a:solidFill>
                <a:latin typeface="Consolas"/>
                <a:ea typeface="Malgun Gothic"/>
                <a:cs typeface="Malgun Gothic"/>
              </a:rPr>
              <a:t>clearance_m</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0.10만 가정이다</a:t>
            </a:r>
            <a:r>
              <a:rPr sz="1050" b="0" i="0">
                <a:solidFill>
                  <a:srgbClr val="16213A"/>
                </a:solidFill>
                <a:latin typeface="Arial"/>
                <a:ea typeface="Malgun Gothic"/>
                <a:cs typeface="Malgun Gothic"/>
              </a:rPr>
              <a:t> (TP-0035가 사용자 대기).</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검증: 평면은 모든 방위각에서 실패 0이고 </a:t>
            </a:r>
            <a:r>
              <a:rPr sz="1050" b="0" i="0">
                <a:solidFill>
                  <a:srgbClr val="16213A"/>
                </a:solidFill>
                <a:latin typeface="Consolas"/>
                <a:ea typeface="Malgun Gothic"/>
                <a:cs typeface="Malgun Gothic"/>
              </a:rPr>
              <a:t>pitch_max</a:t>
            </a:r>
            <a:r>
              <a:rPr sz="1050" b="0" i="0">
                <a:solidFill>
                  <a:srgbClr val="16213A"/>
                </a:solidFill>
                <a:latin typeface="Arial"/>
                <a:ea typeface="Malgun Gothic"/>
                <a:cs typeface="Malgun Gothic"/>
              </a:rPr>
              <a:t>가 정확히 10°, 지상고가 정확히 0.100이다. 0.07 m 턱은 모든 방위각 통과, 0.24 m 연석은 모든 방위각 실패(belly+tip, wheel drop 0 — 올라가는 턱은 바퀴를 매달지 않는다). </a:t>
            </a:r>
            <a:r>
              <a:rPr sz="1050" b="0" i="0">
                <a:solidFill>
                  <a:srgbClr val="16213A"/>
                </a:solidFill>
                <a:latin typeface="Consolas"/>
                <a:ea typeface="Malgun Gothic"/>
                <a:cs typeface="Malgun Gothic"/>
              </a:rPr>
              <a:t>NEGATIVE_SCENARIOS</a:t>
            </a:r>
            <a:r>
              <a:rPr sz="1050" b="0" i="0">
                <a:solidFill>
                  <a:srgbClr val="16213A"/>
                </a:solidFill>
                <a:latin typeface="Arial"/>
                <a:ea typeface="Malgun Gothic"/>
                <a:cs typeface="Malgun Gothic"/>
              </a:rPr>
              <a:t> 셋 모두 0% — 독립 기준도 "치명 셀 없음"에 동의한다.</a:t>
            </a:r>
          </a:p>
        </p:txBody>
      </p:sp>
      <p:sp>
        <p:nvSpPr>
          <p:cNvPr id="7" name="TextBox 6"/>
          <p:cNvSpPr txBox="1"/>
          <p:nvPr/>
        </p:nvSpPr>
        <p:spPr>
          <a:xfrm>
            <a:off x="717550" y="22883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세 추정기를 맞대면</a:t>
            </a:r>
          </a:p>
        </p:txBody>
      </p:sp>
      <p:sp>
        <p:nvSpPr>
          <p:cNvPr id="8" name="TextBox 7"/>
          <p:cNvSpPr txBox="1"/>
          <p:nvPr/>
        </p:nvSpPr>
        <p:spPr>
          <a:xfrm>
            <a:off x="609600" y="259159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4 시나리오 × seed 0–2, 0.05 m, 인식은 일부러 완벽(참 고도를 셋에 그대로 넣어 추정기만 남긴다).</a:t>
            </a:r>
          </a:p>
        </p:txBody>
      </p:sp>
      <p:graphicFrame>
        <p:nvGraphicFramePr>
          <p:cNvPr id="9" name="Table 8"/>
          <p:cNvGraphicFramePr>
            <a:graphicFrameLocks noGrp="1"/>
          </p:cNvGraphicFramePr>
          <p:nvPr/>
        </p:nvGraphicFramePr>
        <p:xfrm>
          <a:off x="609600" y="2896989"/>
          <a:ext cx="10966450" cy="1379616"/>
        </p:xfrm>
        <a:graphic>
          <a:graphicData uri="http://schemas.openxmlformats.org/drawingml/2006/table">
            <a:tbl>
              <a:tblPr firstRow="1" bandRow="1">
                <a:tableStyleId>{5C22544A-7EE6-4342-B048-85BDC9FD1C3A}</a:tableStyleId>
              </a:tblPr>
              <a:tblGrid>
                <a:gridCol w="1646932"/>
                <a:gridCol w="1091605"/>
                <a:gridCol w="839093"/>
                <a:gridCol w="1276747"/>
                <a:gridCol w="957163"/>
                <a:gridCol w="1105198"/>
                <a:gridCol w="696813"/>
                <a:gridCol w="1720751"/>
                <a:gridCol w="1632148"/>
              </a:tblGrid>
              <a:tr h="197088">
                <a:tc>
                  <a:txBody>
                    <a:bodyPr wrap="square"/>
                    <a:lstStyle/>
                    <a:p>
                      <a:r>
                        <a:rPr sz="800" b="1" i="0">
                          <a:solidFill>
                            <a:srgbClr val="F4F1EA"/>
                          </a:solidFill>
                          <a:latin typeface="Arial"/>
                          <a:ea typeface="Malgun Gothic"/>
                          <a:cs typeface="Malgun Gothic"/>
                        </a:rPr>
                        <a:t>variant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lethal%</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MISS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miss(any)</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over</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IoU 섀시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오탐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MAE(기하 대비)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IoU(기하 대비)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기하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13.62</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1936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31437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0.165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1.000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RSL gate 0.15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2.48</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5961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35675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2067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0.219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0.1511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0.173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RSL gate 0.30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7.14</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2243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13413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4963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0.295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0.1045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0.551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RSL gate 0.50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11.18</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2578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16920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0.194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0.0657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0.777</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RSL soft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2.31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6065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35808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0.231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0.0922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0.158</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TravNet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13.62</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1936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31440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0.165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0.0162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0.999</a:t>
                      </a:r>
                    </a:p>
                  </a:txBody>
                  <a:tcPr marL="63500" marR="63500" marT="12700" marB="12700">
                    <a:solidFill>
                      <a:srgbClr val="F3F0E8"/>
                    </a:solidFill>
                  </a:tcPr>
                </a:tc>
              </a:tr>
            </a:tbl>
          </a:graphicData>
        </a:graphic>
      </p:graphicFrame>
      <p:sp>
        <p:nvSpPr>
          <p:cNvPr id="10" name="TextBox 9"/>
          <p:cNvSpPr txBox="1"/>
          <p:nvPr/>
        </p:nvSpPr>
        <p:spPr>
          <a:xfrm>
            <a:off x="609600" y="4716760"/>
            <a:ext cx="10972800" cy="432991"/>
          </a:xfrm>
          <a:prstGeom prst="rect">
            <a:avLst/>
          </a:prstGeom>
          <a:noFill/>
        </p:spPr>
        <p:txBody>
          <a:bodyPr wrap="square" lIns="0" rIns="0" tIns="0" bIns="0" anchor="t">
            <a:spAutoFit/>
            <a:normAutofit/>
          </a:bodyPr>
          <a:lstStyle/>
          <a:p>
            <a:r>
              <a:rPr sz="1050" b="0" i="0">
                <a:solidFill>
                  <a:srgbClr val="16213A"/>
                </a:solidFill>
                <a:latin typeface="Consolas"/>
                <a:ea typeface="Malgun Gothic"/>
                <a:cs typeface="Malgun Gothic"/>
              </a:rPr>
              <a:t>MISS</a:t>
            </a:r>
            <a:r>
              <a:rPr sz="1050" b="0" i="0">
                <a:solidFill>
                  <a:srgbClr val="16213A"/>
                </a:solidFill>
                <a:latin typeface="Arial"/>
                <a:ea typeface="Malgun Gothic"/>
                <a:cs typeface="Malgun Gothic"/>
              </a:rPr>
              <a:t>는 </a:t>
            </a:r>
            <a:r>
              <a:rPr sz="1050" b="1" i="0">
                <a:solidFill>
                  <a:srgbClr val="16213A"/>
                </a:solidFill>
                <a:latin typeface="Arial"/>
                <a:ea typeface="Malgun Gothic"/>
                <a:cs typeface="Malgun Gothic"/>
              </a:rPr>
              <a:t>차체가 어느 방위각으로도 들어가지 못하는 칸을 추정기가 주행 가능이라 부른 수</a:t>
            </a:r>
            <a:r>
              <a:rPr sz="1050" b="0" i="0">
                <a:solidFill>
                  <a:srgbClr val="16213A"/>
                </a:solidFill>
                <a:latin typeface="Arial"/>
                <a:ea typeface="Malgun Gothic"/>
                <a:cs typeface="Malgun Gothic"/>
              </a:rPr>
              <a:t>다. 여기서 유일한 안전 관련 수치다. </a:t>
            </a:r>
            <a:r>
              <a:rPr sz="1050" b="0" i="0">
                <a:solidFill>
                  <a:srgbClr val="16213A"/>
                </a:solidFill>
                <a:latin typeface="Consolas"/>
                <a:ea typeface="Malgun Gothic"/>
                <a:cs typeface="Malgun Gothic"/>
              </a:rPr>
              <a:t>miss(any)</a:t>
            </a:r>
            <a:r>
              <a:rPr sz="1050" b="0" i="0">
                <a:solidFill>
                  <a:srgbClr val="16213A"/>
                </a:solidFill>
                <a:latin typeface="Arial"/>
                <a:ea typeface="Malgun Gothic"/>
                <a:cs typeface="Malgun Gothic"/>
              </a:rPr>
              <a:t>는 그보다 약한 조건 — </a:t>
            </a:r>
            <a:r>
              <a:rPr sz="1050" b="1" i="0">
                <a:solidFill>
                  <a:srgbClr val="16213A"/>
                </a:solidFill>
                <a:latin typeface="Arial"/>
                <a:ea typeface="Malgun Gothic"/>
                <a:cs typeface="Malgun Gothic"/>
              </a:rPr>
              <a:t>일부 방위각에서만</a:t>
            </a:r>
            <a:r>
              <a:rPr sz="1050" b="0" i="0">
                <a:solidFill>
                  <a:srgbClr val="16213A"/>
                </a:solidFill>
                <a:latin typeface="Arial"/>
                <a:ea typeface="Malgun Gothic"/>
                <a:cs typeface="Malgun Gothic"/>
              </a:rPr>
              <a:t> 들어가는 칸을 주행 가능이라 부른 수다. </a:t>
            </a:r>
            <a:r>
              <a:rPr sz="1050" b="0" i="0">
                <a:solidFill>
                  <a:srgbClr val="16213A"/>
                </a:solidFill>
                <a:latin typeface="Consolas"/>
                <a:ea typeface="Malgun Gothic"/>
                <a:cs typeface="Malgun Gothic"/>
              </a:rPr>
              <a:t>over</a:t>
            </a:r>
            <a:r>
              <a:rPr sz="1050" b="0" i="0">
                <a:solidFill>
                  <a:srgbClr val="16213A"/>
                </a:solidFill>
                <a:latin typeface="Arial"/>
                <a:ea typeface="Malgun Gothic"/>
                <a:cs typeface="Malgun Gothic"/>
              </a:rPr>
              <a:t>는 반대 방향(차체가 모든 방위각에서 들어가는데 치명이라 함)이고, 오탐은 치명 셀이 없는 </a:t>
            </a:r>
            <a:r>
              <a:rPr sz="1050" b="0" i="0">
                <a:solidFill>
                  <a:srgbClr val="16213A"/>
                </a:solidFill>
                <a:latin typeface="Consolas"/>
                <a:ea typeface="Malgun Gothic"/>
                <a:cs typeface="Malgun Gothic"/>
              </a:rPr>
              <a:t>NEGATIVE_SCENARIOS</a:t>
            </a:r>
            <a:r>
              <a:rPr sz="1050" b="0" i="0">
                <a:solidFill>
                  <a:srgbClr val="16213A"/>
                </a:solidFill>
                <a:latin typeface="Arial"/>
                <a:ea typeface="Malgun Gothic"/>
                <a:cs typeface="Malgun Gothic"/>
              </a:rPr>
              <a:t>에서 나온 치명 칸 수다.</a:t>
            </a:r>
          </a:p>
        </p:txBody>
      </p:sp>
      <p:sp>
        <p:nvSpPr>
          <p:cNvPr id="11" name="TextBox 10"/>
          <p:cNvSpPr txBox="1"/>
          <p:nvPr/>
        </p:nvSpPr>
        <p:spPr>
          <a:xfrm>
            <a:off x="609600" y="5238651"/>
            <a:ext cx="10972800" cy="776486"/>
          </a:xfrm>
          <a:prstGeom prst="rect">
            <a:avLst/>
          </a:prstGeom>
          <a:solidFill>
            <a:srgbClr val="EEF1F6"/>
          </a:solidFill>
        </p:spPr>
        <p:txBody>
          <a:bodyPr wrap="square" lIns="114300" rIns="114300" tIns="63500" bIns="63500" anchor="t">
            <a:spAutoFit/>
            <a:normAutofit/>
          </a:bodyPr>
          <a:lstStyle/>
          <a:p>
            <a:r>
              <a:rPr sz="1050" b="1" i="0">
                <a:solidFill>
                  <a:srgbClr val="33405A"/>
                </a:solidFill>
                <a:latin typeface="Arial"/>
                <a:ea typeface="Malgun Gothic"/>
                <a:cs typeface="Malgun Gothic"/>
              </a:rPr>
              <a:t>2026-10-01 정정.</a:t>
            </a:r>
            <a:r>
              <a:rPr sz="1050" b="0" i="0">
                <a:solidFill>
                  <a:srgbClr val="33405A"/>
                </a:solidFill>
                <a:latin typeface="Arial"/>
                <a:ea typeface="Malgun Gothic"/>
                <a:cs typeface="Malgun Gothic"/>
              </a:rPr>
              <a:t> 최초 게시한 표는 섀시 기준의 바퀴 지지 판정이 4배 관대한 상태에서 잰 것이었다. 최소제곱 평면에 대한 잔차는 네 접지점의 뒤틀림 </a:t>
            </a:r>
            <a:r>
              <a:rPr sz="1050" b="0" i="0">
                <a:solidFill>
                  <a:srgbClr val="33405A"/>
                </a:solidFill>
                <a:latin typeface="Consolas"/>
                <a:ea typeface="Malgun Gothic"/>
                <a:cs typeface="Malgun Gothic"/>
              </a:rPr>
              <a:t>|twist|</a:t>
            </a:r>
            <a:r>
              <a:rPr sz="1050" b="0" i="0">
                <a:solidFill>
                  <a:srgbClr val="33405A"/>
                </a:solidFill>
                <a:latin typeface="Arial"/>
                <a:ea typeface="Malgun Gothic"/>
                <a:cs typeface="Malgun Gothic"/>
              </a:rPr>
              <a:t>의 </a:t>
            </a:r>
            <a:r>
              <a:rPr sz="1050" b="1" i="0">
                <a:solidFill>
                  <a:srgbClr val="33405A"/>
                </a:solidFill>
                <a:latin typeface="Arial"/>
                <a:ea typeface="Malgun Gothic"/>
                <a:cs typeface="Malgun Gothic"/>
              </a:rPr>
              <a:t>1/4</a:t>
            </a:r>
            <a:r>
              <a:rPr sz="1050" b="0" i="0">
                <a:solidFill>
                  <a:srgbClr val="33405A"/>
                </a:solidFill>
                <a:latin typeface="Arial"/>
                <a:ea typeface="Malgun Gothic"/>
                <a:cs typeface="Malgun Gothic"/>
              </a:rPr>
              <a:t>인데 그것을 문턱과 직접 비교해서, </a:t>
            </a:r>
            <a:r>
              <a:rPr sz="1050" b="0" i="0">
                <a:solidFill>
                  <a:srgbClr val="33405A"/>
                </a:solidFill>
                <a:latin typeface="Consolas"/>
                <a:ea typeface="Malgun Gothic"/>
                <a:cs typeface="Malgun Gothic"/>
              </a:rPr>
              <a:t>max_wheel_drop_m</a:t>
            </a:r>
            <a:r>
              <a:rPr sz="1050" b="0" i="0">
                <a:solidFill>
                  <a:srgbClr val="33405A"/>
                </a:solidFill>
                <a:latin typeface="Arial"/>
                <a:ea typeface="Malgun Gothic"/>
                <a:cs typeface="Malgun Gothic"/>
              </a:rPr>
              <a:t> 0.08 m가 사실상 </a:t>
            </a:r>
            <a:r>
              <a:rPr sz="1050" b="1" i="0">
                <a:solidFill>
                  <a:srgbClr val="33405A"/>
                </a:solidFill>
                <a:latin typeface="Arial"/>
                <a:ea typeface="Malgun Gothic"/>
                <a:cs typeface="Malgun Gothic"/>
              </a:rPr>
              <a:t>0.32 m</a:t>
            </a:r>
            <a:r>
              <a:rPr sz="1050" b="0" i="0">
                <a:solidFill>
                  <a:srgbClr val="33405A"/>
                </a:solidFill>
                <a:latin typeface="Arial"/>
                <a:ea typeface="Malgun Gothic"/>
                <a:cs typeface="Malgun Gothic"/>
              </a:rPr>
              <a:t>로 동작했다(실측: 처짐 0.20 m가 통과하고 0.36 m에서야 걸렸다). 위 표는 고친 기준으로 다시 잰 값이다. </a:t>
            </a:r>
            <a:r>
              <a:rPr sz="1050" b="1" i="0">
                <a:solidFill>
                  <a:srgbClr val="33405A"/>
                </a:solidFill>
                <a:latin typeface="Arial"/>
                <a:ea typeface="Malgun Gothic"/>
                <a:cs typeface="Malgun Gothic"/>
              </a:rPr>
              <a:t>결론의 방향은 그대로</a:t>
            </a:r>
            <a:r>
              <a:rPr sz="1050" b="0" i="0">
                <a:solidFill>
                  <a:srgbClr val="33405A"/>
                </a:solidFill>
                <a:latin typeface="Arial"/>
                <a:ea typeface="Malgun Gothic"/>
                <a:cs typeface="Malgun Gothic"/>
              </a:rPr>
              <a:t>이고 </a:t>
            </a:r>
            <a:r>
              <a:rPr sz="1050" b="0" i="0">
                <a:solidFill>
                  <a:srgbClr val="33405A"/>
                </a:solidFill>
                <a:latin typeface="Consolas"/>
                <a:ea typeface="Malgun Gothic"/>
                <a:cs typeface="Malgun Gothic"/>
              </a:rPr>
              <a:t>over</a:t>
            </a:r>
            <a:r>
              <a:rPr sz="1050" b="0" i="0">
                <a:solidFill>
                  <a:srgbClr val="33405A"/>
                </a:solidFill>
                <a:latin typeface="Arial"/>
                <a:ea typeface="Malgun Gothic"/>
                <a:cs typeface="Malgun Gothic"/>
              </a:rPr>
              <a:t>와 </a:t>
            </a:r>
            <a:r>
              <a:rPr sz="1050" b="0" i="0">
                <a:solidFill>
                  <a:srgbClr val="33405A"/>
                </a:solidFill>
                <a:latin typeface="Consolas"/>
                <a:ea typeface="Malgun Gothic"/>
                <a:cs typeface="Malgun Gothic"/>
              </a:rPr>
              <a:t>miss(any)</a:t>
            </a:r>
            <a:r>
              <a:rPr sz="1050" b="0" i="0">
                <a:solidFill>
                  <a:srgbClr val="33405A"/>
                </a:solidFill>
                <a:latin typeface="Arial"/>
                <a:ea typeface="Malgun Gothic"/>
                <a:cs typeface="Malgun Gothic"/>
              </a:rPr>
              <a:t>가 주로 바뀌었다.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A.13.5 TP-0082 — 학습 필터를 기준선으로 세우려다 평가 기반의 순환을 찾았다</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87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읽는 법.</a:t>
            </a:r>
          </a:p>
        </p:txBody>
      </p:sp>
      <p:sp>
        <p:nvSpPr>
          <p:cNvPr id="6" name="TextBox 5"/>
          <p:cNvSpPr txBox="1"/>
          <p:nvPr/>
        </p:nvSpPr>
        <p:spPr>
          <a:xfrm>
            <a:off x="609600" y="1549995"/>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C2410C"/>
                </a:solidFill>
                <a:latin typeface="Arial"/>
                <a:ea typeface="Malgun Gothic"/>
                <a:cs typeface="Malgun Gothic"/>
              </a:rPr>
              <a:t>RSL 필터는 </a:t>
            </a:r>
            <a:r>
              <a:rPr sz="1050" b="1" i="0">
                <a:solidFill>
                  <a:srgbClr val="C2410C"/>
                </a:solidFill>
                <a:latin typeface="Arial"/>
                <a:ea typeface="Malgun Gothic"/>
                <a:cs typeface="Malgun Gothic"/>
              </a:rPr>
              <a:t>공개된 배포 운용점에서 물리적으로 통과 불가한 칸을 놓친다</a:t>
            </a:r>
            <a:r>
              <a:rPr sz="1050" b="1" i="0">
                <a:solidFill>
                  <a:srgbClr val="C2410C"/>
                </a:solidFill>
                <a:latin typeface="Arial"/>
                <a:ea typeface="Malgun Gothic"/>
                <a:cs typeface="Malgun Gothic"/>
              </a:rPr>
              <a:t>.</a:t>
            </a:r>
            <a:r>
              <a:rPr sz="1050" b="0" i="0">
                <a:solidFill>
                  <a:srgbClr val="16213A"/>
                </a:solidFill>
                <a:latin typeface="Arial"/>
                <a:ea typeface="Malgun Gothic"/>
                <a:cs typeface="Malgun Gothic"/>
              </a:rPr>
              <a:t> art_planner가 싣고 다니는 0.15 게이트에서 </a:t>
            </a:r>
            <a:r>
              <a:rPr sz="1050" b="1" i="0">
                <a:solidFill>
                  <a:srgbClr val="16213A"/>
                </a:solidFill>
                <a:latin typeface="Arial"/>
                <a:ea typeface="Malgun Gothic"/>
                <a:cs typeface="Malgun Gothic"/>
              </a:rPr>
              <a:t>5961칸</a:t>
            </a:r>
            <a:r>
              <a:rPr sz="1050" b="0" i="0">
                <a:solidFill>
                  <a:srgbClr val="16213A"/>
                </a:solidFill>
                <a:latin typeface="Arial"/>
                <a:ea typeface="Malgun Gothic"/>
                <a:cs typeface="Malgun Gothic"/>
              </a:rPr>
              <a:t>이다. 저자 자신의 분류 문턱인 0.5에서만 0이 된다.</a:t>
            </a:r>
          </a:p>
          <a:p>
            <a:pPr>
              <a:spcBef>
                <a:spcPts val="200"/>
              </a:spcBef>
            </a:pPr>
            <a:r>
              <a:rPr sz="1050" b="0" i="0">
                <a:solidFill>
                  <a:srgbClr val="5A6478"/>
                </a:solidFill>
                <a:latin typeface="Arial"/>
                <a:ea typeface="Malgun Gothic"/>
                <a:cs typeface="Malgun Gothic"/>
              </a:rPr>
              <a:t>2. </a:t>
            </a:r>
            <a:r>
              <a:rPr sz="1050" b="1" i="0">
                <a:solidFill>
                  <a:srgbClr val="C2410C"/>
                </a:solidFill>
                <a:latin typeface="Arial"/>
                <a:ea typeface="Malgun Gothic"/>
                <a:cs typeface="Malgun Gothic"/>
              </a:rPr>
              <a:t>놓친 칸은 경사에 쏠린다.</a:t>
            </a:r>
            <a:r>
              <a:rPr sz="1050" b="0" i="0">
                <a:solidFill>
                  <a:srgbClr val="16213A"/>
                </a:solidFill>
                <a:latin typeface="Arial"/>
                <a:ea typeface="Malgun Gothic"/>
                <a:cs typeface="Malgun Gothic"/>
              </a:rPr>
              <a:t> 0.15에서 </a:t>
            </a:r>
            <a:r>
              <a:rPr sz="1050" b="0" i="0">
                <a:solidFill>
                  <a:srgbClr val="16213A"/>
                </a:solidFill>
                <a:latin typeface="Consolas"/>
                <a:ea typeface="Malgun Gothic"/>
                <a:cs typeface="Malgun Gothic"/>
              </a:rPr>
              <a:t>slope_crossfall</a:t>
            </a:r>
            <a:r>
              <a:rPr sz="1050" b="0" i="0">
                <a:solidFill>
                  <a:srgbClr val="16213A"/>
                </a:solidFill>
                <a:latin typeface="Arial"/>
                <a:ea typeface="Malgun Gothic"/>
                <a:cs typeface="Malgun Gothic"/>
              </a:rPr>
              <a:t> 4381(73 %), </a:t>
            </a:r>
            <a:r>
              <a:rPr sz="1050" b="0" i="0">
                <a:solidFill>
                  <a:srgbClr val="16213A"/>
                </a:solidFill>
                <a:latin typeface="Consolas"/>
                <a:ea typeface="Malgun Gothic"/>
                <a:cs typeface="Malgun Gothic"/>
              </a:rPr>
              <a:t>curb_ramp</a:t>
            </a:r>
            <a:r>
              <a:rPr sz="1050" b="0" i="0">
                <a:solidFill>
                  <a:srgbClr val="16213A"/>
                </a:solidFill>
                <a:latin typeface="Arial"/>
                <a:ea typeface="Malgun Gothic"/>
                <a:cs typeface="Malgun Gothic"/>
              </a:rPr>
              <a:t> 844, </a:t>
            </a:r>
            <a:r>
              <a:rPr sz="1050" b="0" i="0">
                <a:solidFill>
                  <a:srgbClr val="16213A"/>
                </a:solidFill>
                <a:latin typeface="Consolas"/>
                <a:ea typeface="Malgun Gothic"/>
                <a:cs typeface="Malgun Gothic"/>
              </a:rPr>
              <a:t>random_mix</a:t>
            </a:r>
            <a:r>
              <a:rPr sz="1050" b="0" i="0">
                <a:solidFill>
                  <a:srgbClr val="16213A"/>
                </a:solidFill>
                <a:latin typeface="Arial"/>
                <a:ea typeface="Malgun Gothic"/>
                <a:cs typeface="Malgun Gothic"/>
              </a:rPr>
              <a:t> 423, </a:t>
            </a:r>
            <a:r>
              <a:rPr sz="1050" b="0" i="0">
                <a:solidFill>
                  <a:srgbClr val="16213A"/>
                </a:solidFill>
                <a:latin typeface="Consolas"/>
                <a:ea typeface="Malgun Gothic"/>
                <a:cs typeface="Malgun Gothic"/>
              </a:rPr>
              <a:t>bumps_potholes</a:t>
            </a:r>
            <a:r>
              <a:rPr sz="1050" b="0" i="0">
                <a:solidFill>
                  <a:srgbClr val="16213A"/>
                </a:solidFill>
                <a:latin typeface="Arial"/>
                <a:ea typeface="Malgun Gothic"/>
                <a:cs typeface="Malgun Gothic"/>
              </a:rPr>
              <a:t> 313이고, </a:t>
            </a:r>
            <a:r>
              <a:rPr sz="1050" b="1" i="0">
                <a:solidFill>
                  <a:srgbClr val="16213A"/>
                </a:solidFill>
                <a:latin typeface="Arial"/>
                <a:ea typeface="Malgun Gothic"/>
                <a:cs typeface="Malgun Gothic"/>
              </a:rPr>
              <a:t>0.30에서는 2243칸 중 2235(99.6 %)가 </a:t>
            </a:r>
            <a:r>
              <a:rPr sz="1050" b="1" i="0">
                <a:solidFill>
                  <a:srgbClr val="16213A"/>
                </a:solidFill>
                <a:latin typeface="Consolas"/>
                <a:ea typeface="Malgun Gothic"/>
                <a:cs typeface="Malgun Gothic"/>
              </a:rPr>
              <a:t>slope_crossfall</a:t>
            </a:r>
            <a:r>
              <a:rPr sz="1050" b="0" i="0">
                <a:solidFill>
                  <a:srgbClr val="16213A"/>
                </a:solidFill>
                <a:latin typeface="Arial"/>
                <a:ea typeface="Malgun Gothic"/>
                <a:cs typeface="Malgun Gothic"/>
              </a:rPr>
              <a:t>이다(나머지 셋 합계 8칸). 즉 </a:t>
            </a:r>
            <a:r>
              <a:rPr sz="1050" b="1" i="0">
                <a:solidFill>
                  <a:srgbClr val="16213A"/>
                </a:solidFill>
                <a:latin typeface="Arial"/>
                <a:ea typeface="Malgun Gothic"/>
                <a:cs typeface="Malgun Gothic"/>
              </a:rPr>
              <a:t>불연속 장애물(연석·포트홀)보다 지속적인 경사에서 훨씬 크게 무너진다</a:t>
            </a:r>
            <a:r>
              <a:rPr sz="1050" b="0" i="0">
                <a:solidFill>
                  <a:srgbClr val="16213A"/>
                </a:solidFill>
                <a:latin typeface="Arial"/>
                <a:ea typeface="Malgun Gothic"/>
                <a:cs typeface="Malgun Gothic"/>
              </a:rPr>
              <a:t> — 이방성과 해상도 의존이 사는 곳이다.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이유가 닫힌 형태로 나온다. 게이트를 평면 경사각으로 환산하면(측정한 변형, 즉 </a:t>
            </a:r>
            <a:r>
              <a:rPr sz="1050" b="0" i="0">
                <a:solidFill>
                  <a:srgbClr val="16213A"/>
                </a:solidFill>
                <a:latin typeface="Consolas"/>
                <a:ea typeface="Malgun Gothic"/>
                <a:cs typeface="Malgun Gothic"/>
              </a:rPr>
              <a:t>rescale_to_train_res=True</a:t>
            </a:r>
            <a:r>
              <a:rPr sz="1050" b="0" i="0">
                <a:solidFill>
                  <a:srgbClr val="16213A"/>
                </a:solidFill>
                <a:latin typeface="Arial"/>
                <a:ea typeface="Malgun Gothic"/>
                <a:cs typeface="Malgun Gothic"/>
              </a:rPr>
              <a:t> 기준. 배포본 그대로의 값은 괄호 안):</a:t>
            </a:r>
          </a:p>
        </p:txBody>
      </p:sp>
      <p:graphicFrame>
        <p:nvGraphicFramePr>
          <p:cNvPr id="7" name="Table 6"/>
          <p:cNvGraphicFramePr>
            <a:graphicFrameLocks noGrp="1"/>
          </p:cNvGraphicFramePr>
          <p:nvPr/>
        </p:nvGraphicFramePr>
        <p:xfrm>
          <a:off x="609600" y="2555677"/>
          <a:ext cx="10966450" cy="788352"/>
        </p:xfrm>
        <a:graphic>
          <a:graphicData uri="http://schemas.openxmlformats.org/drawingml/2006/table">
            <a:tbl>
              <a:tblPr firstRow="1" bandRow="1">
                <a:tableStyleId>{5C22544A-7EE6-4342-B048-85BDC9FD1C3A}</a:tableStyleId>
              </a:tblPr>
              <a:tblGrid>
                <a:gridCol w="4081760"/>
                <a:gridCol w="4805958"/>
                <a:gridCol w="2078732"/>
              </a:tblGrid>
              <a:tr h="197088">
                <a:tc>
                  <a:txBody>
                    <a:bodyPr wrap="square"/>
                    <a:lstStyle/>
                    <a:p>
                      <a:r>
                        <a:rPr sz="800" b="1" i="0">
                          <a:solidFill>
                            <a:srgbClr val="F4F1EA"/>
                          </a:solidFill>
                          <a:latin typeface="Arial"/>
                          <a:ea typeface="Malgun Gothic"/>
                          <a:cs typeface="Malgun Gothic"/>
                        </a:rPr>
                        <a:t>게이트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치명이라 하기 시작하는 각 (방향에 따라)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rescale 끄면</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0.15 (art_planner 배포)</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42.4° – 53.3°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36.1° – 47.0°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0.30 (우리 격자의 측정 분리점)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30.1° – 40.4°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24.9° – 34.3°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0.50 (논문 5.B의 저자 분류 문턱)</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18.4° – 26.1°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14.9° – 21.4°</a:t>
                      </a:r>
                    </a:p>
                  </a:txBody>
                  <a:tcPr marL="63500" marR="63500" marT="12700" marB="12700">
                    <a:solidFill>
                      <a:srgbClr val="FFFDF8"/>
                    </a:solidFill>
                  </a:tcPr>
                </a:tc>
              </a:tr>
            </a:tbl>
          </a:graphicData>
        </a:graphic>
      </p:graphicFrame>
      <p:sp>
        <p:nvSpPr>
          <p:cNvPr id="8" name="TextBox 7"/>
          <p:cNvSpPr txBox="1"/>
          <p:nvPr/>
        </p:nvSpPr>
        <p:spPr>
          <a:xfrm>
            <a:off x="609600" y="3636367"/>
            <a:ext cx="10972800" cy="1515467"/>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차체는 17.2°(roll)/20.1°(pitch)에서 넘어진다.</a:t>
            </a:r>
            <a:r>
              <a:rPr sz="1050" b="0" i="0">
                <a:solidFill>
                  <a:srgbClr val="16213A"/>
                </a:solidFill>
                <a:latin typeface="Arial"/>
                <a:ea typeface="Malgun Gothic"/>
                <a:cs typeface="Malgun Gothic"/>
              </a:rPr>
              <a:t> 배포 게이트가 </a:t>
            </a:r>
            <a:r>
              <a:rPr sz="1050" b="1" i="0">
                <a:solidFill>
                  <a:srgbClr val="16213A"/>
                </a:solidFill>
                <a:latin typeface="Arial"/>
                <a:ea typeface="Malgun Gothic"/>
                <a:cs typeface="Malgun Gothic"/>
              </a:rPr>
              <a:t>전복각의 약 2.5배</a:t>
            </a:r>
            <a:r>
              <a:rPr sz="1050" b="0" i="0">
                <a:solidFill>
                  <a:srgbClr val="16213A"/>
                </a:solidFill>
                <a:latin typeface="Arial"/>
                <a:ea typeface="Malgun Gothic"/>
                <a:cs typeface="Malgun Gothic"/>
              </a:rPr>
              <a:t>에서야 치명이라 말하는 것이 MISS 5961의 전부다. 논문 자신의 0.5도 밴드의 </a:t>
            </a:r>
            <a:r>
              <a:rPr sz="1050" b="1" i="0">
                <a:solidFill>
                  <a:srgbClr val="16213A"/>
                </a:solidFill>
                <a:latin typeface="Arial"/>
                <a:ea typeface="Malgun Gothic"/>
                <a:cs typeface="Malgun Gothic"/>
              </a:rPr>
              <a:t>아래 끝(18.4°)이 roll 한계 17.2°보다 위</a:t>
            </a:r>
            <a:r>
              <a:rPr sz="1050" b="0" i="0">
                <a:solidFill>
                  <a:srgbClr val="16213A"/>
                </a:solidFill>
                <a:latin typeface="Arial"/>
                <a:ea typeface="Malgun Gothic"/>
                <a:cs typeface="Malgun Gothic"/>
              </a:rPr>
              <a:t>라 전복각을 감싸지는 못한다 — 그래도 MISS가 0인 이유는 </a:t>
            </a:r>
            <a:r>
              <a:rPr sz="1050" b="0" i="0">
                <a:solidFill>
                  <a:srgbClr val="16213A"/>
                </a:solidFill>
                <a:latin typeface="Consolas"/>
                <a:ea typeface="Malgun Gothic"/>
                <a:cs typeface="Malgun Gothic"/>
              </a:rPr>
              <a:t>MISS</a:t>
            </a:r>
            <a:r>
              <a:rPr sz="1050" b="0" i="0">
                <a:solidFill>
                  <a:srgbClr val="16213A"/>
                </a:solidFill>
                <a:latin typeface="Arial"/>
                <a:ea typeface="Malgun Gothic"/>
                <a:cs typeface="Malgun Gothic"/>
              </a:rPr>
              <a:t>가 </a:t>
            </a:r>
            <a:r>
              <a:rPr sz="1050" b="0" i="1">
                <a:solidFill>
                  <a:srgbClr val="16213A"/>
                </a:solidFill>
                <a:latin typeface="Arial"/>
                <a:ea typeface="Malgun Gothic"/>
                <a:cs typeface="Malgun Gothic"/>
              </a:rPr>
              <a:t>모든</a:t>
            </a:r>
            <a:r>
              <a:rPr sz="1050" b="0" i="0">
                <a:solidFill>
                  <a:srgbClr val="16213A"/>
                </a:solidFill>
                <a:latin typeface="Arial"/>
                <a:ea typeface="Malgun Gothic"/>
                <a:cs typeface="Malgun Gothic"/>
              </a:rPr>
              <a:t> 방위각에서의 불가를 요구하고 그 조건이 pitch 한계 20.1°에 걸리기 때문이다. 4. </a:t>
            </a:r>
            <a:r>
              <a:rPr sz="1050" b="1" i="0">
                <a:solidFill>
                  <a:srgbClr val="16213A"/>
                </a:solidFill>
                <a:latin typeface="Arial"/>
                <a:ea typeface="Malgun Gothic"/>
                <a:cs typeface="Malgun Gothic"/>
              </a:rPr>
              <a:t>기하와 TravNet은 MISS가 0</a:t>
            </a:r>
            <a:r>
              <a:rPr sz="1050" b="0" i="0">
                <a:solidFill>
                  <a:srgbClr val="16213A"/>
                </a:solidFill>
                <a:latin typeface="Arial"/>
                <a:ea typeface="Malgun Gothic"/>
                <a:cs typeface="Malgun Gothic"/>
              </a:rPr>
              <a:t>이다. 물리적으로 어느 방위로도 못 들어가는 칸을 주행 가능이라 부른 적이 없다. 다만 </a:t>
            </a:r>
            <a:r>
              <a:rPr sz="1050" b="0" i="0">
                <a:solidFill>
                  <a:srgbClr val="16213A"/>
                </a:solidFill>
                <a:latin typeface="Consolas"/>
                <a:ea typeface="Malgun Gothic"/>
                <a:cs typeface="Malgun Gothic"/>
              </a:rPr>
              <a:t>miss(any)</a:t>
            </a:r>
            <a:r>
              <a:rPr sz="1050" b="0" i="0">
                <a:solidFill>
                  <a:srgbClr val="16213A"/>
                </a:solidFill>
                <a:latin typeface="Arial"/>
                <a:ea typeface="Malgun Gothic"/>
                <a:cs typeface="Malgun Gothic"/>
              </a:rPr>
              <a:t>가 1936칸이다 — 차체가 </a:t>
            </a:r>
            <a:r>
              <a:rPr sz="1050" b="1" i="0">
                <a:solidFill>
                  <a:srgbClr val="16213A"/>
                </a:solidFill>
                <a:latin typeface="Arial"/>
                <a:ea typeface="Malgun Gothic"/>
                <a:cs typeface="Malgun Gothic"/>
              </a:rPr>
              <a:t>일부 방위각에서만</a:t>
            </a:r>
            <a:r>
              <a:rPr sz="1050" b="0" i="0">
                <a:solidFill>
                  <a:srgbClr val="16213A"/>
                </a:solidFill>
                <a:latin typeface="Arial"/>
                <a:ea typeface="Malgun Gothic"/>
                <a:cs typeface="Malgun Gothic"/>
              </a:rPr>
              <a:t> 들어가는 칸을 둘 다 주행 가능이라 부른다 (</a:t>
            </a:r>
            <a:r>
              <a:rPr sz="1050" b="0" i="0">
                <a:solidFill>
                  <a:srgbClr val="16213A"/>
                </a:solidFill>
                <a:latin typeface="Consolas"/>
                <a:ea typeface="Malgun Gothic"/>
                <a:cs typeface="Malgun Gothic"/>
              </a:rPr>
              <a:t>bumps_potholes</a:t>
            </a:r>
            <a:r>
              <a:rPr sz="1050" b="0" i="0">
                <a:solidFill>
                  <a:srgbClr val="16213A"/>
                </a:solidFill>
                <a:latin typeface="Arial"/>
                <a:ea typeface="Malgun Gothic"/>
                <a:cs typeface="Malgun Gothic"/>
              </a:rPr>
              <a:t> 1868, </a:t>
            </a:r>
            <a:r>
              <a:rPr sz="1050" b="0" i="0">
                <a:solidFill>
                  <a:srgbClr val="16213A"/>
                </a:solidFill>
                <a:latin typeface="Consolas"/>
                <a:ea typeface="Malgun Gothic"/>
                <a:cs typeface="Malgun Gothic"/>
              </a:rPr>
              <a:t>random_mix</a:t>
            </a:r>
            <a:r>
              <a:rPr sz="1050" b="0" i="0">
                <a:solidFill>
                  <a:srgbClr val="16213A"/>
                </a:solidFill>
                <a:latin typeface="Arial"/>
                <a:ea typeface="Malgun Gothic"/>
                <a:cs typeface="Malgun Gothic"/>
              </a:rPr>
              <a:t> 68). 기하 비용은 등방 팽창이라 "이 방향으로만 설 수 있다"를 표현할 수단이 없다. 방위각 의존이 표현의 빈자리로 드러난 지점이다. 5. </a:t>
            </a:r>
            <a:r>
              <a:rPr sz="1050" b="1" i="0">
                <a:solidFill>
                  <a:srgbClr val="16213A"/>
                </a:solidFill>
                <a:latin typeface="Arial"/>
                <a:ea typeface="Malgun Gothic"/>
                <a:cs typeface="Malgun Gothic"/>
              </a:rPr>
              <a:t>셋 다 </a:t>
            </a:r>
            <a:r>
              <a:rPr sz="1050" b="1" i="0">
                <a:solidFill>
                  <a:srgbClr val="16213A"/>
                </a:solidFill>
                <a:latin typeface="Consolas"/>
                <a:ea typeface="Malgun Gothic"/>
                <a:cs typeface="Malgun Gothic"/>
              </a:rPr>
              <a:t>NEGATIVE_SCENARIOS</a:t>
            </a:r>
            <a:r>
              <a:rPr sz="1050" b="1" i="0">
                <a:solidFill>
                  <a:srgbClr val="16213A"/>
                </a:solidFill>
                <a:latin typeface="Arial"/>
                <a:ea typeface="Malgun Gothic"/>
                <a:cs typeface="Malgun Gothic"/>
              </a:rPr>
              <a:t> 오탐이 0</a:t>
            </a:r>
            <a:r>
              <a:rPr sz="1050" b="0" i="0">
                <a:solidFill>
                  <a:srgbClr val="16213A"/>
                </a:solidFill>
                <a:latin typeface="Arial"/>
                <a:ea typeface="Malgun Gothic"/>
                <a:cs typeface="Malgun Gothic"/>
              </a:rPr>
              <a:t>이다. 6. TravNet은 기하와 사실상 같다(IoU 0.999, MAE 0.0162, </a:t>
            </a:r>
            <a:r>
              <a:rPr sz="1050" b="0" i="0">
                <a:solidFill>
                  <a:srgbClr val="16213A"/>
                </a:solidFill>
                <a:latin typeface="Consolas"/>
                <a:ea typeface="Malgun Gothic"/>
                <a:cs typeface="Malgun Gothic"/>
              </a:rPr>
              <a:t>miss(any)</a:t>
            </a:r>
            <a:r>
              <a:rPr sz="1050" b="0" i="0">
                <a:solidFill>
                  <a:srgbClr val="16213A"/>
                </a:solidFill>
                <a:latin typeface="Arial"/>
                <a:ea typeface="Malgun Gothic"/>
                <a:cs typeface="Malgun Gothic"/>
              </a:rPr>
              <a:t>도 1936으로 동일). 잔차 구조상 치명 셀을 거의 건드리지 않는다는 TP-0022의 기록과 일치한다. </a:t>
            </a:r>
            <a:r>
              <a:rPr sz="1050" b="1" i="0">
                <a:solidFill>
                  <a:srgbClr val="C2410C"/>
                </a:solidFill>
                <a:latin typeface="Arial"/>
                <a:ea typeface="Malgun Gothic"/>
                <a:cs typeface="Malgun Gothic"/>
              </a:rPr>
              <a:t>셋을 나란히 두는 실험에서 TravNet은 별개의 답이 아니라 기하의 미세 보정이다.</a:t>
            </a:r>
            <a:r>
              <a:rPr sz="1050" b="0" i="0">
                <a:solidFill>
                  <a:srgbClr val="16213A"/>
                </a:solidFill>
                <a:latin typeface="Arial"/>
                <a:ea typeface="Malgun Gothic"/>
                <a:cs typeface="Malgun Gothic"/>
              </a:rPr>
              <a:t> 7. 기하의 </a:t>
            </a:r>
            <a:r>
              <a:rPr sz="1050" b="0" i="0">
                <a:solidFill>
                  <a:srgbClr val="16213A"/>
                </a:solidFill>
                <a:latin typeface="Consolas"/>
                <a:ea typeface="Malgun Gothic"/>
                <a:cs typeface="Malgun Gothic"/>
              </a:rPr>
              <a:t>over</a:t>
            </a:r>
            <a:r>
              <a:rPr sz="1050" b="0" i="0">
                <a:solidFill>
                  <a:srgbClr val="16213A"/>
                </a:solidFill>
                <a:latin typeface="Arial"/>
                <a:ea typeface="Malgun Gothic"/>
                <a:cs typeface="Malgun Gothic"/>
              </a:rPr>
              <a:t> 31437은 결함이 아니라 </a:t>
            </a:r>
            <a:r>
              <a:rPr sz="1050" b="1" i="0">
                <a:solidFill>
                  <a:srgbClr val="16213A"/>
                </a:solidFill>
                <a:latin typeface="Arial"/>
                <a:ea typeface="Malgun Gothic"/>
                <a:cs typeface="Malgun Gothic"/>
              </a:rPr>
              <a:t>설계 여유</a:t>
            </a:r>
            <a:r>
              <a:rPr sz="1050" b="0" i="0">
                <a:solidFill>
                  <a:srgbClr val="16213A"/>
                </a:solidFill>
                <a:latin typeface="Arial"/>
                <a:ea typeface="Malgun Gothic"/>
                <a:cs typeface="Malgun Gothic"/>
              </a:rPr>
              <a:t>다. 비용은 14.9°에서 포화하는데 차체는 17–20°에서 넘어진다.</a:t>
            </a:r>
          </a:p>
        </p:txBody>
      </p:sp>
      <p:sp>
        <p:nvSpPr>
          <p:cNvPr id="9" name="TextBox 8"/>
          <p:cNvSpPr txBox="1"/>
          <p:nvPr/>
        </p:nvSpPr>
        <p:spPr>
          <a:xfrm>
            <a:off x="609600" y="5240734"/>
            <a:ext cx="10972800" cy="216495"/>
          </a:xfrm>
          <a:prstGeom prst="rect">
            <a:avLst/>
          </a:prstGeom>
          <a:noFill/>
        </p:spPr>
        <p:txBody>
          <a:bodyPr wrap="square" lIns="0" rIns="0" tIns="0" bIns="0" anchor="t">
            <a:spAutoFit/>
            <a:normAutofit/>
          </a:bodyPr>
          <a:lstStyle/>
          <a:p>
            <a:r>
              <a:rPr sz="1050" b="0" i="0">
                <a:solidFill>
                  <a:srgbClr val="16213A"/>
                </a:solidFill>
                <a:latin typeface="Consolas"/>
                <a:ea typeface="Malgun Gothic"/>
                <a:cs typeface="Malgun Gothic"/>
              </a:rPr>
              <a:t>rsl_soft</a:t>
            </a:r>
            <a:r>
              <a:rPr sz="1050" b="0" i="0">
                <a:solidFill>
                  <a:srgbClr val="16213A"/>
                </a:solidFill>
                <a:latin typeface="Arial"/>
                <a:ea typeface="Malgun Gothic"/>
                <a:cs typeface="Malgun Gothic"/>
              </a:rPr>
              <a:t>의 MISS는 필터가 아니라 문턱 이야기다. </a:t>
            </a:r>
            <a:r>
              <a:rPr sz="1050" b="0" i="0">
                <a:solidFill>
                  <a:srgbClr val="16213A"/>
                </a:solidFill>
                <a:latin typeface="Consolas"/>
                <a:ea typeface="Malgun Gothic"/>
                <a:cs typeface="Malgun Gothic"/>
              </a:rPr>
              <a:t>cost = 1 - t</a:t>
            </a:r>
            <a:r>
              <a:rPr sz="1050" b="0" i="0">
                <a:solidFill>
                  <a:srgbClr val="16213A"/>
                </a:solidFill>
                <a:latin typeface="Arial"/>
                <a:ea typeface="Malgun Gothic"/>
                <a:cs typeface="Malgun Gothic"/>
              </a:rPr>
              <a:t>이므로 0.95 치명은 </a:t>
            </a:r>
            <a:r>
              <a:rPr sz="1050" b="0" i="1">
                <a:solidFill>
                  <a:srgbClr val="16213A"/>
                </a:solidFill>
                <a:latin typeface="Arial"/>
                <a:ea typeface="Malgun Gothic"/>
                <a:cs typeface="Malgun Gothic"/>
              </a:rPr>
              <a:t>t ≤ 0.05</a:t>
            </a:r>
            <a:r>
              <a:rPr sz="1050" b="0" i="0">
                <a:solidFill>
                  <a:srgbClr val="16213A"/>
                </a:solidFill>
                <a:latin typeface="Arial"/>
                <a:ea typeface="Malgun Gothic"/>
                <a:cs typeface="Malgun Gothic"/>
              </a:rPr>
              <a:t>를 뜻하고, 공개된 어떤 운용점보다 엄격하다.</a:t>
            </a:r>
          </a:p>
        </p:txBody>
      </p:sp>
      <p:sp>
        <p:nvSpPr>
          <p:cNvPr id="10" name="TextBox 9"/>
          <p:cNvSpPr txBox="1"/>
          <p:nvPr/>
        </p:nvSpPr>
        <p:spPr>
          <a:xfrm>
            <a:off x="609600" y="554613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지상고 스윕</a:t>
            </a:r>
            <a:r>
              <a:rPr sz="1050" b="0" i="0">
                <a:solidFill>
                  <a:srgbClr val="16213A"/>
                </a:solidFill>
                <a:latin typeface="Arial"/>
                <a:ea typeface="Malgun Gothic"/>
                <a:cs typeface="Malgun Gothic"/>
              </a:rPr>
              <a:t>(유일한 가정): </a:t>
            </a:r>
            <a:r>
              <a:rPr sz="1050" b="1" i="0">
                <a:solidFill>
                  <a:srgbClr val="C2410C"/>
                </a:solidFill>
                <a:latin typeface="Arial"/>
                <a:ea typeface="Malgun Gothic"/>
                <a:cs typeface="Malgun Gothic"/>
              </a:rPr>
              <a:t>0.08–0.20 m에서 결론이 바뀌지 않는다.</a:t>
            </a:r>
            <a:r>
              <a:rPr sz="1050" b="0" i="0">
                <a:solidFill>
                  <a:srgbClr val="16213A"/>
                </a:solidFill>
                <a:latin typeface="Arial"/>
                <a:ea typeface="Malgun Gothic"/>
                <a:cs typeface="Malgun Gothic"/>
              </a:rPr>
              <a:t> 기하·TravNet·</a:t>
            </a:r>
            <a:r>
              <a:rPr sz="1050" b="0" i="0">
                <a:solidFill>
                  <a:srgbClr val="16213A"/>
                </a:solidFill>
                <a:latin typeface="Consolas"/>
                <a:ea typeface="Malgun Gothic"/>
                <a:cs typeface="Malgun Gothic"/>
              </a:rPr>
              <a:t>gate 0.5</a:t>
            </a:r>
            <a:r>
              <a:rPr sz="1050" b="0" i="0">
                <a:solidFill>
                  <a:srgbClr val="16213A"/>
                </a:solidFill>
                <a:latin typeface="Arial"/>
                <a:ea typeface="Malgun Gothic"/>
                <a:cs typeface="Malgun Gothic"/>
              </a:rPr>
              <a:t>는 그 구간 전체에서 MISS 0이고, </a:t>
            </a:r>
            <a:r>
              <a:rPr sz="1050" b="0" i="0">
                <a:solidFill>
                  <a:srgbClr val="16213A"/>
                </a:solidFill>
                <a:latin typeface="Consolas"/>
                <a:ea typeface="Malgun Gothic"/>
                <a:cs typeface="Malgun Gothic"/>
              </a:rPr>
              <a:t>gate 0.15</a:t>
            </a:r>
            <a:r>
              <a:rPr sz="1050" b="0" i="0">
                <a:solidFill>
                  <a:srgbClr val="16213A"/>
                </a:solidFill>
                <a:latin typeface="Arial"/>
                <a:ea typeface="Malgun Gothic"/>
                <a:cs typeface="Malgun Gothic"/>
              </a:rPr>
              <a:t>는 8640 → 4531칸으로 줄되 0에 가까워지지 않는다. 0.05 m에서는 기하와 TravNet도 30칸, </a:t>
            </a:r>
            <a:r>
              <a:rPr sz="1050" b="0" i="0">
                <a:solidFill>
                  <a:srgbClr val="16213A"/>
                </a:solidFill>
                <a:latin typeface="Consolas"/>
                <a:ea typeface="Malgun Gothic"/>
                <a:cs typeface="Malgun Gothic"/>
              </a:rPr>
              <a:t>gate 0.5</a:t>
            </a:r>
            <a:r>
              <a:rPr sz="1050" b="0" i="0">
                <a:solidFill>
                  <a:srgbClr val="16213A"/>
                </a:solidFill>
                <a:latin typeface="Arial"/>
                <a:ea typeface="Malgun Gothic"/>
                <a:cs typeface="Malgun Gothic"/>
              </a:rPr>
              <a:t>도 2칸을 놓치는데, 바퀴 반지름 0.103 m의 절반이라 비현실적이다. 그래도 결론이 가정에 걸리는 지점이라 적어 둔다.</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A.13.5 TP-0082 — 학습 필터를 기준선으로 세우려다 평가 기반의 순환을 찾았다</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88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부수적으로 나온 것</a:t>
            </a:r>
          </a:p>
        </p:txBody>
      </p:sp>
      <p:sp>
        <p:nvSpPr>
          <p:cNvPr id="6" name="TextBox 5"/>
          <p:cNvSpPr txBox="1"/>
          <p:nvPr/>
        </p:nvSpPr>
        <p:spPr>
          <a:xfrm>
            <a:off x="609600" y="1547812"/>
            <a:ext cx="10972800" cy="11078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조사 시점에는 </a:t>
            </a:r>
            <a:r>
              <a:rPr sz="1050" b="1" i="0">
                <a:solidFill>
                  <a:srgbClr val="C2410C"/>
                </a:solidFill>
                <a:latin typeface="Arial"/>
                <a:ea typeface="Malgun Gothic"/>
                <a:cs typeface="Malgun Gothic"/>
              </a:rPr>
              <a:t>이 필터가 L1 매 프레임 돌고 결과만 버려지고 있었다</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emap_mapper.py</a:t>
            </a:r>
            <a:r>
              <a:rPr sz="1050" b="0" i="0">
                <a:solidFill>
                  <a:srgbClr val="16213A"/>
                </a:solidFill>
                <a:latin typeface="Arial"/>
                <a:ea typeface="Malgun Gothic"/>
                <a:cs typeface="Malgun Gothic"/>
              </a:rPr>
              <a:t>가 실제 </a:t>
            </a:r>
            <a:r>
              <a:rPr sz="1050" b="0" i="0">
                <a:solidFill>
                  <a:srgbClr val="16213A"/>
                </a:solidFill>
                <a:latin typeface="Consolas"/>
                <a:ea typeface="Malgun Gothic"/>
                <a:cs typeface="Malgun Gothic"/>
              </a:rPr>
              <a:t>weights.dat</a:t>
            </a:r>
            <a:r>
              <a:rPr sz="1050" b="0" i="0">
                <a:solidFill>
                  <a:srgbClr val="16213A"/>
                </a:solidFill>
                <a:latin typeface="Arial"/>
                <a:ea typeface="Malgun Gothic"/>
                <a:cs typeface="Malgun Gothic"/>
              </a:rPr>
              <a:t>를 연결했고 벤더링 트리에 가드가 없었으며, </a:t>
            </a:r>
            <a:r>
              <a:rPr sz="1050" b="0" i="0">
                <a:solidFill>
                  <a:srgbClr val="16213A"/>
                </a:solidFill>
                <a:latin typeface="Consolas"/>
                <a:ea typeface="Malgun Gothic"/>
                <a:cs typeface="Malgun Gothic"/>
              </a:rPr>
              <a:t>_paste()</a:t>
            </a:r>
            <a:r>
              <a:rPr sz="1050" b="0" i="0">
                <a:solidFill>
                  <a:srgbClr val="16213A"/>
                </a:solidFill>
                <a:latin typeface="Arial"/>
                <a:ea typeface="Malgun Gothic"/>
                <a:cs typeface="Malgun Gothic"/>
              </a:rPr>
              <a:t>가 네 층만 읽어 </a:t>
            </a:r>
            <a:r>
              <a:rPr sz="1050" b="0" i="0">
                <a:solidFill>
                  <a:srgbClr val="16213A"/>
                </a:solidFill>
                <a:latin typeface="Consolas"/>
                <a:ea typeface="Malgun Gothic"/>
                <a:cs typeface="Malgun Gothic"/>
              </a:rPr>
              <a:t>get_traversability()</a:t>
            </a:r>
            <a:r>
              <a:rPr sz="1050" b="0" i="0">
                <a:solidFill>
                  <a:srgbClr val="16213A"/>
                </a:solidFill>
                <a:latin typeface="Arial"/>
                <a:ea typeface="Malgun Gothic"/>
                <a:cs typeface="Malgun Gothic"/>
              </a:rPr>
              <a:t>는 아무도 부르지 않았다. </a:t>
            </a:r>
            <a:r>
              <a:rPr sz="1050" b="1" i="0">
                <a:solidFill>
                  <a:srgbClr val="16213A"/>
                </a:solidFill>
                <a:latin typeface="Arial"/>
                <a:ea typeface="Malgun Gothic"/>
                <a:cs typeface="Malgun Gothic"/>
              </a:rPr>
              <a:t>TP-0097(같은 날)이 core의 가드를 backport하고 </a:t>
            </a:r>
            <a:r>
              <a:rPr sz="1050" b="1" i="0">
                <a:solidFill>
                  <a:srgbClr val="16213A"/>
                </a:solidFill>
                <a:latin typeface="Consolas"/>
                <a:ea typeface="Malgun Gothic"/>
                <a:cs typeface="Malgun Gothic"/>
              </a:rPr>
              <a:t>weight_file=""</a:t>
            </a:r>
            <a:r>
              <a:rPr sz="1050" b="1" i="0">
                <a:solidFill>
                  <a:srgbClr val="16213A"/>
                </a:solidFill>
                <a:latin typeface="Arial"/>
                <a:ea typeface="Malgun Gothic"/>
                <a:cs typeface="Malgun Gothic"/>
              </a:rPr>
              <a:t>로 껐다.</a:t>
            </a:r>
            <a:r>
              <a:rPr sz="1050" b="0" i="0">
                <a:solidFill>
                  <a:srgbClr val="16213A"/>
                </a:solidFill>
                <a:latin typeface="Arial"/>
                <a:ea typeface="Malgun Gothic"/>
                <a:cs typeface="Malgun Gothic"/>
              </a:rPr>
              <a:t> 위 측정이 </a:t>
            </a:r>
            <a:r>
              <a:rPr sz="1050" b="1" i="0">
                <a:solidFill>
                  <a:srgbClr val="16213A"/>
                </a:solidFill>
                <a:latin typeface="Arial"/>
                <a:ea typeface="Malgun Gothic"/>
                <a:cs typeface="Malgun Gothic"/>
              </a:rPr>
              <a:t>배포 운용점에서 안전하지 않다</a:t>
            </a:r>
            <a:r>
              <a:rPr sz="1050" b="0" i="0">
                <a:solidFill>
                  <a:srgbClr val="16213A"/>
                </a:solidFill>
                <a:latin typeface="Arial"/>
                <a:ea typeface="Malgun Gothic"/>
                <a:cs typeface="Malgun Gothic"/>
              </a:rPr>
              <a:t>고 말하므로 끄는 결정은 그대로 두고, 필요하면 </a:t>
            </a:r>
            <a:r>
              <a:rPr sz="1050" b="0" i="0">
                <a:solidFill>
                  <a:srgbClr val="16213A"/>
                </a:solidFill>
                <a:latin typeface="Consolas"/>
                <a:ea typeface="Malgun Gothic"/>
                <a:cs typeface="Malgun Gothic"/>
              </a:rPr>
              <a:t>EmapConfig</a:t>
            </a:r>
            <a:r>
              <a:rPr sz="1050" b="0" i="0">
                <a:solidFill>
                  <a:srgbClr val="16213A"/>
                </a:solidFill>
                <a:latin typeface="Arial"/>
                <a:ea typeface="Malgun Gothic"/>
                <a:cs typeface="Malgun Gothic"/>
              </a:rPr>
              <a:t> 플래그로 되살린다(A.7.2도 같은 날 갱신했다).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상류 버그 하나: </a:t>
            </a:r>
            <a:r>
              <a:rPr sz="1050" b="0" i="0">
                <a:solidFill>
                  <a:srgbClr val="16213A"/>
                </a:solidFill>
                <a:latin typeface="Consolas"/>
                <a:ea typeface="Malgun Gothic"/>
                <a:cs typeface="Malgun Gothic"/>
              </a:rPr>
              <a:t>custom_kernels.py:463</a:t>
            </a:r>
            <a:r>
              <a:rPr sz="1050" b="0" i="0">
                <a:solidFill>
                  <a:srgbClr val="16213A"/>
                </a:solidFill>
                <a:latin typeface="Arial"/>
                <a:ea typeface="Malgun Gothic"/>
                <a:cs typeface="Malgun Gothic"/>
              </a:rPr>
              <a:t>의 dilation tie-break이 거리가 아니라 부호 있는 </a:t>
            </a:r>
            <a:r>
              <a:rPr sz="1050" b="0" i="0">
                <a:solidFill>
                  <a:srgbClr val="16213A"/>
                </a:solidFill>
                <a:latin typeface="Consolas"/>
                <a:ea typeface="Malgun Gothic"/>
                <a:cs typeface="Malgun Gothic"/>
              </a:rPr>
              <a:t>dx+dy</a:t>
            </a:r>
            <a:r>
              <a:rPr sz="1050" b="0" i="0">
                <a:solidFill>
                  <a:srgbClr val="16213A"/>
                </a:solidFill>
                <a:latin typeface="Arial"/>
                <a:ea typeface="Malgun Gothic"/>
                <a:cs typeface="Malgun Gothic"/>
              </a:rPr>
              <a:t>를 최소화해서, frontier 채움 칸의 16.2%가 0.08 m 한계를 넘는 곳에서 높이를 가져온다(평균 오차 0.178 m, 최대 1.47 m). TP-0088이 모아 둔 색인 수정과 함께 올릴 거리다.</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A.13.5 TP-0082 — 학습 필터를 기준선으로 세우려다 평가 기반의 순환을 찾았다</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89 / 359</a:t>
            </a:r>
          </a:p>
        </p:txBody>
      </p:sp>
      <p:pic>
        <p:nvPicPr>
          <p:cNvPr id="5" name="Picture 4" descr="image.jpg"/>
          <p:cNvPicPr>
            <a:picLocks noChangeAspect="1"/>
          </p:cNvPicPr>
          <p:nvPr/>
        </p:nvPicPr>
        <p:blipFill>
          <a:blip r:embed="rId3"/>
          <a:stretch>
            <a:fillRect/>
          </a:stretch>
        </p:blipFill>
        <p:spPr>
          <a:xfrm>
            <a:off x="1016000" y="1244600"/>
            <a:ext cx="10160000" cy="4095750"/>
          </a:xfrm>
          <a:prstGeom prst="rect">
            <a:avLst/>
          </a:prstGeom>
        </p:spPr>
      </p:pic>
      <p:sp>
        <p:nvSpPr>
          <p:cNvPr id="6" name="TextBox 5"/>
          <p:cNvSpPr txBox="1"/>
          <p:nvPr/>
        </p:nvSpPr>
        <p:spPr>
          <a:xfrm>
            <a:off x="1016000" y="537845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왼쪽: 섀시 기하 기준 대비 MISS(빨강)와 over(파랑). 오른쪽: 놓친 칸이 어디에 생기는지.</a:t>
            </a:r>
          </a:p>
        </p:txBody>
      </p:sp>
      <p:sp>
        <p:nvSpPr>
          <p:cNvPr id="7" name="TextBox 6"/>
          <p:cNvSpPr txBox="1"/>
          <p:nvPr/>
        </p:nvSpPr>
        <p:spPr>
          <a:xfrm>
            <a:off x="609600" y="560953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 </a:t>
            </a:r>
            <a:r>
              <a:rPr sz="1050" b="0" i="0">
                <a:solidFill>
                  <a:srgbClr val="16213A"/>
                </a:solidFill>
                <a:latin typeface="Consolas"/>
                <a:ea typeface="Malgun Gothic"/>
                <a:cs typeface="Malgun Gothic"/>
              </a:rPr>
              <a:t>results/p2-estimators.tsv</a:t>
            </a:r>
            <a:r>
              <a:rPr sz="1050" b="0" i="0">
                <a:solidFill>
                  <a:srgbClr val="16213A"/>
                </a:solidFill>
                <a:latin typeface="Arial"/>
                <a:ea typeface="Malgun Gothic"/>
                <a:cs typeface="Malgun Gothic"/>
              </a:rPr>
              <a:t>. 재현: </a:t>
            </a:r>
            <a:r>
              <a:rPr sz="1050" b="0" i="0">
                <a:solidFill>
                  <a:srgbClr val="16213A"/>
                </a:solidFill>
                <a:latin typeface="Consolas"/>
                <a:ea typeface="Malgun Gothic"/>
                <a:cs typeface="Malgun Gothic"/>
              </a:rPr>
              <a:t>python scripts/eval_estimators.py --seeds 0 1 2 --tsv results/p2-estimators.tsv</a:t>
            </a:r>
            <a:r>
              <a:rPr sz="1050" b="0" i="0">
                <a:solidFill>
                  <a:srgbClr val="16213A"/>
                </a:solidFill>
                <a:latin typeface="Arial"/>
                <a:ea typeface="Malgun Gothic"/>
                <a:cs typeface="Malgun Gothic"/>
              </a:rPr>
              <a: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A.13.6 TP-0100 — belief를 차체 기준으로 재니, 위험은 "못 본 칸"에 있고 깊이 prior는 그것을 막지 않는다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90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결론 먼저.</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차체가 들어갈 수 없는 칸을 belief가 주행 가능으로 부르는 경우(MISS)는 99% 이상이 아직 못 본 칸이다.</a:t>
            </a:r>
            <a:r>
              <a:rPr sz="1050" b="0" i="0">
                <a:solidFill>
                  <a:srgbClr val="16213A"/>
                </a:solidFill>
                <a:latin typeface="Arial"/>
                <a:ea typeface="Malgun Gothic"/>
                <a:cs typeface="Malgun Gothic"/>
              </a:rPr>
              <a:t> 관측한 칸의 판정은 거의 틀리지 않는다(스냅샷 합 142칸 이하). 못 본 칸은 cost 0.5로 채워져 치명 문턱 0.95 아래에 남기 때문이다. </a:t>
            </a:r>
            <a:r>
              <a:rPr sz="1050" b="1" i="0">
                <a:solidFill>
                  <a:srgbClr val="C2410C"/>
                </a:solidFill>
                <a:latin typeface="Arial"/>
                <a:ea typeface="Malgun Gothic"/>
                <a:cs typeface="Malgun Gothic"/>
              </a:rPr>
              <a:t>그림자 상한과 깊이 prior는 로봇이 도달할 수 있는 근거리 MISS를 줄이지 않는다(2,206 → 2,204칸).</a:t>
            </a:r>
            <a:r>
              <a:rPr sz="1050" b="0" i="0">
                <a:solidFill>
                  <a:srgbClr val="16213A"/>
                </a:solidFill>
                <a:latin typeface="Arial"/>
                <a:ea typeface="Malgun Gothic"/>
                <a:cs typeface="Malgun Gothic"/>
              </a:rPr>
              <a:t> 대신 치명 판정을 22% 늘려 Planner가 포트홀에서 먼 경로를 고르게 한다. TP-0047의 폐루프 개선(36/40 → 40/40)은 이 경로 효과로 읽어야 한다. </a:t>
            </a:r>
            <a:r>
              <a:rPr sz="1050" b="1" i="0">
                <a:solidFill>
                  <a:srgbClr val="C2410C"/>
                </a:solidFill>
                <a:latin typeface="Arial"/>
                <a:ea typeface="Malgun Gothic"/>
                <a:cs typeface="Malgun Gothic"/>
              </a:rPr>
              <a:t>근거리 MISS를 가장 크게 줄이는 것은 센서 높이다(0.3 m → 0.8 m에서 3.4배 감소).</a:t>
            </a:r>
            <a:r>
              <a:rPr sz="1050" b="0" i="0">
                <a:solidFill>
                  <a:srgbClr val="16213A"/>
                </a:solidFill>
                <a:latin typeface="Arial"/>
                <a:ea typeface="Malgun Gothic"/>
                <a:cs typeface="Malgun Gothic"/>
              </a:rPr>
              <a:t> L1(실제 elevation mapping)은 L0 가림보다 2.8배 나쁘다.</a:t>
            </a:r>
          </a:p>
        </p:txBody>
      </p:sp>
      <p:pic>
        <p:nvPicPr>
          <p:cNvPr id="6" name="Picture 5" descr="image.jpg"/>
          <p:cNvPicPr>
            <a:picLocks noChangeAspect="1"/>
          </p:cNvPicPr>
          <p:nvPr/>
        </p:nvPicPr>
        <p:blipFill>
          <a:blip r:embed="rId3"/>
          <a:stretch>
            <a:fillRect/>
          </a:stretch>
        </p:blipFill>
        <p:spPr>
          <a:xfrm>
            <a:off x="1016000" y="2199481"/>
            <a:ext cx="10160000" cy="3505200"/>
          </a:xfrm>
          <a:prstGeom prst="rect">
            <a:avLst/>
          </a:prstGeom>
        </p:spPr>
      </p:pic>
      <p:sp>
        <p:nvSpPr>
          <p:cNvPr id="7" name="TextBox 6"/>
          <p:cNvSpPr txBox="1"/>
          <p:nvPr/>
        </p:nvSpPr>
        <p:spPr>
          <a:xfrm>
            <a:off x="609600" y="5793581"/>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TP-0100 (Fig. 1): 인식 설정별 MISS 비율(왼쪽)과 과하게 막은 칸(오른쪽). 오차 막대는 지상고 0.08–0.15 m 스윕이다. 출처: </a:t>
            </a:r>
            <a:r>
              <a:rPr sz="1050" b="0" i="1">
                <a:solidFill>
                  <a:srgbClr val="16213A"/>
                </a:solidFill>
                <a:latin typeface="Consolas"/>
                <a:ea typeface="Malgun Gothic"/>
                <a:cs typeface="Malgun Gothic"/>
              </a:rPr>
              <a:t>results/tp0100_belief_chassis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A.13.6 TP-0100 — belief를 차체 기준으로 재니, 위험은 "못 본 칸"에 있고 깊이 prior는 그것을 막지 않는다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91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무엇을 쟀나</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TP-0082의 차체 기하 기준(</a:t>
            </a:r>
            <a:r>
              <a:rPr sz="1050" b="0" i="0">
                <a:solidFill>
                  <a:srgbClr val="16213A"/>
                </a:solidFill>
                <a:latin typeface="Consolas"/>
                <a:ea typeface="Malgun Gothic"/>
                <a:cs typeface="Malgun Gothic"/>
              </a:rPr>
              <a:t>travplan/sim/ground_truth.py</a:t>
            </a:r>
            <a:r>
              <a:rPr sz="1050" b="0" i="0">
                <a:solidFill>
                  <a:srgbClr val="16213A"/>
                </a:solidFill>
                <a:latin typeface="Arial"/>
                <a:ea typeface="Malgun Gothic"/>
                <a:cs typeface="Malgun Gothic"/>
              </a:rPr>
              <a:t>)은 참 고도에서만 쟀다. Planner가 보는 것은 참 고도가 아니라 가림과 잡음이 있는 관측으로 만든 belief다. 그래서 같은 질문을 belief에 던졌다(</a:t>
            </a:r>
            <a:r>
              <a:rPr sz="1050" b="0" i="0">
                <a:solidFill>
                  <a:srgbClr val="16213A"/>
                </a:solidFill>
                <a:latin typeface="Consolas"/>
                <a:ea typeface="Malgun Gothic"/>
                <a:cs typeface="Malgun Gothic"/>
              </a:rPr>
              <a:t>scripts/eval_belief_chassis.py</a:t>
            </a:r>
            <a:r>
              <a:rPr sz="1050" b="0" i="0">
                <a:solidFill>
                  <a:srgbClr val="16213A"/>
                </a:solidFill>
                <a:latin typeface="Arial"/>
                <a:ea typeface="Malgun Gothic"/>
                <a:cs typeface="Malgun Gothic"/>
              </a:rPr>
              <a:t>).</a:t>
            </a:r>
          </a:p>
        </p:txBody>
      </p:sp>
      <p:sp>
        <p:nvSpPr>
          <p:cNvPr id="7" name="TextBox 6"/>
          <p:cNvSpPr txBox="1"/>
          <p:nvPr/>
        </p:nvSpPr>
        <p:spPr>
          <a:xfrm>
            <a:off x="609600" y="2069703"/>
            <a:ext cx="10972800" cy="15916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같은 위치에서 관측한다.</a:t>
            </a:r>
            <a:r>
              <a:rPr sz="1050" b="0" i="0">
                <a:solidFill>
                  <a:srgbClr val="16213A"/>
                </a:solidFill>
                <a:latin typeface="Arial"/>
                <a:ea typeface="Malgun Gothic"/>
                <a:cs typeface="Malgun Gothic"/>
              </a:rPr>
              <a:t> 지형마다 GT 지도 위 Dijkstra 경로를 하나 만들고, 그 위를 0.5 m마다 경로 방향으로 관측한다. 모든 인식 설정이 같은 위치에서 같은 순서로 관측하므로(</a:t>
            </a:r>
            <a:r>
              <a:rPr sz="1050" b="0" i="0">
                <a:solidFill>
                  <a:srgbClr val="16213A"/>
                </a:solidFill>
                <a:latin typeface="Consolas"/>
                <a:ea typeface="Malgun Gothic"/>
                <a:cs typeface="Malgun Gothic"/>
              </a:rPr>
              <a:t>observe_at</a:t>
            </a:r>
            <a:r>
              <a:rPr sz="1050" b="0" i="0">
                <a:solidFill>
                  <a:srgbClr val="16213A"/>
                </a:solidFill>
                <a:latin typeface="Arial"/>
                <a:ea typeface="Malgun Gothic"/>
                <a:cs typeface="Malgun Gothic"/>
              </a:rPr>
              <a:t>), 차이는 인식에서만 나온다. Controller가 어디로 갔는지는 섞이지 않는다.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관측마다 센서 범위(5 m) 안을 채점한다.</a:t>
            </a:r>
            <a:r>
              <a:rPr sz="1050" b="0" i="0">
                <a:solidFill>
                  <a:srgbClr val="16213A"/>
                </a:solidFill>
                <a:latin typeface="Arial"/>
                <a:ea typeface="Malgun Gothic"/>
                <a:cs typeface="Malgun Gothic"/>
              </a:rPr>
              <a:t> 차체가 어느 방위각으로도 들어가지 못하는 칸(</a:t>
            </a:r>
            <a:r>
              <a:rPr sz="1050" b="0" i="0">
                <a:solidFill>
                  <a:srgbClr val="16213A"/>
                </a:solidFill>
                <a:latin typeface="Consolas"/>
                <a:ea typeface="Malgun Gothic"/>
                <a:cs typeface="Malgun Gothic"/>
              </a:rPr>
              <a:t>lethal_all</a:t>
            </a:r>
            <a:r>
              <a:rPr sz="1050" b="0" i="0">
                <a:solidFill>
                  <a:srgbClr val="16213A"/>
                </a:solidFill>
                <a:latin typeface="Arial"/>
                <a:ea typeface="Malgun Gothic"/>
                <a:cs typeface="Malgun Gothic"/>
              </a:rPr>
              <a:t>)을 belief가 cost &lt; 0.95로 부르면 MISS다. 차체가 모든 방위각으로 들어가는데 belief가 치명이라 부르면 over다.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MISS를 세 겹으로 나눈다.</a:t>
            </a:r>
            <a:r>
              <a:rPr sz="1050" b="0" i="0">
                <a:solidFill>
                  <a:srgbClr val="16213A"/>
                </a:solidFill>
                <a:latin typeface="Arial"/>
                <a:ea typeface="Malgun Gothic"/>
                <a:cs typeface="Malgun Gothic"/>
              </a:rPr>
              <a:t> 근거리(로봇 1.5 m 안), 관측·미관측, 그리고 </a:t>
            </a:r>
            <a:r>
              <a:rPr sz="1050" b="1" i="0">
                <a:solidFill>
                  <a:srgbClr val="C2410C"/>
                </a:solidFill>
                <a:latin typeface="Arial"/>
                <a:ea typeface="Malgun Gothic"/>
                <a:cs typeface="Malgun Gothic"/>
              </a:rPr>
              <a:t>도달 가능</a:t>
            </a:r>
            <a:r>
              <a:rPr sz="1050" b="0" i="0">
                <a:solidFill>
                  <a:srgbClr val="16213A"/>
                </a:solidFill>
                <a:latin typeface="Arial"/>
                <a:ea typeface="Malgun Gothic"/>
                <a:cs typeface="Malgun Gothic"/>
              </a:rPr>
              <a:t>이다. 도달 가능은 로봇 칸에서 belief상 주행 가능한 칸만 밟아 닿을 수 있다는 뜻이다. 치명 링으로 둘러싸인 포트홀 바닥은 MISS지만 도달할 수 없다.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시나리오 4개 + 음의 지형 3개 × seed 0–2, 레벨 0, 지상고 0.08·0.10·0.15 m. L1은 </a:t>
            </a:r>
            <a:r>
              <a:rPr sz="1050" b="0" i="0">
                <a:solidFill>
                  <a:srgbClr val="16213A"/>
                </a:solidFill>
                <a:latin typeface="Consolas"/>
                <a:ea typeface="Malgun Gothic"/>
                <a:cs typeface="Malgun Gothic"/>
              </a:rPr>
              <a:t>.venv-emap</a:t>
            </a:r>
            <a:r>
              <a:rPr sz="1050" b="0" i="0">
                <a:solidFill>
                  <a:srgbClr val="16213A"/>
                </a:solidFill>
                <a:latin typeface="Arial"/>
                <a:ea typeface="Malgun Gothic"/>
                <a:cs typeface="Malgun Gothic"/>
              </a:rPr>
              <a:t>에서 같은 위치로 돌렸다.</a:t>
            </a:r>
          </a:p>
        </p:txBody>
      </p:sp>
      <p:sp>
        <p:nvSpPr>
          <p:cNvPr id="8" name="TextBox 7"/>
          <p:cNvSpPr txBox="1"/>
          <p:nvPr/>
        </p:nvSpPr>
        <p:spPr>
          <a:xfrm>
            <a:off x="717550" y="375027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결과 (시나리오 4개, 지상고 0.10 m, 스냅샷 합)</a:t>
            </a:r>
          </a:p>
        </p:txBody>
      </p:sp>
      <p:graphicFrame>
        <p:nvGraphicFramePr>
          <p:cNvPr id="9" name="Table 8"/>
          <p:cNvGraphicFramePr>
            <a:graphicFrameLocks noGrp="1"/>
          </p:cNvGraphicFramePr>
          <p:nvPr/>
        </p:nvGraphicFramePr>
        <p:xfrm>
          <a:off x="609600" y="4053483"/>
          <a:ext cx="10966452" cy="1576704"/>
        </p:xfrm>
        <a:graphic>
          <a:graphicData uri="http://schemas.openxmlformats.org/drawingml/2006/table">
            <a:tbl>
              <a:tblPr firstRow="1" bandRow="1">
                <a:tableStyleId>{5C22544A-7EE6-4342-B048-85BDC9FD1C3A}</a:tableStyleId>
              </a:tblPr>
              <a:tblGrid>
                <a:gridCol w="2953544"/>
                <a:gridCol w="1138535"/>
                <a:gridCol w="1696145"/>
                <a:gridCol w="2083495"/>
                <a:gridCol w="1696145"/>
                <a:gridCol w="1398588"/>
              </a:tblGrid>
              <a:tr h="197088">
                <a:tc>
                  <a:txBody>
                    <a:bodyPr wrap="square"/>
                    <a:lstStyle/>
                    <a:p>
                      <a:r>
                        <a:rPr sz="800" b="1" i="0">
                          <a:solidFill>
                            <a:srgbClr val="F4F1EA"/>
                          </a:solidFill>
                          <a:latin typeface="Arial"/>
                          <a:ea typeface="Malgun Gothic"/>
                          <a:cs typeface="Malgun Gothic"/>
                        </a:rPr>
                        <a:t>인식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MISS 비율</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근거리 MISS 비율</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도달 가능 근거리 MISS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관측한 칸의 MISS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과하게 막은 칸</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L0 원형(가림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842k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L0 가림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0.328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0.172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2,206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142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606k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 그림자 상한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0.171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660k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 깊이 prior(증거 제한 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0.309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0.171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2,204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750k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 깊이 prior(증거 제한, TP-0067)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0.171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741k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가림, 센서 0.8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0.230</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0.046</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642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748k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0.388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6,162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353k</a:t>
                      </a:r>
                    </a:p>
                  </a:txBody>
                  <a:tcPr marL="63500" marR="63500" marT="12700" marB="12700">
                    <a:solidFill>
                      <a:srgbClr val="FFFDF8"/>
                    </a:solidFill>
                  </a:tcPr>
                </a:tc>
              </a:tr>
            </a:tbl>
          </a:graphicData>
        </a:graphic>
      </p:graphicFrame>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A.13.6 TP-0100 — belief를 차체 기준으로 재니, 위험은 "못 본 칸"에 있고 깊이 prior는 그것을 막지 않는다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92 / 359</a:t>
            </a:r>
          </a:p>
        </p:txBody>
      </p:sp>
      <p:graphicFrame>
        <p:nvGraphicFramePr>
          <p:cNvPr id="5" name="Table 4"/>
          <p:cNvGraphicFramePr>
            <a:graphicFrameLocks noGrp="1"/>
          </p:cNvGraphicFramePr>
          <p:nvPr/>
        </p:nvGraphicFramePr>
        <p:xfrm>
          <a:off x="609600" y="1244600"/>
          <a:ext cx="10966452" cy="394176"/>
        </p:xfrm>
        <a:graphic>
          <a:graphicData uri="http://schemas.openxmlformats.org/drawingml/2006/table">
            <a:tbl>
              <a:tblPr firstRow="1" bandRow="1">
                <a:tableStyleId>{5C22544A-7EE6-4342-B048-85BDC9FD1C3A}</a:tableStyleId>
              </a:tblPr>
              <a:tblGrid>
                <a:gridCol w="2953544"/>
                <a:gridCol w="1138535"/>
                <a:gridCol w="1696145"/>
                <a:gridCol w="2083495"/>
                <a:gridCol w="1696145"/>
                <a:gridCol w="1398588"/>
              </a:tblGrid>
              <a:tr h="197088">
                <a:tc>
                  <a:txBody>
                    <a:bodyPr wrap="square"/>
                    <a:lstStyle/>
                    <a:p>
                      <a:r>
                        <a:rPr sz="800" b="1" i="0">
                          <a:solidFill>
                            <a:srgbClr val="F4F1EA"/>
                          </a:solidFill>
                          <a:latin typeface="Arial"/>
                          <a:ea typeface="Malgun Gothic"/>
                          <a:cs typeface="Malgun Gothic"/>
                        </a:rPr>
                        <a:t>인식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MISS 비율</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근거리 MISS 비율</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도달 가능 근거리 MISS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관측한 칸의 MISS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과하게 막은 칸</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L1 + 매퍼 상한 + 깊이 prior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0.613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0.381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6,047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376k</a:t>
                      </a:r>
                    </a:p>
                  </a:txBody>
                  <a:tcPr marL="63500" marR="63500" marT="12700" marB="12700">
                    <a:solidFill>
                      <a:srgbClr val="FFFDF8"/>
                    </a:solidFill>
                  </a:tcPr>
                </a:tc>
              </a:tr>
            </a:tbl>
          </a:graphicData>
        </a:graphic>
      </p:graphicFrame>
      <p:sp>
        <p:nvSpPr>
          <p:cNvPr id="6" name="TextBox 5"/>
          <p:cNvSpPr txBox="1"/>
          <p:nvPr/>
        </p:nvSpPr>
        <p:spPr>
          <a:xfrm>
            <a:off x="609600" y="1832570"/>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근거리 MISS는 거의 전부 </a:t>
            </a:r>
            <a:r>
              <a:rPr sz="1050" b="0" i="0">
                <a:solidFill>
                  <a:srgbClr val="16213A"/>
                </a:solidFill>
                <a:latin typeface="Consolas"/>
                <a:ea typeface="Malgun Gothic"/>
                <a:cs typeface="Malgun Gothic"/>
              </a:rPr>
              <a:t>bumps_potholes</a:t>
            </a:r>
            <a:r>
              <a:rPr sz="1050" b="0" i="0">
                <a:solidFill>
                  <a:srgbClr val="16213A"/>
                </a:solidFill>
                <a:latin typeface="Arial"/>
                <a:ea typeface="Malgun Gothic"/>
                <a:cs typeface="Malgun Gothic"/>
              </a:rPr>
              <a:t>의 </a:t>
            </a:r>
            <a:r>
              <a:rPr sz="1050" b="1" i="0">
                <a:solidFill>
                  <a:srgbClr val="C2410C"/>
                </a:solidFill>
                <a:latin typeface="Arial"/>
                <a:ea typeface="Malgun Gothic"/>
                <a:cs typeface="Malgun Gothic"/>
              </a:rPr>
              <a:t>포트홀에서 난다.</a:t>
            </a:r>
            <a:r>
              <a:rPr sz="1050" b="0" i="0">
                <a:solidFill>
                  <a:srgbClr val="16213A"/>
                </a:solidFill>
                <a:latin typeface="Arial"/>
                <a:ea typeface="Malgun Gothic"/>
                <a:cs typeface="Malgun Gothic"/>
              </a:rPr>
              <a:t> L0 가림에서 경사로·둔덕·혼합 지형의 근거리 MISS는 0–181칸이다(L1에서는 random_mix가 765칸).</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지상고를 0.08–0.15 m로 바꿔도 비율은 0.01 안에서 움직인다. 결론이 뒤집히는 값은 없다.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증거 제한(TP-0067)은 음의 지형 오탐(over(neg))을 27,913 → 25,708로 줄이고, MISS는 그대로다. TP-0067의 주장과 맞는다.</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A.13.6 TP-0100 — belief를 차체 기준으로 재니, 위험은 "못 본 칸"에 있고 깊이 prior는 그것을 막지 않는다</a:t>
            </a:r>
            <a:r>
              <a:rPr sz="1050" b="0" i="0">
                <a:solidFill>
                  <a:srgbClr val="5A6478"/>
                </a:solidFill>
                <a:latin typeface="Arial"/>
                <a:ea typeface="Malgun Gothic"/>
                <a:cs typeface="Malgun Gothic"/>
              </a:rPr>
              <a:t>  자세히: 해석과 한계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93 / 359</a:t>
            </a:r>
          </a:p>
        </p:txBody>
      </p:sp>
      <p:sp>
        <p:nvSpPr>
          <p:cNvPr id="5" name="TextBox 4"/>
          <p:cNvSpPr txBox="1"/>
          <p:nvPr/>
        </p:nvSpPr>
        <p:spPr>
          <a:xfrm>
            <a:off x="609600" y="1244600"/>
            <a:ext cx="10972800" cy="18081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깊이 prior가 하는 일.</a:t>
            </a:r>
            <a:r>
              <a:rPr sz="1050" b="0" i="0">
                <a:solidFill>
                  <a:srgbClr val="16213A"/>
                </a:solidFill>
                <a:latin typeface="Arial"/>
                <a:ea typeface="Malgun Gothic"/>
                <a:cs typeface="Malgun Gothic"/>
              </a:rPr>
              <a:t> prior는 "상한이 주변 관측 최저보다 낮은 그림자"를 0.10 m 깊게 채운다. 채운 바닥은 평평하므로 기하 추정기는 </a:t>
            </a:r>
            <a:r>
              <a:rPr sz="1050" b="1" i="0">
                <a:solidFill>
                  <a:srgbClr val="16213A"/>
                </a:solidFill>
                <a:latin typeface="Arial"/>
                <a:ea typeface="Malgun Gothic"/>
                <a:cs typeface="Malgun Gothic"/>
              </a:rPr>
              <a:t>가장자리의 턱</a:t>
            </a:r>
            <a:r>
              <a:rPr sz="1050" b="0" i="0">
                <a:solidFill>
                  <a:srgbClr val="16213A"/>
                </a:solidFill>
                <a:latin typeface="Arial"/>
                <a:ea typeface="Malgun Gothic"/>
                <a:cs typeface="Malgun Gothic"/>
              </a:rPr>
              <a:t>만 치명으로 부르고, 바닥 가운데는 cost 0.5 그대로다. 차체 기준으로는 그 바닥이 바퀴가 빠지는 칸이라 MISS로 남는다. 폐루프에서 prior가 통하는 이유는 두꺼워진 가장자리 링이 Guidance 경로를 포트홀에서 떼어 놓기 때문이다. 경로가 떨어지면 MISS 칸 근처로 가지 않는다.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이 지표는 "belief가 막는가"만 묻는다.</a:t>
            </a:r>
            <a:r>
              <a:rPr sz="1050" b="0" i="0">
                <a:solidFill>
                  <a:srgbClr val="16213A"/>
                </a:solidFill>
                <a:latin typeface="Arial"/>
                <a:ea typeface="Malgun Gothic"/>
                <a:cs typeface="Malgun Gothic"/>
              </a:rPr>
              <a:t> Planner와 Controller는 cost 0.5·σ 1인 칸을 공짜로 보지 않는다(Guidance의 σ 가중, MPPI의 위험 CVaR). 그래서 도달 가능 MISS는 "belief만으로는 막히지 않는 위험"의 크기이지, 충돌 수가 아니다.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L1이 나쁜 이유.</a:t>
            </a:r>
            <a:r>
              <a:rPr sz="1050" b="0" i="0">
                <a:solidFill>
                  <a:srgbClr val="16213A"/>
                </a:solidFill>
                <a:latin typeface="Arial"/>
                <a:ea typeface="Malgun Gothic"/>
                <a:cs typeface="Malgun Gothic"/>
              </a:rPr>
              <a:t> LiDAR 링 사이가 비어 근거리 미관측이 L0 가림보다 많다(TP-0053의 치명 셀 재현율 0.70과 같은 이야기). 관측한 칸의 MISS는 6칸으로 가장 적다. L1의 문제는 정확도가 아니라 </a:t>
            </a:r>
            <a:r>
              <a:rPr sz="1050" b="1" i="0">
                <a:solidFill>
                  <a:srgbClr val="16213A"/>
                </a:solidFill>
                <a:latin typeface="Arial"/>
                <a:ea typeface="Malgun Gothic"/>
                <a:cs typeface="Malgun Gothic"/>
              </a:rPr>
              <a:t>덮는 범위</a:t>
            </a:r>
            <a:r>
              <a:rPr sz="1050" b="0" i="0">
                <a:solidFill>
                  <a:srgbClr val="16213A"/>
                </a:solidFill>
                <a:latin typeface="Arial"/>
                <a:ea typeface="Malgun Gothic"/>
                <a:cs typeface="Malgun Gothic"/>
              </a:rPr>
              <a:t>다. L1 매퍼는 실행마다 조금 다르다(TP-0098). 여기 수치는 한 번 실행이다.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차체 기준은 기하만 본다. 동역학·접지·서스펜션은 없다(A.13.5).</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A.13.6 TP-0100 — belief를 차체 기준으로 재니, 위험은 "못 본 칸"에 있고 깊이 prior는 그것을 막지 않는다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94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그래서 travplan에는</a:t>
            </a:r>
          </a:p>
        </p:txBody>
      </p:sp>
      <p:sp>
        <p:nvSpPr>
          <p:cNvPr id="6" name="TextBox 5"/>
          <p:cNvSpPr txBox="1"/>
          <p:nvPr/>
        </p:nvSpPr>
        <p:spPr>
          <a:xfrm>
            <a:off x="609600" y="1547812"/>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미관측 칸의 기본 cost가 안전의 병목이다.</a:t>
            </a:r>
            <a:r>
              <a:rPr sz="1050" b="0" i="0">
                <a:solidFill>
                  <a:srgbClr val="16213A"/>
                </a:solidFill>
                <a:latin typeface="Arial"/>
                <a:ea typeface="Malgun Gothic"/>
                <a:cs typeface="Malgun Gothic"/>
              </a:rPr>
              <a:t> 근거리(정지 거리 안)의 미관측 칸을 치명이나 높은 cost로 두면 도달 가능 MISS가 직접 준다. 대가는 보수성이다. 이 균형을 잴 후속을 TP-0101로 둔다.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센서 높이가 가장 싼 해결책이다.</a:t>
            </a:r>
            <a:r>
              <a:rPr sz="1050" b="0" i="0">
                <a:solidFill>
                  <a:srgbClr val="16213A"/>
                </a:solidFill>
                <a:latin typeface="Arial"/>
                <a:ea typeface="Malgun Gothic"/>
                <a:cs typeface="Malgun Gothic"/>
              </a:rPr>
              <a:t> TP-0031의 "LiDAR 0.8 m 이상" 권장이 순환 없는 기준에서도 선다.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L1을 쓰려면 덮는 범위부터 보강해야 한다.</a:t>
            </a:r>
            <a:r>
              <a:rPr sz="1050" b="0" i="0">
                <a:solidFill>
                  <a:srgbClr val="16213A"/>
                </a:solidFill>
                <a:latin typeface="Arial"/>
                <a:ea typeface="Malgun Gothic"/>
                <a:cs typeface="Malgun Gothic"/>
              </a:rPr>
              <a:t> 근거리 사각을 전면 스테레오로 메우는 TP-0065, 분산을 σ로 옮기는 TP-0054가 그 자리다.</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A.13.7 TP-0101 — 로봇 둘레 못 본 칸을 치명으로 두면, L0에서는 거의 공짜이고 L1에서는 느려진다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95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결론 먼저.</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로봇 둘레 1.5 m 안의 못 본 칸을 치명으로 두면, L0 가림에서 로봇이 도달할 수 있는 근거리 MISS가 2,204칸에서 0이 된다.</a:t>
            </a:r>
            <a:r>
              <a:rPr sz="1050" b="0" i="0">
                <a:solidFill>
                  <a:srgbClr val="16213A"/>
                </a:solidFill>
                <a:latin typeface="Arial"/>
                <a:ea typeface="Malgun Gothic"/>
                <a:cs typeface="Malgun Gothic"/>
              </a:rPr>
              <a:t> 보수성(과하게 막은 칸, 음의 지형 오탐)은 거의 늘지 않고, 폐루프 성공률과 도달 시간도 그대로다. </a:t>
            </a:r>
            <a:r>
              <a:rPr sz="1050" b="1" i="0">
                <a:solidFill>
                  <a:srgbClr val="C2410C"/>
                </a:solidFill>
                <a:latin typeface="Arial"/>
                <a:ea typeface="Malgun Gothic"/>
                <a:cs typeface="Malgun Gothic"/>
              </a:rPr>
              <a:t>L1에서는 같은 옵션이 MISS를 6,048칸에서 4칸으로 없애지만, 음의 지형 오탐이 13배 늘고 도달이 25% 느려진다.</a:t>
            </a:r>
            <a:r>
              <a:rPr sz="1050" b="0" i="0">
                <a:solidFill>
                  <a:srgbClr val="16213A"/>
                </a:solidFill>
                <a:latin typeface="Arial"/>
                <a:ea typeface="Malgun Gothic"/>
                <a:cs typeface="Malgun Gothic"/>
              </a:rPr>
              <a:t> L1은 로봇 근처에도 못 본 칸이 많기 때문이다(A.13.6). cost를 0.8로만 올리면 치명 문턱 0.95 아래라 효과가 없다. 옵션(</a:t>
            </a:r>
            <a:r>
              <a:rPr sz="1050" b="0" i="0">
                <a:solidFill>
                  <a:srgbClr val="16213A"/>
                </a:solidFill>
                <a:latin typeface="Consolas"/>
                <a:ea typeface="Malgun Gothic"/>
                <a:cs typeface="Malgun Gothic"/>
              </a:rPr>
              <a:t>TravMapBuilder(unknown_near_m=...)</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run_benchmark.py --unknown-near</a:t>
            </a:r>
            <a:r>
              <a:rPr sz="1050" b="0" i="0">
                <a:solidFill>
                  <a:srgbClr val="16213A"/>
                </a:solidFill>
                <a:latin typeface="Arial"/>
                <a:ea typeface="Malgun Gothic"/>
                <a:cs typeface="Malgun Gothic"/>
              </a:rPr>
              <a:t>)은 기본값을 끈 채로 두고, L0에는 1.5 m를 권한다.</a:t>
            </a:r>
          </a:p>
        </p:txBody>
      </p:sp>
      <p:pic>
        <p:nvPicPr>
          <p:cNvPr id="6" name="Picture 5" descr="image.jpg"/>
          <p:cNvPicPr>
            <a:picLocks noChangeAspect="1"/>
          </p:cNvPicPr>
          <p:nvPr/>
        </p:nvPicPr>
        <p:blipFill>
          <a:blip r:embed="rId3"/>
          <a:stretch>
            <a:fillRect/>
          </a:stretch>
        </p:blipFill>
        <p:spPr>
          <a:xfrm>
            <a:off x="1016000" y="2199481"/>
            <a:ext cx="10160000" cy="3340100"/>
          </a:xfrm>
          <a:prstGeom prst="rect">
            <a:avLst/>
          </a:prstGeom>
        </p:spPr>
      </p:pic>
      <p:sp>
        <p:nvSpPr>
          <p:cNvPr id="7" name="TextBox 6"/>
          <p:cNvSpPr txBox="1"/>
          <p:nvPr/>
        </p:nvSpPr>
        <p:spPr>
          <a:xfrm>
            <a:off x="609600" y="5628481"/>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TP-0101 (Fig. 1): 차체 기준의 안전(도달 가능 근거리 MISS)과 보수성(음의 지형 오탐)의 맞바꿈(왼쪽), L0 폐루프 성공률과 도달 시간(오른쪽). 출처: </a:t>
            </a:r>
            <a:r>
              <a:rPr sz="1050" b="0" i="1">
                <a:solidFill>
                  <a:srgbClr val="16213A"/>
                </a:solidFill>
                <a:latin typeface="Consolas"/>
                <a:ea typeface="Malgun Gothic"/>
                <a:cs typeface="Malgun Gothic"/>
              </a:rPr>
              <a:t>results/tp0101_unknown_near</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A.13.7 TP-0101 — 로봇 둘레 못 본 칸을 치명으로 두면, L0에서는 거의 공짜이고 L1에서는 느려진다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96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무엇을 바꿨나</a:t>
            </a:r>
          </a:p>
        </p:txBody>
      </p:sp>
      <p:sp>
        <p:nvSpPr>
          <p:cNvPr id="6" name="TextBox 5"/>
          <p:cNvSpPr txBox="1"/>
          <p:nvPr/>
        </p:nvSpPr>
        <p:spPr>
          <a:xfrm>
            <a:off x="609600" y="1547812"/>
            <a:ext cx="10972800" cy="649486"/>
          </a:xfrm>
          <a:prstGeom prst="rect">
            <a:avLst/>
          </a:prstGeom>
          <a:noFill/>
        </p:spPr>
        <p:txBody>
          <a:bodyPr wrap="square" lIns="0" rIns="0" tIns="0" bIns="0" anchor="t">
            <a:spAutoFit/>
            <a:normAutofit/>
          </a:bodyPr>
          <a:lstStyle/>
          <a:p>
            <a:r>
              <a:rPr sz="1050" b="0" i="0">
                <a:solidFill>
                  <a:srgbClr val="16213A"/>
                </a:solidFill>
                <a:latin typeface="Consolas"/>
                <a:ea typeface="Malgun Gothic"/>
                <a:cs typeface="Malgun Gothic"/>
              </a:rPr>
              <a:t>TravMapBuilder.build(..., robot_xy=)</a:t>
            </a:r>
            <a:r>
              <a:rPr sz="1050" b="0" i="0">
                <a:solidFill>
                  <a:srgbClr val="16213A"/>
                </a:solidFill>
                <a:latin typeface="Arial"/>
                <a:ea typeface="Malgun Gothic"/>
                <a:cs typeface="Malgun Gothic"/>
              </a:rPr>
              <a:t>에 로봇 위치를 넘기면, 몸체(0.35 m)부터 </a:t>
            </a:r>
            <a:r>
              <a:rPr sz="1050" b="0" i="0">
                <a:solidFill>
                  <a:srgbClr val="16213A"/>
                </a:solidFill>
                <a:latin typeface="Consolas"/>
                <a:ea typeface="Malgun Gothic"/>
                <a:cs typeface="Malgun Gothic"/>
              </a:rPr>
              <a:t>unknown_near_m</a:t>
            </a:r>
            <a:r>
              <a:rPr sz="1050" b="0" i="0">
                <a:solidFill>
                  <a:srgbClr val="16213A"/>
                </a:solidFill>
                <a:latin typeface="Arial"/>
                <a:ea typeface="Malgun Gothic"/>
                <a:cs typeface="Malgun Gothic"/>
              </a:rPr>
              <a:t>까지의 고리 안에서 σ가 1인(못 본) 칸의 cost를 최소 </a:t>
            </a:r>
            <a:r>
              <a:rPr sz="1050" b="0" i="0">
                <a:solidFill>
                  <a:srgbClr val="16213A"/>
                </a:solidFill>
                <a:latin typeface="Consolas"/>
                <a:ea typeface="Malgun Gothic"/>
                <a:cs typeface="Malgun Gothic"/>
              </a:rPr>
              <a:t>unknown_near_cost</a:t>
            </a:r>
            <a:r>
              <a:rPr sz="1050" b="0" i="0">
                <a:solidFill>
                  <a:srgbClr val="16213A"/>
                </a:solidFill>
                <a:latin typeface="Arial"/>
                <a:ea typeface="Malgun Gothic"/>
                <a:cs typeface="Malgun Gothic"/>
              </a:rPr>
              <a:t>(기본 1.0)로 올린다. 몸체 안쪽을 빼는 것은 로봇이 자기 발밑을 못 봐도 치명 칸 위에 서 있지 않게 하려는 것이다. 시뮬레이터는 </a:t>
            </a:r>
            <a:r>
              <a:rPr sz="1050" b="0" i="0">
                <a:solidFill>
                  <a:srgbClr val="16213A"/>
                </a:solidFill>
                <a:latin typeface="Consolas"/>
                <a:ea typeface="Malgun Gothic"/>
                <a:cs typeface="Malgun Gothic"/>
              </a:rPr>
              <a:t>belief_map()</a:t>
            </a:r>
            <a:r>
              <a:rPr sz="1050" b="0" i="0">
                <a:solidFill>
                  <a:srgbClr val="16213A"/>
                </a:solidFill>
                <a:latin typeface="Arial"/>
                <a:ea typeface="Malgun Gothic"/>
                <a:cs typeface="Malgun Gothic"/>
              </a:rPr>
              <a:t>에서 현재 위치를 넘긴다. 실제 스택에서도 TravMap은 로봇 중심 지도라 위치를 안다.</a:t>
            </a:r>
          </a:p>
        </p:txBody>
      </p:sp>
      <p:sp>
        <p:nvSpPr>
          <p:cNvPr id="7" name="TextBox 6"/>
          <p:cNvSpPr txBox="1"/>
          <p:nvPr/>
        </p:nvSpPr>
        <p:spPr>
          <a:xfrm>
            <a:off x="717550" y="2286198"/>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결과</a:t>
            </a:r>
          </a:p>
        </p:txBody>
      </p:sp>
      <p:sp>
        <p:nvSpPr>
          <p:cNvPr id="8" name="TextBox 7"/>
          <p:cNvSpPr txBox="1"/>
          <p:nvPr/>
        </p:nvSpPr>
        <p:spPr>
          <a:xfrm>
            <a:off x="609600" y="258941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차체 기준(A.13.6과 같은 방법, 시나리오 4개 × seed 0–2, 지상고 0.10 m).</a:t>
            </a:r>
          </a:p>
        </p:txBody>
      </p:sp>
      <p:graphicFrame>
        <p:nvGraphicFramePr>
          <p:cNvPr id="9" name="Table 8"/>
          <p:cNvGraphicFramePr>
            <a:graphicFrameLocks noGrp="1"/>
          </p:cNvGraphicFramePr>
          <p:nvPr/>
        </p:nvGraphicFramePr>
        <p:xfrm>
          <a:off x="609600" y="2894806"/>
          <a:ext cx="10966450" cy="1576704"/>
        </p:xfrm>
        <a:graphic>
          <a:graphicData uri="http://schemas.openxmlformats.org/drawingml/2006/table">
            <a:tbl>
              <a:tblPr firstRow="1" bandRow="1">
                <a:tableStyleId>{5C22544A-7EE6-4342-B048-85BDC9FD1C3A}</a:tableStyleId>
              </a:tblPr>
              <a:tblGrid>
                <a:gridCol w="3760688"/>
                <a:gridCol w="3076575"/>
                <a:gridCol w="2064445"/>
                <a:gridCol w="2064742"/>
              </a:tblGrid>
              <a:tr h="197088">
                <a:tc>
                  <a:txBody>
                    <a:bodyPr wrap="square"/>
                    <a:lstStyle/>
                    <a:p>
                      <a:r>
                        <a:rPr sz="800" b="1" i="0">
                          <a:solidFill>
                            <a:srgbClr val="F4F1EA"/>
                          </a:solidFill>
                          <a:latin typeface="Arial"/>
                          <a:ea typeface="Malgun Gothic"/>
                          <a:cs typeface="Malgun Gothic"/>
                        </a:rPr>
                        <a:t>설정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도달 가능 근거리 MISS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과하게 막은 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음의 지형 오탐</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L0 가림 + 상한 + 깊이 prior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741k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25,708</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 미관측 1.0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1,875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742k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25,793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 미관측 1.5 m</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742k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26,204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 미관측 2.0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744k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27,052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 미관측 cost 0.8(반경 무관)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741k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25,708</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L1 + 상한 + 깊이 prior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6,048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376k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5,780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L1 + 미관측 1.5 m</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460k</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73,065</a:t>
                      </a:r>
                    </a:p>
                  </a:txBody>
                  <a:tcPr marL="63500" marR="63500" marT="12700" marB="12700">
                    <a:solidFill>
                      <a:srgbClr val="FFFDF8"/>
                    </a:solidFill>
                  </a:tcPr>
                </a:tc>
              </a:tr>
            </a:tbl>
          </a:graphicData>
        </a:graphic>
      </p:graphicFrame>
      <p:sp>
        <p:nvSpPr>
          <p:cNvPr id="10" name="TextBox 9"/>
          <p:cNvSpPr txBox="1"/>
          <p:nvPr/>
        </p:nvSpPr>
        <p:spPr>
          <a:xfrm>
            <a:off x="609600" y="496093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폐루프, L0 가림 + 상한 + 깊이 prior, 4 시나리오 × seed 0–9.</a:t>
            </a:r>
          </a:p>
        </p:txBody>
      </p:sp>
      <p:graphicFrame>
        <p:nvGraphicFramePr>
          <p:cNvPr id="11" name="Table 10"/>
          <p:cNvGraphicFramePr>
            <a:graphicFrameLocks noGrp="1"/>
          </p:cNvGraphicFramePr>
          <p:nvPr/>
        </p:nvGraphicFramePr>
        <p:xfrm>
          <a:off x="609600" y="5266333"/>
          <a:ext cx="10966450" cy="591264"/>
        </p:xfrm>
        <a:graphic>
          <a:graphicData uri="http://schemas.openxmlformats.org/drawingml/2006/table">
            <a:tbl>
              <a:tblPr firstRow="1" bandRow="1">
                <a:tableStyleId>{5C22544A-7EE6-4342-B048-85BDC9FD1C3A}</a:tableStyleId>
              </a:tblPr>
              <a:tblGrid>
                <a:gridCol w="2390080"/>
                <a:gridCol w="2969220"/>
                <a:gridCol w="3103166"/>
                <a:gridCol w="2503984"/>
              </a:tblGrid>
              <a:tr h="197088">
                <a:tc>
                  <a:txBody>
                    <a:bodyPr wrap="square"/>
                    <a:lstStyle/>
                    <a:p>
                      <a:r>
                        <a:rPr sz="800" b="1" i="0">
                          <a:solidFill>
                            <a:srgbClr val="F4F1EA"/>
                          </a:solidFill>
                          <a:latin typeface="Arial"/>
                          <a:ea typeface="Malgun Gothic"/>
                          <a:cs typeface="Malgun Gothic"/>
                        </a:rPr>
                        <a:t>설정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guidance+mppi</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planner_d+mppi</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평균 도달 시간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옵션 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38/40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16.4 / 16.7 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미관측 1.0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39/40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16.4 / 16.7 s</a:t>
                      </a:r>
                    </a:p>
                  </a:txBody>
                  <a:tcPr marL="63500" marR="63500" marT="12700" marB="12700">
                    <a:solidFill>
                      <a:srgbClr val="F3F0E8"/>
                    </a:solidFill>
                  </a:tcPr>
                </a:tc>
              </a:tr>
            </a:tbl>
          </a:graphicData>
        </a:graphic>
      </p:graphicFrame>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A.13.7 TP-0101 — 로봇 둘레 못 본 칸을 치명으로 두면, L0에서는 거의 공짜이고 L1에서는 느려진다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97 / 359</a:t>
            </a:r>
          </a:p>
        </p:txBody>
      </p:sp>
      <p:graphicFrame>
        <p:nvGraphicFramePr>
          <p:cNvPr id="5" name="Table 4"/>
          <p:cNvGraphicFramePr>
            <a:graphicFrameLocks noGrp="1"/>
          </p:cNvGraphicFramePr>
          <p:nvPr/>
        </p:nvGraphicFramePr>
        <p:xfrm>
          <a:off x="609600" y="1244600"/>
          <a:ext cx="10966450" cy="394176"/>
        </p:xfrm>
        <a:graphic>
          <a:graphicData uri="http://schemas.openxmlformats.org/drawingml/2006/table">
            <a:tbl>
              <a:tblPr firstRow="1" bandRow="1">
                <a:tableStyleId>{5C22544A-7EE6-4342-B048-85BDC9FD1C3A}</a:tableStyleId>
              </a:tblPr>
              <a:tblGrid>
                <a:gridCol w="2390080"/>
                <a:gridCol w="2969220"/>
                <a:gridCol w="3103166"/>
                <a:gridCol w="2503984"/>
              </a:tblGrid>
              <a:tr h="197088">
                <a:tc>
                  <a:txBody>
                    <a:bodyPr wrap="square"/>
                    <a:lstStyle/>
                    <a:p>
                      <a:r>
                        <a:rPr sz="800" b="1" i="0">
                          <a:solidFill>
                            <a:srgbClr val="F4F1EA"/>
                          </a:solidFill>
                          <a:latin typeface="Arial"/>
                          <a:ea typeface="Malgun Gothic"/>
                          <a:cs typeface="Malgun Gothic"/>
                        </a:rPr>
                        <a:t>설정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guidance+mppi</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planner_d+mppi</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평균 도달 시간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미관측 1.5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16.4 / 16.8 s</a:t>
                      </a:r>
                    </a:p>
                  </a:txBody>
                  <a:tcPr marL="63500" marR="63500" marT="12700" marB="12700">
                    <a:solidFill>
                      <a:srgbClr val="FFFDF8"/>
                    </a:solidFill>
                  </a:tcPr>
                </a:tc>
              </a:tr>
            </a:tbl>
          </a:graphicData>
        </a:graphic>
      </p:graphicFrame>
      <p:sp>
        <p:nvSpPr>
          <p:cNvPr id="6" name="TextBox 5"/>
          <p:cNvSpPr txBox="1"/>
          <p:nvPr/>
        </p:nvSpPr>
        <p:spPr>
          <a:xfrm>
            <a:off x="609600" y="183257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보행자 3명(seed 0–2)은 두 설정 모두 12/12, 충돌 0이다. planner_d+mppi의 보행자 최소 여유는 0.23 m에서 0.16 m로 줄었다.</a:t>
            </a:r>
          </a:p>
        </p:txBody>
      </p:sp>
      <p:sp>
        <p:nvSpPr>
          <p:cNvPr id="7" name="TextBox 6"/>
          <p:cNvSpPr txBox="1"/>
          <p:nvPr/>
        </p:nvSpPr>
        <p:spPr>
          <a:xfrm>
            <a:off x="609600" y="213796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폐루프, L1 + 상한 + 깊이 prior, guidance+mppi, seed 0–2.</a:t>
            </a:r>
            <a:r>
              <a:rPr sz="1050" b="0" i="0">
                <a:solidFill>
                  <a:srgbClr val="16213A"/>
                </a:solidFill>
                <a:latin typeface="Arial"/>
                <a:ea typeface="Malgun Gothic"/>
                <a:cs typeface="Malgun Gothic"/>
              </a:rPr>
              <a:t> 둘 다 12/12이고 멈춤은 없다. 평균 도달 시간은 15.0 s에서 18.7 s로 늘었다. 내려갈 수 있는 0.07 m 턱(</a:t>
            </a:r>
            <a:r>
              <a:rPr sz="1050" b="0" i="0">
                <a:solidFill>
                  <a:srgbClr val="16213A"/>
                </a:solidFill>
                <a:latin typeface="Consolas"/>
                <a:ea typeface="Malgun Gothic"/>
                <a:cs typeface="Malgun Gothic"/>
              </a:rPr>
              <a:t>down_curb</a:t>
            </a:r>
            <a:r>
              <a:rPr sz="1050" b="0" i="0">
                <a:solidFill>
                  <a:srgbClr val="16213A"/>
                </a:solidFill>
                <a:latin typeface="Arial"/>
                <a:ea typeface="Malgun Gothic"/>
                <a:cs typeface="Malgun Gothic"/>
              </a:rPr>
              <a:t>)에서 13.3 s에서 19.0 s로 가장 크게 늘었다. 차체 기준의 오탐 13배가 폐루프에서는 멈춤이 아니라 느려짐으로 나타난다.</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A.13.7 TP-0101 — 로봇 둘레 못 본 칸을 치명으로 두면, L0에서는 거의 공짜이고 L1에서는 느려진다</a:t>
            </a:r>
            <a:r>
              <a:rPr sz="1050" b="0" i="0">
                <a:solidFill>
                  <a:srgbClr val="5A6478"/>
                </a:solidFill>
                <a:latin typeface="Arial"/>
                <a:ea typeface="Malgun Gothic"/>
                <a:cs typeface="Malgun Gothic"/>
              </a:rPr>
              <a:t>  자세히: 해석과 한계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98 / 359</a:t>
            </a:r>
          </a:p>
        </p:txBody>
      </p:sp>
      <p:sp>
        <p:nvSpPr>
          <p:cNvPr id="5" name="TextBox 4"/>
          <p:cNvSpPr txBox="1"/>
          <p:nvPr/>
        </p:nvSpPr>
        <p:spPr>
          <a:xfrm>
            <a:off x="609600" y="1244600"/>
            <a:ext cx="10972800" cy="15916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planner_d의 38 → 40은 작은 차이로 읽는다.</a:t>
            </a:r>
            <a:r>
              <a:rPr sz="1050" b="0" i="0">
                <a:solidFill>
                  <a:srgbClr val="16213A"/>
                </a:solidFill>
                <a:latin typeface="Arial"/>
                <a:ea typeface="Malgun Gothic"/>
                <a:cs typeface="Malgun Gothic"/>
              </a:rPr>
              <a:t> 옵션을 끈 쪽의 실패 둘은 모두 치명 셀이 아니라 60 s 시간 초과(curb_ramp s5, bumps_potholes s6)였다. curb_ramp s5는 못 본 칸과 직접 관련이 없어 보이고, 경로가 조금 바뀐 효과가 섞였을 수 있다. 확실히 말할 수 있는 것은 퇴행이 없다는 것이다.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L0에서 공짜인 이유.</a:t>
            </a:r>
            <a:r>
              <a:rPr sz="1050" b="0" i="0">
                <a:solidFill>
                  <a:srgbClr val="16213A"/>
                </a:solidFill>
                <a:latin typeface="Arial"/>
                <a:ea typeface="Malgun Gothic"/>
                <a:cs typeface="Malgun Gothic"/>
              </a:rPr>
              <a:t> L0 가림에서 로봇 근처의 못 본 칸은 대개 포트홀 바닥이고, 깊이 prior가 이미 가장자리를 치명으로 둘러싸 두었다. 치명으로 바꿔도 경로가 거의 달라지지 않는다. Playground(L0 가림)에서도 주행이 같았다.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L1에서 비싼 이유.</a:t>
            </a:r>
            <a:r>
              <a:rPr sz="1050" b="0" i="0">
                <a:solidFill>
                  <a:srgbClr val="16213A"/>
                </a:solidFill>
                <a:latin typeface="Arial"/>
                <a:ea typeface="Malgun Gothic"/>
                <a:cs typeface="Malgun Gothic"/>
              </a:rPr>
              <a:t> LiDAR 링 사이와 근거리 사각(숙인 LiDAR의 가장 낮은 링 안쪽)이 비어, 평평한 길도 한동안 못 본 칸으로 남는다. 그래서 L1에 이 옵션을 쓰려면 먼저 근거리 덮개를 늘려야 한다(TP-0065 전면 스테레오, TP-0054 분산).</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보행자 최소 여유가 준 것은 보행자 3명 × seed 3개의 한 번 측정이다. DAgger 뒤 여유 감소(TP-0079)와 함께 본다.</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A.13.8 TP-0065 — 전면 스테레오를 L1의 두 번째 입력으로 넣으니, 근거리 미관측 옵션의 대가가 사라진다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99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결론 먼저.</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전면 스테레오 깊이를 elevation mapping의 두 번째 점군으로 넣으면, L1에서 "로봇 둘레 1.5 m 못 본 칸을 치명으로"(TP-0101)의 대가가 사라진다.</a:t>
            </a:r>
            <a:r>
              <a:rPr sz="1050" b="0" i="0">
                <a:solidFill>
                  <a:srgbClr val="16213A"/>
                </a:solidFill>
                <a:latin typeface="Arial"/>
                <a:ea typeface="Malgun Gothic"/>
                <a:cs typeface="Malgun Gothic"/>
              </a:rPr>
              <a:t> L1 폐루프 평균 도달 시간은 옵션만 켜면 15.2 s → 18.7 s(+23%)였는데, 스테레오와 함께 켜면 15.5 s(+2%)다. 내려갈 수 있는 턱(</a:t>
            </a:r>
            <a:r>
              <a:rPr sz="1050" b="0" i="0">
                <a:solidFill>
                  <a:srgbClr val="16213A"/>
                </a:solidFill>
                <a:latin typeface="Consolas"/>
                <a:ea typeface="Malgun Gothic"/>
                <a:cs typeface="Malgun Gothic"/>
              </a:rPr>
              <a:t>down_curb</a:t>
            </a:r>
            <a:r>
              <a:rPr sz="1050" b="0" i="0">
                <a:solidFill>
                  <a:srgbClr val="16213A"/>
                </a:solidFill>
                <a:latin typeface="Arial"/>
                <a:ea typeface="Malgun Gothic"/>
                <a:cs typeface="Malgun Gothic"/>
              </a:rPr>
              <a:t>)은 19.0 s → 13.5 s로 기준과 같아진다. 차체 기준의 음의 지형 오탐은 73,065 → 30,479칸으로 58% 줄고, 도달 가능 근거리 MISS는 거의 0(5칸)을 지킨다. </a:t>
            </a:r>
            <a:r>
              <a:rPr sz="1050" b="1" i="0">
                <a:solidFill>
                  <a:srgbClr val="C2410C"/>
                </a:solidFill>
                <a:latin typeface="Arial"/>
                <a:ea typeface="Malgun Gothic"/>
                <a:cs typeface="Malgun Gothic"/>
              </a:rPr>
              <a:t>스테레오만으로는 MISS가 5%밖에 줄지 않는다.</a:t>
            </a:r>
            <a:r>
              <a:rPr sz="1050" b="0" i="0">
                <a:solidFill>
                  <a:srgbClr val="16213A"/>
                </a:solidFill>
                <a:latin typeface="Arial"/>
                <a:ea typeface="Malgun Gothic"/>
                <a:cs typeface="Malgun Gothic"/>
              </a:rPr>
              <a:t> 로봇이 앞으로 가며 앞쪽 칸은 이미 멀리서 LiDAR로 봤기 때문이다. 스테레오의 값은 "안 보던 것을 보는 것"보다 "못 본 칸을 치명으로 둘 때 막히는 앞쪽을 풀어 주는 것"에 있다.</a:t>
            </a:r>
          </a:p>
        </p:txBody>
      </p:sp>
      <p:pic>
        <p:nvPicPr>
          <p:cNvPr id="6" name="Picture 5" descr="image.jpg"/>
          <p:cNvPicPr>
            <a:picLocks noChangeAspect="1"/>
          </p:cNvPicPr>
          <p:nvPr/>
        </p:nvPicPr>
        <p:blipFill>
          <a:blip r:embed="rId3"/>
          <a:stretch>
            <a:fillRect/>
          </a:stretch>
        </p:blipFill>
        <p:spPr>
          <a:xfrm>
            <a:off x="1016000" y="2199481"/>
            <a:ext cx="10160000" cy="3365500"/>
          </a:xfrm>
          <a:prstGeom prst="rect">
            <a:avLst/>
          </a:prstGeom>
        </p:spPr>
      </p:pic>
      <p:sp>
        <p:nvSpPr>
          <p:cNvPr id="7" name="TextBox 6"/>
          <p:cNvSpPr txBox="1"/>
          <p:nvPr/>
        </p:nvSpPr>
        <p:spPr>
          <a:xfrm>
            <a:off x="609600" y="5653881"/>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TP-0065 (Fig. 1): 차체 기준의 안전과 보수성(왼쪽), L1 폐루프 지형별 평균 도달 시간(오른쪽). 출처: </a:t>
            </a:r>
            <a:r>
              <a:rPr sz="1050" b="0" i="1">
                <a:solidFill>
                  <a:srgbClr val="16213A"/>
                </a:solidFill>
                <a:latin typeface="Consolas"/>
                <a:ea typeface="Malgun Gothic"/>
                <a:cs typeface="Malgun Gothic"/>
              </a:rPr>
              <a:t>results/tp0065_stereo</a:t>
            </a:r>
            <a:r>
              <a:rPr sz="1050" b="0" i="1">
                <a:solidFill>
                  <a:srgbClr val="16213A"/>
                </a:solidFill>
                <a:latin typeface="Arial"/>
                <a:ea typeface="Malgun Gothic"/>
                <a:cs typeface="Malgun Gothic"/>
              </a:rPr>
              <a:t>, </a:t>
            </a:r>
            <a:r>
              <a:rPr sz="1050" b="0" i="1">
                <a:solidFill>
                  <a:srgbClr val="16213A"/>
                </a:solidFill>
                <a:latin typeface="Consolas"/>
                <a:ea typeface="Malgun Gothic"/>
                <a:cs typeface="Malgun Gothic"/>
              </a:rPr>
              <a:t>results/tp0101_unknown_near</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A.13.8 TP-0065 — 전면 스테레오를 L1의 두 번째 입력으로 넣으니, 근거리 미관측 옵션의 대가가 사라진다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100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무엇을 넣었나</a:t>
            </a:r>
          </a:p>
        </p:txBody>
      </p:sp>
      <p:sp>
        <p:nvSpPr>
          <p:cNvPr id="6" name="TextBox 5"/>
          <p:cNvSpPr txBox="1"/>
          <p:nvPr/>
        </p:nvSpPr>
        <p:spPr>
          <a:xfrm>
            <a:off x="609600" y="1547812"/>
            <a:ext cx="10972800" cy="13751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Consolas"/>
                <a:ea typeface="Malgun Gothic"/>
                <a:cs typeface="Malgun Gothic"/>
              </a:rPr>
              <a:t>travplan/sim/stereo.py</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설계 D2의 사양(기선 12 cm, 초점 640 px, 시차 오차 0.25 px)으로 시야 90°×60°의 핀홀 격자 레이(96×48)를 30° 숙여 쏜다. 카메라는 로봇 중심 앞 0.25 m, 지면 위 0.30 m다. 깊이 오차는 </a:t>
            </a:r>
            <a:r>
              <a:rPr sz="1050" b="0" i="1">
                <a:solidFill>
                  <a:srgbClr val="16213A"/>
                </a:solidFill>
                <a:latin typeface="Arial"/>
                <a:ea typeface="Malgun Gothic"/>
                <a:cs typeface="Malgun Gothic"/>
              </a:rPr>
              <a:t>σ_Z = Z² Δ d / (f B)</a:t>
            </a:r>
            <a:r>
              <a:rPr sz="1050" b="0" i="0">
                <a:solidFill>
                  <a:srgbClr val="16213A"/>
                </a:solidFill>
                <a:latin typeface="Arial"/>
                <a:ea typeface="Malgun Gothic"/>
                <a:cs typeface="Malgun Gothic"/>
              </a:rPr>
              <a:t>(3 m에서 2.9 cm, 5 m에서 8.1 cm)이고, 광축에서 θ 벗어난 레이의 거리 오차는 </a:t>
            </a:r>
            <a:r>
              <a:rPr sz="1050" b="0" i="1">
                <a:solidFill>
                  <a:srgbClr val="16213A"/>
                </a:solidFill>
                <a:latin typeface="Arial"/>
                <a:ea typeface="Malgun Gothic"/>
                <a:cs typeface="Malgun Gothic"/>
              </a:rPr>
              <a:t>σ_Z / cosθ</a:t>
            </a:r>
            <a:r>
              <a:rPr sz="1050" b="0" i="0">
                <a:solidFill>
                  <a:srgbClr val="16213A"/>
                </a:solidFill>
                <a:latin typeface="Arial"/>
                <a:ea typeface="Malgun Gothic"/>
                <a:cs typeface="Malgun Gothic"/>
              </a:rPr>
              <a:t>다. 최대 거리 4 m. 무늬 없는 면·역광·야간의 매칭 실패는 모사하지 않는다.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Consolas"/>
                <a:ea typeface="Malgun Gothic"/>
                <a:cs typeface="Malgun Gothic"/>
              </a:rPr>
              <a:t>travplan/sim/lidar.py</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레이 진행을 </a:t>
            </a:r>
            <a:r>
              <a:rPr sz="1050" b="0" i="0">
                <a:solidFill>
                  <a:srgbClr val="16213A"/>
                </a:solidFill>
                <a:latin typeface="Consolas"/>
                <a:ea typeface="Malgun Gothic"/>
                <a:cs typeface="Malgun Gothic"/>
              </a:rPr>
              <a:t>cast_rays</a:t>
            </a:r>
            <a:r>
              <a:rPr sz="1050" b="0" i="0">
                <a:solidFill>
                  <a:srgbClr val="16213A"/>
                </a:solidFill>
                <a:latin typeface="Arial"/>
                <a:ea typeface="Malgun Gothic"/>
                <a:cs typeface="Malgun Gothic"/>
              </a:rPr>
              <a:t>로 떼어 LiDAR와 스테레오가 같이 쓴다. LiDAR 결과는 리팩터 전과 비트 단위로 같다.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Consolas"/>
                <a:ea typeface="Malgun Gothic"/>
                <a:cs typeface="Malgun Gothic"/>
              </a:rPr>
              <a:t>KinematicSim(stereo=StereoConfig())</a:t>
            </a:r>
            <a:r>
              <a:rPr sz="1050" b="0" i="0">
                <a:solidFill>
                  <a:srgbClr val="16213A"/>
                </a:solidFill>
                <a:latin typeface="Arial"/>
                <a:ea typeface="Malgun Gothic"/>
                <a:cs typeface="Malgun Gothic"/>
              </a:rPr>
              <a:t>가 L1 루프에서 LiDAR 다음에 스테레오 점을 </a:t>
            </a:r>
            <a:r>
              <a:rPr sz="1050" b="0" i="0">
                <a:solidFill>
                  <a:srgbClr val="16213A"/>
                </a:solidFill>
                <a:latin typeface="Consolas"/>
                <a:ea typeface="Malgun Gothic"/>
                <a:cs typeface="Malgun Gothic"/>
              </a:rPr>
              <a:t>ElevationMapper.update</a:t>
            </a:r>
            <a:r>
              <a:rPr sz="1050" b="0" i="0">
                <a:solidFill>
                  <a:srgbClr val="16213A"/>
                </a:solidFill>
                <a:latin typeface="Arial"/>
                <a:ea typeface="Malgun Gothic"/>
                <a:cs typeface="Malgun Gothic"/>
              </a:rPr>
              <a:t>에 두 번째로 넣는다. </a:t>
            </a:r>
            <a:r>
              <a:rPr sz="1050" b="0" i="0">
                <a:solidFill>
                  <a:srgbClr val="16213A"/>
                </a:solidFill>
                <a:latin typeface="Consolas"/>
                <a:ea typeface="Malgun Gothic"/>
                <a:cs typeface="Malgun Gothic"/>
              </a:rPr>
              <a:t>run_benchmark.py --stereo</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Playground의 L1 간이에도 '전면 스테레오'를 넣었다(같은 사양, 같은 결론: bumps_potholes 39.0 s → 17.6 s, down_curb 44.2 s → 17.6 s).</a:t>
            </a:r>
          </a:p>
        </p:txBody>
      </p:sp>
      <p:sp>
        <p:nvSpPr>
          <p:cNvPr id="7" name="TextBox 6"/>
          <p:cNvSpPr txBox="1"/>
          <p:nvPr/>
        </p:nvSpPr>
        <p:spPr>
          <a:xfrm>
            <a:off x="717550" y="3011884"/>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결과</a:t>
            </a:r>
          </a:p>
        </p:txBody>
      </p:sp>
      <p:sp>
        <p:nvSpPr>
          <p:cNvPr id="8" name="TextBox 7"/>
          <p:cNvSpPr txBox="1"/>
          <p:nvPr/>
        </p:nvSpPr>
        <p:spPr>
          <a:xfrm>
            <a:off x="609600" y="3315097"/>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한 번 관측으로 보면 스테레오는 로봇 앞 부채꼴(0.35–1.5 m, ±45°)의 관측 비율을 0.61 → 0.92로, 옆·뒤도 0.69 → 0.78로 올린다.</a:t>
            </a:r>
          </a:p>
        </p:txBody>
      </p:sp>
      <p:sp>
        <p:nvSpPr>
          <p:cNvPr id="9" name="TextBox 8"/>
          <p:cNvSpPr txBox="1"/>
          <p:nvPr/>
        </p:nvSpPr>
        <p:spPr>
          <a:xfrm>
            <a:off x="609600" y="362049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차체 기준(A.13.6과 같은 방법, 7 지형 × seed 0–2).</a:t>
            </a:r>
          </a:p>
        </p:txBody>
      </p:sp>
      <p:graphicFrame>
        <p:nvGraphicFramePr>
          <p:cNvPr id="10" name="Table 9"/>
          <p:cNvGraphicFramePr>
            <a:graphicFrameLocks noGrp="1"/>
          </p:cNvGraphicFramePr>
          <p:nvPr/>
        </p:nvGraphicFramePr>
        <p:xfrm>
          <a:off x="609600" y="3925888"/>
          <a:ext cx="10966450" cy="985440"/>
        </p:xfrm>
        <a:graphic>
          <a:graphicData uri="http://schemas.openxmlformats.org/drawingml/2006/table">
            <a:tbl>
              <a:tblPr firstRow="1" bandRow="1">
                <a:tableStyleId>{5C22544A-7EE6-4342-B048-85BDC9FD1C3A}</a:tableStyleId>
              </a:tblPr>
              <a:tblGrid>
                <a:gridCol w="4457303"/>
                <a:gridCol w="3895229"/>
                <a:gridCol w="2613918"/>
              </a:tblGrid>
              <a:tr h="197088">
                <a:tc>
                  <a:txBody>
                    <a:bodyPr wrap="square"/>
                    <a:lstStyle/>
                    <a:p>
                      <a:r>
                        <a:rPr sz="800" b="1" i="0">
                          <a:solidFill>
                            <a:srgbClr val="F4F1EA"/>
                          </a:solidFill>
                          <a:latin typeface="Arial"/>
                          <a:ea typeface="Malgun Gothic"/>
                          <a:cs typeface="Malgun Gothic"/>
                        </a:rPr>
                        <a:t>설정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도달 가능 근거리 MISS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음의 지형 오탐</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L1 + 상한 + 깊이 prior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6,048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5,780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 미관측 1.5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73,065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 스테레오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5,774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5,138</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 스테레오 + 미관측 1.5 m</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5</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30,479</a:t>
                      </a:r>
                    </a:p>
                  </a:txBody>
                  <a:tcPr marL="63500" marR="63500" marT="12700" marB="12700">
                    <a:solidFill>
                      <a:srgbClr val="F3F0E8"/>
                    </a:solidFill>
                  </a:tcPr>
                </a:tc>
              </a:tr>
            </a:tbl>
          </a:graphicData>
        </a:graphic>
      </p:graphicFrame>
      <p:sp>
        <p:nvSpPr>
          <p:cNvPr id="11" name="TextBox 10"/>
          <p:cNvSpPr txBox="1"/>
          <p:nvPr/>
        </p:nvSpPr>
        <p:spPr>
          <a:xfrm>
            <a:off x="609600" y="525293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L1 폐루프, guidance+mppi, 포트홀·연석·내림 턱·배수로 × seed 0–2(모두 12/12).</a:t>
            </a:r>
          </a:p>
        </p:txBody>
      </p:sp>
      <p:graphicFrame>
        <p:nvGraphicFramePr>
          <p:cNvPr id="12" name="Table 11"/>
          <p:cNvGraphicFramePr>
            <a:graphicFrameLocks noGrp="1"/>
          </p:cNvGraphicFramePr>
          <p:nvPr/>
        </p:nvGraphicFramePr>
        <p:xfrm>
          <a:off x="609600" y="5558334"/>
          <a:ext cx="10966452" cy="394176"/>
        </p:xfrm>
        <a:graphic>
          <a:graphicData uri="http://schemas.openxmlformats.org/drawingml/2006/table">
            <a:tbl>
              <a:tblPr firstRow="1" bandRow="1">
                <a:tableStyleId>{5C22544A-7EE6-4342-B048-85BDC9FD1C3A}</a:tableStyleId>
              </a:tblPr>
              <a:tblGrid>
                <a:gridCol w="2842419"/>
                <a:gridCol w="1201440"/>
                <a:gridCol w="2096790"/>
                <a:gridCol w="1480245"/>
                <a:gridCol w="1508820"/>
                <a:gridCol w="1836738"/>
              </a:tblGrid>
              <a:tr h="197088">
                <a:tc>
                  <a:txBody>
                    <a:bodyPr wrap="square"/>
                    <a:lstStyle/>
                    <a:p>
                      <a:r>
                        <a:rPr sz="800" b="1" i="0">
                          <a:solidFill>
                            <a:srgbClr val="F4F1EA"/>
                          </a:solidFill>
                          <a:latin typeface="Arial"/>
                          <a:ea typeface="Malgun Gothic"/>
                          <a:cs typeface="Malgun Gothic"/>
                        </a:rPr>
                        <a:t>설정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평균 도달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bumps_potholes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curb_ramp</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down_curb</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drain_channel</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L1 + 상한 + 깊이 prior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15.2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12.7</a:t>
                      </a:r>
                    </a:p>
                  </a:txBody>
                  <a:tcPr marL="63500" marR="63500" marT="12700" marB="12700">
                    <a:solidFill>
                      <a:srgbClr val="FFFDF8"/>
                    </a:solidFill>
                  </a:tcPr>
                </a:tc>
              </a:tr>
            </a:tbl>
          </a:graphicData>
        </a:graphic>
      </p:graphicFrame>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A.13.8 TP-0065 — 전면 스테레오를 L1의 두 번째 입력으로 넣으니, 근거리 미관측 옵션의 대가가 사라진다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101 / 359</a:t>
            </a:r>
          </a:p>
        </p:txBody>
      </p:sp>
      <p:graphicFrame>
        <p:nvGraphicFramePr>
          <p:cNvPr id="5" name="Table 4"/>
          <p:cNvGraphicFramePr>
            <a:graphicFrameLocks noGrp="1"/>
          </p:cNvGraphicFramePr>
          <p:nvPr/>
        </p:nvGraphicFramePr>
        <p:xfrm>
          <a:off x="609600" y="1244600"/>
          <a:ext cx="10966452" cy="788352"/>
        </p:xfrm>
        <a:graphic>
          <a:graphicData uri="http://schemas.openxmlformats.org/drawingml/2006/table">
            <a:tbl>
              <a:tblPr firstRow="1" bandRow="1">
                <a:tableStyleId>{5C22544A-7EE6-4342-B048-85BDC9FD1C3A}</a:tableStyleId>
              </a:tblPr>
              <a:tblGrid>
                <a:gridCol w="2842419"/>
                <a:gridCol w="1201440"/>
                <a:gridCol w="2096790"/>
                <a:gridCol w="1480245"/>
                <a:gridCol w="1508820"/>
                <a:gridCol w="1836738"/>
              </a:tblGrid>
              <a:tr h="197088">
                <a:tc>
                  <a:txBody>
                    <a:bodyPr wrap="square"/>
                    <a:lstStyle/>
                    <a:p>
                      <a:r>
                        <a:rPr sz="800" b="1" i="0">
                          <a:solidFill>
                            <a:srgbClr val="F4F1EA"/>
                          </a:solidFill>
                          <a:latin typeface="Arial"/>
                          <a:ea typeface="Malgun Gothic"/>
                          <a:cs typeface="Malgun Gothic"/>
                        </a:rPr>
                        <a:t>설정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평균 도달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bumps_potholes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curb_ramp</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down_curb</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drain_channel</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 미관측 1.5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18.7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23.2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19.0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 스테레오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15.9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23.1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13.3</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 스테레오 + 미관측 1.5 m</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15.5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13.3</a:t>
                      </a:r>
                    </a:p>
                  </a:txBody>
                  <a:tcPr marL="63500" marR="63500" marT="12700" marB="12700">
                    <a:solidFill>
                      <a:srgbClr val="FFFDF8"/>
                    </a:solidFill>
                  </a:tcPr>
                </a:tc>
              </a:tr>
            </a:tbl>
          </a:graphicData>
        </a:graphic>
      </p:graphicFrame>
      <p:sp>
        <p:nvSpPr>
          <p:cNvPr id="6" name="TextBox 5"/>
          <p:cNvSpPr txBox="1"/>
          <p:nvPr/>
        </p:nvSpPr>
        <p:spPr>
          <a:xfrm>
            <a:off x="609600" y="232529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planner_d+mppi(L1, 4 시나리오 × seed 0–4)는 스테레오 유무와 관계없이 20/20이고 평균 15.0 s → 14.6 s다.</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A.13.8 TP-0065 — 전면 스테레오를 L1의 두 번째 입력으로 넣으니, 근거리 미관측 옵션의 대가가 사라진다</a:t>
            </a:r>
            <a:r>
              <a:rPr sz="1050" b="0" i="0">
                <a:solidFill>
                  <a:srgbClr val="5A6478"/>
                </a:solidFill>
                <a:latin typeface="Arial"/>
                <a:ea typeface="Malgun Gothic"/>
                <a:cs typeface="Malgun Gothic"/>
              </a:rPr>
              <a:t>  자세히: 해석과 한계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102 / 359</a:t>
            </a:r>
          </a:p>
        </p:txBody>
      </p:sp>
      <p:sp>
        <p:nvSpPr>
          <p:cNvPr id="5" name="TextBox 4"/>
          <p:cNvSpPr txBox="1"/>
          <p:nvPr/>
        </p:nvSpPr>
        <p:spPr>
          <a:xfrm>
            <a:off x="609600" y="1244600"/>
            <a:ext cx="10972800" cy="13751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스테레오만으로 MISS가 거의 그대로인 이유.</a:t>
            </a:r>
            <a:r>
              <a:rPr sz="1050" b="0" i="0">
                <a:solidFill>
                  <a:srgbClr val="16213A"/>
                </a:solidFill>
                <a:latin typeface="Arial"/>
                <a:ea typeface="Malgun Gothic"/>
                <a:cs typeface="Malgun Gothic"/>
              </a:rPr>
              <a:t> 도달 가능 근거리 MISS는 대부분 포트홀 바닥처럼 </a:t>
            </a:r>
            <a:r>
              <a:rPr sz="1050" b="1" i="0">
                <a:solidFill>
                  <a:srgbClr val="16213A"/>
                </a:solidFill>
                <a:latin typeface="Arial"/>
                <a:ea typeface="Malgun Gothic"/>
                <a:cs typeface="Malgun Gothic"/>
              </a:rPr>
              <a:t>어느 센서로도 가려지는</a:t>
            </a:r>
            <a:r>
              <a:rPr sz="1050" b="0" i="0">
                <a:solidFill>
                  <a:srgbClr val="16213A"/>
                </a:solidFill>
                <a:latin typeface="Arial"/>
                <a:ea typeface="Malgun Gothic"/>
                <a:cs typeface="Malgun Gothic"/>
              </a:rPr>
              <a:t> 칸이다. 스테레오는 LiDAR 링 사이와 근거리 사각을 메우지만, 그 칸들은 로봇이 다가오는 동안 LiDAR가 이미 한 번은 본 경우가 많다.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옵션과 함께일 때 효과가 큰 이유.</a:t>
            </a:r>
            <a:r>
              <a:rPr sz="1050" b="0" i="0">
                <a:solidFill>
                  <a:srgbClr val="16213A"/>
                </a:solidFill>
                <a:latin typeface="Arial"/>
                <a:ea typeface="Malgun Gothic"/>
                <a:cs typeface="Malgun Gothic"/>
              </a:rPr>
              <a:t> "미관측 1.5 m"는 둘레의 못 본 칸을 치명으로 만든다. 스테레오가 없으면 앞쪽 0.7 m 안(LiDAR 사각)이 늘 치명으로 막혀 로봇이 조심스럽게 돌아간다. 스테레오가 그 앞쪽을 채우면 막히는 것은 옆·뒤와 진짜 가려진 칸뿐이라, 앞으로 가는 데는 거의 영향이 없다.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권장.</a:t>
            </a:r>
            <a:r>
              <a:rPr sz="1050" b="0" i="0">
                <a:solidFill>
                  <a:srgbClr val="16213A"/>
                </a:solidFill>
                <a:latin typeface="Arial"/>
                <a:ea typeface="Malgun Gothic"/>
                <a:cs typeface="Malgun Gothic"/>
              </a:rPr>
              <a:t> L1에서는 스테레오와 미관측 1.5 m를 함께 쓴다. 옆·뒤의 사각은 남으므로 옆·뒤 이동은 여전히 조심해야 한다(TP-0062 시야 인지 움직임).</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매퍼는 실행마다 조금 다르다(TP-0098). 폐루프 표는 seed 3개의 한 번 실행이다. 실제 스테레오의 매칭 실패는 Isaac 카메라(TP-0019)에서 다시 잰다.</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A.13.9 TP-0095 — 깊이 prior 후보에 잡음 필터를 걸면, 내림 턱 오탐은 전부 사라지고 포트홀은 대부분 남는다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103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결론 먼저.</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깊이 prior(TP-0047·0067)의 치명 후보에 ohm식 '관측 이웃 수' 필터나 CMU식 '침식→팽창' 필터를 걸면, 깊이 prior가 0.07 m 내림 턱에 더하던 오탐이 전부 사라진다.</a:t>
            </a:r>
            <a:r>
              <a:rPr sz="1050" b="0" i="0">
                <a:solidFill>
                  <a:srgbClr val="16213A"/>
                </a:solidFill>
                <a:latin typeface="Arial"/>
                <a:ea typeface="Malgun Gothic"/>
                <a:cs typeface="Malgun Gothic"/>
              </a:rPr>
              <a:t> 내림 턱의 거짓 치명 칸은 28.9 → 18.3(그림자 상한만 켰을 때와 같은 값)이다. 포트홀 치명 셀 재현율은 0.89 → 0.86(CMU 1,2) 또는 0.85(ohm T=1)로 조금만 준다. 폐루프(guidance+mppi, 4 지형 × seed 0–2)는 모든 변형이 12/12다. </a:t>
            </a:r>
            <a:r>
              <a:rPr sz="1050" b="1" i="0">
                <a:solidFill>
                  <a:srgbClr val="C2410C"/>
                </a:solidFill>
                <a:latin typeface="Arial"/>
                <a:ea typeface="Malgun Gothic"/>
                <a:cs typeface="Malgun Gothic"/>
              </a:rPr>
              <a:t>권장은 CMU(1,2)이고 깊이 prior와 함께 켠다.</a:t>
            </a:r>
            <a:r>
              <a:rPr sz="1050" b="0" i="0">
                <a:solidFill>
                  <a:srgbClr val="16213A"/>
                </a:solidFill>
                <a:latin typeface="Arial"/>
                <a:ea typeface="Malgun Gothic"/>
                <a:cs typeface="Malgun Gothic"/>
              </a:rPr>
              <a:t> TP-0085의 기울기 규칙(0.1)은 이번에도 오탐 278칸으로 졌다.</a:t>
            </a:r>
          </a:p>
        </p:txBody>
      </p:sp>
      <p:pic>
        <p:nvPicPr>
          <p:cNvPr id="6" name="Picture 5" descr="image.jpg"/>
          <p:cNvPicPr>
            <a:picLocks noChangeAspect="1"/>
          </p:cNvPicPr>
          <p:nvPr/>
        </p:nvPicPr>
        <p:blipFill>
          <a:blip r:embed="rId3"/>
          <a:stretch>
            <a:fillRect/>
          </a:stretch>
        </p:blipFill>
        <p:spPr>
          <a:xfrm>
            <a:off x="1016000" y="1982986"/>
            <a:ext cx="10160000" cy="3111500"/>
          </a:xfrm>
          <a:prstGeom prst="rect">
            <a:avLst/>
          </a:prstGeom>
        </p:spPr>
      </p:pic>
      <p:sp>
        <p:nvSpPr>
          <p:cNvPr id="7" name="TextBox 6"/>
          <p:cNvSpPr txBox="1"/>
          <p:nvPr/>
        </p:nvSpPr>
        <p:spPr>
          <a:xfrm>
            <a:off x="609600" y="5183386"/>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TP-0095 (Fig. 1): 내림 턱 거짓 치명 칸(왼쪽, 낮을수록 좋음), 포트홀 재현율(오른쪽). 4 지형 × seed 0–5, 센서 0.3 m. 출처: </a:t>
            </a:r>
            <a:r>
              <a:rPr sz="1050" b="0" i="1">
                <a:solidFill>
                  <a:srgbClr val="16213A"/>
                </a:solidFill>
                <a:latin typeface="Consolas"/>
                <a:ea typeface="Malgun Gothic"/>
                <a:cs typeface="Malgun Gothic"/>
              </a:rPr>
              <a:t>results/tp0095_rules</a:t>
            </a:r>
          </a:p>
        </p:txBody>
      </p:sp>
      <p:sp>
        <p:nvSpPr>
          <p:cNvPr id="8" name="TextBox 7"/>
          <p:cNvSpPr txBox="1"/>
          <p:nvPr/>
        </p:nvSpPr>
        <p:spPr>
          <a:xfrm>
            <a:off x="717550" y="54887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무엇을 넣었나</a:t>
            </a:r>
          </a:p>
        </p:txBody>
      </p:sp>
      <p:sp>
        <p:nvSpPr>
          <p:cNvPr id="9" name="TextBox 8"/>
          <p:cNvSpPr txBox="1"/>
          <p:nvPr/>
        </p:nvSpPr>
        <p:spPr>
          <a:xfrm>
            <a:off x="609600" y="579199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두 규칙 모두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에서 깊이 prior가 치명 후보를 고른 직후, 2배 팽창 전에 건다. 기본값은 끔이다.</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A.13.9 TP-0095 — 깊이 prior 후보에 잡음 필터를 걸면, 내림 턱 오탐은 전부 사라지고 포트홀은 대부분 남는다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104 / 359</a:t>
            </a:r>
          </a:p>
        </p:txBody>
      </p:sp>
      <p:sp>
        <p:nvSpPr>
          <p:cNvPr id="5" name="TextBox 4"/>
          <p:cNvSpPr txBox="1"/>
          <p:nvPr/>
        </p:nvSpPr>
        <p:spPr>
          <a:xfrm>
            <a:off x="609600" y="1244600"/>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ohm </a:t>
            </a:r>
            <a:r>
              <a:rPr sz="1050" b="1" i="0">
                <a:solidFill>
                  <a:srgbClr val="16213A"/>
                </a:solidFill>
                <a:latin typeface="Consolas"/>
                <a:ea typeface="Malgun Gothic"/>
                <a:cs typeface="Malgun Gothic"/>
              </a:rPr>
              <a:t>virtualSurfaceFilterThreshold</a:t>
            </a:r>
            <a:r>
              <a:rPr sz="1050" b="1" i="0">
                <a:solidFill>
                  <a:srgbClr val="16213A"/>
                </a:solidFill>
                <a:latin typeface="Arial"/>
                <a:ea typeface="Malgun Gothic"/>
                <a:cs typeface="Malgun Gothic"/>
              </a:rPr>
              <a:t> → </a:t>
            </a:r>
            <a:r>
              <a:rPr sz="1050" b="1" i="0">
                <a:solidFill>
                  <a:srgbClr val="16213A"/>
                </a:solidFill>
                <a:latin typeface="Consolas"/>
                <a:ea typeface="Malgun Gothic"/>
                <a:cs typeface="Malgun Gothic"/>
              </a:rPr>
              <a:t>shadow_support_min=T</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3×3 이웃 가운데 관측한 칸이 T개 이상인 후보만 남긴다. 관측과 동떨어진 외딴 후보를 지운다.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CMU </a:t>
            </a:r>
            <a:r>
              <a:rPr sz="1050" b="1" i="0">
                <a:solidFill>
                  <a:srgbClr val="16213A"/>
                </a:solidFill>
                <a:latin typeface="Consolas"/>
                <a:ea typeface="Malgun Gothic"/>
                <a:cs typeface="Malgun Gothic"/>
              </a:rPr>
              <a:t>noDataBlockShrink/Expand</a:t>
            </a:r>
            <a:r>
              <a:rPr sz="1050" b="1" i="0">
                <a:solidFill>
                  <a:srgbClr val="16213A"/>
                </a:solidFill>
                <a:latin typeface="Arial"/>
                <a:ea typeface="Malgun Gothic"/>
                <a:cs typeface="Malgun Gothic"/>
              </a:rPr>
              <a:t> → </a:t>
            </a:r>
            <a:r>
              <a:rPr sz="1050" b="1" i="0">
                <a:solidFill>
                  <a:srgbClr val="16213A"/>
                </a:solidFill>
                <a:latin typeface="Consolas"/>
                <a:ea typeface="Malgun Gothic"/>
                <a:cs typeface="Malgun Gothic"/>
              </a:rPr>
              <a:t>shadow_open=(N, M)</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후보 마스크를 N번 침식한 뒤 M번 팽창한다. 팽창은 그림자 안에서만 한다. 폭이 좁은 띠 모양 후보를 지운다.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Consolas"/>
                <a:ea typeface="Malgun Gothic"/>
                <a:cs typeface="Malgun Gothic"/>
              </a:rPr>
              <a:t>scripts/eval_shadow_false_alarm.py --ohm 1 2 3 4 5 --cmu 1,1 1,2 2,2 2,3 3,3</a:t>
            </a:r>
            <a:r>
              <a:rPr sz="1050" b="0" i="0">
                <a:solidFill>
                  <a:srgbClr val="16213A"/>
                </a:solidFill>
                <a:latin typeface="Arial"/>
                <a:ea typeface="Malgun Gothic"/>
                <a:cs typeface="Malgun Gothic"/>
              </a:rPr>
              <a:t>로 잰다. 시험은 </a:t>
            </a:r>
            <a:r>
              <a:rPr sz="1050" b="0" i="0">
                <a:solidFill>
                  <a:srgbClr val="16213A"/>
                </a:solidFill>
                <a:latin typeface="Consolas"/>
                <a:ea typeface="Malgun Gothic"/>
                <a:cs typeface="Malgun Gothic"/>
              </a:rPr>
              <a:t>tests/test_shadow_depth_evidence.py</a:t>
            </a:r>
            <a:r>
              <a:rPr sz="1050" b="0" i="0">
                <a:solidFill>
                  <a:srgbClr val="16213A"/>
                </a:solidFill>
                <a:latin typeface="Arial"/>
                <a:ea typeface="Malgun Gothic"/>
                <a:cs typeface="Malgun Gothic"/>
              </a:rPr>
              <a:t>에 있다.</a:t>
            </a:r>
          </a:p>
        </p:txBody>
      </p:sp>
      <p:sp>
        <p:nvSpPr>
          <p:cNvPr id="6" name="TextBox 5"/>
          <p:cNvSpPr txBox="1"/>
          <p:nvPr/>
        </p:nvSpPr>
        <p:spPr>
          <a:xfrm>
            <a:off x="717550" y="2033786"/>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결과</a:t>
            </a:r>
          </a:p>
        </p:txBody>
      </p:sp>
      <p:graphicFrame>
        <p:nvGraphicFramePr>
          <p:cNvPr id="7" name="Table 6"/>
          <p:cNvGraphicFramePr>
            <a:graphicFrameLocks noGrp="1"/>
          </p:cNvGraphicFramePr>
          <p:nvPr/>
        </p:nvGraphicFramePr>
        <p:xfrm>
          <a:off x="609600" y="2336998"/>
          <a:ext cx="10966450" cy="1773792"/>
        </p:xfrm>
        <a:graphic>
          <a:graphicData uri="http://schemas.openxmlformats.org/drawingml/2006/table">
            <a:tbl>
              <a:tblPr firstRow="1" bandRow="1">
                <a:tableStyleId>{5C22544A-7EE6-4342-B048-85BDC9FD1C3A}</a:tableStyleId>
              </a:tblPr>
              <a:tblGrid>
                <a:gridCol w="4398070"/>
                <a:gridCol w="2726035"/>
                <a:gridCol w="1827609"/>
                <a:gridCol w="2014736"/>
              </a:tblGrid>
              <a:tr h="197088">
                <a:tc>
                  <a:txBody>
                    <a:bodyPr wrap="square"/>
                    <a:lstStyle/>
                    <a:p>
                      <a:r>
                        <a:rPr sz="800" b="1" i="0">
                          <a:solidFill>
                            <a:srgbClr val="F4F1EA"/>
                          </a:solidFill>
                          <a:latin typeface="Arial"/>
                          <a:ea typeface="Malgun Gothic"/>
                          <a:cs typeface="Malgun Gothic"/>
                        </a:rPr>
                        <a:t>변형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내림 턱 거짓 치명 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진행 통로 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포트홀 재현율</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그림자 상한만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18.3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0.76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 깊이 prior(증거 제한, TP-0067)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28.9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2.8</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0.89</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 ohm T=1</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18.3</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 ohm T=3 / T=5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18.3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0.84 / 0.77</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 CMU (1,1)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18.3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 CMU (1,2)</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18.3</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1.7</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0.86</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 CMU (2,2) / (3,3)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18.3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0.77 / 0.76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기울기 규칙 0.1(TP-0085)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278.5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63.7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0.95</a:t>
                      </a:r>
                    </a:p>
                  </a:txBody>
                  <a:tcPr marL="63500" marR="63500" marT="12700" marB="12700">
                    <a:solidFill>
                      <a:srgbClr val="F3F0E8"/>
                    </a:solidFill>
                  </a:tcPr>
                </a:tc>
              </a:tr>
            </a:tbl>
          </a:graphicData>
        </a:graphic>
      </p:graphicFrame>
      <p:sp>
        <p:nvSpPr>
          <p:cNvPr id="8" name="TextBox 7"/>
          <p:cNvSpPr txBox="1"/>
          <p:nvPr/>
        </p:nvSpPr>
        <p:spPr>
          <a:xfrm>
            <a:off x="609600" y="464949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내리막 경사로와 배수로에서는 모든 변형의 오탐이 0이다. 내림 턱의 오탐 값이 모든 필터에서 같다는 것은, 깊이 prior가 더한 오탐이 전부 좁거나 외딴 후보였다는 뜻이다. 필터를 세게 걸수록(ohm T 증가, CMU 침식 2번 이상) 포트홀 테두리의 얇은 후보까지 지워 재현율이 '상한만'으로 돌아간다. CMU (1,2)는 한 번 침식으로 띠를 지우고 두 번 팽창으로 포트홀 테두리를 되살려 재현율을 가장 많이 남긴다.</a:t>
            </a:r>
          </a:p>
        </p:txBody>
      </p:sp>
      <p:sp>
        <p:nvSpPr>
          <p:cNvPr id="9" name="TextBox 8"/>
          <p:cNvSpPr txBox="1"/>
          <p:nvPr/>
        </p:nvSpPr>
        <p:spPr>
          <a:xfrm>
            <a:off x="717550" y="5387876"/>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한계</a:t>
            </a:r>
          </a:p>
        </p:txBody>
      </p:sp>
      <p:sp>
        <p:nvSpPr>
          <p:cNvPr id="10" name="TextBox 9"/>
          <p:cNvSpPr txBox="1"/>
          <p:nvPr/>
        </p:nvSpPr>
        <p:spPr>
          <a:xfrm>
            <a:off x="609600" y="5691088"/>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오탐·재현율은 L0 가림(2.5D 시선)에서 쟀다. L1(실제 매퍼)의 그림자 모양은 다르므로 L1에서 다시 잴 필요가 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차체 기준의 도달 가능 근거리 MISS(A.13.6)는 이번에 재지 않았다. 필터는 후보를 지우기만 하므로 MISS는 늘 수만 있다.</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A.13.10 TP-0102 — 몸체가 흔들려도 자세만 보상하면 elevation mapping은 1 cm대로 맞다 (Playground, 사족 보행·바퀴 사족)</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105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결론 먼저.</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센서를 몸체에 붙여 걸음새로 흔들어도, 매퍼가 몸체 자세를 알면 로봇 3 m 안 높이 RMSE는 0.8–1.6 cm이고 사족 보행·바퀴 사족은 세 지형 모두 도달한다.</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자세를 모르면(yaw와 지면 높이만 알면) 사족 보행은 한 번도 도달하지 못한다.</a:t>
            </a:r>
            <a:r>
              <a:rPr sz="1050" b="0" i="0">
                <a:solidFill>
                  <a:srgbClr val="16213A"/>
                </a:solidFill>
                <a:latin typeface="Arial"/>
                <a:ea typeface="Malgun Gothic"/>
                <a:cs typeface="Malgun Gothic"/>
              </a:rPr>
              <a:t> 원인은 평균 오차가 아니라 스치듯 닿은 레이의 10–20 cm 이상치다. 이 점이 턱으로 읽히고 몸체 반폭만큼 팽창돼 앞을 막는다. 자세 추정 잡음은 사족 두 종류에서 0.5°까지 견디고 1°부터 무너진다. 스워브는 턱 한계(8 cm)가 낮아 0.5°에서 이미 0/3이다. 측정은 Playground(JS)의 L1 간이에서 했다. 사족 보행·바퀴 사족은 비교용 가정이고, 저장소 Python 시뮬에는 아직 없다.</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A.13.10 TP-0102 — 몸체가 흔들려도 자세만 보상하면 elevation mapping은 1 cm대로 맞다 (Playground, 사족 보행·바퀴 사족)</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106 / 359</a:t>
            </a:r>
          </a:p>
        </p:txBody>
      </p:sp>
      <p:pic>
        <p:nvPicPr>
          <p:cNvPr id="5" name="Picture 4" descr="image.jpg"/>
          <p:cNvPicPr>
            <a:picLocks noChangeAspect="1"/>
          </p:cNvPicPr>
          <p:nvPr/>
        </p:nvPicPr>
        <p:blipFill>
          <a:blip r:embed="rId3"/>
          <a:stretch>
            <a:fillRect/>
          </a:stretch>
        </p:blipFill>
        <p:spPr>
          <a:xfrm>
            <a:off x="1397000" y="1244600"/>
            <a:ext cx="9398000" cy="4445000"/>
          </a:xfrm>
          <a:prstGeom prst="rect">
            <a:avLst/>
          </a:prstGeom>
        </p:spPr>
      </p:pic>
      <p:sp>
        <p:nvSpPr>
          <p:cNvPr id="6" name="TextBox 5"/>
          <p:cNvSpPr txBox="1"/>
          <p:nvPr/>
        </p:nvSpPr>
        <p:spPr>
          <a:xfrm>
            <a:off x="609600" y="5778500"/>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TP-0102 (Fig. 1): 사족 보행, bumps_potholes s4, 8 s. 위는 높이 오차(본 − 실제, ±10 cm), 아래는 로봇이 본 cost. 왼쪽부터 자세 보상 켬, 끔, 켬 + 추정 잡음 1°. 출처: </a:t>
            </a:r>
            <a:r>
              <a:rPr sz="1050" b="0" i="1">
                <a:solidFill>
                  <a:srgbClr val="16213A"/>
                </a:solidFill>
                <a:latin typeface="Consolas"/>
                <a:ea typeface="Malgun Gothic"/>
                <a:cs typeface="Malgun Gothic"/>
              </a:rPr>
              <a:t>docs/playground/robot_pose.html</a:t>
            </a:r>
            <a:r>
              <a:rPr sz="1050" b="0" i="1">
                <a:solidFill>
                  <a:srgbClr val="16213A"/>
                </a:solidFill>
                <a:latin typeface="Arial"/>
                <a:ea typeface="Malgun Gothic"/>
                <a:cs typeface="Malgun Gothic"/>
              </a:rPr>
              <a:t>, </a:t>
            </a:r>
            <a:r>
              <a:rPr sz="1050" b="0" i="1">
                <a:solidFill>
                  <a:srgbClr val="16213A"/>
                </a:solidFill>
                <a:latin typeface="Consolas"/>
                <a:ea typeface="Malgun Gothic"/>
                <a:cs typeface="Malgun Gothic"/>
              </a:rPr>
              <a:t>results/tp0102_playground_robots/sweep.txt</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A.13.10 TP-0102 — 몸체가 흔들려도 자세만 보상하면 elevation mapping은 1 cm대로 맞다 (Playground, 사족 보행·바퀴 사족)</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107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무엇을 넣었나</a:t>
            </a:r>
          </a:p>
        </p:txBody>
      </p:sp>
      <p:sp>
        <p:nvSpPr>
          <p:cNvPr id="6" name="TextBox 5"/>
          <p:cNvSpPr txBox="1"/>
          <p:nvPr/>
        </p:nvSpPr>
        <p:spPr>
          <a:xfrm>
            <a:off x="609600" y="1547812"/>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로봇 종류(</a:t>
            </a:r>
            <a:r>
              <a:rPr sz="1050" b="1" i="0">
                <a:solidFill>
                  <a:srgbClr val="16213A"/>
                </a:solidFill>
                <a:latin typeface="Consolas"/>
                <a:ea typeface="Malgun Gothic"/>
                <a:cs typeface="Malgun Gothic"/>
              </a:rPr>
              <a:t>js/robots.js</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스워브(턱 8 cm, 경사 15°, 1.5 m/s, 센서 0.30 m), 사족 보행(턱 20 cm, 경사 30°, 1.0 m/s, 센서 0.45 m), 바퀴 사족(턱 15 cm, 경사 25°, 1.5 m/s, 센서 0.45 m). 걸음새 흔들림은 사족 보행 2.2 Hz 트롯(높이 2 cm, pitch 2.3°, roll 2.0°), 바퀴 사족은 약 1/3이다. 진폭은 속도에 비례하고 서 있으면 20%다.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몸체 자세 센서.</a:t>
            </a:r>
            <a:r>
              <a:rPr sz="1050" b="0" i="0">
                <a:solidFill>
                  <a:srgbClr val="16213A"/>
                </a:solidFill>
                <a:latin typeface="Arial"/>
                <a:ea typeface="Malgun Gothic"/>
                <a:cs typeface="Malgun Gothic"/>
              </a:rPr>
              <a:t> 몸체 자세 = 접지 높이차로 잡은 지형 기울기 + 걸음새 흔들림이다. LiDAR·스테레오 레이는 참 자세로 쏘고, 부딪힌 거리는 매퍼가 믿는 자세로 세계에 놓는다(상한도 같다). 자세 보상을 끄면 매퍼는 몸체가 수평이고 흔들리지 않는다고 믿는다. 추정 잡음은 1차 저역(시정수 약 1 s) pitch·roll 잡음이다.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지표.</a:t>
            </a:r>
            <a:r>
              <a:rPr sz="1050" b="0" i="0">
                <a:solidFill>
                  <a:srgbClr val="16213A"/>
                </a:solidFill>
                <a:latin typeface="Arial"/>
                <a:ea typeface="Malgun Gothic"/>
                <a:cs typeface="Malgun Gothic"/>
              </a:rPr>
              <a:t> 로봇 3 m 안 관측 칸의 높이 RMSE와 '거짓 치명'(로봇 지도는 치명, 실제 cost는 아님) 칸 수. '높이 오차' 층.</a:t>
            </a:r>
          </a:p>
        </p:txBody>
      </p:sp>
      <p:sp>
        <p:nvSpPr>
          <p:cNvPr id="7" name="TextBox 6"/>
          <p:cNvSpPr txBox="1"/>
          <p:nvPr/>
        </p:nvSpPr>
        <p:spPr>
          <a:xfrm>
            <a:off x="717550" y="2769989"/>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결과 (L1 간이, curb_ramp s0, bumps_potholes s4, slope_crossfall s0)</a:t>
            </a:r>
          </a:p>
        </p:txBody>
      </p:sp>
      <p:graphicFrame>
        <p:nvGraphicFramePr>
          <p:cNvPr id="8" name="Table 7"/>
          <p:cNvGraphicFramePr>
            <a:graphicFrameLocks noGrp="1"/>
          </p:cNvGraphicFramePr>
          <p:nvPr/>
        </p:nvGraphicFramePr>
        <p:xfrm>
          <a:off x="609600" y="3073202"/>
          <a:ext cx="10966449" cy="788352"/>
        </p:xfrm>
        <a:graphic>
          <a:graphicData uri="http://schemas.openxmlformats.org/drawingml/2006/table">
            <a:tbl>
              <a:tblPr firstRow="1" bandRow="1">
                <a:tableStyleId>{5C22544A-7EE6-4342-B048-85BDC9FD1C3A}</a:tableStyleId>
              </a:tblPr>
              <a:tblGrid>
                <a:gridCol w="1616174"/>
                <a:gridCol w="3541415"/>
                <a:gridCol w="2475706"/>
                <a:gridCol w="1054100"/>
                <a:gridCol w="935831"/>
                <a:gridCol w="1343223"/>
              </a:tblGrid>
              <a:tr h="197088">
                <a:tc>
                  <a:txBody>
                    <a:bodyPr wrap="square"/>
                    <a:lstStyle/>
                    <a:p>
                      <a:r>
                        <a:rPr sz="800" b="1" i="0">
                          <a:solidFill>
                            <a:srgbClr val="F4F1EA"/>
                          </a:solidFill>
                          <a:latin typeface="Arial"/>
                          <a:ea typeface="Malgun Gothic"/>
                          <a:cs typeface="Malgun Gothic"/>
                        </a:rPr>
                        <a:t>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자세 보상</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추정 잡음 0.25°</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0.5°</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1°</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보상 끔</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스워브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2/3, RMSE 0.7–0.9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사족 보행</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3/3</a:t>
                      </a:r>
                      <a:r>
                        <a:rPr sz="800" b="0" i="0">
                          <a:solidFill>
                            <a:srgbClr val="16213A"/>
                          </a:solidFill>
                          <a:latin typeface="Arial"/>
                          <a:ea typeface="Malgun Gothic"/>
                          <a:cs typeface="Malgun Gothic"/>
                        </a:rPr>
                        <a:t>, 0.8–1.6 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2/3</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바퀴 사족</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3/3</a:t>
                      </a:r>
                      <a:r>
                        <a:rPr sz="800" b="0" i="0">
                          <a:solidFill>
                            <a:srgbClr val="16213A"/>
                          </a:solidFill>
                          <a:latin typeface="Arial"/>
                          <a:ea typeface="Malgun Gothic"/>
                          <a:cs typeface="Malgun Gothic"/>
                        </a:rPr>
                        <a:t>, 0.8–1.5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a:t>
                      </a:r>
                    </a:p>
                  </a:txBody>
                  <a:tcPr marL="63500" marR="63500" marT="12700" marB="12700">
                    <a:solidFill>
                      <a:srgbClr val="FFFDF8"/>
                    </a:solidFill>
                  </a:tcPr>
                </a:tc>
              </a:tr>
            </a:tbl>
          </a:graphicData>
        </a:graphic>
      </p:graphicFrame>
      <p:sp>
        <p:nvSpPr>
          <p:cNvPr id="9" name="TextBox 8"/>
          <p:cNvSpPr txBox="1"/>
          <p:nvPr/>
        </p:nvSpPr>
        <p:spPr>
          <a:xfrm>
            <a:off x="609600" y="415389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사족 보행, bumps_potholes s4, 8 s에서 오차를 보면 보상 끔의 중앙값은 0.8 cm(보상 켬 0.6 cm)로 작다. 그러나 최대 22 cm의 이상치가 있다. 거짓 치명은 0 → 3,511칸이고 그중 3,374칸이 턱 한계를 넘었다. RMSE만 보면 보상 끔(1.8 cm)이 보상 켬(2.1 cm)보다 나아 보이므로, 매핑 품질은 RMSE가 아니라 이상치와 거짓 치명으로 봐야 한다.</a:t>
            </a:r>
          </a:p>
        </p:txBody>
      </p:sp>
      <p:sp>
        <p:nvSpPr>
          <p:cNvPr id="10" name="TextBox 9"/>
          <p:cNvSpPr txBox="1"/>
          <p:nvPr/>
        </p:nvSpPr>
        <p:spPr>
          <a:xfrm>
            <a:off x="609600" y="467578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몸체 기울기 자체의 효과.</a:t>
            </a:r>
            <a:r>
              <a:rPr sz="1050" b="0" i="0">
                <a:solidFill>
                  <a:srgbClr val="16213A"/>
                </a:solidFill>
                <a:latin typeface="Arial"/>
                <a:ea typeface="Malgun Gothic"/>
                <a:cs typeface="Malgun Gothic"/>
              </a:rPr>
              <a:t> 스워브 bumps_potholes s4는 자세를 완벽히 보상해도 4.9 s에 치명 셀로 들어간다. 몸체 기울기를 끄면 도달한다(23.6 s). 범프 위에서 몸체가 5°까지 기울어 LiDAR가 앞의 포트홀을 덜 본다. 근거리 미관측 1.5 m + 전면 스테레오(TP-0101·0065)를 켜면 도달한다(20.7 s). seed 1–3은 기울기가 있어도 도달한다.</a:t>
            </a:r>
          </a:p>
        </p:txBody>
      </p:sp>
      <p:sp>
        <p:nvSpPr>
          <p:cNvPr id="11" name="TextBox 10"/>
          <p:cNvSpPr txBox="1"/>
          <p:nvPr/>
        </p:nvSpPr>
        <p:spPr>
          <a:xfrm>
            <a:off x="717550" y="5197673"/>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다음</a:t>
            </a:r>
          </a:p>
        </p:txBody>
      </p:sp>
      <p:sp>
        <p:nvSpPr>
          <p:cNvPr id="12" name="TextBox 11"/>
          <p:cNvSpPr txBox="1"/>
          <p:nvPr/>
        </p:nvSpPr>
        <p:spPr>
          <a:xfrm>
            <a:off x="609600" y="5500886"/>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elevation_mapping_cupy처럼 마할라노비스 게이트로 이상치 점을 거르면 보상 끔·잡음 1°의 거짓 치명이 얼마나 줄어드는지 잰다.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Python 운동학 시뮬의 LiDAR도 몸체 자세를 따르게 한다(지금은 수평). 그 뒤 L1 벤치마크의 스워브 결과가 바뀌는지 본다.</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A.13.11 TP-0089 — 궤적 참조는 같은 만큼 비키면서 시간은 덜 낸다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108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0" i="0">
                <a:solidFill>
                  <a:srgbClr val="16213A"/>
                </a:solidFill>
                <a:latin typeface="Consolas"/>
                <a:ea typeface="Malgun Gothic"/>
                <a:cs typeface="Malgun Gothic"/>
              </a:rPr>
              <a:t>ReferenceCost</a:t>
            </a:r>
            <a:r>
              <a:rPr sz="1050" b="0" i="0">
                <a:solidFill>
                  <a:srgbClr val="16213A"/>
                </a:solidFill>
                <a:latin typeface="Arial"/>
                <a:ea typeface="Malgun Gothic"/>
                <a:cs typeface="Malgun Gothic"/>
              </a:rPr>
              <a:t>를 읽어 보면 두 참조 모드가 감속을 다르게 벌한다. 4 s 지평 안에서 </a:t>
            </a:r>
            <a:r>
              <a:rPr sz="1050" b="1" i="0">
                <a:solidFill>
                  <a:srgbClr val="16213A"/>
                </a:solidFill>
                <a:latin typeface="Arial"/>
                <a:ea typeface="Malgun Gothic"/>
                <a:cs typeface="Malgun Gothic"/>
              </a:rPr>
              <a:t>경로 모드</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times</a:t>
            </a:r>
            <a:r>
              <a:rPr sz="1050" b="0" i="0">
                <a:solidFill>
                  <a:srgbClr val="16213A"/>
                </a:solidFill>
                <a:latin typeface="Arial"/>
                <a:ea typeface="Malgun Gothic"/>
                <a:cs typeface="Malgun Gothic"/>
              </a:rPr>
              <a:t> 없음)는 </a:t>
            </a:r>
            <a:r>
              <a:rPr sz="1050" b="0" i="0">
                <a:solidFill>
                  <a:srgbClr val="16213A"/>
                </a:solidFill>
                <a:latin typeface="Consolas"/>
                <a:ea typeface="Malgun Gothic"/>
                <a:cs typeface="Malgun Gothic"/>
              </a:rPr>
              <a:t>w_deviation ×</a:t>
            </a:r>
            <a:r>
              <a:rPr sz="1050" b="0" i="0">
                <a:solidFill>
                  <a:srgbClr val="16213A"/>
                </a:solidFill>
                <a:latin typeface="Arial"/>
                <a:ea typeface="Malgun Gothic"/>
                <a:cs typeface="Malgun Gothic"/>
              </a:rPr>
              <a:t> 평균 횡편차 </a:t>
            </a:r>
            <a:r>
              <a:rPr sz="1050" b="0" i="0">
                <a:solidFill>
                  <a:srgbClr val="16213A"/>
                </a:solidFill>
                <a:latin typeface="Consolas"/>
                <a:ea typeface="Malgun Gothic"/>
                <a:cs typeface="Malgun Gothic"/>
              </a:rPr>
              <a:t>+ w_progress ×</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종단</a:t>
            </a:r>
            <a:r>
              <a:rPr sz="1050" b="0" i="0">
                <a:solidFill>
                  <a:srgbClr val="16213A"/>
                </a:solidFill>
                <a:latin typeface="Arial"/>
                <a:ea typeface="Malgun Gothic"/>
                <a:cs typeface="Malgun Gothic"/>
              </a:rPr>
              <a:t> 잔여 거리를 낸다 — </a:t>
            </a:r>
            <a:r>
              <a:rPr sz="1050" b="1" i="0">
                <a:solidFill>
                  <a:srgbClr val="C2410C"/>
                </a:solidFill>
                <a:latin typeface="Arial"/>
                <a:ea typeface="Malgun Gothic"/>
                <a:cs typeface="Malgun Gothic"/>
              </a:rPr>
              <a:t>진행에 대해서는 </a:t>
            </a:r>
            <a:r>
              <a:rPr sz="1050" b="1" i="0">
                <a:solidFill>
                  <a:srgbClr val="C2410C"/>
                </a:solidFill>
                <a:latin typeface="Arial"/>
                <a:ea typeface="Malgun Gothic"/>
                <a:cs typeface="Malgun Gothic"/>
              </a:rPr>
              <a:t>지평 끝점만</a:t>
            </a:r>
            <a:r>
              <a:rPr sz="1050" b="1" i="0">
                <a:solidFill>
                  <a:srgbClr val="C2410C"/>
                </a:solidFill>
                <a:latin typeface="Arial"/>
                <a:ea typeface="Malgun Gothic"/>
                <a:cs typeface="Malgun Gothic"/>
              </a:rPr>
              <a:t> 보므로, 중간에 늦췄다가 따라잡으면 공짜다.</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궤적 모드</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times</a:t>
            </a:r>
            <a:r>
              <a:rPr sz="1050" b="0" i="0">
                <a:solidFill>
                  <a:srgbClr val="16213A"/>
                </a:solidFill>
                <a:latin typeface="Arial"/>
                <a:ea typeface="Malgun Gothic"/>
                <a:cs typeface="Malgun Gothic"/>
              </a:rPr>
              <a:t> 있음, Planner D가 내는 모드)는 </a:t>
            </a:r>
            <a:r>
              <a:rPr sz="1050" b="0" i="0">
                <a:solidFill>
                  <a:srgbClr val="16213A"/>
                </a:solidFill>
                <a:latin typeface="Consolas"/>
                <a:ea typeface="Malgun Gothic"/>
                <a:cs typeface="Malgun Gothic"/>
              </a:rPr>
              <a:t>w_time ×</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지평 전체 평균</a:t>
            </a:r>
            <a:r>
              <a:rPr sz="1050" b="0" i="0">
                <a:solidFill>
                  <a:srgbClr val="16213A"/>
                </a:solidFill>
                <a:latin typeface="Arial"/>
                <a:ea typeface="Malgun Gothic"/>
                <a:cs typeface="Malgun Gothic"/>
              </a:rPr>
              <a:t> 시간 인덱스 목표와의 거리 </a:t>
            </a:r>
            <a:r>
              <a:rPr sz="1050" b="0" i="0">
                <a:solidFill>
                  <a:srgbClr val="16213A"/>
                </a:solidFill>
                <a:latin typeface="Consolas"/>
                <a:ea typeface="Malgun Gothic"/>
                <a:cs typeface="Malgun Gothic"/>
              </a:rPr>
              <a:t>+ w_progress ×</a:t>
            </a:r>
            <a:r>
              <a:rPr sz="1050" b="0" i="0">
                <a:solidFill>
                  <a:srgbClr val="16213A"/>
                </a:solidFill>
                <a:latin typeface="Arial"/>
                <a:ea typeface="Malgun Gothic"/>
                <a:cs typeface="Malgun Gothic"/>
              </a:rPr>
              <a:t> 종단 차이를 낸다 — </a:t>
            </a:r>
            <a:r>
              <a:rPr sz="1050" b="0" i="0">
                <a:solidFill>
                  <a:srgbClr val="16213A"/>
                </a:solidFill>
                <a:latin typeface="Consolas"/>
                <a:ea typeface="Malgun Gothic"/>
                <a:cs typeface="Malgun Gothic"/>
              </a:rPr>
              <a:t>w_time</a:t>
            </a:r>
            <a:r>
              <a:rPr sz="1050" b="0" i="0">
                <a:solidFill>
                  <a:srgbClr val="16213A"/>
                </a:solidFill>
                <a:latin typeface="Arial"/>
                <a:ea typeface="Malgun Gothic"/>
                <a:cs typeface="Malgun Gothic"/>
              </a:rPr>
              <a:t>이 </a:t>
            </a:r>
            <a:r>
              <a:rPr sz="1050" b="1" i="0">
                <a:solidFill>
                  <a:srgbClr val="16213A"/>
                </a:solidFill>
                <a:latin typeface="Arial"/>
                <a:ea typeface="Malgun Gothic"/>
                <a:cs typeface="Malgun Gothic"/>
              </a:rPr>
              <a:t>모든 스텝을 평균</a:t>
            </a:r>
            <a:r>
              <a:rPr sz="1050" b="0" i="0">
                <a:solidFill>
                  <a:srgbClr val="16213A"/>
                </a:solidFill>
                <a:latin typeface="Arial"/>
                <a:ea typeface="Malgun Gothic"/>
                <a:cs typeface="Malgun Gothic"/>
              </a:rPr>
              <a:t>하므로 </a:t>
            </a:r>
            <a:r>
              <a:rPr sz="1050" b="1" i="0">
                <a:solidFill>
                  <a:srgbClr val="16213A"/>
                </a:solidFill>
                <a:latin typeface="Arial"/>
                <a:ea typeface="Malgun Gothic"/>
                <a:cs typeface="Malgun Gothic"/>
              </a:rPr>
              <a:t>따라잡아도 중간 감속이 벌점으로 남는다.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정정(2026-09-30).</a:t>
            </a:r>
            <a:r>
              <a:rPr sz="1050" b="0" i="0">
                <a:solidFill>
                  <a:srgbClr val="16213A"/>
                </a:solidFill>
                <a:latin typeface="Arial"/>
                <a:ea typeface="Malgun Gothic"/>
                <a:cs typeface="Malgun Gothic"/>
              </a:rPr>
              <a:t> 처음에는 이를 "궤적 모드에서는 지각이 </a:t>
            </a:r>
            <a:r>
              <a:rPr sz="1050" b="0" i="1">
                <a:solidFill>
                  <a:srgbClr val="16213A"/>
                </a:solidFill>
                <a:latin typeface="Arial"/>
                <a:ea typeface="Malgun Gothic"/>
                <a:cs typeface="Malgun Gothic"/>
              </a:rPr>
              <a:t>반복적</a:t>
            </a:r>
            <a:r>
              <a:rPr sz="1050" b="0" i="0">
                <a:solidFill>
                  <a:srgbClr val="16213A"/>
                </a:solidFill>
                <a:latin typeface="Arial"/>
                <a:ea typeface="Malgun Gothic"/>
                <a:cs typeface="Malgun Gothic"/>
              </a:rPr>
              <a:t>이라 이후 모든 스텝에서 계속 벌점"이라고 썼는데 </a:t>
            </a:r>
            <a:r>
              <a:rPr sz="1050" b="1" i="0">
                <a:solidFill>
                  <a:srgbClr val="16213A"/>
                </a:solidFill>
                <a:latin typeface="Arial"/>
                <a:ea typeface="Malgun Gothic"/>
                <a:cs typeface="Malgun Gothic"/>
              </a:rPr>
              <a:t>틀렸다.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mppi.py::_reference</a:t>
            </a:r>
            <a:r>
              <a:rPr sz="1050" b="0" i="0">
                <a:solidFill>
                  <a:srgbClr val="16213A"/>
                </a:solidFill>
                <a:latin typeface="Arial"/>
                <a:ea typeface="Malgun Gothic"/>
                <a:cs typeface="Malgun Gothic"/>
              </a:rPr>
              <a:t>가 </a:t>
            </a:r>
            <a:r>
              <a:rPr sz="1050" b="0" i="0">
                <a:solidFill>
                  <a:srgbClr val="16213A"/>
                </a:solidFill>
                <a:latin typeface="Consolas"/>
                <a:ea typeface="Malgun Gothic"/>
                <a:cs typeface="Malgun Gothic"/>
              </a:rPr>
              <a:t>times - t_since_plan</a:t>
            </a:r>
            <a:r>
              <a:rPr sz="1050" b="0" i="0">
                <a:solidFill>
                  <a:srgbClr val="16213A"/>
                </a:solidFill>
                <a:latin typeface="Arial"/>
                <a:ea typeface="Malgun Gothic"/>
                <a:cs typeface="Malgun Gothic"/>
              </a:rPr>
              <a:t>으로 시간축을 현재로 재기준화하고, </a:t>
            </a:r>
            <a:r>
              <a:rPr sz="1050" b="0" i="0">
                <a:solidFill>
                  <a:srgbClr val="16213A"/>
                </a:solidFill>
                <a:latin typeface="Consolas"/>
                <a:ea typeface="Malgun Gothic"/>
                <a:cs typeface="Malgun Gothic"/>
              </a:rPr>
              <a:t>SimConfig.replan_every = 1</a:t>
            </a:r>
            <a:r>
              <a:rPr sz="1050" b="0" i="0">
                <a:solidFill>
                  <a:srgbClr val="16213A"/>
                </a:solidFill>
                <a:latin typeface="Arial"/>
                <a:ea typeface="Malgun Gothic"/>
                <a:cs typeface="Malgun Gothic"/>
              </a:rPr>
              <a:t>이라 플래너가 </a:t>
            </a:r>
            <a:r>
              <a:rPr sz="1050" b="1" i="0">
                <a:solidFill>
                  <a:srgbClr val="16213A"/>
                </a:solidFill>
                <a:latin typeface="Arial"/>
                <a:ea typeface="Malgun Gothic"/>
                <a:cs typeface="Malgun Gothic"/>
              </a:rPr>
              <a:t>매 스텝</a:t>
            </a:r>
            <a:r>
              <a:rPr sz="1050" b="0" i="0">
                <a:solidFill>
                  <a:srgbClr val="16213A"/>
                </a:solidFill>
                <a:latin typeface="Arial"/>
                <a:ea typeface="Malgun Gothic"/>
                <a:cs typeface="Malgun Gothic"/>
              </a:rPr>
              <a:t> 로봇의 현재 위치에서 다시 계획한다. 따라서 지각은 </a:t>
            </a:r>
            <a:r>
              <a:rPr sz="1050" b="1" i="0">
                <a:solidFill>
                  <a:srgbClr val="C2410C"/>
                </a:solidFill>
                <a:latin typeface="Arial"/>
                <a:ea typeface="Malgun Gothic"/>
                <a:cs typeface="Malgun Gothic"/>
              </a:rPr>
              <a:t>에피소드에 걸쳐 누적되지 않는다.</a:t>
            </a:r>
            <a:r>
              <a:rPr sz="1050" b="0" i="0">
                <a:solidFill>
                  <a:srgbClr val="16213A"/>
                </a:solidFill>
                <a:latin typeface="Arial"/>
                <a:ea typeface="Malgun Gothic"/>
                <a:cs typeface="Malgun Gothic"/>
              </a:rPr>
              <a:t> 실제 차이는 </a:t>
            </a:r>
            <a:r>
              <a:rPr sz="1050" b="1" i="0">
                <a:solidFill>
                  <a:srgbClr val="16213A"/>
                </a:solidFill>
                <a:latin typeface="Arial"/>
                <a:ea typeface="Malgun Gothic"/>
                <a:cs typeface="Malgun Gothic"/>
              </a:rPr>
              <a:t>한 지평 안</a:t>
            </a:r>
            <a:r>
              <a:rPr sz="1050" b="0" i="0">
                <a:solidFill>
                  <a:srgbClr val="16213A"/>
                </a:solidFill>
                <a:latin typeface="Arial"/>
                <a:ea typeface="Malgun Gothic"/>
                <a:cs typeface="Malgun Gothic"/>
              </a:rPr>
              <a:t>에서 중간 감속을 평균으로 세느냐 끝점만 보느냐이고, 아래 측정 결과는 그대로다.</a:t>
            </a:r>
          </a:p>
        </p:txBody>
      </p:sp>
      <p:sp>
        <p:nvSpPr>
          <p:cNvPr id="7" name="TextBox 6"/>
          <p:cNvSpPr txBox="1"/>
          <p:nvPr/>
        </p:nvSpPr>
        <p:spPr>
          <a:xfrm>
            <a:off x="609600" y="272137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그래서 "궤적 모드가 감속 양보를 억제할 것"을 가설로 세우고, </a:t>
            </a:r>
            <a:r>
              <a:rPr sz="1050" b="1" i="0">
                <a:solidFill>
                  <a:srgbClr val="C2410C"/>
                </a:solidFill>
                <a:latin typeface="Arial"/>
                <a:ea typeface="Malgun Gothic"/>
                <a:cs typeface="Malgun Gothic"/>
              </a:rPr>
              <a:t>같은 지형·같은 seed에서 </a:t>
            </a:r>
            <a:r>
              <a:rPr sz="1050" b="1" i="0">
                <a:solidFill>
                  <a:srgbClr val="C2410C"/>
                </a:solidFill>
                <a:latin typeface="Arial"/>
                <a:ea typeface="Malgun Gothic"/>
                <a:cs typeface="Malgun Gothic"/>
              </a:rPr>
              <a:t>보행자 유무만 바꾼 쌍대 비교</a:t>
            </a:r>
            <a:r>
              <a:rPr sz="1050" b="0" i="0">
                <a:solidFill>
                  <a:srgbClr val="16213A"/>
                </a:solidFill>
                <a:latin typeface="Arial"/>
                <a:ea typeface="Malgun Gothic"/>
                <a:cs typeface="Malgun Gothic"/>
              </a:rPr>
              <a:t>로 쟀다 (</a:t>
            </a:r>
            <a:r>
              <a:rPr sz="1050" b="0" i="0">
                <a:solidFill>
                  <a:srgbClr val="16213A"/>
                </a:solidFill>
                <a:latin typeface="Consolas"/>
                <a:ea typeface="Malgun Gothic"/>
                <a:cs typeface="Malgun Gothic"/>
              </a:rPr>
              <a:t>scripts/eval_yield_behavior.py</a:t>
            </a:r>
            <a:r>
              <a:rPr sz="1050" b="0" i="0">
                <a:solidFill>
                  <a:srgbClr val="16213A"/>
                </a:solidFill>
                <a:latin typeface="Arial"/>
                <a:ea typeface="Malgun Gothic"/>
                <a:cs typeface="Malgun Gothic"/>
              </a:rPr>
              <a:t>, 3 시나리오 × 8 seed × 2 모드 = </a:t>
            </a:r>
            <a:r>
              <a:rPr sz="1050" b="1" i="0">
                <a:solidFill>
                  <a:srgbClr val="16213A"/>
                </a:solidFill>
                <a:latin typeface="Arial"/>
                <a:ea typeface="Malgun Gothic"/>
                <a:cs typeface="Malgun Gothic"/>
              </a:rPr>
              <a:t>48 쌍</a:t>
            </a:r>
            <a:r>
              <a:rPr sz="1050" b="0" i="0">
                <a:solidFill>
                  <a:srgbClr val="16213A"/>
                </a:solidFill>
                <a:latin typeface="Arial"/>
                <a:ea typeface="Malgun Gothic"/>
                <a:cs typeface="Malgun Gothic"/>
              </a:rPr>
              <a:t>, 쌍마다 보행자 유무 둘이니 </a:t>
            </a:r>
            <a:r>
              <a:rPr sz="1050" b="1" i="0">
                <a:solidFill>
                  <a:srgbClr val="16213A"/>
                </a:solidFill>
                <a:latin typeface="Arial"/>
                <a:ea typeface="Malgun Gothic"/>
                <a:cs typeface="Malgun Gothic"/>
              </a:rPr>
              <a:t>96 에피소드</a:t>
            </a:r>
            <a:r>
              <a:rPr sz="1050" b="0" i="0">
                <a:solidFill>
                  <a:srgbClr val="16213A"/>
                </a:solidFill>
                <a:latin typeface="Arial"/>
                <a:ea typeface="Malgun Gothic"/>
                <a:cs typeface="Malgun Gothic"/>
              </a:rPr>
              <a: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A.13.11 TP-0089 — 궤적 참조는 같은 만큼 비키면서 시간은 덜 낸다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109 / 359</a:t>
            </a:r>
          </a:p>
        </p:txBody>
      </p:sp>
      <p:pic>
        <p:nvPicPr>
          <p:cNvPr id="5" name="Picture 4" descr="image.jpg"/>
          <p:cNvPicPr>
            <a:picLocks noChangeAspect="1"/>
          </p:cNvPicPr>
          <p:nvPr/>
        </p:nvPicPr>
        <p:blipFill>
          <a:blip r:embed="rId3"/>
          <a:stretch>
            <a:fillRect/>
          </a:stretch>
        </p:blipFill>
        <p:spPr>
          <a:xfrm>
            <a:off x="1016000" y="1244600"/>
            <a:ext cx="10160000" cy="3536950"/>
          </a:xfrm>
          <a:prstGeom prst="rect">
            <a:avLst/>
          </a:prstGeom>
        </p:spPr>
      </p:pic>
      <p:sp>
        <p:nvSpPr>
          <p:cNvPr id="6" name="TextBox 5"/>
          <p:cNvSpPr txBox="1"/>
          <p:nvPr/>
        </p:nvSpPr>
        <p:spPr>
          <a:xfrm>
            <a:off x="1016000" y="481965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TP-0089: 왼쪽은 3 시나리오 × seed 0–7의 24쌍 전부, 보행자 때문에 낸 값(가로=우회, 세로=지연)이고 큰 반투명 표식이 평균이다. 아래쪽 멀리 떨어진 두 점이 효과의 절반을 만드는 쌍이다 — 축을 0에서 자르지 않았다. 오른쪽은 속도 이력이고 점선이 같은 조건의 보행자 없는 주행이다.</a:t>
            </a:r>
          </a:p>
        </p:txBody>
      </p:sp>
      <p:graphicFrame>
        <p:nvGraphicFramePr>
          <p:cNvPr id="7" name="Table 6"/>
          <p:cNvGraphicFramePr>
            <a:graphicFrameLocks noGrp="1"/>
          </p:cNvGraphicFramePr>
          <p:nvPr/>
        </p:nvGraphicFramePr>
        <p:xfrm>
          <a:off x="609600" y="5192911"/>
          <a:ext cx="10966449" cy="788352"/>
        </p:xfrm>
        <a:graphic>
          <a:graphicData uri="http://schemas.openxmlformats.org/drawingml/2006/table">
            <a:tbl>
              <a:tblPr firstRow="1" bandRow="1">
                <a:tableStyleId>{5C22544A-7EE6-4342-B048-85BDC9FD1C3A}</a:tableStyleId>
              </a:tblPr>
              <a:tblGrid>
                <a:gridCol w="1983879"/>
                <a:gridCol w="1442343"/>
                <a:gridCol w="3194248"/>
                <a:gridCol w="618331"/>
                <a:gridCol w="3727648"/>
              </a:tblGrid>
              <a:tr h="197088">
                <a:tc>
                  <a:txBody>
                    <a:bodyPr wrap="square"/>
                    <a:lstStyle/>
                    <a:p>
                      <a:r>
                        <a:rPr sz="800" b="1" i="0">
                          <a:solidFill>
                            <a:srgbClr val="F4F1EA"/>
                          </a:solidFill>
                          <a:latin typeface="Arial"/>
                          <a:ea typeface="Malgun Gothic"/>
                          <a:cs typeface="Malgun Gothic"/>
                        </a:rPr>
                        <a:t>측정(궤적 − 경로)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평균</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95 % CI (paired bootstrap)</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n</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판정</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지연 </a:t>
                      </a:r>
                      <a:r>
                        <a:rPr sz="800" b="0" i="0">
                          <a:solidFill>
                            <a:srgbClr val="16213A"/>
                          </a:solidFill>
                          <a:latin typeface="Consolas"/>
                          <a:ea typeface="Malgun Gothic"/>
                          <a:cs typeface="Malgun Gothic"/>
                        </a:rPr>
                        <a:t>dt</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−2.22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[−3.87, −0.79]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 제외 — 궤적 모드가 </a:t>
                      </a:r>
                      <a:r>
                        <a:rPr sz="800" b="1" i="0">
                          <a:solidFill>
                            <a:srgbClr val="16213A"/>
                          </a:solidFill>
                          <a:latin typeface="Arial"/>
                          <a:ea typeface="Malgun Gothic"/>
                          <a:cs typeface="Malgun Gothic"/>
                        </a:rPr>
                        <a:t>시간을 덜 낸다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우회 </a:t>
                      </a:r>
                      <a:r>
                        <a:rPr sz="800" b="0" i="0">
                          <a:solidFill>
                            <a:srgbClr val="16213A"/>
                          </a:solidFill>
                          <a:latin typeface="Consolas"/>
                          <a:ea typeface="Malgun Gothic"/>
                          <a:cs typeface="Malgun Gothic"/>
                        </a:rPr>
                        <a:t>detour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[−0.34, +0.25]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 포함 — </a:t>
                      </a:r>
                      <a:r>
                        <a:rPr sz="800" b="1" i="0">
                          <a:solidFill>
                            <a:srgbClr val="16213A"/>
                          </a:solidFill>
                          <a:latin typeface="Arial"/>
                          <a:ea typeface="Malgun Gothic"/>
                          <a:cs typeface="Malgun Gothic"/>
                        </a:rPr>
                        <a:t>차이 없다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감속폭 |</a:t>
                      </a:r>
                      <a:r>
                        <a:rPr sz="800" b="0" i="0">
                          <a:solidFill>
                            <a:srgbClr val="16213A"/>
                          </a:solidFill>
                          <a:latin typeface="Consolas"/>
                          <a:ea typeface="Malgun Gothic"/>
                          <a:cs typeface="Malgun Gothic"/>
                        </a:rPr>
                        <a:t>dv</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−0.21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[−0.34, −0.07]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 제외 — </a:t>
                      </a:r>
                      <a:r>
                        <a:rPr sz="800" b="1" i="0">
                          <a:solidFill>
                            <a:srgbClr val="16213A"/>
                          </a:solidFill>
                          <a:latin typeface="Arial"/>
                          <a:ea typeface="Malgun Gothic"/>
                          <a:cs typeface="Malgun Gothic"/>
                        </a:rPr>
                        <a:t>덜 감속한다</a:t>
                      </a:r>
                    </a:p>
                  </a:txBody>
                  <a:tcPr marL="63500" marR="63500" marT="12700" marB="12700">
                    <a:solidFill>
                      <a:srgbClr val="FFFDF8"/>
                    </a:solidFill>
                  </a:tcPr>
                </a:tc>
              </a:tr>
            </a:tbl>
          </a:graphicData>
        </a:graphic>
      </p:graphicFrame>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A.13.11 TP-0089 — 궤적 참조는 같은 만큼 비키면서 시간은 덜 낸다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110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같은 만큼 비키면서 시간은 덜 낸다</a:t>
            </a:r>
            <a:r>
              <a:rPr sz="1050" b="1" i="0">
                <a:solidFill>
                  <a:srgbClr val="C2410C"/>
                </a:solidFill>
                <a:latin typeface="Arial"/>
                <a:ea typeface="Malgun Gothic"/>
                <a:cs typeface="Malgun Gothic"/>
              </a:rPr>
              <a:t> — 예측대로 궤적 참조가 브레이크 채널만 눌렀다.</a:t>
            </a:r>
            <a:r>
              <a:rPr sz="1050" b="0" i="0">
                <a:solidFill>
                  <a:srgbClr val="16213A"/>
                </a:solidFill>
                <a:latin typeface="Arial"/>
                <a:ea typeface="Malgun Gothic"/>
                <a:cs typeface="Malgun Gothic"/>
              </a:rPr>
              <a:t> 96 에피소드 전부 충돌 0이다.</a:t>
            </a:r>
          </a:p>
        </p:txBody>
      </p:sp>
      <p:sp>
        <p:nvSpPr>
          <p:cNvPr id="6" name="TextBox 5"/>
          <p:cNvSpPr txBox="1"/>
          <p:nvPr/>
        </p:nvSpPr>
        <p:spPr>
          <a:xfrm>
            <a:off x="609600" y="1549995"/>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한계 — 소수의 쌍이 평균을 끈다(2026-10-01 감사에서 정량화).</a:t>
            </a:r>
            <a:r>
              <a:rPr sz="1050" b="0" i="0">
                <a:solidFill>
                  <a:srgbClr val="16213A"/>
                </a:solidFill>
                <a:latin typeface="Arial"/>
                <a:ea typeface="Malgun Gothic"/>
                <a:cs typeface="Malgun Gothic"/>
              </a:rPr>
              <a:t> seed별 부호가 </a:t>
            </a:r>
            <a:r>
              <a:rPr sz="1050" b="0" i="0">
                <a:solidFill>
                  <a:srgbClr val="16213A"/>
                </a:solidFill>
                <a:latin typeface="Consolas"/>
                <a:ea typeface="Malgun Gothic"/>
                <a:cs typeface="Malgun Gothic"/>
              </a:rPr>
              <a:t>dt</a:t>
            </a:r>
            <a:r>
              <a:rPr sz="1050" b="0" i="0">
                <a:solidFill>
                  <a:srgbClr val="16213A"/>
                </a:solidFill>
                <a:latin typeface="Arial"/>
                <a:ea typeface="Malgun Gothic"/>
                <a:cs typeface="Malgun Gothic"/>
              </a:rPr>
              <a:t> 16/24, </a:t>
            </a:r>
            <a:r>
              <a:rPr sz="1050" b="0" i="0">
                <a:solidFill>
                  <a:srgbClr val="16213A"/>
                </a:solidFill>
                <a:latin typeface="Consolas"/>
                <a:ea typeface="Malgun Gothic"/>
                <a:cs typeface="Malgun Gothic"/>
              </a:rPr>
              <a:t>dv</a:t>
            </a:r>
            <a:r>
              <a:rPr sz="1050" b="0" i="0">
                <a:solidFill>
                  <a:srgbClr val="16213A"/>
                </a:solidFill>
                <a:latin typeface="Arial"/>
                <a:ea typeface="Malgun Gothic"/>
                <a:cs typeface="Malgun Gothic"/>
              </a:rPr>
              <a:t> 16/22로 일관되지 않고, </a:t>
            </a:r>
            <a:r>
              <a:rPr sz="1050" b="0" i="0">
                <a:solidFill>
                  <a:srgbClr val="16213A"/>
                </a:solidFill>
                <a:latin typeface="Consolas"/>
                <a:ea typeface="Malgun Gothic"/>
                <a:cs typeface="Malgun Gothic"/>
              </a:rPr>
              <a:t>dt</a:t>
            </a:r>
            <a:r>
              <a:rPr sz="1050" b="0" i="0">
                <a:solidFill>
                  <a:srgbClr val="16213A"/>
                </a:solidFill>
                <a:latin typeface="Arial"/>
                <a:ea typeface="Malgun Gothic"/>
                <a:cs typeface="Malgun Gothic"/>
              </a:rPr>
              <a:t> 효과의 </a:t>
            </a:r>
            <a:r>
              <a:rPr sz="1050" b="1" i="0">
                <a:solidFill>
                  <a:srgbClr val="16213A"/>
                </a:solidFill>
                <a:latin typeface="Arial"/>
                <a:ea typeface="Malgun Gothic"/>
                <a:cs typeface="Malgun Gothic"/>
              </a:rPr>
              <a:t>65 %를 상위 세 쌍</a:t>
            </a:r>
            <a:r>
              <a:rPr sz="1050" b="0" i="0">
                <a:solidFill>
                  <a:srgbClr val="16213A"/>
                </a:solidFill>
                <a:latin typeface="Arial"/>
                <a:ea typeface="Malgun Gothic"/>
                <a:cs typeface="Malgun Gothic"/>
              </a:rPr>
              <a:t>이 만든다. 그 셋을 빼면 </a:t>
            </a:r>
            <a:r>
              <a:rPr sz="1050" b="0" i="0">
                <a:solidFill>
                  <a:srgbClr val="16213A"/>
                </a:solidFill>
                <a:latin typeface="Consolas"/>
                <a:ea typeface="Malgun Gothic"/>
                <a:cs typeface="Malgun Gothic"/>
              </a:rPr>
              <a:t>dt</a:t>
            </a:r>
            <a:r>
              <a:rPr sz="1050" b="0" i="0">
                <a:solidFill>
                  <a:srgbClr val="16213A"/>
                </a:solidFill>
                <a:latin typeface="Arial"/>
                <a:ea typeface="Malgun Gothic"/>
                <a:cs typeface="Malgun Gothic"/>
              </a:rPr>
              <a:t> = </a:t>
            </a:r>
            <a:r>
              <a:rPr sz="1050" b="1" i="0">
                <a:solidFill>
                  <a:srgbClr val="16213A"/>
                </a:solidFill>
                <a:latin typeface="Arial"/>
                <a:ea typeface="Malgun Gothic"/>
                <a:cs typeface="Malgun Gothic"/>
              </a:rPr>
              <a:t>−0.90 s</a:t>
            </a:r>
            <a:r>
              <a:rPr sz="1050" b="0" i="0">
                <a:solidFill>
                  <a:srgbClr val="16213A"/>
                </a:solidFill>
                <a:latin typeface="Arial"/>
                <a:ea typeface="Malgun Gothic"/>
                <a:cs typeface="Malgun Gothic"/>
              </a:rPr>
              <a:t> [−1.64, −0.11](중앙값 −1.00, n=21)로 </a:t>
            </a:r>
            <a:r>
              <a:rPr sz="1050" b="1" i="0">
                <a:solidFill>
                  <a:srgbClr val="C2410C"/>
                </a:solidFill>
                <a:latin typeface="Arial"/>
                <a:ea typeface="Malgun Gothic"/>
                <a:cs typeface="Malgun Gothic"/>
              </a:rPr>
              <a:t>부호와 0 제외는 유지되지만 크기는 2.5배 작아진다.</a:t>
            </a:r>
            <a:r>
              <a:rPr sz="1050" b="0" i="0">
                <a:solidFill>
                  <a:srgbClr val="16213A"/>
                </a:solidFill>
                <a:latin typeface="Arial"/>
                <a:ea typeface="Malgun Gothic"/>
                <a:cs typeface="Malgun Gothic"/>
              </a:rPr>
              <a:t> 가장 큰 기여는 </a:t>
            </a:r>
            <a:r>
              <a:rPr sz="1050" b="0" i="0">
                <a:solidFill>
                  <a:srgbClr val="16213A"/>
                </a:solidFill>
                <a:latin typeface="Consolas"/>
                <a:ea typeface="Malgun Gothic"/>
                <a:cs typeface="Malgun Gothic"/>
              </a:rPr>
              <a:t>bumps_potholes</a:t>
            </a:r>
            <a:r>
              <a:rPr sz="1050" b="0" i="0">
                <a:solidFill>
                  <a:srgbClr val="16213A"/>
                </a:solidFill>
                <a:latin typeface="Arial"/>
                <a:ea typeface="Malgun Gothic"/>
                <a:cs typeface="Malgun Gothic"/>
              </a:rPr>
              <a:t> seed 6(−13.4 s)인데, 이 쌍은 </a:t>
            </a:r>
            <a:r>
              <a:rPr sz="1050" b="1" i="0">
                <a:solidFill>
                  <a:srgbClr val="16213A"/>
                </a:solidFill>
                <a:latin typeface="Arial"/>
                <a:ea typeface="Malgun Gothic"/>
                <a:cs typeface="Malgun Gothic"/>
              </a:rPr>
              <a:t>보행자 없는 기준선 쪽이 비정상적으로 느렸다.</a:t>
            </a:r>
            <a:r>
              <a:rPr sz="1050" b="0" i="0">
                <a:solidFill>
                  <a:srgbClr val="16213A"/>
                </a:solidFill>
                <a:latin typeface="Arial"/>
                <a:ea typeface="Malgun Gothic"/>
                <a:cs typeface="Malgun Gothic"/>
              </a:rPr>
              <a:t> 그러니 "시간을 덜 낸다"는 방향은 믿을 만하고 </a:t>
            </a:r>
            <a:r>
              <a:rPr sz="1050" b="1" i="0">
                <a:solidFill>
                  <a:srgbClr val="16213A"/>
                </a:solidFill>
                <a:latin typeface="Arial"/>
                <a:ea typeface="Malgun Gothic"/>
                <a:cs typeface="Malgun Gothic"/>
              </a:rPr>
              <a:t>−2.2 s라는 크기는 믿으면 안 된다.</a:t>
            </a:r>
          </a:p>
        </p:txBody>
      </p:sp>
      <p:sp>
        <p:nvSpPr>
          <p:cNvPr id="7" name="TextBox 6"/>
          <p:cNvSpPr txBox="1"/>
          <p:nvPr/>
        </p:nvSpPr>
        <p:spPr>
          <a:xfrm>
            <a:off x="609600" y="228838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그 밖의 한계: seed 3개로 처음 쟀을 때는 </a:t>
            </a:r>
            <a:r>
              <a:rPr sz="1050" b="0" i="0">
                <a:solidFill>
                  <a:srgbClr val="16213A"/>
                </a:solidFill>
                <a:latin typeface="Consolas"/>
                <a:ea typeface="Malgun Gothic"/>
                <a:cs typeface="Malgun Gothic"/>
              </a:rPr>
              <a:t>curb_ramp</a:t>
            </a:r>
            <a:r>
              <a:rPr sz="1050" b="0" i="0">
                <a:solidFill>
                  <a:srgbClr val="16213A"/>
                </a:solidFill>
                <a:latin typeface="Arial"/>
                <a:ea typeface="Malgun Gothic"/>
                <a:cs typeface="Malgun Gothic"/>
              </a:rPr>
              <a:t>에서 </a:t>
            </a:r>
            <a:r>
              <a:rPr sz="1050" b="1" i="0">
                <a:solidFill>
                  <a:srgbClr val="16213A"/>
                </a:solidFill>
                <a:latin typeface="Arial"/>
                <a:ea typeface="Malgun Gothic"/>
                <a:cs typeface="Malgun Gothic"/>
              </a:rPr>
              <a:t>방향이 뒤집혔다.</a:t>
            </a:r>
            <a:r>
              <a:rPr sz="1050" b="0" i="0">
                <a:solidFill>
                  <a:srgbClr val="16213A"/>
                </a:solidFill>
                <a:latin typeface="Arial"/>
                <a:ea typeface="Malgun Gothic"/>
                <a:cs typeface="Malgun Gothic"/>
              </a:rPr>
              <a:t> 그리고 두 모드는 속도가 달라 보행자를 </a:t>
            </a:r>
            <a:r>
              <a:rPr sz="1050" b="1" i="0">
                <a:solidFill>
                  <a:srgbClr val="16213A"/>
                </a:solidFill>
                <a:latin typeface="Arial"/>
                <a:ea typeface="Malgun Gothic"/>
                <a:cs typeface="Malgun Gothic"/>
              </a:rPr>
              <a:t>조금 다른 지점에서 만난다</a:t>
            </a:r>
            <a:r>
              <a:rPr sz="1050" b="0" i="0">
                <a:solidFill>
                  <a:srgbClr val="16213A"/>
                </a:solidFill>
                <a:latin typeface="Arial"/>
                <a:ea typeface="Malgun Gothic"/>
                <a:cs typeface="Malgun Gothic"/>
              </a:rPr>
              <a:t> — 쌍대 기준선이 지형은 지우지만 조우 기하는 지우지 못한다.</a:t>
            </a:r>
          </a:p>
        </p:txBody>
      </p:sp>
      <p:sp>
        <p:nvSpPr>
          <p:cNvPr id="8" name="TextBox 7"/>
          <p:cNvSpPr txBox="1"/>
          <p:nvPr/>
        </p:nvSpPr>
        <p:spPr>
          <a:xfrm>
            <a:off x="609600" y="281027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t>
            </a:r>
            <a:r>
              <a:rPr sz="1050" b="0" i="0">
                <a:solidFill>
                  <a:srgbClr val="16213A"/>
                </a:solidFill>
                <a:latin typeface="Consolas"/>
                <a:ea typeface="Malgun Gothic"/>
                <a:cs typeface="Malgun Gothic"/>
              </a:rPr>
              <a:t>results/yield/*.npz</a:t>
            </a:r>
            <a:r>
              <a:rPr sz="1050" b="0" i="0">
                <a:solidFill>
                  <a:srgbClr val="16213A"/>
                </a:solidFill>
                <a:latin typeface="Arial"/>
                <a:ea typeface="Malgun Gothic"/>
                <a:cs typeface="Malgun Gothic"/>
              </a:rPr>
              <a:t>에 있다(2026-10-01에 커밋했다 — 그전에는 근거 자료가 저장소에 없었다). 재현: </a:t>
            </a:r>
            <a:r>
              <a:rPr sz="1050" b="0" i="0">
                <a:solidFill>
                  <a:srgbClr val="16213A"/>
                </a:solidFill>
                <a:latin typeface="Consolas"/>
                <a:ea typeface="Malgun Gothic"/>
                <a:cs typeface="Malgun Gothic"/>
              </a:rPr>
              <a:t>python scripts/eval_yield_behavior.py --scenario &lt;sc&gt; --seeds 0 1 2 3 4 5 6 7 --out results/yield</a:t>
            </a:r>
            <a:r>
              <a:rPr sz="1050" b="0" i="0">
                <a:solidFill>
                  <a:srgbClr val="16213A"/>
                </a:solidFill>
                <a:latin typeface="Arial"/>
                <a:ea typeface="Malgun Gothic"/>
                <a:cs typeface="Malgun Gothic"/>
              </a:rPr>
              <a: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A.13.12 TP-0098 — 매퍼의 순서 의존 넷을 닫으니 L1이 비트 단위로 재현된다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111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결론 먼저.</a:t>
            </a:r>
            <a:r>
              <a:rPr sz="1050" b="0" i="0">
                <a:solidFill>
                  <a:srgbClr val="16213A"/>
                </a:solidFill>
                <a:latin typeface="Arial"/>
                <a:ea typeface="Malgun Gothic"/>
                <a:cs typeface="Malgun Gothic"/>
              </a:rPr>
              <a:t> 벤더링 elevation_mapping의 </a:t>
            </a:r>
            <a:r>
              <a:rPr sz="1050" b="0" i="0">
                <a:solidFill>
                  <a:srgbClr val="16213A"/>
                </a:solidFill>
                <a:latin typeface="Consolas"/>
                <a:ea typeface="Malgun Gothic"/>
                <a:cs typeface="Malgun Gothic"/>
              </a:rPr>
              <a:t>add_points_kernel</a:t>
            </a:r>
            <a:r>
              <a:rPr sz="1050" b="0" i="0">
                <a:solidFill>
                  <a:srgbClr val="16213A"/>
                </a:solidFill>
                <a:latin typeface="Arial"/>
                <a:ea typeface="Malgun Gothic"/>
                <a:cs typeface="Malgun Gothic"/>
              </a:rPr>
              <a:t>에는 스레드 순서에 따라 결과가 바뀌는 곳이 넷 있었다. </a:t>
            </a:r>
            <a:r>
              <a:rPr sz="1050" b="0" i="0">
                <a:solidFill>
                  <a:srgbClr val="16213A"/>
                </a:solidFill>
                <a:latin typeface="Consolas"/>
                <a:ea typeface="Malgun Gothic"/>
                <a:cs typeface="Malgun Gothic"/>
              </a:rPr>
              <a:t>deterministic_mapping</a:t>
            </a:r>
            <a:r>
              <a:rPr sz="1050" b="0" i="0">
                <a:solidFill>
                  <a:srgbClr val="16213A"/>
                </a:solidFill>
                <a:latin typeface="Arial"/>
                <a:ea typeface="Malgun Gothic"/>
                <a:cs typeface="Malgun Gothic"/>
              </a:rPr>
              <a:t>으로 </a:t>
            </a:r>
            <a:r>
              <a:rPr sz="1050" b="1" i="0">
                <a:solidFill>
                  <a:srgbClr val="C2410C"/>
                </a:solidFill>
                <a:latin typeface="Arial"/>
                <a:ea typeface="Malgun Gothic"/>
                <a:cs typeface="Malgun Gothic"/>
              </a:rPr>
              <a:t>넷을 모두 닫으니 같은 점군에서 모든 층이 비트 단위로 같아졌다.</a:t>
            </a:r>
            <a:r>
              <a:rPr sz="1050" b="0" i="0">
                <a:solidFill>
                  <a:srgbClr val="16213A"/>
                </a:solidFill>
                <a:latin typeface="Arial"/>
                <a:ea typeface="Malgun Gothic"/>
                <a:cs typeface="Malgun Gothic"/>
              </a:rPr>
              <a:t> L1 폐루프도 재현된다. 같은 L1 벤치마크(4 시나리오 × seed 0–2, 두 스택)를 두 번 돌리면 24 에피소드의 성공·시간·경로 길이·pitch·GT cost가 모두 같다. 지도 품질은 배포본과 같다. 앞으로 L1 수치는 한 번 실행으로 읽어도 된다. 다만 seed 수가 적은 차이는 여전히 표본 크기 안에서 읽어야 한다.</a:t>
            </a:r>
          </a:p>
        </p:txBody>
      </p:sp>
      <p:pic>
        <p:nvPicPr>
          <p:cNvPr id="6" name="Picture 5" descr="image.jpg"/>
          <p:cNvPicPr>
            <a:picLocks noChangeAspect="1"/>
          </p:cNvPicPr>
          <p:nvPr/>
        </p:nvPicPr>
        <p:blipFill>
          <a:blip r:embed="rId3"/>
          <a:stretch>
            <a:fillRect/>
          </a:stretch>
        </p:blipFill>
        <p:spPr>
          <a:xfrm>
            <a:off x="1016000" y="1982986"/>
            <a:ext cx="10160000" cy="3263900"/>
          </a:xfrm>
          <a:prstGeom prst="rect">
            <a:avLst/>
          </a:prstGeom>
        </p:spPr>
      </p:pic>
      <p:sp>
        <p:nvSpPr>
          <p:cNvPr id="7" name="TextBox 6"/>
          <p:cNvSpPr txBox="1"/>
          <p:nvPr/>
        </p:nvSpPr>
        <p:spPr>
          <a:xfrm>
            <a:off x="609600" y="5335786"/>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TP-0098 (Fig. 1): 같은 점군을 반복해 넣을 때 실행 간 다른 칸(왼쪽), L1 폐루프의 재현성(오른쪽). 출처: </a:t>
            </a:r>
            <a:r>
              <a:rPr sz="1050" b="0" i="1">
                <a:solidFill>
                  <a:srgbClr val="16213A"/>
                </a:solidFill>
                <a:latin typeface="Consolas"/>
                <a:ea typeface="Malgun Gothic"/>
                <a:cs typeface="Malgun Gothic"/>
              </a:rPr>
              <a:t>results/tp0098_fixed</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A.13.12 TP-0098 — 매퍼의 순서 의존 넷을 닫으니 L1이 비트 단위로 재현된다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112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순서 의존 넷</a:t>
            </a:r>
          </a:p>
        </p:txBody>
      </p:sp>
      <p:graphicFrame>
        <p:nvGraphicFramePr>
          <p:cNvPr id="6" name="Table 5"/>
          <p:cNvGraphicFramePr>
            <a:graphicFrameLocks noGrp="1"/>
          </p:cNvGraphicFramePr>
          <p:nvPr/>
        </p:nvGraphicFramePr>
        <p:xfrm>
          <a:off x="609600" y="1547812"/>
          <a:ext cx="10966450" cy="985440"/>
        </p:xfrm>
        <a:graphic>
          <a:graphicData uri="http://schemas.openxmlformats.org/drawingml/2006/table">
            <a:tbl>
              <a:tblPr firstRow="1" bandRow="1">
                <a:tableStyleId>{5C22544A-7EE6-4342-B048-85BDC9FD1C3A}</a:tableStyleId>
              </a:tblPr>
              <a:tblGrid>
                <a:gridCol w="263723"/>
                <a:gridCol w="1423194"/>
                <a:gridCol w="4411960"/>
                <a:gridCol w="4867573"/>
              </a:tblGrid>
              <a:tr h="197088">
                <a:tc>
                  <a:txBody>
                    <a:bodyPr wrap="square"/>
                    <a:lstStyle/>
                    <a:p>
                      <a:r>
                        <a:rPr sz="800" b="1" i="0">
                          <a:solidFill>
                            <a:srgbClr val="F4F1EA"/>
                          </a:solidFill>
                          <a:latin typeface="Arial"/>
                          <a:ea typeface="Malgun Gothic"/>
                          <a:cs typeface="Malgun Gothic"/>
                        </a:rPr>
                        <a: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곳</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증상</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고친 방법</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가시성 정리의 상한(층 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일반 store라 "마지막에 쓴 스레드"가 이긴다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CAS </a:t>
                      </a:r>
                      <a:r>
                        <a:rPr sz="800" b="0" i="0">
                          <a:solidFill>
                            <a:srgbClr val="16213A"/>
                          </a:solidFill>
                          <a:latin typeface="Consolas"/>
                          <a:ea typeface="Malgun Gothic"/>
                          <a:cs typeface="Malgun Gothic"/>
                        </a:rPr>
                        <a:t>atomicMinFloat</a:t>
                      </a:r>
                      <a:r>
                        <a:rPr sz="800" b="0" i="0">
                          <a:solidFill>
                            <a:srgbClr val="16213A"/>
                          </a:solidFill>
                          <a:latin typeface="Arial"/>
                          <a:ea typeface="Malgun Gothic"/>
                          <a:cs typeface="Malgun Gothic"/>
                        </a:rPr>
                        <a:t>(PR #105)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마할라노비스 게이트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다른 스레드가 올리는 중인 분산을 읽는다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커널 전 분산 스냅샷(PR #105)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3</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new_map</a:t>
                      </a:r>
                      <a:r>
                        <a:rPr sz="800" b="0" i="0">
                          <a:solidFill>
                            <a:srgbClr val="16213A"/>
                          </a:solidFill>
                          <a:latin typeface="Arial"/>
                          <a:ea typeface="Malgun Gothic"/>
                          <a:cs typeface="Malgun Gothic"/>
                        </a:rPr>
                        <a:t> 높이·분산 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float </a:t>
                      </a:r>
                      <a:r>
                        <a:rPr sz="800" b="0" i="0">
                          <a:solidFill>
                            <a:srgbClr val="16213A"/>
                          </a:solidFill>
                          <a:latin typeface="Consolas"/>
                          <a:ea typeface="Malgun Gothic"/>
                          <a:cs typeface="Malgun Gothic"/>
                        </a:rPr>
                        <a:t>atomicAdd</a:t>
                      </a:r>
                      <a:r>
                        <a:rPr sz="800" b="0" i="0">
                          <a:solidFill>
                            <a:srgbClr val="16213A"/>
                          </a:solidFill>
                          <a:latin typeface="Arial"/>
                          <a:ea typeface="Malgun Gothic"/>
                          <a:cs typeface="Malgun Gothic"/>
                        </a:rPr>
                        <a:t>는 결합법칙이 없다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32.32 고정소수점 int64 누적(#126)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삽입 store 대 정리 분기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삽입이 valid·time·상한을 일반 store로 쓰는 동안 정리가 그 값을 읽고 valid를 깎는다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정리는 스냅샷을 읽고, 감소는 고정소수점 버퍼에 모으고, 삽입은 커널 뒤에 한 번에 쓴다(#126)</a:t>
                      </a:r>
                    </a:p>
                  </a:txBody>
                  <a:tcPr marL="63500" marR="63500" marT="12700" marB="12700">
                    <a:solidFill>
                      <a:srgbClr val="F3F0E8"/>
                    </a:solidFill>
                  </a:tcPr>
                </a:tc>
              </a:tr>
            </a:tbl>
          </a:graphicData>
        </a:graphic>
      </p:graphicFrame>
      <p:sp>
        <p:nvSpPr>
          <p:cNvPr id="7" name="TextBox 6"/>
          <p:cNvSpPr txBox="1"/>
          <p:nvPr/>
        </p:nvSpPr>
        <p:spPr>
          <a:xfrm>
            <a:off x="609600" y="2874863"/>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1–2만 고쳤을 때 같은 점군 20 프레임 × 4회에서 상한이 272–278칸, 최대 0.35–0.47 m 달랐다. 높이·분산은 120–140칸이 ulp만큼 달랐다. 이 작은 차이가 약 150스텝 동안 커져, bumps_potholes s0 L1 폐루프 9회가 성공 5 / 치명 4로 갈렸다. 4번의 규칙은 "이번 프레임에 점이 들어온 칸은 삽입이 정리를 이긴다"다. 배포본의 "최근 갱신된 칸은 건너뛴다" 검사가 뜻하는 것과 같다. 삽입된 칸의 상한은 그 칸의 평균 융합 높이다.</a:t>
            </a:r>
          </a:p>
        </p:txBody>
      </p:sp>
      <p:sp>
        <p:nvSpPr>
          <p:cNvPr id="8" name="TextBox 7"/>
          <p:cNvSpPr txBox="1"/>
          <p:nvPr/>
        </p:nvSpPr>
        <p:spPr>
          <a:xfrm>
            <a:off x="717550" y="3613249"/>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결과</a:t>
            </a:r>
          </a:p>
        </p:txBody>
      </p:sp>
      <p:sp>
        <p:nvSpPr>
          <p:cNvPr id="9" name="TextBox 8"/>
          <p:cNvSpPr txBox="1"/>
          <p:nvPr/>
        </p:nvSpPr>
        <p:spPr>
          <a:xfrm>
            <a:off x="609600" y="3916462"/>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비트 동일.</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scripts/check_emap_determinism.py</a:t>
            </a:r>
            <a:r>
              <a:rPr sz="1050" b="0" i="0">
                <a:solidFill>
                  <a:srgbClr val="16213A"/>
                </a:solidFill>
                <a:latin typeface="Arial"/>
                <a:ea typeface="Malgun Gothic"/>
                <a:cs typeface="Malgun Gothic"/>
              </a:rPr>
              <a:t>: bumps_potholes s0 20 프레임 × 4회, curb_ramp·down_curb·slope_crossfall s1 40 프레임 × 5회에서 7개 층 모두 같다.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지도 품질 불변.</a:t>
            </a:r>
            <a:r>
              <a:rPr sz="1050" b="0" i="0">
                <a:solidFill>
                  <a:srgbClr val="16213A"/>
                </a:solidFill>
                <a:latin typeface="Arial"/>
                <a:ea typeface="Malgun Gothic"/>
                <a:cs typeface="Malgun Gothic"/>
              </a:rPr>
              <a:t> 3 지형 × seed 0–2, 30 프레임: valid 칸 수, 높이 RMSE(2.23/0.94/0.34 cm, 배포본 2.19/0.94/0.34), p99, 상한 칸 수, 참 높이보다 2 cm 넘게 낮은 상한 수가 배포본과 같다.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폐루프 재현.</a:t>
            </a:r>
            <a:r>
              <a:rPr sz="1050" b="0" i="0">
                <a:solidFill>
                  <a:srgbClr val="16213A"/>
                </a:solidFill>
                <a:latin typeface="Arial"/>
                <a:ea typeface="Malgun Gothic"/>
                <a:cs typeface="Malgun Gothic"/>
              </a:rPr>
              <a:t> bumps_potholes s0 guidance+mppi L1을 6회 돌리면 모두 같은 에피소드다(8.5 s 치명, 최대 pitch 7.680366721666333°).</a:t>
            </a:r>
          </a:p>
        </p:txBody>
      </p:sp>
      <p:sp>
        <p:nvSpPr>
          <p:cNvPr id="10" name="TextBox 9"/>
          <p:cNvSpPr txBox="1"/>
          <p:nvPr/>
        </p:nvSpPr>
        <p:spPr>
          <a:xfrm>
            <a:off x="609600" y="492214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L1 표준 벤치마크(4 시나리오 × seed 0–2, 이제 한 번 실행으로 확정).</a:t>
            </a:r>
          </a:p>
        </p:txBody>
      </p:sp>
      <p:graphicFrame>
        <p:nvGraphicFramePr>
          <p:cNvPr id="11" name="Table 10"/>
          <p:cNvGraphicFramePr>
            <a:graphicFrameLocks noGrp="1"/>
          </p:cNvGraphicFramePr>
          <p:nvPr/>
        </p:nvGraphicFramePr>
        <p:xfrm>
          <a:off x="609600" y="5227538"/>
          <a:ext cx="10966450" cy="591264"/>
        </p:xfrm>
        <a:graphic>
          <a:graphicData uri="http://schemas.openxmlformats.org/drawingml/2006/table">
            <a:tbl>
              <a:tblPr firstRow="1" bandRow="1">
                <a:tableStyleId>{5C22544A-7EE6-4342-B048-85BDC9FD1C3A}</a:tableStyleId>
              </a:tblPr>
              <a:tblGrid>
                <a:gridCol w="4516041"/>
                <a:gridCol w="2429867"/>
                <a:gridCol w="2539107"/>
                <a:gridCol w="1481435"/>
              </a:tblGrid>
              <a:tr h="197088">
                <a:tc>
                  <a:txBody>
                    <a:bodyPr wrap="square"/>
                    <a:lstStyle/>
                    <a:p>
                      <a:r>
                        <a:rPr sz="800" b="1" i="0">
                          <a:solidFill>
                            <a:srgbClr val="F4F1EA"/>
                          </a:solidFill>
                          <a:latin typeface="Arial"/>
                          <a:ea typeface="Malgun Gothic"/>
                          <a:cs typeface="Malgun Gothic"/>
                        </a:rPr>
                        <a:t>설정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guidance+mppi</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planner_d+mppi</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계획 시간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L1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11/12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5.1 ms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L1 + 매퍼 상한 + 깊이 prior 0.10 m</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12/12</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12/12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5.1 ms</a:t>
                      </a:r>
                    </a:p>
                  </a:txBody>
                  <a:tcPr marL="63500" marR="63500" marT="12700" marB="12700">
                    <a:solidFill>
                      <a:srgbClr val="F3F0E8"/>
                    </a:solidFill>
                  </a:tcPr>
                </a:tc>
              </a:tr>
            </a:tbl>
          </a:graphicData>
        </a:graphic>
      </p:graphicFrame>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A.13.12 TP-0098 — 매퍼의 순서 의존 넷을 닫으니 L1이 비트 단위로 재현된다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113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L1의 실패 셋은 모두 bumps_potholes의 포트홀(s0·s1 guidance, s1 planner_d)이다. 상한 + 깊이 prior가 이 셋을 모두 막는다. 최대 pitch는 4.0–4.2°, 평균 GT cost는 0.020–0.024다.</a:t>
            </a:r>
          </a:p>
        </p:txBody>
      </p:sp>
      <p:sp>
        <p:nvSpPr>
          <p:cNvPr id="6" name="TextBox 5"/>
          <p:cNvSpPr txBox="1"/>
          <p:nvPr/>
        </p:nvSpPr>
        <p:spPr>
          <a:xfrm>
            <a:off x="717550" y="1549995"/>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남은 것</a:t>
            </a:r>
          </a:p>
        </p:txBody>
      </p:sp>
      <p:sp>
        <p:nvSpPr>
          <p:cNvPr id="7" name="TextBox 6"/>
          <p:cNvSpPr txBox="1"/>
          <p:nvPr/>
        </p:nvSpPr>
        <p:spPr>
          <a:xfrm>
            <a:off x="609600" y="1853208"/>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Consolas"/>
                <a:ea typeface="Malgun Gothic"/>
                <a:cs typeface="Malgun Gothic"/>
              </a:rPr>
              <a:t>error_counting_kernel</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error</a:t>
            </a:r>
            <a:r>
              <a:rPr sz="1050" b="0" i="0">
                <a:solidFill>
                  <a:srgbClr val="16213A"/>
                </a:solidFill>
                <a:latin typeface="Arial"/>
                <a:ea typeface="Malgun Gothic"/>
                <a:cs typeface="Malgun Gothic"/>
              </a:rPr>
              <a:t> 합도 float </a:t>
            </a:r>
            <a:r>
              <a:rPr sz="1050" b="0" i="0">
                <a:solidFill>
                  <a:srgbClr val="16213A"/>
                </a:solidFill>
                <a:latin typeface="Consolas"/>
                <a:ea typeface="Malgun Gothic"/>
                <a:cs typeface="Malgun Gothic"/>
              </a:rPr>
              <a:t>atomicAdd</a:t>
            </a:r>
            <a:r>
              <a:rPr sz="1050" b="0" i="0">
                <a:solidFill>
                  <a:srgbClr val="16213A"/>
                </a:solidFill>
                <a:latin typeface="Arial"/>
                <a:ea typeface="Malgun Gothic"/>
                <a:cs typeface="Malgun Gothic"/>
              </a:rPr>
              <a:t>다. 드리프트 보정을 켤 때만 쓰이고 travplan은 끈다(시뮬 자세가 정확하다). 켜면 다시 순서 의존이 생긴다.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고정소수점 범위는 칸당 |합| &lt; 2.1×10⁹이다. 맵 중심 기준 높이 10 m에서 칸당 점 2억 개까지 안전하다.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Consolas"/>
                <a:ea typeface="Malgun Gothic"/>
                <a:cs typeface="Malgun Gothic"/>
              </a:rPr>
              <a:t>.venv-emap</a:t>
            </a:r>
            <a:r>
              <a:rPr sz="1050" b="0" i="0">
                <a:solidFill>
                  <a:srgbClr val="16213A"/>
                </a:solidFill>
                <a:latin typeface="Arial"/>
                <a:ea typeface="Malgun Gothic"/>
                <a:cs typeface="Malgun Gothic"/>
              </a:rPr>
              <a:t>에 pytest를 넣어 </a:t>
            </a:r>
            <a:r>
              <a:rPr sz="1050" b="0" i="0">
                <a:solidFill>
                  <a:srgbClr val="16213A"/>
                </a:solidFill>
                <a:latin typeface="Consolas"/>
                <a:ea typeface="Malgun Gothic"/>
                <a:cs typeface="Malgun Gothic"/>
              </a:rPr>
              <a:t>tests/test_emap_determinism.py</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tests/test_l1_perception.py</a:t>
            </a:r>
            <a:r>
              <a:rPr sz="1050" b="0" i="0">
                <a:solidFill>
                  <a:srgbClr val="16213A"/>
                </a:solidFill>
                <a:latin typeface="Arial"/>
                <a:ea typeface="Malgun Gothic"/>
                <a:cs typeface="Malgun Gothic"/>
              </a:rPr>
              <a:t>가 돈다(10 passed). 기본 venv에서는 cupy가 없어 건너뛴다.</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A.13.13 TP-0054 — 매퍼 분산은 σ가 되지 못하고, cost 민감도 σ는 오차를 맞히지만 폐루프를 바꾸지 못한다</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114 / 359</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결론 먼저.</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L1 매퍼(elevation_mapping)의 칸별 높이 분산은 TravMap σ로 쓸 수 없다.</a:t>
            </a:r>
            <a:r>
              <a:rPr sz="1050" b="0" i="0">
                <a:solidFill>
                  <a:srgbClr val="16213A"/>
                </a:solidFill>
                <a:latin typeface="Arial"/>
                <a:ea typeface="Malgun Gothic"/>
                <a:cs typeface="Malgun Gothic"/>
              </a:rPr>
              <a:t> 배포 설정에서 평지 칸의 분산은 실제 오차보다 표준편차로 130배 크다. 분산이 큰 칸이 실제로 더 틀린 칸인 것도 아니다(순위 상관 −0.11). 높이 오차의 대부분은 점 잡음이 아니라 5 cm 칸 하나가 턱의 위아래를 섞는 데서 생기는데, 매퍼의 잡음 모델에는 그 항이 없다. 그래서 </a:t>
            </a:r>
            <a:r>
              <a:rPr sz="1050" b="0" i="0">
                <a:solidFill>
                  <a:srgbClr val="16213A"/>
                </a:solidFill>
                <a:latin typeface="Consolas"/>
                <a:ea typeface="Malgun Gothic"/>
                <a:cs typeface="Malgun Gothic"/>
              </a:rPr>
              <a:t>sensor_noise_factor</a:t>
            </a:r>
            <a:r>
              <a:rPr sz="1050" b="0" i="0">
                <a:solidFill>
                  <a:srgbClr val="16213A"/>
                </a:solidFill>
                <a:latin typeface="Arial"/>
                <a:ea typeface="Malgun Gothic"/>
                <a:cs typeface="Malgun Gothic"/>
              </a:rPr>
              <a:t> 하나로는 평지와 모서리를 함께 맞출 수 없다. </a:t>
            </a:r>
            <a:r>
              <a:rPr sz="1050" b="1" i="0">
                <a:solidFill>
                  <a:srgbClr val="C2410C"/>
                </a:solidFill>
                <a:latin typeface="Arial"/>
                <a:ea typeface="Malgun Gothic"/>
                <a:cs typeface="Malgun Gothic"/>
              </a:rPr>
              <a:t>관측 칸의 cost 오차를 맞히는 것은 그 칸 cost의 높이 민감도와 주변의 미관측 비율이다(AUROC 0.886).</a:t>
            </a:r>
            <a:r>
              <a:rPr sz="1050" b="0" i="0">
                <a:solidFill>
                  <a:srgbClr val="16213A"/>
                </a:solidFill>
                <a:latin typeface="Arial"/>
                <a:ea typeface="Malgun Gothic"/>
                <a:cs typeface="Malgun Gothic"/>
              </a:rPr>
              <a:t> 이것을 σ로 넣는 </a:t>
            </a:r>
            <a:r>
              <a:rPr sz="1050" b="0" i="0">
                <a:solidFill>
                  <a:srgbClr val="16213A"/>
                </a:solidFill>
                <a:latin typeface="Consolas"/>
                <a:ea typeface="Malgun Gothic"/>
                <a:cs typeface="Malgun Gothic"/>
              </a:rPr>
              <a:t>sigma_mode="sensitivity"</a:t>
            </a:r>
            <a:r>
              <a:rPr sz="1050" b="0" i="0">
                <a:solidFill>
                  <a:srgbClr val="16213A"/>
                </a:solidFill>
                <a:latin typeface="Arial"/>
                <a:ea typeface="Malgun Gothic"/>
                <a:cs typeface="Malgun Gothic"/>
              </a:rPr>
              <a:t>를 만들었다. 하지만 L1·L0 폐루프(4 지형 × seed 0–9)의 성공 수는 σ를 누구에게 주든 이진 σ와 같은 범위다. 겉보기 차이는 bumps_potholes의 혼돈 안에 있다(σ = 1e-6만 줘도 20회 중 4회가 바뀐다). 그래서 기본값은 이진 σ로 둔다.</a:t>
            </a:r>
          </a:p>
        </p:txBody>
      </p:sp>
      <p:pic>
        <p:nvPicPr>
          <p:cNvPr id="6" name="Picture 5" descr="image.jpg"/>
          <p:cNvPicPr>
            <a:picLocks noChangeAspect="1"/>
          </p:cNvPicPr>
          <p:nvPr/>
        </p:nvPicPr>
        <p:blipFill>
          <a:blip r:embed="rId3"/>
          <a:stretch>
            <a:fillRect/>
          </a:stretch>
        </p:blipFill>
        <p:spPr>
          <a:xfrm>
            <a:off x="1016000" y="2415977"/>
            <a:ext cx="10160000" cy="2679700"/>
          </a:xfrm>
          <a:prstGeom prst="rect">
            <a:avLst/>
          </a:prstGeom>
        </p:spPr>
      </p:pic>
      <p:sp>
        <p:nvSpPr>
          <p:cNvPr id="7" name="TextBox 6"/>
          <p:cNvSpPr txBox="1"/>
          <p:nvPr/>
        </p:nvSpPr>
        <p:spPr>
          <a:xfrm>
            <a:off x="609600" y="5184577"/>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TP-0054 (Fig. 1): (a) 매퍼가 낸 높이 std 대 실제 높이 오차, (b) 관측 칸의 cost 오차를 맞히는 정도(AUROC), (c) L1 폐루프 성공 수. 출처: </a:t>
            </a:r>
            <a:r>
              <a:rPr sz="1050" b="0" i="1">
                <a:solidFill>
                  <a:srgbClr val="16213A"/>
                </a:solidFill>
                <a:latin typeface="Consolas"/>
                <a:ea typeface="Malgun Gothic"/>
                <a:cs typeface="Malgun Gothic"/>
              </a:rPr>
              <a:t>results/tp0054_sigma</a:t>
            </a:r>
            <a:r>
              <a:rPr sz="1050" b="0" i="1">
                <a:solidFill>
                  <a:srgbClr val="16213A"/>
                </a:solidFill>
                <a:latin typeface="Arial"/>
                <a:ea typeface="Malgun Gothic"/>
                <a:cs typeface="Malgun Gothic"/>
              </a:rPr>
              <a:t>, </a:t>
            </a:r>
            <a:r>
              <a:rPr sz="1050" b="0" i="1">
                <a:solidFill>
                  <a:srgbClr val="16213A"/>
                </a:solidFill>
                <a:latin typeface="Consolas"/>
                <a:ea typeface="Malgun Gothic"/>
                <a:cs typeface="Malgun Gothic"/>
              </a:rPr>
              <a:t>results/tp0054_l1</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A.13.13 TP-0054 — 매퍼 분산은 σ가 되지 못하고, cost 민감도 σ는 오차를 맞히지만 폐루프를 바꾸지 못한다</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115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1. 매퍼 분산은 보정되지도, 순위를 맞히지도 않는다</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0" i="0">
                <a:solidFill>
                  <a:srgbClr val="16213A"/>
                </a:solidFill>
                <a:latin typeface="Consolas"/>
                <a:ea typeface="Malgun Gothic"/>
                <a:cs typeface="Malgun Gothic"/>
              </a:rPr>
              <a:t>scripts/eval_l1_sigma.py</a:t>
            </a:r>
            <a:r>
              <a:rPr sz="1050" b="0" i="0">
                <a:solidFill>
                  <a:srgbClr val="16213A"/>
                </a:solidFill>
                <a:latin typeface="Arial"/>
                <a:ea typeface="Malgun Gothic"/>
                <a:cs typeface="Malgun Gothic"/>
              </a:rPr>
              <a:t>: TP-0100과 같은 고정 자세(GT 경로 0.5 m 간격), 4 지형 × seed 0–2. 매 관측 뒤 로봇 5 m 안 관측 칸 439만 개(칸 × 스냅샷)를 썼다. 매퍼의 점 분산은 </a:t>
            </a:r>
            <a:r>
              <a:rPr sz="1050" b="0" i="0">
                <a:solidFill>
                  <a:srgbClr val="16213A"/>
                </a:solidFill>
                <a:latin typeface="Consolas"/>
                <a:ea typeface="Malgun Gothic"/>
                <a:cs typeface="Malgun Gothic"/>
              </a:rPr>
              <a:t>sensor_noise_factor · r²</a:t>
            </a:r>
            <a:r>
              <a:rPr sz="1050" b="0" i="0">
                <a:solidFill>
                  <a:srgbClr val="16213A"/>
                </a:solidFill>
                <a:latin typeface="Arial"/>
                <a:ea typeface="Malgun Gothic"/>
                <a:cs typeface="Malgun Gothic"/>
              </a:rPr>
              <a:t>(배포값 0.05)이다. 합성 LiDAR의 거리 잡음은 1 cm다.</a:t>
            </a:r>
          </a:p>
        </p:txBody>
      </p:sp>
      <p:graphicFrame>
        <p:nvGraphicFramePr>
          <p:cNvPr id="7" name="Table 6"/>
          <p:cNvGraphicFramePr>
            <a:graphicFrameLocks noGrp="1"/>
          </p:cNvGraphicFramePr>
          <p:nvPr/>
        </p:nvGraphicFramePr>
        <p:xfrm>
          <a:off x="609600" y="2069703"/>
          <a:ext cx="10966450" cy="788352"/>
        </p:xfrm>
        <a:graphic>
          <a:graphicData uri="http://schemas.openxmlformats.org/drawingml/2006/table">
            <a:tbl>
              <a:tblPr firstRow="1" bandRow="1">
                <a:tableStyleId>{5C22544A-7EE6-4342-B048-85BDC9FD1C3A}</a:tableStyleId>
              </a:tblPr>
              <a:tblGrid>
                <a:gridCol w="2234605"/>
                <a:gridCol w="1395214"/>
                <a:gridCol w="1712416"/>
                <a:gridCol w="1072555"/>
                <a:gridCol w="1723529"/>
                <a:gridCol w="1206004"/>
                <a:gridCol w="1622127"/>
              </a:tblGrid>
              <a:tr h="197088">
                <a:tc>
                  <a:txBody>
                    <a:bodyPr wrap="square"/>
                    <a:lstStyle/>
                    <a:p>
                      <a:r>
                        <a:rPr sz="800" b="1" i="0">
                          <a:solidFill>
                            <a:srgbClr val="F4F1EA"/>
                          </a:solidFill>
                          <a:latin typeface="Arial"/>
                          <a:ea typeface="Malgun Gothic"/>
                          <a:cs typeface="Malgun Gothic"/>
                        </a:rPr>
                        <a:t>설정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평지 칸 실제 RMSE</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평지 칸 예측 std(중앙값)</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평지 mean z²</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모서리 칸 실제 RMSE</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모서리 mean z²</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순위 상관(평지/모서리)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배포(factor 0.05)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0.20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26.6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3.33 cm(p99 19.7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−0.11 / −0.04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factor 1e-4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0.23 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3.3 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3.43 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 / 0.14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factor 1e-5, 시간·이상치 분산 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0.22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0.68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3.50 cm</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19.6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−0.19 / 0.12</a:t>
                      </a:r>
                    </a:p>
                  </a:txBody>
                  <a:tcPr marL="63500" marR="63500" marT="12700" marB="12700">
                    <a:solidFill>
                      <a:srgbClr val="FFFDF8"/>
                    </a:solidFill>
                  </a:tcPr>
                </a:tc>
              </a:tr>
            </a:tbl>
          </a:graphicData>
        </a:graphic>
      </p:graphicFrame>
      <p:sp>
        <p:nvSpPr>
          <p:cNvPr id="8" name="TextBox 7"/>
          <p:cNvSpPr txBox="1"/>
          <p:nvPr/>
        </p:nvSpPr>
        <p:spPr>
          <a:xfrm>
            <a:off x="609600" y="3150394"/>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보정된 분산이면 mean z²가 1이다. factor만 낮추면 std가 2.7 cm 아래로 내려가지 않는다. 매퍼가 게이트를 넘지 못한 점과 칸을 통과한 광선마다 </a:t>
            </a:r>
            <a:r>
              <a:rPr sz="1050" b="0" i="0">
                <a:solidFill>
                  <a:srgbClr val="16213A"/>
                </a:solidFill>
                <a:latin typeface="Consolas"/>
                <a:ea typeface="Malgun Gothic"/>
                <a:cs typeface="Malgun Gothic"/>
              </a:rPr>
              <a:t>outlier_variance</a:t>
            </a:r>
            <a:r>
              <a:rPr sz="1050" b="0" i="0">
                <a:solidFill>
                  <a:srgbClr val="16213A"/>
                </a:solidFill>
                <a:latin typeface="Arial"/>
                <a:ea typeface="Malgun Gothic"/>
                <a:cs typeface="Malgun Gothic"/>
              </a:rPr>
              <a:t>(0.01 m², std 10 cm)를 더하기 때문이다. 이 항과 시간 분산을 끄면 평지는 보정에 가까워진다(±1σ 안 95%). 대신 모서리 칸이 z²로 20배 과신한다. factor를 바꿔도 지도 품질(3 m 원판 cost MAE 0.0225–0.0233, 치명 재현율 0.561–0.564, AUROC 0.898–0.900)은 그대로다. 그래서 factor는 배포값 0.05를 유지한다.</a:t>
            </a:r>
          </a:p>
        </p:txBody>
      </p:sp>
      <p:sp>
        <p:nvSpPr>
          <p:cNvPr id="9" name="TextBox 8"/>
          <p:cNvSpPr txBox="1"/>
          <p:nvPr/>
        </p:nvSpPr>
        <p:spPr>
          <a:xfrm>
            <a:off x="717550" y="388878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2. cost 오차를 맞히는 것은 cost의 높이 민감도다</a:t>
            </a:r>
          </a:p>
        </p:txBody>
      </p:sp>
      <p:sp>
        <p:nvSpPr>
          <p:cNvPr id="10" name="TextBox 9"/>
          <p:cNvSpPr txBox="1"/>
          <p:nvPr/>
        </p:nvSpPr>
        <p:spPr>
          <a:xfrm>
            <a:off x="609600" y="4191992"/>
            <a:ext cx="10972800" cy="432991"/>
          </a:xfrm>
          <a:prstGeom prst="rect">
            <a:avLst/>
          </a:prstGeom>
          <a:noFill/>
        </p:spPr>
        <p:txBody>
          <a:bodyPr wrap="square" lIns="0" rIns="0" tIns="0" bIns="0" anchor="t">
            <a:spAutoFit/>
            <a:normAutofit/>
          </a:bodyPr>
          <a:lstStyle/>
          <a:p>
            <a:r>
              <a:rPr sz="1050" b="0" i="0">
                <a:solidFill>
                  <a:srgbClr val="16213A"/>
                </a:solidFill>
                <a:latin typeface="Consolas"/>
                <a:ea typeface="Malgun Gothic"/>
                <a:cs typeface="Malgun Gothic"/>
              </a:rPr>
              <a:t>scripts/eval_l1_sigma_cost.py</a:t>
            </a:r>
            <a:r>
              <a:rPr sz="1050" b="0" i="0">
                <a:solidFill>
                  <a:srgbClr val="16213A"/>
                </a:solidFill>
                <a:latin typeface="Arial"/>
                <a:ea typeface="Malgun Gothic"/>
                <a:cs typeface="Malgun Gothic"/>
              </a:rPr>
              <a:t>: 같은 자세, 권장 L1 belief(매퍼 상한 + 깊이 prior). 관측 칸에서 belief cost가 GT cost와 얼마나 다른지를 맞히는 후보를 비교했다. MISS는 GT가 치명인데 belief가 주행 가능이라 한 칸(관측 칸의 1.55%)이다. AUROC는 무작위 15% 표본(66만 칸)에서 쟀다. 매퍼 std를 전파한 줄만 같은 설정의 별도 실행(전체)이다.</a:t>
            </a:r>
          </a:p>
        </p:txBody>
      </p:sp>
      <p:graphicFrame>
        <p:nvGraphicFramePr>
          <p:cNvPr id="11" name="Table 10"/>
          <p:cNvGraphicFramePr>
            <a:graphicFrameLocks noGrp="1"/>
          </p:cNvGraphicFramePr>
          <p:nvPr/>
        </p:nvGraphicFramePr>
        <p:xfrm>
          <a:off x="609600" y="4713883"/>
          <a:ext cx="10966450" cy="1182528"/>
        </p:xfrm>
        <a:graphic>
          <a:graphicData uri="http://schemas.openxmlformats.org/drawingml/2006/table">
            <a:tbl>
              <a:tblPr firstRow="1" bandRow="1">
                <a:tableStyleId>{5C22544A-7EE6-4342-B048-85BDC9FD1C3A}</a:tableStyleId>
              </a:tblPr>
              <a:tblGrid>
                <a:gridCol w="6342955"/>
                <a:gridCol w="1762125"/>
                <a:gridCol w="2861370"/>
              </a:tblGrid>
              <a:tr h="197088">
                <a:tc>
                  <a:txBody>
                    <a:bodyPr wrap="square"/>
                    <a:lstStyle/>
                    <a:p>
                      <a:r>
                        <a:rPr sz="800" b="1" i="0">
                          <a:solidFill>
                            <a:srgbClr val="F4F1EA"/>
                          </a:solidFill>
                          <a:latin typeface="Arial"/>
                          <a:ea typeface="Malgun Gothic"/>
                          <a:cs typeface="Malgun Gothic"/>
                        </a:rPr>
                        <a:t>후보(실행 중 쓸 수 있나)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AUROC MISS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AUROC cost 오차 &gt; 0.25</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매퍼 높이 std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0.669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0.678</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매퍼 std를 cost로 몬테카를로 전파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0.844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0.717</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상수 std 0.2 cm를 전파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0.847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0.748</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민감도 margin: 높이가 0.5 cm 틀렸을 때 cost가 오르는 양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0.838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0.735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0.5 m 안 미관측 비율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0.673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0.688</a:t>
                      </a:r>
                    </a:p>
                  </a:txBody>
                  <a:tcPr marL="63500" marR="63500" marT="12700" marB="12700">
                    <a:solidFill>
                      <a:srgbClr val="FFFDF8"/>
                    </a:solidFill>
                  </a:tcPr>
                </a:tc>
              </a:tr>
            </a:tbl>
          </a:graphicData>
        </a:graphic>
      </p:graphicFrame>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A.13.13 TP-0054 — 매퍼 분산은 σ가 되지 못하고, cost 민감도 σ는 오차를 맞히지만 폐루프를 바꾸지 못한다</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116 / 359</a:t>
            </a:r>
          </a:p>
        </p:txBody>
      </p:sp>
      <p:graphicFrame>
        <p:nvGraphicFramePr>
          <p:cNvPr id="5" name="Table 4"/>
          <p:cNvGraphicFramePr>
            <a:graphicFrameLocks noGrp="1"/>
          </p:cNvGraphicFramePr>
          <p:nvPr/>
        </p:nvGraphicFramePr>
        <p:xfrm>
          <a:off x="609600" y="1244600"/>
          <a:ext cx="10966450" cy="788352"/>
        </p:xfrm>
        <a:graphic>
          <a:graphicData uri="http://schemas.openxmlformats.org/drawingml/2006/table">
            <a:tbl>
              <a:tblPr firstRow="1" bandRow="1">
                <a:tableStyleId>{5C22544A-7EE6-4342-B048-85BDC9FD1C3A}</a:tableStyleId>
              </a:tblPr>
              <a:tblGrid>
                <a:gridCol w="6342955"/>
                <a:gridCol w="1762125"/>
                <a:gridCol w="2861370"/>
              </a:tblGrid>
              <a:tr h="197088">
                <a:tc>
                  <a:txBody>
                    <a:bodyPr wrap="square"/>
                    <a:lstStyle/>
                    <a:p>
                      <a:r>
                        <a:rPr sz="800" b="1" i="0">
                          <a:solidFill>
                            <a:srgbClr val="F4F1EA"/>
                          </a:solidFill>
                          <a:latin typeface="Arial"/>
                          <a:ea typeface="Malgun Gothic"/>
                          <a:cs typeface="Malgun Gothic"/>
                        </a:rPr>
                        <a:t>후보(실행 중 쓸 수 있나)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AUROC MISS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AUROC cost 오차 &gt; 0.25</a:t>
                      </a:r>
                    </a:p>
                  </a:txBody>
                  <a:tcPr marL="63500" marR="63500" marT="12700" marB="12700">
                    <a:solidFill>
                      <a:srgbClr val="16213A"/>
                    </a:solidFill>
                  </a:tcPr>
                </a:tc>
              </a:tr>
              <a:tr h="197088">
                <a:tc>
                  <a:txBody>
                    <a:bodyPr wrap="square"/>
                    <a:lstStyle/>
                    <a:p>
                      <a:r>
                        <a:rPr sz="800" b="1" i="0">
                          <a:solidFill>
                            <a:srgbClr val="16213A"/>
                          </a:solidFill>
                          <a:latin typeface="Arial"/>
                          <a:ea typeface="Malgun Gothic"/>
                          <a:cs typeface="Malgun Gothic"/>
                        </a:rPr>
                        <a:t>σ = tanh(2(0.55·margin + 0.04·미관측 비율))</a:t>
                      </a:r>
                      <a:r>
                        <a:rPr sz="800" b="0" i="0">
                          <a:solidFill>
                            <a:srgbClr val="16213A"/>
                          </a:solidFill>
                          <a:latin typeface="Arial"/>
                          <a:ea typeface="Malgun Gothic"/>
                          <a:cs typeface="Malgun Gothic"/>
                        </a:rPr>
                        <a:t> (○)</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0.886</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0.817</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cost 자체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0.696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0.749</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참 턱 높이 (×, 기준)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0.625</a:t>
                      </a:r>
                    </a:p>
                  </a:txBody>
                  <a:tcPr marL="63500" marR="63500" marT="12700" marB="12700">
                    <a:solidFill>
                      <a:srgbClr val="FFFDF8"/>
                    </a:solidFill>
                  </a:tcPr>
                </a:tc>
              </a:tr>
            </a:tbl>
          </a:graphicData>
        </a:graphic>
      </p:graphicFrame>
      <p:sp>
        <p:nvSpPr>
          <p:cNvPr id="6" name="TextBox 5"/>
          <p:cNvSpPr txBox="1"/>
          <p:nvPr/>
        </p:nvSpPr>
        <p:spPr>
          <a:xfrm>
            <a:off x="609600" y="2325291"/>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매퍼 std를 전파한 것과 상수를 전파한 것이 같다. 정보는 분산이 아니라 </a:t>
            </a:r>
            <a:r>
              <a:rPr sz="1050" b="1" i="0">
                <a:solidFill>
                  <a:srgbClr val="16213A"/>
                </a:solidFill>
                <a:latin typeface="Arial"/>
                <a:ea typeface="Malgun Gothic"/>
                <a:cs typeface="Malgun Gothic"/>
              </a:rPr>
              <a:t>cost 함수가 그 칸에서 높이에 얼마나 민감한가</a:t>
            </a:r>
            <a:r>
              <a:rPr sz="1050" b="0" i="0">
                <a:solidFill>
                  <a:srgbClr val="16213A"/>
                </a:solidFill>
                <a:latin typeface="Arial"/>
                <a:ea typeface="Malgun Gothic"/>
                <a:cs typeface="Malgun Gothic"/>
              </a:rPr>
              <a:t>에 있다. 특징이 안전 문턱이나 램프 구간 바로 안팎에 있는 칸이다. 전파한 cost std 상위 1%의 MISS 비율은 25%로, 하위 70%(0.3%)의 80배다. 그런데 그 상위 1%의 평균 cost는 0.30이라 cost 값만으로는 알 수 없는 정보다. σ의 계수는 |cost 오차|를 두 항에 최소제곱으로 맞춘 값이다. 치명이 아닌 관측 칸의 σ는 중앙값 0.03, 99% 0.24, 최대 0.27이다(TravNet의 σ = tanh(2·std)와 같은 뜻).</a:t>
            </a:r>
          </a:p>
        </p:txBody>
      </p:sp>
      <p:sp>
        <p:nvSpPr>
          <p:cNvPr id="7" name="TextBox 6"/>
          <p:cNvSpPr txBox="1"/>
          <p:nvPr/>
        </p:nvSpPr>
        <p:spPr>
          <a:xfrm>
            <a:off x="717550" y="3063677"/>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3. 폐루프는 바뀌지 않는다</a:t>
            </a:r>
          </a:p>
        </p:txBody>
      </p:sp>
      <p:sp>
        <p:nvSpPr>
          <p:cNvPr id="8" name="TextBox 7"/>
          <p:cNvSpPr txBox="1"/>
          <p:nvPr/>
        </p:nvSpPr>
        <p:spPr>
          <a:xfrm>
            <a:off x="609600" y="3366889"/>
            <a:ext cx="10972800" cy="649486"/>
          </a:xfrm>
          <a:prstGeom prst="rect">
            <a:avLst/>
          </a:prstGeom>
          <a:noFill/>
        </p:spPr>
        <p:txBody>
          <a:bodyPr wrap="square" lIns="0" rIns="0" tIns="0" bIns="0" anchor="t">
            <a:spAutoFit/>
            <a:normAutofit/>
          </a:bodyPr>
          <a:lstStyle/>
          <a:p>
            <a:r>
              <a:rPr sz="1050" b="0" i="0">
                <a:solidFill>
                  <a:srgbClr val="16213A"/>
                </a:solidFill>
                <a:latin typeface="Consolas"/>
                <a:ea typeface="Malgun Gothic"/>
                <a:cs typeface="Malgun Gothic"/>
              </a:rPr>
              <a:t>TravMapBuilder(sigma_mode="sensitivity")</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run_benchmark.py --sigma-mode sensitivity [--sigma-gain A B] [--sigma-to all|planner|controller]</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--sigma-to</a:t>
            </a:r>
            <a:r>
              <a:rPr sz="1050" b="0" i="0">
                <a:solidFill>
                  <a:srgbClr val="16213A"/>
                </a:solidFill>
                <a:latin typeface="Arial"/>
                <a:ea typeface="Malgun Gothic"/>
                <a:cs typeface="Malgun Gothic"/>
              </a:rPr>
              <a:t>는 σ를 받는 쪽을 가른다. 나머지 쪽은 이진 σ를 받는다. </a:t>
            </a:r>
            <a:r>
              <a:rPr sz="1050" b="0" i="0">
                <a:solidFill>
                  <a:srgbClr val="16213A"/>
                </a:solidFill>
                <a:latin typeface="Consolas"/>
                <a:ea typeface="Malgun Gothic"/>
                <a:cs typeface="Malgun Gothic"/>
              </a:rPr>
              <a:t>planner</a:t>
            </a:r>
            <a:r>
              <a:rPr sz="1050" b="0" i="0">
                <a:solidFill>
                  <a:srgbClr val="16213A"/>
                </a:solidFill>
                <a:latin typeface="Arial"/>
                <a:ea typeface="Malgun Gothic"/>
                <a:cs typeface="Malgun Gothic"/>
              </a:rPr>
              <a:t>는 Guidance와 Planner이고, </a:t>
            </a:r>
            <a:r>
              <a:rPr sz="1050" b="0" i="0">
                <a:solidFill>
                  <a:srgbClr val="16213A"/>
                </a:solidFill>
                <a:latin typeface="Consolas"/>
                <a:ea typeface="Malgun Gothic"/>
                <a:cs typeface="Malgun Gothic"/>
              </a:rPr>
              <a:t>controller</a:t>
            </a:r>
            <a:r>
              <a:rPr sz="1050" b="0" i="0">
                <a:solidFill>
                  <a:srgbClr val="16213A"/>
                </a:solidFill>
                <a:latin typeface="Arial"/>
                <a:ea typeface="Malgun Gothic"/>
                <a:cs typeface="Malgun Gothic"/>
              </a:rPr>
              <a:t>는 MPPI의 RiskCost다. 강한 σ는 계수 (2.0, 0.5)로, 관측 칸 σ가 중앙값 0.24, 최대 0.93이다.</a:t>
            </a:r>
          </a:p>
        </p:txBody>
      </p:sp>
      <p:graphicFrame>
        <p:nvGraphicFramePr>
          <p:cNvPr id="9" name="Table 8"/>
          <p:cNvGraphicFramePr>
            <a:graphicFrameLocks noGrp="1"/>
          </p:cNvGraphicFramePr>
          <p:nvPr/>
        </p:nvGraphicFramePr>
        <p:xfrm>
          <a:off x="609600" y="4105275"/>
          <a:ext cx="10966449" cy="1182528"/>
        </p:xfrm>
        <a:graphic>
          <a:graphicData uri="http://schemas.openxmlformats.org/drawingml/2006/table">
            <a:tbl>
              <a:tblPr firstRow="1" bandRow="1">
                <a:tableStyleId>{5C22544A-7EE6-4342-B048-85BDC9FD1C3A}</a:tableStyleId>
              </a:tblPr>
              <a:tblGrid>
                <a:gridCol w="2568674"/>
                <a:gridCol w="3407370"/>
                <a:gridCol w="4990405"/>
              </a:tblGrid>
              <a:tr h="197088">
                <a:tc>
                  <a:txBody>
                    <a:bodyPr wrap="square"/>
                    <a:lstStyle/>
                    <a:p>
                      <a:r>
                        <a:rPr sz="800" b="1" i="0">
                          <a:solidFill>
                            <a:srgbClr val="F4F1EA"/>
                          </a:solidFill>
                          <a:latin typeface="Arial"/>
                          <a:ea typeface="Malgun Gothic"/>
                          <a:cs typeface="Malgun Gothic"/>
                        </a:rPr>
                        <a:t>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L1 (guidance / planner_d)</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L1 + 상한 + prior (guidance / planner_d)</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이진(지금)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36 / 35 (71/80)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39 / 38 (77/80)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강한 σ, 모두에게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36 / 35 (71/80, +4/−4)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39 / 39 (78/80, +1/−0)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강한 σ, Controller만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35 / 35 (70/80, +2/−3)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39 / 39 (78/80, +2/−1)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보정 σ, Controller만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33 / 32 (65/80, +0/−6)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39 / 38 (77/80, +1/−1)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강한 σ, Planner만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34 / 32 (66/80, +2/−7)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bl>
          </a:graphicData>
        </a:graphic>
      </p:graphicFrame>
      <p:sp>
        <p:nvSpPr>
          <p:cNvPr id="10" name="TextBox 9"/>
          <p:cNvSpPr txBox="1"/>
          <p:nvPr/>
        </p:nvSpPr>
        <p:spPr>
          <a:xfrm>
            <a:off x="609600" y="567868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괄호 안 +/−는 이진 σ 대비 같은 에피소드에서 성공으로 바뀐 수와 실패로 바뀐 수다. 권장 설정(오른쪽)에서는 모든 변형이 이진 σ와 한두 에피소드 안이다.</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A.13.13 TP-0054 — 매퍼 분산은 σ가 되지 못하고, cost 민감도 σ는 오차를 맞히지만 폐루프를 바꾸지 못한다</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117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L0에서도 같다</a:t>
            </a:r>
            <a:r>
              <a:rPr sz="1050" b="0" i="0">
                <a:solidFill>
                  <a:srgbClr val="16213A"/>
                </a:solidFill>
                <a:latin typeface="Arial"/>
                <a:ea typeface="Malgun Gothic"/>
                <a:cs typeface="Malgun Gothic"/>
              </a:rPr>
              <a:t>(같은 4 지형 × seed 0–9, </a:t>
            </a:r>
            <a:r>
              <a:rPr sz="1050" b="0" i="0">
                <a:solidFill>
                  <a:srgbClr val="16213A"/>
                </a:solidFill>
                <a:latin typeface="Consolas"/>
                <a:ea typeface="Malgun Gothic"/>
                <a:cs typeface="Malgun Gothic"/>
              </a:rPr>
              <a:t>results/tp0054_l0</a:t>
            </a:r>
            <a:r>
              <a:rPr sz="1050" b="0" i="0">
                <a:solidFill>
                  <a:srgbClr val="16213A"/>
                </a:solidFill>
                <a:latin typeface="Arial"/>
                <a:ea typeface="Malgun Gothic"/>
                <a:cs typeface="Malgun Gothic"/>
              </a:rPr>
              <a:t>). 가림 + 상한 + prior는 이진 78/80, σ 변형 78–80/80이다(Controller에 주면 +2/−0). 그림자 처리 없는 가림은 이진 74/80, σ 변형 68–71/80이다. 차이는 전부 bumps_potholes에서 났다.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 차이는 σ의 효과가 아니라 혼돈이다.</a:t>
            </a:r>
            <a:r>
              <a:rPr sz="1050" b="0" i="0">
                <a:solidFill>
                  <a:srgbClr val="16213A"/>
                </a:solidFill>
                <a:latin typeface="Arial"/>
                <a:ea typeface="Malgun Gothic"/>
                <a:cs typeface="Malgun Gothic"/>
              </a:rPr>
              <a:t> 결정적 시뮬이라도 bumps_potholes는 작은 비용 차이가 몇 초 뒤의 궤적을 바꾸는 구간이다. Controller에 σ = 1e-6(사실상 0)만 줘서 잡음 바닥을 쟀다.</a:t>
            </a:r>
          </a:p>
        </p:txBody>
      </p:sp>
      <p:graphicFrame>
        <p:nvGraphicFramePr>
          <p:cNvPr id="7" name="Table 6"/>
          <p:cNvGraphicFramePr>
            <a:graphicFrameLocks noGrp="1"/>
          </p:cNvGraphicFramePr>
          <p:nvPr/>
        </p:nvGraphicFramePr>
        <p:xfrm>
          <a:off x="609600" y="2071886"/>
          <a:ext cx="10966450" cy="1379616"/>
        </p:xfrm>
        <a:graphic>
          <a:graphicData uri="http://schemas.openxmlformats.org/drawingml/2006/table">
            <a:tbl>
              <a:tblPr firstRow="1" bandRow="1">
                <a:tableStyleId>{5C22544A-7EE6-4342-B048-85BDC9FD1C3A}</a:tableStyleId>
              </a:tblPr>
              <a:tblGrid>
                <a:gridCol w="6893322"/>
                <a:gridCol w="2445643"/>
                <a:gridCol w="1627485"/>
              </a:tblGrid>
              <a:tr h="197088">
                <a:tc>
                  <a:txBody>
                    <a:bodyPr wrap="square"/>
                    <a:lstStyle/>
                    <a:p>
                      <a:r>
                        <a:rPr sz="800" b="1" i="0">
                          <a:solidFill>
                            <a:srgbClr val="F4F1EA"/>
                          </a:solidFill>
                          <a:latin typeface="Arial"/>
                          <a:ea typeface="Malgun Gothic"/>
                          <a:cs typeface="Malgun Gothic"/>
                        </a:rPr>
                        <a:t>bumps_potholes, seed 0–9, 두 스택(20회), Controller에 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L1(상한·prior 없음)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L0 가림</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이진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σ = 1e-6 (잡음 바닥)</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9 (+1/−3)</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10 (+0/−4)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margin만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 (+2/−5)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 (+0/−5)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미관측 비율만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 (+3/−8)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 (+2/−5)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보정 σ</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 (+0/−6)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 (+1/−6)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강한 σ</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 (+2/−3)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 (+0/−6)</a:t>
                      </a:r>
                    </a:p>
                  </a:txBody>
                  <a:tcPr marL="63500" marR="63500" marT="12700" marB="12700">
                    <a:solidFill>
                      <a:srgbClr val="F3F0E8"/>
                    </a:solidFill>
                  </a:tcPr>
                </a:tc>
              </a:tr>
            </a:tbl>
          </a:graphicData>
        </a:graphic>
      </p:graphicFrame>
      <p:sp>
        <p:nvSpPr>
          <p:cNvPr id="8" name="TextBox 7"/>
          <p:cNvSpPr txBox="1"/>
          <p:nvPr/>
        </p:nvSpPr>
        <p:spPr>
          <a:xfrm>
            <a:off x="609600" y="3891657"/>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'margin만'과 '미관측 비율만'은 L1에서 보정 계수(0.55, 0.04), L0에서 강한 계수(2.0, 0.5)를 썼다. 이진 σ 실행이 마침 운 좋은 한 번이었다. 어떤 섭동을 줘도 성공 수가 절반 안팎으로 돌아온다. σ 변형들의 5–12회는 σ = 1e-6의 9–10회와 구별되지 않는다. 그래서 L0 가림의 −6(p = 0.03)도 σ의 해로 읽지 않는다. 같은 이유로 권장 설정의 +2도 이득으로 읽지 않는다. </a:t>
            </a:r>
            <a:r>
              <a:rPr sz="1050" b="1" i="0">
                <a:solidFill>
                  <a:srgbClr val="C2410C"/>
                </a:solidFill>
                <a:latin typeface="Arial"/>
                <a:ea typeface="Malgun Gothic"/>
                <a:cs typeface="Malgun Gothic"/>
              </a:rPr>
              <a:t>결정적 벤치마크에서도 혼돈 구간의 비교는 이진 기준 한 번이 아니라 잡음 바닥과 해야 한다.</a:t>
            </a:r>
            <a:r>
              <a:rPr sz="1050" b="0" i="0">
                <a:solidFill>
                  <a:srgbClr val="16213A"/>
                </a:solidFill>
                <a:latin typeface="Arial"/>
                <a:ea typeface="Malgun Gothic"/>
                <a:cs typeface="Malgun Gothic"/>
              </a:rPr>
              <a:t> 이 비교법은 TP-0055 이후의 Planner 비교에도 쓴다.</a:t>
            </a:r>
          </a:p>
        </p:txBody>
      </p:sp>
      <p:sp>
        <p:nvSpPr>
          <p:cNvPr id="9" name="TextBox 8"/>
          <p:cNvSpPr txBox="1"/>
          <p:nvPr/>
        </p:nvSpPr>
        <p:spPr>
          <a:xfrm>
            <a:off x="609600" y="463004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최대 pitch(7.8–8.1°), Planner D 계획 시간(6.6–7.4 ms, 병렬 실행 부하 차이 포함), 평균 GT cost(0.025–0.029)도 모든 변형에서 같은 범위다.</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A.13.13 TP-0054 — 매퍼 분산은 σ가 되지 못하고, cost 민감도 σ는 오차를 맞히지만 폐루프를 바꾸지 못한다</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118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재현</a:t>
            </a:r>
          </a:p>
        </p:txBody>
      </p:sp>
      <p:sp>
        <p:nvSpPr>
          <p:cNvPr id="6" name="TextBox 5"/>
          <p:cNvSpPr txBox="1"/>
          <p:nvPr/>
        </p:nvSpPr>
        <p:spPr>
          <a:xfrm>
            <a:off x="609600" y="1547812"/>
            <a:ext cx="10972800" cy="1502966"/>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 1. 매퍼 분산의 보정과 순위(.venv-emap). factor 6개 × 시간 분산 2개, 그리고 이상치 분산을 끈 셋</a:t>
            </a:r>
          </a:p>
          <a:p>
            <a:r>
              <a:rPr sz="750" b="0" i="0">
                <a:solidFill>
                  <a:srgbClr val="F4F1EA"/>
                </a:solidFill>
                <a:latin typeface="Consolas"/>
                <a:ea typeface="Malgun Gothic"/>
                <a:cs typeface="Malgun Gothic"/>
              </a:rPr>
              <a:t>PYTHONPATH=. .venv-emap/bin/python scripts/eval_l1_sigma.py --out results/tp0054_sigma/sweep</a:t>
            </a:r>
          </a:p>
          <a:p>
            <a:r>
              <a:rPr sz="750" b="0" i="0">
                <a:solidFill>
                  <a:srgbClr val="F4F1EA"/>
                </a:solidFill>
                <a:latin typeface="Consolas"/>
                <a:ea typeface="Malgun Gothic"/>
                <a:cs typeface="Malgun Gothic"/>
              </a:rPr>
              <a:t>PYTHONPATH=. .venv-emap/bin/python scripts/eval_l1_sigma.py --variants f0.0001_tv0_ov1e-06 f1e-05_tv0_ov1e-06 f0.05_tv0_ov1e-06 \</a:t>
            </a:r>
          </a:p>
          <a:p>
            <a:r>
              <a:rPr sz="750" b="0" i="0">
                <a:solidFill>
                  <a:srgbClr val="F4F1EA"/>
                </a:solidFill>
                <a:latin typeface="Consolas"/>
                <a:ea typeface="Malgun Gothic"/>
                <a:cs typeface="Malgun Gothic"/>
              </a:rPr>
              <a:t>    --out results/tp0054_sigma/floor</a:t>
            </a:r>
          </a:p>
          <a:p>
            <a:r>
              <a:rPr sz="750" b="0" i="0">
                <a:solidFill>
                  <a:srgbClr val="F4F1EA"/>
                </a:solidFill>
                <a:latin typeface="Consolas"/>
                <a:ea typeface="Malgun Gothic"/>
                <a:cs typeface="Malgun Gothic"/>
              </a:rPr>
              <a:t># 2. cost 오차를 맞히는 후보(권장 belief, 상수 std 전파)</a:t>
            </a:r>
          </a:p>
          <a:p>
            <a:r>
              <a:rPr sz="750" b="0" i="0">
                <a:solidFill>
                  <a:srgbClr val="F4F1EA"/>
                </a:solidFill>
                <a:latin typeface="Consolas"/>
                <a:ea typeface="Malgun Gothic"/>
                <a:cs typeface="Malgun Gothic"/>
              </a:rPr>
              <a:t>PYTHONPATH=. .venv-emap/bin/python scripts/eval_l1_sigma_cost.py --builder ub_sd --std-mode const --mc 8 --dump 0.15</a:t>
            </a:r>
          </a:p>
          <a:p>
            <a:r>
              <a:rPr sz="750" b="0" i="0">
                <a:solidFill>
                  <a:srgbClr val="F4F1EA"/>
                </a:solidFill>
                <a:latin typeface="Consolas"/>
                <a:ea typeface="Malgun Gothic"/>
                <a:cs typeface="Malgun Gothic"/>
              </a:rPr>
              <a:t># 3. 폐루프: 한 시나리오씩 나눠 병렬로 돌렸다(results/tp0054_l1/jobs_*.log)</a:t>
            </a:r>
          </a:p>
          <a:p>
            <a:r>
              <a:rPr sz="750" b="0" i="0">
                <a:solidFill>
                  <a:srgbClr val="F4F1EA"/>
                </a:solidFill>
                <a:latin typeface="Consolas"/>
                <a:ea typeface="Malgun Gothic"/>
                <a:cs typeface="Malgun Gothic"/>
              </a:rPr>
              <a:t>PYTHONPATH=. .venv-emap/bin/python scripts/run_benchmark.py --stacks guidance+mppi planner_d+mppi --perception l1 \</a:t>
            </a:r>
          </a:p>
          <a:p>
            <a:r>
              <a:rPr sz="750" b="0" i="0">
                <a:solidFill>
                  <a:srgbClr val="F4F1EA"/>
                </a:solidFill>
                <a:latin typeface="Consolas"/>
                <a:ea typeface="Malgun Gothic"/>
                <a:cs typeface="Malgun Gothic"/>
              </a:rPr>
              <a:t>    --shadow-ceiling --shadow-depth 0.10 --sigma-mode sensitivity --sigma-to controller --seeds 0 1 2 3 4 5 6 7 8 9</a:t>
            </a:r>
          </a:p>
        </p:txBody>
      </p:sp>
      <p:sp>
        <p:nvSpPr>
          <p:cNvPr id="7" name="TextBox 6"/>
          <p:cNvSpPr txBox="1"/>
          <p:nvPr/>
        </p:nvSpPr>
        <p:spPr>
          <a:xfrm>
            <a:off x="717550" y="3139678"/>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바꾼 것과 남긴 것</a:t>
            </a:r>
          </a:p>
        </p:txBody>
      </p:sp>
      <p:sp>
        <p:nvSpPr>
          <p:cNvPr id="8" name="TextBox 7"/>
          <p:cNvSpPr txBox="1"/>
          <p:nvPr/>
        </p:nvSpPr>
        <p:spPr>
          <a:xfrm>
            <a:off x="609600" y="3442891"/>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기본값은 그대로다.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sigma_mode="binary"</a:t>
            </a:r>
            <a:r>
              <a:rPr sz="1050" b="0" i="0">
                <a:solidFill>
                  <a:srgbClr val="16213A"/>
                </a:solidFill>
                <a:latin typeface="Arial"/>
                <a:ea typeface="Malgun Gothic"/>
                <a:cs typeface="Malgun Gothic"/>
              </a:rPr>
              <a:t>가 기본이라 기존 벤치마크·Playground·Planner D 학습은 비트 단위로 같다.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Consolas"/>
                <a:ea typeface="Malgun Gothic"/>
                <a:cs typeface="Malgun Gothic"/>
              </a:rPr>
              <a:t>_unknown_near</a:t>
            </a:r>
            <a:r>
              <a:rPr sz="1050" b="1" i="0">
                <a:solidFill>
                  <a:srgbClr val="16213A"/>
                </a:solidFill>
                <a:latin typeface="Arial"/>
                <a:ea typeface="Malgun Gothic"/>
                <a:cs typeface="Malgun Gothic"/>
              </a:rPr>
              <a:t>(TP-0101)는 σ = 1을 '못 본 칸'으로 판정한다.</a:t>
            </a:r>
            <a:r>
              <a:rPr sz="1050" b="0" i="0">
                <a:solidFill>
                  <a:srgbClr val="16213A"/>
                </a:solidFill>
                <a:latin typeface="Arial"/>
                <a:ea typeface="Malgun Gothic"/>
                <a:cs typeface="Malgun Gothic"/>
              </a:rPr>
              <a:t> 전에는 σ ≥ 0.5였다. 그 조건이면 TravNet이나 민감도 σ의 관측 칸이 0.5를 넘을 때 못 본 칸처럼 치명이 됐다.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민감도 σ는 선택 기능으로 둔다.</a:t>
            </a:r>
            <a:r>
              <a:rPr sz="1050" b="0" i="0">
                <a:solidFill>
                  <a:srgbClr val="16213A"/>
                </a:solidFill>
                <a:latin typeface="Arial"/>
                <a:ea typeface="Malgun Gothic"/>
                <a:cs typeface="Malgun Gothic"/>
              </a:rPr>
              <a:t> 관측 칸의 오차를 맞히는 유일한 실행 중 신호라 진단 층으로 쓸모가 있다. Planner D는 이진 σ로만 학습했다. L1 belief로 다시 학습할 때(TP-0055) 이 σ를 입력으로 넣을지는 그때 정한다.</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A.13.14 TP-0141 — 한 칸 폭 통로는 1 cm 잡음 편향에 닫힌다: random_mix s3 레벨 2·3의 결정적 멈춤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119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레벨 2부터 random_mix s3의 유일한 통로는 GT에서 cost 0.81–0.95인 한 칸 폭 대각선이다. belief의 턱(step) 특징이 잡음 때문에 1 cm 높게 나와 통로가 치명(0.97–1.00)으로 닫힌다.</a:t>
            </a:r>
            <a:r>
              <a:rPr sz="1050" b="0" i="0">
                <a:solidFill>
                  <a:srgbClr val="16213A"/>
                </a:solidFill>
                <a:latin typeface="Arial"/>
                <a:ea typeface="Malgun Gothic"/>
                <a:cs typeface="Malgun Gothic"/>
              </a:rPr>
              <a:t> 그러면 Dijkstra가 길을 못 찾고, Guidance는 출발점과 목표를 잇는 직선을 낸다. MPPI는 그 직선을 따라 상자 앞까지 가서 멈춘다. 세 스택(Guidance, Planner D, RL + 폴백)이 같은 belief와 같은 Guidance를 쓰므로, 난수를 바꿔도 모두 같은 자리(x 4.5 m, y 5.2 m)에서 60 s를 넘긴다(TP-0039 스윕, 0/4).</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A.13.14 TP-0141 — 한 칸 폭 통로는 1 cm 잡음 편향에 닫힌다: random_mix s3 레벨 2·3의 결정적 멈춤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120 / 359</a:t>
            </a:r>
          </a:p>
        </p:txBody>
      </p:sp>
      <p:pic>
        <p:nvPicPr>
          <p:cNvPr id="5" name="Picture 4" descr="image.jpg"/>
          <p:cNvPicPr>
            <a:picLocks noChangeAspect="1"/>
          </p:cNvPicPr>
          <p:nvPr/>
        </p:nvPicPr>
        <p:blipFill>
          <a:blip r:embed="rId3"/>
          <a:stretch>
            <a:fillRect/>
          </a:stretch>
        </p:blipFill>
        <p:spPr>
          <a:xfrm>
            <a:off x="1584325" y="1244600"/>
            <a:ext cx="9023350" cy="4445000"/>
          </a:xfrm>
          <a:prstGeom prst="rect">
            <a:avLst/>
          </a:prstGeom>
        </p:spPr>
      </p:pic>
      <p:sp>
        <p:nvSpPr>
          <p:cNvPr id="6" name="TextBox 5"/>
          <p:cNvSpPr txBox="1"/>
          <p:nvPr/>
        </p:nvSpPr>
        <p:spPr>
          <a:xfrm>
            <a:off x="609600" y="5778500"/>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TP-0141 (Fig. 1): 왼쪽은 GT cost와 GT Dijkstra 경로다. 경로가 상자와 아래 장애물 사이의 좁은 틈(점선 상자)을 지난다. 오른쪽은 t = 20 s에 로봇이 본 cost다. 같은 틈이 치명 띠로 닫혀 있고, Guidance 경로(파란 점선)는 상자를 뚫는 직선이다. 출처: scripts/make_evidence_figures.py --only tp0141</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A.13.14 TP-0141 — 한 칸 폭 통로는 1 cm 잡음 편향에 닫힌다: random_mix s3 레벨 2·3의 결정적 멈춤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121 / 359</a:t>
            </a:r>
          </a:p>
        </p:txBody>
      </p:sp>
      <p:sp>
        <p:nvSpPr>
          <p:cNvPr id="5" name="TextBox 4"/>
          <p:cNvSpPr txBox="1"/>
          <p:nvPr/>
        </p:nvSpPr>
        <p:spPr>
          <a:xfrm>
            <a:off x="609600" y="1244600"/>
            <a:ext cx="10972800" cy="15916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어디서 갈렸나.</a:t>
            </a:r>
            <a:r>
              <a:rPr sz="1050" b="0" i="0">
                <a:solidFill>
                  <a:srgbClr val="16213A"/>
                </a:solidFill>
                <a:latin typeface="Arial"/>
                <a:ea typeface="Malgun Gothic"/>
                <a:cs typeface="Malgun Gothic"/>
              </a:rPr>
              <a:t> t = 4 s에 belief의 자유 칸이 로봇 쪽과 목표 쪽 두 성분으로 나뉜다. belief가 치명이고 GT가 자유인 관측 칸은 61개뿐이다. 이 칸을 풀어 주면 두 성분이 다시 이어진다. 그 가운데 31개가 틈(x 6.25–6.40 m, y 3.25–3.75 m)에 몰려 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왜 1 cm인가.</a:t>
            </a:r>
            <a:r>
              <a:rPr sz="1050" b="0" i="0">
                <a:solidFill>
                  <a:srgbClr val="16213A"/>
                </a:solidFill>
                <a:latin typeface="Arial"/>
                <a:ea typeface="Malgun Gothic"/>
                <a:cs typeface="Malgun Gothic"/>
              </a:rPr>
              <a:t> 같은 칸의 턱 특징은 GT 0.07 m, belief 0.08 m다. 턱의 한계 0.08 m에서 cost 램프는 0.07 m를 0.82로, 0.08 m를 1.00으로 읽는다. L0 belief는 관측마다 칸별 잡음(σ 1 cm)을 섞고 0.7/0.3 지수 필터로 합친다. 정상 상태 잡음은 약 0.4 cm다. 턱 특징은 창 안의 최대 − 최소라서 잡음의 극값을 줍는다. 그래서 더 관측해도 편향이 사라지지 않는다.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GT로는 왜 열려 있나.</a:t>
            </a:r>
            <a:r>
              <a:rPr sz="1050" b="0" i="0">
                <a:solidFill>
                  <a:srgbClr val="16213A"/>
                </a:solidFill>
                <a:latin typeface="Arial"/>
                <a:ea typeface="Malgun Gothic"/>
                <a:cs typeface="Malgun Gothic"/>
              </a:rPr>
              <a:t> 한 칸 폭이고, cost가 문턱 바로 아래(0.81–0.95)다. 잡음이 없는 GT에서만 열리는 통로다.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인과 확인.</a:t>
            </a:r>
            <a:r>
              <a:rPr sz="1050" b="0" i="0">
                <a:solidFill>
                  <a:srgbClr val="16213A"/>
                </a:solidFill>
                <a:latin typeface="Arial"/>
                <a:ea typeface="Malgun Gothic"/>
                <a:cs typeface="Malgun Gothic"/>
              </a:rPr>
              <a:t> 같은 에피소드(guidance+mppi)를 잡음 없는 belief(</a:t>
            </a:r>
            <a:r>
              <a:rPr sz="1050" b="0" i="0">
                <a:solidFill>
                  <a:srgbClr val="16213A"/>
                </a:solidFill>
                <a:latin typeface="Consolas"/>
                <a:ea typeface="Malgun Gothic"/>
                <a:cs typeface="Malgun Gothic"/>
              </a:rPr>
              <a:t>SimConfig(elev_noise_std=0)</a:t>
            </a:r>
            <a:r>
              <a:rPr sz="1050" b="0" i="0">
                <a:solidFill>
                  <a:srgbClr val="16213A"/>
                </a:solidFill>
                <a:latin typeface="Arial"/>
                <a:ea typeface="Malgun Gothic"/>
                <a:cs typeface="Malgun Gothic"/>
              </a:rPr>
              <a:t>)로 돌리면 레벨 2는 18.5 s, 레벨 3은 25.6 s에 도달한다. 잡음 0.5 cm와 1 cm에서는 둘 다 60 s 시간 초과다.</a:t>
            </a:r>
          </a:p>
        </p:txBody>
      </p:sp>
      <p:sp>
        <p:nvSpPr>
          <p:cNvPr id="6" name="TextBox 5"/>
          <p:cNvSpPr txBox="1"/>
          <p:nvPr/>
        </p:nvSpPr>
        <p:spPr>
          <a:xfrm>
            <a:off x="609600" y="29251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판단.</a:t>
            </a:r>
            <a:r>
              <a:rPr sz="1050" b="0" i="0">
                <a:solidFill>
                  <a:srgbClr val="16213A"/>
                </a:solidFill>
                <a:latin typeface="Arial"/>
                <a:ea typeface="Malgun Gothic"/>
                <a:cs typeface="Malgun Gothic"/>
              </a:rPr>
              <a:t> Planner나 Controller의 버그가 아니다. 그 belief에서는 길이 없다는 판단이 옳다. 남는 개선은 둘이다(TP-0142).</a:t>
            </a:r>
          </a:p>
        </p:txBody>
      </p:sp>
      <p:sp>
        <p:nvSpPr>
          <p:cNvPr id="7" name="TextBox 6"/>
          <p:cNvSpPr txBox="1"/>
          <p:nvPr/>
        </p:nvSpPr>
        <p:spPr>
          <a:xfrm>
            <a:off x="609600" y="3230562"/>
            <a:ext cx="10972800" cy="6748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턱 특징을 잡음에 강하게 만든다. 예를 들어 최대·최소 대신 분위수를 쓰거나, 관측 잡음만큼 문턱에서 뺀다. 표현 전체가 바뀌므로 벤치마크 전체로 판정해야 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Guidance가 길을 못 찾을 때 상자를 뚫는 직선을 내지 않게 한다. 예를 들어 닿을 수 있는 칸 가운데 목표에 가장 가까운 칸으로 보낸다. 이 장면에서는 그것만으로 통로가 열리지 않는다. 잡음 편향은 거리와 무관하기 때문이다.</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A.13.15 TP-0142 — 턱 특징 전에 15 cm 평활: 잡음 편향이 사라지고, 좁은 통로가 열린다(선택)</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122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턱 특징의 최대 − 최소를 재기 전에 belief 높이를 15 cm(3칸) 평균으로 평활한다(</a:t>
            </a:r>
            <a:r>
              <a:rPr sz="1050" b="0" i="0">
                <a:solidFill>
                  <a:srgbClr val="16213A"/>
                </a:solidFill>
                <a:latin typeface="Consolas"/>
                <a:ea typeface="Malgun Gothic"/>
                <a:cs typeface="Malgun Gothic"/>
              </a:rPr>
              <a:t>FeatureConfig(step_presmooth_m=0.15)</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--step-presmooth 0.15</a:t>
            </a:r>
            <a:r>
              <a:rPr sz="1050" b="0" i="0">
                <a:solidFill>
                  <a:srgbClr val="16213A"/>
                </a:solidFill>
                <a:latin typeface="Arial"/>
                <a:ea typeface="Malgun Gothic"/>
                <a:cs typeface="Malgun Gothic"/>
              </a:rPr>
              <a:t>). 평지에서 잡음이 만드는 턱 특징이 2.3 cm에서 0.7 cm로 준다(σ 0.4 cm). 실제 턱은 그대로다. Guidance의 레벨 0–3 스윕은 154/160에서 158/160이 된다. 시간 초과 4개가 도달로 바뀌고 나빠진 것은 없다(4 : 0, p = 0.125). 대신 레벨 3 random_mix s3에서 시간 초과 하나가 치명으로 바뀐다. 기본값은 끈다.</a:t>
            </a:r>
          </a:p>
        </p:txBody>
      </p:sp>
      <p:pic>
        <p:nvPicPr>
          <p:cNvPr id="6" name="Picture 5" descr="image.jpg"/>
          <p:cNvPicPr>
            <a:picLocks noChangeAspect="1"/>
          </p:cNvPicPr>
          <p:nvPr/>
        </p:nvPicPr>
        <p:blipFill>
          <a:blip r:embed="rId3"/>
          <a:stretch>
            <a:fillRect/>
          </a:stretch>
        </p:blipFill>
        <p:spPr>
          <a:xfrm>
            <a:off x="1016000" y="1982986"/>
            <a:ext cx="10160000" cy="3505200"/>
          </a:xfrm>
          <a:prstGeom prst="rect">
            <a:avLst/>
          </a:prstGeom>
        </p:spPr>
      </p:pic>
      <p:sp>
        <p:nvSpPr>
          <p:cNvPr id="7" name="TextBox 6"/>
          <p:cNvSpPr txBox="1"/>
          <p:nvPr/>
        </p:nvSpPr>
        <p:spPr>
          <a:xfrm>
            <a:off x="609600" y="5577086"/>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TP-0142 (Fig. 1): 왼쪽은 평지 + 잡음에서 턱 특징의 평균을 미리 평활 폭에 따라 그린 것이다(10 cm와 15 cm는 둘 다 3칸이다). 오른쪽은 Guidance의 레벨 0–3 × seed 0–9 도달 수를 평활을 끄고 켜서 짝지어 본 것이다. 출처: scripts/make_evidence_figures.py --only tp0142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A.13.15 TP-0142 — 턱 특징 전에 15 cm 평활: 잡음 편향이 사라지고, 좁은 통로가 열린다(선택)</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123 / 359</a:t>
            </a:r>
          </a:p>
        </p:txBody>
      </p:sp>
      <p:sp>
        <p:nvSpPr>
          <p:cNvPr id="5" name="TextBox 4"/>
          <p:cNvSpPr txBox="1"/>
          <p:nvPr/>
        </p:nvSpPr>
        <p:spPr>
          <a:xfrm>
            <a:off x="609600" y="1244600"/>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무엇을 바꿨나.</a:t>
            </a:r>
            <a:r>
              <a:rPr sz="1050" b="0" i="0">
                <a:solidFill>
                  <a:srgbClr val="16213A"/>
                </a:solidFill>
                <a:latin typeface="Arial"/>
                <a:ea typeface="Malgun Gothic"/>
                <a:cs typeface="Malgun Gothic"/>
              </a:rPr>
              <a:t> 턱 특징을 셀 때만 평활한 높이를 쓴다. 경사·거칠기·추세는 그대로다. 턱의 창(30 cm)보다 좁게 평활하므로 실제 턱의 최대 − 최소는 바뀌지 않는다(0.24 m 연석에서 0.160 m 그대로).</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판정은 그대로다.</a:t>
            </a:r>
            <a:r>
              <a:rPr sz="1050" b="0" i="0">
                <a:solidFill>
                  <a:srgbClr val="16213A"/>
                </a:solidFill>
                <a:latin typeface="Arial"/>
                <a:ea typeface="Malgun Gothic"/>
                <a:cs typeface="Malgun Gothic"/>
              </a:rPr>
              <a:t> 실패를 재는 GT 지도는 잡음이 없으므로 평활하지 않는다. 시뮬레이터가 belief 설정과 상관없이 평활을 끈 특징으로 GT를 만든다(테스트로 고정).</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결과 (guidance+mppi, 레벨 0–3 × 4 지형 × seed 0–9, 한 번씩).</a:t>
            </a:r>
          </a:p>
        </p:txBody>
      </p:sp>
      <p:graphicFrame>
        <p:nvGraphicFramePr>
          <p:cNvPr id="6" name="Table 5"/>
          <p:cNvGraphicFramePr>
            <a:graphicFrameLocks noGrp="1"/>
          </p:cNvGraphicFramePr>
          <p:nvPr/>
        </p:nvGraphicFramePr>
        <p:xfrm>
          <a:off x="609600" y="2250281"/>
          <a:ext cx="10966450" cy="1182528"/>
        </p:xfrm>
        <a:graphic>
          <a:graphicData uri="http://schemas.openxmlformats.org/drawingml/2006/table">
            <a:tbl>
              <a:tblPr firstRow="1" bandRow="1">
                <a:tableStyleId>{5C22544A-7EE6-4342-B048-85BDC9FD1C3A}</a:tableStyleId>
              </a:tblPr>
              <a:tblGrid>
                <a:gridCol w="3964384"/>
                <a:gridCol w="3590429"/>
                <a:gridCol w="3411637"/>
              </a:tblGrid>
              <a:tr h="197088">
                <a:tc>
                  <a:txBody>
                    <a:bodyPr wrap="square"/>
                    <a:lstStyle/>
                    <a:p>
                      <a:r>
                        <a:rPr sz="800" b="1" i="0">
                          <a:solidFill>
                            <a:srgbClr val="F4F1EA"/>
                          </a:solidFill>
                          <a:latin typeface="Arial"/>
                          <a:ea typeface="Malgun Gothic"/>
                          <a:cs typeface="Malgun Gothic"/>
                        </a:rPr>
                        <a:t>지형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끄기 (TP-0039)</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평활 15 cm</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curb_ramp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39/40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bumps_potholes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37/40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39/40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slope_crossfall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40/40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random_mix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38/40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39/40 (치명 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154/160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158/160</a:t>
                      </a:r>
                    </a:p>
                  </a:txBody>
                  <a:tcPr marL="63500" marR="63500" marT="12700" marB="12700">
                    <a:solidFill>
                      <a:srgbClr val="FFFDF8"/>
                    </a:solidFill>
                  </a:tcPr>
                </a:tc>
              </a:tr>
            </a:tbl>
          </a:graphicData>
        </a:graphic>
      </p:graphicFrame>
      <p:sp>
        <p:nvSpPr>
          <p:cNvPr id="7" name="TextBox 6"/>
          <p:cNvSpPr txBox="1"/>
          <p:nvPr/>
        </p:nvSpPr>
        <p:spPr>
          <a:xfrm>
            <a:off x="609600" y="3823692"/>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바뀐 넷은 curb_ramp L3 s8, bumps_potholes L1 s6, L2 s4, random_mix L2 s3이다. 앞의 둘은 TP-0039 재실행에서 이미 잡음이었다. random_mix L2 s3은 결정적 멈춤(A.13.14)이 풀린 것이다.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레벨 3 random_mix s3은 열린 통로에 들어가다 GT 치명 칸을 밟는다. 통로가 GT에서도 cost 0.81–0.95로 문턱에 붙어 있어, 추종 오차가 곧 치명이다. </a:t>
            </a:r>
            <a:r>
              <a:rPr sz="1050" b="1" i="0">
                <a:solidFill>
                  <a:srgbClr val="C2410C"/>
                </a:solidFill>
                <a:latin typeface="Arial"/>
                <a:ea typeface="Malgun Gothic"/>
                <a:cs typeface="Malgun Gothic"/>
              </a:rPr>
              <a:t>잡음 편향은 버그이면서 동시에 사실상의 안전 여유였다.</a:t>
            </a:r>
            <a:r>
              <a:rPr sz="1050" b="0" i="0">
                <a:solidFill>
                  <a:srgbClr val="16213A"/>
                </a:solidFill>
                <a:latin typeface="Arial"/>
                <a:ea typeface="Malgun Gothic"/>
                <a:cs typeface="Malgun Gothic"/>
              </a:rPr>
              <a:t> 평활만 하면 그 여유가 함께 사라진다.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두 설정 모두 도달한 154 에피소드에서 도달 시간은 17.4 s에서 16.6 s, GT cost 평균은 0.0261에서 0.0272다.</a:t>
            </a:r>
          </a:p>
        </p:txBody>
      </p:sp>
      <p:sp>
        <p:nvSpPr>
          <p:cNvPr id="8" name="TextBox 7"/>
          <p:cNvSpPr txBox="1"/>
          <p:nvPr/>
        </p:nvSpPr>
        <p:spPr>
          <a:xfrm>
            <a:off x="609600" y="504586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판단.</a:t>
            </a:r>
            <a:r>
              <a:rPr sz="1050" b="0" i="0">
                <a:solidFill>
                  <a:srgbClr val="16213A"/>
                </a:solidFill>
                <a:latin typeface="Arial"/>
                <a:ea typeface="Malgun Gothic"/>
                <a:cs typeface="Malgun Gothic"/>
              </a:rPr>
              <a:t> 선택 항목으로 둔다. 기본으로 켜려면 여유를 따로 세워야 한다. 예를 들어 평활과 함께 턱 한계를 잡음만큼 낮추거나, 한 칸 폭 통로를 Controller가 받아들이지 않게 한다. Planner D·RL 스택, 가림(L0)·L1 인식에서는 재지 않았다.</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A.13.16 다음 병목 측정 — L1 인식에서 레벨 3은 4분의 1이 치명이다(2026-10-03)</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124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실제 매핑(L1) + 권장 설정에서 레벨 3은 세 스택 모두 120 에피소드 가운데 23–33개가 치명으로 끝난다. 실패는 포트홀과 연석 가장자리에서 난다.</a:t>
            </a:r>
            <a:r>
              <a:rPr sz="1050" b="0" i="0">
                <a:solidFill>
                  <a:srgbClr val="16213A"/>
                </a:solidFill>
                <a:latin typeface="Arial"/>
                <a:ea typeface="Malgun Gothic"/>
                <a:cs typeface="Malgun Gothic"/>
              </a:rPr>
              <a:t> 같은 레벨을 L0 인식으로 돌리면 시간 초과 몇 개뿐이다(TP-0039 스윕 36–39/40). LiDAR를 권장안(0.8 m, 15° 숙임)으로 바꿔도 줄지 않는다. 사용자 결정(학습 Planner는 단독 26/30으로 두고 다음 병목으로) 뒤 두 후보를 같은 판정 절차로 재서 정했다.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설정.</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--perception l1 --shadow-ceiling --shadow-depth 0.10 --stereo --unknown-near 1.5</a:t>
            </a:r>
            <a:r>
              <a:rPr sz="1050" b="0" i="0">
                <a:solidFill>
                  <a:srgbClr val="16213A"/>
                </a:solidFill>
                <a:latin typeface="Arial"/>
                <a:ea typeface="Malgun Gothic"/>
                <a:cs typeface="Malgun Gothic"/>
              </a:rPr>
              <a:t>(인식 문서의 권장 L1). 스택은 guidance+mppi, planner_df+mppi(RL 1단계 + 폴백, 배포 스택), planner_d+mppi(RL 1단계 단독). 레벨 3은 seed 0–9 × 난수 오프셋 3, 레벨 0은 한 번이다.</a:t>
            </a:r>
          </a:p>
        </p:txBody>
      </p:sp>
      <p:graphicFrame>
        <p:nvGraphicFramePr>
          <p:cNvPr id="7" name="Table 6"/>
          <p:cNvGraphicFramePr>
            <a:graphicFrameLocks noGrp="1"/>
          </p:cNvGraphicFramePr>
          <p:nvPr/>
        </p:nvGraphicFramePr>
        <p:xfrm>
          <a:off x="609600" y="2504877"/>
          <a:ext cx="10966450" cy="1182528"/>
        </p:xfrm>
        <a:graphic>
          <a:graphicData uri="http://schemas.openxmlformats.org/drawingml/2006/table">
            <a:tbl>
              <a:tblPr firstRow="1" bandRow="1">
                <a:tableStyleId>{5C22544A-7EE6-4342-B048-85BDC9FD1C3A}</a:tableStyleId>
              </a:tblPr>
              <a:tblGrid>
                <a:gridCol w="3463230"/>
                <a:gridCol w="2493268"/>
                <a:gridCol w="2516386"/>
                <a:gridCol w="2493566"/>
              </a:tblGrid>
              <a:tr h="197088">
                <a:tc>
                  <a:txBody>
                    <a:bodyPr wrap="square"/>
                    <a:lstStyle/>
                    <a:p>
                      <a:r>
                        <a:rPr sz="800" b="1" i="0">
                          <a:solidFill>
                            <a:srgbClr val="F4F1EA"/>
                          </a:solidFill>
                          <a:latin typeface="Arial"/>
                          <a:ea typeface="Malgun Gothic"/>
                          <a:cs typeface="Malgun Gothic"/>
                        </a:rPr>
                        <a:t>L1, 레벨 3 (30 에피소드씩)</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guidance</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planner_df (배포)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planner_d (단독)</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curb_ramp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18/30 (치명 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13/30 (치명 15)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18/30 (치명 8)</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bumps_potholes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18/30 (치명 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13/30 (치명 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14/30 (치명 15)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slope_crossfall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30/30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30/30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30/30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random_mix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28/30 (치명 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28/30 (치명 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27/30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합</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94/120 (치명 24)</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84/120 (치명 33)</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89/120 (치명 23)</a:t>
                      </a:r>
                    </a:p>
                  </a:txBody>
                  <a:tcPr marL="63500" marR="63500" marT="12700" marB="12700">
                    <a:solidFill>
                      <a:srgbClr val="FFFDF8"/>
                    </a:solidFill>
                  </a:tcPr>
                </a:tc>
              </a:tr>
            </a:tbl>
          </a:graphicData>
        </a:graphic>
      </p:graphicFrame>
      <p:sp>
        <p:nvSpPr>
          <p:cNvPr id="8" name="TextBox 7"/>
          <p:cNvSpPr txBox="1"/>
          <p:nvPr/>
        </p:nvSpPr>
        <p:spPr>
          <a:xfrm>
            <a:off x="609600" y="4078288"/>
            <a:ext cx="10972800" cy="20246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어디서 죽나.</a:t>
            </a:r>
            <a:r>
              <a:rPr sz="1050" b="0" i="0">
                <a:solidFill>
                  <a:srgbClr val="16213A"/>
                </a:solidFill>
                <a:latin typeface="Arial"/>
                <a:ea typeface="Malgun Gothic"/>
                <a:cs typeface="Malgun Gothic"/>
              </a:rPr>
              <a:t> bumps_potholes의 치명 44건은 모두 포트홀에서 0.7 m 안에서 끝난다. curb_ramp 34건 가운데 27건은 연석·높은 칸에서 0.7 m 안이다. 4–10 s 만에 끝나는 것이 많다. 센서 범위(5 m) 안의 포트홀로 곧장 들어간다.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배포 스택이 가장 많이 죽는다.</a:t>
            </a:r>
            <a:r>
              <a:rPr sz="1050" b="0" i="0">
                <a:solidFill>
                  <a:srgbClr val="16213A"/>
                </a:solidFill>
                <a:latin typeface="Arial"/>
                <a:ea typeface="Malgun Gothic"/>
                <a:cs typeface="Malgun Gothic"/>
              </a:rPr>
              <a:t> 짝 비교에서 guidance만 도달 18 대 planner_df만 8(p = 0.076)이고, 치명은 33 대 24다. 폴백 스택은 레벨 0의 L1에서도 bumps_potholes 치명 2건이 있다(guidance 0). 안전 원칙(</a:t>
            </a:r>
            <a:r>
              <a:rPr sz="1050" b="0" i="0">
                <a:solidFill>
                  <a:srgbClr val="16213A"/>
                </a:solidFill>
                <a:latin typeface="Consolas"/>
                <a:ea typeface="Malgun Gothic"/>
                <a:cs typeface="Malgun Gothic"/>
              </a:rPr>
              <a:t>docs/prd.md</a:t>
            </a:r>
            <a:r>
              <a:rPr sz="1050" b="0" i="0">
                <a:solidFill>
                  <a:srgbClr val="16213A"/>
                </a:solidFill>
                <a:latin typeface="Arial"/>
                <a:ea typeface="Malgun Gothic"/>
                <a:cs typeface="Malgun Gothic"/>
              </a:rPr>
              <a:t> 7절)으로 보면 L1에서는 폴백 스택이 기준선보다 위험하다.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센서 배치로는 줄지 않는다.</a:t>
            </a:r>
            <a:r>
              <a:rPr sz="1050" b="0" i="0">
                <a:solidFill>
                  <a:srgbClr val="16213A"/>
                </a:solidFill>
                <a:latin typeface="Arial"/>
                <a:ea typeface="Malgun Gothic"/>
                <a:cs typeface="Malgun Gothic"/>
              </a:rPr>
              <a:t> 권장 배치(전면 120°, ±12.5°, 0.8 m, 15° 숙임; 센서 연구에서 치명 재현율이 가장 높던 것)로 레벨 3 오프셋 0을 다시 돌렸다. 세 스택 합 도달 87 → 84/120, 치명 30 → 31로 그대로다.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보행자는 두 번째 후보다.</a:t>
            </a:r>
            <a:r>
              <a:rPr sz="1050" b="0" i="0">
                <a:solidFill>
                  <a:srgbClr val="16213A"/>
                </a:solidFill>
                <a:latin typeface="Arial"/>
                <a:ea typeface="Malgun Gothic"/>
                <a:cs typeface="Malgun Gothic"/>
              </a:rPr>
              <a:t> 보행자를 5명으로 늘려도(L0 인식) 레벨 0은 포화다(guidance·planner_df 120/120, planner_d 40/40, 충돌 0). 다만 최소 여유가 0.11–0.14 m다. 정해진 기준은 없다. 비교할 값은 TP-0079의 DAgger 전 0.22 m다. 레벨 3에서는 guidance 110/120(충돌 3), planner_df 112/120(충돌 3), planner_d 34/40(충돌 1)이고, 충돌은 random_mix L3 s9에 모인다(모든 오프셋, 결정적).</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A.13.16 다음 병목 측정 — L1 인식에서 레벨 3은 4분의 1이 치명이다(2026-10-03)</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125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판단.</a:t>
            </a:r>
            <a:r>
              <a:rPr sz="1050" b="0" i="0">
                <a:solidFill>
                  <a:srgbClr val="16213A"/>
                </a:solidFill>
                <a:latin typeface="Arial"/>
                <a:ea typeface="Malgun Gothic"/>
                <a:cs typeface="Malgun Gothic"/>
              </a:rPr>
              <a:t> 다음 병목은 L1 인식의 레벨 3이다. 포트홀·연석에서 치명 실패가 나고, 모든 스택이 같이 겪으므로 Planner 재학습(TP-0055)보다 지도 쪽 원인을 먼저 가른다(TP-0146). 보행자 쪽은 random_mix L3 s9 충돌과 낮은 최소 여유를 TP-0147로 둔다.</a:t>
            </a:r>
          </a:p>
        </p:txBody>
      </p:sp>
      <p:sp>
        <p:nvSpPr>
          <p:cNvPr id="6" name="TextBox 5"/>
          <p:cNvSpPr txBox="1"/>
          <p:nvPr/>
        </p:nvSpPr>
        <p:spPr>
          <a:xfrm>
            <a:off x="609600" y="176649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정정(TP-0147).</a:t>
            </a:r>
            <a:r>
              <a:rPr sz="1050" b="0" i="0">
                <a:solidFill>
                  <a:srgbClr val="16213A"/>
                </a:solidFill>
                <a:latin typeface="Arial"/>
                <a:ea typeface="Malgun Gothic"/>
                <a:cs typeface="Malgun Gothic"/>
              </a:rPr>
              <a:t> random_mix L3 s9의 충돌은 Planner·Controller 탓이 아니었다. 모두 첫 스텝(t = 0.1 s, 이동 0 m)에서 난다. </a:t>
            </a:r>
            <a:r>
              <a:rPr sz="1050" b="0" i="0">
                <a:solidFill>
                  <a:srgbClr val="16213A"/>
                </a:solidFill>
                <a:latin typeface="Consolas"/>
                <a:ea typeface="Malgun Gothic"/>
                <a:cs typeface="Malgun Gothic"/>
              </a:rPr>
              <a:t>crossing_pedestrians</a:t>
            </a:r>
            <a:r>
              <a:rPr sz="1050" b="0" i="0">
                <a:solidFill>
                  <a:srgbClr val="16213A"/>
                </a:solidFill>
                <a:latin typeface="Arial"/>
                <a:ea typeface="Malgun Gothic"/>
                <a:cs typeface="Malgun Gothic"/>
              </a:rPr>
              <a:t>가 보행자 하나를 로봇 출발점에 겹쳐 놓았다(t = 0 여유 −0.13 m). 4 지형 × 레벨 0–3 × seed 0–9 × (3명, 5명)에서 이 경우 하나뿐이다. 이제 처음 1초 동안 출발점에서 0.3 m 안으로 들어오는 보행자는 제 경로를 따라 뒤로 민다(</a:t>
            </a:r>
            <a:r>
              <a:rPr sz="1050" b="0" i="0">
                <a:solidFill>
                  <a:srgbClr val="16213A"/>
                </a:solidFill>
                <a:latin typeface="Consolas"/>
                <a:ea typeface="Malgun Gothic"/>
                <a:cs typeface="Malgun Gothic"/>
              </a:rPr>
              <a:t>clear_start</a:t>
            </a:r>
            <a:r>
              <a:rPr sz="1050" b="0" i="0">
                <a:solidFill>
                  <a:srgbClr val="16213A"/>
                </a:solidFill>
                <a:latin typeface="Arial"/>
                <a:ea typeface="Malgun Gothic"/>
                <a:cs typeface="Malgun Gothic"/>
              </a:rPr>
              <a:t>, Playground </a:t>
            </a:r>
            <a:r>
              <a:rPr sz="1050" b="0" i="0">
                <a:solidFill>
                  <a:srgbClr val="16213A"/>
                </a:solidFill>
                <a:latin typeface="Consolas"/>
                <a:ea typeface="Malgun Gothic"/>
                <a:cs typeface="Malgun Gothic"/>
              </a:rPr>
              <a:t>spawnCrossing</a:t>
            </a:r>
            <a:r>
              <a:rPr sz="1050" b="0" i="0">
                <a:solidFill>
                  <a:srgbClr val="16213A"/>
                </a:solidFill>
                <a:latin typeface="Arial"/>
                <a:ea typeface="Malgun Gothic"/>
                <a:cs typeface="Malgun Gothic"/>
              </a:rPr>
              <a:t>도 같다). 난수를 더 쓰지 않으므로 다른 에피소드는 그대로다. 고친 s9는 세 스택 × 오프셋 3, 9번 모두 도달한다(최소 여유 0.66–0.73 m, </a:t>
            </a:r>
            <a:r>
              <a:rPr sz="1050" b="0" i="0">
                <a:solidFill>
                  <a:srgbClr val="16213A"/>
                </a:solidFill>
                <a:latin typeface="Consolas"/>
                <a:ea typeface="Malgun Gothic"/>
                <a:cs typeface="Malgun Gothic"/>
              </a:rPr>
              <a:t>results/tp0147</a:t>
            </a:r>
            <a:r>
              <a:rPr sz="1050" b="0" i="0">
                <a:solidFill>
                  <a:srgbClr val="16213A"/>
                </a:solidFill>
                <a:latin typeface="Arial"/>
                <a:ea typeface="Malgun Gothic"/>
                <a:cs typeface="Malgun Gothic"/>
              </a:rPr>
              <a:t>). 그래서 보행자 5명 레벨 3은 guidance 113/120, planner_df 115/120, planner_d 35/40이고 충돌은 0이다. 남은 실패는 모두 지형 시간 초과다.</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A.13.17 TP-0146 — L1 레벨 3 치명의 원인: 매퍼 칸이 반 칸 어긋나 있었고, 테두리 뒤 스치는 칸이 얕게 채워졌다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126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L1 레벨 3의 치명 80건 가운데 78건은 belief가 포트홀·연석 가장자리의 치명 띠를 안쪽에 그려서 났다. Controller가 보고도 들어간 것이 아니다.</a:t>
            </a:r>
            <a:r>
              <a:rPr sz="1050" b="0" i="0">
                <a:solidFill>
                  <a:srgbClr val="16213A"/>
                </a:solidFill>
                <a:latin typeface="Arial"/>
                <a:ea typeface="Malgun Gothic"/>
                <a:cs typeface="Malgun Gothic"/>
              </a:rPr>
              <a:t> 원인은 둘이다. 하나는 래퍼 버그다. 매퍼 칸이 시뮬 격자와 반 칸 어긋나 가장자리가 한 칸 번졌다. 다른 하나는 테두리 바로 뒤의 숨은 칸이다. 시선이 테두리를 1–2 cm 아래로 스치는 칸이 깊이 prior를 피해 완만한 비탈로 채워졌다. 칸 정렬(이제 기본)과 낮은 채움(</a:t>
            </a:r>
            <a:r>
              <a:rPr sz="1050" b="0" i="0">
                <a:solidFill>
                  <a:srgbClr val="16213A"/>
                </a:solidFill>
                <a:latin typeface="Consolas"/>
                <a:ea typeface="Malgun Gothic"/>
                <a:cs typeface="Malgun Gothic"/>
              </a:rPr>
              <a:t>--shadow-low-fill</a:t>
            </a:r>
            <a:r>
              <a:rPr sz="1050" b="0" i="0">
                <a:solidFill>
                  <a:srgbClr val="16213A"/>
                </a:solidFill>
                <a:latin typeface="Arial"/>
                <a:ea typeface="Malgun Gothic"/>
                <a:cs typeface="Malgun Gothic"/>
              </a:rPr>
              <a:t>, 선택)을 함께 켜면, 권장 L1 레벨 3의 치명이 80건에서 25건으로 준다(도달 267 → 313/360). 배포 스택 planner_df는 가장 위험하던 스택에서 가장 나은 스택이 됐다(84 → 110/120, 치명 33 → 6). 남은 치명은 대부분 관측된 가장자리 칸이 얕게 읽히는 경우다(TP-0148).</a:t>
            </a:r>
          </a:p>
        </p:txBody>
      </p:sp>
      <p:pic>
        <p:nvPicPr>
          <p:cNvPr id="6" name="Picture 5" descr="image.jpg"/>
          <p:cNvPicPr>
            <a:picLocks noChangeAspect="1"/>
          </p:cNvPicPr>
          <p:nvPr/>
        </p:nvPicPr>
        <p:blipFill>
          <a:blip r:embed="rId3"/>
          <a:stretch>
            <a:fillRect/>
          </a:stretch>
        </p:blipFill>
        <p:spPr>
          <a:xfrm>
            <a:off x="1016000" y="2199481"/>
            <a:ext cx="10160000" cy="3263900"/>
          </a:xfrm>
          <a:prstGeom prst="rect">
            <a:avLst/>
          </a:prstGeom>
        </p:spPr>
      </p:pic>
      <p:sp>
        <p:nvSpPr>
          <p:cNvPr id="7" name="TextBox 6"/>
          <p:cNvSpPr txBox="1"/>
          <p:nvPr/>
        </p:nvSpPr>
        <p:spPr>
          <a:xfrm>
            <a:off x="609600" y="5552281"/>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TP-0146 (Fig. 1): 왼쪽은 고치기 전 실패 장면 하나다(bumps_potholes L3 s0, guidance). 빨강은 정답에서는 치명인데 실패 직전 belief는 주행 가능이라 한 칸이다. 가운데는 포트홀 하나를 정지 관측했을 때 로봇 쪽 치명 띠가 정답보다 몇 칸 물러나는지다. 오른쪽은 권장 L1 레벨 3(4 지형 × seed 0–9 × 오프셋 3)의 치명 수다.</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A.13.17 TP-0146 — L1 레벨 3 치명의 원인: 매퍼 칸이 반 칸 어긋나 있었고, 테두리 뒤 스치는 칸이 얕게 채워졌다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127 / 359</a:t>
            </a:r>
          </a:p>
        </p:txBody>
      </p:sp>
      <p:sp>
        <p:nvSpPr>
          <p:cNvPr id="5" name="TextBox 4"/>
          <p:cNvSpPr txBox="1"/>
          <p:nvPr/>
        </p:nvSpPr>
        <p:spPr>
          <a:xfrm>
            <a:off x="609600" y="1244600"/>
            <a:ext cx="10972800" cy="455850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진단 방법.</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scripts/diag_l1_lethal.py</a:t>
            </a:r>
            <a:r>
              <a:rPr sz="1050" b="0" i="0">
                <a:solidFill>
                  <a:srgbClr val="16213A"/>
                </a:solidFill>
                <a:latin typeface="Arial"/>
                <a:ea typeface="Malgun Gothic"/>
                <a:cs typeface="Malgun Gothic"/>
              </a:rPr>
              <a:t>가 치명 에피소드를 같은 설정으로 다시 돌린다. 80건 모두 같은 시각에 같은 실패로 재현된다. 매 스텝 belief를 기록하고, 실패 지점이 언제 치명으로 보였는지로 셋으로 나눈다.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못 봄: 마지막 belief에서도 주행 가능이다.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늦게 봄: 치명으로 보였을 때 이미 정지 거리 안이다.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보고도 들어감: 멈출 수 있을 때 치명으로 보였는데 들어갔다.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못 봄 78, 늦게 봄 1, 보고도 들어감 1이다(뒤의 둘은 random_mix). GT cost는 지형 특징을 로봇 반폭(0.30 m)만큼 부풀린 값이다. 그래서 실패 지점은 대개 가장자리에서 0.45 m쯤 떨어진 평지다. 진단기는 가장 가까운 정답 치명 출처 칸과 그 둘레 9×9칸을 함께 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bumps_potholes 44건: 출처는 턱 특징이다. 출처 창의 포트홀 칸은 관측된 칸(미관측 2 %)인데, belief 높이가 테두리 높이다(오차 중앙값 +0.12 m). belief의 치명 띠가 1–4칸 안쪽에 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curb_ramp 34건: 출처는 경사로 옆벽의 경사 특징이다. 높이 오차는 ±5 mm인데 가장자리가 한 칸 밀려 있다. 레벨 3 경사로는 폭 1.1 m라 중심이 지날 수 있는 띠가 0.2 m뿐이다.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원인 1 — 매퍼 칸이 반 칸 어긋났다(TP-0053부터 있던 래퍼 버그).</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EmapConfig.map_length_m = 11.0</a:t>
            </a:r>
            <a:r>
              <a:rPr sz="1050" b="0" i="0">
                <a:solidFill>
                  <a:srgbClr val="16213A"/>
                </a:solidFill>
                <a:latin typeface="Arial"/>
                <a:ea typeface="Malgun Gothic"/>
                <a:cs typeface="Malgun Gothic"/>
              </a:rPr>
              <a:t>이면 매퍼 칸 수가 222(짝수)다. 매퍼는 칸 i의 중심을 center + (i − (n − 1)/2) × 해상도에 둔다. 칸 수가 짝수면 중심이 시뮬 격자의 칸 경계에 온다. 그러면 매퍼 칸 하나가 시뮬 칸 넷에 걸친다. 시뮬 칸 하나를 정확히 덮는 점 묶음(0.10 m)을 넣으면 2×2칸에 0.057–0.067 m로 번졌다. 칸 수를 홀수(11.05 m, 223칸)로 하면 제 칸에 0.10 m로 들어간다. 이제 </a:t>
            </a:r>
            <a:r>
              <a:rPr sz="1050" b="0" i="0">
                <a:solidFill>
                  <a:srgbClr val="16213A"/>
                </a:solidFill>
                <a:latin typeface="Consolas"/>
                <a:ea typeface="Malgun Gothic"/>
                <a:cs typeface="Malgun Gothic"/>
              </a:rPr>
              <a:t>ElevationMapper</a:t>
            </a:r>
            <a:r>
              <a:rPr sz="1050" b="0" i="0">
                <a:solidFill>
                  <a:srgbClr val="16213A"/>
                </a:solidFill>
                <a:latin typeface="Arial"/>
                <a:ea typeface="Malgun Gothic"/>
                <a:cs typeface="Malgun Gothic"/>
              </a:rPr>
              <a:t>가 길이를 홀수 칸으로 맞춘다(</a:t>
            </a:r>
            <a:r>
              <a:rPr sz="1050" b="0" i="0">
                <a:solidFill>
                  <a:srgbClr val="16213A"/>
                </a:solidFill>
                <a:latin typeface="Consolas"/>
                <a:ea typeface="Malgun Gothic"/>
                <a:cs typeface="Malgun Gothic"/>
              </a:rPr>
              <a:t>aligned_length</a:t>
            </a:r>
            <a:r>
              <a:rPr sz="1050" b="0" i="0">
                <a:solidFill>
                  <a:srgbClr val="16213A"/>
                </a:solidFill>
                <a:latin typeface="Arial"/>
                <a:ea typeface="Malgun Gothic"/>
                <a:cs typeface="Malgun Gothic"/>
              </a:rPr>
              <a:t>, 테스트로 고정). 격자 원점이 해상도의 배수가 아니면 오류를 낸다. 이전 매퍼는 </a:t>
            </a:r>
            <a:r>
              <a:rPr sz="1050" b="0" i="0">
                <a:solidFill>
                  <a:srgbClr val="16213A"/>
                </a:solidFill>
                <a:latin typeface="Consolas"/>
                <a:ea typeface="Malgun Gothic"/>
                <a:cs typeface="Malgun Gothic"/>
              </a:rPr>
              <a:t>EmapConfig(align_to_grid=False)</a:t>
            </a:r>
            <a:r>
              <a:rPr sz="1050" b="0" i="0">
                <a:solidFill>
                  <a:srgbClr val="16213A"/>
                </a:solidFill>
                <a:latin typeface="Arial"/>
                <a:ea typeface="Malgun Gothic"/>
                <a:cs typeface="Malgun Gothic"/>
              </a:rPr>
              <a:t>로 재현한다.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원인 2 — 테두리 뒤 스치는 칸.</a:t>
            </a:r>
            <a:r>
              <a:rPr sz="1050" b="0" i="0">
                <a:solidFill>
                  <a:srgbClr val="16213A"/>
                </a:solidFill>
                <a:latin typeface="Arial"/>
                <a:ea typeface="Malgun Gothic"/>
                <a:cs typeface="Malgun Gothic"/>
              </a:rPr>
              <a:t> 가까운 쪽 테두리 바로 뒤 칸은 시선이 테두리를 1–2 cm 아래로 스친다. 깊이 prior(TP-0047)는 "시야 상한이 주변에서 관측된 가장 낮은 땅보다 낮은 칸"만 구덩이로 본다. 그런데 로봇이 가까우면 포트홀 바닥이 그 너머에 보이고, 이 칸의 상한은 그 바닥보다 높다. 그래서 prior가 걸리지 않는다. 대신 채움이 테두리와 바닥을 평균해 완만한 비탈을 만든다. </a:t>
            </a:r>
            <a:r>
              <a:rPr sz="1050" b="0" i="0">
                <a:solidFill>
                  <a:srgbClr val="16213A"/>
                </a:solidFill>
                <a:latin typeface="Consolas"/>
                <a:ea typeface="Malgun Gothic"/>
                <a:cs typeface="Malgun Gothic"/>
              </a:rPr>
              <a:t>shadow_low_fill</a:t>
            </a:r>
            <a:r>
              <a:rPr sz="1050" b="0" i="0">
                <a:solidFill>
                  <a:srgbClr val="16213A"/>
                </a:solidFill>
                <a:latin typeface="Arial"/>
                <a:ea typeface="Malgun Gothic"/>
                <a:cs typeface="Malgun Gothic"/>
              </a:rPr>
              <a:t>(선택, </a:t>
            </a:r>
            <a:r>
              <a:rPr sz="1050" b="0" i="0">
                <a:solidFill>
                  <a:srgbClr val="16213A"/>
                </a:solidFill>
                <a:latin typeface="Consolas"/>
                <a:ea typeface="Malgun Gothic"/>
                <a:cs typeface="Malgun Gothic"/>
              </a:rPr>
              <a:t>--shadow-low-fill</a:t>
            </a:r>
            <a:r>
              <a:rPr sz="1050" b="0" i="0">
                <a:solidFill>
                  <a:srgbClr val="16213A"/>
                </a:solidFill>
                <a:latin typeface="Arial"/>
                <a:ea typeface="Malgun Gothic"/>
                <a:cs typeface="Malgun Gothic"/>
              </a:rPr>
              <a:t>)은 이런 칸을 턱 창(±3칸) 안에서 관측된 가장 낮은 땅으로 채운다. 단, 시선이 창 안의 가장 높은 관측 땅보다 5 mm 넘게 아래로 지나는 칸에만 쓴다. 즉 그 칸을 가린 테두리보다 낮은 칸이다. 첫 판에는 이 조건이 없었다. 그래서 도로에서 올려다본 연석 윗면 뒤 보도 칸을, 연석 면에 번진 낮은 관측값으로 팠다(0.24 → 0.14 m). 그 판의 벤치마크는 curb_ramp에서 시간 초과가 나기 시작해 멈췄다.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정지 시험.</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scripts/eval_l1_edge.py</a:t>
            </a:r>
            <a:r>
              <a:rPr sz="1050" b="0" i="0">
                <a:solidFill>
                  <a:srgbClr val="16213A"/>
                </a:solidFill>
                <a:latin typeface="Arial"/>
                <a:ea typeface="Malgun Gothic"/>
                <a:cs typeface="Malgun Gothic"/>
              </a:rPr>
              <a:t>로 쟀다(</a:t>
            </a:r>
            <a:r>
              <a:rPr sz="1050" b="0" i="0">
                <a:solidFill>
                  <a:srgbClr val="16213A"/>
                </a:solidFill>
                <a:latin typeface="Consolas"/>
                <a:ea typeface="Malgun Gothic"/>
                <a:cs typeface="Malgun Gothic"/>
              </a:rPr>
              <a:t>results/tp0146/edge.csv</a:t>
            </a:r>
            <a:r>
              <a:rPr sz="1050" b="0" i="0">
                <a:solidFill>
                  <a:srgbClr val="16213A"/>
                </a:solidFill>
                <a:latin typeface="Arial"/>
                <a:ea typeface="Malgun Gothic"/>
                <a:cs typeface="Malgun Gothic"/>
              </a:rPr>
              <a:t>). 포트홀 하나에 정면으로 다가가 멈추거나 옆으로 지나가면서, 로봇 쪽 치명 띠가 정답보다 몇 칸 물러나는지 본다.</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A.13.17 TP-0146 — L1 레벨 3 치명의 원인: 매퍼 칸이 반 칸 어긋나 있었고, 테두리 뒤 스치는 칸이 얕게 채워졌다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128 / 359</a:t>
            </a:r>
          </a:p>
        </p:txBody>
      </p:sp>
      <p:graphicFrame>
        <p:nvGraphicFramePr>
          <p:cNvPr id="5" name="Table 4"/>
          <p:cNvGraphicFramePr>
            <a:graphicFrameLocks noGrp="1"/>
          </p:cNvGraphicFramePr>
          <p:nvPr/>
        </p:nvGraphicFramePr>
        <p:xfrm>
          <a:off x="609600" y="1244600"/>
          <a:ext cx="10966449" cy="985440"/>
        </p:xfrm>
        <a:graphic>
          <a:graphicData uri="http://schemas.openxmlformats.org/drawingml/2006/table">
            <a:tbl>
              <a:tblPr firstRow="1" bandRow="1">
                <a:tableStyleId>{5C22544A-7EE6-4342-B048-85BDC9FD1C3A}</a:tableStyleId>
              </a:tblPr>
              <a:tblGrid>
                <a:gridCol w="1721247"/>
                <a:gridCol w="1189831"/>
                <a:gridCol w="1067395"/>
                <a:gridCol w="1067395"/>
                <a:gridCol w="1480046"/>
                <a:gridCol w="1480046"/>
                <a:gridCol w="1480046"/>
                <a:gridCol w="1480443"/>
              </a:tblGrid>
              <a:tr h="197088">
                <a:tc>
                  <a:txBody>
                    <a:bodyPr wrap="square"/>
                    <a:lstStyle/>
                    <a:p>
                      <a:r>
                        <a:rPr sz="800" b="1" i="0">
                          <a:solidFill>
                            <a:srgbClr val="F4F1EA"/>
                          </a:solidFill>
                          <a:latin typeface="Arial"/>
                          <a:ea typeface="Malgun Gothic"/>
                          <a:cs typeface="Malgun Gothic"/>
                        </a:rPr>
                        <a:t>물러난 칸 (5 cm)</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옆 0.85 m</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옆 1.0 m</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옆 1.2 m</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정면 0.7 m 앞</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정면 1.0 m 앞</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정면 1.5 m 앞</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정면 2.0 m 앞</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고치기 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칸 정렬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낮은 채움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정렬 + 낮은 채움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3F0E8"/>
                    </a:solidFill>
                  </a:tcPr>
                </a:tc>
              </a:tr>
            </a:tbl>
          </a:graphicData>
        </a:graphic>
      </p:graphicFrame>
      <p:sp>
        <p:nvSpPr>
          <p:cNvPr id="6" name="TextBox 5"/>
          <p:cNvSpPr txBox="1"/>
          <p:nvPr/>
        </p:nvSpPr>
        <p:spPr>
          <a:xfrm>
            <a:off x="609600" y="257165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칸 정렬은 조금 떨어져 지날 때 남는 한 칸을, 낮은 채움은 가까이 지나거나 다가갈 때의 두 칸을 없앤다. 정면 2 m 앞에서는 바닥이 아직 안 보여 둘 다 2칸이다. 그 거리에서는 멈출 여유가 있다.</a:t>
            </a:r>
          </a:p>
        </p:txBody>
      </p:sp>
      <p:sp>
        <p:nvSpPr>
          <p:cNvPr id="7" name="TextBox 6"/>
          <p:cNvSpPr txBox="1"/>
          <p:nvPr/>
        </p:nvSpPr>
        <p:spPr>
          <a:xfrm>
            <a:off x="609600" y="2877046"/>
            <a:ext cx="10972800" cy="4329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벤치마크(권장 L1, seed 0–9 × 오프셋 3, 같은 (seed, 오프셋)끼리 짝 비교).</a:t>
            </a:r>
            <a:r>
              <a:rPr sz="1050" b="0" i="0">
                <a:solidFill>
                  <a:srgbClr val="16213A"/>
                </a:solidFill>
                <a:latin typeface="Arial"/>
                <a:ea typeface="Malgun Gothic"/>
                <a:cs typeface="Malgun Gothic"/>
              </a:rPr>
              <a:t> 결과는 </a:t>
            </a:r>
            <a:r>
              <a:rPr sz="1050" b="0" i="0">
                <a:solidFill>
                  <a:srgbClr val="16213A"/>
                </a:solidFill>
                <a:latin typeface="Consolas"/>
                <a:ea typeface="Malgun Gothic"/>
                <a:cs typeface="Malgun Gothic"/>
              </a:rPr>
              <a:t>results/tp0146/align</a:t>
            </a:r>
            <a:r>
              <a:rPr sz="1050" b="0" i="0">
                <a:solidFill>
                  <a:srgbClr val="16213A"/>
                </a:solidFill>
                <a:latin typeface="Arial"/>
                <a:ea typeface="Malgun Gothic"/>
                <a:cs typeface="Malgun Gothic"/>
              </a:rPr>
              <a:t>(칸 정렬)과 </a:t>
            </a:r>
            <a:r>
              <a:rPr sz="1050" b="0" i="0">
                <a:solidFill>
                  <a:srgbClr val="16213A"/>
                </a:solidFill>
                <a:latin typeface="Consolas"/>
                <a:ea typeface="Malgun Gothic"/>
                <a:cs typeface="Malgun Gothic"/>
              </a:rPr>
              <a:t>results/tp0146/align_low</a:t>
            </a:r>
            <a:r>
              <a:rPr sz="1050" b="0" i="0">
                <a:solidFill>
                  <a:srgbClr val="16213A"/>
                </a:solidFill>
                <a:latin typeface="Arial"/>
                <a:ea typeface="Malgun Gothic"/>
                <a:cs typeface="Malgun Gothic"/>
              </a:rPr>
              <a:t>(정렬 + 낮은 채움)다. 고치기 전은 </a:t>
            </a:r>
            <a:r>
              <a:rPr sz="1050" b="0" i="0">
                <a:solidFill>
                  <a:srgbClr val="16213A"/>
                </a:solidFill>
                <a:latin typeface="Consolas"/>
                <a:ea typeface="Malgun Gothic"/>
                <a:cs typeface="Malgun Gothic"/>
              </a:rPr>
              <a:t>results/nb_l1</a:t>
            </a:r>
            <a:r>
              <a:rPr sz="1050" b="0" i="0">
                <a:solidFill>
                  <a:srgbClr val="16213A"/>
                </a:solidFill>
                <a:latin typeface="Arial"/>
                <a:ea typeface="Malgun Gothic"/>
                <a:cs typeface="Malgun Gothic"/>
              </a:rPr>
              <a:t>이다.</a:t>
            </a:r>
          </a:p>
        </p:txBody>
      </p:sp>
      <p:graphicFrame>
        <p:nvGraphicFramePr>
          <p:cNvPr id="8" name="Table 7"/>
          <p:cNvGraphicFramePr>
            <a:graphicFrameLocks noGrp="1"/>
          </p:cNvGraphicFramePr>
          <p:nvPr/>
        </p:nvGraphicFramePr>
        <p:xfrm>
          <a:off x="609600" y="3398937"/>
          <a:ext cx="10966450" cy="985440"/>
        </p:xfrm>
        <a:graphic>
          <a:graphicData uri="http://schemas.openxmlformats.org/drawingml/2006/table">
            <a:tbl>
              <a:tblPr firstRow="1" bandRow="1">
                <a:tableStyleId>{5C22544A-7EE6-4342-B048-85BDC9FD1C3A}</a:tableStyleId>
              </a:tblPr>
              <a:tblGrid>
                <a:gridCol w="2308423"/>
                <a:gridCol w="2885976"/>
                <a:gridCol w="2885976"/>
                <a:gridCol w="2886075"/>
              </a:tblGrid>
              <a:tr h="197088">
                <a:tc>
                  <a:txBody>
                    <a:bodyPr wrap="square"/>
                    <a:lstStyle/>
                    <a:p>
                      <a:r>
                        <a:rPr sz="800" b="1" i="0">
                          <a:solidFill>
                            <a:srgbClr val="F4F1EA"/>
                          </a:solidFill>
                          <a:latin typeface="Arial"/>
                          <a:ea typeface="Malgun Gothic"/>
                          <a:cs typeface="Malgun Gothic"/>
                        </a:rPr>
                        <a:t>L1, 레벨 3 (스택마다 120)</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고치기 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칸 정렬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정렬 + 낮은 채움</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guidance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94 (치명 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99 (치명 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104 (치명 11)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planner_df (배포)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84 (치명 33)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102 (치명 14)</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110 (치명 6)</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planner_d (단독)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89 (치명 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95 (치명 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99 (치명 8)</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267/360 (치명 80, 시간 초과 13)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296/360 (치명 35, 시간 초과 29)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313/360 (치명 25, 시간 초과 22)</a:t>
                      </a:r>
                    </a:p>
                  </a:txBody>
                  <a:tcPr marL="63500" marR="63500" marT="12700" marB="12700">
                    <a:solidFill>
                      <a:srgbClr val="F3F0E8"/>
                    </a:solidFill>
                  </a:tcPr>
                </a:tc>
              </a:tr>
            </a:tbl>
          </a:graphicData>
        </a:graphic>
      </p:graphicFrame>
      <p:sp>
        <p:nvSpPr>
          <p:cNvPr id="9" name="TextBox 8"/>
          <p:cNvSpPr txBox="1"/>
          <p:nvPr/>
        </p:nvSpPr>
        <p:spPr>
          <a:xfrm>
            <a:off x="609600" y="4725988"/>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고치기 전 대 정렬 + 낮은 채움의 짝 비교는 11 : 57이다(p = 1e-8). 스택별로 guidance 3 : 13(p = 0.02), planner_df 1 : 27(p = 2e-7), planner_d 7 : 17(p = 0.06)이다.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지형별 치명은 curb_ramp 34 → 5, bumps_potholes 44 → 18, random_mix 2 → 2, slope_crossfall 0 → 0이다.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칸 정렬만으로는 curb_ramp 치명이 거의 사라지는 대신(34 → 1) 시간 초과가 7 → 19로 는다. belief의 경사로 가장자리가 정답 자리에 오자, 중심이 지날 띠도 정답처럼 0.2 m로 좁아져서다. 치명이 시간 초과로 바뀐 것이라 안전 쪽 변화다.</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A.13.17 TP-0146 — L1 레벨 3 치명의 원인: 매퍼 칸이 반 칸 어긋나 있었고, 테두리 뒤 스치는 칸이 얕게 채워졌다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129 / 359</a:t>
            </a:r>
          </a:p>
        </p:txBody>
      </p:sp>
      <p:sp>
        <p:nvSpPr>
          <p:cNvPr id="5" name="TextBox 4"/>
          <p:cNvSpPr txBox="1"/>
          <p:nvPr/>
        </p:nvSpPr>
        <p:spPr>
          <a:xfrm>
            <a:off x="609600" y="1244600"/>
            <a:ext cx="10972800" cy="420171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레벨 0 L1(스택마다 40)은 고치기 전 guidance 40, planner_df 38(치명 2), planner_d 38(치명 1)이다. 칸 정렬은 38(치명 2), 38(치명 2), 39다. 정렬 + 낮은 채움은 39(치명 1), 40, 39(시간 초과 1)다.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안전 원칙으로 보면(PRD 7절).</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고치기 전 → 정렬 + 낮은 채움: 새로 생긴 치명은 6건, 사라진 치명은 63건이다. 스택·레벨별 치명 수가 는 곳은 레벨 0 guidance 한 곳뿐이다(0 → 1, bumps_potholes s6).</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칸 정렬 → 정렬 + 낮은 채움(낮은 채움의 몫): guidance 레벨 3이 9 → 11로 는다(새 6, 사라짐 4). planner_df는 14 → 6, planner_d는 12 → 8로 준다.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그래서 이렇게 정했다.</a:t>
            </a:r>
          </a:p>
          <a:p>
            <a:pPr lvl="1">
              <a:spcBef>
                <a:spcPts val="200"/>
              </a:spcBef>
            </a:pPr>
            <a:r>
              <a:rPr sz="1050" b="0" i="0">
                <a:solidFill>
                  <a:srgbClr val="5A6478"/>
                </a:solidFill>
                <a:latin typeface="Arial"/>
                <a:ea typeface="Malgun Gothic"/>
                <a:cs typeface="Malgun Gothic"/>
              </a:rPr>
              <a:t>    – </a:t>
            </a:r>
            <a:r>
              <a:rPr sz="1050" b="0" i="0">
                <a:solidFill>
                  <a:srgbClr val="16213A"/>
                </a:solidFill>
                <a:latin typeface="Arial"/>
                <a:ea typeface="Malgun Gothic"/>
                <a:cs typeface="Malgun Gothic"/>
              </a:rPr>
              <a:t>칸 정렬은 래퍼 버그 수정이라 기본값으로 바꿨다. 어긋난 지도를 남겨 두는 것은 선택지가 아니라고 봤다. 레벨 0 guidance에서 새로 생긴 치명(칸 정렬만 2건, 낮은 채움까지 1건) 가운데 진단한 s6은 아래의 남은 메커니즘과 같다.</a:t>
            </a:r>
          </a:p>
          <a:p>
            <a:pPr lvl="1">
              <a:spcBef>
                <a:spcPts val="200"/>
              </a:spcBef>
            </a:pPr>
            <a:r>
              <a:rPr sz="1050" b="0" i="0">
                <a:solidFill>
                  <a:srgbClr val="5A6478"/>
                </a:solidFill>
                <a:latin typeface="Arial"/>
                <a:ea typeface="Malgun Gothic"/>
                <a:cs typeface="Malgun Gothic"/>
              </a:rPr>
              <a:t>    – </a:t>
            </a:r>
            <a:r>
              <a:rPr sz="1050" b="0" i="0">
                <a:solidFill>
                  <a:srgbClr val="16213A"/>
                </a:solidFill>
                <a:latin typeface="Arial"/>
                <a:ea typeface="Malgun Gothic"/>
                <a:cs typeface="Malgun Gothic"/>
              </a:rPr>
              <a:t>낮은 채움은 원칙대로 선택 항목으로 둔다. builder 기본값은 끔이다. 권장 L1에 넣을지는 사용자 결정으로 남긴다(STATE).</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남은 치명은 무엇인가.</a:t>
            </a:r>
            <a:r>
              <a:rPr sz="1050" b="0" i="0">
                <a:solidFill>
                  <a:srgbClr val="16213A"/>
                </a:solidFill>
                <a:latin typeface="Arial"/>
                <a:ea typeface="Malgun Gothic"/>
                <a:cs typeface="Malgun Gothic"/>
              </a:rPr>
              <a:t> 두 수정 뒤 남은 bumps_potholes 레벨 3 치명 12건(오프셋 0·1000)과 레벨 0 guidance s6을 같은 진단기로 봤다(</a:t>
            </a:r>
            <a:r>
              <a:rPr sz="1050" b="0" i="0">
                <a:solidFill>
                  <a:srgbClr val="16213A"/>
                </a:solidFill>
                <a:latin typeface="Consolas"/>
                <a:ea typeface="Malgun Gothic"/>
                <a:cs typeface="Malgun Gothic"/>
              </a:rPr>
              <a:t>results/tp0146/diag_after*</a:t>
            </a:r>
            <a:r>
              <a:rPr sz="1050" b="0" i="0">
                <a:solidFill>
                  <a:srgbClr val="16213A"/>
                </a:solidFill>
                <a:latin typeface="Arial"/>
                <a:ea typeface="Malgun Gothic"/>
                <a:cs typeface="Malgun Gothic"/>
              </a:rPr>
              <a:t>). 모두 '못 봄'이고 밀림은 0–2칸(대부분 1칸)이다. 출처 창의 포트홀 가장자리 칸은 관측된 칸인데 높이가 −1 ~ −3 cm다(정답 −12 cm). 그 칸의 바닥은 테두리에 가려 보이지 않는다. 테두리 위에 맞은 점이 LiDAR 거리 잡음(1 cm)으로 경계 너머로 밀려 그 칸에 떨어진 것으로 본다. 실제 센서의 mixed pixel과 같은 현상이라 높이 지도만으로는 진짜 테두리 칸과 구별이 안 된다. 다음 후보는 둘이다(TP-0148). 하나는 스캔에서 거리 불연속(jump edge) 옆 점을 버리는 필터이고, 다른 하나는 낙차 가장자리에 한 칸 여유를 두는 것이다.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판정.</a:t>
            </a:r>
            <a:r>
              <a:rPr sz="1050" b="0" i="0">
                <a:solidFill>
                  <a:srgbClr val="16213A"/>
                </a:solidFill>
                <a:latin typeface="Arial"/>
                <a:ea typeface="Malgun Gothic"/>
                <a:cs typeface="Malgun Gothic"/>
              </a:rPr>
              <a:t> TP-0146의 기준은 둘이었다.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레벨 3 치명을 guidance 24/120의 절반 이하로: 정렬 + 낮은 채움에서 11/120이라 넘었다. 칸 정렬만으로는 9/120이다.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레벨 0 L1 40/40 유지: guidance가 39/40(낮은 채움 포함) 또는 38/40(칸 정렬만)이라 못 지켰다.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L0 벤치마크는 코드 경로가 달라 바뀌지 않는다(매퍼는 L1에서만 쓰고, 낮은 채움은 끔).</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비평가 재시도 세 번(칸 정렬, 낮은 채움 첫 판, 고친 판) 뒤라 여기서 멈춘다. 남은 한 가지 메커니즘은 TP-0148로 넘긴다.</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A.13.18 TP-0148 — 포트홀 가장자리의 mixed pixel: 구덩이에만 한 칸 여유를 둔다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130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TP-0146 뒤 남은 L1 치명은 포트홀 가장자리 칸이 한 칸 얕게 읽혀서 났다. 여유를 닫힌 구덩이에만 한 칸 주면 레벨 3 치명이 25 → 6, 레벨 0이 120/120이다.</a:t>
            </a:r>
            <a:r>
              <a:rPr sz="1050" b="0" i="0">
                <a:solidFill>
                  <a:srgbClr val="16213A"/>
                </a:solidFill>
                <a:latin typeface="Arial"/>
                <a:ea typeface="Malgun Gothic"/>
                <a:cs typeface="Malgun Gothic"/>
              </a:rPr>
              <a:t> 일률 여유는 같은 효과를 내지만 레벨 3 경사로를 닫는다. 구덩이 여유(</a:t>
            </a:r>
            <a:r>
              <a:rPr sz="1050" b="0" i="0">
                <a:solidFill>
                  <a:srgbClr val="16213A"/>
                </a:solidFill>
                <a:latin typeface="Consolas"/>
                <a:ea typeface="Malgun Gothic"/>
                <a:cs typeface="Malgun Gothic"/>
              </a:rPr>
              <a:t>--pit-margin 0.05</a:t>
            </a:r>
            <a:r>
              <a:rPr sz="1050" b="0" i="0">
                <a:solidFill>
                  <a:srgbClr val="16213A"/>
                </a:solidFill>
                <a:latin typeface="Arial"/>
                <a:ea typeface="Malgun Gothic"/>
                <a:cs typeface="Malgun Gothic"/>
              </a:rPr>
              <a:t>)는 경사로를 건드리지 않는다. 지금 기본(칸 정렬)과 비교하면 낮은 채움 + 구덩이 여유가 모든 스택·레벨에서 치명을 줄인다. 그래서 둘을 권장 L1 설정에 넣었다(builder 기본값은 끔).</a:t>
            </a:r>
          </a:p>
        </p:txBody>
      </p:sp>
      <p:pic>
        <p:nvPicPr>
          <p:cNvPr id="6" name="Picture 5" descr="image.jpg"/>
          <p:cNvPicPr>
            <a:picLocks noChangeAspect="1"/>
          </p:cNvPicPr>
          <p:nvPr/>
        </p:nvPicPr>
        <p:blipFill>
          <a:blip r:embed="rId3"/>
          <a:stretch>
            <a:fillRect/>
          </a:stretch>
        </p:blipFill>
        <p:spPr>
          <a:xfrm>
            <a:off x="1016000" y="1982986"/>
            <a:ext cx="10160000" cy="3384550"/>
          </a:xfrm>
          <a:prstGeom prst="rect">
            <a:avLst/>
          </a:prstGeom>
        </p:spPr>
      </p:pic>
      <p:sp>
        <p:nvSpPr>
          <p:cNvPr id="7" name="TextBox 6"/>
          <p:cNvSpPr txBox="1"/>
          <p:nvPr/>
        </p:nvSpPr>
        <p:spPr>
          <a:xfrm>
            <a:off x="609600" y="5456436"/>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TP-0148 (Fig. 1): 왼쪽은 후보 셋을 TP-0146(정렬 + 낮은 채움)의 같은 에피소드와 비교한 것이다. 낙차 가장자리 필터와 일률 여유는 도중에 멈춘 부분 결과다. 오른쪽은 권장 L1 레벨 3(4 지형 × seed 0–9 × 오프셋 3)의 스택별 치명 수다.</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A.13.18 TP-0148 — 포트홀 가장자리의 mixed pixel: 구덩이에만 한 칸 여유를 둔다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131 / 359</a:t>
            </a:r>
          </a:p>
        </p:txBody>
      </p:sp>
      <p:sp>
        <p:nvSpPr>
          <p:cNvPr id="5" name="TextBox 4"/>
          <p:cNvSpPr txBox="1"/>
          <p:nvPr/>
        </p:nvSpPr>
        <p:spPr>
          <a:xfrm>
            <a:off x="609600" y="1244600"/>
            <a:ext cx="10972800" cy="16170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남은 실패의 모습(TP-0146 뒤).</a:t>
            </a:r>
            <a:r>
              <a:rPr sz="1050" b="0" i="0">
                <a:solidFill>
                  <a:srgbClr val="16213A"/>
                </a:solidFill>
                <a:latin typeface="Arial"/>
                <a:ea typeface="Malgun Gothic"/>
                <a:cs typeface="Malgun Gothic"/>
              </a:rPr>
              <a:t> 실패 장면 둘을 다시 돌려, 얕게 읽힌 가장자리 칸에 떨어진 점을 모두 모았다.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가까운 쪽 테두리: 점이 칸 경계에서 1–8 mm 안쪽에 있고 높이가 0 ~ −4 cm다(9개 중 8개가 스테레오). 그 칸의 바닥은 테두리에 가려 한 번도 보이지 않았다. 테두리에 맞은 점이 경계를 살짝 넘어 들어온 것이다.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먼 쪽 벽: 2.4–3.1 m 거리에서 벽에 맞은 점이 −0.09 ~ +0.02 m의 중간 높이로 들어왔다(스테레오 깊이 잡음이 그 거리에서 3 cm쯤이다). 로봇이 그 포트홀을 지나간 뒤에는 이 벽이 로봇 쪽 가장자리가 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둘 다 실제 센서의 mixed pixel과 같은 현상이다. 높이 지도만으로는 진짜 테두리 칸과 구별되지 않는다.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선별(정렬 + 낮은 채움 위, bumps_potholes·curb_ramp 레벨 3, 도중에 멈춘 부분 결과).</a:t>
            </a:r>
            <a:r>
              <a:rPr sz="1050" b="0" i="0">
                <a:solidFill>
                  <a:srgbClr val="16213A"/>
                </a:solidFill>
                <a:latin typeface="Arial"/>
                <a:ea typeface="Malgun Gothic"/>
                <a:cs typeface="Malgun Gothic"/>
              </a:rPr>
              <a:t> 같은 에피소드의 TP-0146 결과와 비교했다.</a:t>
            </a:r>
          </a:p>
        </p:txBody>
      </p:sp>
      <p:graphicFrame>
        <p:nvGraphicFramePr>
          <p:cNvPr id="6" name="Table 5"/>
          <p:cNvGraphicFramePr>
            <a:graphicFrameLocks noGrp="1"/>
          </p:cNvGraphicFramePr>
          <p:nvPr/>
        </p:nvGraphicFramePr>
        <p:xfrm>
          <a:off x="609600" y="2950567"/>
          <a:ext cx="10966449" cy="591264"/>
        </p:xfrm>
        <a:graphic>
          <a:graphicData uri="http://schemas.openxmlformats.org/drawingml/2006/table">
            <a:tbl>
              <a:tblPr firstRow="1" bandRow="1">
                <a:tableStyleId>{5C22544A-7EE6-4342-B048-85BDC9FD1C3A}</a:tableStyleId>
              </a:tblPr>
              <a:tblGrid>
                <a:gridCol w="6558359"/>
                <a:gridCol w="2272109"/>
                <a:gridCol w="2135981"/>
              </a:tblGrid>
              <a:tr h="197088">
                <a:tc>
                  <a:txBody>
                    <a:bodyPr wrap="square"/>
                    <a:lstStyle/>
                    <a:p>
                      <a:r>
                        <a:rPr sz="800" b="1" i="0">
                          <a:solidFill>
                            <a:srgbClr val="F4F1EA"/>
                          </a:solidFill>
                          <a:latin typeface="Arial"/>
                          <a:ea typeface="Malgun Gothic"/>
                          <a:cs typeface="Malgun Gothic"/>
                        </a:rPr>
                        <a:t>후보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bumps_potholes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curb_ramp</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낙차 가장자리 필터(</a:t>
                      </a:r>
                      <a:r>
                        <a:rPr sz="800" b="0" i="0">
                          <a:solidFill>
                            <a:srgbClr val="16213A"/>
                          </a:solidFill>
                          <a:latin typeface="Consolas"/>
                          <a:ea typeface="Malgun Gothic"/>
                          <a:cs typeface="Malgun Gothic"/>
                        </a:rPr>
                        <a:t>--drop-edge 0.05</a:t>
                      </a:r>
                      <a:r>
                        <a:rPr sz="800" b="0" i="0">
                          <a:solidFill>
                            <a:srgbClr val="16213A"/>
                          </a:solidFill>
                          <a:latin typeface="Arial"/>
                          <a:ea typeface="Malgun Gothic"/>
                          <a:cs typeface="Malgun Gothic"/>
                        </a:rPr>
                        <a:t>): 같은 열의 바로 위 링이 0.05 m 넘게 낮게 맞으면 그 점을 버린다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36개: 치명 10 → 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22개: 치명 2 → 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일률 여유(</a:t>
                      </a:r>
                      <a:r>
                        <a:rPr sz="800" b="0" i="0">
                          <a:solidFill>
                            <a:srgbClr val="16213A"/>
                          </a:solidFill>
                          <a:latin typeface="Consolas"/>
                          <a:ea typeface="Malgun Gothic"/>
                          <a:cs typeface="Malgun Gothic"/>
                        </a:rPr>
                        <a:t>--belief-inflate 0.35</a:t>
                      </a:r>
                      <a:r>
                        <a:rPr sz="800" b="0" i="0">
                          <a:solidFill>
                            <a:srgbClr val="16213A"/>
                          </a:solidFill>
                          <a:latin typeface="Arial"/>
                          <a:ea typeface="Malgun Gothic"/>
                          <a:cs typeface="Malgun Gothic"/>
                        </a:rPr>
                        <a:t>): belief만 0.35 m로 부풀린다(판정 GT는 0.30 m 그대로)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34개: 치명 10 → 0, 도달 24 → 34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9개: 도달 7 → 0(모두 시간 초과)</a:t>
                      </a:r>
                    </a:p>
                  </a:txBody>
                  <a:tcPr marL="63500" marR="63500" marT="12700" marB="12700">
                    <a:solidFill>
                      <a:srgbClr val="F3F0E8"/>
                    </a:solidFill>
                  </a:tcPr>
                </a:tc>
              </a:tr>
            </a:tbl>
          </a:graphicData>
        </a:graphic>
      </p:graphicFrame>
      <p:sp>
        <p:nvSpPr>
          <p:cNvPr id="7" name="TextBox 6"/>
          <p:cNvSpPr txBox="1"/>
          <p:nvPr/>
        </p:nvSpPr>
        <p:spPr>
          <a:xfrm>
            <a:off x="609600" y="3784898"/>
            <a:ext cx="10972800" cy="18081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낙차 가장자리 필터는 가까운 쪽 점만 거르므로 먼 쪽 벽 점을 막지 못한다. 같은 생각의 범용 필터로 PCL </a:t>
            </a:r>
            <a:r>
              <a:rPr sz="1050" b="0" i="0">
                <a:solidFill>
                  <a:srgbClr val="1D4ED8"/>
                </a:solidFill>
                <a:latin typeface="Consolas"/>
                <a:ea typeface="Malgun Gothic"/>
                <a:cs typeface="Malgun Gothic"/>
                <a:hlinkClick r:id="rId3"/>
              </a:rPr>
              <a:t>ShadowPoints</a:t>
            </a:r>
            <a:r>
              <a:rPr sz="1050" b="0" i="0">
                <a:solidFill>
                  <a:srgbClr val="16213A"/>
                </a:solidFill>
                <a:latin typeface="Arial"/>
                <a:ea typeface="Malgun Gothic"/>
                <a:cs typeface="Malgun Gothic"/>
              </a:rPr>
              <a:t>(깊이 불연속 가장자리의 유령 점 제거, libpointmatcher에서 옮김)가 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일률 여유는 포트홀을 막지만 레벨 3 경사로를 닫는다. 그 경사로(폭 1.1 m)는 부풀림 0.30 m에서 딱 통과 한계로 설계됐다(</a:t>
            </a:r>
            <a:r>
              <a:rPr sz="1050" b="0" i="0">
                <a:solidFill>
                  <a:srgbClr val="16213A"/>
                </a:solidFill>
                <a:latin typeface="Consolas"/>
                <a:ea typeface="Malgun Gothic"/>
                <a:cs typeface="Malgun Gothic"/>
              </a:rPr>
              <a:t>sim/terrain.py</a:t>
            </a:r>
            <a:r>
              <a:rPr sz="1050" b="0" i="0">
                <a:solidFill>
                  <a:srgbClr val="16213A"/>
                </a:solidFill>
                <a:latin typeface="Arial"/>
                <a:ea typeface="Malgun Gothic"/>
                <a:cs typeface="Malgun Gothic"/>
              </a:rPr>
              <a:t> DIFFICULTY 주석).</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구덩이 여유(</a:t>
            </a:r>
            <a:r>
              <a:rPr sz="1050" b="1" i="0">
                <a:solidFill>
                  <a:srgbClr val="16213A"/>
                </a:solidFill>
                <a:latin typeface="Consolas"/>
                <a:ea typeface="Malgun Gothic"/>
                <a:cs typeface="Malgun Gothic"/>
              </a:rPr>
              <a:t>--pit-margin 0.05</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여유를 닫힌 구덩이에만 준다. 구덩이는 belief 높이의 회색조 닫힘(창 0.55 m)보다 0.05 m 넘게 낮은 칸이다. 단, 높이 근거가 있는 칸(관측된 칸, 시야 상한으로 채운 숨은 칸)만 센다. 구덩이에 맞닿은 한 칸은 그 구덩이 바닥 높이로 낮춘다. 근처의 가장 낮은 테두리 칸보다 0.05 m 넘게 높은 칸은 그대로 둔다(포트홀 테두리는 수평이다). 도로·경사로는 닫힌 구덩이가 아니라 손대지 않는다.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GT 높이에서 재면(레벨 3, seed 10개) 치명 칸은 bumps_potholes에서 지도당 약 1,070개 늘고, curb_ramp·slope_crossfall은 0, random_mix는 평균 32개(최대 146) 는다. 포트홀 테두리 칸의 97 %가 바닥으로 내려간다. 남는 칸은 화분(이미 치명) 옆이나 과속방지턱 비탈의 테두리다.</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A.13.18 TP-0148 — 포트홀 가장자리의 mixed pixel: 구덩이에만 한 칸 여유를 둔다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132 / 359</a:t>
            </a:r>
          </a:p>
        </p:txBody>
      </p:sp>
      <p:sp>
        <p:nvSpPr>
          <p:cNvPr id="5" name="TextBox 4"/>
          <p:cNvSpPr txBox="1"/>
          <p:nvPr/>
        </p:nvSpPr>
        <p:spPr>
          <a:xfrm>
            <a:off x="609600" y="1244600"/>
            <a:ext cx="10972800" cy="18081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첫 판은 깊이 문턱 0.05 m에 관측·수평 조건이 없었다. 레벨 3 치명은 25 → 13으로 줄었지만 배포 스택의 curb_ramp가 29 → 20/30(치명 1 → 6, 짝 9 : 0)으로 나빠졌다(</a:t>
            </a:r>
            <a:r>
              <a:rPr sz="1050" b="0" i="0">
                <a:solidFill>
                  <a:srgbClr val="16213A"/>
                </a:solidFill>
                <a:latin typeface="Consolas"/>
                <a:ea typeface="Malgun Gothic"/>
                <a:cs typeface="Malgun Gothic"/>
              </a:rPr>
              <a:t>results/tp0148/pit_v1</a:t>
            </a:r>
            <a:r>
              <a:rPr sz="1050" b="0" i="0">
                <a:solidFill>
                  <a:srgbClr val="16213A"/>
                </a:solidFill>
                <a:latin typeface="Arial"/>
                <a:ea typeface="Malgun Gothic"/>
                <a:cs typeface="Malgun Gothic"/>
              </a:rPr>
              <a:t>). 원인은 둘이었다. 못 본 넓은 보도를 </a:t>
            </a:r>
            <a:r>
              <a:rPr sz="1050" b="0" i="0">
                <a:solidFill>
                  <a:srgbClr val="16213A"/>
                </a:solidFill>
                <a:latin typeface="Consolas"/>
                <a:ea typeface="Malgun Gothic"/>
                <a:cs typeface="Malgun Gothic"/>
              </a:rPr>
              <a:t>fill_unknown</a:t>
            </a:r>
            <a:r>
              <a:rPr sz="1050" b="0" i="0">
                <a:solidFill>
                  <a:srgbClr val="16213A"/>
                </a:solidFill>
                <a:latin typeface="Arial"/>
                <a:ea typeface="Malgun Gothic"/>
                <a:cs typeface="Malgun Gothic"/>
              </a:rPr>
              <a:t>이 8칸 너머 0으로 채워 가짜 구덩이가 생겼다. 경사로 옆벽과 연석이 만나는 오목한 모서리에서는 벽 번짐이 닫힘값을 올려 도로가 구덩이로 잡혔다.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두 번째 판은 관측된 칸만 구덩이로 세고 깊이 문턱을 0.08 m로 올렸다. 경사로 문제는 사라졌지만(planner_df curb_ramp 9/9) 포트홀 보호가 약해졌다. 같은 에피소드에서 bumps_potholes 치명이 첫 판 1, 두 번째 판 7, TP-0146 15였다. 시야 상한으로 채운 포트홀 칸이 구덩이에서 빠지자 한 칸 여유가 테두리에 닿지 않았다(152개에서 멈춤, </a:t>
            </a:r>
            <a:r>
              <a:rPr sz="1050" b="0" i="0">
                <a:solidFill>
                  <a:srgbClr val="16213A"/>
                </a:solidFill>
                <a:latin typeface="Consolas"/>
                <a:ea typeface="Malgun Gothic"/>
                <a:cs typeface="Malgun Gothic"/>
              </a:rPr>
              <a:t>results/tp0148/pit_v2</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세 번째 판(위 규칙)은 높이 근거가 있는 칸을 모두 세고 문턱을 0.05 m로 되돌렸다. 경사로 칸은 수평 테두리 조건이 지킨다. 그 장면을 다시 돌리면 바뀌는 칸이 2,731 → 678개로 줄고, 대부분 연석 발치의 도로 칸이다.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벤치마크(권장 L1 + 낮은 채움 + 구덩이 여유, seed 0–9 × 오프셋 3, 같은 (seed, 오프셋)끼리 짝 비교, </a:t>
            </a:r>
            <a:r>
              <a:rPr sz="1050" b="1" i="0">
                <a:solidFill>
                  <a:srgbClr val="16213A"/>
                </a:solidFill>
                <a:latin typeface="Consolas"/>
                <a:ea typeface="Malgun Gothic"/>
                <a:cs typeface="Malgun Gothic"/>
              </a:rPr>
              <a:t>results/tp0148/pit</a:t>
            </a:r>
            <a:r>
              <a:rPr sz="1050" b="1" i="0">
                <a:solidFill>
                  <a:srgbClr val="16213A"/>
                </a:solidFill>
                <a:latin typeface="Arial"/>
                <a:ea typeface="Malgun Gothic"/>
                <a:cs typeface="Malgun Gothic"/>
              </a:rPr>
              <a:t>).</a:t>
            </a:r>
          </a:p>
        </p:txBody>
      </p:sp>
      <p:graphicFrame>
        <p:nvGraphicFramePr>
          <p:cNvPr id="6" name="Table 5"/>
          <p:cNvGraphicFramePr>
            <a:graphicFrameLocks noGrp="1"/>
          </p:cNvGraphicFramePr>
          <p:nvPr/>
        </p:nvGraphicFramePr>
        <p:xfrm>
          <a:off x="609600" y="3141662"/>
          <a:ext cx="10966450" cy="985440"/>
        </p:xfrm>
        <a:graphic>
          <a:graphicData uri="http://schemas.openxmlformats.org/drawingml/2006/table">
            <a:tbl>
              <a:tblPr firstRow="1" bandRow="1">
                <a:tableStyleId>{5C22544A-7EE6-4342-B048-85BDC9FD1C3A}</a:tableStyleId>
              </a:tblPr>
              <a:tblGrid>
                <a:gridCol w="4181872"/>
                <a:gridCol w="1430238"/>
                <a:gridCol w="1556544"/>
                <a:gridCol w="2324001"/>
                <a:gridCol w="1473795"/>
              </a:tblGrid>
              <a:tr h="197088">
                <a:tc>
                  <a:txBody>
                    <a:bodyPr wrap="square"/>
                    <a:lstStyle/>
                    <a:p>
                      <a:r>
                        <a:rPr sz="800" b="1" i="0">
                          <a:solidFill>
                            <a:srgbClr val="F4F1EA"/>
                          </a:solidFill>
                          <a:latin typeface="Arial"/>
                          <a:ea typeface="Malgun Gothic"/>
                          <a:cs typeface="Malgun Gothic"/>
                        </a:rPr>
                        <a:t>L1 (스택마다 레벨 3은 120, 레벨 0은 40)</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고치기 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칸 정렬 (기본)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 낮은 채움 (TP-0146)</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 구덩이 여유</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guidance, 레벨 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94 (치명 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99 (치명 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104 (치명 11)</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110 (치명 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planner_df (배포), 레벨 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84 (치명 33)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102 (치명 14)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110 (치명 6)</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115 (치명 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planner_d (단독), 레벨 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89 (치명 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95 (치명 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99 (치명 8)</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110 (치명 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레벨 0 (guidance · planner_df · planner_d)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40 · 38 · 38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38 · 38 · 39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39 · 40 · 39</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40 · 40 · 40</a:t>
                      </a:r>
                    </a:p>
                  </a:txBody>
                  <a:tcPr marL="63500" marR="63500" marT="12700" marB="12700">
                    <a:solidFill>
                      <a:srgbClr val="F3F0E8"/>
                    </a:solidFill>
                  </a:tcPr>
                </a:tc>
              </a:tr>
            </a:tbl>
          </a:graphicData>
        </a:graphic>
      </p:graphicFrame>
      <p:sp>
        <p:nvSpPr>
          <p:cNvPr id="7" name="TextBox 6"/>
          <p:cNvSpPr txBox="1"/>
          <p:nvPr/>
        </p:nvSpPr>
        <p:spPr>
          <a:xfrm>
            <a:off x="609600" y="4468713"/>
            <a:ext cx="10972800" cy="14005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TP-0146 대비 레벨 3은 313 → 335/360(짝 11 : 33, p = 0.001), 고치기 전 대비 267 → 335/360(짝 10 : 78, p = 3e-14)이다.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지형별 레벨 3 치명(세 스택 합)은 bumps_potholes 18 → 1, curb_ramp 5 → 4, random_mix 2 → 1, slope_crossfall 0이다.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시간 초과는 22 → 19다. 남은 시간 초과는 대부분 레벨 3 curb_ramp(폭 1.1 m 경사로)와 random_mix다.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안전 원칙(PRD 7절).</a:t>
            </a:r>
            <a:r>
              <a:rPr sz="1050" b="0" i="0">
                <a:solidFill>
                  <a:srgbClr val="16213A"/>
                </a:solidFill>
                <a:latin typeface="Arial"/>
                <a:ea typeface="Malgun Gothic"/>
                <a:cs typeface="Malgun Gothic"/>
              </a:rPr>
              <a:t> 스택·레벨별 치명 수는 지금 기본(칸 정렬)과 고치기 전, 어느 쪽과 비교해도 는 곳이 없다.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칸 정렬 → + 낮은 채움 + 구덩이 여유: guidance 레벨 0은 2 → 0, 레벨 3은 9 → 4(새 3, 사라짐 8)다. planner_d 레벨 3은 12 → 0, planner_df 레벨 0은 2 → 0, 레벨 3은 14 → 2(새 2, 사라짐 14)다.</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A.13.18 TP-0148 — 포트홀 가장자리의 mixed pixel: 구덩이에만 한 칸 여유를 둔다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133 / 359</a:t>
            </a:r>
          </a:p>
        </p:txBody>
      </p:sp>
      <p:sp>
        <p:nvSpPr>
          <p:cNvPr id="5" name="TextBox 4"/>
          <p:cNvSpPr txBox="1"/>
          <p:nvPr/>
        </p:nvSpPr>
        <p:spPr>
          <a:xfrm>
            <a:off x="609600" y="1244600"/>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그래서 두 옵션을 함께 권장 L1 설정에 넣었다. TP-0146의 사용자 결정 B(낮은 채움만 넣을지)는 이 조합으로 대신한다. 결정 A(칸 정렬의 레벨 0 guidance 치명 2건)도 이 조합에서는 0건이라 실질적인 문제가 없다.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builder 기본값은 그대로 끔이다. L0 벤치마크와 Playground는 바뀌지 않는다.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판정.</a:t>
            </a:r>
            <a:r>
              <a:rPr sz="1050" b="0" i="0">
                <a:solidFill>
                  <a:srgbClr val="16213A"/>
                </a:solidFill>
                <a:latin typeface="Arial"/>
                <a:ea typeface="Malgun Gothic"/>
                <a:cs typeface="Malgun Gothic"/>
              </a:rPr>
              <a:t> TP-0148의 기준(레벨 3 치명 25 → 절반 이하, 레벨 0 L1 120/120, L0 벤치마크 유지)을 모두 넘었다. 시도는 세 번이었다(구덩이 여유 첫 판, 두 번째 판, 세 번째 판).</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A.13.19 다음 병목 측정 2 — 권장 L1에 스워브 plant를 얹으면 레벨 3이 다시 무너진다(TP-0149)</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134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권장 L1(TP-0146·0148)의 레벨 3에 스워브 plant(액추에이터 지연 0.2 s, 경사·거칠기 비례 미끄럼)를 얹으면, 치명이 다시 늘고 레벨 3 경사로는 거의 지나가지 못한다.</a:t>
            </a:r>
            <a:r>
              <a:rPr sz="1050" b="0" i="0">
                <a:solidFill>
                  <a:srgbClr val="16213A"/>
                </a:solidFill>
                <a:latin typeface="Arial"/>
                <a:ea typeface="Malgun Gothic"/>
                <a:cs typeface="Malgun Gothic"/>
              </a:rPr>
              <a:t> 완전한 인식(L0)에서도 plant만 얹으면 같은 일이 생긴다. 인식이 아니라 Controller가 plant를 모르는 것이 다음 병목이다. 권장 L1 레벨 3이 335 → 221/360이 되고, 치명은 6 → 55, 시간 초과는 19 → 84다(짝 117 : 3, p = 4e-31).</a:t>
            </a:r>
          </a:p>
        </p:txBody>
      </p:sp>
      <p:pic>
        <p:nvPicPr>
          <p:cNvPr id="6" name="Picture 5" descr="image.jpg"/>
          <p:cNvPicPr>
            <a:picLocks noChangeAspect="1"/>
          </p:cNvPicPr>
          <p:nvPr/>
        </p:nvPicPr>
        <p:blipFill>
          <a:blip r:embed="rId3"/>
          <a:stretch>
            <a:fillRect/>
          </a:stretch>
        </p:blipFill>
        <p:spPr>
          <a:xfrm>
            <a:off x="1016000" y="1982986"/>
            <a:ext cx="10160000" cy="3365500"/>
          </a:xfrm>
          <a:prstGeom prst="rect">
            <a:avLst/>
          </a:prstGeom>
        </p:spPr>
      </p:pic>
      <p:sp>
        <p:nvSpPr>
          <p:cNvPr id="7" name="TextBox 6"/>
          <p:cNvSpPr txBox="1"/>
          <p:nvPr/>
        </p:nvSpPr>
        <p:spPr>
          <a:xfrm>
            <a:off x="609600" y="5437386"/>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TP-0149 (Fig. 1): 왼쪽은 권장 L1 레벨 3의 스택별 결과를 plant 없이(TP-0148)와 plant를 얹고 비교한 것이다. 오른쪽은 1 m/s 전진 명령에 대한 응답이다. 파랑은 MPPI rollout이 믿는 응답이고, 빨강은 시뮬이 plant에 적용하는 응답이다(평지, 미끄럼 없음).</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A.13.19 다음 병목 측정 2 — 권장 L1에 스워브 plant를 얹으면 레벨 3이 다시 무너진다(TP-0149)</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135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설정.</a:t>
            </a:r>
            <a:r>
              <a:rPr sz="1050" b="0" i="0">
                <a:solidFill>
                  <a:srgbClr val="16213A"/>
                </a:solidFill>
                <a:latin typeface="Arial"/>
                <a:ea typeface="Malgun Gothic"/>
                <a:cs typeface="Malgun Gothic"/>
              </a:rPr>
              <a:t> 권장 L1(</a:t>
            </a:r>
            <a:r>
              <a:rPr sz="1050" b="0" i="0">
                <a:solidFill>
                  <a:srgbClr val="16213A"/>
                </a:solidFill>
                <a:latin typeface="Consolas"/>
                <a:ea typeface="Malgun Gothic"/>
                <a:cs typeface="Malgun Gothic"/>
              </a:rPr>
              <a:t>--perception l1 --shadow-ceiling --shadow-depth 0.10 --stereo --unknown-near 1.5 --shadow-low-fill --pit-margin 0.05</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--plant</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PlantConfig</a:t>
            </a:r>
            <a:r>
              <a:rPr sz="1050" b="0" i="0">
                <a:solidFill>
                  <a:srgbClr val="16213A"/>
                </a:solidFill>
                <a:latin typeface="Arial"/>
                <a:ea typeface="Malgun Gothic"/>
                <a:cs typeface="Malgun Gothic"/>
              </a:rPr>
              <a:t> 기본값). 스택은 guidance+mppi, planner_df+mppi, planner_d+mppi다. 레벨 3은 seed 0–9 × 오프셋 3, 레벨 0은 한 번이다(</a:t>
            </a:r>
            <a:r>
              <a:rPr sz="1050" b="0" i="0">
                <a:solidFill>
                  <a:srgbClr val="16213A"/>
                </a:solidFill>
                <a:latin typeface="Consolas"/>
                <a:ea typeface="Malgun Gothic"/>
                <a:cs typeface="Malgun Gothic"/>
              </a:rPr>
              <a:t>results/tp0149/l1_plant</a:t>
            </a:r>
            <a:r>
              <a:rPr sz="1050" b="0" i="0">
                <a:solidFill>
                  <a:srgbClr val="16213A"/>
                </a:solidFill>
                <a:latin typeface="Arial"/>
                <a:ea typeface="Malgun Gothic"/>
                <a:cs typeface="Malgun Gothic"/>
              </a:rPr>
              <a:t>). 귀인을 위해 plant + L0 인식(가림 없음)도 같은 절차로 돌렸다(</a:t>
            </a:r>
            <a:r>
              <a:rPr sz="1050" b="0" i="0">
                <a:solidFill>
                  <a:srgbClr val="16213A"/>
                </a:solidFill>
                <a:latin typeface="Consolas"/>
                <a:ea typeface="Malgun Gothic"/>
                <a:cs typeface="Malgun Gothic"/>
              </a:rPr>
              <a:t>results/tp0149/l0_plant</a:t>
            </a:r>
            <a:r>
              <a:rPr sz="1050" b="0" i="0">
                <a:solidFill>
                  <a:srgbClr val="16213A"/>
                </a:solidFill>
                <a:latin typeface="Arial"/>
                <a:ea typeface="Malgun Gothic"/>
                <a:cs typeface="Malgun Gothic"/>
              </a:rPr>
              <a:t>).</a:t>
            </a:r>
          </a:p>
        </p:txBody>
      </p:sp>
      <p:graphicFrame>
        <p:nvGraphicFramePr>
          <p:cNvPr id="6" name="Table 5"/>
          <p:cNvGraphicFramePr>
            <a:graphicFrameLocks noGrp="1"/>
          </p:cNvGraphicFramePr>
          <p:nvPr/>
        </p:nvGraphicFramePr>
        <p:xfrm>
          <a:off x="609600" y="1982986"/>
          <a:ext cx="10966451" cy="985440"/>
        </p:xfrm>
        <a:graphic>
          <a:graphicData uri="http://schemas.openxmlformats.org/drawingml/2006/table">
            <a:tbl>
              <a:tblPr firstRow="1" bandRow="1">
                <a:tableStyleId>{5C22544A-7EE6-4342-B048-85BDC9FD1C3A}</a:tableStyleId>
              </a:tblPr>
              <a:tblGrid>
                <a:gridCol w="5247779"/>
                <a:gridCol w="2789238"/>
                <a:gridCol w="2929434"/>
              </a:tblGrid>
              <a:tr h="197088">
                <a:tc>
                  <a:txBody>
                    <a:bodyPr wrap="square"/>
                    <a:lstStyle/>
                    <a:p>
                      <a:r>
                        <a:rPr sz="800" b="1" i="0">
                          <a:solidFill>
                            <a:srgbClr val="F4F1EA"/>
                          </a:solidFill>
                          <a:latin typeface="Arial"/>
                          <a:ea typeface="Malgun Gothic"/>
                          <a:cs typeface="Malgun Gothic"/>
                        </a:rPr>
                        <a:t>권장 L1, 레벨 3 (스택마다 120)</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plant 없음 (TP-0148)</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 스워브 plant</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guidance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110 (치명 4, 시간 초과 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65 (치명 20, 시간 초과 35)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planner_df (배포)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115 (2, 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77 (22, 21)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planner_d (단독)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110 (0, 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79 (13, 28)</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레벨 0 (40씩, guidance · planner_df · planner_d)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40 · 40 · 40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39 · 36 · 37</a:t>
                      </a:r>
                    </a:p>
                  </a:txBody>
                  <a:tcPr marL="63500" marR="63500" marT="12700" marB="12700">
                    <a:solidFill>
                      <a:srgbClr val="F3F0E8"/>
                    </a:solidFill>
                  </a:tcPr>
                </a:tc>
              </a:tr>
            </a:tbl>
          </a:graphicData>
        </a:graphic>
      </p:graphicFrame>
      <p:sp>
        <p:nvSpPr>
          <p:cNvPr id="7" name="TextBox 6"/>
          <p:cNvSpPr txBox="1"/>
          <p:nvPr/>
        </p:nvSpPr>
        <p:spPr>
          <a:xfrm>
            <a:off x="609600" y="3310037"/>
            <a:ext cx="10972800" cy="248304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지형별(레벨 3, 세 스택 합 90).</a:t>
            </a:r>
            <a:r>
              <a:rPr sz="1050" b="0" i="0">
                <a:solidFill>
                  <a:srgbClr val="16213A"/>
                </a:solidFill>
                <a:latin typeface="Arial"/>
                <a:ea typeface="Malgun Gothic"/>
                <a:cs typeface="Malgun Gothic"/>
              </a:rPr>
              <a:t> curb_ramp가 가장 크게 무너진다. 15/90 도달이고 시간 초과가 60이다. bumps_potholes는 60/90(치명 22), random_mix는 62/90(치명 12), slope_crossfall은 84/90(치명 6)이다. plant에서는 Planner D 단독(79)이 guidance(65)보다 낫다.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인식 탓이 아니다.</a:t>
            </a:r>
            <a:r>
              <a:rPr sz="1050" b="0" i="0">
                <a:solidFill>
                  <a:srgbClr val="16213A"/>
                </a:solidFill>
                <a:latin typeface="Arial"/>
                <a:ea typeface="Malgun Gothic"/>
                <a:cs typeface="Malgun Gothic"/>
              </a:rPr>
              <a:t> plant + L0 인식(가림 없음)도 curb_ramp 레벨 3은 58개 중 8개만 지나간다(시간 초과 43). bumps_potholes·curb_ramp를 같은 에피소드끼리 비교하면 L1이 더하는 치명은 11 → 22다(일부만 돌리고 멈춤, </a:t>
            </a:r>
            <a:r>
              <a:rPr sz="1050" b="0" i="0">
                <a:solidFill>
                  <a:srgbClr val="16213A"/>
                </a:solidFill>
                <a:latin typeface="Consolas"/>
                <a:ea typeface="Malgun Gothic"/>
                <a:cs typeface="Malgun Gothic"/>
              </a:rPr>
              <a:t>results/tp0149/l0_plant</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왜 무너지나.</a:t>
            </a:r>
            <a:r>
              <a:rPr sz="1050" b="0" i="0">
                <a:solidFill>
                  <a:srgbClr val="16213A"/>
                </a:solidFill>
                <a:latin typeface="Arial"/>
                <a:ea typeface="Malgun Gothic"/>
                <a:cs typeface="Malgun Gothic"/>
              </a:rPr>
              <a:t> MPPI rollout은 명령이 곧 속도라고 본다(가속 한계 1.0 m/s²). 시뮬은 명령의 가속 한계를 실현된 속도 기준으로 걸고, plant가 그 차이를 1차 지연(0.2 s, 한 스텝에 3분의 1)으로 따라간다. 그래서 실제 가속은 약 0.33 m/s²다. 1 m/s 명령에 1 s 대신 3 s 걸린다(그림 오른쪽). 게다가 미끄럼은 판정 GT의 부풀린 경사·거칠기(0.30 m)로 정해져, 위험물 0.3 m 앞부터 이동 속도가 최대 35 % 준다. 가장자리 근처에서 rollout이 약속한 감속과 회전을 로봇이 하지 못한다.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이미 있는 후보는 듣지 않는다.</a:t>
            </a:r>
            <a:r>
              <a:rPr sz="1050" b="0" i="0">
                <a:solidFill>
                  <a:srgbClr val="16213A"/>
                </a:solidFill>
                <a:latin typeface="Arial"/>
                <a:ea typeface="Malgun Gothic"/>
                <a:cs typeface="Malgun Gothic"/>
              </a:rPr>
              <a:t> 잔차 GP의 </a:t>
            </a:r>
            <a:r>
              <a:rPr sz="1050" b="0" i="0">
                <a:solidFill>
                  <a:srgbClr val="16213A"/>
                </a:solidFill>
                <a:latin typeface="Consolas"/>
                <a:ea typeface="Malgun Gothic"/>
                <a:cs typeface="Malgun Gothic"/>
              </a:rPr>
              <a:t>mppi_ccgp</a:t>
            </a:r>
            <a:r>
              <a:rPr sz="1050" b="0" i="0">
                <a:solidFill>
                  <a:srgbClr val="16213A"/>
                </a:solidFill>
                <a:latin typeface="Arial"/>
                <a:ea typeface="Malgun Gothic"/>
                <a:cs typeface="Malgun Gothic"/>
              </a:rPr>
              <a:t>(다시 맞춘 GP, 끝점 제한 0.5 m)를 같은 조건에서 79개 돌렸다. 같은 에피소드에서 치명 11 → 12, 도달 51 → 46이고, curb_ramp는 21개 중 0개 도달이다. GP가 레벨 0 자료로 맞춰져 레벨 3의 경사 미끄럼을 모르는 것으로 본다(</a:t>
            </a:r>
            <a:r>
              <a:rPr sz="1050" b="0" i="0">
                <a:solidFill>
                  <a:srgbClr val="16213A"/>
                </a:solidFill>
                <a:latin typeface="Consolas"/>
                <a:ea typeface="Malgun Gothic"/>
                <a:cs typeface="Malgun Gothic"/>
              </a:rPr>
              <a:t>results/tp0149/l1_plant_ccgp</a:t>
            </a:r>
            <a:r>
              <a:rPr sz="1050" b="0" i="0">
                <a:solidFill>
                  <a:srgbClr val="16213A"/>
                </a:solidFill>
                <a:latin typeface="Arial"/>
                <a:ea typeface="Malgun Gothic"/>
                <a:cs typeface="Malgun Gothic"/>
              </a:rPr>
              <a:t>, 도중에 멈춤).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판단.</a:t>
            </a:r>
            <a:r>
              <a:rPr sz="1050" b="0" i="0">
                <a:solidFill>
                  <a:srgbClr val="16213A"/>
                </a:solidFill>
                <a:latin typeface="Arial"/>
                <a:ea typeface="Malgun Gothic"/>
                <a:cs typeface="Malgun Gothic"/>
              </a:rPr>
              <a:t> 다음 병목은 레벨 3에서 plant를 다루는 Controller다. TP-0150에서 MPPI rollout 모델에 plant의 지연과 미끄럼을 넣는다. </a:t>
            </a:r>
            <a:r>
              <a:rPr sz="1050" b="0" i="0">
                <a:solidFill>
                  <a:srgbClr val="16213A"/>
                </a:solidFill>
                <a:latin typeface="Consolas"/>
                <a:ea typeface="Malgun Gothic"/>
                <a:cs typeface="Malgun Gothic"/>
              </a:rPr>
              <a:t>MPPIController.model</a:t>
            </a:r>
            <a:r>
              <a:rPr sz="1050" b="0" i="0">
                <a:solidFill>
                  <a:srgbClr val="16213A"/>
                </a:solidFill>
                <a:latin typeface="Arial"/>
                <a:ea typeface="Malgun Gothic"/>
                <a:cs typeface="Malgun Gothic"/>
              </a:rPr>
              <a:t>만 바꿔 끼우므로 최적화기(</a:t>
            </a:r>
            <a:r>
              <a:rPr sz="1050" b="0" i="0">
                <a:solidFill>
                  <a:srgbClr val="16213A"/>
                </a:solidFill>
                <a:latin typeface="Consolas"/>
                <a:ea typeface="Malgun Gothic"/>
                <a:cs typeface="Malgun Gothic"/>
              </a:rPr>
              <a:t>mppi.py</a:t>
            </a:r>
            <a:r>
              <a:rPr sz="1050" b="0" i="0">
                <a:solidFill>
                  <a:srgbClr val="16213A"/>
                </a:solidFill>
                <a:latin typeface="Arial"/>
                <a:ea typeface="Malgun Gothic"/>
                <a:cs typeface="Malgun Gothic"/>
              </a:rPr>
              <a:t>)는 그대로다. 보행자 5명(TP-0149의 두 번째 후보)은 plant 쪽이 더 크므로 미뤘다.</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A.13.20 TP-0153 — L1 벤치마크의 GPU 경로: CPU와 비트 단위로 같고 3.5배 빠르다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136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run_benchmark.py --device cuda</a:t>
            </a:r>
            <a:r>
              <a:rPr sz="1050" b="0" i="0">
                <a:solidFill>
                  <a:srgbClr val="16213A"/>
                </a:solidFill>
                <a:latin typeface="Arial"/>
                <a:ea typeface="Malgun Gothic"/>
                <a:cs typeface="Malgun Gothic"/>
              </a:rPr>
              <a:t>는 </a:t>
            </a:r>
            <a:r>
              <a:rPr sz="1050" b="1" i="0">
                <a:solidFill>
                  <a:srgbClr val="C2410C"/>
                </a:solidFill>
                <a:latin typeface="Arial"/>
                <a:ea typeface="Malgun Gothic"/>
                <a:cs typeface="Malgun Gothic"/>
              </a:rPr>
              <a:t>L1의 광선 투사와 belief 지도 생성을 GPU에서 돌리고, 결과는 CPU와 비트 단위로 같다.</a:t>
            </a:r>
            <a:r>
              <a:rPr sz="1050" b="0" i="0">
                <a:solidFill>
                  <a:srgbClr val="16213A"/>
                </a:solidFill>
                <a:latin typeface="Arial"/>
                <a:ea typeface="Malgun Gothic"/>
                <a:cs typeface="Malgun Gothic"/>
              </a:rPr>
              <a:t> 그래서 지금까지의 CPU 기준선과 그대로 짝 비교할 수 있다. TP-0150의 CPU 실행 8 에피소드(권장 L1 + plant, bumps_potholes 레벨 3)를 GPU로 다시 돌렸다. 시간 지표를 뺀 모든 지표가 마지막 자리까지 같다.</a:t>
            </a:r>
          </a:p>
        </p:txBody>
      </p:sp>
      <p:sp>
        <p:nvSpPr>
          <p:cNvPr id="6" name="TextBox 5"/>
          <p:cNvSpPr txBox="1"/>
          <p:nvPr/>
        </p:nvSpPr>
        <p:spPr>
          <a:xfrm>
            <a:off x="609600" y="1766491"/>
            <a:ext cx="10972800" cy="258464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왜.</a:t>
            </a:r>
            <a:r>
              <a:rPr sz="1050" b="0" i="0">
                <a:solidFill>
                  <a:srgbClr val="16213A"/>
                </a:solidFill>
                <a:latin typeface="Arial"/>
                <a:ea typeface="Malgun Gothic"/>
                <a:cs typeface="Malgun Gothic"/>
              </a:rPr>
              <a:t> TP-0152의 L1 + plant 에피소드 하나는 206 s였다(벤치마크 16개를 함께 돌린 부하 상태). 그중 belief 지도 생성이 107 s, LiDAR·스테레오 광선 투사가 86 s로 모두 CPU에서 돌았고, NMPC는 7 s였다. TP-0084가 지도 생성을 GPU로 옮겨 두었지만 벤치마크가 그 옵션을 켜지 않았다.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무엇을 옮겼나.</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광선 투사(</a:t>
            </a:r>
            <a:r>
              <a:rPr sz="1050" b="0" i="0">
                <a:solidFill>
                  <a:srgbClr val="16213A"/>
                </a:solidFill>
                <a:latin typeface="Consolas"/>
                <a:ea typeface="Malgun Gothic"/>
                <a:cs typeface="Malgun Gothic"/>
              </a:rPr>
              <a:t>sim/lidar.py::cast_rays</a:t>
            </a:r>
            <a:r>
              <a:rPr sz="1050" b="0" i="0">
                <a:solidFill>
                  <a:srgbClr val="16213A"/>
                </a:solidFill>
                <a:latin typeface="Arial"/>
                <a:ea typeface="Malgun Gothic"/>
                <a:cs typeface="Malgun Gothic"/>
              </a:rPr>
              <a:t>, 스테레오 포함): [광선 × 표본] 행진을 GPU에서 한다. 적중한 광선만 CPU로 가져와 잡음·필터를 그대로 하므로 난수 흐름이 바뀌지 않는다.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지도 생성: TP-0084의 </a:t>
            </a:r>
            <a:r>
              <a:rPr sz="1050" b="0" i="0">
                <a:solidFill>
                  <a:srgbClr val="16213A"/>
                </a:solidFill>
                <a:latin typeface="Consolas"/>
                <a:ea typeface="Malgun Gothic"/>
                <a:cs typeface="Malgun Gothic"/>
              </a:rPr>
              <a:t>TravMapBuilder(device=...)</a:t>
            </a:r>
            <a:r>
              <a:rPr sz="1050" b="0" i="0">
                <a:solidFill>
                  <a:srgbClr val="16213A"/>
                </a:solidFill>
                <a:latin typeface="Arial"/>
                <a:ea typeface="Malgun Gothic"/>
                <a:cs typeface="Malgun Gothic"/>
              </a:rPr>
              <a:t>를 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연결: </a:t>
            </a:r>
            <a:r>
              <a:rPr sz="1050" b="0" i="0">
                <a:solidFill>
                  <a:srgbClr val="16213A"/>
                </a:solidFill>
                <a:latin typeface="Consolas"/>
                <a:ea typeface="Malgun Gothic"/>
                <a:cs typeface="Malgun Gothic"/>
              </a:rPr>
              <a:t>SimConfig.device</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--device {cpu,cuda}</a:t>
            </a:r>
            <a:r>
              <a:rPr sz="1050" b="0" i="0">
                <a:solidFill>
                  <a:srgbClr val="16213A"/>
                </a:solidFill>
                <a:latin typeface="Arial"/>
                <a:ea typeface="Malgun Gothic"/>
                <a:cs typeface="Malgun Gothic"/>
              </a:rPr>
              <a:t>(기본 cpu). CUDA가 없으면 </a:t>
            </a:r>
            <a:r>
              <a:rPr sz="1050" b="0" i="0">
                <a:solidFill>
                  <a:srgbClr val="16213A"/>
                </a:solidFill>
                <a:latin typeface="Consolas"/>
                <a:ea typeface="Malgun Gothic"/>
                <a:cs typeface="Malgun Gothic"/>
              </a:rPr>
              <a:t>--device cuda</a:t>
            </a:r>
            <a:r>
              <a:rPr sz="1050" b="0" i="0">
                <a:solidFill>
                  <a:srgbClr val="16213A"/>
                </a:solidFill>
                <a:latin typeface="Arial"/>
                <a:ea typeface="Malgun Gothic"/>
                <a:cs typeface="Malgun Gothic"/>
              </a:rPr>
              <a:t>는 오류로 멈춘다.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비트 단위로 맞춘 방법.</a:t>
            </a:r>
            <a:r>
              <a:rPr sz="1050" b="0" i="0">
                <a:solidFill>
                  <a:srgbClr val="16213A"/>
                </a:solidFill>
                <a:latin typeface="Arial"/>
                <a:ea typeface="Malgun Gothic"/>
                <a:cs typeface="Malgun Gothic"/>
              </a:rPr>
              <a:t> 처음 GPU 지도는 CPU와 1–2 ulp(최대 3e-7) 달랐다. 원인은 둘이었다.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CUDA는 CPU 스칼라로 나누는 연산을 그 역수의 곱으로 바꾼다. 나누는 수를 GPU 텐서로 넘기면 IEEE 나눗셈이 된다(</a:t>
            </a:r>
            <a:r>
              <a:rPr sz="1050" b="0" i="0">
                <a:solidFill>
                  <a:srgbClr val="16213A"/>
                </a:solidFill>
                <a:latin typeface="Consolas"/>
                <a:ea typeface="Malgun Gothic"/>
                <a:cs typeface="Malgun Gothic"/>
              </a:rPr>
              <a:t>features.true_div</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cast_rays</a:t>
            </a:r>
            <a:r>
              <a:rPr sz="1050" b="0" i="0">
                <a:solidFill>
                  <a:srgbClr val="16213A"/>
                </a:solidFill>
                <a:latin typeface="Arial"/>
                <a:ea typeface="Malgun Gothic"/>
                <a:cs typeface="Malgun Gothic"/>
              </a:rPr>
              <a:t>의 격자 좌표).</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CPU의 float </a:t>
            </a:r>
            <a:r>
              <a:rPr sz="1050" b="0" i="0">
                <a:solidFill>
                  <a:srgbClr val="16213A"/>
                </a:solidFill>
                <a:latin typeface="Consolas"/>
                <a:ea typeface="Malgun Gothic"/>
                <a:cs typeface="Malgun Gothic"/>
              </a:rPr>
              <a:t>sqrt</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atan</a:t>
            </a:r>
            <a:r>
              <a:rPr sz="1050" b="0" i="0">
                <a:solidFill>
                  <a:srgbClr val="16213A"/>
                </a:solidFill>
                <a:latin typeface="Arial"/>
                <a:ea typeface="Malgun Gothic"/>
                <a:cs typeface="Malgun Gothic"/>
              </a:rPr>
              <a:t>은 벡터 근사라 정확한 반올림이 아니다. 무작위 입력 200만 개 중 34만 개에서 CPU </a:t>
            </a:r>
            <a:r>
              <a:rPr sz="1050" b="0" i="0">
                <a:solidFill>
                  <a:srgbClr val="16213A"/>
                </a:solidFill>
                <a:latin typeface="Consolas"/>
                <a:ea typeface="Malgun Gothic"/>
                <a:cs typeface="Malgun Gothic"/>
              </a:rPr>
              <a:t>sqrt</a:t>
            </a:r>
            <a:r>
              <a:rPr sz="1050" b="0" i="0">
                <a:solidFill>
                  <a:srgbClr val="16213A"/>
                </a:solidFill>
                <a:latin typeface="Arial"/>
                <a:ea typeface="Malgun Gothic"/>
                <a:cs typeface="Malgun Gothic"/>
              </a:rPr>
              <a:t>가 1 ulp 틀렸고, CUDA 쪽은 모두 정확했다. 지금까지의 실행은 모두 CPU였으므로 GPU 경로가 CPU 커널을 쓴다(</a:t>
            </a:r>
            <a:r>
              <a:rPr sz="1050" b="0" i="0">
                <a:solidFill>
                  <a:srgbClr val="16213A"/>
                </a:solidFill>
                <a:latin typeface="Consolas"/>
                <a:ea typeface="Malgun Gothic"/>
                <a:cs typeface="Malgun Gothic"/>
              </a:rPr>
              <a:t>features._on_cpu</a:t>
            </a:r>
            <a:r>
              <a:rPr sz="1050" b="0" i="0">
                <a:solidFill>
                  <a:srgbClr val="16213A"/>
                </a:solidFill>
                <a:latin typeface="Arial"/>
                <a:ea typeface="Malgun Gothic"/>
                <a:cs typeface="Malgun Gothic"/>
              </a:rPr>
              <a:t>, 지도 하나당 작은 왕복 셋). 평균·최대 풀링, 제곱, 원소별 사칙, 첫 적중 찾기는 재 보니 두 장치가 같았다.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확인.</a:t>
            </a:r>
          </a:p>
        </p:txBody>
      </p:sp>
      <p:graphicFrame>
        <p:nvGraphicFramePr>
          <p:cNvPr id="7" name="Table 6"/>
          <p:cNvGraphicFramePr>
            <a:graphicFrameLocks noGrp="1"/>
          </p:cNvGraphicFramePr>
          <p:nvPr/>
        </p:nvGraphicFramePr>
        <p:xfrm>
          <a:off x="609600" y="4440039"/>
          <a:ext cx="10966450" cy="788352"/>
        </p:xfrm>
        <a:graphic>
          <a:graphicData uri="http://schemas.openxmlformats.org/drawingml/2006/table">
            <a:tbl>
              <a:tblPr firstRow="1" bandRow="1">
                <a:tableStyleId>{5C22544A-7EE6-4342-B048-85BDC9FD1C3A}</a:tableStyleId>
              </a:tblPr>
              <a:tblGrid>
                <a:gridCol w="1044773"/>
                <a:gridCol w="5668169"/>
                <a:gridCol w="4253508"/>
              </a:tblGrid>
              <a:tr h="197088">
                <a:tc>
                  <a:txBody>
                    <a:bodyPr wrap="square"/>
                    <a:lstStyle/>
                    <a:p>
                      <a:r>
                        <a:rPr sz="800" b="1" i="0">
                          <a:solidFill>
                            <a:srgbClr val="F4F1EA"/>
                          </a:solidFill>
                          <a:latin typeface="Arial"/>
                          <a:ea typeface="Malgun Gothic"/>
                          <a:cs typeface="Malgun Gothic"/>
                        </a:rPr>
                        <a:t>대상</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결과</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광선 투사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 지형 × 자세 6 × drop edge 둘, LiDAR·스테레오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48개 스캔이 모두 같은 점</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belief 지도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실제 L1 belief 32장(권장 L1 옵션), 8채널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모든 칸이 비트 단위로 같음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폐루프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TP-0150 </a:t>
                      </a:r>
                      <a:r>
                        <a:rPr sz="800" b="0" i="0">
                          <a:solidFill>
                            <a:srgbClr val="16213A"/>
                          </a:solidFill>
                          <a:latin typeface="Consolas"/>
                          <a:ea typeface="Malgun Gothic"/>
                          <a:cs typeface="Malgun Gothic"/>
                        </a:rPr>
                        <a:t>mppi_plant_lag</a:t>
                      </a:r>
                      <a:r>
                        <a:rPr sz="800" b="0" i="0">
                          <a:solidFill>
                            <a:srgbClr val="16213A"/>
                          </a:solidFill>
                          <a:latin typeface="Arial"/>
                          <a:ea typeface="Malgun Gothic"/>
                          <a:cs typeface="Malgun Gothic"/>
                        </a:rPr>
                        <a:t> 8 에피소드(guidance·planner_df, seed 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성공·시간·경로 길이·roll·pitch·GT cost·jerk가 모두 같음</a:t>
                      </a:r>
                    </a:p>
                  </a:txBody>
                  <a:tcPr marL="63500" marR="63500" marT="12700" marB="12700">
                    <a:solidFill>
                      <a:srgbClr val="FFFDF8"/>
                    </a:solidFill>
                  </a:tcPr>
                </a:tc>
              </a:tr>
            </a:tbl>
          </a:graphicData>
        </a:graphic>
      </p:graphicFrame>
      <p:sp>
        <p:nvSpPr>
          <p:cNvPr id="8" name="TextBox 7"/>
          <p:cNvSpPr txBox="1"/>
          <p:nvPr/>
        </p:nvSpPr>
        <p:spPr>
          <a:xfrm>
            <a:off x="609600" y="552073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테스트로 고정했다. </a:t>
            </a:r>
            <a:r>
              <a:rPr sz="1050" b="0" i="0">
                <a:solidFill>
                  <a:srgbClr val="16213A"/>
                </a:solidFill>
                <a:latin typeface="Consolas"/>
                <a:ea typeface="Malgun Gothic"/>
                <a:cs typeface="Malgun Gothic"/>
              </a:rPr>
              <a:t>tests/test_gpu_paths.py</a:t>
            </a:r>
            <a:r>
              <a:rPr sz="1050" b="0" i="0">
                <a:solidFill>
                  <a:srgbClr val="16213A"/>
                </a:solidFill>
                <a:latin typeface="Arial"/>
                <a:ea typeface="Malgun Gothic"/>
                <a:cs typeface="Malgun Gothic"/>
              </a:rPr>
              <a:t>는 광선 투사와 플래그 전달을, </a:t>
            </a:r>
            <a:r>
              <a:rPr sz="1050" b="0" i="0">
                <a:solidFill>
                  <a:srgbClr val="16213A"/>
                </a:solidFill>
                <a:latin typeface="Consolas"/>
                <a:ea typeface="Malgun Gothic"/>
                <a:cs typeface="Malgun Gothic"/>
              </a:rPr>
              <a:t>tests/test_core.py</a:t>
            </a:r>
            <a:r>
              <a:rPr sz="1050" b="0" i="0">
                <a:solidFill>
                  <a:srgbClr val="16213A"/>
                </a:solidFill>
                <a:latin typeface="Arial"/>
                <a:ea typeface="Malgun Gothic"/>
                <a:cs typeface="Malgun Gothic"/>
              </a:rPr>
              <a:t>는 지도의 비트 단위 동일과 "CPU </a:t>
            </a:r>
            <a:r>
              <a:rPr sz="1050" b="0" i="0">
                <a:solidFill>
                  <a:srgbClr val="16213A"/>
                </a:solidFill>
                <a:latin typeface="Consolas"/>
                <a:ea typeface="Malgun Gothic"/>
                <a:cs typeface="Malgun Gothic"/>
              </a:rPr>
              <a:t>sqrt</a:t>
            </a:r>
            <a:r>
              <a:rPr sz="1050" b="0" i="0">
                <a:solidFill>
                  <a:srgbClr val="16213A"/>
                </a:solidFill>
                <a:latin typeface="Arial"/>
                <a:ea typeface="Malgun Gothic"/>
                <a:cs typeface="Malgun Gothic"/>
              </a:rPr>
              <a:t>가 CUDA와 다르다"는 전제를 본다.</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A.13.20 TP-0153 — L1 벤치마크의 GPU 경로: CPU와 비트 단위로 같고 3.5배 빠르다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137 / 359</a:t>
            </a:r>
          </a:p>
        </p:txBody>
      </p:sp>
      <p:sp>
        <p:nvSpPr>
          <p:cNvPr id="5" name="TextBox 4"/>
          <p:cNvSpPr txBox="1"/>
          <p:nvPr/>
        </p:nvSpPr>
        <p:spPr>
          <a:xfrm>
            <a:off x="609600" y="1244600"/>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속도(벤치마크 16개를 함께 돌린 부하 상태).</a:t>
            </a:r>
            <a:r>
              <a:rPr sz="1050" b="0" i="0">
                <a:solidFill>
                  <a:srgbClr val="16213A"/>
                </a:solidFill>
                <a:latin typeface="Arial"/>
                <a:ea typeface="Malgun Gothic"/>
                <a:cs typeface="Malgun Gothic"/>
              </a:rPr>
              <a:t> LiDAR 스캔 292 → 26 ms, 지도 생성 276 → 30 ms, 에피소드 약 200 → 57 s다. 이제 에피소드 시간의 대부분은 CPU에서 도는 Controller다.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판단.</a:t>
            </a:r>
            <a:r>
              <a:rPr sz="1050" b="0" i="0">
                <a:solidFill>
                  <a:srgbClr val="16213A"/>
                </a:solidFill>
                <a:latin typeface="Arial"/>
                <a:ea typeface="Malgun Gothic"/>
                <a:cs typeface="Malgun Gothic"/>
              </a:rPr>
              <a:t> 다음 L1 비교 시리즈부터 </a:t>
            </a:r>
            <a:r>
              <a:rPr sz="1050" b="0" i="0">
                <a:solidFill>
                  <a:srgbClr val="16213A"/>
                </a:solidFill>
                <a:latin typeface="Consolas"/>
                <a:ea typeface="Malgun Gothic"/>
                <a:cs typeface="Malgun Gothic"/>
              </a:rPr>
              <a:t>--device cuda</a:t>
            </a:r>
            <a:r>
              <a:rPr sz="1050" b="0" i="0">
                <a:solidFill>
                  <a:srgbClr val="16213A"/>
                </a:solidFill>
                <a:latin typeface="Arial"/>
                <a:ea typeface="Malgun Gothic"/>
                <a:cs typeface="Malgun Gothic"/>
              </a:rPr>
              <a:t>로 돌린다. 결과가 같으므로 따로 결정할 것이 없다.</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A.13.21 다음 병목 측정 3 — 보행자 5명을 권장 L1 + 스워브 plant에 얹는다(TP-0154)</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138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보행자 5명을 얹어도 충돌은 720 에피소드 중 8건(1.1 %)이다. 레벨 0은 도달이 116 → 107/120으로 줄고(짝 11 : 2, p = 0.02), 레벨 3은 239 → 238/360으로 그대로다.</a:t>
            </a:r>
            <a:r>
              <a:rPr sz="1050" b="0" i="0">
                <a:solidFill>
                  <a:srgbClr val="16213A"/>
                </a:solidFill>
                <a:latin typeface="Arial"/>
                <a:ea typeface="Malgun Gothic"/>
                <a:cs typeface="Malgun Gothic"/>
              </a:rPr>
              <a:t> 충돌은 세 장면에 몰려 있다. 같은 장면을 다른 오프셋으로 돌리면 0.13–0.40 m 여유로 지나가기도 한다. 아슬아슬한 조우에서 MPPI 표본 잡음이 결과를 가른다.</a:t>
            </a:r>
          </a:p>
        </p:txBody>
      </p:sp>
      <p:pic>
        <p:nvPicPr>
          <p:cNvPr id="6" name="Picture 5" descr="image.jpg"/>
          <p:cNvPicPr>
            <a:picLocks noChangeAspect="1"/>
          </p:cNvPicPr>
          <p:nvPr/>
        </p:nvPicPr>
        <p:blipFill>
          <a:blip r:embed="rId3"/>
          <a:stretch>
            <a:fillRect/>
          </a:stretch>
        </p:blipFill>
        <p:spPr>
          <a:xfrm>
            <a:off x="1016000" y="1766491"/>
            <a:ext cx="10160000" cy="3810000"/>
          </a:xfrm>
          <a:prstGeom prst="rect">
            <a:avLst/>
          </a:prstGeom>
        </p:spPr>
      </p:pic>
      <p:sp>
        <p:nvSpPr>
          <p:cNvPr id="7" name="TextBox 6"/>
          <p:cNvSpPr txBox="1"/>
          <p:nvPr/>
        </p:nvSpPr>
        <p:spPr>
          <a:xfrm>
            <a:off x="609600" y="5665391"/>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TP-0154: 왼쪽은 보행자 없는 TP-0150과 같은 에피소드끼리 비교한 결과다(레벨 0은 오프셋 0의 40, 레벨 3은 120). 오른쪽은 보행자 5명 실행 전체의 최소 여유 누적 분포다.</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A.13.21 다음 병목 측정 3 — 보행자 5명을 권장 L1 + 스워브 plant에 얹는다(TP-0154)</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139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설정.</a:t>
            </a:r>
            <a:r>
              <a:rPr sz="1050" b="0" i="0">
                <a:solidFill>
                  <a:srgbClr val="16213A"/>
                </a:solidFill>
                <a:latin typeface="Arial"/>
                <a:ea typeface="Malgun Gothic"/>
                <a:cs typeface="Malgun Gothic"/>
              </a:rPr>
              <a:t> 권장 L1 + </a:t>
            </a:r>
            <a:r>
              <a:rPr sz="1050" b="0" i="0">
                <a:solidFill>
                  <a:srgbClr val="16213A"/>
                </a:solidFill>
                <a:latin typeface="Consolas"/>
                <a:ea typeface="Malgun Gothic"/>
                <a:cs typeface="Malgun Gothic"/>
              </a:rPr>
              <a:t>--plant</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--pedestrians 5</a:t>
            </a:r>
            <a:r>
              <a:rPr sz="1050" b="0" i="0">
                <a:solidFill>
                  <a:srgbClr val="16213A"/>
                </a:solidFill>
                <a:latin typeface="Arial"/>
                <a:ea typeface="Malgun Gothic"/>
                <a:cs typeface="Malgun Gothic"/>
              </a:rPr>
              <a:t>다. Controller는 plant 조건의 배포 Controller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 스택은 guidance·planner_df·planner_d다. 레벨 0·3 × seed 0–9 × 오프셋 0·1000·2000으로 720 에피소드다. TP-0153의 GPU 경로로 돌렸다. 다른 벤치마크 16개가 CPU를 다 쓰는 중에도 6 프로세스로 1시간 40분이 걸렸다. 원자료는 </a:t>
            </a:r>
            <a:r>
              <a:rPr sz="1050" b="0" i="0">
                <a:solidFill>
                  <a:srgbClr val="16213A"/>
                </a:solidFill>
                <a:latin typeface="Consolas"/>
                <a:ea typeface="Malgun Gothic"/>
                <a:cs typeface="Malgun Gothic"/>
              </a:rPr>
              <a:t>results/tp0154/ped5_plant</a:t>
            </a:r>
            <a:r>
              <a:rPr sz="1050" b="0" i="0">
                <a:solidFill>
                  <a:srgbClr val="16213A"/>
                </a:solidFill>
                <a:latin typeface="Arial"/>
                <a:ea typeface="Malgun Gothic"/>
                <a:cs typeface="Malgun Gothic"/>
              </a:rPr>
              <a:t>다.</a:t>
            </a:r>
          </a:p>
        </p:txBody>
      </p:sp>
      <p:graphicFrame>
        <p:nvGraphicFramePr>
          <p:cNvPr id="6" name="Table 5"/>
          <p:cNvGraphicFramePr>
            <a:graphicFrameLocks noGrp="1"/>
          </p:cNvGraphicFramePr>
          <p:nvPr/>
        </p:nvGraphicFramePr>
        <p:xfrm>
          <a:off x="609600" y="1982986"/>
          <a:ext cx="10966450" cy="788352"/>
        </p:xfrm>
        <a:graphic>
          <a:graphicData uri="http://schemas.openxmlformats.org/drawingml/2006/table">
            <a:tbl>
              <a:tblPr firstRow="1" bandRow="1">
                <a:tableStyleId>{5C22544A-7EE6-4342-B048-85BDC9FD1C3A}</a:tableStyleId>
              </a:tblPr>
              <a:tblGrid>
                <a:gridCol w="3616623"/>
                <a:gridCol w="985738"/>
                <a:gridCol w="980777"/>
                <a:gridCol w="980777"/>
                <a:gridCol w="1589584"/>
                <a:gridCol w="2812951"/>
              </a:tblGrid>
              <a:tr h="197088">
                <a:tc>
                  <a:txBody>
                    <a:bodyPr wrap="square"/>
                    <a:lstStyle/>
                    <a:p>
                      <a:r>
                        <a:rPr sz="800" b="1" i="0">
                          <a:solidFill>
                            <a:srgbClr val="F4F1EA"/>
                          </a:solidFill>
                          <a:latin typeface="Arial"/>
                          <a:ea typeface="Malgun Gothic"/>
                          <a:cs typeface="Malgun Gothic"/>
                        </a:rPr>
                        <a:t>보행자 5명</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충돌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치명</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시간 초과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최소 여유 p5 · p50</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레벨 0 (360)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0.10 · 0.52 m</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레벨 3 (360)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238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0.18 · 0.64 m</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레벨 3, 경사로 제외 (270)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232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bl>
          </a:graphicData>
        </a:graphic>
      </p:graphicFrame>
      <p:sp>
        <p:nvSpPr>
          <p:cNvPr id="7" name="TextBox 6"/>
          <p:cNvSpPr txBox="1"/>
          <p:nvPr/>
        </p:nvSpPr>
        <p:spPr>
          <a:xfrm>
            <a:off x="609600" y="3063677"/>
            <a:ext cx="10972800" cy="3068439"/>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짝 비교(보행자 없을 때만 도달 : 보행자 5명일 때만 도달).</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레벨 0: 11 : 2(p = 0.02). 보행자 없는 기준이 오프셋 0만 있어 120개를 짝지었다.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레벨 3: 9 : 8(p = 1).</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레벨 3, 경사로 제외: 8 : 2(p = 0.11).</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레벨 0에서 준 것.</a:t>
            </a:r>
            <a:r>
              <a:rPr sz="1050" b="0" i="0">
                <a:solidFill>
                  <a:srgbClr val="16213A"/>
                </a:solidFill>
                <a:latin typeface="Arial"/>
                <a:ea typeface="Malgun Gothic"/>
                <a:cs typeface="Malgun Gothic"/>
              </a:rPr>
              <a:t> 같은 120개 안에서 시간 초과가 4 → 10, 충돌이 0 → 1, 치명이 0 → 2다. 전체 360개의 시간 초과 22개는 bumps_potholes 11, curb_ramp 8, random_mix 3이다.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충돌 장면.</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bumps_potholes 레벨 0 s1(t ≈ 11.6 s): 아홉 번 중 넷이 충돌했다. 나머지 다섯은 0.13–0.40 m 여유로 지나갔다.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bumps_potholes 레벨 3 s9(t ≈ 9.2 s): planner_d만 세 번 중 두 번 충돌했고, 세 번째는 0.14 m로 지나갔다. 다른 스택은 0.18–0.34 m로 지나갔다.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random_mix 레벨 3 s9(t = 4.3 s): 오프셋 0의 planner_df·planner_d가 충돌했다. 이 장면은 TP-0141에서 본 한 칸 통로 장면이라, 나머지는 모두 시간 초과다.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기준과 견주면.</a:t>
            </a:r>
            <a:r>
              <a:rPr sz="1050" b="0" i="0">
                <a:solidFill>
                  <a:srgbClr val="16213A"/>
                </a:solidFill>
                <a:latin typeface="Arial"/>
                <a:ea typeface="Malgun Gothic"/>
                <a:cs typeface="Malgun Gothic"/>
              </a:rPr>
              <a:t> 비평가 기준은 보행자 3명에서 충돌률 목표 2 % 미만, 실패 10 % 초과다. 5명에서 1.1 %라 기준 안이다. 다만 plant 없는 L0 인식(A.13.16, TP-0147로 출발점 겹침을 고친 뒤)에서는 보행자 5명의 충돌이 0이었다. 이번 충돌은 plant를 얹으면서 생겼다.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판단.</a:t>
            </a:r>
            <a:r>
              <a:rPr sz="1050" b="0" i="0">
                <a:solidFill>
                  <a:srgbClr val="16213A"/>
                </a:solidFill>
                <a:latin typeface="Arial"/>
                <a:ea typeface="Malgun Gothic"/>
                <a:cs typeface="Malgun Gothic"/>
              </a:rPr>
              <a:t> 보행자는 아직 첫 병목이 아니다. 실패 수로는 레벨 3 지형이 압도적이고(경사로 시간 초과 79, 설계 한계), 보행자는 레벨 0의 도달을 9개 줄인다. 다음 후보는 둘이다. 하나는 충돌 세 장면과 레벨 0 시간 초과를 진단해 plant 조건의 보행자 회피를 다듬는 일이고, 다른 하나는 L1 belief로 Planner D를 재학습하는 일이다(TP-0055).</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작업 기록 · A.13 진행 기록 — 지도 구축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A.13.22 보행자 충돌 8건 진단 — MPPI의 보행자 hard 벌점이 포화한다(TP-0160)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140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충돌 8건 모두 보행자가 간격을 줄였고, 충돌 직전에는 MPPI 표본 전부가 보행자 hard 벌점에 걸렸다. 벌점이 모든 표본에 같은 상수가 되면 피할 방향이 사라지고, MPPI는 참조를 따라 앞으로 간다.</a:t>
            </a:r>
            <a:r>
              <a:rPr sz="1050" b="0" i="0">
                <a:solidFill>
                  <a:srgbClr val="16213A"/>
                </a:solidFill>
                <a:latin typeface="Arial"/>
                <a:ea typeface="Malgun Gothic"/>
                <a:cs typeface="Malgun Gothic"/>
              </a:rPr>
              <a:t> 8건 중 7건에서 명령이 바로 그 스텝에 뒷걸음(vx −0.1)이나 감속에서 전진(+0.2–0.6 m/s)으로 바뀐다.</a:t>
            </a:r>
          </a:p>
        </p:txBody>
      </p:sp>
      <p:sp>
        <p:nvSpPr>
          <p:cNvPr id="6" name="TextBox 5"/>
          <p:cNvSpPr txBox="1"/>
          <p:nvPr/>
        </p:nvSpPr>
        <p:spPr>
          <a:xfrm>
            <a:off x="609600" y="1766491"/>
            <a:ext cx="10972800" cy="11078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scripts/diag_ped_collision.py</a:t>
            </a:r>
            <a:r>
              <a:rPr sz="1050" b="0" i="0">
                <a:solidFill>
                  <a:srgbClr val="16213A"/>
                </a:solidFill>
                <a:latin typeface="Arial"/>
                <a:ea typeface="Malgun Gothic"/>
                <a:cs typeface="Malgun Gothic"/>
              </a:rPr>
              <a:t>가 TP-0154의 충돌 에피소드를 같은 플래그로 재생한다. 8/8이 같은 시각에 다시 충돌했다(Planner D 체크포인트는 </a:t>
            </a:r>
            <a:r>
              <a:rPr sz="1050" b="0" i="0">
                <a:solidFill>
                  <a:srgbClr val="16213A"/>
                </a:solidFill>
                <a:latin typeface="Consolas"/>
                <a:ea typeface="Malgun Gothic"/>
                <a:cs typeface="Malgun Gothic"/>
              </a:rPr>
              <a:t>planner_d_L0123_rl.pt</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_dagger.pt</a:t>
            </a:r>
            <a:r>
              <a:rPr sz="1050" b="0" i="0">
                <a:solidFill>
                  <a:srgbClr val="16213A"/>
                </a:solidFill>
                <a:latin typeface="Arial"/>
                <a:ea typeface="Malgun Gothic"/>
                <a:cs typeface="Malgun Gothic"/>
              </a:rPr>
              <a:t>로는 1/8만 재현). 매 제어 스텝에 로봇의 world 속도, 명령, Controller가 낸 계획의 예측 여유(보행자 원판, 불확실성 팽창 없음), risk 항 안에서 보행자 hard 벌점에 걸린 표본 비율을 기록한다. 원자료는 </a:t>
            </a:r>
            <a:r>
              <a:rPr sz="1050" b="0" i="0">
                <a:solidFill>
                  <a:srgbClr val="16213A"/>
                </a:solidFill>
                <a:latin typeface="Consolas"/>
                <a:ea typeface="Malgun Gothic"/>
                <a:cs typeface="Malgun Gothic"/>
              </a:rPr>
              <a:t>results/tp0160/replay</a:t>
            </a:r>
            <a:r>
              <a:rPr sz="1050" b="0" i="0">
                <a:solidFill>
                  <a:srgbClr val="16213A"/>
                </a:solidFill>
                <a:latin typeface="Arial"/>
                <a:ea typeface="Malgun Gothic"/>
                <a:cs typeface="Malgun Gothic"/>
              </a:rPr>
              <a:t>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누가 줄였나.</a:t>
            </a:r>
            <a:r>
              <a:rPr sz="1050" b="0" i="0">
                <a:solidFill>
                  <a:srgbClr val="16213A"/>
                </a:solidFill>
                <a:latin typeface="Arial"/>
                <a:ea typeface="Malgun Gothic"/>
                <a:cs typeface="Malgun Gothic"/>
              </a:rPr>
              <a:t> 충돌 순간 간격이 줄어드는 속도를 로봇 몫과 보행자 몫으로 나누면 8건 모두 보행자 몫이 크다(0.38–0.74 대 −0.69–0.31 m/s). 6건은 정면으로 걸어오는 보행자 0(0.72–0.75 m/s), 2건은 비스듬히 따라붙는 보행자 4다. 보행자는 반응하지 않는 등속 모델이라 피하는 일은 로봇 몫이다.</a:t>
            </a:r>
          </a:p>
        </p:txBody>
      </p:sp>
      <p:graphicFrame>
        <p:nvGraphicFramePr>
          <p:cNvPr id="7" name="Table 6"/>
          <p:cNvGraphicFramePr>
            <a:graphicFrameLocks noGrp="1"/>
          </p:cNvGraphicFramePr>
          <p:nvPr/>
        </p:nvGraphicFramePr>
        <p:xfrm>
          <a:off x="609600" y="2963267"/>
          <a:ext cx="10966450" cy="788352"/>
        </p:xfrm>
        <a:graphic>
          <a:graphicData uri="http://schemas.openxmlformats.org/drawingml/2006/table">
            <a:tbl>
              <a:tblPr firstRow="1" bandRow="1">
                <a:tableStyleId>{5C22544A-7EE6-4342-B048-85BDC9FD1C3A}</a:tableStyleId>
              </a:tblPr>
              <a:tblGrid>
                <a:gridCol w="2316956"/>
                <a:gridCol w="442218"/>
                <a:gridCol w="1144588"/>
                <a:gridCol w="1508323"/>
                <a:gridCol w="1112540"/>
                <a:gridCol w="4441825"/>
              </a:tblGrid>
              <a:tr h="197088">
                <a:tc>
                  <a:txBody>
                    <a:bodyPr wrap="square"/>
                    <a:lstStyle/>
                    <a:p>
                      <a:r>
                        <a:rPr sz="800" b="1" i="0">
                          <a:solidFill>
                            <a:srgbClr val="F4F1EA"/>
                          </a:solidFill>
                          <a:latin typeface="Arial"/>
                          <a:ea typeface="Malgun Gothic"/>
                          <a:cs typeface="Malgun Gothic"/>
                        </a:rPr>
                        <a:t>장면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건수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충돌 때 로봇 속도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계획이 겹침을 처음 예측</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모든 표본이 걸림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앞선 몇 초</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bumps_potholes L0 s1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0.13–0.24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0.6–0.7 s 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같은 스텝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 s 넘게 0.1–0.2 m/s로 기며 표본 60–90 %가 걸림</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bumps_potholes L3 s9 (planner_d)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0.57–0.60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1.2–1.6 s 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0.6–0.9 s 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0.5–0.8 m/s로 전진, 겹침을 예측하고도 감속하지 않음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random_mix L3 s9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0.77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 s 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 s 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출발부터 보행자 4가 0.8 m 안. 한 칸 통로(TP-0141)라 옆으로 빠질 곳이 없음</a:t>
                      </a:r>
                    </a:p>
                  </a:txBody>
                  <a:tcPr marL="63500" marR="63500" marT="12700" marB="12700">
                    <a:solidFill>
                      <a:srgbClr val="FFFDF8"/>
                    </a:solidFill>
                  </a:tcPr>
                </a:tc>
              </a:tr>
            </a:tbl>
          </a:graphicData>
        </a:graphic>
      </p:graphicFrame>
      <p:sp>
        <p:nvSpPr>
          <p:cNvPr id="8" name="TextBox 7"/>
          <p:cNvSpPr txBox="1"/>
          <p:nvPr/>
        </p:nvSpPr>
        <p:spPr>
          <a:xfrm>
            <a:off x="609600" y="4043958"/>
            <a:ext cx="10972800" cy="13243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메커니즘.</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의 보행자 항은 지평 4 s 안에 한 스텝이라도 겹치면 1000을 더한다. 겹침은 시간에 따라 0.15 m/s씩 팽창한 원판으로 판정한다. 보행자가 가까워지면 먼 스텝의 팽창한 원판이 모든 표본을 덮는다. 그러면 벌점이 모든 표본에 같아 가중치에서 빠지고, 남은 참조·진행 항이 앞으로 가는 표본을 고른다. 피하던 계획(뒷걸음, 옆걸음)이 포화하는 스텝에 버려진다.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what-if(선택된 실패 표본, 판정 아님).</a:t>
            </a:r>
            <a:r>
              <a:rPr sz="1050" b="0" i="0">
                <a:solidFill>
                  <a:srgbClr val="16213A"/>
                </a:solidFill>
                <a:latin typeface="Arial"/>
                <a:ea typeface="Malgun Gothic"/>
                <a:cs typeface="Malgun Gothic"/>
              </a:rPr>
              <a:t> 벌점을 첫 겹침이 이를수록 크게 바꿨다(1000 × (1 + (T − 첫 겹침 스텝)/T), 겹치지 않는 표본보다는 늘 크다). 같은 8건에서 bumps L3 s9 2건과 random_mix L3 s9 2건은 충돌하지 않는다(도달 3, 시간 초과 1). bumps L0 s1 4건은 여전히 충돌한다. 다만 이제는 로봇이 멈춘 채(0.06–0.18 m/s)로 보행자가 와서 부딪힌다. 이 장면에서 남은 문제는 포화가 아니라, 정면 보행자를 옆으로 비킬 만큼 빨리 움직이지 못하는 것이다. 실패한 에피소드만 골라 돌렸으므로 이득의 근거가 아니다. 판정은 720 에피소드 짝 비교로 한다(TP-0161). 스크립트와 원자료는 </a:t>
            </a:r>
            <a:r>
              <a:rPr sz="1050" b="0" i="0">
                <a:solidFill>
                  <a:srgbClr val="16213A"/>
                </a:solidFill>
                <a:latin typeface="Consolas"/>
                <a:ea typeface="Malgun Gothic"/>
                <a:cs typeface="Malgun Gothic"/>
              </a:rPr>
              <a:t>results/tp0160/whatif_graded</a:t>
            </a:r>
            <a:r>
              <a:rPr sz="1050" b="0" i="0">
                <a:solidFill>
                  <a:srgbClr val="16213A"/>
                </a:solidFill>
                <a:latin typeface="Arial"/>
                <a:ea typeface="Malgun Gothic"/>
                <a:cs typeface="Malgun Gothic"/>
              </a:rPr>
              <a:t>다.</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인식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Traversability</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인식 (docs/research-perception.md)    141 / 359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A.13.23 TP-0162 — 정면 보행자를 못 비키는 것은 plant의 조향 한계 때문이다</a:t>
            </a:r>
          </a:p>
          <a:p>
            <a:pPr>
              <a:spcAft>
                <a:spcPts val="400"/>
              </a:spcAft>
            </a:pPr>
            <a:r>
              <a:rPr sz="1000" b="0" i="0">
                <a:solidFill>
                  <a:srgbClr val="C9D1E0"/>
                </a:solidFill>
                <a:latin typeface="Arial"/>
                <a:ea typeface="Malgun Gothic"/>
                <a:cs typeface="Malgun Gothic"/>
              </a:rPr>
              <a:t>A.13.24 TP-0164 — 몸을 먼저 돌리는 표본을 넣으면 정면 보행자를 비킨다</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A.13.25 TP-0161·TP-0165 — 보행자 Controller 두 옵션을 720 에피소드로 판정한다</a:t>
            </a:r>
          </a:p>
          <a:p>
            <a:pPr>
              <a:spcAft>
                <a:spcPts val="400"/>
              </a:spcAft>
            </a:pPr>
            <a:r>
              <a:rPr sz="1000" b="0" i="0">
                <a:solidFill>
                  <a:srgbClr val="C9D1E0"/>
                </a:solidFill>
                <a:latin typeface="Arial"/>
                <a:ea typeface="Malgun Gothic"/>
                <a:cs typeface="Malgun Gothic"/>
              </a:rPr>
              <a:t>A.10 Traversability 추정: 사람 라벨 없이, 불확실성과 함께</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A.13.23 TP-0162 — 정면 보행자를 못 비키는 것은 plant의 조향 한계 때문이다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142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bumps_potholes 레벨 0 seed 1에서 정면 보행자를 못 비키는 원인은 지형 폭이 아니라 plant의 조향 한계(56.2°)다. Controller 난수 10개로 돌리면 충돌이 20회 중 12회다. 조향 한계를 90°로 넓히면 2회, 이상적 운동학이면 0회다.</a:t>
            </a:r>
            <a:r>
              <a:rPr sz="1050" b="0" i="0">
                <a:solidFill>
                  <a:srgbClr val="16213A"/>
                </a:solidFill>
                <a:latin typeface="Arial"/>
                <a:ea typeface="Malgun Gothic"/>
                <a:cs typeface="Malgun Gothic"/>
              </a:rPr>
              <a:t> 조향 한계를 아는 Controller(</a:t>
            </a:r>
            <a:r>
              <a:rPr sz="1050" b="0" i="0">
                <a:solidFill>
                  <a:srgbClr val="16213A"/>
                </a:solidFill>
                <a:latin typeface="Consolas"/>
                <a:ea typeface="Malgun Gothic"/>
                <a:cs typeface="Malgun Gothic"/>
              </a:rPr>
              <a:t>mppi_plant_steer</a:t>
            </a:r>
            <a:r>
              <a:rPr sz="1050" b="0" i="0">
                <a:solidFill>
                  <a:srgbClr val="16213A"/>
                </a:solidFill>
                <a:latin typeface="Arial"/>
                <a:ea typeface="Malgun Gothic"/>
                <a:cs typeface="Malgun Gothic"/>
              </a:rPr>
              <a:t>, TP-0151)는 9회라 잡음 안이다. 한계를 알아도 옆으로 가는 표본이 없으면 비킬 길이 없다.</a:t>
            </a:r>
          </a:p>
        </p:txBody>
      </p:sp>
      <p:sp>
        <p:nvSpPr>
          <p:cNvPr id="6" name="TextBox 5"/>
          <p:cNvSpPr txBox="1"/>
          <p:nvPr/>
        </p:nvSpPr>
        <p:spPr>
          <a:xfrm>
            <a:off x="609600" y="1766491"/>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설정.</a:t>
            </a:r>
            <a:r>
              <a:rPr sz="1050" b="0" i="0">
                <a:solidFill>
                  <a:srgbClr val="16213A"/>
                </a:solidFill>
                <a:latin typeface="Arial"/>
                <a:ea typeface="Malgun Gothic"/>
                <a:cs typeface="Malgun Gothic"/>
              </a:rPr>
              <a:t> TP-0160의 충돌 네 건(planner_df 오프셋 0, guidance·planner_df·planner_d 오프셋 1000)을 권장 L1 + plant + 보행자 5명 +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로 다시 돌렸다. 한 번에 한 가지만 바꿨다. 도구는 </a:t>
            </a:r>
            <a:r>
              <a:rPr sz="1050" b="0" i="0">
                <a:solidFill>
                  <a:srgbClr val="16213A"/>
                </a:solidFill>
                <a:latin typeface="Consolas"/>
                <a:ea typeface="Malgun Gothic"/>
                <a:cs typeface="Malgun Gothic"/>
              </a:rPr>
              <a:t>scripts/diag_headon_ped.py</a:t>
            </a:r>
            <a:r>
              <a:rPr sz="1050" b="0" i="0">
                <a:solidFill>
                  <a:srgbClr val="16213A"/>
                </a:solidFill>
                <a:latin typeface="Arial"/>
                <a:ea typeface="Malgun Gothic"/>
                <a:cs typeface="Malgun Gothic"/>
              </a:rPr>
              <a:t>, 원자료는 </a:t>
            </a:r>
            <a:r>
              <a:rPr sz="1050" b="0" i="0">
                <a:solidFill>
                  <a:srgbClr val="16213A"/>
                </a:solidFill>
                <a:latin typeface="Consolas"/>
                <a:ea typeface="Malgun Gothic"/>
                <a:cs typeface="Malgun Gothic"/>
              </a:rPr>
              <a:t>results/tp0162</a:t>
            </a:r>
            <a:r>
              <a:rPr sz="1050" b="0" i="0">
                <a:solidFill>
                  <a:srgbClr val="16213A"/>
                </a:solidFill>
                <a:latin typeface="Arial"/>
                <a:ea typeface="Malgun Gothic"/>
                <a:cs typeface="Malgun Gothic"/>
              </a:rPr>
              <a:t>다. 에피소드 하나가 GPU에서 4–10 s라 사용자 실행 없이 돌렸다.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지형 폭.</a:t>
            </a:r>
            <a:r>
              <a:rPr sz="1050" b="0" i="0">
                <a:solidFill>
                  <a:srgbClr val="16213A"/>
                </a:solidFill>
                <a:latin typeface="Arial"/>
                <a:ea typeface="Malgun Gothic"/>
                <a:cs typeface="Malgun Gothic"/>
              </a:rPr>
              <a:t> 충돌 지점에서 보행자 진행선의 수직 방향으로 2.5 m 안에 치명 칸이 없다(planner_d만 왼쪽 0.6 m). 정답 지도와 belief 지도가 같다. 지형이 막는 것이 아니다.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한 가지씩 바꾸기(Controller 난수는 벤치마크 그대로, 네 건 중 충돌 수).</a:t>
            </a:r>
          </a:p>
        </p:txBody>
      </p:sp>
      <p:graphicFrame>
        <p:nvGraphicFramePr>
          <p:cNvPr id="7" name="Table 6"/>
          <p:cNvGraphicFramePr>
            <a:graphicFrameLocks noGrp="1"/>
          </p:cNvGraphicFramePr>
          <p:nvPr/>
        </p:nvGraphicFramePr>
        <p:xfrm>
          <a:off x="609600" y="2772172"/>
          <a:ext cx="10966450" cy="1773792"/>
        </p:xfrm>
        <a:graphic>
          <a:graphicData uri="http://schemas.openxmlformats.org/drawingml/2006/table">
            <a:tbl>
              <a:tblPr firstRow="1" bandRow="1">
                <a:tableStyleId>{5C22544A-7EE6-4342-B048-85BDC9FD1C3A}</a:tableStyleId>
              </a:tblPr>
              <a:tblGrid>
                <a:gridCol w="8446591"/>
                <a:gridCol w="2519859"/>
              </a:tblGrid>
              <a:tr h="197088">
                <a:tc>
                  <a:txBody>
                    <a:bodyPr wrap="square"/>
                    <a:lstStyle/>
                    <a:p>
                      <a:r>
                        <a:rPr sz="800" b="1" i="0">
                          <a:solidFill>
                            <a:srgbClr val="F4F1EA"/>
                          </a:solidFill>
                          <a:latin typeface="Arial"/>
                          <a:ea typeface="Malgun Gothic"/>
                          <a:cs typeface="Malgun Gothic"/>
                        </a:rPr>
                        <a:t>바꾼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충돌</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그대로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표본 잡음 2배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표본 4배(3072)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plant 없음(명목 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조향 한계 90°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지연 0.2 → 0.05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보행자 0만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가로지르는 보행자 넷만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0/4</a:t>
                      </a:r>
                    </a:p>
                  </a:txBody>
                  <a:tcPr marL="63500" marR="63500" marT="12700" marB="12700">
                    <a:solidFill>
                      <a:srgbClr val="F3F0E8"/>
                    </a:solidFill>
                  </a:tcPr>
                </a:tc>
              </a:tr>
            </a:tbl>
          </a:graphicData>
        </a:graphic>
      </p:graphicFrame>
      <p:sp>
        <p:nvSpPr>
          <p:cNvPr id="8" name="TextBox 7"/>
          <p:cNvSpPr txBox="1"/>
          <p:nvPr/>
        </p:nvSpPr>
        <p:spPr>
          <a:xfrm>
            <a:off x="609600" y="5084663"/>
            <a:ext cx="10972800" cy="216495"/>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Controller 난수 10개(guidance·planner_d, 오프셋 1000, 각 10회).</a:t>
            </a:r>
            <a:r>
              <a:rPr sz="1050" b="0" i="0">
                <a:solidFill>
                  <a:srgbClr val="16213A"/>
                </a:solidFill>
                <a:latin typeface="Arial"/>
                <a:ea typeface="Malgun Gothic"/>
                <a:cs typeface="Malgun Gothic"/>
              </a:rPr>
              <a:t> 한 판의 4/4는 아슬아슬한 장면이라 근거가 약하다. 그래서 난수를 돌렸다.</a:t>
            </a:r>
          </a:p>
        </p:txBody>
      </p:sp>
      <p:graphicFrame>
        <p:nvGraphicFramePr>
          <p:cNvPr id="9" name="Table 8"/>
          <p:cNvGraphicFramePr>
            <a:graphicFrameLocks noGrp="1"/>
          </p:cNvGraphicFramePr>
          <p:nvPr/>
        </p:nvGraphicFramePr>
        <p:xfrm>
          <a:off x="609600" y="5390059"/>
          <a:ext cx="10966450" cy="591264"/>
        </p:xfrm>
        <a:graphic>
          <a:graphicData uri="http://schemas.openxmlformats.org/drawingml/2006/table">
            <a:tbl>
              <a:tblPr firstRow="1" bandRow="1">
                <a:tableStyleId>{5C22544A-7EE6-4342-B048-85BDC9FD1C3A}</a:tableStyleId>
              </a:tblPr>
              <a:tblGrid>
                <a:gridCol w="4655145"/>
                <a:gridCol w="3817541"/>
                <a:gridCol w="2493764"/>
              </a:tblGrid>
              <a:tr h="197088">
                <a:tc>
                  <a:txBody>
                    <a:bodyPr wrap="square"/>
                    <a:lstStyle/>
                    <a:p>
                      <a:r>
                        <a:rPr sz="800" b="1" i="0">
                          <a:solidFill>
                            <a:srgbClr val="F4F1EA"/>
                          </a:solidFill>
                          <a:latin typeface="Arial"/>
                          <a:ea typeface="Malgun Gothic"/>
                          <a:cs typeface="Malgun Gothic"/>
                        </a:rPr>
                        <a:t>조건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충돌 / 20</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평균 속력</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그대로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0.30 m/s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plant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0.71 m/s</a:t>
                      </a:r>
                    </a:p>
                  </a:txBody>
                  <a:tcPr marL="63500" marR="63500" marT="12700" marB="12700">
                    <a:solidFill>
                      <a:srgbClr val="F3F0E8"/>
                    </a:solidFill>
                  </a:tcPr>
                </a:tc>
              </a:tr>
            </a:tbl>
          </a:graphicData>
        </a:graphic>
      </p:graphicFrame>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A.13.23 TP-0162 — 정면 보행자를 못 비키는 것은 plant의 조향 한계 때문이다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143 / 359</a:t>
            </a:r>
          </a:p>
        </p:txBody>
      </p:sp>
      <p:graphicFrame>
        <p:nvGraphicFramePr>
          <p:cNvPr id="5" name="Table 4"/>
          <p:cNvGraphicFramePr>
            <a:graphicFrameLocks noGrp="1"/>
          </p:cNvGraphicFramePr>
          <p:nvPr/>
        </p:nvGraphicFramePr>
        <p:xfrm>
          <a:off x="609600" y="1244600"/>
          <a:ext cx="10966450" cy="591264"/>
        </p:xfrm>
        <a:graphic>
          <a:graphicData uri="http://schemas.openxmlformats.org/drawingml/2006/table">
            <a:tbl>
              <a:tblPr firstRow="1" bandRow="1">
                <a:tableStyleId>{5C22544A-7EE6-4342-B048-85BDC9FD1C3A}</a:tableStyleId>
              </a:tblPr>
              <a:tblGrid>
                <a:gridCol w="4655145"/>
                <a:gridCol w="3817541"/>
                <a:gridCol w="2493764"/>
              </a:tblGrid>
              <a:tr h="197088">
                <a:tc>
                  <a:txBody>
                    <a:bodyPr wrap="square"/>
                    <a:lstStyle/>
                    <a:p>
                      <a:r>
                        <a:rPr sz="800" b="1" i="0">
                          <a:solidFill>
                            <a:srgbClr val="F4F1EA"/>
                          </a:solidFill>
                          <a:latin typeface="Arial"/>
                          <a:ea typeface="Malgun Gothic"/>
                          <a:cs typeface="Malgun Gothic"/>
                        </a:rPr>
                        <a:t>조건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충돌 / 20</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평균 속력</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조향 한계 90°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mppi_plant_steer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 (+ 시간 초과 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bl>
          </a:graphicData>
        </a:graphic>
      </p:graphicFrame>
      <p:sp>
        <p:nvSpPr>
          <p:cNvPr id="6" name="TextBox 5"/>
          <p:cNvSpPr txBox="1"/>
          <p:nvPr/>
        </p:nvSpPr>
        <p:spPr>
          <a:xfrm>
            <a:off x="609600" y="207893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오프셋 0의 planner_df와 오프셋 1000의 planner_df는 그대로 조건에서 각각 6/10, 3/10이 충돌한다. 네 건 모두 이 장면은 난수에 따라 갈린다.</a:t>
            </a:r>
          </a:p>
        </p:txBody>
      </p:sp>
      <p:sp>
        <p:nvSpPr>
          <p:cNvPr id="7" name="TextBox 6"/>
          <p:cNvSpPr txBox="1"/>
          <p:nvPr/>
        </p:nvSpPr>
        <p:spPr>
          <a:xfrm>
            <a:off x="609600" y="2384326"/>
            <a:ext cx="10972800" cy="8913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해석.</a:t>
            </a:r>
            <a:r>
              <a:rPr sz="1050" b="0" i="0">
                <a:solidFill>
                  <a:srgbClr val="16213A"/>
                </a:solidFill>
                <a:latin typeface="Arial"/>
                <a:ea typeface="Malgun Gothic"/>
                <a:cs typeface="Malgun Gothic"/>
              </a:rPr>
              <a:t> 비동축 스워브는 조향이 ±56.2°라 순수한 옆걸음(90°)을 못 한다. 옆으로 비키려면 먼저 몸을 돌려야 하는데, 로봇이 가로지르는 보행자 넷 사이에서 0.1–0.2 m/s로 기다 보니 정면 보행자(0.75 m/s)가 닿기 전에 돌 시간이 없다. 보행자 0만 있거나 가로지르는 보행자만 있으면 매번 지나간다. 두 무리가 함께 있어야 생기는 충돌이다.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판정.</a:t>
            </a:r>
            <a:r>
              <a:rPr sz="1050" b="0" i="0">
                <a:solidFill>
                  <a:srgbClr val="16213A"/>
                </a:solidFill>
                <a:latin typeface="Arial"/>
                <a:ea typeface="Malgun Gothic"/>
                <a:cs typeface="Malgun Gothic"/>
              </a:rPr>
              <a:t> 표본 잡음은 결과를 흔들지만 원인은 아니다. 지연을 줄이면 일부 풀린다. 가장 큰 몫은 조향 한계다. 고칠 방향은 둘이다. (1) 하드웨어: 모터 사양 56.2°, URDF 90°, 컨트롤러 60°가 서로 다르다. 실제 기구 한계를 확인한다. (2) Controller: 몸 돌리기를 먼저 하는 표본(yaw 우선 prior)을 넣거나 정면 보행자에 더 일찍 반응하게 한다. 이 장면은 seed 10개 짝 비교로 판정한다.</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A.13.24 TP-0164 — 몸을 먼저 돌리는 표본을 넣으면 정면 보행자를 비킨다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144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보행자가 다가올 때만 MPPI 표본의 30 %를 "제자리에서 돌고 나서 전진"·"갈 수 있는 대각선으로 가며 돌기" 평균 주변에서 뽑으면, A.13.23의 장면에서 충돌이 40회 중 21회에서 5회로 준다.</a:t>
            </a:r>
            <a:r>
              <a:rPr sz="1050" b="0" i="0">
                <a:solidFill>
                  <a:srgbClr val="16213A"/>
                </a:solidFill>
                <a:latin typeface="Arial"/>
                <a:ea typeface="Malgun Gothic"/>
                <a:cs typeface="Malgun Gothic"/>
              </a:rPr>
              <a:t> 짝 비교는 기준만 충돌 20 : 이쪽만 충돌 4(부호 검정 p = 0.0015)다. 다만 장면 하나의 결과라 판정이 아니다. 선택 Controller </a:t>
            </a:r>
            <a:r>
              <a:rPr sz="1050" b="0" i="0">
                <a:solidFill>
                  <a:srgbClr val="16213A"/>
                </a:solidFill>
                <a:latin typeface="Consolas"/>
                <a:ea typeface="Malgun Gothic"/>
                <a:cs typeface="Malgun Gothic"/>
              </a:rPr>
              <a:t>mppi_plant_yaw</a:t>
            </a:r>
            <a:r>
              <a:rPr sz="1050" b="0" i="0">
                <a:solidFill>
                  <a:srgbClr val="16213A"/>
                </a:solidFill>
                <a:latin typeface="Arial"/>
                <a:ea typeface="Malgun Gothic"/>
                <a:cs typeface="Malgun Gothic"/>
              </a:rPr>
              <a:t>로만 둔다.</a:t>
            </a:r>
          </a:p>
        </p:txBody>
      </p:sp>
      <p:sp>
        <p:nvSpPr>
          <p:cNvPr id="6" name="TextBox 5"/>
          <p:cNvSpPr txBox="1"/>
          <p:nvPr/>
        </p:nvSpPr>
        <p:spPr>
          <a:xfrm>
            <a:off x="609600" y="1766491"/>
            <a:ext cx="10972800" cy="15662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YawFirstMPPIController</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control/mppi/plant_aware.py</a:t>
            </a:r>
            <a:r>
              <a:rPr sz="1050" b="0" i="0">
                <a:solidFill>
                  <a:srgbClr val="16213A"/>
                </a:solidFill>
                <a:latin typeface="Arial"/>
                <a:ea typeface="Malgun Gothic"/>
                <a:cs typeface="Malgun Gothic"/>
              </a:rPr>
              <a:t>)가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를 잇는다. 최적화기(</a:t>
            </a:r>
            <a:r>
              <a:rPr sz="1050" b="0" i="0">
                <a:solidFill>
                  <a:srgbClr val="16213A"/>
                </a:solidFill>
                <a:latin typeface="Consolas"/>
                <a:ea typeface="Malgun Gothic"/>
                <a:cs typeface="Malgun Gothic"/>
              </a:rPr>
              <a:t>mppi.py</a:t>
            </a:r>
            <a:r>
              <a:rPr sz="1050" b="0" i="0">
                <a:solidFill>
                  <a:srgbClr val="16213A"/>
                </a:solidFill>
                <a:latin typeface="Arial"/>
                <a:ea typeface="Malgun Gothic"/>
                <a:cs typeface="Malgun Gothic"/>
              </a:rPr>
              <a:t>)는 그대로다. 6 m 안의 보행자가 0.3 m/s보다 빠르게 다가오면 warm start 몫 표본의 30 %를 네 평균 주변에서 뽑는다. 좌우로 1.2 s 동안 최대 각속도로 돈 뒤 0.6 m/s로 전진하는 것, 그리고 조향 한계(56.2°) 대각선으로 가며 반 속도로 도는 것이다. 그 밖에는 표본과 난수 흐름이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와 같다. 그래서 보행자가 없는 에피소드의 결과는 바뀌지 않는다(</a:t>
            </a:r>
            <a:r>
              <a:rPr sz="1050" b="0" i="0">
                <a:solidFill>
                  <a:srgbClr val="16213A"/>
                </a:solidFill>
                <a:latin typeface="Consolas"/>
                <a:ea typeface="Malgun Gothic"/>
                <a:cs typeface="Malgun Gothic"/>
              </a:rPr>
              <a:t>tests/test_yaw_first_mppi.py</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처음 설정은 효과가 없었다.</a:t>
            </a:r>
            <a:r>
              <a:rPr sz="1050" b="0" i="0">
                <a:solidFill>
                  <a:srgbClr val="16213A"/>
                </a:solidFill>
                <a:latin typeface="Arial"/>
                <a:ea typeface="Malgun Gothic"/>
                <a:cs typeface="Malgun Gothic"/>
              </a:rPr>
              <a:t> 3 m 안·표본 15 %에서는 seed 0이 그대로 충돌했다. 계기가 충돌 3 s 전에야 켜졌고, 그때는 돈 표본도 80 % 넘게 보행자 hard 벌점에 걸렸다(A.13.22의 포화). 6 m · 30 %는 그 한 에피소드(planner_df 오프셋 0, Controller 난수 0)로 고른 값이다. 아래 40 에피소드에 그 하나가 들어 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결과(bumps_potholes 레벨 0 seed 1, 권장 L1 + plant + 보행자 5명, 네 스택 × Controller 난수 0–9).</a:t>
            </a:r>
            <a:r>
              <a:rPr sz="1050" b="0" i="0">
                <a:solidFill>
                  <a:srgbClr val="16213A"/>
                </a:solidFill>
                <a:latin typeface="Arial"/>
                <a:ea typeface="Malgun Gothic"/>
                <a:cs typeface="Malgun Gothic"/>
              </a:rPr>
              <a:t> 도구는 </a:t>
            </a:r>
            <a:r>
              <a:rPr sz="1050" b="0" i="0">
                <a:solidFill>
                  <a:srgbClr val="16213A"/>
                </a:solidFill>
                <a:latin typeface="Consolas"/>
                <a:ea typeface="Malgun Gothic"/>
                <a:cs typeface="Malgun Gothic"/>
              </a:rPr>
              <a:t>scripts/diag_headon_ped.py --variants yaw_first</a:t>
            </a:r>
            <a:r>
              <a:rPr sz="1050" b="0" i="0">
                <a:solidFill>
                  <a:srgbClr val="16213A"/>
                </a:solidFill>
                <a:latin typeface="Arial"/>
                <a:ea typeface="Malgun Gothic"/>
                <a:cs typeface="Malgun Gothic"/>
              </a:rPr>
              <a:t>, 원자료는 </a:t>
            </a:r>
            <a:r>
              <a:rPr sz="1050" b="0" i="0">
                <a:solidFill>
                  <a:srgbClr val="16213A"/>
                </a:solidFill>
                <a:latin typeface="Consolas"/>
                <a:ea typeface="Malgun Gothic"/>
                <a:cs typeface="Malgun Gothic"/>
              </a:rPr>
              <a:t>results/tp0164</a:t>
            </a:r>
            <a:r>
              <a:rPr sz="1050" b="0" i="0">
                <a:solidFill>
                  <a:srgbClr val="16213A"/>
                </a:solidFill>
                <a:latin typeface="Arial"/>
                <a:ea typeface="Malgun Gothic"/>
                <a:cs typeface="Malgun Gothic"/>
              </a:rPr>
              <a:t>다. 기준은 A.13.23의 </a:t>
            </a:r>
            <a:r>
              <a:rPr sz="1050" b="0" i="0">
                <a:solidFill>
                  <a:srgbClr val="16213A"/>
                </a:solidFill>
                <a:latin typeface="Consolas"/>
                <a:ea typeface="Malgun Gothic"/>
                <a:cs typeface="Malgun Gothic"/>
              </a:rPr>
              <a:t>results/tp0162/seeds_base_*.csv</a:t>
            </a:r>
            <a:r>
              <a:rPr sz="1050" b="0" i="0">
                <a:solidFill>
                  <a:srgbClr val="16213A"/>
                </a:solidFill>
                <a:latin typeface="Arial"/>
                <a:ea typeface="Malgun Gothic"/>
                <a:cs typeface="Malgun Gothic"/>
              </a:rPr>
              <a:t>다.</a:t>
            </a:r>
          </a:p>
        </p:txBody>
      </p:sp>
      <p:graphicFrame>
        <p:nvGraphicFramePr>
          <p:cNvPr id="7" name="Table 6"/>
          <p:cNvGraphicFramePr>
            <a:graphicFrameLocks noGrp="1"/>
          </p:cNvGraphicFramePr>
          <p:nvPr/>
        </p:nvGraphicFramePr>
        <p:xfrm>
          <a:off x="609600" y="3421658"/>
          <a:ext cx="10966450" cy="1182528"/>
        </p:xfrm>
        <a:graphic>
          <a:graphicData uri="http://schemas.openxmlformats.org/drawingml/2006/table">
            <a:tbl>
              <a:tblPr firstRow="1" bandRow="1">
                <a:tableStyleId>{5C22544A-7EE6-4342-B048-85BDC9FD1C3A}</a:tableStyleId>
              </a:tblPr>
              <a:tblGrid>
                <a:gridCol w="3199408"/>
                <a:gridCol w="3883422"/>
                <a:gridCol w="3883620"/>
              </a:tblGrid>
              <a:tr h="197088">
                <a:tc>
                  <a:txBody>
                    <a:bodyPr wrap="square"/>
                    <a:lstStyle/>
                    <a:p>
                      <a:r>
                        <a:rPr sz="800" b="1" i="0">
                          <a:solidFill>
                            <a:srgbClr val="F4F1EA"/>
                          </a:solidFill>
                          <a:latin typeface="Arial"/>
                          <a:ea typeface="Malgun Gothic"/>
                          <a:cs typeface="Malgun Gothic"/>
                        </a:rPr>
                        <a:t>스택(오프셋)</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mppi_plant_lag</a:t>
                      </a:r>
                      <a:r>
                        <a:rPr sz="800" b="1" i="0">
                          <a:solidFill>
                            <a:srgbClr val="F4F1EA"/>
                          </a:solidFill>
                          <a:latin typeface="Arial"/>
                          <a:ea typeface="Malgun Gothic"/>
                          <a:cs typeface="Malgun Gothic"/>
                        </a:rPr>
                        <a:t> 충돌</a:t>
                      </a:r>
                    </a:p>
                  </a:txBody>
                  <a:tcPr marL="63500" marR="63500" marT="12700" marB="12700">
                    <a:solidFill>
                      <a:srgbClr val="16213A"/>
                    </a:solidFill>
                  </a:tcPr>
                </a:tc>
                <a:tc>
                  <a:txBody>
                    <a:bodyPr wrap="square"/>
                    <a:lstStyle/>
                    <a:p>
                      <a:r>
                        <a:rPr sz="800" b="1" i="0">
                          <a:solidFill>
                            <a:srgbClr val="F4F1EA"/>
                          </a:solidFill>
                          <a:latin typeface="Consolas"/>
                          <a:ea typeface="Malgun Gothic"/>
                          <a:cs typeface="Malgun Gothic"/>
                        </a:rPr>
                        <a:t>mppi_plant_yaw</a:t>
                      </a:r>
                      <a:r>
                        <a:rPr sz="800" b="1" i="0">
                          <a:solidFill>
                            <a:srgbClr val="F4F1EA"/>
                          </a:solidFill>
                          <a:latin typeface="Arial"/>
                          <a:ea typeface="Malgun Gothic"/>
                          <a:cs typeface="Malgun Gothic"/>
                        </a:rPr>
                        <a:t> 충돌</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planner_df(0)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guidance(1000)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3/10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planner_df(1000)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2/10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planner_d(1000)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0/10 (시간 초과 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21/40</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5/40</a:t>
                      </a:r>
                    </a:p>
                  </a:txBody>
                  <a:tcPr marL="63500" marR="63500" marT="12700" marB="12700">
                    <a:solidFill>
                      <a:srgbClr val="FFFDF8"/>
                    </a:solidFill>
                  </a:tcPr>
                </a:tc>
              </a:tr>
            </a:tbl>
          </a:graphicData>
        </a:graphic>
      </p:graphicFrame>
      <p:sp>
        <p:nvSpPr>
          <p:cNvPr id="8" name="TextBox 7"/>
          <p:cNvSpPr txBox="1"/>
          <p:nvPr/>
        </p:nvSpPr>
        <p:spPr>
          <a:xfrm>
            <a:off x="609600" y="4995069"/>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도달은 19/40에서 34/40이 됐다(기준만 도달 5 : 이쪽만 도달 20). 시간 초과 하나는 planner_d 난수 0이 6.6 m만 가고 멈춘 것이다.</a:t>
            </a:r>
          </a:p>
        </p:txBody>
      </p:sp>
      <p:sp>
        <p:nvSpPr>
          <p:cNvPr id="9" name="TextBox 8"/>
          <p:cNvSpPr txBox="1"/>
          <p:nvPr/>
        </p:nvSpPr>
        <p:spPr>
          <a:xfrm>
            <a:off x="609600" y="5300464"/>
            <a:ext cx="10972800" cy="4329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남은 것.</a:t>
            </a:r>
            <a:r>
              <a:rPr sz="1050" b="0" i="0">
                <a:solidFill>
                  <a:srgbClr val="16213A"/>
                </a:solidFill>
                <a:latin typeface="Arial"/>
                <a:ea typeface="Malgun Gothic"/>
                <a:cs typeface="Malgun Gothic"/>
              </a:rPr>
              <a:t> 이 장면만 쟀다. 기본값 후보가 되려면 TP-0154의 720 에피소드(레벨 0·3 × seed 10 × 오프셋 3 × 세 스택)를 같은 판정 절차로 다시 재야 한다. 치명이 늘지 않아야 한다. 실행이 2분을 넘어 사용자·대화형 세션 몫이다(TP-0165). 등급화 벌점(TP-0161)과 함께 쓰면 계기가 늦게 켜져도 표본 사이에 차이가 남을 수 있다.</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A.13.25 TP-0161·TP-0165 — 보행자 Controller 두 옵션을 720 에피소드로 판정한다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145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등급화 벌점 mppi_plant_lag_pg는 충돌을 8건에서 4건으로 줄이고 다른 결과는 바꾸지 않았다. 몸 먼저 돌리기 mppi_plant_yaw는 충돌이 8건에서 9건으로 늘어 기본값 후보가 아니다.</a:t>
            </a:r>
            <a:r>
              <a:rPr sz="1050" b="0" i="0">
                <a:solidFill>
                  <a:srgbClr val="16213A"/>
                </a:solidFill>
                <a:latin typeface="Arial"/>
                <a:ea typeface="Malgun Gothic"/>
                <a:cs typeface="Malgun Gothic"/>
              </a:rPr>
              <a:t> 두 옵션 모두 도달 수의 차이는 잡음 바닥 안이다. 치명은 </a:t>
            </a:r>
            <a:r>
              <a:rPr sz="1050" b="0" i="0">
                <a:solidFill>
                  <a:srgbClr val="16213A"/>
                </a:solidFill>
                <a:latin typeface="Consolas"/>
                <a:ea typeface="Malgun Gothic"/>
                <a:cs typeface="Malgun Gothic"/>
              </a:rPr>
              <a:t>_pg</a:t>
            </a:r>
            <a:r>
              <a:rPr sz="1050" b="0" i="0">
                <a:solidFill>
                  <a:srgbClr val="16213A"/>
                </a:solidFill>
                <a:latin typeface="Arial"/>
                <a:ea typeface="Malgun Gothic"/>
                <a:cs typeface="Malgun Gothic"/>
              </a:rPr>
              <a:t>가 10건 그대로, </a:t>
            </a:r>
            <a:r>
              <a:rPr sz="1050" b="0" i="0">
                <a:solidFill>
                  <a:srgbClr val="16213A"/>
                </a:solidFill>
                <a:latin typeface="Consolas"/>
                <a:ea typeface="Malgun Gothic"/>
                <a:cs typeface="Malgun Gothic"/>
              </a:rPr>
              <a:t>_yaw</a:t>
            </a:r>
            <a:r>
              <a:rPr sz="1050" b="0" i="0">
                <a:solidFill>
                  <a:srgbClr val="16213A"/>
                </a:solidFill>
                <a:latin typeface="Arial"/>
                <a:ea typeface="Malgun Gothic"/>
                <a:cs typeface="Malgun Gothic"/>
              </a:rPr>
              <a:t>가 10건에서 8건이다.</a:t>
            </a:r>
          </a:p>
        </p:txBody>
      </p:sp>
      <p:sp>
        <p:nvSpPr>
          <p:cNvPr id="6" name="TextBox 5"/>
          <p:cNvSpPr txBox="1"/>
          <p:nvPr/>
        </p:nvSpPr>
        <p:spPr>
          <a:xfrm>
            <a:off x="609600" y="1766491"/>
            <a:ext cx="10972800" cy="8659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설정.</a:t>
            </a:r>
            <a:r>
              <a:rPr sz="1050" b="0" i="0">
                <a:solidFill>
                  <a:srgbClr val="16213A"/>
                </a:solidFill>
                <a:latin typeface="Arial"/>
                <a:ea typeface="Malgun Gothic"/>
                <a:cs typeface="Malgun Gothic"/>
              </a:rPr>
              <a:t> TP-0154와 같다. 권장 L1 + </a:t>
            </a:r>
            <a:r>
              <a:rPr sz="1050" b="0" i="0">
                <a:solidFill>
                  <a:srgbClr val="16213A"/>
                </a:solidFill>
                <a:latin typeface="Consolas"/>
                <a:ea typeface="Malgun Gothic"/>
                <a:cs typeface="Malgun Gothic"/>
              </a:rPr>
              <a:t>--plant</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--pedestrians 5</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--device cuda</a:t>
            </a:r>
            <a:r>
              <a:rPr sz="1050" b="0" i="0">
                <a:solidFill>
                  <a:srgbClr val="16213A"/>
                </a:solidFill>
                <a:latin typeface="Arial"/>
                <a:ea typeface="Malgun Gothic"/>
                <a:cs typeface="Malgun Gothic"/>
              </a:rPr>
              <a:t>, 스택 guidance·planner_df·planner_d, Planner D 체크포인트 </a:t>
            </a:r>
            <a:r>
              <a:rPr sz="1050" b="0" i="0">
                <a:solidFill>
                  <a:srgbClr val="16213A"/>
                </a:solidFill>
                <a:latin typeface="Consolas"/>
                <a:ea typeface="Malgun Gothic"/>
                <a:cs typeface="Malgun Gothic"/>
              </a:rPr>
              <a:t>planner_d_L0123_rl.pt</a:t>
            </a:r>
            <a:r>
              <a:rPr sz="1050" b="0" i="0">
                <a:solidFill>
                  <a:srgbClr val="16213A"/>
                </a:solidFill>
                <a:latin typeface="Arial"/>
                <a:ea typeface="Malgun Gothic"/>
                <a:cs typeface="Malgun Gothic"/>
              </a:rPr>
              <a:t>다. 레벨 0·3 × seed 0–9 × 오프셋 0·1000·2000이라 팔마다 720 에피소드다. 기준 팔은 TP-0154의 원자료(</a:t>
            </a:r>
            <a:r>
              <a:rPr sz="1050" b="0" i="0">
                <a:solidFill>
                  <a:srgbClr val="16213A"/>
                </a:solidFill>
                <a:latin typeface="Consolas"/>
                <a:ea typeface="Malgun Gothic"/>
                <a:cs typeface="Malgun Gothic"/>
              </a:rPr>
              <a:t>results/tp0154/ped5_plant</a:t>
            </a:r>
            <a:r>
              <a:rPr sz="1050" b="0" i="0">
                <a:solidFill>
                  <a:srgbClr val="16213A"/>
                </a:solidFill>
                <a:latin typeface="Arial"/>
                <a:ea typeface="Malgun Gothic"/>
                <a:cs typeface="Malgun Gothic"/>
              </a:rPr>
              <a:t>)를 그대로 썼다. 같은 설정으로 기준 묶음 하나(레벨 0 bumps_potholes 오프셋 0, 30 에피소드)를 다시 돌려 성공·실패 유형·시간·최소 여유가 모두 같은 것을 먼저 확인했다. Planner D 체크포인트를 기본값(</a:t>
            </a:r>
            <a:r>
              <a:rPr sz="1050" b="0" i="0">
                <a:solidFill>
                  <a:srgbClr val="16213A"/>
                </a:solidFill>
                <a:latin typeface="Consolas"/>
                <a:ea typeface="Malgun Gothic"/>
                <a:cs typeface="Malgun Gothic"/>
              </a:rPr>
              <a:t>planner_d.pt</a:t>
            </a:r>
            <a:r>
              <a:rPr sz="1050" b="0" i="0">
                <a:solidFill>
                  <a:srgbClr val="16213A"/>
                </a:solidFill>
                <a:latin typeface="Arial"/>
                <a:ea typeface="Malgun Gothic"/>
                <a:cs typeface="Malgun Gothic"/>
              </a:rPr>
              <a:t>)으로 두면 이 재현이 깨진다. 원자료는 </a:t>
            </a:r>
            <a:r>
              <a:rPr sz="1050" b="0" i="0">
                <a:solidFill>
                  <a:srgbClr val="16213A"/>
                </a:solidFill>
                <a:latin typeface="Consolas"/>
                <a:ea typeface="Malgun Gothic"/>
                <a:cs typeface="Malgun Gothic"/>
              </a:rPr>
              <a:t>results/tp0161_0165</a:t>
            </a:r>
            <a:r>
              <a:rPr sz="1050" b="0" i="0">
                <a:solidFill>
                  <a:srgbClr val="16213A"/>
                </a:solidFill>
                <a:latin typeface="Arial"/>
                <a:ea typeface="Malgun Gothic"/>
                <a:cs typeface="Malgun Gothic"/>
              </a:rPr>
              <a:t>다. 8 프로세스로 약 1시간이 걸렸다.</a:t>
            </a:r>
          </a:p>
        </p:txBody>
      </p:sp>
      <p:graphicFrame>
        <p:nvGraphicFramePr>
          <p:cNvPr id="7" name="Table 6"/>
          <p:cNvGraphicFramePr>
            <a:graphicFrameLocks noGrp="1"/>
          </p:cNvGraphicFramePr>
          <p:nvPr/>
        </p:nvGraphicFramePr>
        <p:xfrm>
          <a:off x="609600" y="2721372"/>
          <a:ext cx="10966450" cy="788352"/>
        </p:xfrm>
        <a:graphic>
          <a:graphicData uri="http://schemas.openxmlformats.org/drawingml/2006/table">
            <a:tbl>
              <a:tblPr firstRow="1" bandRow="1">
                <a:tableStyleId>{5C22544A-7EE6-4342-B048-85BDC9FD1C3A}</a:tableStyleId>
              </a:tblPr>
              <a:tblGrid>
                <a:gridCol w="4156373"/>
                <a:gridCol w="1397794"/>
                <a:gridCol w="834132"/>
                <a:gridCol w="834132"/>
                <a:gridCol w="1351855"/>
                <a:gridCol w="2392164"/>
              </a:tblGrid>
              <a:tr h="197088">
                <a:tc>
                  <a:txBody>
                    <a:bodyPr wrap="square"/>
                    <a:lstStyle/>
                    <a:p>
                      <a:r>
                        <a:rPr sz="800" b="1" i="0">
                          <a:solidFill>
                            <a:srgbClr val="F4F1EA"/>
                          </a:solidFill>
                          <a:latin typeface="Arial"/>
                          <a:ea typeface="Malgun Gothic"/>
                          <a:cs typeface="Malgun Gothic"/>
                        </a:rPr>
                        <a:t>팔</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충돌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치명</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시간 초과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최소 여유 p5 · p50</a:t>
                      </a:r>
                    </a:p>
                  </a:txBody>
                  <a:tcPr marL="63500" marR="63500" marT="12700" marB="12700">
                    <a:solidFill>
                      <a:srgbClr val="16213A"/>
                    </a:solidFill>
                  </a:tcPr>
                </a:tc>
              </a:tr>
              <a:tr h="197088">
                <a:tc>
                  <a:txBody>
                    <a:bodyPr wrap="square"/>
                    <a:lstStyle/>
                    <a:p>
                      <a:r>
                        <a:rPr sz="800" b="0" i="0">
                          <a:solidFill>
                            <a:srgbClr val="16213A"/>
                          </a:solidFill>
                          <a:latin typeface="Consolas"/>
                          <a:ea typeface="Malgun Gothic"/>
                          <a:cs typeface="Malgun Gothic"/>
                        </a:rPr>
                        <a:t>mppi_plant_lag</a:t>
                      </a:r>
                      <a:r>
                        <a:rPr sz="800" b="0" i="0">
                          <a:solidFill>
                            <a:srgbClr val="16213A"/>
                          </a:solidFill>
                          <a:latin typeface="Arial"/>
                          <a:ea typeface="Malgun Gothic"/>
                          <a:cs typeface="Malgun Gothic"/>
                        </a:rPr>
                        <a:t>(기준, TP-0154)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568/720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0.13 · 0.60 m</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mppi_plant_lag_pg</a:t>
                      </a:r>
                      <a:r>
                        <a:rPr sz="800" b="0" i="0">
                          <a:solidFill>
                            <a:srgbClr val="16213A"/>
                          </a:solidFill>
                          <a:latin typeface="Arial"/>
                          <a:ea typeface="Malgun Gothic"/>
                          <a:cs typeface="Malgun Gothic"/>
                        </a:rPr>
                        <a:t>(TP-0161)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571/720</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0.13 · 0.60 m</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mppi_plant_yaw</a:t>
                      </a:r>
                      <a:r>
                        <a:rPr sz="800" b="0" i="0">
                          <a:solidFill>
                            <a:srgbClr val="16213A"/>
                          </a:solidFill>
                          <a:latin typeface="Arial"/>
                          <a:ea typeface="Malgun Gothic"/>
                          <a:cs typeface="Malgun Gothic"/>
                        </a:rPr>
                        <a:t>(TP-0165)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573/720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0.12 · 0.60 m</a:t>
                      </a:r>
                    </a:p>
                  </a:txBody>
                  <a:tcPr marL="63500" marR="63500" marT="12700" marB="12700">
                    <a:solidFill>
                      <a:srgbClr val="FFFDF8"/>
                    </a:solidFill>
                  </a:tcPr>
                </a:tc>
              </a:tr>
            </a:tbl>
          </a:graphicData>
        </a:graphic>
      </p:graphicFrame>
      <p:graphicFrame>
        <p:nvGraphicFramePr>
          <p:cNvPr id="8" name="Table 7"/>
          <p:cNvGraphicFramePr>
            <a:graphicFrameLocks noGrp="1"/>
          </p:cNvGraphicFramePr>
          <p:nvPr/>
        </p:nvGraphicFramePr>
        <p:xfrm>
          <a:off x="609600" y="3802062"/>
          <a:ext cx="10966449" cy="591264"/>
        </p:xfrm>
        <a:graphic>
          <a:graphicData uri="http://schemas.openxmlformats.org/drawingml/2006/table">
            <a:tbl>
              <a:tblPr firstRow="1" bandRow="1">
                <a:tableStyleId>{5C22544A-7EE6-4342-B048-85BDC9FD1C3A}</a:tableStyleId>
              </a:tblPr>
              <a:tblGrid>
                <a:gridCol w="4740275"/>
                <a:gridCol w="1441648"/>
                <a:gridCol w="1441648"/>
                <a:gridCol w="1441648"/>
                <a:gridCol w="1901230"/>
              </a:tblGrid>
              <a:tr h="197088">
                <a:tc>
                  <a:txBody>
                    <a:bodyPr wrap="square"/>
                    <a:lstStyle/>
                    <a:p>
                      <a:r>
                        <a:rPr sz="800" b="1" i="0">
                          <a:solidFill>
                            <a:srgbClr val="F4F1EA"/>
                          </a:solidFill>
                          <a:latin typeface="Arial"/>
                          <a:ea typeface="Malgun Gothic"/>
                          <a:cs typeface="Malgun Gothic"/>
                        </a:rPr>
                        <a:t>짝 비교(기준만 도달 : 옵션만 도달)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레벨 0</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레벨 3</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합</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부호 검정 p</a:t>
                      </a:r>
                    </a:p>
                  </a:txBody>
                  <a:tcPr marL="63500" marR="63500" marT="12700" marB="12700">
                    <a:solidFill>
                      <a:srgbClr val="16213A"/>
                    </a:solidFill>
                  </a:tcPr>
                </a:tc>
              </a:tr>
              <a:tr h="197088">
                <a:tc>
                  <a:txBody>
                    <a:bodyPr wrap="square"/>
                    <a:lstStyle/>
                    <a:p>
                      <a:r>
                        <a:rPr sz="800" b="0" i="0">
                          <a:solidFill>
                            <a:srgbClr val="16213A"/>
                          </a:solidFill>
                          <a:latin typeface="Consolas"/>
                          <a:ea typeface="Malgun Gothic"/>
                          <a:cs typeface="Malgun Gothic"/>
                        </a:rPr>
                        <a:t>_pg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 : 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 : 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 : 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0.25</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_yaw</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 : 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 : 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 : 29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0.58</a:t>
                      </a:r>
                    </a:p>
                  </a:txBody>
                  <a:tcPr marL="63500" marR="63500" marT="12700" marB="12700">
                    <a:solidFill>
                      <a:srgbClr val="F3F0E8"/>
                    </a:solidFill>
                  </a:tcPr>
                </a:tc>
              </a:tr>
            </a:tbl>
          </a:graphicData>
        </a:graphic>
      </p:graphicFrame>
      <p:sp>
        <p:nvSpPr>
          <p:cNvPr id="9" name="TextBox 8"/>
          <p:cNvSpPr txBox="1"/>
          <p:nvPr/>
        </p:nvSpPr>
        <p:spPr>
          <a:xfrm>
            <a:off x="609600" y="463639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잡음 바닥은 같은 팔의 두 오프셋 사이에서 도달이 뒤집힌 수의 평균이다. 레벨 0은 120 에피소드 중 10, 레벨 3은 6이다. 두 옵션의 차이는 모두 그 안이다.</a:t>
            </a:r>
          </a:p>
        </p:txBody>
      </p:sp>
      <p:sp>
        <p:nvSpPr>
          <p:cNvPr id="10" name="TextBox 9"/>
          <p:cNvSpPr txBox="1"/>
          <p:nvPr/>
        </p:nvSpPr>
        <p:spPr>
          <a:xfrm>
            <a:off x="609600" y="4941788"/>
            <a:ext cx="10972800" cy="11078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Consolas"/>
                <a:ea typeface="Malgun Gothic"/>
                <a:cs typeface="Malgun Gothic"/>
              </a:rPr>
              <a:t>_pg</a:t>
            </a:r>
            <a:r>
              <a:rPr sz="1050" b="1" i="0">
                <a:solidFill>
                  <a:srgbClr val="16213A"/>
                </a:solidFill>
                <a:latin typeface="Arial"/>
                <a:ea typeface="Malgun Gothic"/>
                <a:cs typeface="Malgun Gothic"/>
              </a:rPr>
              <a:t>는 포화한 장면에서만 다르게 움직인다.</a:t>
            </a:r>
            <a:r>
              <a:rPr sz="1050" b="0" i="0">
                <a:solidFill>
                  <a:srgbClr val="16213A"/>
                </a:solidFill>
                <a:latin typeface="Arial"/>
                <a:ea typeface="Malgun Gothic"/>
                <a:cs typeface="Malgun Gothic"/>
              </a:rPr>
              <a:t> 레벨 0의 360 에피소드는 기준과 결과가 모두 같았다. 레벨 3에서 바뀐 것은 기준의 충돌 4건(bumps L3 s9 둘, random_mix L3 s9 둘)이 모두 피한 것이다. 셋은 도달, 하나는 시간 초과가 됐다. A.13.22의 what-if가 피할 것이라 본 네 건과 정확히 같다. 남은 충돌 4건은 bumps L0 s1(A.13.23의 정면 보행자)이다. 벌점을 등급화해도 조향 한계 때문에 옆으로 비키지 못한다.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Consolas"/>
                <a:ea typeface="Malgun Gothic"/>
                <a:cs typeface="Malgun Gothic"/>
              </a:rPr>
              <a:t>_yaw</a:t>
            </a:r>
            <a:r>
              <a:rPr sz="1050" b="1" i="0">
                <a:solidFill>
                  <a:srgbClr val="16213A"/>
                </a:solidFill>
                <a:latin typeface="Arial"/>
                <a:ea typeface="Malgun Gothic"/>
                <a:cs typeface="Malgun Gothic"/>
              </a:rPr>
              <a:t>는 목표 장면은 고치지만 다른 곳에서 충돌이 생긴다.</a:t>
            </a:r>
            <a:r>
              <a:rPr sz="1050" b="0" i="0">
                <a:solidFill>
                  <a:srgbClr val="16213A"/>
                </a:solidFill>
                <a:latin typeface="Arial"/>
                <a:ea typeface="Malgun Gothic"/>
                <a:cs typeface="Malgun Gothic"/>
              </a:rPr>
              <a:t> bumps L0 s1의 충돌 4건은 모두 사라졌다(A.13.24와 같은 방향). 대신 새 충돌 9건이 생겼다. 레벨 0의 guidance bumps s5·s7(오프셋 1000), random_mix s7, slope_crossfall s2와, 레벨 3의 다섯 건이다. 새 충돌의 원인은 진단하지 않았다. 6 m · 30 %는 장면 하나에서 고른 값이라, 그 장면 밖에서는 이득이 상쇄됐다.</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A.13.25 TP-0161·TP-0165 — 보행자 Controller 두 옵션을 720 에피소드로 판정한다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146 / 359</a:t>
            </a:r>
          </a:p>
        </p:txBody>
      </p:sp>
      <p:sp>
        <p:nvSpPr>
          <p:cNvPr id="5" name="TextBox 4"/>
          <p:cNvSpPr txBox="1"/>
          <p:nvPr/>
        </p:nvSpPr>
        <p:spPr>
          <a:xfrm>
            <a:off x="609600" y="1244600"/>
            <a:ext cx="10972800" cy="8913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판정(CLAUDE.md 2층).</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_pg</a:t>
            </a:r>
            <a:r>
              <a:rPr sz="1050" b="0" i="0">
                <a:solidFill>
                  <a:srgbClr val="16213A"/>
                </a:solidFill>
                <a:latin typeface="Arial"/>
                <a:ea typeface="Malgun Gothic"/>
                <a:cs typeface="Malgun Gothic"/>
              </a:rPr>
              <a:t>는 치명이 같고 충돌이 줄어 두 안전 조건을 지킨다. 도달은 잡음 안이다. 기준보다 나빠진 에피소드가 하나도 없다. </a:t>
            </a:r>
            <a:r>
              <a:rPr sz="1050" b="0" i="0">
                <a:solidFill>
                  <a:srgbClr val="16213A"/>
                </a:solidFill>
                <a:latin typeface="Consolas"/>
                <a:ea typeface="Malgun Gothic"/>
                <a:cs typeface="Malgun Gothic"/>
              </a:rPr>
              <a:t>_yaw</a:t>
            </a:r>
            <a:r>
              <a:rPr sz="1050" b="0" i="0">
                <a:solidFill>
                  <a:srgbClr val="16213A"/>
                </a:solidFill>
                <a:latin typeface="Arial"/>
                <a:ea typeface="Malgun Gothic"/>
                <a:cs typeface="Malgun Gothic"/>
              </a:rPr>
              <a:t>는 충돌이 하나 늘어 "충돌률 기준 대비 늘지 않음"을 지키지 못한다. 선택 항목으로만 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남은 것.</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_pg</a:t>
            </a:r>
            <a:r>
              <a:rPr sz="1050" b="0" i="0">
                <a:solidFill>
                  <a:srgbClr val="16213A"/>
                </a:solidFill>
                <a:latin typeface="Arial"/>
                <a:ea typeface="Malgun Gothic"/>
                <a:cs typeface="Malgun Gothic"/>
              </a:rPr>
              <a:t>를 plant 조건의 배포 Controller로 바꿀지는 사용자 결정이다(지금 </a:t>
            </a:r>
            <a:r>
              <a:rPr sz="1050" b="0" i="0">
                <a:solidFill>
                  <a:srgbClr val="16213A"/>
                </a:solidFill>
                <a:latin typeface="Consolas"/>
                <a:ea typeface="Malgun Gothic"/>
                <a:cs typeface="Malgun Gothic"/>
              </a:rPr>
              <a:t>planner_df+mppi_plant_lag</a:t>
            </a:r>
            <a:r>
              <a:rPr sz="1050" b="0" i="0">
                <a:solidFill>
                  <a:srgbClr val="16213A"/>
                </a:solidFill>
                <a:latin typeface="Arial"/>
                <a:ea typeface="Malgun Gothic"/>
                <a:cs typeface="Malgun Gothic"/>
              </a:rPr>
              <a:t>). bumps L0 s1의 정면 보행자 4건은 두 옵션을 합쳐도 조향 한계(TP-0163, 실제 값 확인은 사용자) 문제로 남는다.</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147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traversability 추정은 "이 땅을 이 로봇이 지나갈 수 있는가"를 비용으로 바꾸는 일이다.</a:t>
            </a:r>
            <a:r>
              <a:rPr sz="1050" b="0" i="0">
                <a:solidFill>
                  <a:srgbClr val="16213A"/>
                </a:solidFill>
                <a:latin typeface="Arial"/>
                <a:ea typeface="Malgun Gothic"/>
                <a:cs typeface="Malgun Gothic"/>
              </a:rPr>
              <a:t> travplan은 지금 기하 특징(경사·턱·거칠기)으로 비용을 계산하고, TP-0010에서 이를 로봇이 몸으로 느낀 경험으로 학습하는 TravNet으로 바꾸려 한다. 이 절은 같은 문제를 먼저 푼 오프로드 연구들을 정리한다. A.10.1과 A.10.2는 분야를 바꾼 마일스톤과 2026년 최신 연구다. A.10.3은 사용자 Notion의 </a:t>
            </a:r>
            <a:r>
              <a:rPr sz="1050" b="0" i="0">
                <a:solidFill>
                  <a:srgbClr val="1D4ED8"/>
                </a:solidFill>
                <a:latin typeface="Arial"/>
                <a:ea typeface="Malgun Gothic"/>
                <a:cs typeface="Malgun Gothic"/>
                <a:hlinkClick r:id="rId3"/>
              </a:rPr>
              <a:t>ADD - Traversability Estimation, Off-Road Autonomous Driving</a:t>
            </a:r>
            <a:r>
              <a:rPr sz="1050" b="0" i="0">
                <a:solidFill>
                  <a:srgbClr val="16213A"/>
                </a:solidFill>
                <a:latin typeface="Arial"/>
                <a:ea typeface="Malgun Gothic"/>
                <a:cs typeface="Malgun Gothic"/>
              </a:rPr>
              <a:t> 블록과 KAIST Urban Robotics Lab 연구다. 같은 블록의 학습 동역학·제어 연구는 Controller·안전 문서 §E에 있다.</a:t>
            </a:r>
          </a:p>
        </p:txBody>
      </p:sp>
      <p:sp>
        <p:nvSpPr>
          <p:cNvPr id="6" name="TextBox 5"/>
          <p:cNvSpPr txBox="1"/>
          <p:nvPr/>
        </p:nvSpPr>
        <p:spPr>
          <a:xfrm>
            <a:off x="717550" y="1982986"/>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A.10.1 계보: 기하에서 자기지도, 그리고 기반 모델로</a:t>
            </a:r>
          </a:p>
        </p:txBody>
      </p:sp>
      <p:sp>
        <p:nvSpPr>
          <p:cNvPr id="7" name="TextBox 6"/>
          <p:cNvSpPr txBox="1"/>
          <p:nvPr/>
        </p:nvSpPr>
        <p:spPr>
          <a:xfrm>
            <a:off x="609600" y="22861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traversability 추정은 사람 라벨 분할(2019–2021)에서 로봇 경험 기반 자기지도(2020–2024)로, 다시 비전 기반 모델과 VLM(2024–2026)으로 옮겨 왔다.</a:t>
            </a:r>
            <a:r>
              <a:rPr sz="1050" b="0" i="0">
                <a:solidFill>
                  <a:srgbClr val="16213A"/>
                </a:solidFill>
                <a:latin typeface="Arial"/>
                <a:ea typeface="Malgun Gothic"/>
                <a:cs typeface="Malgun Gothic"/>
              </a:rPr>
              <a:t> 흐름을 바꾼 연구를 연도순으로 놓으면 다음과 같다.</a:t>
            </a:r>
          </a:p>
        </p:txBody>
      </p:sp>
      <p:graphicFrame>
        <p:nvGraphicFramePr>
          <p:cNvPr id="8" name="Table 7"/>
          <p:cNvGraphicFramePr>
            <a:graphicFrameLocks noGrp="1"/>
          </p:cNvGraphicFramePr>
          <p:nvPr/>
        </p:nvGraphicFramePr>
        <p:xfrm>
          <a:off x="609600" y="2808089"/>
          <a:ext cx="10966449" cy="1773792"/>
        </p:xfrm>
        <a:graphic>
          <a:graphicData uri="http://schemas.openxmlformats.org/drawingml/2006/table">
            <a:tbl>
              <a:tblPr firstRow="1" bandRow="1">
                <a:tableStyleId>{5C22544A-7EE6-4342-B048-85BDC9FD1C3A}</a:tableStyleId>
              </a:tblPr>
              <a:tblGrid>
                <a:gridCol w="1172964"/>
                <a:gridCol w="2133005"/>
                <a:gridCol w="2276673"/>
                <a:gridCol w="3571180"/>
                <a:gridCol w="1812627"/>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라벨 출처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바꾼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RELLIS-3D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사람 라벨(20클래스)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오프로드 멀티모달 데이터셋과 벤치마크</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4"/>
                        </a:rPr>
                        <a:t>RELLIS-3D</a:t>
                      </a:r>
                      <a:r>
                        <a:rPr sz="800" b="0" i="0">
                          <a:solidFill>
                            <a:srgbClr val="16213A"/>
                          </a:solidFill>
                          <a:latin typeface="Arial"/>
                          <a:ea typeface="Malgun Gothic"/>
                          <a:cs typeface="Malgun Gothic"/>
                        </a:rPr>
                        <a:t> 0.5k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BADGR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충돌·충격 사건(자기지도)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사건을 예측하는 행동 조건 모델로 계획</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gkahn13/badgr</a:t>
                      </a:r>
                      <a:r>
                        <a:rPr sz="800" b="0" i="0">
                          <a:solidFill>
                            <a:srgbClr val="16213A"/>
                          </a:solidFill>
                          <a:latin typeface="Arial"/>
                          <a:ea typeface="Malgun Gothic"/>
                          <a:cs typeface="Malgun Gothic"/>
                        </a:rPr>
                        <a:t> 0.2k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TerraPN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IMU 진동·주행거리 오차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표면 비용을 25분 만에 온라인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How Does It Feel?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proprioception 비용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속도 조건 비용 지도, 장거리 오프로드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V-STRONG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사람 주행 궤적 + SAM 마스크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대조 학습, zero-/few-shot 일반화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RoadRunner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기존 스택의 사후 추정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카메라·LiDAR BEV에서 비용과 높이를 함께 예측</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2023–2025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WVN, SALON, STERLING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현장 경험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수 분 안의 온라인 적응(A.7)</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WVN</a:t>
                      </a:r>
                      <a:r>
                        <a:rPr sz="800" b="0" i="0">
                          <a:solidFill>
                            <a:srgbClr val="16213A"/>
                          </a:solidFill>
                          <a:latin typeface="Arial"/>
                          <a:ea typeface="Malgun Gothic"/>
                          <a:cs typeface="Malgun Gothic"/>
                        </a:rPr>
                        <a:t> 0.3k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ViTA, CATNAV, PIVOT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비전 기반 모델·VLM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SAM2 적응, VLM 비용 지도, 물리적 근거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bl>
          </a:graphicData>
        </a:graphic>
      </p:graphicFrame>
      <p:sp>
        <p:nvSpPr>
          <p:cNvPr id="9" name="TextBox 8"/>
          <p:cNvSpPr txBox="1"/>
          <p:nvPr/>
        </p:nvSpPr>
        <p:spPr>
          <a:xfrm>
            <a:off x="609600" y="512058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RELLIS-3D — 오프로드 인식의 공용 벤치마크</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7"/>
              </a:rPr>
              <a:t>arXiv:2011.12954</a:t>
            </a:r>
            <a:r>
              <a:rPr sz="1050" b="0" i="0">
                <a:solidFill>
                  <a:srgbClr val="16213A"/>
                </a:solidFill>
                <a:latin typeface="Arial"/>
                <a:ea typeface="Malgun Gothic"/>
                <a:cs typeface="Malgun Gothic"/>
              </a:rPr>
              <a:t>, ICRA 2021, Texas A&amp;M·ARL). 오프로드 캠퍼스에서 LiDAR 스캔 13,556개와 영상 6,235장에 사람이 의미 라벨을 달았다. 도시용 분할 모델이 클래스 불균형과 지형 굴곡 때문에 크게 무너진다는 것을 보였다. 이후 오프로드 traversability 연구의 기본 비교 대상이 되었다(RUGD와 함께).</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148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BADGR — 사건을 예측해서 계획한다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arXiv:2002.05700</a:t>
            </a:r>
            <a:r>
              <a:rPr sz="1050" b="0" i="0">
                <a:solidFill>
                  <a:srgbClr val="16213A"/>
                </a:solidFill>
                <a:latin typeface="Arial"/>
                <a:ea typeface="Malgun Gothic"/>
                <a:cs typeface="Malgun Gothic"/>
              </a:rPr>
              <a:t>, RA-L 2021, UC Berkeley). 기하만 보는 로봇은 키 큰 풀밭을 벽으로 보고 피한다. BADGR은 로봇이 실제로 겪은 </a:t>
            </a:r>
            <a:r>
              <a:rPr sz="1050" b="1" i="0">
                <a:solidFill>
                  <a:srgbClr val="16213A"/>
                </a:solidFill>
                <a:latin typeface="Arial"/>
                <a:ea typeface="Malgun Gothic"/>
                <a:cs typeface="Malgun Gothic"/>
              </a:rPr>
              <a:t>사건</a:t>
            </a:r>
            <a:r>
              <a:rPr sz="1050" b="0" i="0">
                <a:solidFill>
                  <a:srgbClr val="16213A"/>
                </a:solidFill>
                <a:latin typeface="Arial"/>
                <a:ea typeface="Malgun Gothic"/>
                <a:cs typeface="Malgun Gothic"/>
              </a:rPr>
              <a:t>(충돌, 충격, 위치)을 라벨로 삼는다. 영상과 앞으로의 행동 열을 넣으면 각 사건을 예측하는 모델을 학습하고, 그 모델 위에서 보상이 가장 큰 행동 열을 표본 기반 최적화로 고른다. 시뮬레이션과 사람 라벨 없이 실제 도시·오프로드 데이터만으로 학습했고, 데이터를 더 모을수록 스스로 나아진다. </a:t>
            </a:r>
            <a:r>
              <a:rPr sz="1050" b="1" i="0">
                <a:solidFill>
                  <a:srgbClr val="16213A"/>
                </a:solidFill>
                <a:latin typeface="Arial"/>
                <a:ea typeface="Malgun Gothic"/>
                <a:cs typeface="Malgun Gothic"/>
              </a:rPr>
              <a:t>travplan 구조의 원형</a:t>
            </a:r>
            <a:r>
              <a:rPr sz="1050" b="0" i="0">
                <a:solidFill>
                  <a:srgbClr val="16213A"/>
                </a:solidFill>
                <a:latin typeface="Arial"/>
                <a:ea typeface="Malgun Gothic"/>
                <a:cs typeface="Malgun Gothic"/>
              </a:rPr>
              <a:t>에 가깝다. 사건 라벨은 TravNet 자기지도 라벨(TP-0010)과 같고, 행동 열을 샘플링해 가중 평균하는 계획은 MPPI(배경 0.2)와 같다.</a:t>
            </a:r>
          </a:p>
        </p:txBody>
      </p:sp>
      <p:pic>
        <p:nvPicPr>
          <p:cNvPr id="6" name="Picture 5" descr="image.jpg"/>
          <p:cNvPicPr>
            <a:picLocks noChangeAspect="1"/>
          </p:cNvPicPr>
          <p:nvPr/>
        </p:nvPicPr>
        <p:blipFill>
          <a:blip r:embed="rId4"/>
          <a:stretch>
            <a:fillRect/>
          </a:stretch>
        </p:blipFill>
        <p:spPr>
          <a:xfrm>
            <a:off x="1016000" y="2199481"/>
            <a:ext cx="10160000" cy="1930400"/>
          </a:xfrm>
          <a:prstGeom prst="rect">
            <a:avLst/>
          </a:prstGeom>
        </p:spPr>
      </p:pic>
      <p:sp>
        <p:nvSpPr>
          <p:cNvPr id="7" name="TextBox 6"/>
          <p:cNvSpPr txBox="1"/>
          <p:nvPr/>
        </p:nvSpPr>
        <p:spPr>
          <a:xfrm>
            <a:off x="1016000" y="4167981"/>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BADGR (Fig. 5): 현재 영상과 앞으로의 행동 열을 받아 충돌·충격·위치 같은 미래 사건을 예측하는 행동 조건 예측 모델. 출처: arXiv:2002.05700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자세히: BADGR의 예측 모델과 계획</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149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모델.</a:t>
            </a:r>
            <a:r>
              <a:rPr sz="1050" b="0" i="0">
                <a:solidFill>
                  <a:srgbClr val="16213A"/>
                </a:solidFill>
                <a:latin typeface="Arial"/>
                <a:ea typeface="Malgun Gothic"/>
                <a:cs typeface="Malgun Gothic"/>
              </a:rPr>
              <a:t> 관측 </a:t>
            </a:r>
            <a:r>
              <a:rPr sz="1050" b="0" i="1">
                <a:solidFill>
                  <a:srgbClr val="16213A"/>
                </a:solidFill>
                <a:latin typeface="Arial"/>
                <a:ea typeface="Malgun Gothic"/>
                <a:cs typeface="Malgun Gothic"/>
              </a:rPr>
              <a:t>oₜ</a:t>
            </a:r>
            <a:r>
              <a:rPr sz="1050" b="0" i="0">
                <a:solidFill>
                  <a:srgbClr val="16213A"/>
                </a:solidFill>
                <a:latin typeface="Arial"/>
                <a:ea typeface="Malgun Gothic"/>
                <a:cs typeface="Malgun Gothic"/>
              </a:rPr>
              <a:t>와 행동 열 </a:t>
            </a:r>
            <a:r>
              <a:rPr sz="1050" b="0" i="1">
                <a:solidFill>
                  <a:srgbClr val="16213A"/>
                </a:solidFill>
                <a:latin typeface="Arial"/>
                <a:ea typeface="Malgun Gothic"/>
                <a:cs typeface="Malgun Gothic"/>
              </a:rPr>
              <a:t>a_(t:t+H)</a:t>
            </a:r>
            <a:r>
              <a:rPr sz="1050" b="0" i="0">
                <a:solidFill>
                  <a:srgbClr val="16213A"/>
                </a:solidFill>
                <a:latin typeface="Arial"/>
                <a:ea typeface="Malgun Gothic"/>
                <a:cs typeface="Malgun Gothic"/>
              </a:rPr>
              <a:t>를 받아 사건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개의 미래 값을 낸다. CNN이 영상을 요약해 RNN의 초기 상태로 넣고, RNN이 행동을 하나씩 받아 그 스텝의 사건을 예측한다.</a:t>
            </a:r>
          </a:p>
        </p:txBody>
      </p:sp>
      <p:pic>
        <p:nvPicPr>
          <p:cNvPr id="6" name="Picture 5" descr="image.png"/>
          <p:cNvPicPr>
            <a:picLocks noChangeAspect="1"/>
          </p:cNvPicPr>
          <p:nvPr/>
        </p:nvPicPr>
        <p:blipFill>
          <a:blip r:embed="rId3"/>
          <a:stretch>
            <a:fillRect/>
          </a:stretch>
        </p:blipFill>
        <p:spPr>
          <a:xfrm>
            <a:off x="609600" y="1549995"/>
            <a:ext cx="1628775" cy="241300"/>
          </a:xfrm>
          <a:prstGeom prst="rect">
            <a:avLst/>
          </a:prstGeom>
        </p:spPr>
      </p:pic>
      <p:sp>
        <p:nvSpPr>
          <p:cNvPr id="7" name="TextBox 6"/>
          <p:cNvSpPr txBox="1"/>
          <p:nvPr/>
        </p:nvSpPr>
        <p:spPr>
          <a:xfrm>
            <a:off x="609600" y="182751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계획.</a:t>
            </a:r>
            <a:r>
              <a:rPr sz="1050" b="0" i="0">
                <a:solidFill>
                  <a:srgbClr val="16213A"/>
                </a:solidFill>
                <a:latin typeface="Arial"/>
                <a:ea typeface="Malgun Gothic"/>
                <a:cs typeface="Malgun Gothic"/>
              </a:rPr>
              <a:t> 사건에 대한 보상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(목표 쪽으로 가기, 충돌·충격 벌점)을 정하고 MPC처럼 매 스텝 푼다.</a:t>
            </a:r>
          </a:p>
        </p:txBody>
      </p:sp>
      <p:pic>
        <p:nvPicPr>
          <p:cNvPr id="8" name="Picture 7" descr="image.png"/>
          <p:cNvPicPr>
            <a:picLocks noChangeAspect="1"/>
          </p:cNvPicPr>
          <p:nvPr/>
        </p:nvPicPr>
        <p:blipFill>
          <a:blip r:embed="rId4"/>
          <a:stretch>
            <a:fillRect/>
          </a:stretch>
        </p:blipFill>
        <p:spPr>
          <a:xfrm>
            <a:off x="609600" y="2132905"/>
            <a:ext cx="2489200" cy="320675"/>
          </a:xfrm>
          <a:prstGeom prst="rect">
            <a:avLst/>
          </a:prstGeom>
        </p:spPr>
      </p:pic>
      <p:sp>
        <p:nvSpPr>
          <p:cNvPr id="9" name="TextBox 8"/>
          <p:cNvSpPr txBox="1"/>
          <p:nvPr/>
        </p:nvSpPr>
        <p:spPr>
          <a:xfrm>
            <a:off x="609600" y="247858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최적화.</a:t>
            </a:r>
            <a:r>
              <a:rPr sz="1050" b="0" i="0">
                <a:solidFill>
                  <a:srgbClr val="16213A"/>
                </a:solidFill>
                <a:latin typeface="Arial"/>
                <a:ea typeface="Malgun Gothic"/>
                <a:cs typeface="Malgun Gothic"/>
              </a:rPr>
              <a:t> 현재 추정 행동 열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 주변에서 시간 상관이 있는 샘플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개를 뽑고(</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가 상관 정도), 보상 지수 가중 평균으로 갱신한다.</a:t>
            </a:r>
          </a:p>
        </p:txBody>
      </p:sp>
      <p:pic>
        <p:nvPicPr>
          <p:cNvPr id="10" name="Picture 9" descr="image.png"/>
          <p:cNvPicPr>
            <a:picLocks noChangeAspect="1"/>
          </p:cNvPicPr>
          <p:nvPr/>
        </p:nvPicPr>
        <p:blipFill>
          <a:blip r:embed="rId5"/>
          <a:stretch>
            <a:fillRect/>
          </a:stretch>
        </p:blipFill>
        <p:spPr>
          <a:xfrm>
            <a:off x="609600" y="2783979"/>
            <a:ext cx="4406900" cy="434975"/>
          </a:xfrm>
          <a:prstGeom prst="rect">
            <a:avLst/>
          </a:prstGeom>
        </p:spPr>
      </p:pic>
      <p:sp>
        <p:nvSpPr>
          <p:cNvPr id="11" name="TextBox 10"/>
          <p:cNvSpPr txBox="1"/>
          <p:nvPr/>
        </p:nvSpPr>
        <p:spPr>
          <a:xfrm>
            <a:off x="609600" y="322857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시간 상관 샘플은 SMPPI(§B.5)의 "변화율로 샘플링"과, 지수 가중 평균은 MPPI 갱신과 같은 구조다.</a:t>
            </a:r>
          </a:p>
        </p:txBody>
      </p:sp>
      <p:sp>
        <p:nvSpPr>
          <p:cNvPr id="12" name="TextBox 11"/>
          <p:cNvSpPr txBox="1"/>
          <p:nvPr/>
        </p:nvSpPr>
        <p:spPr>
          <a:xfrm>
            <a:off x="609600" y="353397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travplan은 이 구조를 둘로 나눴다. 사건 예측은 TravMap 비용(인식)이 맡고, 행동 열 최적화는 Planner D와 MPPI(계획·제어)가 맡는다. BADGR은 둘을 한 모델로 묶어 "기하상 막혀 보여도 실제로는 지나갈 수 있는 풀밭"을 배웠다. TravNet이 기하 비용을 경험으로 고칠 때 같은 효과를 노린다.</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150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TerraPN — 표면 비용을 현장에서 25분 만에 배운다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arXiv:2202.12873</a:t>
            </a:r>
            <a:r>
              <a:rPr sz="1050" b="0" i="0">
                <a:solidFill>
                  <a:srgbClr val="16213A"/>
                </a:solidFill>
                <a:latin typeface="Arial"/>
                <a:ea typeface="Malgun Gothic"/>
                <a:cs typeface="Malgun Gothic"/>
              </a:rPr>
              <a:t>, IROS 2022, UMD). RGB 표면 패치와 로봇 속도를 입력으로, 실제로 겪은 IMU 진동과 주행거리 오차를 라벨로 표면 비용 지도를 학습한다. 표면 경계를 찾아 패치를 불균일하게 뽑아 추론 시간을 47.27% 줄였고, 다섯 표면 학습에 약 25분이 걸렸다. DWA를 확장한 계획(DWA-O)이 표면 비용과 가속 한계를 함께 조절해, 성공률을 최대 35.84% 높이고 진동 비용을 최대 21.52% 낮췄다.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How Does It Feel? — 속도에 따라 달라지는 비용</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arXiv:2209.10788</a:t>
            </a:r>
            <a:r>
              <a:rPr sz="1050" b="0" i="0">
                <a:solidFill>
                  <a:srgbClr val="16213A"/>
                </a:solidFill>
                <a:latin typeface="Arial"/>
                <a:ea typeface="Malgun Gothic"/>
                <a:cs typeface="Malgun Gothic"/>
              </a:rPr>
              <a:t>, ICRA 2023, CMU AirLab). 위에서 본 색 지도와 높이 지도 패치를 입력으로, 차량이 느낀 proprioception 충격을 비용 라벨로 학습한다. 같은 지형도 빠르면 더 거칠게 느껴지므로 </a:t>
            </a:r>
            <a:r>
              <a:rPr sz="1050" b="1" i="0">
                <a:solidFill>
                  <a:srgbClr val="16213A"/>
                </a:solidFill>
                <a:latin typeface="Arial"/>
                <a:ea typeface="Malgun Gothic"/>
                <a:cs typeface="Malgun Gothic"/>
              </a:rPr>
              <a:t>속도를 비용 예측의 입력</a:t>
            </a:r>
            <a:r>
              <a:rPr sz="1050" b="0" i="0">
                <a:solidFill>
                  <a:srgbClr val="16213A"/>
                </a:solidFill>
                <a:latin typeface="Arial"/>
                <a:ea typeface="Malgun Gothic"/>
                <a:cs typeface="Malgun Gothic"/>
              </a:rPr>
              <a:t>으로 넣었다. 대형 ATV와 Warthog로 400 m–3,150 m 오프로드 코스를 달려, occupancy 기반 기준선보다 사람 개입을 최대 57% 줄였다.</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2/9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151 / 359</a:t>
            </a:r>
          </a:p>
        </p:txBody>
      </p:sp>
      <p:pic>
        <p:nvPicPr>
          <p:cNvPr id="5" name="Picture 4" descr="image.jpg"/>
          <p:cNvPicPr>
            <a:picLocks noChangeAspect="1"/>
          </p:cNvPicPr>
          <p:nvPr/>
        </p:nvPicPr>
        <p:blipFill>
          <a:blip r:embed="rId3"/>
          <a:stretch>
            <a:fillRect/>
          </a:stretch>
        </p:blipFill>
        <p:spPr>
          <a:xfrm>
            <a:off x="1016000" y="1244600"/>
            <a:ext cx="10160000" cy="3975100"/>
          </a:xfrm>
          <a:prstGeom prst="rect">
            <a:avLst/>
          </a:prstGeom>
        </p:spPr>
      </p:pic>
      <p:sp>
        <p:nvSpPr>
          <p:cNvPr id="6" name="TextBox 5"/>
          <p:cNvSpPr txBox="1"/>
          <p:nvPr/>
        </p:nvSpPr>
        <p:spPr>
          <a:xfrm>
            <a:off x="1016000" y="52578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How Does It Feel? (Fig. 2): 주행 궤적을 따라 자른 색·높이 지도 패치와 속도로, proprioception에서 만든 비용을 예측하도록 학습한다. 출처: arXiv:2209.10788</a:t>
            </a:r>
          </a:p>
        </p:txBody>
      </p:sp>
      <p:sp>
        <p:nvSpPr>
          <p:cNvPr id="7" name="TextBox 6"/>
          <p:cNvSpPr txBox="1"/>
          <p:nvPr/>
        </p:nvSpPr>
        <p:spPr>
          <a:xfrm>
            <a:off x="609600" y="548888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V-STRONG — 비전 기반 모델로 일반화한다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arXiv:2312.16016</a:t>
            </a:r>
            <a:r>
              <a:rPr sz="1050" b="0" i="0">
                <a:solidFill>
                  <a:srgbClr val="16213A"/>
                </a:solidFill>
                <a:latin typeface="Arial"/>
                <a:ea typeface="Malgun Gothic"/>
                <a:cs typeface="Malgun Gothic"/>
              </a:rPr>
              <a:t>, ICRA 2024, University of Washington). 사람이 운전한 궤적을 영상에 투영하고, 스테레오 깊이로 가려진 궤적 점을 걸러 낸다. SAM 인스턴스 마스크 단위로 "궤적이 지나간 영역"과 나머지를 대조 학습한다. 같은 벤치마크와 자체 데이터에서 최신 방법을 크게 앞섰고, 새 환경에서 zero-shot과 few-shot 일반화가 좋았다. 예측한 비용 지도를 MPC와 바로 연결했다.</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3/9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152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RoadRunner — 카메라·LiDAR에서 비용과 높이를 함께 예측한다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arXiv:2402.19341</a:t>
            </a:r>
            <a:r>
              <a:rPr sz="1050" b="0" i="0">
                <a:solidFill>
                  <a:srgbClr val="16213A"/>
                </a:solidFill>
                <a:latin typeface="Arial"/>
                <a:ea typeface="Malgun Gothic"/>
                <a:cs typeface="Malgun Gothic"/>
              </a:rPr>
              <a:t>, T-FR, ETH·NASA JPL). 고속 오프로드에서는 영상이 흐리고 LiDAR가 성기다. RoadRunner는 자율주행의 BEV 센서 융합 구조를 빌려, 카메라와 LiDAR에서 traversability와 elevation map을 한 번에 낸다. 라벨은 기존 traversability 스택(X-Racer)이 주행 뒤 사후에 만든다. 기존 스택보다 지연을 500 ms에서 140 ms로 약 4배 줄이면서 비용과 높이 정확도를 높였고, 사막 고속 주행에 배포했다. P2 PRD R-F-001이 모델 설계 참고로 둔 연구다.</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4/9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153 / 359</a:t>
            </a:r>
          </a:p>
        </p:txBody>
      </p:sp>
      <p:pic>
        <p:nvPicPr>
          <p:cNvPr id="5" name="Picture 4" descr="image.jpg"/>
          <p:cNvPicPr>
            <a:picLocks noChangeAspect="1"/>
          </p:cNvPicPr>
          <p:nvPr/>
        </p:nvPicPr>
        <p:blipFill>
          <a:blip r:embed="rId3"/>
          <a:stretch>
            <a:fillRect/>
          </a:stretch>
        </p:blipFill>
        <p:spPr>
          <a:xfrm>
            <a:off x="4610100" y="1244600"/>
            <a:ext cx="2971800" cy="4445000"/>
          </a:xfrm>
          <a:prstGeom prst="rect">
            <a:avLst/>
          </a:prstGeom>
        </p:spPr>
      </p:pic>
      <p:sp>
        <p:nvSpPr>
          <p:cNvPr id="6" name="TextBox 5"/>
          <p:cNvSpPr txBox="1"/>
          <p:nvPr/>
        </p:nvSpPr>
        <p:spPr>
          <a:xfrm>
            <a:off x="4610100" y="5727700"/>
            <a:ext cx="29718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RoadRunner (Fig. 2): 실제 주행 데이터를 기존 스택으로 사후 처리해 라벨을 만들고, 카메라·LiDAR BEV 융합 네트워크가 traversability와 높이를 함께 예측하도록 학습한다. 출처: arXiv:2402.19341</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5/9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154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A.10.2 최신(2026): 비전 기반 모델과 VLM</a:t>
            </a:r>
          </a:p>
        </p:txBody>
      </p:sp>
      <p:sp>
        <p:nvSpPr>
          <p:cNvPr id="6" name="TextBox 5"/>
          <p:cNvSpPr txBox="1"/>
          <p:nvPr/>
        </p:nvSpPr>
        <p:spPr>
          <a:xfrm>
            <a:off x="609600" y="15478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2026년의 흐름은 둘이다.</a:t>
            </a:r>
            <a:r>
              <a:rPr sz="1050" b="0" i="0">
                <a:solidFill>
                  <a:srgbClr val="16213A"/>
                </a:solidFill>
                <a:latin typeface="Arial"/>
                <a:ea typeface="Malgun Gothic"/>
                <a:cs typeface="Malgun Gothic"/>
              </a:rPr>
              <a:t> 하나는 SAM2 같은 비전 기반 모델을 traversability 전용으로 </a:t>
            </a:r>
            <a:r>
              <a:rPr sz="1050" b="1" i="0">
                <a:solidFill>
                  <a:srgbClr val="16213A"/>
                </a:solidFill>
                <a:latin typeface="Arial"/>
                <a:ea typeface="Malgun Gothic"/>
                <a:cs typeface="Malgun Gothic"/>
              </a:rPr>
              <a:t>적응</a:t>
            </a:r>
            <a:r>
              <a:rPr sz="1050" b="0" i="0">
                <a:solidFill>
                  <a:srgbClr val="16213A"/>
                </a:solidFill>
                <a:latin typeface="Arial"/>
                <a:ea typeface="Malgun Gothic"/>
                <a:cs typeface="Malgun Gothic"/>
              </a:rPr>
              <a:t>시키는 것이고, 다른 하나는 VLM에게 비용을 </a:t>
            </a:r>
            <a:r>
              <a:rPr sz="1050" b="1" i="0">
                <a:solidFill>
                  <a:srgbClr val="16213A"/>
                </a:solidFill>
                <a:latin typeface="Arial"/>
                <a:ea typeface="Malgun Gothic"/>
                <a:cs typeface="Malgun Gothic"/>
              </a:rPr>
              <a:t>묻되 실제 측정에 맞춰 보정</a:t>
            </a:r>
            <a:r>
              <a:rPr sz="1050" b="0" i="0">
                <a:solidFill>
                  <a:srgbClr val="16213A"/>
                </a:solidFill>
                <a:latin typeface="Arial"/>
                <a:ea typeface="Malgun Gothic"/>
                <a:cs typeface="Malgun Gothic"/>
              </a:rPr>
              <a:t>하는 것이다.</a:t>
            </a:r>
          </a:p>
        </p:txBody>
      </p:sp>
      <p:sp>
        <p:nvSpPr>
          <p:cNvPr id="7" name="TextBox 6"/>
          <p:cNvSpPr txBox="1"/>
          <p:nvPr/>
        </p:nvSpPr>
        <p:spPr>
          <a:xfrm>
            <a:off x="609600" y="185320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ViTA — SAM2를 traversability에 맞춘다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arXiv:2605.29565</a:t>
            </a:r>
            <a:r>
              <a:rPr sz="1050" b="0" i="0">
                <a:solidFill>
                  <a:srgbClr val="16213A"/>
                </a:solidFill>
                <a:latin typeface="Arial"/>
                <a:ea typeface="Malgun Gothic"/>
                <a:cs typeface="Malgun Gothic"/>
              </a:rPr>
              <a:t>, 2026-05). 비전 기반 모델을 분할 라벨로 그냥 미세조정하면 세 문제가 생긴다. 모델이 과제를 모르고, traversability 라벨은 경계가 모호하며, 의미 라벨과 물리적 안전이 다르다. ViTA는 학습 가능한 traversability prompt로 과제 지식을 넣고, 여러 관점으로 학습해 모호한 경계의 확신을 낮추며, 학습 때 기하 지식을 증류해 RGB만으로 경사와 높이를 추론한다. 의미와 기하를 합친 연속 점수를 내고, 여러 오프로드 데이터에서 최고 IoU와 정밀도를 거짓 양성을 크게 줄이며 달성했다.</a:t>
            </a:r>
          </a:p>
        </p:txBody>
      </p:sp>
      <p:pic>
        <p:nvPicPr>
          <p:cNvPr id="8" name="Picture 7" descr="image.jpg"/>
          <p:cNvPicPr>
            <a:picLocks noChangeAspect="1"/>
          </p:cNvPicPr>
          <p:nvPr/>
        </p:nvPicPr>
        <p:blipFill>
          <a:blip r:embed="rId4"/>
          <a:stretch>
            <a:fillRect/>
          </a:stretch>
        </p:blipFill>
        <p:spPr>
          <a:xfrm>
            <a:off x="1016000" y="2591594"/>
            <a:ext cx="10160000" cy="3416300"/>
          </a:xfrm>
          <a:prstGeom prst="rect">
            <a:avLst/>
          </a:prstGeom>
        </p:spPr>
      </p:pic>
      <p:sp>
        <p:nvSpPr>
          <p:cNvPr id="9" name="TextBox 8"/>
          <p:cNvSpPr txBox="1"/>
          <p:nvPr/>
        </p:nvSpPr>
        <p:spPr>
          <a:xfrm>
            <a:off x="1016000" y="6045994"/>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ViTA (Fig. 2): SAM2 인코더 특징을 학습 가능한 traversability prompt와 함께 처리해 의미 불확실성과 기하 위험을 합친 점수를 낸다. 출처: arXiv:2605.29565</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6/9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155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CATNAV — VLM 비용 지도를 캐시로 싸게</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arXiv:2603.22800</a:t>
            </a:r>
            <a:r>
              <a:rPr sz="1050" b="0" i="0">
                <a:solidFill>
                  <a:srgbClr val="16213A"/>
                </a:solidFill>
                <a:latin typeface="Arial"/>
                <a:ea typeface="Malgun Gothic"/>
                <a:cs typeface="Malgun Gothic"/>
              </a:rPr>
              <a:t>, 2026-03). 다중모달 LLM에게 로봇 몸체를 알려 주고 zero-shot으로 비용 지도를 받는다. 장면이 새롭지 않으면 의미가 비슷한 이전 프레임의 위험 평가를 재사용하는 캐시로 VLM 호출을 85.7% 줄였다. VLM이 궤적 후보를 시각적으로 비교해 행동 제약을 지키는 가장 안전한 경로를 고른다. 4족 로봇 다섯 과제에서 VLA 기준선보다 목표 도달률이 평균 10%p 높고 제약 위반이 33% 적었다.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PIVOT — VLM 비용을 실제 측정으로 보정한다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arXiv:2609.20983</a:t>
            </a:r>
            <a:r>
              <a:rPr sz="1050" b="0" i="0">
                <a:solidFill>
                  <a:srgbClr val="16213A"/>
                </a:solidFill>
                <a:latin typeface="Arial"/>
                <a:ea typeface="Malgun Gothic"/>
                <a:cs typeface="Malgun Gothic"/>
              </a:rPr>
              <a:t>, 2026-09). VLM이 예측한 주행 에너지, 진동, 바퀴 슬립이 실제 측정과 얼마나 상관하는지 재고, 상관이 높은 양식일수록 큰 가중치를 주는 통합 점수를 만든다. 평소에는 기하 기반 계획을 쓰고, 그것이 경로를 못 찾을 때만 VLM 의미 재계획을 부른다. 약 6.4 km 혼합 지형 경로 5회 반복에서 기하만 쓸 때보다 자율 비율을 59.6%에서 97.0%로, 사람 개입을 11회에서 3회로 줄이고, 개입 사이 평균 거리를 69.2 m에서 412.9 m로 늘렸다.</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7/9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156 / 359</a:t>
            </a:r>
          </a:p>
        </p:txBody>
      </p:sp>
      <p:pic>
        <p:nvPicPr>
          <p:cNvPr id="5" name="Picture 4" descr="image.jpg"/>
          <p:cNvPicPr>
            <a:picLocks noChangeAspect="1"/>
          </p:cNvPicPr>
          <p:nvPr/>
        </p:nvPicPr>
        <p:blipFill>
          <a:blip r:embed="rId3"/>
          <a:stretch>
            <a:fillRect/>
          </a:stretch>
        </p:blipFill>
        <p:spPr>
          <a:xfrm>
            <a:off x="1016000" y="1244600"/>
            <a:ext cx="10160000" cy="3721100"/>
          </a:xfrm>
          <a:prstGeom prst="rect">
            <a:avLst/>
          </a:prstGeom>
        </p:spPr>
      </p:pic>
      <p:sp>
        <p:nvSpPr>
          <p:cNvPr id="6" name="TextBox 5"/>
          <p:cNvSpPr txBox="1"/>
          <p:nvPr/>
        </p:nvSpPr>
        <p:spPr>
          <a:xfrm>
            <a:off x="1016000" y="50038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PIVOT (Fig. 2): 기하 기반 계획을 기본으로 두고, 실패할 때만 VLM 의미 계획으로 넘어가는 두 층 내비게이션 구조. 출처: arXiv:2609.20983</a:t>
            </a:r>
          </a:p>
        </p:txBody>
      </p:sp>
      <p:sp>
        <p:nvSpPr>
          <p:cNvPr id="7" name="TextBox 6"/>
          <p:cNvSpPr txBox="1"/>
          <p:nvPr/>
        </p:nvSpPr>
        <p:spPr>
          <a:xfrm>
            <a:off x="609600" y="523488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VLM은 기본 비용이 아니라 막혔을 때의 보조 판단으로 쓴다.</a:t>
            </a:r>
            <a:r>
              <a:rPr sz="1050" b="0" i="0">
                <a:solidFill>
                  <a:srgbClr val="16213A"/>
                </a:solidFill>
                <a:latin typeface="Arial"/>
                <a:ea typeface="Malgun Gothic"/>
                <a:cs typeface="Malgun Gothic"/>
              </a:rPr>
              <a:t> PIVOT의 "기하 기본 + VLM 대체" 구조는 travplan에 그대로 맞는다. 기하 TravMap이 평소 비용을 맡고, 기하상 막혀 보이는 풀밭이나 물웅덩이 앞에서만 TravNet이나 VLM에게 묻는다. CATNAV의 캐시는 Orin 예산에서 VLM 호출 빈도를 낮추는 방법이다.</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8/9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157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A.10.3 불확실성까지 다루는 계열 (사용자 Notion ADD 블록)</a:t>
            </a:r>
          </a:p>
        </p:txBody>
      </p:sp>
      <p:sp>
        <p:nvSpPr>
          <p:cNvPr id="6" name="TextBox 5"/>
          <p:cNvSpPr txBox="1"/>
          <p:nvPr/>
        </p:nvSpPr>
        <p:spPr>
          <a:xfrm>
            <a:off x="609600" y="154781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계열의 파이프라인은 네 단계로 읽으면 쉽다.</a:t>
            </a:r>
          </a:p>
        </p:txBody>
      </p:sp>
      <p:sp>
        <p:nvSpPr>
          <p:cNvPr id="7" name="TextBox 6"/>
          <p:cNvSpPr txBox="1"/>
          <p:nvPr/>
        </p:nvSpPr>
        <p:spPr>
          <a:xfrm>
            <a:off x="609600" y="1853208"/>
            <a:ext cx="10972800" cy="914003"/>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주행 로그 ─▶ ① 라벨 만들기 ──────────▶ ② 학습 ─────────────────▶ ③ 지도에 쌓기 ──────────▶ Controller</a:t>
            </a:r>
          </a:p>
          <a:p>
            <a:r>
              <a:rPr sz="750" b="0" i="0">
                <a:solidFill>
                  <a:srgbClr val="F4F1EA"/>
                </a:solidFill>
                <a:latin typeface="Consolas"/>
                <a:ea typeface="Malgun Gothic"/>
                <a:cs typeface="Malgun Gothic"/>
              </a:rPr>
              <a:t>           바퀴가 지나간 곳 = 쉬움       one-class / PU learning,     불확실성으로 가중한          비용과 σ를 쓴다</a:t>
            </a:r>
          </a:p>
          <a:p>
            <a:r>
              <a:rPr sz="750" b="0" i="0">
                <a:solidFill>
                  <a:srgbClr val="F4F1EA"/>
                </a:solidFill>
                <a:latin typeface="Consolas"/>
                <a:ea typeface="Malgun Gothic"/>
                <a:cs typeface="Malgun Gothic"/>
              </a:rPr>
              <a:t>           차량이 느낀 충격 = 비용       메타러닝 온라인 적응          커널 추론(BKI), 빈 곳 보간</a:t>
            </a:r>
          </a:p>
          <a:p>
            <a:r>
              <a:rPr sz="750" b="0" i="0">
                <a:solidFill>
                  <a:srgbClr val="F4F1EA"/>
                </a:solidFill>
                <a:latin typeface="Consolas"/>
                <a:ea typeface="Malgun Gothic"/>
                <a:cs typeface="Malgun Gothic"/>
              </a:rPr>
              <a:t>           Self-Supervisions Only,     ScaTE, METAVerse             Evidential BKI, E2-BKI, TRIP</a:t>
            </a:r>
          </a:p>
          <a:p>
            <a:r>
              <a:rPr sz="750" b="0" i="0">
                <a:solidFill>
                  <a:srgbClr val="F4F1EA"/>
                </a:solidFill>
                <a:latin typeface="Consolas"/>
                <a:ea typeface="Malgun Gothic"/>
                <a:cs typeface="Malgun Gothic"/>
              </a:rPr>
              <a:t>           ScaTE                                                    ↔ travplan TravMap.SIGMA, fill_unknown</a:t>
            </a:r>
          </a:p>
        </p:txBody>
      </p:sp>
      <p:sp>
        <p:nvSpPr>
          <p:cNvPr id="8" name="TextBox 7"/>
          <p:cNvSpPr txBox="1"/>
          <p:nvPr/>
        </p:nvSpPr>
        <p:spPr>
          <a:xfrm>
            <a:off x="609600" y="285611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라벨을 사람 없이 만든다 — </a:t>
            </a:r>
            <a:r>
              <a:rPr sz="1050" b="1" i="1">
                <a:solidFill>
                  <a:srgbClr val="16213A"/>
                </a:solidFill>
                <a:latin typeface="Arial"/>
                <a:ea typeface="Malgun Gothic"/>
                <a:cs typeface="Malgun Gothic"/>
              </a:rPr>
              <a:t>Learning Off-Road Terrain Traversability with Self-Supervisions Only</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arXiv:2305.18896</a:t>
            </a:r>
            <a:r>
              <a:rPr sz="1050" b="0" i="0">
                <a:solidFill>
                  <a:srgbClr val="16213A"/>
                </a:solidFill>
                <a:latin typeface="Arial"/>
                <a:ea typeface="Malgun Gothic"/>
                <a:cs typeface="Malgun Gothic"/>
              </a:rPr>
              <a:t>, RA-L 2023). 차량이 실제로 지나간 영역을 "지나갈 수 있음"으로 자동 라벨하고, 지나가지 않은 곳은 라벨 없이 둔다. 양성 라벨만 있으므로 </a:t>
            </a:r>
            <a:r>
              <a:rPr sz="1050" b="1" i="0">
                <a:solidFill>
                  <a:srgbClr val="16213A"/>
                </a:solidFill>
                <a:latin typeface="Arial"/>
                <a:ea typeface="Malgun Gothic"/>
                <a:cs typeface="Malgun Gothic"/>
              </a:rPr>
              <a:t>one-class 분류</a:t>
            </a:r>
            <a:r>
              <a:rPr sz="1050" b="0" i="0">
                <a:solidFill>
                  <a:srgbClr val="16213A"/>
                </a:solidFill>
                <a:latin typeface="Arial"/>
                <a:ea typeface="Malgun Gothic"/>
                <a:cs typeface="Malgun Gothic"/>
              </a:rPr>
              <a:t>와 시각 표현 자기지도 학습을 결합해 낯선 환경으로 일반화한다. travplan </a:t>
            </a:r>
            <a:r>
              <a:rPr sz="1050" b="0" i="0">
                <a:solidFill>
                  <a:srgbClr val="16213A"/>
                </a:solidFill>
                <a:latin typeface="Consolas"/>
                <a:ea typeface="Malgun Gothic"/>
                <a:cs typeface="Malgun Gothic"/>
              </a:rPr>
              <a:t>FootprintLabeler</a:t>
            </a:r>
            <a:r>
              <a:rPr sz="1050" b="0" i="0">
                <a:solidFill>
                  <a:srgbClr val="16213A"/>
                </a:solidFill>
                <a:latin typeface="Arial"/>
                <a:ea typeface="Malgun Gothic"/>
                <a:cs typeface="Malgun Gothic"/>
              </a:rPr>
              <a:t>(발자국 아래 칸만 라벨)와 같은 발상이다.</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9/9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158 / 359</a:t>
            </a:r>
          </a:p>
        </p:txBody>
      </p:sp>
      <p:pic>
        <p:nvPicPr>
          <p:cNvPr id="5" name="Picture 4" descr="image.jpg"/>
          <p:cNvPicPr>
            <a:picLocks noChangeAspect="1"/>
          </p:cNvPicPr>
          <p:nvPr/>
        </p:nvPicPr>
        <p:blipFill>
          <a:blip r:embed="rId3"/>
          <a:stretch>
            <a:fillRect/>
          </a:stretch>
        </p:blipFill>
        <p:spPr>
          <a:xfrm>
            <a:off x="1016000" y="1244600"/>
            <a:ext cx="10160000" cy="4298950"/>
          </a:xfrm>
          <a:prstGeom prst="rect">
            <a:avLst/>
          </a:prstGeom>
        </p:spPr>
      </p:pic>
      <p:sp>
        <p:nvSpPr>
          <p:cNvPr id="6" name="TextBox 5"/>
          <p:cNvSpPr txBox="1"/>
          <p:nvPr/>
        </p:nvSpPr>
        <p:spPr>
          <a:xfrm>
            <a:off x="1016000" y="558165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Self-Supervisions Only (Fig. 2): 바퀴가 닿은 점은 traversable, 가려진 점은 제외하는 자동 라벨 생성 절차. 출처: arXiv:2305.18896</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자세히: Self-Supervisions Only의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159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라벨 만들기.</a:t>
            </a:r>
            <a:r>
              <a:rPr sz="1050" b="0" i="0">
                <a:solidFill>
                  <a:srgbClr val="16213A"/>
                </a:solidFill>
                <a:latin typeface="Arial"/>
                <a:ea typeface="Malgun Gothic"/>
                <a:cs typeface="Malgun Gothic"/>
              </a:rPr>
              <a:t> SLAM으로 복원한 궤적에서 시각 </a:t>
            </a:r>
            <a:r>
              <a:rPr sz="1050" b="0" i="1">
                <a:solidFill>
                  <a:srgbClr val="16213A"/>
                </a:solidFill>
                <a:latin typeface="Arial"/>
                <a:ea typeface="Malgun Gothic"/>
                <a:cs typeface="Malgun Gothic"/>
              </a:rPr>
              <a:t>tᵢ</a:t>
            </a:r>
            <a:r>
              <a:rPr sz="1050" b="0" i="0">
                <a:solidFill>
                  <a:srgbClr val="16213A"/>
                </a:solidFill>
                <a:latin typeface="Arial"/>
                <a:ea typeface="Malgun Gothic"/>
                <a:cs typeface="Malgun Gothic"/>
              </a:rPr>
              <a:t>부터 </a:t>
            </a:r>
            <a:r>
              <a:rPr sz="1050" b="0" i="1">
                <a:solidFill>
                  <a:srgbClr val="16213A"/>
                </a:solidFill>
                <a:latin typeface="Arial"/>
                <a:ea typeface="Malgun Gothic"/>
                <a:cs typeface="Malgun Gothic"/>
              </a:rPr>
              <a:t>t_(i+α)</a:t>
            </a:r>
            <a:r>
              <a:rPr sz="1050" b="0" i="0">
                <a:solidFill>
                  <a:srgbClr val="16213A"/>
                </a:solidFill>
                <a:latin typeface="Arial"/>
                <a:ea typeface="Malgun Gothic"/>
                <a:cs typeface="Malgun Gothic"/>
              </a:rPr>
              <a:t>까지의 바퀴 접지점 </a:t>
            </a:r>
            <a:r>
              <a:rPr sz="1050" b="0" i="1">
                <a:solidFill>
                  <a:srgbClr val="16213A"/>
                </a:solidFill>
                <a:latin typeface="Arial"/>
                <a:ea typeface="Malgun Gothic"/>
                <a:cs typeface="Malgun Gothic"/>
              </a:rPr>
              <a:t>T(tᵢ, t_(i+α))</a:t>
            </a:r>
            <a:r>
              <a:rPr sz="1050" b="0" i="0">
                <a:solidFill>
                  <a:srgbClr val="16213A"/>
                </a:solidFill>
                <a:latin typeface="Arial"/>
                <a:ea typeface="Malgun Gothic"/>
                <a:cs typeface="Malgun Gothic"/>
              </a:rPr>
              <a:t>를 구한다. 영상에 투영하면 장애물 뒤로 가려진 접지점까지 라벨이 되므로, 같은 시각의 LiDAR로 가림을 걸러낸다. 구면 좌표에서 가장 가까운 LiDAR 점보다 멀리 있는 접지점은 가려진 것으로 본다. 먼지·비·눈 노이즈는 비지도 LiDAR 잡음 제거로 먼저 지운다. 남은 접지점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를 카메라로 투영하고, </a:t>
            </a:r>
            <a:r>
              <a:rPr sz="1050" b="1" i="0">
                <a:solidFill>
                  <a:srgbClr val="16213A"/>
                </a:solidFill>
                <a:latin typeface="Arial"/>
                <a:ea typeface="Malgun Gothic"/>
                <a:cs typeface="Malgun Gothic"/>
              </a:rPr>
              <a:t>좌우 바퀴 접지점 사이 픽셀만 양성</a:t>
            </a:r>
            <a:r>
              <a:rPr sz="1050" b="0" i="0">
                <a:solidFill>
                  <a:srgbClr val="16213A"/>
                </a:solidFill>
                <a:latin typeface="Arial"/>
                <a:ea typeface="Malgun Gothic"/>
                <a:cs typeface="Malgun Gothic"/>
              </a:rPr>
              <a:t>, 나머지는 라벨 없음으로 둔다.</a:t>
            </a:r>
          </a:p>
        </p:txBody>
      </p:sp>
      <p:pic>
        <p:nvPicPr>
          <p:cNvPr id="6" name="Picture 5" descr="image.png"/>
          <p:cNvPicPr>
            <a:picLocks noChangeAspect="1"/>
          </p:cNvPicPr>
          <p:nvPr/>
        </p:nvPicPr>
        <p:blipFill>
          <a:blip r:embed="rId3"/>
          <a:stretch>
            <a:fillRect/>
          </a:stretch>
        </p:blipFill>
        <p:spPr>
          <a:xfrm>
            <a:off x="609600" y="1982986"/>
            <a:ext cx="1752600" cy="241300"/>
          </a:xfrm>
          <a:prstGeom prst="rect">
            <a:avLst/>
          </a:prstGeom>
        </p:spPr>
      </p:pic>
      <p:sp>
        <p:nvSpPr>
          <p:cNvPr id="7" name="TextBox 6"/>
          <p:cNvSpPr txBox="1"/>
          <p:nvPr/>
        </p:nvSpPr>
        <p:spPr>
          <a:xfrm>
            <a:off x="609600" y="226050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학습(배경 0.9 ②).</a:t>
            </a:r>
            <a:r>
              <a:rPr sz="1050" b="0" i="0">
                <a:solidFill>
                  <a:srgbClr val="16213A"/>
                </a:solidFill>
                <a:latin typeface="Arial"/>
                <a:ea typeface="Malgun Gothic"/>
                <a:cs typeface="Malgun Gothic"/>
              </a:rPr>
              <a:t> PSPNet 인코더가 픽셀 특징 </a:t>
            </a:r>
            <a:r>
              <a:rPr sz="1050" b="0" i="1">
                <a:solidFill>
                  <a:srgbClr val="16213A"/>
                </a:solidFill>
                <a:latin typeface="Arial"/>
                <a:ea typeface="Malgun Gothic"/>
                <a:cs typeface="Malgun Gothic"/>
              </a:rPr>
              <a:t>zᵢ</a:t>
            </a:r>
            <a:r>
              <a:rPr sz="1050" b="0" i="0">
                <a:solidFill>
                  <a:srgbClr val="16213A"/>
                </a:solidFill>
                <a:latin typeface="Arial"/>
                <a:ea typeface="Malgun Gothic"/>
                <a:cs typeface="Malgun Gothic"/>
              </a:rPr>
              <a:t>를 낸다. 양성 특징을 한 중심에 모으는 one-class 손실 </a:t>
            </a:r>
            <a:r>
              <a:rPr sz="1050" b="0" i="1">
                <a:solidFill>
                  <a:srgbClr val="16213A"/>
                </a:solidFill>
                <a:latin typeface="Arial"/>
                <a:ea typeface="Malgun Gothic"/>
                <a:cs typeface="Malgun Gothic"/>
              </a:rPr>
              <a:t>ℒ_(OCC) = 1 - p(zᵢ)</a:t>
            </a:r>
            <a:r>
              <a:rPr sz="1050" b="0" i="0">
                <a:solidFill>
                  <a:srgbClr val="16213A"/>
                </a:solidFill>
                <a:latin typeface="Arial"/>
                <a:ea typeface="Malgun Gothic"/>
                <a:cs typeface="Malgun Gothic"/>
              </a:rPr>
              <a:t>은 </a:t>
            </a:r>
            <a:r>
              <a:rPr sz="1050" b="1" i="0">
                <a:solidFill>
                  <a:srgbClr val="16213A"/>
                </a:solidFill>
                <a:latin typeface="Arial"/>
                <a:ea typeface="Malgun Gothic"/>
                <a:cs typeface="Malgun Gothic"/>
              </a:rPr>
              <a:t>붕괴 해</a:t>
            </a:r>
            <a:r>
              <a:rPr sz="1050" b="0" i="0">
                <a:solidFill>
                  <a:srgbClr val="16213A"/>
                </a:solidFill>
                <a:latin typeface="Arial"/>
                <a:ea typeface="Malgun Gothic"/>
                <a:cs typeface="Malgun Gothic"/>
              </a:rPr>
              <a:t>와 </a:t>
            </a:r>
            <a:r>
              <a:rPr sz="1050" b="1" i="0">
                <a:solidFill>
                  <a:srgbClr val="16213A"/>
                </a:solidFill>
                <a:latin typeface="Arial"/>
                <a:ea typeface="Malgun Gothic"/>
                <a:cs typeface="Malgun Gothic"/>
              </a:rPr>
              <a:t>다양한 쉬운 지형(흙길, 풀밭 등)을 한 점에 억지로 모으는 문제</a:t>
            </a:r>
            <a:r>
              <a:rPr sz="1050" b="0" i="0">
                <a:solidFill>
                  <a:srgbClr val="16213A"/>
                </a:solidFill>
                <a:latin typeface="Arial"/>
                <a:ea typeface="Malgun Gothic"/>
                <a:cs typeface="Malgun Gothic"/>
              </a:rPr>
              <a:t>가 있다. 그래서 정규화 흐름(Fastflow)으로 특징을 다루기 쉬운 분포로 옮기고, 변수 변환 공식의 Jacobian 항이 상수 사상(붕괴)을 벌하게 한다.</a:t>
            </a:r>
          </a:p>
        </p:txBody>
      </p:sp>
      <p:pic>
        <p:nvPicPr>
          <p:cNvPr id="8" name="Picture 7" descr="image.png"/>
          <p:cNvPicPr>
            <a:picLocks noChangeAspect="1"/>
          </p:cNvPicPr>
          <p:nvPr/>
        </p:nvPicPr>
        <p:blipFill>
          <a:blip r:embed="rId4"/>
          <a:stretch>
            <a:fillRect/>
          </a:stretch>
        </p:blipFill>
        <p:spPr>
          <a:xfrm>
            <a:off x="609600" y="2782391"/>
            <a:ext cx="4213225" cy="422275"/>
          </a:xfrm>
          <a:prstGeom prst="rect">
            <a:avLst/>
          </a:prstGeom>
        </p:spPr>
      </p:pic>
      <p:sp>
        <p:nvSpPr>
          <p:cNvPr id="9" name="TextBox 8"/>
          <p:cNvSpPr txBox="1"/>
          <p:nvPr/>
        </p:nvSpPr>
        <p:spPr>
          <a:xfrm>
            <a:off x="609600" y="321657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여기에 라벨 없는 픽셀을 prototype으로 군집화하는 자기지도 학습을 더해 인코더까지 끝까지 학습한다.</a:t>
            </a:r>
          </a:p>
        </p:txBody>
      </p:sp>
      <p:sp>
        <p:nvSpPr>
          <p:cNvPr id="10" name="TextBox 9"/>
          <p:cNvSpPr txBox="1"/>
          <p:nvPr/>
        </p:nvSpPr>
        <p:spPr>
          <a:xfrm>
            <a:off x="609600" y="352196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FootprintLabeler</a:t>
            </a:r>
            <a:r>
              <a:rPr sz="1050" b="0" i="0">
                <a:solidFill>
                  <a:srgbClr val="16213A"/>
                </a:solidFill>
                <a:latin typeface="Arial"/>
                <a:ea typeface="Malgun Gothic"/>
                <a:cs typeface="Malgun Gothic"/>
              </a:rPr>
              <a:t>의 "발자국 아래 칸만 라벨"과 같고, </a:t>
            </a:r>
            <a:r>
              <a:rPr sz="1050" b="1" i="0">
                <a:solidFill>
                  <a:srgbClr val="16213A"/>
                </a:solidFill>
                <a:latin typeface="Arial"/>
                <a:ea typeface="Malgun Gothic"/>
                <a:cs typeface="Malgun Gothic"/>
              </a:rPr>
              <a:t>가림 필터</a:t>
            </a:r>
            <a:r>
              <a:rPr sz="1050" b="0" i="0">
                <a:solidFill>
                  <a:srgbClr val="16213A"/>
                </a:solidFill>
                <a:latin typeface="Arial"/>
                <a:ea typeface="Malgun Gothic"/>
                <a:cs typeface="Malgun Gothic"/>
              </a:rPr>
              <a:t>가 빠져 있다는 점을 알려 준다. Isaac·실물 카메라로 라벨을 만들 때는 같은 LiDAR 가림 검사가 필요하다.</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160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지나가지 않은 곳에서 과신하지 않는다 — ScaTE</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arXiv:2209.06522</a:t>
            </a:r>
            <a:r>
              <a:rPr sz="1050" b="0" i="0">
                <a:solidFill>
                  <a:srgbClr val="16213A"/>
                </a:solidFill>
                <a:latin typeface="Arial"/>
                <a:ea typeface="Malgun Gothic"/>
                <a:cs typeface="Malgun Gothic"/>
              </a:rPr>
              <a:t>, RA-L/IROS 2023). 점군을 보고 "그 차량이 여기서 느낄 proprioception"을 예측해서, </a:t>
            </a:r>
            <a:r>
              <a:rPr sz="1050" b="1" i="0">
                <a:solidFill>
                  <a:srgbClr val="16213A"/>
                </a:solidFill>
                <a:latin typeface="Arial"/>
                <a:ea typeface="Malgun Gothic"/>
                <a:cs typeface="Malgun Gothic"/>
              </a:rPr>
              <a:t>차량마다 다른 traversability</a:t>
            </a:r>
            <a:r>
              <a:rPr sz="1050" b="0" i="0">
                <a:solidFill>
                  <a:srgbClr val="16213A"/>
                </a:solidFill>
                <a:latin typeface="Arial"/>
                <a:ea typeface="Malgun Gothic"/>
                <a:cs typeface="Malgun Gothic"/>
              </a:rPr>
              <a:t>를 학습한다. 그리고 </a:t>
            </a:r>
            <a:r>
              <a:rPr sz="1050" b="1" i="0">
                <a:solidFill>
                  <a:srgbClr val="16213A"/>
                </a:solidFill>
                <a:latin typeface="Arial"/>
                <a:ea typeface="Malgun Gothic"/>
                <a:cs typeface="Malgun Gothic"/>
              </a:rPr>
              <a:t>PU(positive-unlabeled) learning</a:t>
            </a:r>
            <a:r>
              <a:rPr sz="1050" b="0" i="0">
                <a:solidFill>
                  <a:srgbClr val="16213A"/>
                </a:solidFill>
                <a:latin typeface="Arial"/>
                <a:ea typeface="Malgun Gothic"/>
                <a:cs typeface="Malgun Gothic"/>
              </a:rPr>
              <a:t>으로, 한 번도 지나가지 않은 덤불이나 급경사를 모델이 근거 없이 "쉽다"고 판단하는 문제를 막는다. TP-0010 설계 문서에서 측정한 "라벨된 칸 6–9%, 힘든 곳 라벨 0–7%"가 정확히 이 문제다. 그래서 설계의 대응안(탐색 정책, 라벨 없는 칸은 가중치 0)에 </a:t>
            </a:r>
            <a:r>
              <a:rPr sz="1050" b="1" i="0">
                <a:solidFill>
                  <a:srgbClr val="16213A"/>
                </a:solidFill>
                <a:latin typeface="Arial"/>
                <a:ea typeface="Malgun Gothic"/>
                <a:cs typeface="Malgun Gothic"/>
              </a:rPr>
              <a:t>PU loss를 추가 후보</a:t>
            </a:r>
            <a:r>
              <a:rPr sz="1050" b="0" i="0">
                <a:solidFill>
                  <a:srgbClr val="16213A"/>
                </a:solidFill>
                <a:latin typeface="Arial"/>
                <a:ea typeface="Malgun Gothic"/>
                <a:cs typeface="Malgun Gothic"/>
              </a:rPr>
              <a:t>로 올렸다.</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161 / 359</a:t>
            </a:r>
          </a:p>
        </p:txBody>
      </p:sp>
      <p:pic>
        <p:nvPicPr>
          <p:cNvPr id="5" name="Picture 4" descr="image.jpg"/>
          <p:cNvPicPr>
            <a:picLocks noChangeAspect="1"/>
          </p:cNvPicPr>
          <p:nvPr/>
        </p:nvPicPr>
        <p:blipFill>
          <a:blip r:embed="rId3"/>
          <a:stretch>
            <a:fillRect/>
          </a:stretch>
        </p:blipFill>
        <p:spPr>
          <a:xfrm>
            <a:off x="1022350" y="1244600"/>
            <a:ext cx="10147300" cy="4445000"/>
          </a:xfrm>
          <a:prstGeom prst="rect">
            <a:avLst/>
          </a:prstGeom>
        </p:spPr>
      </p:pic>
      <p:sp>
        <p:nvSpPr>
          <p:cNvPr id="6" name="TextBox 5"/>
          <p:cNvSpPr txBox="1"/>
          <p:nvPr/>
        </p:nvSpPr>
        <p:spPr>
          <a:xfrm>
            <a:off x="1022350" y="5727700"/>
            <a:ext cx="101473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ScaTE (Fig. 2): 자기지도 traversability의 불확실성 문제. 지나가지 않은 덤불·자갈·급경사에서 추정이 과신한다. 출처: arXiv:2209.06522</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자세히: ScaTE의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162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데이터.</a:t>
            </a:r>
            <a:r>
              <a:rPr sz="1050" b="0" i="0">
                <a:solidFill>
                  <a:srgbClr val="16213A"/>
                </a:solidFill>
                <a:latin typeface="Arial"/>
                <a:ea typeface="Malgun Gothic"/>
                <a:cs typeface="Malgun Gothic"/>
              </a:rPr>
              <a:t> 바퀴마다 경험(예: 수직 힘)을 따로 기록하고, LiDAR SLAM으로 복원한 바퀴 접지 영역에서 바퀴 두께보다 가까운 점을 양성(정답 traversability 값 포함)으로, 나머지를 라벨 없음으로 둔다. 접지 순간의 속도와 heading도 함께 기록한다. 결과는 양성 </a:t>
            </a:r>
            <a:r>
              <a:rPr sz="1050" b="0" i="1">
                <a:solidFill>
                  <a:srgbClr val="16213A"/>
                </a:solidFill>
                <a:latin typeface="Arial"/>
                <a:ea typeface="Malgun Gothic"/>
                <a:cs typeface="Malgun Gothic"/>
              </a:rPr>
              <a:t>nₚ</a:t>
            </a:r>
            <a:r>
              <a:rPr sz="1050" b="0" i="0">
                <a:solidFill>
                  <a:srgbClr val="16213A"/>
                </a:solidFill>
                <a:latin typeface="Arial"/>
                <a:ea typeface="Malgun Gothic"/>
                <a:cs typeface="Malgun Gothic"/>
              </a:rPr>
              <a:t>개와 라벨 없음 </a:t>
            </a:r>
            <a:r>
              <a:rPr sz="1050" b="0" i="1">
                <a:solidFill>
                  <a:srgbClr val="16213A"/>
                </a:solidFill>
                <a:latin typeface="Arial"/>
                <a:ea typeface="Malgun Gothic"/>
                <a:cs typeface="Malgun Gothic"/>
              </a:rPr>
              <a:t>nᵤ</a:t>
            </a:r>
            <a:r>
              <a:rPr sz="1050" b="0" i="0">
                <a:solidFill>
                  <a:srgbClr val="16213A"/>
                </a:solidFill>
                <a:latin typeface="Arial"/>
                <a:ea typeface="Malgun Gothic"/>
                <a:cs typeface="Malgun Gothic"/>
              </a:rPr>
              <a:t>개로 된 PU 데이터다.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구조.</a:t>
            </a:r>
            <a:r>
              <a:rPr sz="1050" b="0" i="0">
                <a:solidFill>
                  <a:srgbClr val="16213A"/>
                </a:solidFill>
                <a:latin typeface="Arial"/>
                <a:ea typeface="Malgun Gothic"/>
                <a:cs typeface="Malgun Gothic"/>
              </a:rPr>
              <a:t> RandLA-Net이 점마다 특징 </a:t>
            </a:r>
            <a:r>
              <a:rPr sz="1050" b="0" i="1">
                <a:solidFill>
                  <a:srgbClr val="16213A"/>
                </a:solidFill>
                <a:latin typeface="Arial"/>
                <a:ea typeface="Malgun Gothic"/>
                <a:cs typeface="Malgun Gothic"/>
              </a:rPr>
              <a:t>xᵢ = f_θ(pᵢ)</a:t>
            </a:r>
            <a:r>
              <a:rPr sz="1050" b="0" i="0">
                <a:solidFill>
                  <a:srgbClr val="16213A"/>
                </a:solidFill>
                <a:latin typeface="Arial"/>
                <a:ea typeface="Malgun Gothic"/>
                <a:cs typeface="Malgun Gothic"/>
              </a:rPr>
              <a:t>를 내고, 두 헤드가 공유한다. 회귀 헤드는 </a:t>
            </a:r>
            <a:r>
              <a:rPr sz="1050" b="1" i="0">
                <a:solidFill>
                  <a:srgbClr val="16213A"/>
                </a:solidFill>
                <a:latin typeface="Arial"/>
                <a:ea typeface="Malgun Gothic"/>
                <a:cs typeface="Malgun Gothic"/>
              </a:rPr>
              <a:t>차량 상태와 함께</a:t>
            </a:r>
            <a:r>
              <a:rPr sz="1050" b="0" i="0">
                <a:solidFill>
                  <a:srgbClr val="16213A"/>
                </a:solidFill>
                <a:latin typeface="Arial"/>
                <a:ea typeface="Malgun Gothic"/>
                <a:cs typeface="Malgun Gothic"/>
              </a:rPr>
              <a:t> 바퀴별 traversability를 예측하고(양성 데이터만 사용), 분류 헤드는 "이 추정을 믿을 수 있는가(지나갈 수 있는가)"를 판정한다.</a:t>
            </a:r>
          </a:p>
        </p:txBody>
      </p:sp>
      <p:pic>
        <p:nvPicPr>
          <p:cNvPr id="7" name="Picture 6" descr="image.png"/>
          <p:cNvPicPr>
            <a:picLocks noChangeAspect="1"/>
          </p:cNvPicPr>
          <p:nvPr/>
        </p:nvPicPr>
        <p:blipFill>
          <a:blip r:embed="rId3"/>
          <a:stretch>
            <a:fillRect/>
          </a:stretch>
        </p:blipFill>
        <p:spPr>
          <a:xfrm>
            <a:off x="609600" y="2288381"/>
            <a:ext cx="2289175" cy="241300"/>
          </a:xfrm>
          <a:prstGeom prst="rect">
            <a:avLst/>
          </a:prstGeom>
        </p:spPr>
      </p:pic>
      <p:sp>
        <p:nvSpPr>
          <p:cNvPr id="8" name="TextBox 7"/>
          <p:cNvSpPr txBox="1"/>
          <p:nvPr/>
        </p:nvSpPr>
        <p:spPr>
          <a:xfrm>
            <a:off x="609600" y="256589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불확실성 처리(배경 0.9 ②).</a:t>
            </a:r>
            <a:r>
              <a:rPr sz="1050" b="0" i="0">
                <a:solidFill>
                  <a:srgbClr val="16213A"/>
                </a:solidFill>
                <a:latin typeface="Arial"/>
                <a:ea typeface="Malgun Gothic"/>
                <a:cs typeface="Malgun Gothic"/>
              </a:rPr>
              <a:t> 분류 특징을 양성 중심 </a:t>
            </a:r>
            <a:r>
              <a:rPr sz="1050" b="0" i="1">
                <a:solidFill>
                  <a:srgbClr val="16213A"/>
                </a:solidFill>
                <a:latin typeface="Arial"/>
                <a:ea typeface="Malgun Gothic"/>
                <a:cs typeface="Malgun Gothic"/>
              </a:rPr>
              <a:t>Cₚ</a:t>
            </a:r>
            <a:r>
              <a:rPr sz="1050" b="0" i="0">
                <a:solidFill>
                  <a:srgbClr val="16213A"/>
                </a:solidFill>
                <a:latin typeface="Arial"/>
                <a:ea typeface="Malgun Gothic"/>
                <a:cs typeface="Malgun Gothic"/>
              </a:rPr>
              <a:t> 주변에 모으고(Deep SVDD), 라벨 없는 점은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 prototype으로 균등 분할 군집화해 붕괴를 막는다. 양성 중심과의 유사도가 임계보다 낮은 점은 "지나가지 않은 곳이라 추정이 과신일 수 있음"으로 보고 피한다.</a:t>
            </a:r>
          </a:p>
        </p:txBody>
      </p:sp>
      <p:pic>
        <p:nvPicPr>
          <p:cNvPr id="9" name="Picture 8" descr="image.png"/>
          <p:cNvPicPr>
            <a:picLocks noChangeAspect="1"/>
          </p:cNvPicPr>
          <p:nvPr/>
        </p:nvPicPr>
        <p:blipFill>
          <a:blip r:embed="rId4"/>
          <a:stretch>
            <a:fillRect/>
          </a:stretch>
        </p:blipFill>
        <p:spPr>
          <a:xfrm>
            <a:off x="609600" y="3087787"/>
            <a:ext cx="5022850" cy="241300"/>
          </a:xfrm>
          <a:prstGeom prst="rect">
            <a:avLst/>
          </a:prstGeom>
        </p:spPr>
      </p:pic>
      <p:sp>
        <p:nvSpPr>
          <p:cNvPr id="10" name="TextBox 9"/>
          <p:cNvSpPr txBox="1"/>
          <p:nvPr/>
        </p:nvSpPr>
        <p:spPr>
          <a:xfrm>
            <a:off x="609600" y="33661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회귀에 차량 상태를 넣는 설계는 "같은 연석도 느리면 쉽고 빠르면 어렵다"를 담는다. TravNet 입력에 속도를 넣을지 정할 때 참고한다. 분류 헤드는 TP-0010 PU 대응안의 직접적인 구현 후보다.</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163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새 환경에 빨리 맞춘다 — METAVerse</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arXiv:2307.13991</a:t>
            </a:r>
            <a:r>
              <a:rPr sz="1050" b="0" i="0">
                <a:solidFill>
                  <a:srgbClr val="16213A"/>
                </a:solidFill>
                <a:latin typeface="Arial"/>
                <a:ea typeface="Malgun Gothic"/>
                <a:cs typeface="Malgun Gothic"/>
              </a:rPr>
              <a:t>). LiDAR 한 스윕으로 BEV 연속 비용 지도를 만든다. 여러 환경의 주행 데이터로 메타러닝한 전역 모델을, 배포 중에는 최근 상호작용 경험으로 </a:t>
            </a:r>
            <a:r>
              <a:rPr sz="1050" b="1" i="0">
                <a:solidFill>
                  <a:srgbClr val="16213A"/>
                </a:solidFill>
                <a:latin typeface="Arial"/>
                <a:ea typeface="Malgun Gothic"/>
                <a:cs typeface="Malgun Gothic"/>
              </a:rPr>
              <a:t>온라인 적응</a:t>
            </a:r>
            <a:r>
              <a:rPr sz="1050" b="0" i="0">
                <a:solidFill>
                  <a:srgbClr val="16213A"/>
                </a:solidFill>
                <a:latin typeface="Arial"/>
                <a:ea typeface="Malgun Gothic"/>
                <a:cs typeface="Malgun Gothic"/>
              </a:rPr>
              <a:t>시키고, 그 비용 지도를 MPC에 넣는다. WVN(A.7)의 "현장 5분 적응"을 LiDAR 쪽에서 푼 셈이다. travplan은 Isaac·실물 단계(TP-0010 E4 이후)에서 참고한다.</a:t>
            </a:r>
          </a:p>
        </p:txBody>
      </p:sp>
      <p:pic>
        <p:nvPicPr>
          <p:cNvPr id="6" name="Picture 5" descr="image.jpg"/>
          <p:cNvPicPr>
            <a:picLocks noChangeAspect="1"/>
          </p:cNvPicPr>
          <p:nvPr/>
        </p:nvPicPr>
        <p:blipFill>
          <a:blip r:embed="rId4"/>
          <a:stretch>
            <a:fillRect/>
          </a:stretch>
        </p:blipFill>
        <p:spPr>
          <a:xfrm>
            <a:off x="1016000" y="1766491"/>
            <a:ext cx="10160000" cy="3860800"/>
          </a:xfrm>
          <a:prstGeom prst="rect">
            <a:avLst/>
          </a:prstGeom>
        </p:spPr>
      </p:pic>
      <p:sp>
        <p:nvSpPr>
          <p:cNvPr id="7" name="TextBox 6"/>
          <p:cNvSpPr txBox="1"/>
          <p:nvPr/>
        </p:nvSpPr>
        <p:spPr>
          <a:xfrm>
            <a:off x="1016000" y="5665391"/>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METAVerse (Fig. 1): 자기 라벨 데이터로 메타러닝한 비용 예측 네트워크가 BEV 비용 지도를 만들고, 현장에서 온라인 적응해 MPC가 쓴다. 출처: arXiv:2307.13991</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자세히: METAVerse의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164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비용 라벨: 수직 가속의 wavelet 파워.</a:t>
            </a:r>
            <a:r>
              <a:rPr sz="1050" b="0" i="0">
                <a:solidFill>
                  <a:srgbClr val="16213A"/>
                </a:solidFill>
                <a:latin typeface="Arial"/>
                <a:ea typeface="Malgun Gothic"/>
                <a:cs typeface="Malgun Gothic"/>
              </a:rPr>
              <a:t> IMU의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축 가속 </a:t>
            </a:r>
            <a:r>
              <a:rPr sz="1050" b="0" i="1">
                <a:solidFill>
                  <a:srgbClr val="16213A"/>
                </a:solidFill>
                <a:latin typeface="Arial"/>
                <a:ea typeface="Malgun Gothic"/>
                <a:cs typeface="Malgun Gothic"/>
              </a:rPr>
              <a:t>a_z(t)</a:t>
            </a:r>
            <a:r>
              <a:rPr sz="1050" b="0" i="0">
                <a:solidFill>
                  <a:srgbClr val="16213A"/>
                </a:solidFill>
                <a:latin typeface="Arial"/>
                <a:ea typeface="Malgun Gothic"/>
                <a:cs typeface="Malgun Gothic"/>
              </a:rPr>
              <a:t>에 Morlet wavelet 변환을 하고, 주파수 척도 </a:t>
            </a:r>
            <a:r>
              <a:rPr sz="1050" b="0" i="1">
                <a:solidFill>
                  <a:srgbClr val="16213A"/>
                </a:solidFill>
                <a:latin typeface="Arial"/>
                <a:ea typeface="Malgun Gothic"/>
                <a:cs typeface="Malgun Gothic"/>
              </a:rPr>
              <a:t>fₙ = 2ⁿ f₀</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f₀ = 0.16</a:t>
            </a:r>
            <a:r>
              <a:rPr sz="1050" b="0" i="0">
                <a:solidFill>
                  <a:srgbClr val="16213A"/>
                </a:solidFill>
                <a:latin typeface="Arial"/>
                <a:ea typeface="Malgun Gothic"/>
                <a:cs typeface="Malgun Gothic"/>
              </a:rPr>
              <a:t>부터 </a:t>
            </a:r>
            <a:r>
              <a:rPr sz="1050" b="0" i="1">
                <a:solidFill>
                  <a:srgbClr val="16213A"/>
                </a:solidFill>
                <a:latin typeface="Arial"/>
                <a:ea typeface="Malgun Gothic"/>
                <a:cs typeface="Malgun Gothic"/>
              </a:rPr>
              <a:t>5.12</a:t>
            </a:r>
            <a:r>
              <a:rPr sz="1050" b="0" i="0">
                <a:solidFill>
                  <a:srgbClr val="16213A"/>
                </a:solidFill>
                <a:latin typeface="Arial"/>
                <a:ea typeface="Malgun Gothic"/>
                <a:cs typeface="Malgun Gothic"/>
              </a:rPr>
              <a:t> Hz까지)의 파워를 주파수로 나눠 더한다. 신호를 구간으로 자르지 않고도 시각마다 비용이 나온다. 궤적 위치의 BEV 칸에 이 비용을 붙인다.</a:t>
            </a:r>
          </a:p>
        </p:txBody>
      </p:sp>
      <p:pic>
        <p:nvPicPr>
          <p:cNvPr id="6" name="Picture 5" descr="image.png"/>
          <p:cNvPicPr>
            <a:picLocks noChangeAspect="1"/>
          </p:cNvPicPr>
          <p:nvPr/>
        </p:nvPicPr>
        <p:blipFill>
          <a:blip r:embed="rId3"/>
          <a:stretch>
            <a:fillRect/>
          </a:stretch>
        </p:blipFill>
        <p:spPr>
          <a:xfrm>
            <a:off x="609600" y="1766491"/>
            <a:ext cx="1543050" cy="555625"/>
          </a:xfrm>
          <a:prstGeom prst="rect">
            <a:avLst/>
          </a:prstGeom>
        </p:spPr>
      </p:pic>
      <p:sp>
        <p:nvSpPr>
          <p:cNvPr id="7" name="TextBox 6"/>
          <p:cNvSpPr txBox="1"/>
          <p:nvPr/>
        </p:nvSpPr>
        <p:spPr>
          <a:xfrm>
            <a:off x="609600" y="231388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비용 지도 네트워크.</a:t>
            </a:r>
            <a:r>
              <a:rPr sz="1050" b="0" i="0">
                <a:solidFill>
                  <a:srgbClr val="16213A"/>
                </a:solidFill>
                <a:latin typeface="Arial"/>
                <a:ea typeface="Malgun Gothic"/>
                <a:cs typeface="Malgun Gothic"/>
              </a:rPr>
              <a:t> LiDAR 한 스윕을 PointPillars처럼 기둥으로 나누고(점마다 </a:t>
            </a:r>
            <a:r>
              <a:rPr sz="1050" b="0" i="1">
                <a:solidFill>
                  <a:srgbClr val="16213A"/>
                </a:solidFill>
                <a:latin typeface="Arial"/>
                <a:ea typeface="Malgun Gothic"/>
                <a:cs typeface="Malgun Gothic"/>
              </a:rPr>
              <a:t>(Δ x, Δ y, Δ z, d)</a:t>
            </a:r>
            <a:r>
              <a:rPr sz="1050" b="0" i="0">
                <a:solidFill>
                  <a:srgbClr val="16213A"/>
                </a:solidFill>
                <a:latin typeface="Arial"/>
                <a:ea typeface="Malgun Gothic"/>
                <a:cs typeface="Malgun Gothic"/>
              </a:rPr>
              <a:t>), 간단한 PointNet으로 기둥 특징을 만든 뒤 BEV에 흩뿌리고 U-Net으로 조밀한 비용 지도를 낸다.</a:t>
            </a:r>
          </a:p>
        </p:txBody>
      </p:sp>
      <p:sp>
        <p:nvSpPr>
          <p:cNvPr id="8" name="TextBox 7"/>
          <p:cNvSpPr txBox="1"/>
          <p:nvPr/>
        </p:nvSpPr>
        <p:spPr>
          <a:xfrm>
            <a:off x="609600" y="261927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메타러닝(배경 0.11).</a:t>
            </a:r>
            <a:r>
              <a:rPr sz="1050" b="0" i="0">
                <a:solidFill>
                  <a:srgbClr val="16213A"/>
                </a:solidFill>
                <a:latin typeface="Arial"/>
                <a:ea typeface="Malgun Gothic"/>
                <a:cs typeface="Malgun Gothic"/>
              </a:rPr>
              <a:t> 환경마다 성질이 크게 다르므로 전체를 한 과제로 학습하면 우연 불확실성이 커진다. 대신 </a:t>
            </a:r>
            <a:r>
              <a:rPr sz="1050" b="1" i="0">
                <a:solidFill>
                  <a:srgbClr val="16213A"/>
                </a:solidFill>
                <a:latin typeface="Arial"/>
                <a:ea typeface="Malgun Gothic"/>
                <a:cs typeface="Malgun Gothic"/>
              </a:rPr>
              <a:t>궤적 조각 하나를 과제 하나</a:t>
            </a:r>
            <a:r>
              <a:rPr sz="1050" b="0" i="0">
                <a:solidFill>
                  <a:srgbClr val="16213A"/>
                </a:solidFill>
                <a:latin typeface="Arial"/>
                <a:ea typeface="Malgun Gothic"/>
                <a:cs typeface="Malgun Gothic"/>
              </a:rPr>
              <a:t>로 보고, 지난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 스텝의 경험으로 적응한 모델이 다음 구간의 비용을 잘 맞히도록 MAML로 학습한다. 배포 중에는 최근 경험으로 몇 스텝 경사하강해 현재 환경에 맞춘다.</a:t>
            </a:r>
          </a:p>
        </p:txBody>
      </p:sp>
      <p:sp>
        <p:nvSpPr>
          <p:cNvPr id="9" name="TextBox 8"/>
          <p:cNvSpPr txBox="1"/>
          <p:nvPr/>
        </p:nvSpPr>
        <p:spPr>
          <a:xfrm>
            <a:off x="609600" y="314116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 </a:t>
            </a:r>
            <a:r>
              <a:rPr sz="1050" b="0" i="0">
                <a:solidFill>
                  <a:srgbClr val="16213A"/>
                </a:solidFill>
                <a:latin typeface="Consolas"/>
                <a:ea typeface="Malgun Gothic"/>
                <a:cs typeface="Malgun Gothic"/>
              </a:rPr>
              <a:t>KinematicProprioProxy</a:t>
            </a:r>
            <a:r>
              <a:rPr sz="1050" b="0" i="0">
                <a:solidFill>
                  <a:srgbClr val="16213A"/>
                </a:solidFill>
                <a:latin typeface="Arial"/>
                <a:ea typeface="Malgun Gothic"/>
                <a:cs typeface="Malgun Gothic"/>
              </a:rPr>
              <a:t>는 차체 높이의 2차 차분(수직 가속)을 4 m/s²로 나눠 쓴다. 이 논문처럼 </a:t>
            </a:r>
            <a:r>
              <a:rPr sz="1050" b="1" i="0">
                <a:solidFill>
                  <a:srgbClr val="16213A"/>
                </a:solidFill>
                <a:latin typeface="Arial"/>
                <a:ea typeface="Malgun Gothic"/>
                <a:cs typeface="Malgun Gothic"/>
              </a:rPr>
              <a:t>주파수별 파워</a:t>
            </a:r>
            <a:r>
              <a:rPr sz="1050" b="0" i="0">
                <a:solidFill>
                  <a:srgbClr val="16213A"/>
                </a:solidFill>
                <a:latin typeface="Arial"/>
                <a:ea typeface="Malgun Gothic"/>
                <a:cs typeface="Malgun Gothic"/>
              </a:rPr>
              <a:t>로 바꾸면 느린 경사와 빠른 요철을 구분할 수 있다. TP-0022 E1(proxy 튜닝)의 후보다.</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165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④ 불확실성으로 가중해 지도에 쌓는다 — Evidential BKI 계열.</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Evidential Semantic Mapping</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arXiv:2403.14138</a:t>
            </a:r>
            <a:r>
              <a:rPr sz="1050" b="0" i="0">
                <a:solidFill>
                  <a:srgbClr val="16213A"/>
                </a:solidFill>
                <a:latin typeface="Arial"/>
                <a:ea typeface="Malgun Gothic"/>
                <a:cs typeface="Malgun Gothic"/>
              </a:rPr>
              <a:t>)은 Evidential Deep Learning으로 분할 결과의 불확실성을 구하고, </a:t>
            </a:r>
            <a:r>
              <a:rPr sz="1050" b="1" i="0">
                <a:solidFill>
                  <a:srgbClr val="16213A"/>
                </a:solidFill>
                <a:latin typeface="Arial"/>
                <a:ea typeface="Malgun Gothic"/>
                <a:cs typeface="Malgun Gothic"/>
              </a:rPr>
              <a:t>Bayesian Kernel Inference(BKI)</a:t>
            </a:r>
            <a:r>
              <a:rPr sz="1050" b="0" i="0">
                <a:solidFill>
                  <a:srgbClr val="16213A"/>
                </a:solidFill>
                <a:latin typeface="Arial"/>
                <a:ea typeface="Malgun Gothic"/>
                <a:cs typeface="Malgun Gothic"/>
              </a:rPr>
              <a:t>로 지도를 합칠 때 확신 높은 예측을 우선한다. 후속 </a:t>
            </a:r>
            <a:r>
              <a:rPr sz="1050" b="1" i="0">
                <a:solidFill>
                  <a:srgbClr val="16213A"/>
                </a:solidFill>
                <a:latin typeface="Arial"/>
                <a:ea typeface="Malgun Gothic"/>
                <a:cs typeface="Malgun Gothic"/>
              </a:rPr>
              <a:t>E2-BKI</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arXiv:2509.11964</a:t>
            </a:r>
            <a:r>
              <a:rPr sz="1050" b="0" i="0">
                <a:solidFill>
                  <a:srgbClr val="16213A"/>
                </a:solidFill>
                <a:latin typeface="Arial"/>
                <a:ea typeface="Malgun Gothic"/>
                <a:cs typeface="Malgun Gothic"/>
              </a:rPr>
              <a:t>)는 노이즈 점을 가우시안으로 묶고 장면 기하에 맞춘 타원형 커널을 쓴다. 같은 저자의 Dempster-Shafer 증거 이론 변형도 있다(</a:t>
            </a:r>
            <a:r>
              <a:rPr sz="1050" b="0" i="0">
                <a:solidFill>
                  <a:srgbClr val="1D4ED8"/>
                </a:solidFill>
                <a:latin typeface="Arial"/>
                <a:ea typeface="Malgun Gothic"/>
                <a:cs typeface="Malgun Gothic"/>
                <a:hlinkClick r:id="rId5"/>
              </a:rPr>
              <a:t>arXiv:2405.06265</a:t>
            </a:r>
            <a:r>
              <a:rPr sz="1050" b="0" i="0">
                <a:solidFill>
                  <a:srgbClr val="16213A"/>
                </a:solidFill>
                <a:latin typeface="Arial"/>
                <a:ea typeface="Malgun Gothic"/>
                <a:cs typeface="Malgun Gothic"/>
              </a:rPr>
              <a:t>). travplan에서는 </a:t>
            </a:r>
            <a:r>
              <a:rPr sz="1050" b="0" i="0">
                <a:solidFill>
                  <a:srgbClr val="16213A"/>
                </a:solidFill>
                <a:latin typeface="Consolas"/>
                <a:ea typeface="Malgun Gothic"/>
                <a:cs typeface="Malgun Gothic"/>
              </a:rPr>
              <a:t>TravMap.SIGMA</a:t>
            </a:r>
            <a:r>
              <a:rPr sz="1050" b="0" i="0">
                <a:solidFill>
                  <a:srgbClr val="16213A"/>
                </a:solidFill>
                <a:latin typeface="Arial"/>
                <a:ea typeface="Malgun Gothic"/>
                <a:cs typeface="Malgun Gothic"/>
              </a:rPr>
              <a:t>를 만드는 방식을 개선할 때 참고한다. 지금은 "미관측이면 1"이지만, 관측 거리와 예측 확신도를 σ에 반영할 수 있다.</a:t>
            </a:r>
          </a:p>
        </p:txBody>
      </p:sp>
      <p:pic>
        <p:nvPicPr>
          <p:cNvPr id="6" name="Picture 5" descr="image.jpg"/>
          <p:cNvPicPr>
            <a:picLocks noChangeAspect="1"/>
          </p:cNvPicPr>
          <p:nvPr/>
        </p:nvPicPr>
        <p:blipFill>
          <a:blip r:embed="rId6"/>
          <a:stretch>
            <a:fillRect/>
          </a:stretch>
        </p:blipFill>
        <p:spPr>
          <a:xfrm>
            <a:off x="609600" y="2199481"/>
            <a:ext cx="5410200" cy="1485900"/>
          </a:xfrm>
          <a:prstGeom prst="rect">
            <a:avLst/>
          </a:prstGeom>
        </p:spPr>
      </p:pic>
      <p:sp>
        <p:nvSpPr>
          <p:cNvPr id="7" name="TextBox 6"/>
          <p:cNvSpPr txBox="1"/>
          <p:nvPr/>
        </p:nvSpPr>
        <p:spPr>
          <a:xfrm>
            <a:off x="609600" y="3723481"/>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Evidential Semantic Mapping (Fig. 2): 증거 기반 분할 네트워크가 확률과 불확실성을 내고, 불확실성 인지 BKI가 확신 높은 예측 위주로 3D 지도를 쌓는다. 출처: arXiv:2403.14138</a:t>
            </a:r>
          </a:p>
        </p:txBody>
      </p:sp>
      <p:pic>
        <p:nvPicPr>
          <p:cNvPr id="8" name="Picture 7" descr="image.jpg"/>
          <p:cNvPicPr>
            <a:picLocks noChangeAspect="1"/>
          </p:cNvPicPr>
          <p:nvPr/>
        </p:nvPicPr>
        <p:blipFill>
          <a:blip r:embed="rId7"/>
          <a:stretch>
            <a:fillRect/>
          </a:stretch>
        </p:blipFill>
        <p:spPr>
          <a:xfrm>
            <a:off x="6172200" y="2199481"/>
            <a:ext cx="3251200" cy="2667000"/>
          </a:xfrm>
          <a:prstGeom prst="rect">
            <a:avLst/>
          </a:prstGeom>
        </p:spPr>
      </p:pic>
      <p:sp>
        <p:nvSpPr>
          <p:cNvPr id="9" name="TextBox 8"/>
          <p:cNvSpPr txBox="1"/>
          <p:nvPr/>
        </p:nvSpPr>
        <p:spPr>
          <a:xfrm>
            <a:off x="6172200" y="4904581"/>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E2-BKI (Fig. 1): 신뢰할 수 있는 관측을 우선하는 처리와 장면 기하에 맞춘 비등방(타원) 커널로 정확한 지도를 만든다. 출처: arXiv:2509.11964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자세히: Evidential Semantic Mapping의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166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BKI 사후분포(배경 0.10).</a:t>
            </a:r>
            <a:r>
              <a:rPr sz="1050" b="0" i="0">
                <a:solidFill>
                  <a:srgbClr val="16213A"/>
                </a:solidFill>
                <a:latin typeface="Arial"/>
                <a:ea typeface="Malgun Gothic"/>
                <a:cs typeface="Malgun Gothic"/>
              </a:rPr>
              <a:t> 질의점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의 클래스 확률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에 Dirichlet 사전분포를 두고, 관측이 커널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만큼 기여하게 한다. 커널을 지수로 쓰는 "확장 우도"가 최대 엔트로피 분포라는 결과(BKI)를 쓰면 사후분포가 닫힌 형태로 나오고, 순차 갱신이 가능하다.</a:t>
            </a:r>
          </a:p>
        </p:txBody>
      </p:sp>
      <p:pic>
        <p:nvPicPr>
          <p:cNvPr id="6" name="Picture 5" descr="image.png"/>
          <p:cNvPicPr>
            <a:picLocks noChangeAspect="1"/>
          </p:cNvPicPr>
          <p:nvPr/>
        </p:nvPicPr>
        <p:blipFill>
          <a:blip r:embed="rId3"/>
          <a:stretch>
            <a:fillRect/>
          </a:stretch>
        </p:blipFill>
        <p:spPr>
          <a:xfrm>
            <a:off x="609600" y="1766491"/>
            <a:ext cx="3009900" cy="549275"/>
          </a:xfrm>
          <a:prstGeom prst="rect">
            <a:avLst/>
          </a:prstGeom>
        </p:spPr>
      </p:pic>
      <p:sp>
        <p:nvSpPr>
          <p:cNvPr id="7" name="TextBox 6"/>
          <p:cNvSpPr txBox="1"/>
          <p:nvPr/>
        </p:nvSpPr>
        <p:spPr>
          <a:xfrm>
            <a:off x="609600" y="231090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evidential 분할(배경 0.8).</a:t>
            </a:r>
            <a:r>
              <a:rPr sz="1050" b="0" i="0">
                <a:solidFill>
                  <a:srgbClr val="16213A"/>
                </a:solidFill>
                <a:latin typeface="Arial"/>
                <a:ea typeface="Malgun Gothic"/>
                <a:cs typeface="Malgun Gothic"/>
              </a:rPr>
              <a:t> 분할 네트워크 마지막 softmax를 </a:t>
            </a:r>
            <a:r>
              <a:rPr sz="1050" b="0" i="1">
                <a:solidFill>
                  <a:srgbClr val="16213A"/>
                </a:solidFill>
                <a:latin typeface="Arial"/>
                <a:ea typeface="Malgun Gothic"/>
                <a:cs typeface="Malgun Gothic"/>
              </a:rPr>
              <a:t>exp</a:t>
            </a:r>
            <a:r>
              <a:rPr sz="1050" b="0" i="0">
                <a:solidFill>
                  <a:srgbClr val="16213A"/>
                </a:solidFill>
                <a:latin typeface="Arial"/>
                <a:ea typeface="Malgun Gothic"/>
                <a:cs typeface="Malgun Gothic"/>
              </a:rPr>
              <a:t>로 바꿔 증거 </a:t>
            </a:r>
            <a:r>
              <a:rPr sz="1050" b="0" i="1">
                <a:solidFill>
                  <a:srgbClr val="16213A"/>
                </a:solidFill>
                <a:latin typeface="Arial"/>
                <a:ea typeface="Malgun Gothic"/>
                <a:cs typeface="Malgun Gothic"/>
              </a:rPr>
              <a:t>eᵢ</a:t>
            </a:r>
            <a:r>
              <a:rPr sz="1050" b="0" i="0">
                <a:solidFill>
                  <a:srgbClr val="16213A"/>
                </a:solidFill>
                <a:latin typeface="Arial"/>
                <a:ea typeface="Malgun Gothic"/>
                <a:cs typeface="Malgun Gothic"/>
              </a:rPr>
              <a:t>를 내고, </a:t>
            </a:r>
            <a:r>
              <a:rPr sz="1050" b="0" i="1">
                <a:solidFill>
                  <a:srgbClr val="16213A"/>
                </a:solidFill>
                <a:latin typeface="Arial"/>
                <a:ea typeface="Malgun Gothic"/>
                <a:cs typeface="Malgun Gothic"/>
              </a:rPr>
              <a:t>α̂ᵢ^c = eᵢ^c + 1</a:t>
            </a:r>
            <a:r>
              <a:rPr sz="1050" b="0" i="0">
                <a:solidFill>
                  <a:srgbClr val="16213A"/>
                </a:solidFill>
                <a:latin typeface="Arial"/>
                <a:ea typeface="Malgun Gothic"/>
                <a:cs typeface="Malgun Gothic"/>
              </a:rPr>
              <a:t>, 불확실성 </a:t>
            </a:r>
            <a:r>
              <a:rPr sz="1050" b="0" i="1">
                <a:solidFill>
                  <a:srgbClr val="16213A"/>
                </a:solidFill>
                <a:latin typeface="Arial"/>
                <a:ea typeface="Malgun Gothic"/>
                <a:cs typeface="Malgun Gothic"/>
              </a:rPr>
              <a:t>uᵢ = C / Ŝᵢ</a:t>
            </a:r>
            <a:r>
              <a:rPr sz="1050" b="0" i="0">
                <a:solidFill>
                  <a:srgbClr val="16213A"/>
                </a:solidFill>
                <a:latin typeface="Arial"/>
                <a:ea typeface="Malgun Gothic"/>
                <a:cs typeface="Malgun Gothic"/>
              </a:rPr>
              <a:t>를 한 번의 forward로 얻는다.</a:t>
            </a:r>
          </a:p>
        </p:txBody>
      </p:sp>
      <p:sp>
        <p:nvSpPr>
          <p:cNvPr id="8" name="TextBox 7"/>
          <p:cNvSpPr txBox="1"/>
          <p:nvPr/>
        </p:nvSpPr>
        <p:spPr>
          <a:xfrm>
            <a:off x="609600" y="261629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불확실성 인지 확장.</a:t>
            </a:r>
            <a:r>
              <a:rPr sz="1050" b="0" i="0">
                <a:solidFill>
                  <a:srgbClr val="16213A"/>
                </a:solidFill>
                <a:latin typeface="Arial"/>
                <a:ea typeface="Malgun Gothic"/>
                <a:cs typeface="Malgun Gothic"/>
              </a:rPr>
              <a:t> 원-핫 라벨 대신 확률 벡터 </a:t>
            </a:r>
            <a:r>
              <a:rPr sz="1050" b="0" i="1">
                <a:solidFill>
                  <a:srgbClr val="16213A"/>
                </a:solidFill>
                <a:latin typeface="Arial"/>
                <a:ea typeface="Malgun Gothic"/>
                <a:cs typeface="Malgun Gothic"/>
              </a:rPr>
              <a:t>pᵢ</a:t>
            </a:r>
            <a:r>
              <a:rPr sz="1050" b="0" i="0">
                <a:solidFill>
                  <a:srgbClr val="16213A"/>
                </a:solidFill>
                <a:latin typeface="Arial"/>
                <a:ea typeface="Malgun Gothic"/>
                <a:cs typeface="Malgun Gothic"/>
              </a:rPr>
              <a:t>를 그대로 쓰도록 우도를 연속 범주형으로 일반화한다. Dirichlet이 여전히 켤레라서 갱신이 간단하다.</a:t>
            </a:r>
          </a:p>
        </p:txBody>
      </p:sp>
      <p:pic>
        <p:nvPicPr>
          <p:cNvPr id="9" name="Picture 8" descr="image.png"/>
          <p:cNvPicPr>
            <a:picLocks noChangeAspect="1"/>
          </p:cNvPicPr>
          <p:nvPr/>
        </p:nvPicPr>
        <p:blipFill>
          <a:blip r:embed="rId4"/>
          <a:stretch>
            <a:fillRect/>
          </a:stretch>
        </p:blipFill>
        <p:spPr>
          <a:xfrm>
            <a:off x="609600" y="2921695"/>
            <a:ext cx="1990725" cy="549275"/>
          </a:xfrm>
          <a:prstGeom prst="rect">
            <a:avLst/>
          </a:prstGeom>
        </p:spPr>
      </p:pic>
      <p:sp>
        <p:nvSpPr>
          <p:cNvPr id="10" name="TextBox 9"/>
          <p:cNvSpPr txBox="1"/>
          <p:nvPr/>
        </p:nvSpPr>
        <p:spPr>
          <a:xfrm>
            <a:off x="609600" y="346610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그리고 </a:t>
            </a:r>
            <a:r>
              <a:rPr sz="1050" b="1" i="0">
                <a:solidFill>
                  <a:srgbClr val="16213A"/>
                </a:solidFill>
                <a:latin typeface="Arial"/>
                <a:ea typeface="Malgun Gothic"/>
                <a:cs typeface="Malgun Gothic"/>
              </a:rPr>
              <a:t>커널 길이를 불확실성으로 조절</a:t>
            </a:r>
            <a:r>
              <a:rPr sz="1050" b="0" i="0">
                <a:solidFill>
                  <a:srgbClr val="16213A"/>
                </a:solidFill>
                <a:latin typeface="Arial"/>
                <a:ea typeface="Malgun Gothic"/>
                <a:cs typeface="Malgun Gothic"/>
              </a:rPr>
              <a:t>한다. 확신 있는 관측은 넓게, 불확실한 관측은 좁게 퍼지고, 임계를 넘는 관측은 버린다(</a:t>
            </a:r>
            <a:r>
              <a:rPr sz="1050" b="0" i="1">
                <a:solidFill>
                  <a:srgbClr val="16213A"/>
                </a:solidFill>
                <a:latin typeface="Arial"/>
                <a:ea typeface="Malgun Gothic"/>
                <a:cs typeface="Malgun Gothic"/>
              </a:rPr>
              <a:t>β, γ</a:t>
            </a:r>
            <a:r>
              <a:rPr sz="1050" b="0" i="0">
                <a:solidFill>
                  <a:srgbClr val="16213A"/>
                </a:solidFill>
                <a:latin typeface="Arial"/>
                <a:ea typeface="Malgun Gothic"/>
                <a:cs typeface="Malgun Gothic"/>
              </a:rPr>
              <a:t>: 하이퍼파라미터).</a:t>
            </a:r>
          </a:p>
        </p:txBody>
      </p:sp>
      <p:pic>
        <p:nvPicPr>
          <p:cNvPr id="11" name="Picture 10" descr="image.png"/>
          <p:cNvPicPr>
            <a:picLocks noChangeAspect="1"/>
          </p:cNvPicPr>
          <p:nvPr/>
        </p:nvPicPr>
        <p:blipFill>
          <a:blip r:embed="rId5"/>
          <a:stretch>
            <a:fillRect/>
          </a:stretch>
        </p:blipFill>
        <p:spPr>
          <a:xfrm>
            <a:off x="609600" y="3771503"/>
            <a:ext cx="3305175" cy="533400"/>
          </a:xfrm>
          <a:prstGeom prst="rect">
            <a:avLst/>
          </a:prstGeom>
        </p:spPr>
      </p:pic>
      <p:sp>
        <p:nvSpPr>
          <p:cNvPr id="12" name="TextBox 11"/>
          <p:cNvSpPr txBox="1"/>
          <p:nvPr/>
        </p:nvSpPr>
        <p:spPr>
          <a:xfrm>
            <a:off x="609600" y="430043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TravMap을 여러 프레임에 걸쳐 쌓을 때(지금은 시간 필터 0.7/0.3), 관측마다 σ에 따라 영향 범위를 바꾸는 방법이다.</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자세히: E2-BKI의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167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출발점.</a:t>
            </a:r>
            <a:r>
              <a:rPr sz="1050" b="0" i="0">
                <a:solidFill>
                  <a:srgbClr val="16213A"/>
                </a:solidFill>
                <a:latin typeface="Arial"/>
                <a:ea typeface="Malgun Gothic"/>
                <a:cs typeface="Malgun Gothic"/>
              </a:rPr>
              <a:t> 기본 semantic BKI(S-BKI)는 </a:t>
            </a:r>
            <a:r>
              <a:rPr sz="1050" b="1" i="0">
                <a:solidFill>
                  <a:srgbClr val="16213A"/>
                </a:solidFill>
                <a:latin typeface="Arial"/>
                <a:ea typeface="Malgun Gothic"/>
                <a:cs typeface="Malgun Gothic"/>
              </a:rPr>
              <a:t>등방성 커널</a:t>
            </a:r>
            <a:r>
              <a:rPr sz="1050" b="0" i="0">
                <a:solidFill>
                  <a:srgbClr val="16213A"/>
                </a:solidFill>
                <a:latin typeface="Arial"/>
                <a:ea typeface="Malgun Gothic"/>
                <a:cs typeface="Malgun Gothic"/>
              </a:rPr>
              <a:t>로 주변 관측을 모은다. 가까운 관측을 우선하지만 방향을 가리지 않아, 벽이나 연석 경계처럼 구조가 뚜렷한 곳에서 반대편 관측까지 섞는다.</a:t>
            </a:r>
          </a:p>
        </p:txBody>
      </p:sp>
      <p:pic>
        <p:nvPicPr>
          <p:cNvPr id="6" name="Picture 5" descr="image.png"/>
          <p:cNvPicPr>
            <a:picLocks noChangeAspect="1"/>
          </p:cNvPicPr>
          <p:nvPr/>
        </p:nvPicPr>
        <p:blipFill>
          <a:blip r:embed="rId3"/>
          <a:stretch>
            <a:fillRect/>
          </a:stretch>
        </p:blipFill>
        <p:spPr>
          <a:xfrm>
            <a:off x="609600" y="1549995"/>
            <a:ext cx="2949575" cy="549275"/>
          </a:xfrm>
          <a:prstGeom prst="rect">
            <a:avLst/>
          </a:prstGeom>
        </p:spPr>
      </p:pic>
      <p:sp>
        <p:nvSpPr>
          <p:cNvPr id="7" name="TextBox 6"/>
          <p:cNvSpPr txBox="1"/>
          <p:nvPr/>
        </p:nvSpPr>
        <p:spPr>
          <a:xfrm>
            <a:off x="609600" y="209292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E2-BKI의 두 장치.</a:t>
            </a:r>
          </a:p>
        </p:txBody>
      </p:sp>
      <p:sp>
        <p:nvSpPr>
          <p:cNvPr id="8" name="TextBox 7"/>
          <p:cNvSpPr txBox="1"/>
          <p:nvPr/>
        </p:nvSpPr>
        <p:spPr>
          <a:xfrm>
            <a:off x="609600" y="2398316"/>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증거 기반 처리.</a:t>
            </a:r>
            <a:r>
              <a:rPr sz="1050" b="0" i="0">
                <a:solidFill>
                  <a:srgbClr val="16213A"/>
                </a:solidFill>
                <a:latin typeface="Arial"/>
                <a:ea typeface="Malgun Gothic"/>
                <a:cs typeface="Malgun Gothic"/>
              </a:rPr>
              <a:t> Evidential BKI처럼 관측의 불확실성으로 신뢰할 관측을 우선한다. 센서에서 멀수록 관측이 희소하고 거칠다는 점도 반영한다.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타원 가우시안 커널.</a:t>
            </a:r>
            <a:r>
              <a:rPr sz="1050" b="0" i="0">
                <a:solidFill>
                  <a:srgbClr val="16213A"/>
                </a:solidFill>
                <a:latin typeface="Arial"/>
                <a:ea typeface="Malgun Gothic"/>
                <a:cs typeface="Malgun Gothic"/>
              </a:rPr>
              <a:t> 노이즈 섞인 점들을 이방성 가우시안 원시체로 묶고, 그 공분산이 장면 기하(표면 방향)를 따르게 한다. 커널이 구조를 따라 퍼지고 가로지르지 않으므로 경계가 선명해진다.</a:t>
            </a:r>
          </a:p>
        </p:txBody>
      </p:sp>
      <p:sp>
        <p:nvSpPr>
          <p:cNvPr id="9" name="TextBox 8"/>
          <p:cNvSpPr txBox="1"/>
          <p:nvPr/>
        </p:nvSpPr>
        <p:spPr>
          <a:xfrm>
            <a:off x="609600" y="294560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2.5D TravMap에서도 연석 경계를 가로질러 높이·비용이 번지는 문제가 있다(</a:t>
            </a:r>
            <a:r>
              <a:rPr sz="1050" b="0" i="0">
                <a:solidFill>
                  <a:srgbClr val="16213A"/>
                </a:solidFill>
                <a:latin typeface="Consolas"/>
                <a:ea typeface="Malgun Gothic"/>
                <a:cs typeface="Malgun Gothic"/>
              </a:rPr>
              <a:t>fill_unknown</a:t>
            </a:r>
            <a:r>
              <a:rPr sz="1050" b="0" i="0">
                <a:solidFill>
                  <a:srgbClr val="16213A"/>
                </a:solidFill>
                <a:latin typeface="Arial"/>
                <a:ea typeface="Malgun Gothic"/>
                <a:cs typeface="Malgun Gothic"/>
              </a:rPr>
              <a:t>의 확산 보간). 경계를 따라 퍼지는 이방성 보간의 근거다.</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168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⑤ 빈 곳을 채우며 위험을 예측한다 — TRIP</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arXiv:2411.17134</a:t>
            </a:r>
            <a:r>
              <a:rPr sz="1050" b="0" i="0">
                <a:solidFill>
                  <a:srgbClr val="16213A"/>
                </a:solidFill>
                <a:latin typeface="Arial"/>
                <a:ea typeface="Malgun Gothic"/>
                <a:cs typeface="Malgun Gothic"/>
              </a:rPr>
              <a:t>, KAIST Urban Robotics Lab). 다리 로봇은 시야가 좁고 가림이 많아 지형에 빈 곳이 생긴다. TRIP은 그 빈 곳을 채우면서 </a:t>
            </a:r>
            <a:r>
              <a:rPr sz="1050" b="1" i="0">
                <a:solidFill>
                  <a:srgbClr val="16213A"/>
                </a:solidFill>
                <a:latin typeface="Arial"/>
                <a:ea typeface="Malgun Gothic"/>
                <a:cs typeface="Malgun Gothic"/>
              </a:rPr>
              <a:t>여러 종류의 위험을 함께 예측</a:t>
            </a:r>
            <a:r>
              <a:rPr sz="1050" b="0" i="0">
                <a:solidFill>
                  <a:srgbClr val="16213A"/>
                </a:solidFill>
                <a:latin typeface="Arial"/>
                <a:ea typeface="Malgun Gothic"/>
                <a:cs typeface="Malgun Gothic"/>
              </a:rPr>
              <a:t>한다. 구면 투영 공간에서 발 디딤 가능성(steppability)을 추정하고, traversability를 고려한 Bayesian generalized kernel(T-BGK)로 빈 곳을 보간하며, steppability 기반 Mahalanobis 거리로 이상치와 움직이는 물체를 걸러 정적 지도를 만든다. ④의 BKI처럼 "커널 추론으로 빈 곳 채우기"를 온라인 내비에 적용한 사례이고, travplan </a:t>
            </a:r>
            <a:r>
              <a:rPr sz="1050" b="0" i="0">
                <a:solidFill>
                  <a:srgbClr val="16213A"/>
                </a:solidFill>
                <a:latin typeface="Consolas"/>
                <a:ea typeface="Malgun Gothic"/>
                <a:cs typeface="Malgun Gothic"/>
              </a:rPr>
              <a:t>fill_unknown</a:t>
            </a:r>
            <a:r>
              <a:rPr sz="1050" b="0" i="0">
                <a:solidFill>
                  <a:srgbClr val="16213A"/>
                </a:solidFill>
                <a:latin typeface="Arial"/>
                <a:ea typeface="Malgun Gothic"/>
                <a:cs typeface="Malgun Gothic"/>
              </a:rPr>
              <a:t>(미관측 확산 보간)을 개선할 때 참고한다.</a:t>
            </a:r>
          </a:p>
        </p:txBody>
      </p:sp>
      <p:pic>
        <p:nvPicPr>
          <p:cNvPr id="6" name="Picture 5" descr="image.jpg"/>
          <p:cNvPicPr>
            <a:picLocks noChangeAspect="1"/>
          </p:cNvPicPr>
          <p:nvPr/>
        </p:nvPicPr>
        <p:blipFill>
          <a:blip r:embed="rId4"/>
          <a:stretch>
            <a:fillRect/>
          </a:stretch>
        </p:blipFill>
        <p:spPr>
          <a:xfrm>
            <a:off x="3333750" y="2199481"/>
            <a:ext cx="5524500" cy="3486150"/>
          </a:xfrm>
          <a:prstGeom prst="rect">
            <a:avLst/>
          </a:prstGeom>
        </p:spPr>
      </p:pic>
      <p:sp>
        <p:nvSpPr>
          <p:cNvPr id="7" name="TextBox 6"/>
          <p:cNvSpPr txBox="1"/>
          <p:nvPr/>
        </p:nvSpPr>
        <p:spPr>
          <a:xfrm>
            <a:off x="3333750" y="5723731"/>
            <a:ext cx="55245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TRIP (Fig. 1): 지역·전역 지형 지도를 만들면서 여러 종류의 traversability 위험을 함께 예측한다. 출처: arXiv:2411.17134</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r>
              <a:rPr sz="1050" b="0" i="0">
                <a:solidFill>
                  <a:srgbClr val="5A6478"/>
                </a:solidFill>
                <a:latin typeface="Arial"/>
                <a:ea typeface="Malgun Gothic"/>
                <a:cs typeface="Malgun Gothic"/>
              </a:rPr>
              <a:t>  자세히: TRIP의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169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세 단계.</a:t>
            </a:r>
            <a:r>
              <a:rPr sz="1050" b="0" i="0">
                <a:solidFill>
                  <a:srgbClr val="16213A"/>
                </a:solidFill>
                <a:latin typeface="Arial"/>
                <a:ea typeface="Malgun Gothic"/>
                <a:cs typeface="Malgun Gothic"/>
              </a:rPr>
              <a:t> ① 구면 투영 공간에서 발 디딤 가능성(steppability) 추정, ② traversability를 고려한 커널 추론(T-BGK)으로 지역 지형 지도 채우기, ③ steppability 기반 Mahalanobis 거리로 이상치를 걸러 지도 갱신.</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구면 투영.</a:t>
            </a:r>
            <a:r>
              <a:rPr sz="1050" b="0" i="0">
                <a:solidFill>
                  <a:srgbClr val="16213A"/>
                </a:solidFill>
                <a:latin typeface="Arial"/>
                <a:ea typeface="Malgun Gothic"/>
                <a:cs typeface="Malgun Gothic"/>
              </a:rPr>
              <a:t> 점 </a:t>
            </a:r>
            <a:r>
              <a:rPr sz="1050" b="0" i="1">
                <a:solidFill>
                  <a:srgbClr val="16213A"/>
                </a:solidFill>
                <a:latin typeface="Arial"/>
                <a:ea typeface="Malgun Gothic"/>
                <a:cs typeface="Malgun Gothic"/>
              </a:rPr>
              <a:t>(x, y, z)</a:t>
            </a:r>
            <a:r>
              <a:rPr sz="1050" b="0" i="0">
                <a:solidFill>
                  <a:srgbClr val="16213A"/>
                </a:solidFill>
                <a:latin typeface="Arial"/>
                <a:ea typeface="Malgun Gothic"/>
                <a:cs typeface="Malgun Gothic"/>
              </a:rPr>
              <a:t>를 시야각 기준으로 surfel 영상의 픽셀 </a:t>
            </a:r>
            <a:r>
              <a:rPr sz="1050" b="0" i="1">
                <a:solidFill>
                  <a:srgbClr val="16213A"/>
                </a:solidFill>
                <a:latin typeface="Arial"/>
                <a:ea typeface="Malgun Gothic"/>
                <a:cs typeface="Malgun Gothic"/>
              </a:rPr>
              <a:t>(u, v)</a:t>
            </a:r>
            <a:r>
              <a:rPr sz="1050" b="0" i="0">
                <a:solidFill>
                  <a:srgbClr val="16213A"/>
                </a:solidFill>
                <a:latin typeface="Arial"/>
                <a:ea typeface="Malgun Gothic"/>
                <a:cs typeface="Malgun Gothic"/>
              </a:rPr>
              <a:t>에 투영한다. 격자와 달리 점군 분포에 따라 계산량이 바뀌지 않는다.</a:t>
            </a:r>
          </a:p>
        </p:txBody>
      </p:sp>
      <p:pic>
        <p:nvPicPr>
          <p:cNvPr id="7" name="Picture 6" descr="image.png"/>
          <p:cNvPicPr>
            <a:picLocks noChangeAspect="1"/>
          </p:cNvPicPr>
          <p:nvPr/>
        </p:nvPicPr>
        <p:blipFill>
          <a:blip r:embed="rId3"/>
          <a:stretch>
            <a:fillRect/>
          </a:stretch>
        </p:blipFill>
        <p:spPr>
          <a:xfrm>
            <a:off x="609600" y="2071886"/>
            <a:ext cx="5308600" cy="460375"/>
          </a:xfrm>
          <a:prstGeom prst="rect">
            <a:avLst/>
          </a:prstGeom>
        </p:spPr>
      </p:pic>
      <p:sp>
        <p:nvSpPr>
          <p:cNvPr id="8" name="TextBox 7"/>
          <p:cNvSpPr txBox="1"/>
          <p:nvPr/>
        </p:nvSpPr>
        <p:spPr>
          <a:xfrm>
            <a:off x="609600" y="2538909"/>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각 surfel은 점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와 주변 점 PCA로 구한 법선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을 가진다. 이로부터 발 디딤 가능성 영상을 만든다.</a:t>
            </a:r>
          </a:p>
        </p:txBody>
      </p:sp>
      <p:sp>
        <p:nvSpPr>
          <p:cNvPr id="9" name="TextBox 8"/>
          <p:cNvSpPr txBox="1"/>
          <p:nvPr/>
        </p:nvSpPr>
        <p:spPr>
          <a:xfrm>
            <a:off x="609600" y="284430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지도 채우기.</a:t>
            </a:r>
            <a:r>
              <a:rPr sz="1050" b="0" i="0">
                <a:solidFill>
                  <a:srgbClr val="16213A"/>
                </a:solidFill>
                <a:latin typeface="Arial"/>
                <a:ea typeface="Malgun Gothic"/>
                <a:cs typeface="Malgun Gothic"/>
              </a:rPr>
              <a:t> surfel을 지형 지도 칸 </a:t>
            </a:r>
            <a:r>
              <a:rPr sz="1050" b="0" i="1">
                <a:solidFill>
                  <a:srgbClr val="16213A"/>
                </a:solidFill>
                <a:latin typeface="Arial"/>
                <a:ea typeface="Malgun Gothic"/>
                <a:cs typeface="Malgun Gothic"/>
              </a:rPr>
              <a:t>ℰ = {(oₑ, hₑ^(max), hₑ^(min), nₑ^z, rₑ^(step))}</a:t>
            </a:r>
            <a:r>
              <a:rPr sz="1050" b="0" i="0">
                <a:solidFill>
                  <a:srgbClr val="16213A"/>
                </a:solidFill>
                <a:latin typeface="Arial"/>
                <a:ea typeface="Malgun Gothic"/>
                <a:cs typeface="Malgun Gothic"/>
              </a:rPr>
              <a:t>로 다시 투영한다. 아래에서 위로 투영하면서, 칸 높이보다 로봇 높이 </a:t>
            </a:r>
            <a:r>
              <a:rPr sz="1050" b="0" i="1">
                <a:solidFill>
                  <a:srgbClr val="16213A"/>
                </a:solidFill>
                <a:latin typeface="Arial"/>
                <a:ea typeface="Malgun Gothic"/>
                <a:cs typeface="Malgun Gothic"/>
              </a:rPr>
              <a:t>hₚ</a:t>
            </a:r>
            <a:r>
              <a:rPr sz="1050" b="0" i="0">
                <a:solidFill>
                  <a:srgbClr val="16213A"/>
                </a:solidFill>
                <a:latin typeface="Arial"/>
                <a:ea typeface="Malgun Gothic"/>
                <a:cs typeface="Malgun Gothic"/>
              </a:rPr>
              <a:t> 이상 높은 요소(나뭇가지 같은 오버행)는 버린다. 그래도 남는 빈 칸을 </a:t>
            </a:r>
            <a:r>
              <a:rPr sz="1050" b="1" i="0">
                <a:solidFill>
                  <a:srgbClr val="16213A"/>
                </a:solidFill>
                <a:latin typeface="Arial"/>
                <a:ea typeface="Malgun Gothic"/>
                <a:cs typeface="Malgun Gothic"/>
              </a:rPr>
              <a:t>traversability를 고려한 Bayesian generalized kernel</a:t>
            </a:r>
            <a:r>
              <a:rPr sz="1050" b="0" i="0">
                <a:solidFill>
                  <a:srgbClr val="16213A"/>
                </a:solidFill>
                <a:latin typeface="Arial"/>
                <a:ea typeface="Malgun Gothic"/>
                <a:cs typeface="Malgun Gothic"/>
              </a:rPr>
              <a:t>로 보간한다(배경 0.10).</a:t>
            </a:r>
          </a:p>
        </p:txBody>
      </p:sp>
      <p:sp>
        <p:nvSpPr>
          <p:cNvPr id="10" name="TextBox 9"/>
          <p:cNvSpPr txBox="1"/>
          <p:nvPr/>
        </p:nvSpPr>
        <p:spPr>
          <a:xfrm>
            <a:off x="609600" y="33661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이상치 제거.</a:t>
            </a:r>
            <a:r>
              <a:rPr sz="1050" b="0" i="0">
                <a:solidFill>
                  <a:srgbClr val="16213A"/>
                </a:solidFill>
                <a:latin typeface="Arial"/>
                <a:ea typeface="Malgun Gothic"/>
                <a:cs typeface="Malgun Gothic"/>
              </a:rPr>
              <a:t> 새 관측과 지도 사이의 steppability 기반 Mahalanobis 거리가 크면 움직이는 물체나 잡음으로 보고 반영하지 않아, </a:t>
            </a:r>
            <a:r>
              <a:rPr sz="1050" b="1" i="0">
                <a:solidFill>
                  <a:srgbClr val="16213A"/>
                </a:solidFill>
                <a:latin typeface="Arial"/>
                <a:ea typeface="Malgun Gothic"/>
                <a:cs typeface="Malgun Gothic"/>
              </a:rPr>
              <a:t>정적</a:t>
            </a:r>
            <a:r>
              <a:rPr sz="1050" b="0" i="0">
                <a:solidFill>
                  <a:srgbClr val="16213A"/>
                </a:solidFill>
                <a:latin typeface="Arial"/>
                <a:ea typeface="Malgun Gothic"/>
                <a:cs typeface="Malgun Gothic"/>
              </a:rPr>
              <a:t> 지형 지도를 유지한다.</a:t>
            </a:r>
          </a:p>
        </p:txBody>
      </p:sp>
      <p:sp>
        <p:nvSpPr>
          <p:cNvPr id="11" name="TextBox 10"/>
          <p:cNvSpPr txBox="1"/>
          <p:nvPr/>
        </p:nvSpPr>
        <p:spPr>
          <a:xfrm>
            <a:off x="609600" y="367159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travplan의 알려진 한계 가운데 "오버행을 표현하지 못한다"에 대해, 로봇 높이 이상 떠 있는 요소를 걸러내는 간단한 규칙을 준다. </a:t>
            </a:r>
            <a:r>
              <a:rPr sz="1050" b="0" i="0">
                <a:solidFill>
                  <a:srgbClr val="16213A"/>
                </a:solidFill>
                <a:latin typeface="Consolas"/>
                <a:ea typeface="Malgun Gothic"/>
                <a:cs typeface="Malgun Gothic"/>
              </a:rPr>
              <a:t>fill_unknown</a:t>
            </a:r>
            <a:r>
              <a:rPr sz="1050" b="0" i="0">
                <a:solidFill>
                  <a:srgbClr val="16213A"/>
                </a:solidFill>
                <a:latin typeface="Arial"/>
                <a:ea typeface="Malgun Gothic"/>
                <a:cs typeface="Malgun Gothic"/>
              </a:rPr>
              <a:t> 보간 개선의 구체적인 방법이기도 하다.</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Traversability</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A.10 Traversability 추정: 사람 라벨 없이, 불확실성과 함께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170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강연</a:t>
            </a:r>
            <a:r>
              <a:rPr sz="1050" b="0" i="0">
                <a:solidFill>
                  <a:srgbClr val="16213A"/>
                </a:solidFill>
                <a:latin typeface="Arial"/>
                <a:ea typeface="Malgun Gothic"/>
                <a:cs typeface="Malgun Gothic"/>
              </a:rPr>
              <a:t>: Junwon Seo, </a:t>
            </a:r>
            <a:r>
              <a:rPr sz="1050" b="0" i="1">
                <a:solidFill>
                  <a:srgbClr val="16213A"/>
                </a:solidFill>
                <a:latin typeface="Arial"/>
                <a:ea typeface="Malgun Gothic"/>
                <a:cs typeface="Malgun Gothic"/>
              </a:rPr>
              <a:t>Embracing Uncertainty in Off-road Perception: Towards Robust Autonomous Navigation</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YouTube</a:t>
            </a:r>
            <a:r>
              <a:rPr sz="1050" b="0" i="0">
                <a:solidFill>
                  <a:srgbClr val="16213A"/>
                </a:solidFill>
                <a:latin typeface="Arial"/>
                <a:ea typeface="Malgun Gothic"/>
                <a:cs typeface="Malgun Gothic"/>
              </a:rPr>
              <a:t>) — ①–④를 한 흐름으로 설명한다.</a:t>
            </a:r>
          </a:p>
        </p:txBody>
      </p:sp>
      <p:graphicFrame>
        <p:nvGraphicFramePr>
          <p:cNvPr id="6" name="Table 5"/>
          <p:cNvGraphicFramePr>
            <a:graphicFrameLocks noGrp="1"/>
          </p:cNvGraphicFramePr>
          <p:nvPr/>
        </p:nvGraphicFramePr>
        <p:xfrm>
          <a:off x="609600" y="1549995"/>
          <a:ext cx="10966451" cy="1182528"/>
        </p:xfrm>
        <a:graphic>
          <a:graphicData uri="http://schemas.openxmlformats.org/drawingml/2006/table">
            <a:tbl>
              <a:tblPr firstRow="1" bandRow="1">
                <a:tableStyleId>{5C22544A-7EE6-4342-B048-85BDC9FD1C3A}</a:tableStyleId>
              </a:tblPr>
              <a:tblGrid>
                <a:gridCol w="2011065"/>
                <a:gridCol w="1331516"/>
                <a:gridCol w="2530376"/>
                <a:gridCol w="2527399"/>
                <a:gridCol w="2566095"/>
              </a:tblGrid>
              <a:tr h="197088">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입력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라벨·학습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불확실성 처리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적용</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Self-Supervisions Only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지나간 곳 = 양성, one-class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라벨 없는 곳은 학습 제외</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FootprintLabeler</a:t>
                      </a:r>
                      <a:r>
                        <a:rPr sz="800" b="0" i="0">
                          <a:solidFill>
                            <a:srgbClr val="16213A"/>
                          </a:solidFill>
                          <a:latin typeface="Arial"/>
                          <a:ea typeface="Malgun Gothic"/>
                          <a:cs typeface="Malgun Gothic"/>
                        </a:rPr>
                        <a:t>와 같은 구조</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ScaTE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점군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차량이 느낄 proprioception 회귀</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PU learning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TP-0010에 PU loss 추가 후보</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METAVerse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LiDAR 1 스윕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상호작용 피드백 + 메타러닝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온라인 적응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Isaac·실물 단계 온라인 적응</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Evidential BKI / E2-BKI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카메라 + LiDAR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시맨틱 분할(EDL)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증거 기반 불확실성으로 융합 가중</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TravMap.SIGMA</a:t>
                      </a:r>
                      <a:r>
                        <a:rPr sz="800" b="0" i="0">
                          <a:solidFill>
                            <a:srgbClr val="16213A"/>
                          </a:solidFill>
                          <a:latin typeface="Arial"/>
                          <a:ea typeface="Malgun Gothic"/>
                          <a:cs typeface="Malgun Gothic"/>
                        </a:rPr>
                        <a:t> 생성 개선</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TRIP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LiDAR·깊이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기하 steppability + T-BGK 보간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Mahalanobis 거리로 이상치 제거</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fill_unknown</a:t>
                      </a:r>
                      <a:r>
                        <a:rPr sz="800" b="0" i="0">
                          <a:solidFill>
                            <a:srgbClr val="16213A"/>
                          </a:solidFill>
                          <a:latin typeface="Arial"/>
                          <a:ea typeface="Malgun Gothic"/>
                          <a:cs typeface="Malgun Gothic"/>
                        </a:rPr>
                        <a:t> 보간 개선</a:t>
                      </a:r>
                    </a:p>
                  </a:txBody>
                  <a:tcPr marL="63500" marR="63500" marT="12700" marB="12700">
                    <a:solidFill>
                      <a:srgbClr val="FFFDF8"/>
                    </a:solidFill>
                  </a:tcPr>
                </a:tc>
              </a:tr>
            </a:tbl>
          </a:graphicData>
        </a:graphic>
      </p:graphicFrame>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인식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시각 기반 모델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인식 (docs/research-perception.md)    171 / 359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A.11 시각 기반 모델: 라벨 없이 학습한 백본 위에 작은 헤드를 얹는다</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시각 기반 모델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A.11 시각 기반 모델: 라벨 없이 학습한 백본 위에 작은 헤드를 얹는다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172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2023년부터 로봇 인식의 출발점은 과제별 모델이 아니라 시각 기반 모델(vision foundation model)이다.</a:t>
            </a:r>
            <a:r>
              <a:rPr sz="1050" b="0" i="0">
                <a:solidFill>
                  <a:srgbClr val="16213A"/>
                </a:solidFill>
                <a:latin typeface="Arial"/>
                <a:ea typeface="Malgun Gothic"/>
                <a:cs typeface="Malgun Gothic"/>
              </a:rPr>
              <a:t> 대규모 영상으로 한 번 사전학습한 백본이 특징, 깊이, 분할, 글로 지정한 검출을 내고, 로봇은 그 위에 작은 헤드만 학습한다. A.7의 WVN이 고정한 DINO 특징 위에서 5분 만에 적응하고, A.10의 V-STRONG와 ViTA가 SAM 마스크를 쓰는 것도 이 흐름이다. 제품에 넣을 때는 성능만큼 </a:t>
            </a:r>
            <a:r>
              <a:rPr sz="1050" b="1" i="0">
                <a:solidFill>
                  <a:srgbClr val="16213A"/>
                </a:solidFill>
                <a:latin typeface="Arial"/>
                <a:ea typeface="Malgun Gothic"/>
                <a:cs typeface="Malgun Gothic"/>
              </a:rPr>
              <a:t>라이선스</a:t>
            </a:r>
            <a:r>
              <a:rPr sz="1050" b="0" i="0">
                <a:solidFill>
                  <a:srgbClr val="16213A"/>
                </a:solidFill>
                <a:latin typeface="Arial"/>
                <a:ea typeface="Malgun Gothic"/>
                <a:cs typeface="Malgun Gothic"/>
              </a:rPr>
              <a:t>가 중요해서 표에 함께 적었다. 다운로드 수는 HuggingFace가 보여 주는 최근 30일 값이다(2026-09).</a:t>
            </a:r>
          </a:p>
        </p:txBody>
      </p:sp>
      <p:graphicFrame>
        <p:nvGraphicFramePr>
          <p:cNvPr id="6" name="Table 5"/>
          <p:cNvGraphicFramePr>
            <a:graphicFrameLocks noGrp="1"/>
          </p:cNvGraphicFramePr>
          <p:nvPr/>
        </p:nvGraphicFramePr>
        <p:xfrm>
          <a:off x="609600" y="1982986"/>
          <a:ext cx="10966450" cy="1576704"/>
        </p:xfrm>
        <a:graphic>
          <a:graphicData uri="http://schemas.openxmlformats.org/drawingml/2006/table">
            <a:tbl>
              <a:tblPr firstRow="1" bandRow="1">
                <a:tableStyleId>{5C22544A-7EE6-4342-B048-85BDC9FD1C3A}</a:tableStyleId>
              </a:tblPr>
              <a:tblGrid>
                <a:gridCol w="473174"/>
                <a:gridCol w="1201440"/>
                <a:gridCol w="2395538"/>
                <a:gridCol w="2953643"/>
                <a:gridCol w="3942655"/>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내는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가중치 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 HF 다운로드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DINOv2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범용 영상 특징(전역·패치)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facebookresearch/dinov2</a:t>
                      </a:r>
                      <a:r>
                        <a:rPr sz="800" b="0" i="0">
                          <a:solidFill>
                            <a:srgbClr val="16213A"/>
                          </a:solidFill>
                          <a:latin typeface="Arial"/>
                          <a:ea typeface="Malgun Gothic"/>
                          <a:cs typeface="Malgun Gothic"/>
                        </a:rPr>
                        <a:t> 13.4k, </a:t>
                      </a:r>
                      <a:r>
                        <a:rPr sz="800" b="0" i="0">
                          <a:solidFill>
                            <a:srgbClr val="1D4ED8"/>
                          </a:solidFill>
                          <a:latin typeface="Arial"/>
                          <a:ea typeface="Malgun Gothic"/>
                          <a:cs typeface="Malgun Gothic"/>
                          <a:hlinkClick r:id="rId4"/>
                        </a:rPr>
                        <a:t>dinov2-base</a:t>
                      </a:r>
                      <a:r>
                        <a:rPr sz="800" b="0" i="0">
                          <a:solidFill>
                            <a:srgbClr val="16213A"/>
                          </a:solidFill>
                          <a:latin typeface="Arial"/>
                          <a:ea typeface="Malgun Gothic"/>
                          <a:cs typeface="Malgun Gothic"/>
                        </a:rPr>
                        <a:t> 2.87M</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Grounding DINO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글로 지정한 물체의 상자(open-set 검출)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IDEA-Research/GroundingDINO</a:t>
                      </a:r>
                      <a:r>
                        <a:rPr sz="800" b="0" i="0">
                          <a:solidFill>
                            <a:srgbClr val="16213A"/>
                          </a:solidFill>
                          <a:latin typeface="Arial"/>
                          <a:ea typeface="Malgun Gothic"/>
                          <a:cs typeface="Malgun Gothic"/>
                        </a:rPr>
                        <a:t> 10.6k, </a:t>
                      </a:r>
                      <a:r>
                        <a:rPr sz="800" b="0" i="0">
                          <a:solidFill>
                            <a:srgbClr val="1D4ED8"/>
                          </a:solidFill>
                          <a:latin typeface="Arial"/>
                          <a:ea typeface="Malgun Gothic"/>
                          <a:cs typeface="Malgun Gothic"/>
                          <a:hlinkClick r:id="rId6"/>
                        </a:rPr>
                        <a:t>grounding-dino-base</a:t>
                      </a:r>
                      <a:r>
                        <a:rPr sz="800" b="0" i="0">
                          <a:solidFill>
                            <a:srgbClr val="16213A"/>
                          </a:solidFill>
                          <a:latin typeface="Arial"/>
                          <a:ea typeface="Malgun Gothic"/>
                          <a:cs typeface="Malgun Gothic"/>
                        </a:rPr>
                        <a:t> 1.41M</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Depth Anything V2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단안 상대 깊이, metric 미세조정 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Small은 Apache-2.0, Large는 CC-BY-NC-4.0(비상업)</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DepthAnything/Depth-Anything-V2</a:t>
                      </a:r>
                      <a:r>
                        <a:rPr sz="800" b="0" i="0">
                          <a:solidFill>
                            <a:srgbClr val="16213A"/>
                          </a:solidFill>
                          <a:latin typeface="Arial"/>
                          <a:ea typeface="Malgun Gothic"/>
                          <a:cs typeface="Malgun Gothic"/>
                        </a:rPr>
                        <a:t> 8.9k, </a:t>
                      </a:r>
                      <a:r>
                        <a:rPr sz="800" b="0" i="0">
                          <a:solidFill>
                            <a:srgbClr val="1D4ED8"/>
                          </a:solidFill>
                          <a:latin typeface="Arial"/>
                          <a:ea typeface="Malgun Gothic"/>
                          <a:cs typeface="Malgun Gothic"/>
                          <a:hlinkClick r:id="rId8"/>
                        </a:rPr>
                        <a:t>V2-Small-hf</a:t>
                      </a:r>
                      <a:r>
                        <a:rPr sz="800" b="0" i="0">
                          <a:solidFill>
                            <a:srgbClr val="16213A"/>
                          </a:solidFill>
                          <a:latin typeface="Arial"/>
                          <a:ea typeface="Malgun Gothic"/>
                          <a:cs typeface="Malgun Gothic"/>
                        </a:rPr>
                        <a:t> 2.76M</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SAM 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점·상자로 지정한 물체의 영상 분할과 추적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facebookresearch/sam2</a:t>
                      </a:r>
                      <a:r>
                        <a:rPr sz="800" b="0" i="0">
                          <a:solidFill>
                            <a:srgbClr val="16213A"/>
                          </a:solidFill>
                          <a:latin typeface="Arial"/>
                          <a:ea typeface="Malgun Gothic"/>
                          <a:cs typeface="Malgun Gothic"/>
                        </a:rPr>
                        <a:t> 19.9k, </a:t>
                      </a:r>
                      <a:r>
                        <a:rPr sz="800" b="0" i="0">
                          <a:solidFill>
                            <a:srgbClr val="1D4ED8"/>
                          </a:solidFill>
                          <a:latin typeface="Arial"/>
                          <a:ea typeface="Malgun Gothic"/>
                          <a:cs typeface="Malgun Gothic"/>
                          <a:hlinkClick r:id="rId10"/>
                        </a:rPr>
                        <a:t>sam2.1-hiera-large</a:t>
                      </a:r>
                      <a:r>
                        <a:rPr sz="800" b="0" i="0">
                          <a:solidFill>
                            <a:srgbClr val="16213A"/>
                          </a:solidFill>
                          <a:latin typeface="Arial"/>
                          <a:ea typeface="Malgun Gothic"/>
                          <a:cs typeface="Malgun Gothic"/>
                        </a:rPr>
                        <a:t> 0.12M</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DINOv3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7B 교사에서 증류한 고해상도 조밀 특징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자체 라이선스(HF 표기 other)</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facebookresearch/dinov3</a:t>
                      </a:r>
                      <a:r>
                        <a:rPr sz="800" b="0" i="0">
                          <a:solidFill>
                            <a:srgbClr val="16213A"/>
                          </a:solidFill>
                          <a:latin typeface="Arial"/>
                          <a:ea typeface="Malgun Gothic"/>
                          <a:cs typeface="Malgun Gothic"/>
                        </a:rPr>
                        <a:t> 11.4k, </a:t>
                      </a:r>
                      <a:r>
                        <a:rPr sz="800" b="0" i="0">
                          <a:solidFill>
                            <a:srgbClr val="1D4ED8"/>
                          </a:solidFill>
                          <a:latin typeface="Arial"/>
                          <a:ea typeface="Malgun Gothic"/>
                          <a:cs typeface="Malgun Gothic"/>
                          <a:hlinkClick r:id="rId12"/>
                        </a:rPr>
                        <a:t>dinov3-vitb16</a:t>
                      </a:r>
                      <a:r>
                        <a:rPr sz="800" b="0" i="0">
                          <a:solidFill>
                            <a:srgbClr val="16213A"/>
                          </a:solidFill>
                          <a:latin typeface="Arial"/>
                          <a:ea typeface="Malgun Gothic"/>
                          <a:cs typeface="Malgun Gothic"/>
                        </a:rPr>
                        <a:t> 0.61M</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Depth Anything 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영상 여러 장에서 깊이와 카메라 광선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Large, Metric, Mono 판은 Apache-2.0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ByteDance-Seed/Depth-Anything-3</a:t>
                      </a:r>
                      <a:r>
                        <a:rPr sz="800" b="0" i="0">
                          <a:solidFill>
                            <a:srgbClr val="16213A"/>
                          </a:solidFill>
                          <a:latin typeface="Arial"/>
                          <a:ea typeface="Malgun Gothic"/>
                          <a:cs typeface="Malgun Gothic"/>
                        </a:rPr>
                        <a:t> 6.4k, </a:t>
                      </a:r>
                      <a:r>
                        <a:rPr sz="800" b="0" i="0">
                          <a:solidFill>
                            <a:srgbClr val="1D4ED8"/>
                          </a:solidFill>
                          <a:latin typeface="Arial"/>
                          <a:ea typeface="Malgun Gothic"/>
                          <a:cs typeface="Malgun Gothic"/>
                          <a:hlinkClick r:id="rId14"/>
                        </a:rPr>
                        <a:t>DA3METRIC-LARGE</a:t>
                      </a:r>
                      <a:r>
                        <a:rPr sz="800" b="0" i="0">
                          <a:solidFill>
                            <a:srgbClr val="16213A"/>
                          </a:solidFill>
                          <a:latin typeface="Arial"/>
                          <a:ea typeface="Malgun Gothic"/>
                          <a:cs typeface="Malgun Gothic"/>
                        </a:rPr>
                        <a:t> 0.29M</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SAM 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명사구로 지정한 모든 인스턴스의 분할과 추적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자체 라이선스(HF 표기 other)</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facebookresearch/sam3</a:t>
                      </a:r>
                      <a:r>
                        <a:rPr sz="800" b="0" i="0">
                          <a:solidFill>
                            <a:srgbClr val="16213A"/>
                          </a:solidFill>
                          <a:latin typeface="Arial"/>
                          <a:ea typeface="Malgun Gothic"/>
                          <a:cs typeface="Malgun Gothic"/>
                        </a:rPr>
                        <a:t> 11.8k, </a:t>
                      </a:r>
                      <a:r>
                        <a:rPr sz="800" b="0" i="0">
                          <a:solidFill>
                            <a:srgbClr val="1D4ED8"/>
                          </a:solidFill>
                          <a:latin typeface="Arial"/>
                          <a:ea typeface="Malgun Gothic"/>
                          <a:cs typeface="Malgun Gothic"/>
                          <a:hlinkClick r:id="rId16"/>
                        </a:rPr>
                        <a:t>sam3</a:t>
                      </a:r>
                      <a:r>
                        <a:rPr sz="800" b="0" i="0">
                          <a:solidFill>
                            <a:srgbClr val="16213A"/>
                          </a:solidFill>
                          <a:latin typeface="Arial"/>
                          <a:ea typeface="Malgun Gothic"/>
                          <a:cs typeface="Malgun Gothic"/>
                        </a:rPr>
                        <a:t> 2.1M</a:t>
                      </a:r>
                    </a:p>
                  </a:txBody>
                  <a:tcPr marL="63500" marR="63500" marT="12700" marB="12700">
                    <a:solidFill>
                      <a:srgbClr val="FFFDF8"/>
                    </a:solidFill>
                  </a:tcPr>
                </a:tc>
              </a:tr>
            </a:tbl>
          </a:graphicData>
        </a:graphic>
      </p:graphicFrame>
      <p:sp>
        <p:nvSpPr>
          <p:cNvPr id="7" name="TextBox 6"/>
          <p:cNvSpPr txBox="1"/>
          <p:nvPr/>
        </p:nvSpPr>
        <p:spPr>
          <a:xfrm>
            <a:off x="717550" y="4049117"/>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A.11.1 특징 백본: DINOv2와 DINOv3</a:t>
            </a:r>
          </a:p>
        </p:txBody>
      </p:sp>
      <p:sp>
        <p:nvSpPr>
          <p:cNvPr id="8" name="TextBox 7"/>
          <p:cNvSpPr txBox="1"/>
          <p:nvPr/>
        </p:nvSpPr>
        <p:spPr>
          <a:xfrm>
            <a:off x="609600" y="435233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DINOv2 — 라벨 없이 학습한 범용 영상 특징</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17"/>
              </a:rPr>
              <a:t>arXiv:2304.07193</a:t>
            </a:r>
            <a:r>
              <a:rPr sz="1050" b="0" i="0">
                <a:solidFill>
                  <a:srgbClr val="16213A"/>
                </a:solidFill>
                <a:latin typeface="Arial"/>
                <a:ea typeface="Malgun Gothic"/>
                <a:cs typeface="Malgun Gothic"/>
              </a:rPr>
              <a:t>, 2023, Meta). 자기지도 학습도 데이터를 잘 고르고 규모를 키우면 과제와 상관없이 쓰이는 특징을 낸다는 것을 보였다. 큰 웹 영상 풀에서 기존 큐레이션 데이터와 닮은 영상을 자동으로 골라 1.42억 장의 학습 세트(LVD-142M)를 만들었다. 1B 파라미터 ViT를 학습한 뒤 작은 모델들로 증류했고, 영상 단위와 픽셀 단위 벤치마크 대부분에서 OpenCLIP을 앞섰다. 백본을 고정하고 선형 헤드만 붙여도 분할과 깊이 추정이 된다.</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시각 기반 모델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A.11 시각 기반 모델: 라벨 없이 학습한 백본 위에 작은 헤드를 얹는다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173 / 359</a:t>
            </a:r>
          </a:p>
        </p:txBody>
      </p:sp>
      <p:pic>
        <p:nvPicPr>
          <p:cNvPr id="5" name="Picture 4" descr="image.jpg"/>
          <p:cNvPicPr>
            <a:picLocks noChangeAspect="1"/>
          </p:cNvPicPr>
          <p:nvPr/>
        </p:nvPicPr>
        <p:blipFill>
          <a:blip r:embed="rId3"/>
          <a:stretch>
            <a:fillRect/>
          </a:stretch>
        </p:blipFill>
        <p:spPr>
          <a:xfrm>
            <a:off x="1016000" y="1244600"/>
            <a:ext cx="10160000" cy="4216400"/>
          </a:xfrm>
          <a:prstGeom prst="rect">
            <a:avLst/>
          </a:prstGeom>
        </p:spPr>
      </p:pic>
      <p:sp>
        <p:nvSpPr>
          <p:cNvPr id="6" name="TextBox 5"/>
          <p:cNvSpPr txBox="1"/>
          <p:nvPr/>
        </p:nvSpPr>
        <p:spPr>
          <a:xfrm>
            <a:off x="1016000" y="54991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DINOv2 (Fig. 1): 같은 열 영상들의 패치 특징에 PCA를 하고 첫 세 성분을 색으로 칠했다. 자세, 화풍, 물체 종류가 달라도 같은 부위가 같은 색으로 묶인다. 출처: arXiv:2304.07193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시각 기반 모델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A.11 시각 기반 모델: 라벨 없이 학습한 백본 위에 작은 헤드를 얹는다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174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DINOv3 — 오래 학습해도 조밀 특징이 무너지지 않게</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arXiv:2508.10104</a:t>
            </a:r>
            <a:r>
              <a:rPr sz="1050" b="0" i="0">
                <a:solidFill>
                  <a:srgbClr val="16213A"/>
                </a:solidFill>
                <a:latin typeface="Arial"/>
                <a:ea typeface="Malgun Gothic"/>
                <a:cs typeface="Malgun Gothic"/>
              </a:rPr>
              <a:t>, 2025, Meta). 모델을 7B 파라미터로, 데이터를 큐레이션한 16.89억 장(LVD-1689M)으로 키우면 전역 성능은 오르지만 오래 학습할수록 패치 특징이 흐려진다. DINOv3는 학습 초기 교사의 패치 사이 유사도 구조(Gram 행렬)를 붙잡아 두는 Gram anchoring으로 이 문제를 풀었다. 7B 교사를 ViT-S, B, L과 ConvNeXt로 증류했고, 미세조정 없이 조밀 과제에서 이전 자기지도·약지도 모델을 크게 앞섰다. 같은 방법으로 위성 영상용 7B 모델도 만들었다. 가중치가 자체 라이선스라 제품에 쓰려면 조건을 따로 확인해야 한다.</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시각 기반 모델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A.11 시각 기반 모델: 라벨 없이 학습한 백본 위에 작은 헤드를 얹는다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175 / 359</a:t>
            </a:r>
          </a:p>
        </p:txBody>
      </p:sp>
      <p:pic>
        <p:nvPicPr>
          <p:cNvPr id="5" name="Picture 4" descr="image.jpg"/>
          <p:cNvPicPr>
            <a:picLocks noChangeAspect="1"/>
          </p:cNvPicPr>
          <p:nvPr/>
        </p:nvPicPr>
        <p:blipFill>
          <a:blip r:embed="rId3"/>
          <a:stretch>
            <a:fillRect/>
          </a:stretch>
        </p:blipFill>
        <p:spPr>
          <a:xfrm>
            <a:off x="3873500" y="1244600"/>
            <a:ext cx="4445000" cy="4445000"/>
          </a:xfrm>
          <a:prstGeom prst="rect">
            <a:avLst/>
          </a:prstGeom>
        </p:spPr>
      </p:pic>
      <p:sp>
        <p:nvSpPr>
          <p:cNvPr id="6" name="TextBox 5"/>
          <p:cNvSpPr txBox="1"/>
          <p:nvPr/>
        </p:nvSpPr>
        <p:spPr>
          <a:xfrm>
            <a:off x="3873500" y="5727700"/>
            <a:ext cx="4445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DINOv3 (Fig. 3): 빨간 십자로 표시한 패치와 나머지 모든 패치 사이의 코사인 유사도 지도. 고해상도에서도 물체 경계를 따라 유사도가 끊긴다. 출처: arXiv:2508.10104</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시각 기반 모델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A.11 시각 기반 모델: 라벨 없이 학습한 백본 위에 작은 헤드를 얹는다</a:t>
            </a:r>
            <a:r>
              <a:rPr sz="1050" b="0" i="0">
                <a:solidFill>
                  <a:srgbClr val="5A6478"/>
                </a:solidFill>
                <a:latin typeface="Arial"/>
                <a:ea typeface="Malgun Gothic"/>
                <a:cs typeface="Malgun Gothic"/>
              </a:rPr>
              <a:t>  자세히: DINO 계열의 자기지도 목적함수와 Gram anchoring</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176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교사와 학생.</a:t>
            </a:r>
            <a:r>
              <a:rPr sz="1050" b="0" i="0">
                <a:solidFill>
                  <a:srgbClr val="16213A"/>
                </a:solidFill>
                <a:latin typeface="Arial"/>
                <a:ea typeface="Malgun Gothic"/>
                <a:cs typeface="Malgun Gothic"/>
              </a:rPr>
              <a:t> 같은 영상에서 자른 두 조각을 학생과 교사 네트워크에 넣는다. 교사는 학생 가중치의 지수 이동 평균(EMA)이라 따로 학습하지 않는다. 학생은 교사의 출력 분포를 맞히도록 학습한다.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 단위 손실(DINO).</a:t>
            </a:r>
            <a:r>
              <a:rPr sz="1050" b="0" i="0">
                <a:solidFill>
                  <a:srgbClr val="16213A"/>
                </a:solidFill>
                <a:latin typeface="Arial"/>
                <a:ea typeface="Malgun Gothic"/>
                <a:cs typeface="Malgun Gothic"/>
              </a:rPr>
              <a:t> class token을 헤드에 통과시켜 "프로토타입 점수"의 softmax 분포를 만든다. centering을 거친 교사 분포 </a:t>
            </a:r>
            <a:r>
              <a:rPr sz="1050" b="0" i="1">
                <a:solidFill>
                  <a:srgbClr val="16213A"/>
                </a:solidFill>
                <a:latin typeface="Arial"/>
                <a:ea typeface="Malgun Gothic"/>
                <a:cs typeface="Malgun Gothic"/>
              </a:rPr>
              <a:t>pₜ</a:t>
            </a:r>
            <a:r>
              <a:rPr sz="1050" b="0" i="0">
                <a:solidFill>
                  <a:srgbClr val="16213A"/>
                </a:solidFill>
                <a:latin typeface="Arial"/>
                <a:ea typeface="Malgun Gothic"/>
                <a:cs typeface="Malgun Gothic"/>
              </a:rPr>
              <a:t>와 학생 분포 </a:t>
            </a:r>
            <a:r>
              <a:rPr sz="1050" b="0" i="1">
                <a:solidFill>
                  <a:srgbClr val="16213A"/>
                </a:solidFill>
                <a:latin typeface="Arial"/>
                <a:ea typeface="Malgun Gothic"/>
                <a:cs typeface="Malgun Gothic"/>
              </a:rPr>
              <a:t>pₛ</a:t>
            </a:r>
            <a:r>
              <a:rPr sz="1050" b="0" i="0">
                <a:solidFill>
                  <a:srgbClr val="16213A"/>
                </a:solidFill>
                <a:latin typeface="Arial"/>
                <a:ea typeface="Malgun Gothic"/>
                <a:cs typeface="Malgun Gothic"/>
              </a:rPr>
              <a:t>의 교차 엔트로피를 줄인다.</a:t>
            </a:r>
          </a:p>
        </p:txBody>
      </p:sp>
      <p:pic>
        <p:nvPicPr>
          <p:cNvPr id="7" name="Picture 6" descr="image.png"/>
          <p:cNvPicPr>
            <a:picLocks noChangeAspect="1"/>
          </p:cNvPicPr>
          <p:nvPr/>
        </p:nvPicPr>
        <p:blipFill>
          <a:blip r:embed="rId3"/>
          <a:stretch>
            <a:fillRect/>
          </a:stretch>
        </p:blipFill>
        <p:spPr>
          <a:xfrm>
            <a:off x="609600" y="1855391"/>
            <a:ext cx="1876425" cy="422275"/>
          </a:xfrm>
          <a:prstGeom prst="rect">
            <a:avLst/>
          </a:prstGeom>
        </p:spPr>
      </p:pic>
      <p:sp>
        <p:nvSpPr>
          <p:cNvPr id="8" name="TextBox 7"/>
          <p:cNvSpPr txBox="1"/>
          <p:nvPr/>
        </p:nvSpPr>
        <p:spPr>
          <a:xfrm>
            <a:off x="609600" y="228927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패치 단위 손실(iBOT).</a:t>
            </a:r>
            <a:r>
              <a:rPr sz="1050" b="0" i="0">
                <a:solidFill>
                  <a:srgbClr val="16213A"/>
                </a:solidFill>
                <a:latin typeface="Arial"/>
                <a:ea typeface="Malgun Gothic"/>
                <a:cs typeface="Malgun Gothic"/>
              </a:rPr>
              <a:t> 학생 입력의 패치 일부를 가리고, 가려진 패치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마다 교사가 그 패치를 보고 낸 분포를 맞힌다.</a:t>
            </a:r>
          </a:p>
        </p:txBody>
      </p:sp>
      <p:pic>
        <p:nvPicPr>
          <p:cNvPr id="9" name="Picture 8" descr="image.png"/>
          <p:cNvPicPr>
            <a:picLocks noChangeAspect="1"/>
          </p:cNvPicPr>
          <p:nvPr/>
        </p:nvPicPr>
        <p:blipFill>
          <a:blip r:embed="rId4"/>
          <a:stretch>
            <a:fillRect/>
          </a:stretch>
        </p:blipFill>
        <p:spPr>
          <a:xfrm>
            <a:off x="609600" y="2594670"/>
            <a:ext cx="2470150" cy="428625"/>
          </a:xfrm>
          <a:prstGeom prst="rect">
            <a:avLst/>
          </a:prstGeom>
        </p:spPr>
      </p:pic>
      <p:sp>
        <p:nvSpPr>
          <p:cNvPr id="10" name="TextBox 9"/>
          <p:cNvSpPr txBox="1"/>
          <p:nvPr/>
        </p:nvSpPr>
        <p:spPr>
          <a:xfrm>
            <a:off x="609600" y="303252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KoLeo 정규화.</a:t>
            </a:r>
            <a:r>
              <a:rPr sz="1050" b="0" i="0">
                <a:solidFill>
                  <a:srgbClr val="16213A"/>
                </a:solidFill>
                <a:latin typeface="Arial"/>
                <a:ea typeface="Malgun Gothic"/>
                <a:cs typeface="Malgun Gothic"/>
              </a:rPr>
              <a:t> 배치 안 특징 </a:t>
            </a:r>
            <a:r>
              <a:rPr sz="1050" b="0" i="1">
                <a:solidFill>
                  <a:srgbClr val="16213A"/>
                </a:solidFill>
                <a:latin typeface="Arial"/>
                <a:ea typeface="Malgun Gothic"/>
                <a:cs typeface="Malgun Gothic"/>
              </a:rPr>
              <a:t>xᵢ</a:t>
            </a:r>
            <a:r>
              <a:rPr sz="1050" b="0" i="0">
                <a:solidFill>
                  <a:srgbClr val="16213A"/>
                </a:solidFill>
                <a:latin typeface="Arial"/>
                <a:ea typeface="Malgun Gothic"/>
                <a:cs typeface="Malgun Gothic"/>
              </a:rPr>
              <a:t>가 서로 고르게 퍼지도록, 가장 가까운 이웃까지 거리 </a:t>
            </a:r>
            <a:r>
              <a:rPr sz="1050" b="0" i="1">
                <a:solidFill>
                  <a:srgbClr val="16213A"/>
                </a:solidFill>
                <a:latin typeface="Arial"/>
                <a:ea typeface="Malgun Gothic"/>
                <a:cs typeface="Malgun Gothic"/>
              </a:rPr>
              <a:t>d_(n,i) = min_(j ≠ i) ‖ xᵢ - x_j ‖</a:t>
            </a:r>
            <a:r>
              <a:rPr sz="1050" b="0" i="0">
                <a:solidFill>
                  <a:srgbClr val="16213A"/>
                </a:solidFill>
                <a:latin typeface="Arial"/>
                <a:ea typeface="Malgun Gothic"/>
                <a:cs typeface="Malgun Gothic"/>
              </a:rPr>
              <a:t>를 키운다.</a:t>
            </a:r>
          </a:p>
        </p:txBody>
      </p:sp>
      <p:pic>
        <p:nvPicPr>
          <p:cNvPr id="11" name="Picture 10" descr="image.png"/>
          <p:cNvPicPr>
            <a:picLocks noChangeAspect="1"/>
          </p:cNvPicPr>
          <p:nvPr/>
        </p:nvPicPr>
        <p:blipFill>
          <a:blip r:embed="rId5"/>
          <a:stretch>
            <a:fillRect/>
          </a:stretch>
        </p:blipFill>
        <p:spPr>
          <a:xfrm>
            <a:off x="609600" y="3337917"/>
            <a:ext cx="1771650" cy="520700"/>
          </a:xfrm>
          <a:prstGeom prst="rect">
            <a:avLst/>
          </a:prstGeom>
        </p:spPr>
      </p:pic>
      <p:sp>
        <p:nvSpPr>
          <p:cNvPr id="12" name="TextBox 11"/>
          <p:cNvSpPr txBox="1"/>
          <p:nvPr/>
        </p:nvSpPr>
        <p:spPr>
          <a:xfrm>
            <a:off x="609600" y="385643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Gram anchoring(DINOv3).</a:t>
            </a:r>
            <a:r>
              <a:rPr sz="1050" b="0" i="0">
                <a:solidFill>
                  <a:srgbClr val="16213A"/>
                </a:solidFill>
                <a:latin typeface="Arial"/>
                <a:ea typeface="Malgun Gothic"/>
                <a:cs typeface="Malgun Gothic"/>
              </a:rPr>
              <a:t> 영상 한 장의 패치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개 특징을 L2 정규화해 쌓은 </a:t>
            </a:r>
            <a:r>
              <a:rPr sz="1050" b="0" i="1">
                <a:solidFill>
                  <a:srgbClr val="16213A"/>
                </a:solidFill>
                <a:latin typeface="Arial"/>
                <a:ea typeface="Malgun Gothic"/>
                <a:cs typeface="Malgun Gothic"/>
              </a:rPr>
              <a:t>P × d</a:t>
            </a:r>
            <a:r>
              <a:rPr sz="1050" b="0" i="0">
                <a:solidFill>
                  <a:srgbClr val="16213A"/>
                </a:solidFill>
                <a:latin typeface="Arial"/>
                <a:ea typeface="Malgun Gothic"/>
                <a:cs typeface="Malgun Gothic"/>
              </a:rPr>
              <a:t> 행렬을 학생은 </a:t>
            </a:r>
            <a:r>
              <a:rPr sz="1050" b="0" i="1">
                <a:solidFill>
                  <a:srgbClr val="16213A"/>
                </a:solidFill>
                <a:latin typeface="Arial"/>
                <a:ea typeface="Malgun Gothic"/>
                <a:cs typeface="Malgun Gothic"/>
              </a:rPr>
              <a:t>X_S</a:t>
            </a:r>
            <a:r>
              <a:rPr sz="1050" b="0" i="0">
                <a:solidFill>
                  <a:srgbClr val="16213A"/>
                </a:solidFill>
                <a:latin typeface="Arial"/>
                <a:ea typeface="Malgun Gothic"/>
                <a:cs typeface="Malgun Gothic"/>
              </a:rPr>
              <a:t>, 학습 초기의 교사("Gram 교사")는 </a:t>
            </a:r>
            <a:r>
              <a:rPr sz="1050" b="0" i="1">
                <a:solidFill>
                  <a:srgbClr val="16213A"/>
                </a:solidFill>
                <a:latin typeface="Arial"/>
                <a:ea typeface="Malgun Gothic"/>
                <a:cs typeface="Malgun Gothic"/>
              </a:rPr>
              <a:t>X_G</a:t>
            </a:r>
            <a:r>
              <a:rPr sz="1050" b="0" i="0">
                <a:solidFill>
                  <a:srgbClr val="16213A"/>
                </a:solidFill>
                <a:latin typeface="Arial"/>
                <a:ea typeface="Malgun Gothic"/>
                <a:cs typeface="Malgun Gothic"/>
              </a:rPr>
              <a:t>라 하자. 특징 자체가 아니라 패치 사이 유사도 구조만 Gram 교사에 맞춘다. 특징은 자유롭게 움직이되, 어느 패치끼리 닮았는지는 유지된다.</a:t>
            </a:r>
          </a:p>
        </p:txBody>
      </p:sp>
      <p:pic>
        <p:nvPicPr>
          <p:cNvPr id="13" name="Picture 12" descr="image.png"/>
          <p:cNvPicPr>
            <a:picLocks noChangeAspect="1"/>
          </p:cNvPicPr>
          <p:nvPr/>
        </p:nvPicPr>
        <p:blipFill>
          <a:blip r:embed="rId6"/>
          <a:stretch>
            <a:fillRect/>
          </a:stretch>
        </p:blipFill>
        <p:spPr>
          <a:xfrm>
            <a:off x="609600" y="4378325"/>
            <a:ext cx="2146300" cy="269875"/>
          </a:xfrm>
          <a:prstGeom prst="rect">
            <a:avLst/>
          </a:prstGeom>
        </p:spPr>
      </p:pic>
      <p:sp>
        <p:nvSpPr>
          <p:cNvPr id="14" name="TextBox 13"/>
          <p:cNvSpPr txBox="1"/>
          <p:nvPr/>
        </p:nvSpPr>
        <p:spPr>
          <a:xfrm>
            <a:off x="609600" y="468044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traversability는 칸마다 판단하는 조밀 과제다. 전역 분류 성능보다 패치 특징이 경계를 얼마나 잘 지키는지가 중요하다. TravNet(TP-0010)은 지금 TravMap 기하 특징만 입력으로 받는다. 영상 가지를 더할 때 백본은 Apache-2.0인 DINOv2를 기본으로 두고, DINOv3는 라이선스를 확인한 뒤 조밀 특징 비교 대상으로 쓴다.</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시각 기반 모델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A.11 시각 기반 모델: 라벨 없이 학습한 백본 위에 작은 헤드를 얹는다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177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A.11.2 깊이: Depth Anything V2와 Depth Anything 3</a:t>
            </a:r>
          </a:p>
        </p:txBody>
      </p:sp>
      <p:sp>
        <p:nvSpPr>
          <p:cNvPr id="6" name="TextBox 5"/>
          <p:cNvSpPr txBox="1"/>
          <p:nvPr/>
        </p:nvSpPr>
        <p:spPr>
          <a:xfrm>
            <a:off x="609600" y="154781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Depth Anything V2 — 합성 영상으로 가르친 교사, 실제 영상으로 배운 학생</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arXiv:2406.09414</a:t>
            </a:r>
            <a:r>
              <a:rPr sz="1050" b="0" i="0">
                <a:solidFill>
                  <a:srgbClr val="16213A"/>
                </a:solidFill>
                <a:latin typeface="Arial"/>
                <a:ea typeface="Malgun Gothic"/>
                <a:cs typeface="Malgun Gothic"/>
              </a:rPr>
              <a:t>, NeurIPS 2024). 실제 깊이 라벨은 투명한 물체, 반복 무늬, 움직이는 물체에서 잡음이 많다. V2는 실제 라벨 영상을 모두 버리고, 정확한 합성 영상 59.5만 장으로 DINOv2-G 기반의 큰 교사를 학습한다. 교사가 실제 영상 6,200만 장에 가짜 라벨을 달고, 학생 모델들이 그 가짜 라벨로 배운다. V1보다 세밀하고 견고하며, Stable Diffusion 기반 깊이 모델보다 10배 넘게 빠르면서 더 정확하다. 2,500만에서 13억 파라미터까지 여러 크기가 있고 metric 깊이로 미세조정한 판도 있다.</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시각 기반 모델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A.11 시각 기반 모델: 라벨 없이 학습한 백본 위에 작은 헤드를 얹는다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178 / 359</a:t>
            </a:r>
          </a:p>
        </p:txBody>
      </p:sp>
      <p:pic>
        <p:nvPicPr>
          <p:cNvPr id="5" name="Picture 4" descr="image.jpg"/>
          <p:cNvPicPr>
            <a:picLocks noChangeAspect="1"/>
          </p:cNvPicPr>
          <p:nvPr/>
        </p:nvPicPr>
        <p:blipFill>
          <a:blip r:embed="rId3"/>
          <a:stretch>
            <a:fillRect/>
          </a:stretch>
        </p:blipFill>
        <p:spPr>
          <a:xfrm>
            <a:off x="2435225" y="1244600"/>
            <a:ext cx="7321550" cy="4445000"/>
          </a:xfrm>
          <a:prstGeom prst="rect">
            <a:avLst/>
          </a:prstGeom>
        </p:spPr>
      </p:pic>
      <p:sp>
        <p:nvSpPr>
          <p:cNvPr id="6" name="TextBox 5"/>
          <p:cNvSpPr txBox="1"/>
          <p:nvPr/>
        </p:nvSpPr>
        <p:spPr>
          <a:xfrm>
            <a:off x="2435225" y="5727700"/>
            <a:ext cx="732155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Depth Anything V2 (Fig. 1): V1보다 견고하고 세밀하며, Stable Diffusion 기반 모델보다 빠르고 파라미터가 적으면서 깊이 정확도가 높다. 출처: arXiv:2406.09414</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시각 기반 모델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A.11 시각 기반 모델: 라벨 없이 학습한 백본 위에 작은 헤드를 얹는다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179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Depth Anything 3 — 영상 몇 장이든 깊이와 카메라를 함께</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arXiv:2511.10647</a:t>
            </a:r>
            <a:r>
              <a:rPr sz="1050" b="0" i="0">
                <a:solidFill>
                  <a:srgbClr val="16213A"/>
                </a:solidFill>
                <a:latin typeface="Arial"/>
                <a:ea typeface="Malgun Gothic"/>
                <a:cs typeface="Malgun Gothic"/>
              </a:rPr>
              <a:t>, 2025, ByteDance Seed). 한 장이든 여러 장이든, 카메라 자세를 알든 모르든 공간적으로 일관된 기하를 낸다. 특별한 구조 없이 평범한 DINOv2 transformer 하나와, 픽셀마다 깊이와 카메라 광선을 내는 단일 목표(depth-ray)면 충분하다는 것을 보였다. 새 시각 기하 벤치마크에서 이전 최고인 VGGT보다 카메라 자세 정확도를 평균 44.3%, 기하 정확도를 25.1% 높였다(초록 기준). 단안 깊이에서도 V2를 앞섰다. 공개 학술 데이터만으로 학습했다.</a:t>
            </a:r>
          </a:p>
        </p:txBody>
      </p:sp>
      <p:pic>
        <p:nvPicPr>
          <p:cNvPr id="6" name="Picture 5" descr="image.jpg"/>
          <p:cNvPicPr>
            <a:picLocks noChangeAspect="1"/>
          </p:cNvPicPr>
          <p:nvPr/>
        </p:nvPicPr>
        <p:blipFill>
          <a:blip r:embed="rId4"/>
          <a:stretch>
            <a:fillRect/>
          </a:stretch>
        </p:blipFill>
        <p:spPr>
          <a:xfrm>
            <a:off x="1016000" y="1982986"/>
            <a:ext cx="10160000" cy="3467100"/>
          </a:xfrm>
          <a:prstGeom prst="rect">
            <a:avLst/>
          </a:prstGeom>
        </p:spPr>
      </p:pic>
      <p:sp>
        <p:nvSpPr>
          <p:cNvPr id="7" name="TextBox 6"/>
          <p:cNvSpPr txBox="1"/>
          <p:nvPr/>
        </p:nvSpPr>
        <p:spPr>
          <a:xfrm>
            <a:off x="1016000" y="5488186"/>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Depth Anything 3 (Fig. 2): 수정하지 않은 DINOv2 transformer 하나가 여러 시점 영상을 함께 처리하고, 깊이 지도와 광선 지도를 낸다. 출처: arXiv:2511.10647</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시각 기반 모델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A.11 시각 기반 모델: 라벨 없이 학습한 백본 위에 작은 헤드를 얹는다</a:t>
            </a:r>
            <a:r>
              <a:rPr sz="1050" b="0" i="0">
                <a:solidFill>
                  <a:srgbClr val="5A6478"/>
                </a:solidFill>
                <a:latin typeface="Arial"/>
                <a:ea typeface="Malgun Gothic"/>
                <a:cs typeface="Malgun Gothic"/>
              </a:rPr>
              <a:t>  자세히: Depth Anything의 손실과 depth-ray 표현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180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V2의 손실.</a:t>
            </a:r>
            <a:r>
              <a:rPr sz="1050" b="0" i="0">
                <a:solidFill>
                  <a:srgbClr val="16213A"/>
                </a:solidFill>
                <a:latin typeface="Arial"/>
                <a:ea typeface="Malgun Gothic"/>
                <a:cs typeface="Malgun Gothic"/>
              </a:rPr>
              <a:t> MiDaS에서 온 두 손실을 1:2 비율로 쓴다. 예측과 정답 역깊이를 각각 중앙값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과 평균 절대 편차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로 정규화하면 축척과 이동을 모르는 단안 깊이도 비교할 수 있다.</a:t>
            </a:r>
          </a:p>
        </p:txBody>
      </p:sp>
      <p:pic>
        <p:nvPicPr>
          <p:cNvPr id="6" name="Picture 5" descr="image.png"/>
          <p:cNvPicPr>
            <a:picLocks noChangeAspect="1"/>
          </p:cNvPicPr>
          <p:nvPr/>
        </p:nvPicPr>
        <p:blipFill>
          <a:blip r:embed="rId3"/>
          <a:stretch>
            <a:fillRect/>
          </a:stretch>
        </p:blipFill>
        <p:spPr>
          <a:xfrm>
            <a:off x="609600" y="1549995"/>
            <a:ext cx="3146425" cy="549275"/>
          </a:xfrm>
          <a:prstGeom prst="rect">
            <a:avLst/>
          </a:prstGeom>
        </p:spPr>
      </p:pic>
      <p:sp>
        <p:nvSpPr>
          <p:cNvPr id="7" name="TextBox 6"/>
          <p:cNvSpPr txBox="1"/>
          <p:nvPr/>
        </p:nvSpPr>
        <p:spPr>
          <a:xfrm>
            <a:off x="609600" y="2094409"/>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기울기 정합 손실은 잔차 </a:t>
            </a:r>
            <a:r>
              <a:rPr sz="1050" b="0" i="1">
                <a:solidFill>
                  <a:srgbClr val="16213A"/>
                </a:solidFill>
                <a:latin typeface="Arial"/>
                <a:ea typeface="Malgun Gothic"/>
                <a:cs typeface="Malgun Gothic"/>
              </a:rPr>
              <a:t>R = d̂* - d*</a:t>
            </a:r>
            <a:r>
              <a:rPr sz="1050" b="0" i="0">
                <a:solidFill>
                  <a:srgbClr val="16213A"/>
                </a:solidFill>
                <a:latin typeface="Arial"/>
                <a:ea typeface="Malgun Gothic"/>
                <a:cs typeface="Malgun Gothic"/>
              </a:rPr>
              <a:t>의 기울기를 여러 축척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에서 줄여 경계를 날카롭게 한다. 논문은 합성 영상으로 학습할 때 이 손실이 특히 도움이 된다고 보고했다.</a:t>
            </a:r>
          </a:p>
        </p:txBody>
      </p:sp>
      <p:pic>
        <p:nvPicPr>
          <p:cNvPr id="8" name="Picture 7" descr="image.png"/>
          <p:cNvPicPr>
            <a:picLocks noChangeAspect="1"/>
          </p:cNvPicPr>
          <p:nvPr/>
        </p:nvPicPr>
        <p:blipFill>
          <a:blip r:embed="rId4"/>
          <a:stretch>
            <a:fillRect/>
          </a:stretch>
        </p:blipFill>
        <p:spPr>
          <a:xfrm>
            <a:off x="609600" y="2399804"/>
            <a:ext cx="2711450" cy="469900"/>
          </a:xfrm>
          <a:prstGeom prst="rect">
            <a:avLst/>
          </a:prstGeom>
        </p:spPr>
      </p:pic>
      <p:sp>
        <p:nvSpPr>
          <p:cNvPr id="9" name="TextBox 8"/>
          <p:cNvSpPr txBox="1"/>
          <p:nvPr/>
        </p:nvSpPr>
        <p:spPr>
          <a:xfrm>
            <a:off x="609600" y="287347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가짜 라벨 영상에서는 손실이 가장 큰 10% 영역을 잡음으로 보고 학습에서 뺀다.</a:t>
            </a:r>
          </a:p>
        </p:txBody>
      </p:sp>
      <p:sp>
        <p:nvSpPr>
          <p:cNvPr id="10" name="TextBox 9"/>
          <p:cNvSpPr txBox="1"/>
          <p:nvPr/>
        </p:nvSpPr>
        <p:spPr>
          <a:xfrm>
            <a:off x="609600" y="317887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DA3의 depth-ray 표현.</a:t>
            </a:r>
            <a:r>
              <a:rPr sz="1050" b="0" i="0">
                <a:solidFill>
                  <a:srgbClr val="16213A"/>
                </a:solidFill>
                <a:latin typeface="Arial"/>
                <a:ea typeface="Malgun Gothic"/>
                <a:cs typeface="Malgun Gothic"/>
              </a:rPr>
              <a:t> 영상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의 픽셀 </a:t>
            </a:r>
            <a:r>
              <a:rPr sz="1050" b="0" i="1">
                <a:solidFill>
                  <a:srgbClr val="16213A"/>
                </a:solidFill>
                <a:latin typeface="Arial"/>
                <a:ea typeface="Malgun Gothic"/>
                <a:cs typeface="Malgun Gothic"/>
              </a:rPr>
              <a:t>p = (u, v, 1)^⊤</a:t>
            </a:r>
            <a:r>
              <a:rPr sz="1050" b="0" i="0">
                <a:solidFill>
                  <a:srgbClr val="16213A"/>
                </a:solidFill>
                <a:latin typeface="Arial"/>
                <a:ea typeface="Malgun Gothic"/>
                <a:cs typeface="Malgun Gothic"/>
              </a:rPr>
              <a:t>마다 깊이 </a:t>
            </a:r>
            <a:r>
              <a:rPr sz="1050" b="0" i="1">
                <a:solidFill>
                  <a:srgbClr val="16213A"/>
                </a:solidFill>
                <a:latin typeface="Arial"/>
                <a:ea typeface="Malgun Gothic"/>
                <a:cs typeface="Malgun Gothic"/>
              </a:rPr>
              <a:t>Dᵢ(u, v)</a:t>
            </a:r>
            <a:r>
              <a:rPr sz="1050" b="0" i="0">
                <a:solidFill>
                  <a:srgbClr val="16213A"/>
                </a:solidFill>
                <a:latin typeface="Arial"/>
                <a:ea typeface="Malgun Gothic"/>
                <a:cs typeface="Malgun Gothic"/>
              </a:rPr>
              <a:t>와 광선 </a:t>
            </a:r>
            <a:r>
              <a:rPr sz="1050" b="0" i="1">
                <a:solidFill>
                  <a:srgbClr val="16213A"/>
                </a:solidFill>
                <a:latin typeface="Arial"/>
                <a:ea typeface="Malgun Gothic"/>
                <a:cs typeface="Malgun Gothic"/>
              </a:rPr>
              <a:t>r = (t, d)</a:t>
            </a:r>
            <a:r>
              <a:rPr sz="1050" b="0" i="0">
                <a:solidFill>
                  <a:srgbClr val="16213A"/>
                </a:solidFill>
                <a:latin typeface="Arial"/>
                <a:ea typeface="Malgun Gothic"/>
                <a:cs typeface="Malgun Gothic"/>
              </a:rPr>
              <a:t>를 낸다. 원점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는 카메라 위치이고 방향은 </a:t>
            </a:r>
            <a:r>
              <a:rPr sz="1050" b="0" i="1">
                <a:solidFill>
                  <a:srgbClr val="16213A"/>
                </a:solidFill>
                <a:latin typeface="Arial"/>
                <a:ea typeface="Malgun Gothic"/>
                <a:cs typeface="Malgun Gothic"/>
              </a:rPr>
              <a:t>d = R K⁻¹ p</a:t>
            </a:r>
            <a:r>
              <a:rPr sz="1050" b="0" i="0">
                <a:solidFill>
                  <a:srgbClr val="16213A"/>
                </a:solidFill>
                <a:latin typeface="Arial"/>
                <a:ea typeface="Malgun Gothic"/>
                <a:cs typeface="Malgun Gothic"/>
              </a:rPr>
              <a:t>다. 직교 제약이 있는 회전 행렬을 직접 맞히지 않아도 되고, 3D 점은 원소별 연산으로 바로 나온다.</a:t>
            </a:r>
          </a:p>
        </p:txBody>
      </p:sp>
      <p:pic>
        <p:nvPicPr>
          <p:cNvPr id="11" name="Picture 10" descr="image.png"/>
          <p:cNvPicPr>
            <a:picLocks noChangeAspect="1"/>
          </p:cNvPicPr>
          <p:nvPr/>
        </p:nvPicPr>
        <p:blipFill>
          <a:blip r:embed="rId5"/>
          <a:stretch>
            <a:fillRect/>
          </a:stretch>
        </p:blipFill>
        <p:spPr>
          <a:xfrm>
            <a:off x="609600" y="3700760"/>
            <a:ext cx="1381125" cy="241300"/>
          </a:xfrm>
          <a:prstGeom prst="rect">
            <a:avLst/>
          </a:prstGeom>
        </p:spPr>
      </p:pic>
      <p:sp>
        <p:nvSpPr>
          <p:cNvPr id="12" name="TextBox 11"/>
          <p:cNvSpPr txBox="1"/>
          <p:nvPr/>
        </p:nvSpPr>
        <p:spPr>
          <a:xfrm>
            <a:off x="609600" y="3978275"/>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여러 장을 다루려고 선택한 층에서 토큰을 재배열해 모든 영상 사이에 self-attention을 한다. 광선 지도에서 자세를 푸는 계산을 줄이려고, 카메라 토큰에서 시야각, 회전(쿼터니언), 위치를 바로 내는 가벼운 카메라 헤드를 더했다.</a:t>
            </a:r>
          </a:p>
        </p:txBody>
      </p:sp>
      <p:sp>
        <p:nvSpPr>
          <p:cNvPr id="13" name="TextBox 12"/>
          <p:cNvSpPr txBox="1"/>
          <p:nvPr/>
        </p:nvSpPr>
        <p:spPr>
          <a:xfrm>
            <a:off x="609600" y="450016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단안 깊이는 카메라만으로 근거리 높이를 채우는 후보다. 상대 깊이는 축척을 모르므로 TravMap에 쓰려면 metric 판을 쓰거나 LiDAR 몇 점으로 축척을 맞춰야 한다. V2의 "합성 영상 교사, 실제 영상 학생" 구조는 Isaac Sim 영상으로 교사를 만들고 실제 주행 영상으로 학생을 가르치는 sim-to-real 경로(§S)와 같은 모양이다.</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시각 기반 모델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A.11 시각 기반 모델: 라벨 없이 학습한 백본 위에 작은 헤드를 얹는다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181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A.11.3 분할과 open-set 검출: SAM 2, SAM 3, Grounding DINO</a:t>
            </a:r>
          </a:p>
        </p:txBody>
      </p:sp>
      <p:sp>
        <p:nvSpPr>
          <p:cNvPr id="6" name="TextBox 5"/>
          <p:cNvSpPr txBox="1"/>
          <p:nvPr/>
        </p:nvSpPr>
        <p:spPr>
          <a:xfrm>
            <a:off x="609600" y="154781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SAM 2 — 한 번 가리키면 영상 끝까지 따라가는 분할</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arXiv:2408.00714</a:t>
            </a:r>
            <a:r>
              <a:rPr sz="1050" b="0" i="0">
                <a:solidFill>
                  <a:srgbClr val="16213A"/>
                </a:solidFill>
                <a:latin typeface="Arial"/>
                <a:ea typeface="Malgun Gothic"/>
                <a:cs typeface="Malgun Gothic"/>
              </a:rPr>
              <a:t>, 2024, Meta). 한 프레임에서 점, 상자, 마스크로 물체를 지정하면 영상 전체에서 그 물체를 분할한다. 과거 프레임의 예측을 메모리에 쌓고 현재 프레임이 그 메모리를 attention으로 참조하는 스트리밍 구조라 실시간으로 돈다. 모델을 고리 안에 둔 데이터 엔진으로 영상 5.09만 개, 마스크 3,550만 개의 SA-V 데이터셋을 만들었다. 영상 분할에서 기존 방법보다 상호작용을 3배 적게 쓰고도 더 정확했고, 정지 영상 분할에서는 SAM보다 정확하면서 6배 빨랐다.</a:t>
            </a:r>
          </a:p>
        </p:txBody>
      </p:sp>
      <p:pic>
        <p:nvPicPr>
          <p:cNvPr id="7" name="Picture 6" descr="image.jpg"/>
          <p:cNvPicPr>
            <a:picLocks noChangeAspect="1"/>
          </p:cNvPicPr>
          <p:nvPr/>
        </p:nvPicPr>
        <p:blipFill>
          <a:blip r:embed="rId4"/>
          <a:stretch>
            <a:fillRect/>
          </a:stretch>
        </p:blipFill>
        <p:spPr>
          <a:xfrm>
            <a:off x="1016000" y="2286198"/>
            <a:ext cx="10160000" cy="2559050"/>
          </a:xfrm>
          <a:prstGeom prst="rect">
            <a:avLst/>
          </a:prstGeom>
        </p:spPr>
      </p:pic>
      <p:sp>
        <p:nvSpPr>
          <p:cNvPr id="8" name="TextBox 7"/>
          <p:cNvSpPr txBox="1"/>
          <p:nvPr/>
        </p:nvSpPr>
        <p:spPr>
          <a:xfrm>
            <a:off x="1016000" y="4883348"/>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SAM 2 (Fig. 3): 현재 프레임의 분할이 현재 프롬프트와 메모리에 저장된 과거 프레임 예측을 함께 조건으로 삼는 구조. 출처: arXiv:2408.00714</a:t>
            </a:r>
          </a:p>
        </p:txBody>
      </p:sp>
      <p:sp>
        <p:nvSpPr>
          <p:cNvPr id="9" name="TextBox 8"/>
          <p:cNvSpPr txBox="1"/>
          <p:nvPr/>
        </p:nvSpPr>
        <p:spPr>
          <a:xfrm>
            <a:off x="609600" y="5114429"/>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SAM 3 — 이름으로 지정하면 해당하는 물체를 모두</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arXiv:2511.16719</a:t>
            </a:r>
            <a:r>
              <a:rPr sz="1050" b="0" i="0">
                <a:solidFill>
                  <a:srgbClr val="16213A"/>
                </a:solidFill>
                <a:latin typeface="Arial"/>
                <a:ea typeface="Malgun Gothic"/>
                <a:cs typeface="Malgun Gothic"/>
              </a:rPr>
              <a:t>, 2025, Meta). "노란 스쿨버스" 같은 짧은 명사구나 예시 영상 조각을 주면, 영상 속 해당 물체를 모두 찾아 분할하고 ID를 붙여 추적한다(promptable concept segmentation). DETR 계열 검출기와 SAM 2식 추적기가 백본 하나를 공유한다. "그 개념이 영상에 있는가"만 따로 맞히는 presence head가 인식과 위치 추정을 분리해 검출 정확도를 높였다. 어려운 음성 예시를 포함해 고유 개념 400만 개를 라벨링하는 데이터 엔진을 만들었고, 영상과 동영상 모두에서 기존 시스템의 정확도를 두 배로 올렸다.</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시각 기반 모델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A.11 시각 기반 모델: 라벨 없이 학습한 백본 위에 작은 헤드를 얹는다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182 / 359</a:t>
            </a:r>
          </a:p>
        </p:txBody>
      </p:sp>
      <p:pic>
        <p:nvPicPr>
          <p:cNvPr id="5" name="Picture 4" descr="image.jpg"/>
          <p:cNvPicPr>
            <a:picLocks noChangeAspect="1"/>
          </p:cNvPicPr>
          <p:nvPr/>
        </p:nvPicPr>
        <p:blipFill>
          <a:blip r:embed="rId3"/>
          <a:stretch>
            <a:fillRect/>
          </a:stretch>
        </p:blipFill>
        <p:spPr>
          <a:xfrm>
            <a:off x="2127250" y="1244600"/>
            <a:ext cx="7937500" cy="2501900"/>
          </a:xfrm>
          <a:prstGeom prst="rect">
            <a:avLst/>
          </a:prstGeom>
        </p:spPr>
      </p:pic>
      <p:sp>
        <p:nvSpPr>
          <p:cNvPr id="6" name="TextBox 5"/>
          <p:cNvSpPr txBox="1"/>
          <p:nvPr/>
        </p:nvSpPr>
        <p:spPr>
          <a:xfrm>
            <a:off x="2127250" y="3784600"/>
            <a:ext cx="79375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SAM 3 (Fig. 1): 클릭으로 지정하는 기존 분할(왼쪽)에 더해, 명사구나 예시로 지정한 개념의 모든 인스턴스를 분할하는 새 과제(오른쪽). 출처: arXiv:2511.16719</a:t>
            </a:r>
          </a:p>
        </p:txBody>
      </p:sp>
      <p:sp>
        <p:nvSpPr>
          <p:cNvPr id="7" name="TextBox 6"/>
          <p:cNvSpPr txBox="1"/>
          <p:nvPr/>
        </p:nvSpPr>
        <p:spPr>
          <a:xfrm>
            <a:off x="609600" y="401568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Grounding DINO — 글로 지정한 물체를 찾는 검출기</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arXiv:2303.05499</a:t>
            </a:r>
            <a:r>
              <a:rPr sz="1050" b="0" i="0">
                <a:solidFill>
                  <a:srgbClr val="16213A"/>
                </a:solidFill>
                <a:latin typeface="Arial"/>
                <a:ea typeface="Malgun Gothic"/>
                <a:cs typeface="Malgun Gothic"/>
              </a:rPr>
              <a:t>, ECCV 2024, IDEA). 닫힌 클래스 검출기 DINO(DETR 계열 검출기로, 자기지도 DINO와 이름만 같다)에 언어를 넣었다. 클래스 이름이나 "빨간 킥보드" 같은 지시 표현으로 임의의 물체를 찾는다. 영상과 글 특징을 세 곳에서 섞는다. 특징 강화기에서 서로 attention하고, 글과 가장 관련 높은 영상 특징으로 query를 고르고, 교차 모달 decoder에서 다시 섞는다. COCO 학습 데이터 없이 COCO에서 52.5 AP를 냈고 ODinW zero-shot에서 평균 26.1 AP로 최고 기록을 세웠다. Grounding DINO로 상자를 찾고 SAM으로 마스크를 내는 조합이 자동 라벨링에 널리 쓰인다.</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시각 기반 모델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A.11 시각 기반 모델: 라벨 없이 학습한 백본 위에 작은 헤드를 얹는다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183 / 359</a:t>
            </a:r>
          </a:p>
        </p:txBody>
      </p:sp>
      <p:pic>
        <p:nvPicPr>
          <p:cNvPr id="5" name="Picture 4" descr="image.jpg"/>
          <p:cNvPicPr>
            <a:picLocks noChangeAspect="1"/>
          </p:cNvPicPr>
          <p:nvPr/>
        </p:nvPicPr>
        <p:blipFill>
          <a:blip r:embed="rId3"/>
          <a:stretch>
            <a:fillRect/>
          </a:stretch>
        </p:blipFill>
        <p:spPr>
          <a:xfrm>
            <a:off x="2879725" y="1244600"/>
            <a:ext cx="6432550" cy="4445000"/>
          </a:xfrm>
          <a:prstGeom prst="rect">
            <a:avLst/>
          </a:prstGeom>
        </p:spPr>
      </p:pic>
      <p:sp>
        <p:nvSpPr>
          <p:cNvPr id="6" name="TextBox 5"/>
          <p:cNvSpPr txBox="1"/>
          <p:nvPr/>
        </p:nvSpPr>
        <p:spPr>
          <a:xfrm>
            <a:off x="2879725" y="5727700"/>
            <a:ext cx="643255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Grounding DINO (Fig. 3): 영상과 글 backbone, 특징 강화기, 언어 기반 query 선택, 교차 모달 decoder로 된 전체 구조. 출처: arXiv:2303.05499</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시각 기반 모델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A.11 시각 기반 모델: 라벨 없이 학습한 백본 위에 작은 헤드를 얹는다</a:t>
            </a:r>
            <a:r>
              <a:rPr sz="1050" b="0" i="0">
                <a:solidFill>
                  <a:srgbClr val="5A6478"/>
                </a:solidFill>
                <a:latin typeface="Arial"/>
                <a:ea typeface="Malgun Gothic"/>
                <a:cs typeface="Malgun Gothic"/>
              </a:rPr>
              <a:t>  자세히: SAM 2의 메모리와 SAM 3의 presence 점수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184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SAM 2의 메모리 attention.</a:t>
            </a:r>
            <a:r>
              <a:rPr sz="1050" b="0" i="0">
                <a:solidFill>
                  <a:srgbClr val="16213A"/>
                </a:solidFill>
                <a:latin typeface="Arial"/>
                <a:ea typeface="Malgun Gothic"/>
                <a:cs typeface="Malgun Gothic"/>
              </a:rPr>
              <a:t> 현재 프레임의 영상 특징이 transformer 블록 </a:t>
            </a:r>
            <a:r>
              <a:rPr sz="1050" b="0" i="1">
                <a:solidFill>
                  <a:srgbClr val="16213A"/>
                </a:solidFill>
                <a:latin typeface="Arial"/>
                <a:ea typeface="Malgun Gothic"/>
                <a:cs typeface="Malgun Gothic"/>
              </a:rPr>
              <a:t>L</a:t>
            </a:r>
            <a:r>
              <a:rPr sz="1050" b="0" i="0">
                <a:solidFill>
                  <a:srgbClr val="16213A"/>
                </a:solidFill>
                <a:latin typeface="Arial"/>
                <a:ea typeface="Malgun Gothic"/>
                <a:cs typeface="Malgun Gothic"/>
              </a:rPr>
              <a:t>개를 지난다. 블록마다 self-attention, 메모리에 대한 cross-attention, MLP 순서다. 메모리 뱅크는 최근 프레임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개와 사용자가 지정한 프레임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개를 각각 FIFO 큐로 둔다. 메모리는 공간 특징 지도이고, 물체의 의미를 요약한 가벼운 "물체 포인터" 벡터도 함께 저장한다. 최근 프레임 메모리에는 시간 위치를 넣어 짧은 움직임을 표현한다. 첫 프레임만 지정한 경우 그 프레임의 메모리는 최근 프레임 큐와 별도로 계속 남는다.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SAM 3의 presence 점수.</a:t>
            </a:r>
            <a:r>
              <a:rPr sz="1050" b="0" i="0">
                <a:solidFill>
                  <a:srgbClr val="16213A"/>
                </a:solidFill>
                <a:latin typeface="Arial"/>
                <a:ea typeface="Malgun Gothic"/>
                <a:cs typeface="Malgun Gothic"/>
              </a:rPr>
              <a:t> open-vocabulary 검출에서 query마다 "이 물체가 명사구와 맞는가"를 맞히면, query는 영상 전체 맥락(개념이 있는가)과 국소 위치(어디인가)를 동시에 책임진다. SAM 3는 영상 전체에 하나뿐인 presence token이 개념의 존재를 맡고, 각 query는 "존재한다면 이 query가 맞는가"만 맡게 나눴다. 최종 점수는 두 확률의 곱이다.</a:t>
            </a:r>
          </a:p>
        </p:txBody>
      </p:sp>
      <p:pic>
        <p:nvPicPr>
          <p:cNvPr id="7" name="Picture 6" descr="image.png"/>
          <p:cNvPicPr>
            <a:picLocks noChangeAspect="1"/>
          </p:cNvPicPr>
          <p:nvPr/>
        </p:nvPicPr>
        <p:blipFill>
          <a:blip r:embed="rId3"/>
          <a:stretch>
            <a:fillRect/>
          </a:stretch>
        </p:blipFill>
        <p:spPr>
          <a:xfrm>
            <a:off x="609600" y="2504877"/>
            <a:ext cx="2787650" cy="241300"/>
          </a:xfrm>
          <a:prstGeom prst="rect">
            <a:avLst/>
          </a:prstGeom>
        </p:spPr>
      </p:pic>
      <p:sp>
        <p:nvSpPr>
          <p:cNvPr id="8" name="TextBox 7"/>
          <p:cNvSpPr txBox="1"/>
          <p:nvPr/>
        </p:nvSpPr>
        <p:spPr>
          <a:xfrm>
            <a:off x="609600" y="278239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presence 점수는 개념이 영상에 있는지를 이진 교차 엔트로피로 지도하고, 어려운 음성 명사구로 학습할 때 효과가 특히 컸다.</a:t>
            </a:r>
          </a:p>
        </p:txBody>
      </p:sp>
      <p:sp>
        <p:nvSpPr>
          <p:cNvPr id="9" name="TextBox 8"/>
          <p:cNvSpPr txBox="1"/>
          <p:nvPr/>
        </p:nvSpPr>
        <p:spPr>
          <a:xfrm>
            <a:off x="609600" y="308778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보도에는 학습 클래스에 없는 장애물(킥보드, 볼라드, 공사 표지)이 많다. SAM 3나 Grounding DINO에게 이름으로 물어 마스크를 얻으면 사람 라벨 없이 장애물 클래스를 늘릴 수 있다. 메모리 기반 추적은 가려졌다 다시 나타나는 보행자의 ID를 유지하는 문제(A.12)와 같다.</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시각 기반 모델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A.11 시각 기반 모델: 라벨 없이 학습한 백본 위에 작은 헤드를 얹는다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185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시각 기반 모델은 로봇에서 직접 돌리기 전에 라벨을 만드는 교사로 먼저 쓴다.</a:t>
            </a:r>
            <a:r>
              <a:rPr sz="1050" b="0" i="0">
                <a:solidFill>
                  <a:srgbClr val="16213A"/>
                </a:solidFill>
                <a:latin typeface="Arial"/>
                <a:ea typeface="Malgun Gothic"/>
                <a:cs typeface="Malgun Gothic"/>
              </a:rPr>
              <a:t> Orin에서 큰 백본을 매 프레임 돌린 근거는 아직 얇다. 대신 오프라인에서 Grounding DINO와 SAM으로 보행자, 킥보드, 볼라드 마스크를 만들고 Depth Anything으로 깊이 가짜 라벨을 만든 뒤, 작은 실시간 모델(A.12의 검출기, TravNet)로 증류한다. Depth Anything V2가 스스로 쓴 교사와 학생 구조와 같다. 제품 경로에는 Apache-2.0 가중치(DINOv2, Depth Anything V2 Small, DA3 Large·Metric·Mono, SAM 2.1, Grounding DINO)만 둔다. DINOv3와 SAM 3는 자체 라이선스 조건을 확인한 뒤 연구 비교에만 쓴다.</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인식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동적 장애물</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인식 (docs/research-perception.md)    186 / 359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A.12 동적 장애물: 검출, 추적, 궤적 예측</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187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보행자 대응은 세 단계다.</a:t>
            </a:r>
            <a:r>
              <a:rPr sz="1050" b="0" i="0">
                <a:solidFill>
                  <a:srgbClr val="16213A"/>
                </a:solidFill>
                <a:latin typeface="Arial"/>
                <a:ea typeface="Malgun Gothic"/>
                <a:cs typeface="Malgun Gothic"/>
              </a:rPr>
              <a:t> 영상에서 사람을 찾고(검출), 프레임 사이에 같은 사람을 잇고(추적), 앞으로 어디로 갈지 내다본다(예측). travplan PoC(TP-0011, </a:t>
            </a:r>
            <a:r>
              <a:rPr sz="1050" b="0" i="0">
                <a:solidFill>
                  <a:srgbClr val="16213A"/>
                </a:solidFill>
                <a:latin typeface="Consolas"/>
                <a:ea typeface="Malgun Gothic"/>
                <a:cs typeface="Malgun Gothic"/>
              </a:rPr>
              <a:t>docs/poc-yolo-bytetrack.md</a:t>
            </a:r>
            <a:r>
              <a:rPr sz="1050" b="0" i="0">
                <a:solidFill>
                  <a:srgbClr val="16213A"/>
                </a:solidFill>
                <a:latin typeface="Arial"/>
                <a:ea typeface="Malgun Gothic"/>
                <a:cs typeface="Malgun Gothic"/>
              </a:rPr>
              <a:t>)는 앞의 두 단계를 Ultralytics YOLOv8n과 ByteTrack으로 처리한다. 예측은 </a:t>
            </a:r>
            <a:r>
              <a:rPr sz="1050" b="0" i="0">
                <a:solidFill>
                  <a:srgbClr val="16213A"/>
                </a:solidFill>
                <a:latin typeface="Consolas"/>
                <a:ea typeface="Malgun Gothic"/>
                <a:cs typeface="Malgun Gothic"/>
              </a:rPr>
              <a:t>DynamicObstacles</a:t>
            </a:r>
            <a:r>
              <a:rPr sz="1050" b="0" i="0">
                <a:solidFill>
                  <a:srgbClr val="16213A"/>
                </a:solidFill>
                <a:latin typeface="Arial"/>
                <a:ea typeface="Malgun Gothic"/>
                <a:cs typeface="Malgun Gothic"/>
              </a:rPr>
              <a:t>의 등속 가정으로 처리한다. 원판이 마지막 속도로 움직이고, 반경은 내다보는 시간에 비례해 커진다. 이 탭은 세 단계의 마일스톤과 2026년 SOTA를 정리하고, 상용화 전에 바꿔야 할 한 가지(검출기 라이선스)를 짚는다. A.12.1–A.12.3은 영상 평면 기준이다. A.12.4는 같은 문제를 로봇 좌표의 3D·BEV에서 푸는 자율주행차와 모바일 로봇의 방식을 정리한다.</a:t>
            </a:r>
          </a:p>
        </p:txBody>
      </p:sp>
      <p:sp>
        <p:nvSpPr>
          <p:cNvPr id="6" name="TextBox 5"/>
          <p:cNvSpPr txBox="1"/>
          <p:nvPr/>
        </p:nvSpPr>
        <p:spPr>
          <a:xfrm>
            <a:off x="717550" y="21994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A.12.1 검출: YOLO에서 실시간 DETR로</a:t>
            </a:r>
          </a:p>
        </p:txBody>
      </p:sp>
      <p:sp>
        <p:nvSpPr>
          <p:cNvPr id="7" name="TextBox 6"/>
          <p:cNvSpPr txBox="1"/>
          <p:nvPr/>
        </p:nvSpPr>
        <p:spPr>
          <a:xfrm>
            <a:off x="609600" y="250269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실시간 검출의 주류는 오래 YOLO였고, 2023년부터는 NMS가 필요 없는 실시간 DETR이 속도와 정확도 모두에서 따라잡았다.</a:t>
            </a:r>
            <a:r>
              <a:rPr sz="1050" b="0" i="0">
                <a:solidFill>
                  <a:srgbClr val="16213A"/>
                </a:solidFill>
                <a:latin typeface="Arial"/>
                <a:ea typeface="Malgun Gothic"/>
                <a:cs typeface="Malgun Gothic"/>
              </a:rPr>
              <a:t> COCO 수치는 논문 값이고 FPS는 NVIDIA T4 기준이다.</a:t>
            </a:r>
          </a:p>
        </p:txBody>
      </p:sp>
      <p:graphicFrame>
        <p:nvGraphicFramePr>
          <p:cNvPr id="8" name="Table 7"/>
          <p:cNvGraphicFramePr>
            <a:graphicFrameLocks noGrp="1"/>
          </p:cNvGraphicFramePr>
          <p:nvPr/>
        </p:nvGraphicFramePr>
        <p:xfrm>
          <a:off x="609600" y="2808089"/>
          <a:ext cx="10966451" cy="1182528"/>
        </p:xfrm>
        <a:graphic>
          <a:graphicData uri="http://schemas.openxmlformats.org/drawingml/2006/table">
            <a:tbl>
              <a:tblPr firstRow="1" bandRow="1">
                <a:tableStyleId>{5C22544A-7EE6-4342-B048-85BDC9FD1C3A}</a:tableStyleId>
              </a:tblPr>
              <a:tblGrid>
                <a:gridCol w="937816"/>
                <a:gridCol w="2264966"/>
                <a:gridCol w="2350691"/>
                <a:gridCol w="2934593"/>
                <a:gridCol w="2478385"/>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COCO 성능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 코드(★)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2023–2026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Ultralytics YOLO (v8, 11, YOLO26)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학습·추론·추적·내보내기를 한 패키지로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모델마다 다름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AGPL-3.0, </a:t>
                      </a:r>
                      <a:r>
                        <a:rPr sz="800" b="0" i="0">
                          <a:solidFill>
                            <a:srgbClr val="1D4ED8"/>
                          </a:solidFill>
                          <a:latin typeface="Arial"/>
                          <a:ea typeface="Malgun Gothic"/>
                          <a:cs typeface="Malgun Gothic"/>
                          <a:hlinkClick r:id="rId3"/>
                        </a:rPr>
                        <a:t>ultralytics/ultralytics</a:t>
                      </a:r>
                      <a:r>
                        <a:rPr sz="800" b="0" i="0">
                          <a:solidFill>
                            <a:srgbClr val="16213A"/>
                          </a:solidFill>
                          <a:latin typeface="Arial"/>
                          <a:ea typeface="Malgun Gothic"/>
                          <a:cs typeface="Malgun Gothic"/>
                        </a:rPr>
                        <a:t> 62k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RT-DETR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첫 실시간 end-to-end 검출기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R50 53.1 AP, 108 FPS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 </a:t>
                      </a:r>
                      <a:r>
                        <a:rPr sz="800" b="0" i="0">
                          <a:solidFill>
                            <a:srgbClr val="1D4ED8"/>
                          </a:solidFill>
                          <a:latin typeface="Arial"/>
                          <a:ea typeface="Malgun Gothic"/>
                          <a:cs typeface="Malgun Gothic"/>
                          <a:hlinkClick r:id="rId4"/>
                        </a:rPr>
                        <a:t>lyuwenyu/RT-DETR</a:t>
                      </a:r>
                      <a:r>
                        <a:rPr sz="800" b="0" i="0">
                          <a:solidFill>
                            <a:srgbClr val="16213A"/>
                          </a:solidFill>
                          <a:latin typeface="Arial"/>
                          <a:ea typeface="Malgun Gothic"/>
                          <a:cs typeface="Malgun Gothic"/>
                        </a:rPr>
                        <a:t> 5.6k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YOLOv10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이중 할당으로 NMS 없는 YOLO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S가 RT-DETR-R18과 같은 AP에서 1.8배 빠름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AGPL-3.0, </a:t>
                      </a:r>
                      <a:r>
                        <a:rPr sz="800" b="0" i="0">
                          <a:solidFill>
                            <a:srgbClr val="1D4ED8"/>
                          </a:solidFill>
                          <a:latin typeface="Arial"/>
                          <a:ea typeface="Malgun Gothic"/>
                          <a:cs typeface="Malgun Gothic"/>
                          <a:hlinkClick r:id="rId5"/>
                        </a:rPr>
                        <a:t>THU-MIG/yolov10</a:t>
                      </a:r>
                      <a:r>
                        <a:rPr sz="800" b="0" i="0">
                          <a:solidFill>
                            <a:srgbClr val="16213A"/>
                          </a:solidFill>
                          <a:latin typeface="Arial"/>
                          <a:ea typeface="Malgun Gothic"/>
                          <a:cs typeface="Malgun Gothic"/>
                        </a:rPr>
                        <a:t> 11.3k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D-FINE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상자 회귀를 분포 정제로 바꿈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 54.0 AP 124 FPS, X 55.8 AP 78 FPS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 </a:t>
                      </a:r>
                      <a:r>
                        <a:rPr sz="800" b="0" i="0">
                          <a:solidFill>
                            <a:srgbClr val="1D4ED8"/>
                          </a:solidFill>
                          <a:latin typeface="Arial"/>
                          <a:ea typeface="Malgun Gothic"/>
                          <a:cs typeface="Malgun Gothic"/>
                          <a:hlinkClick r:id="rId6"/>
                        </a:rPr>
                        <a:t>Peterande/D-FINE</a:t>
                      </a:r>
                      <a:r>
                        <a:rPr sz="800" b="0" i="0">
                          <a:solidFill>
                            <a:srgbClr val="16213A"/>
                          </a:solidFill>
                          <a:latin typeface="Arial"/>
                          <a:ea typeface="Malgun Gothic"/>
                          <a:cs typeface="Malgun Gothic"/>
                        </a:rPr>
                        <a:t> 3.3k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RF-DETR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DINOv2 백본 + 가중치 공유 NAS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nano 48.0 AP, 2x-large가 실시간 첫 60 AP 돌파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 </a:t>
                      </a:r>
                      <a:r>
                        <a:rPr sz="800" b="0" i="0">
                          <a:solidFill>
                            <a:srgbClr val="1D4ED8"/>
                          </a:solidFill>
                          <a:latin typeface="Arial"/>
                          <a:ea typeface="Malgun Gothic"/>
                          <a:cs typeface="Malgun Gothic"/>
                          <a:hlinkClick r:id="rId7"/>
                        </a:rPr>
                        <a:t>roboflow/rf-detr</a:t>
                      </a:r>
                      <a:r>
                        <a:rPr sz="800" b="0" i="0">
                          <a:solidFill>
                            <a:srgbClr val="16213A"/>
                          </a:solidFill>
                          <a:latin typeface="Arial"/>
                          <a:ea typeface="Malgun Gothic"/>
                          <a:cs typeface="Malgun Gothic"/>
                        </a:rPr>
                        <a:t> 9.6k</a:t>
                      </a:r>
                    </a:p>
                  </a:txBody>
                  <a:tcPr marL="63500" marR="63500" marT="12700" marB="12700">
                    <a:solidFill>
                      <a:srgbClr val="FFFDF8"/>
                    </a:solidFill>
                  </a:tcPr>
                </a:tc>
              </a:tr>
            </a:tbl>
          </a:graphicData>
        </a:graphic>
      </p:graphicFrame>
      <p:sp>
        <p:nvSpPr>
          <p:cNvPr id="9" name="TextBox 8"/>
          <p:cNvSpPr txBox="1"/>
          <p:nvPr/>
        </p:nvSpPr>
        <p:spPr>
          <a:xfrm>
            <a:off x="609600" y="43815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Ultralytics YOLO — 가장 널리 쓰이지만 AGPL-3.0이다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ultralytics/ultralytics</a:t>
            </a:r>
            <a:r>
              <a:rPr sz="1050" b="0" i="0">
                <a:solidFill>
                  <a:srgbClr val="16213A"/>
                </a:solidFill>
                <a:latin typeface="Arial"/>
                <a:ea typeface="Malgun Gothic"/>
                <a:cs typeface="Malgun Gothic"/>
              </a:rPr>
              <a:t>, ★62k). YOLOv8부터 최신 YOLO26까지 학습, 추론, 추적(ByteTrack과 BoT-SORT 설정 내장), TensorRT 내보내기를 한 패키지로 준다. travplan PoC도 이 패키지의 </a:t>
            </a:r>
            <a:r>
              <a:rPr sz="1050" b="0" i="0">
                <a:solidFill>
                  <a:srgbClr val="16213A"/>
                </a:solidFill>
                <a:latin typeface="Consolas"/>
                <a:ea typeface="Malgun Gothic"/>
                <a:cs typeface="Malgun Gothic"/>
              </a:rPr>
              <a:t>yolov8n.pt</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.track(..., tracker="bytetrack.yaml")</a:t>
            </a:r>
            <a:r>
              <a:rPr sz="1050" b="0" i="0">
                <a:solidFill>
                  <a:srgbClr val="16213A"/>
                </a:solidFill>
                <a:latin typeface="Arial"/>
                <a:ea typeface="Malgun Gothic"/>
                <a:cs typeface="Malgun Gothic"/>
              </a:rPr>
              <a:t>을 쓴다. 코드와 가중치가 AGPL-3.0이어서, 이 코드를 포함해 배포하거나 네트워크로 서비스하는 소프트웨어 전체에 소스 공개 의무가 생긴다. 상용 로봇에 넣으려면 기업 라이선스를 사거나 Apache-2.0 검출기로 바꿔야 한다. travplan은 </a:t>
            </a:r>
            <a:r>
              <a:rPr sz="1050" b="0" i="0">
                <a:solidFill>
                  <a:srgbClr val="16213A"/>
                </a:solidFill>
                <a:latin typeface="Consolas"/>
                <a:ea typeface="Malgun Gothic"/>
                <a:cs typeface="Malgun Gothic"/>
              </a:rPr>
              <a:t>ultralytics</a:t>
            </a:r>
            <a:r>
              <a:rPr sz="1050" b="0" i="0">
                <a:solidFill>
                  <a:srgbClr val="16213A"/>
                </a:solidFill>
                <a:latin typeface="Arial"/>
                <a:ea typeface="Malgun Gothic"/>
                <a:cs typeface="Malgun Gothic"/>
              </a:rPr>
              <a:t>를 패키지 의존성에 넣지 않고 별도 가상환경(</a:t>
            </a:r>
            <a:r>
              <a:rPr sz="1050" b="0" i="0">
                <a:solidFill>
                  <a:srgbClr val="16213A"/>
                </a:solidFill>
                <a:latin typeface="Consolas"/>
                <a:ea typeface="Malgun Gothic"/>
                <a:cs typeface="Malgun Gothic"/>
              </a:rPr>
              <a:t>.venv-yolo</a:t>
            </a:r>
            <a:r>
              <a:rPr sz="1050" b="0" i="0">
                <a:solidFill>
                  <a:srgbClr val="16213A"/>
                </a:solidFill>
                <a:latin typeface="Arial"/>
                <a:ea typeface="Malgun Gothic"/>
                <a:cs typeface="Malgun Gothic"/>
              </a:rPr>
              <a:t>)에만 두었다.</a:t>
            </a:r>
          </a:p>
        </p:txBody>
      </p:sp>
      <p:sp>
        <p:nvSpPr>
          <p:cNvPr id="10" name="TextBox 9"/>
          <p:cNvSpPr txBox="1"/>
          <p:nvPr/>
        </p:nvSpPr>
        <p:spPr>
          <a:xfrm>
            <a:off x="609600" y="533638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RT-DETR — DETR이 실시간에서 YOLO를 이겼다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8"/>
              </a:rPr>
              <a:t>arXiv:2304.08069</a:t>
            </a:r>
            <a:r>
              <a:rPr sz="1050" b="0" i="0">
                <a:solidFill>
                  <a:srgbClr val="16213A"/>
                </a:solidFill>
                <a:latin typeface="Arial"/>
                <a:ea typeface="Malgun Gothic"/>
                <a:cs typeface="Malgun Gothic"/>
              </a:rPr>
              <a:t>, CVPR 2024). YOLO는 겹친 상자를 지우는 후처리(NMS)가 속도와 정확도를 함께 깎는다. DETR은 NMS가 필요 없지만 너무 무거웠다. RT-DETR은 먼저 한 축척 안의 상호작용과 축척 사이 융합을 분리한 하이브리드 인코더로 속도를 올렸다. 다음으로 분류와 위치가 모두 좋은 특징을 초기 query로 고르는 불확실성 최소 query 선택으로 정확도를 올렸다. decoder 층 수만 바꿔 재학습 없이 속도를 조절할 수도 있다. R50과 R101이 COCO 53.1, 54.3 AP에 108, 74 FPS로 당시 YOLO를 속도와 정확도 모두에서 앞섰다.</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188 / 359</a:t>
            </a:r>
          </a:p>
        </p:txBody>
      </p:sp>
      <p:pic>
        <p:nvPicPr>
          <p:cNvPr id="5" name="Picture 4" descr="image.jpg"/>
          <p:cNvPicPr>
            <a:picLocks noChangeAspect="1"/>
          </p:cNvPicPr>
          <p:nvPr/>
        </p:nvPicPr>
        <p:blipFill>
          <a:blip r:embed="rId3"/>
          <a:stretch>
            <a:fillRect/>
          </a:stretch>
        </p:blipFill>
        <p:spPr>
          <a:xfrm>
            <a:off x="1016000" y="1244600"/>
            <a:ext cx="10160000" cy="3384550"/>
          </a:xfrm>
          <a:prstGeom prst="rect">
            <a:avLst/>
          </a:prstGeom>
        </p:spPr>
      </p:pic>
      <p:sp>
        <p:nvSpPr>
          <p:cNvPr id="6" name="TextBox 5"/>
          <p:cNvSpPr txBox="1"/>
          <p:nvPr/>
        </p:nvSpPr>
        <p:spPr>
          <a:xfrm>
            <a:off x="1016000" y="466725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RT-DETR (Fig. 4): backbone 마지막 세 단계의 특징을 하이브리드 인코더가 한 줄의 영상 특징으로 바꾸고, 불확실성 최소 query 선택으로 고른 query를 decoder가 반복해 다듬는다. 출처: arXiv:2304.08069</a:t>
            </a:r>
          </a:p>
        </p:txBody>
      </p:sp>
      <p:sp>
        <p:nvSpPr>
          <p:cNvPr id="7" name="TextBox 6"/>
          <p:cNvSpPr txBox="1"/>
          <p:nvPr/>
        </p:nvSpPr>
        <p:spPr>
          <a:xfrm>
            <a:off x="609600" y="489833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D-FINE — 상자 좌표 대신 분포를 다듬는다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arXiv:2410.13842</a:t>
            </a:r>
            <a:r>
              <a:rPr sz="1050" b="0" i="0">
                <a:solidFill>
                  <a:srgbClr val="16213A"/>
                </a:solidFill>
                <a:latin typeface="Arial"/>
                <a:ea typeface="Malgun Gothic"/>
                <a:cs typeface="Malgun Gothic"/>
              </a:rPr>
              <a:t>, ICLR 2025). 상자의 네 변 위치를 숫자 하나로 맞히는 대신, 변마다 가능한 이동량의 확률 분포를 내고 decoder 층마다 그 분포를 잔차로 다듬는다(FDR). 마지막 층의 정제된 분포를 얕은 층에 자기 증류해(GO-LSD) 얕은 층도 좋은 초기 조정을 배우게 했다. L과 X가 COCO 54.0, 55.8 AP에 124, 78 FPS를 냈고, Objects365로 사전학습하면 57.1, 59.3 AP로 당시 모든 실시간 검출기를 앞섰다. 다른 DETR 모델에 붙여도 AP가 최대 5.3% 오른다.</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189 / 359</a:t>
            </a:r>
          </a:p>
        </p:txBody>
      </p:sp>
      <p:pic>
        <p:nvPicPr>
          <p:cNvPr id="5" name="Picture 4" descr="image.jpg"/>
          <p:cNvPicPr>
            <a:picLocks noChangeAspect="1"/>
          </p:cNvPicPr>
          <p:nvPr/>
        </p:nvPicPr>
        <p:blipFill>
          <a:blip r:embed="rId3"/>
          <a:stretch>
            <a:fillRect/>
          </a:stretch>
        </p:blipFill>
        <p:spPr>
          <a:xfrm>
            <a:off x="1016000" y="1244600"/>
            <a:ext cx="10160000" cy="3981450"/>
          </a:xfrm>
          <a:prstGeom prst="rect">
            <a:avLst/>
          </a:prstGeom>
        </p:spPr>
      </p:pic>
      <p:sp>
        <p:nvSpPr>
          <p:cNvPr id="6" name="TextBox 5"/>
          <p:cNvSpPr txBox="1"/>
          <p:nvPr/>
        </p:nvSpPr>
        <p:spPr>
          <a:xfrm>
            <a:off x="1016000" y="526415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D-FINE (Fig. 2): 상자 네 변의 확률 분포를 decoder 층마다 잔차로 다듬고, 균일하지 않은 가중 함수로 작은 조정을 세밀하게 한다. 출처: arXiv:2410.13842</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190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RF-DETR — 목표 데이터셋마다 속도와 정확도의 최적 구조를 찾는다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arXiv:2511.09554</a:t>
            </a:r>
            <a:r>
              <a:rPr sz="1050" b="0" i="0">
                <a:solidFill>
                  <a:srgbClr val="16213A"/>
                </a:solidFill>
                <a:latin typeface="Arial"/>
                <a:ea typeface="Malgun Gothic"/>
                <a:cs typeface="Malgun Gothic"/>
              </a:rPr>
              <a:t>, ICLR 2026, Roboflow). open-vocabulary 검출기는 COCO에서 좋아도 사전학습에 없던 실제 데이터셋에서는 자주 실패한다. RF-DETR은 무거운 VLM을 미세조정하는 대신, DINOv2 백본의 가벼운 DETR을 목표 데이터셋에 한 번 미세조정한다. 그다음 가중치를 공유하는 신경망 구조 탐색(NAS)으로 패치 크기, decoder 층 수, query 수, 해상도, 윈도 수를 바꾼 수천 개 구성의 정확도와 지연을 재학습 없이 잰다. nano가 COCO 48.0 AP로 비슷한 지연의 D-FINE nano보다 5.3 AP 높고, 2x-large는 실시간 검출기 가운데 처음으로 COCO 60 AP를 넘었다. Roboflow100-VL에서는 Grounding DINO(tiny)보다 1.2 AP 높으면서 20배 빨랐다.</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191 / 359</a:t>
            </a:r>
          </a:p>
        </p:txBody>
      </p:sp>
      <p:pic>
        <p:nvPicPr>
          <p:cNvPr id="5" name="Picture 4" descr="image.jpg"/>
          <p:cNvPicPr>
            <a:picLocks noChangeAspect="1"/>
          </p:cNvPicPr>
          <p:nvPr/>
        </p:nvPicPr>
        <p:blipFill>
          <a:blip r:embed="rId3"/>
          <a:stretch>
            <a:fillRect/>
          </a:stretch>
        </p:blipFill>
        <p:spPr>
          <a:xfrm>
            <a:off x="2965450" y="1244600"/>
            <a:ext cx="6261100" cy="4445000"/>
          </a:xfrm>
          <a:prstGeom prst="rect">
            <a:avLst/>
          </a:prstGeom>
        </p:spPr>
      </p:pic>
      <p:sp>
        <p:nvSpPr>
          <p:cNvPr id="6" name="TextBox 5"/>
          <p:cNvSpPr txBox="1"/>
          <p:nvPr/>
        </p:nvSpPr>
        <p:spPr>
          <a:xfrm>
            <a:off x="2965450" y="5727700"/>
            <a:ext cx="62611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RF-DETR (Fig. 1): COCO에서 실시간 검출기들의 정확도와 지연 Pareto 곡선. 출처: arXiv:2511.09554</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자세히: DETR의 집합 예측과 D-FINE의 분포 정제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192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집합 예측이라 NMS가 없다.</a:t>
            </a:r>
            <a:r>
              <a:rPr sz="1050" b="0" i="0">
                <a:solidFill>
                  <a:srgbClr val="16213A"/>
                </a:solidFill>
                <a:latin typeface="Arial"/>
                <a:ea typeface="Malgun Gothic"/>
                <a:cs typeface="Malgun Gothic"/>
              </a:rPr>
              <a:t> DETR은 query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개가 (클래스, 상자) 예측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개를 낸다. 학습할 때 예측과 정답을 헝가리안 알고리즘으로 일대일 짝짓는다.</a:t>
            </a:r>
          </a:p>
        </p:txBody>
      </p:sp>
      <p:pic>
        <p:nvPicPr>
          <p:cNvPr id="6" name="Picture 5" descr="image.png"/>
          <p:cNvPicPr>
            <a:picLocks noChangeAspect="1"/>
          </p:cNvPicPr>
          <p:nvPr/>
        </p:nvPicPr>
        <p:blipFill>
          <a:blip r:embed="rId3"/>
          <a:stretch>
            <a:fillRect/>
          </a:stretch>
        </p:blipFill>
        <p:spPr>
          <a:xfrm>
            <a:off x="609600" y="1549995"/>
            <a:ext cx="2346325" cy="419100"/>
          </a:xfrm>
          <a:prstGeom prst="rect">
            <a:avLst/>
          </a:prstGeom>
        </p:spPr>
      </p:pic>
      <p:sp>
        <p:nvSpPr>
          <p:cNvPr id="7" name="TextBox 6"/>
          <p:cNvSpPr txBox="1"/>
          <p:nvPr/>
        </p:nvSpPr>
        <p:spPr>
          <a:xfrm>
            <a:off x="609600" y="1980307"/>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정답 하나에 예측 하나만 짝지어지므로, 한 물체에 상자가 여러 개 나오면 벌점을 받는다. 그래서 추론 때 겹친 상자를 지우는 NMS가 필요 없다. YOLOv10은 같은 효과를 YOLO에서 얻으려고, 학습 때는 풍부한 신호를 주는 일대다 헤드와 추론에 쓰는 일대일 헤드를 함께 학습한다(이중 할당).</a:t>
            </a:r>
          </a:p>
        </p:txBody>
      </p:sp>
      <p:sp>
        <p:nvSpPr>
          <p:cNvPr id="8" name="TextBox 7"/>
          <p:cNvSpPr txBox="1"/>
          <p:nvPr/>
        </p:nvSpPr>
        <p:spPr>
          <a:xfrm>
            <a:off x="609600" y="25021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D-FINE의 분포 정제.</a:t>
            </a:r>
            <a:r>
              <a:rPr sz="1050" b="0" i="0">
                <a:solidFill>
                  <a:srgbClr val="16213A"/>
                </a:solidFill>
                <a:latin typeface="Arial"/>
                <a:ea typeface="Malgun Gothic"/>
                <a:cs typeface="Malgun Gothic"/>
              </a:rPr>
              <a:t> 첫 decoder 층이 초기 상자 </a:t>
            </a:r>
            <a:r>
              <a:rPr sz="1050" b="0" i="1">
                <a:solidFill>
                  <a:srgbClr val="16213A"/>
                </a:solidFill>
                <a:latin typeface="Arial"/>
                <a:ea typeface="Malgun Gothic"/>
                <a:cs typeface="Malgun Gothic"/>
              </a:rPr>
              <a:t>b⁰ = {x, y, W, H}</a:t>
            </a:r>
            <a:r>
              <a:rPr sz="1050" b="0" i="0">
                <a:solidFill>
                  <a:srgbClr val="16213A"/>
                </a:solidFill>
                <a:latin typeface="Arial"/>
                <a:ea typeface="Malgun Gothic"/>
                <a:cs typeface="Malgun Gothic"/>
              </a:rPr>
              <a:t>를 내면, 중심에서 네 변까지 거리 </a:t>
            </a:r>
            <a:r>
              <a:rPr sz="1050" b="0" i="1">
                <a:solidFill>
                  <a:srgbClr val="16213A"/>
                </a:solidFill>
                <a:latin typeface="Arial"/>
                <a:ea typeface="Malgun Gothic"/>
                <a:cs typeface="Malgun Gothic"/>
              </a:rPr>
              <a:t>d⁰ = {t, b, l, r}</a:t>
            </a:r>
            <a:r>
              <a:rPr sz="1050" b="0" i="0">
                <a:solidFill>
                  <a:srgbClr val="16213A"/>
                </a:solidFill>
                <a:latin typeface="Arial"/>
                <a:ea typeface="Malgun Gothic"/>
                <a:cs typeface="Malgun Gothic"/>
              </a:rPr>
              <a:t>로 바꾼다. 층 </a:t>
            </a:r>
            <a:r>
              <a:rPr sz="1050" b="0" i="1">
                <a:solidFill>
                  <a:srgbClr val="16213A"/>
                </a:solidFill>
                <a:latin typeface="Arial"/>
                <a:ea typeface="Malgun Gothic"/>
                <a:cs typeface="Malgun Gothic"/>
              </a:rPr>
              <a:t>l</a:t>
            </a:r>
            <a:r>
              <a:rPr sz="1050" b="0" i="0">
                <a:solidFill>
                  <a:srgbClr val="16213A"/>
                </a:solidFill>
                <a:latin typeface="Arial"/>
                <a:ea typeface="Malgun Gothic"/>
                <a:cs typeface="Malgun Gothic"/>
              </a:rPr>
              <a:t>은 변마다 이동량 구간 </a:t>
            </a:r>
            <a:r>
              <a:rPr sz="1050" b="0" i="1">
                <a:solidFill>
                  <a:srgbClr val="16213A"/>
                </a:solidFill>
                <a:latin typeface="Arial"/>
                <a:ea typeface="Malgun Gothic"/>
                <a:cs typeface="Malgun Gothic"/>
              </a:rPr>
              <a:t>n = 0, …, N</a:t>
            </a:r>
            <a:r>
              <a:rPr sz="1050" b="0" i="0">
                <a:solidFill>
                  <a:srgbClr val="16213A"/>
                </a:solidFill>
                <a:latin typeface="Arial"/>
                <a:ea typeface="Malgun Gothic"/>
                <a:cs typeface="Malgun Gothic"/>
              </a:rPr>
              <a:t>의 분포 </a:t>
            </a:r>
            <a:r>
              <a:rPr sz="1050" b="0" i="1">
                <a:solidFill>
                  <a:srgbClr val="16213A"/>
                </a:solidFill>
                <a:latin typeface="Arial"/>
                <a:ea typeface="Malgun Gothic"/>
                <a:cs typeface="Malgun Gothic"/>
              </a:rPr>
              <a:t>Pr^l(n)</a:t>
            </a:r>
            <a:r>
              <a:rPr sz="1050" b="0" i="0">
                <a:solidFill>
                  <a:srgbClr val="16213A"/>
                </a:solidFill>
                <a:latin typeface="Arial"/>
                <a:ea typeface="Malgun Gothic"/>
                <a:cs typeface="Malgun Gothic"/>
              </a:rPr>
              <a:t>을 내고, 가중 함수 </a:t>
            </a:r>
            <a:r>
              <a:rPr sz="1050" b="0" i="1">
                <a:solidFill>
                  <a:srgbClr val="16213A"/>
                </a:solidFill>
                <a:latin typeface="Arial"/>
                <a:ea typeface="Malgun Gothic"/>
                <a:cs typeface="Malgun Gothic"/>
              </a:rPr>
              <a:t>W(n)</a:t>
            </a:r>
            <a:r>
              <a:rPr sz="1050" b="0" i="0">
                <a:solidFill>
                  <a:srgbClr val="16213A"/>
                </a:solidFill>
                <a:latin typeface="Arial"/>
                <a:ea typeface="Malgun Gothic"/>
                <a:cs typeface="Malgun Gothic"/>
              </a:rPr>
              <a:t>과 상자 크기로 변 위치를 고친다.</a:t>
            </a:r>
          </a:p>
        </p:txBody>
      </p:sp>
      <p:pic>
        <p:nvPicPr>
          <p:cNvPr id="9" name="Picture 8" descr="image.png"/>
          <p:cNvPicPr>
            <a:picLocks noChangeAspect="1"/>
          </p:cNvPicPr>
          <p:nvPr/>
        </p:nvPicPr>
        <p:blipFill>
          <a:blip r:embed="rId4"/>
          <a:stretch>
            <a:fillRect/>
          </a:stretch>
        </p:blipFill>
        <p:spPr>
          <a:xfrm>
            <a:off x="609600" y="3024088"/>
            <a:ext cx="3184525" cy="546100"/>
          </a:xfrm>
          <a:prstGeom prst="rect">
            <a:avLst/>
          </a:prstGeom>
        </p:spPr>
      </p:pic>
      <p:sp>
        <p:nvSpPr>
          <p:cNvPr id="10" name="TextBox 9"/>
          <p:cNvSpPr txBox="1"/>
          <p:nvPr/>
        </p:nvSpPr>
        <p:spPr>
          <a:xfrm>
            <a:off x="609600" y="356701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분포는 이전 층의 로짓에 잔차를 더해 갱신한다.</a:t>
            </a:r>
          </a:p>
        </p:txBody>
      </p:sp>
      <p:pic>
        <p:nvPicPr>
          <p:cNvPr id="11" name="Picture 10" descr="image.png"/>
          <p:cNvPicPr>
            <a:picLocks noChangeAspect="1"/>
          </p:cNvPicPr>
          <p:nvPr/>
        </p:nvPicPr>
        <p:blipFill>
          <a:blip r:embed="rId5"/>
          <a:stretch>
            <a:fillRect/>
          </a:stretch>
        </p:blipFill>
        <p:spPr>
          <a:xfrm>
            <a:off x="609600" y="3872409"/>
            <a:ext cx="3352800" cy="244475"/>
          </a:xfrm>
          <a:prstGeom prst="rect">
            <a:avLst/>
          </a:prstGeom>
        </p:spPr>
      </p:pic>
      <p:sp>
        <p:nvSpPr>
          <p:cNvPr id="12" name="TextBox 11"/>
          <p:cNvSpPr txBox="1"/>
          <p:nvPr/>
        </p:nvSpPr>
        <p:spPr>
          <a:xfrm>
            <a:off x="609600" y="4153495"/>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W(n)</a:t>
            </a:r>
            <a:r>
              <a:rPr sz="1050" b="0" i="0">
                <a:solidFill>
                  <a:srgbClr val="16213A"/>
                </a:solidFill>
                <a:latin typeface="Arial"/>
                <a:ea typeface="Malgun Gothic"/>
                <a:cs typeface="Malgun Gothic"/>
              </a:rPr>
              <a:t>은 0 근처에서 촘촘하고 끝으로 갈수록 성긴 비균일 함수라, 거의 맞은 상자는 세밀하게, 크게 틀린 상자는 크게 고친다.</a:t>
            </a:r>
          </a:p>
        </p:txBody>
      </p:sp>
      <p:sp>
        <p:nvSpPr>
          <p:cNvPr id="13" name="TextBox 12"/>
          <p:cNvSpPr txBox="1"/>
          <p:nvPr/>
        </p:nvSpPr>
        <p:spPr>
          <a:xfrm>
            <a:off x="609600" y="44588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travplan은 bbox 아래 변 가운데(발 위치)의 광선을 지면과 교차시켜 보행자 위치를 구한다(</a:t>
            </a:r>
            <a:r>
              <a:rPr sz="1050" b="0" i="0">
                <a:solidFill>
                  <a:srgbClr val="16213A"/>
                </a:solidFill>
                <a:latin typeface="Consolas"/>
                <a:ea typeface="Malgun Gothic"/>
                <a:cs typeface="Malgun Gothic"/>
              </a:rPr>
              <a:t>bbox_to_ground_xy</a:t>
            </a:r>
            <a:r>
              <a:rPr sz="1050" b="0" i="0">
                <a:solidFill>
                  <a:srgbClr val="16213A"/>
                </a:solidFill>
                <a:latin typeface="Arial"/>
                <a:ea typeface="Malgun Gothic"/>
                <a:cs typeface="Malgun Gothic"/>
              </a:rPr>
              <a:t>). 그래서 AP 전체보다 </a:t>
            </a:r>
            <a:r>
              <a:rPr sz="1050" b="1" i="0">
                <a:solidFill>
                  <a:srgbClr val="16213A"/>
                </a:solidFill>
                <a:latin typeface="Arial"/>
                <a:ea typeface="Malgun Gothic"/>
                <a:cs typeface="Malgun Gothic"/>
              </a:rPr>
              <a:t>아래 변의 정확도</a:t>
            </a:r>
            <a:r>
              <a:rPr sz="1050" b="0" i="0">
                <a:solidFill>
                  <a:srgbClr val="16213A"/>
                </a:solidFill>
                <a:latin typeface="Arial"/>
                <a:ea typeface="Malgun Gothic"/>
                <a:cs typeface="Malgun Gothic"/>
              </a:rPr>
              <a:t>가 거리 오차로 바로 이어진다. 변마다 분포를 다듬는 D-FINE 계열이 이 용도에 맞는다.</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193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A.12.2 추적: ByteTrack과 BoT-SORT</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다중 물체 추적의 기본형은 "검출한 뒤 연결"이다.</a:t>
            </a:r>
            <a:r>
              <a:rPr sz="1050" b="0" i="0">
                <a:solidFill>
                  <a:srgbClr val="16213A"/>
                </a:solidFill>
                <a:latin typeface="Arial"/>
                <a:ea typeface="Malgun Gothic"/>
                <a:cs typeface="Malgun Gothic"/>
              </a:rPr>
              <a:t> 매 프레임 검출한 상자를, 칼만 필터로 예측한 기존 트랙 위치와 IoU로 짝짓는다 (SORT 계열). ByteTrack과 BoT-SORT는 이 틀을 유지하면서 흔한 실패 두 가지를 고쳤다. 가려져 점수가 낮아진 사람을 버리는 문제와, 카메라가 움직여 예측 위치가 어긋나는 문제다.</a:t>
            </a:r>
          </a:p>
        </p:txBody>
      </p:sp>
      <p:graphicFrame>
        <p:nvGraphicFramePr>
          <p:cNvPr id="7" name="Table 6"/>
          <p:cNvGraphicFramePr>
            <a:graphicFrameLocks noGrp="1"/>
          </p:cNvGraphicFramePr>
          <p:nvPr/>
        </p:nvGraphicFramePr>
        <p:xfrm>
          <a:off x="609600" y="2069703"/>
          <a:ext cx="10966450" cy="591264"/>
        </p:xfrm>
        <a:graphic>
          <a:graphicData uri="http://schemas.openxmlformats.org/drawingml/2006/table">
            <a:tbl>
              <a:tblPr firstRow="1" bandRow="1">
                <a:tableStyleId>{5C22544A-7EE6-4342-B048-85BDC9FD1C3A}</a:tableStyleId>
              </a:tblPr>
              <a:tblGrid>
                <a:gridCol w="654248"/>
                <a:gridCol w="1012627"/>
                <a:gridCol w="3410645"/>
                <a:gridCol w="2764532"/>
                <a:gridCol w="3124398"/>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고친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MOT17 test (MOTA, IDF1, HOTA)</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 코드(★)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ByteTrack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점수가 낮은 상자도 두 번째 매칭에 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80.3, 77.3, 63.1 (V100 30 FPS)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 </a:t>
                      </a:r>
                      <a:r>
                        <a:rPr sz="800" b="0" i="0">
                          <a:solidFill>
                            <a:srgbClr val="1D4ED8"/>
                          </a:solidFill>
                          <a:latin typeface="Arial"/>
                          <a:ea typeface="Malgun Gothic"/>
                          <a:cs typeface="Malgun Gothic"/>
                          <a:hlinkClick r:id="rId3"/>
                        </a:rPr>
                        <a:t>FoundationVision/ByteTrack</a:t>
                      </a:r>
                      <a:r>
                        <a:rPr sz="800" b="0" i="0">
                          <a:solidFill>
                            <a:srgbClr val="16213A"/>
                          </a:solidFill>
                          <a:latin typeface="Arial"/>
                          <a:ea typeface="Malgun Gothic"/>
                          <a:cs typeface="Malgun Gothic"/>
                        </a:rPr>
                        <a:t> 6.7k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BoT-SORT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카메라 움직임 보정, 칼만 상태 개선, ReID 융합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80.5, 80.2, 65.0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 </a:t>
                      </a:r>
                      <a:r>
                        <a:rPr sz="800" b="0" i="0">
                          <a:solidFill>
                            <a:srgbClr val="1D4ED8"/>
                          </a:solidFill>
                          <a:latin typeface="Arial"/>
                          <a:ea typeface="Malgun Gothic"/>
                          <a:cs typeface="Malgun Gothic"/>
                          <a:hlinkClick r:id="rId4"/>
                        </a:rPr>
                        <a:t>NirAharon/BoT-SORT</a:t>
                      </a:r>
                      <a:r>
                        <a:rPr sz="800" b="0" i="0">
                          <a:solidFill>
                            <a:srgbClr val="16213A"/>
                          </a:solidFill>
                          <a:latin typeface="Arial"/>
                          <a:ea typeface="Malgun Gothic"/>
                          <a:cs typeface="Malgun Gothic"/>
                        </a:rPr>
                        <a:t> 1.6k</a:t>
                      </a:r>
                    </a:p>
                  </a:txBody>
                  <a:tcPr marL="63500" marR="63500" marT="12700" marB="12700">
                    <a:solidFill>
                      <a:srgbClr val="F3F0E8"/>
                    </a:solidFill>
                  </a:tcPr>
                </a:tc>
              </a:tr>
            </a:tbl>
          </a:graphicData>
        </a:graphic>
      </p:graphicFrame>
      <p:sp>
        <p:nvSpPr>
          <p:cNvPr id="8" name="TextBox 7"/>
          <p:cNvSpPr txBox="1"/>
          <p:nvPr/>
        </p:nvSpPr>
        <p:spPr>
          <a:xfrm>
            <a:off x="609600" y="2904034"/>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ByteTrack — 점수가 낮은 상자도 버리지 않는다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arXiv:2110.06864</a:t>
            </a:r>
            <a:r>
              <a:rPr sz="1050" b="0" i="0">
                <a:solidFill>
                  <a:srgbClr val="16213A"/>
                </a:solidFill>
                <a:latin typeface="Arial"/>
                <a:ea typeface="Malgun Gothic"/>
                <a:cs typeface="Malgun Gothic"/>
              </a:rPr>
              <a:t>, ECCV 2022). 기존 추적기는 점수가 임계값보다 높은 상자만 연결했다. 그런데 가려진 사람은 점수가 낮아져 버려지고 트랙이 끊긴다. ByteTrack의 연결 방법(BYTE)은 높은 점수 상자로 먼저 트랙을 잇고, 남은 트랙을 낮은 점수 상자와 한 번 더 잇는다. 트랙과 겹치는 낮은 점수 상자는 가려진 진짜 물체로 살리고, 어느 트랙과도 맞지 않는 것은 배경으로 버린다. 이 방법을 기존 추적기 9개에 붙이자 IDF1이 1–10점 올랐다. YOLOX 검출기와 IoU만으로 MOT17 test에서 MOTA 80.3, IDF1 77.3, HOTA 63.1을 V100 한 장에서 30 FPS로 냈다.</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194 / 359</a:t>
            </a:r>
          </a:p>
        </p:txBody>
      </p:sp>
      <p:pic>
        <p:nvPicPr>
          <p:cNvPr id="5" name="Picture 4" descr="image.jpg"/>
          <p:cNvPicPr>
            <a:picLocks noChangeAspect="1"/>
          </p:cNvPicPr>
          <p:nvPr/>
        </p:nvPicPr>
        <p:blipFill>
          <a:blip r:embed="rId3"/>
          <a:stretch>
            <a:fillRect/>
          </a:stretch>
        </p:blipFill>
        <p:spPr>
          <a:xfrm>
            <a:off x="3898900" y="1244600"/>
            <a:ext cx="4394200" cy="4445000"/>
          </a:xfrm>
          <a:prstGeom prst="rect">
            <a:avLst/>
          </a:prstGeom>
        </p:spPr>
      </p:pic>
      <p:sp>
        <p:nvSpPr>
          <p:cNvPr id="6" name="TextBox 5"/>
          <p:cNvSpPr txBox="1"/>
          <p:nvPr/>
        </p:nvSpPr>
        <p:spPr>
          <a:xfrm>
            <a:off x="3898900" y="5727700"/>
            <a:ext cx="4394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ByteTrack (Fig. 2): (a) 모든 검출 상자와 점수, (b) 임계값 0.5 이상만 잇는 기존 방법의 트랙, (c) ByteTrack의 트랙. 점선은 칼만 필터가 예측한 상자이고, 가려져 점수가 낮은 상자 두 개가 IoU로 기존 트랙에 이어진다. 출처: arXiv:2110.06864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195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BoT-SORT — 움직이는 카메라를 보정한다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arXiv:2206.14651</a:t>
            </a:r>
            <a:r>
              <a:rPr sz="1050" b="0" i="0">
                <a:solidFill>
                  <a:srgbClr val="16213A"/>
                </a:solidFill>
                <a:latin typeface="Arial"/>
                <a:ea typeface="Malgun Gothic"/>
                <a:cs typeface="Malgun Gothic"/>
              </a:rPr>
              <a:t>, 2022). SORT 계열은 물체의 움직임만 칼만 필터로 예측한다. 카메라가 움직이면 예측 상자가 실제 위치에서 어긋나 IoU 매칭이 깨진다. BoT-SORT는 배경 특징점의 광류로 프레임 사이 카메라 움직임을 아핀 변환으로 추정하고, 칼만 예측을 그만큼 옮긴다. 칼만 상태에 종횡비 대신 폭과 높이를 직접 넣어 상자 모양을 더 정확히 맞추고, 외형 ReID 거리와 IoU 거리를 함께 쓴다. MOT17 test에서 MOTA 80.5, IDF1 80.2, HOTA 65.0으로 MOT17과 MOT20의 주요 지표 모두에서 1위였다.</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196 / 359</a:t>
            </a:r>
          </a:p>
        </p:txBody>
      </p:sp>
      <p:pic>
        <p:nvPicPr>
          <p:cNvPr id="5" name="Picture 4" descr="image.jpg"/>
          <p:cNvPicPr>
            <a:picLocks noChangeAspect="1"/>
          </p:cNvPicPr>
          <p:nvPr/>
        </p:nvPicPr>
        <p:blipFill>
          <a:blip r:embed="rId3"/>
          <a:stretch>
            <a:fillRect/>
          </a:stretch>
        </p:blipFill>
        <p:spPr>
          <a:xfrm>
            <a:off x="4013200" y="1244600"/>
            <a:ext cx="4165600" cy="4445000"/>
          </a:xfrm>
          <a:prstGeom prst="rect">
            <a:avLst/>
          </a:prstGeom>
        </p:spPr>
      </p:pic>
      <p:sp>
        <p:nvSpPr>
          <p:cNvPr id="6" name="TextBox 5"/>
          <p:cNvSpPr txBox="1"/>
          <p:nvPr/>
        </p:nvSpPr>
        <p:spPr>
          <a:xfrm>
            <a:off x="4013200" y="5727700"/>
            <a:ext cx="41656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BoT-SORT (Fig. 4): 칼만 필터의 예측 상자를 카메라 움직임 보정 전(a.1, b.1)과 후(a.2, b.2)로 비교했다. 보정하지 않으면 ID 전환이나 놓침으로 이어진다. 출처: arXiv:2206.14651</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자세히: BYTE 연결과 카메라 움직임 보정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197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BYTE.</a:t>
            </a:r>
            <a:r>
              <a:rPr sz="1050" b="0" i="0">
                <a:solidFill>
                  <a:srgbClr val="16213A"/>
                </a:solidFill>
                <a:latin typeface="Arial"/>
                <a:ea typeface="Malgun Gothic"/>
                <a:cs typeface="Malgun Gothic"/>
              </a:rPr>
              <a:t> 프레임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의 검출 </a:t>
            </a:r>
            <a:r>
              <a:rPr sz="1050" b="0" i="1">
                <a:solidFill>
                  <a:srgbClr val="16213A"/>
                </a:solidFill>
                <a:latin typeface="Arial"/>
                <a:ea typeface="Malgun Gothic"/>
                <a:cs typeface="Malgun Gothic"/>
              </a:rPr>
              <a:t>𝒟ₖ</a:t>
            </a:r>
            <a:r>
              <a:rPr sz="1050" b="0" i="0">
                <a:solidFill>
                  <a:srgbClr val="16213A"/>
                </a:solidFill>
                <a:latin typeface="Arial"/>
                <a:ea typeface="Malgun Gothic"/>
                <a:cs typeface="Malgun Gothic"/>
              </a:rPr>
              <a:t>를 점수 임계값 </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(기본 0.6)로 </a:t>
            </a:r>
            <a:r>
              <a:rPr sz="1050" b="0" i="1">
                <a:solidFill>
                  <a:srgbClr val="16213A"/>
                </a:solidFill>
                <a:latin typeface="Arial"/>
                <a:ea typeface="Malgun Gothic"/>
                <a:cs typeface="Malgun Gothic"/>
              </a:rPr>
              <a:t>𝒟_(high)</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𝒟_(low)</a:t>
            </a:r>
            <a:r>
              <a:rPr sz="1050" b="0" i="0">
                <a:solidFill>
                  <a:srgbClr val="16213A"/>
                </a:solidFill>
                <a:latin typeface="Arial"/>
                <a:ea typeface="Malgun Gothic"/>
                <a:cs typeface="Malgun Gothic"/>
              </a:rPr>
              <a:t>로 나누고, 기존 트랙 </a:t>
            </a:r>
            <a:r>
              <a:rPr sz="1050" b="0" i="1">
                <a:solidFill>
                  <a:srgbClr val="16213A"/>
                </a:solidFill>
                <a:latin typeface="Arial"/>
                <a:ea typeface="Malgun Gothic"/>
                <a:cs typeface="Malgun Gothic"/>
              </a:rPr>
              <a:t>𝒯</a:t>
            </a:r>
            <a:r>
              <a:rPr sz="1050" b="0" i="0">
                <a:solidFill>
                  <a:srgbClr val="16213A"/>
                </a:solidFill>
                <a:latin typeface="Arial"/>
                <a:ea typeface="Malgun Gothic"/>
                <a:cs typeface="Malgun Gothic"/>
              </a:rPr>
              <a:t>의 위치를 칼만 필터로 예측한다.</a:t>
            </a:r>
          </a:p>
        </p:txBody>
      </p:sp>
      <p:sp>
        <p:nvSpPr>
          <p:cNvPr id="6" name="TextBox 5"/>
          <p:cNvSpPr txBox="1"/>
          <p:nvPr/>
        </p:nvSpPr>
        <p:spPr>
          <a:xfrm>
            <a:off x="609600" y="1549995"/>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1">
                <a:solidFill>
                  <a:srgbClr val="16213A"/>
                </a:solidFill>
                <a:latin typeface="Arial"/>
                <a:ea typeface="Malgun Gothic"/>
                <a:cs typeface="Malgun Gothic"/>
              </a:rPr>
              <a:t>𝒯</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𝒟_(high)</a:t>
            </a:r>
            <a:r>
              <a:rPr sz="1050" b="0" i="0">
                <a:solidFill>
                  <a:srgbClr val="16213A"/>
                </a:solidFill>
                <a:latin typeface="Arial"/>
                <a:ea typeface="Malgun Gothic"/>
                <a:cs typeface="Malgun Gothic"/>
              </a:rPr>
              <a:t>를 IoU(또는 ReID) 비용 </a:t>
            </a:r>
            <a:r>
              <a:rPr sz="1050" b="0" i="1">
                <a:solidFill>
                  <a:srgbClr val="16213A"/>
                </a:solidFill>
                <a:latin typeface="Arial"/>
                <a:ea typeface="Malgun Gothic"/>
                <a:cs typeface="Malgun Gothic"/>
              </a:rPr>
              <a:t>C_(ij) = 1 - IoU(b̂ᵢ, b_j)</a:t>
            </a:r>
            <a:r>
              <a:rPr sz="1050" b="0" i="0">
                <a:solidFill>
                  <a:srgbClr val="16213A"/>
                </a:solidFill>
                <a:latin typeface="Arial"/>
                <a:ea typeface="Malgun Gothic"/>
                <a:cs typeface="Malgun Gothic"/>
              </a:rPr>
              <a:t>의 헝가리안 매칭으로 잇는다. IoU가 0.2보다 작으면 거절한다.</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남은 트랙 </a:t>
            </a:r>
            <a:r>
              <a:rPr sz="1050" b="0" i="1">
                <a:solidFill>
                  <a:srgbClr val="16213A"/>
                </a:solidFill>
                <a:latin typeface="Arial"/>
                <a:ea typeface="Malgun Gothic"/>
                <a:cs typeface="Malgun Gothic"/>
              </a:rPr>
              <a:t>𝒯ᵣₑₘₐᵢₙ</a:t>
            </a:r>
            <a:r>
              <a:rPr sz="1050" b="0" i="0">
                <a:solidFill>
                  <a:srgbClr val="16213A"/>
                </a:solidFill>
                <a:latin typeface="Arial"/>
                <a:ea typeface="Malgun Gothic"/>
                <a:cs typeface="Malgun Gothic"/>
              </a:rPr>
              <a:t>과 </a:t>
            </a:r>
            <a:r>
              <a:rPr sz="1050" b="0" i="1">
                <a:solidFill>
                  <a:srgbClr val="16213A"/>
                </a:solidFill>
                <a:latin typeface="Arial"/>
                <a:ea typeface="Malgun Gothic"/>
                <a:cs typeface="Malgun Gothic"/>
              </a:rPr>
              <a:t>𝒟_(low)</a:t>
            </a:r>
            <a:r>
              <a:rPr sz="1050" b="0" i="0">
                <a:solidFill>
                  <a:srgbClr val="16213A"/>
                </a:solidFill>
                <a:latin typeface="Arial"/>
                <a:ea typeface="Malgun Gothic"/>
                <a:cs typeface="Malgun Gothic"/>
              </a:rPr>
              <a:t>를 IoU만으로 한 번 더 잇는다. 낮은 점수 상자는 외형이 믿을 만하지 않아 ReID를 쓰지 않는다.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두 번 모두 못 이은 트랙은 30프레임 동안 "잃음" 상태로 두었다가 지운다. 못 이은 높은 점수 상자는 새 트랙이 된다.</a:t>
            </a:r>
          </a:p>
        </p:txBody>
      </p:sp>
      <p:sp>
        <p:nvSpPr>
          <p:cNvPr id="7" name="TextBox 6"/>
          <p:cNvSpPr txBox="1"/>
          <p:nvPr/>
        </p:nvSpPr>
        <p:spPr>
          <a:xfrm>
            <a:off x="609600" y="23391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BoT-SORT의 카메라 움직임 보정.</a:t>
            </a:r>
            <a:r>
              <a:rPr sz="1050" b="0" i="0">
                <a:solidFill>
                  <a:srgbClr val="16213A"/>
                </a:solidFill>
                <a:latin typeface="Arial"/>
                <a:ea typeface="Malgun Gothic"/>
                <a:cs typeface="Malgun Gothic"/>
              </a:rPr>
              <a:t> 배경 특징점의 광류와 RANSAC으로 두 프레임 사이 아핀 행렬 </a:t>
            </a:r>
            <a:r>
              <a:rPr sz="1050" b="0" i="1">
                <a:solidFill>
                  <a:srgbClr val="16213A"/>
                </a:solidFill>
                <a:latin typeface="Arial"/>
                <a:ea typeface="Malgun Gothic"/>
                <a:cs typeface="Malgun Gothic"/>
              </a:rPr>
              <a:t>A = [M | T]</a:t>
            </a:r>
            <a:r>
              <a:rPr sz="1050" b="0" i="0">
                <a:solidFill>
                  <a:srgbClr val="16213A"/>
                </a:solidFill>
                <a:latin typeface="Arial"/>
                <a:ea typeface="Malgun Gothic"/>
                <a:cs typeface="Malgun Gothic"/>
              </a:rPr>
              <a:t>를 구한다(</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은 2×2 회전·축척,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는 이동). 칼만 상태의 위치, 크기, 속도 쌍마다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을 적용하는 블록 대각 행렬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과, 중심 위치에만 이동을 더하는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로 예측 평균과 공분산을 옮긴다.</a:t>
            </a:r>
          </a:p>
        </p:txBody>
      </p:sp>
      <p:pic>
        <p:nvPicPr>
          <p:cNvPr id="8" name="Picture 7" descr="image.png"/>
          <p:cNvPicPr>
            <a:picLocks noChangeAspect="1"/>
          </p:cNvPicPr>
          <p:nvPr/>
        </p:nvPicPr>
        <p:blipFill>
          <a:blip r:embed="rId3"/>
          <a:stretch>
            <a:fillRect/>
          </a:stretch>
        </p:blipFill>
        <p:spPr>
          <a:xfrm>
            <a:off x="609600" y="2861072"/>
            <a:ext cx="3733800" cy="257175"/>
          </a:xfrm>
          <a:prstGeom prst="rect">
            <a:avLst/>
          </a:prstGeom>
        </p:spPr>
      </p:pic>
      <p:sp>
        <p:nvSpPr>
          <p:cNvPr id="9" name="TextBox 8"/>
          <p:cNvSpPr txBox="1"/>
          <p:nvPr/>
        </p:nvSpPr>
        <p:spPr>
          <a:xfrm>
            <a:off x="609600" y="315089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PoC는 프레임 수를 줄여 프레임당 이동이 커지면 ByteTrack의 IoU 매칭이 깨지고 매 프레임 새 ID가 붙는 것을 확인했다. 로봇이 회전하면 카메라 움직임으로 같은 일이 생긴다. travplan은 휠 odometry로 로봇 자세를 이미 알므로, 영상 특징점 대신 odometry와 카메라 외부 파라미터로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를 계산해 같은 보정을 더 싸게 할 수 있다.</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198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A.12.3 궤적 예측: 등속 모델에서 flow matching까지</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보행자 궤적 예측은 여러 미래를 샘플하는 생성 모델로 발전했다. 그래도 등속 모델은 여전히 이기기 어려운 기준선이다.</a:t>
            </a:r>
            <a:r>
              <a:rPr sz="1050" b="0" i="0">
                <a:solidFill>
                  <a:srgbClr val="16213A"/>
                </a:solidFill>
                <a:latin typeface="Arial"/>
                <a:ea typeface="Malgun Gothic"/>
                <a:cs typeface="Malgun Gothic"/>
              </a:rPr>
              <a:t> ADE와 FDE는 예측과 실제 궤적의 평균 거리와 마지막 지점 거리다. 생성 모델은 보통 20개 샘플 가운데 가장 가까운 것으로 평가한다.</a:t>
            </a:r>
          </a:p>
        </p:txBody>
      </p:sp>
      <p:graphicFrame>
        <p:nvGraphicFramePr>
          <p:cNvPr id="7" name="Table 6"/>
          <p:cNvGraphicFramePr>
            <a:graphicFrameLocks noGrp="1"/>
          </p:cNvGraphicFramePr>
          <p:nvPr/>
        </p:nvGraphicFramePr>
        <p:xfrm>
          <a:off x="609600" y="2069703"/>
          <a:ext cx="10966450" cy="1773792"/>
        </p:xfrm>
        <a:graphic>
          <a:graphicData uri="http://schemas.openxmlformats.org/drawingml/2006/table">
            <a:tbl>
              <a:tblPr firstRow="1" bandRow="1">
                <a:tableStyleId>{5C22544A-7EE6-4342-B048-85BDC9FD1C3A}</a:tableStyleId>
              </a:tblPr>
              <a:tblGrid>
                <a:gridCol w="736997"/>
                <a:gridCol w="2344043"/>
                <a:gridCol w="4288433"/>
                <a:gridCol w="3596977"/>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방식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Social GAN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GAN과 사회적 pooling으로 여러 미래 샘플</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agrimgupta92/sgan</a:t>
                      </a:r>
                      <a:r>
                        <a:rPr sz="800" b="0" i="0">
                          <a:solidFill>
                            <a:srgbClr val="16213A"/>
                          </a:solidFill>
                          <a:latin typeface="Arial"/>
                          <a:ea typeface="Malgun Gothic"/>
                          <a:cs typeface="Malgun Gothic"/>
                        </a:rPr>
                        <a:t> 0.9k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Constant Velocity Model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마지막 속도로 직진, 신경망 SOTA와 비슷하거나 낫다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Trajectron++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시공간 그래프 CVAE, 동역학 적분, 자차 계획 조건</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4"/>
                        </a:rPr>
                        <a:t>StanfordASL/Trajectron-plus-plus</a:t>
                      </a:r>
                      <a:r>
                        <a:rPr sz="800" b="0" i="0">
                          <a:solidFill>
                            <a:srgbClr val="16213A"/>
                          </a:solidFill>
                          <a:latin typeface="Arial"/>
                          <a:ea typeface="Malgun Gothic"/>
                          <a:cs typeface="Malgun Gothic"/>
                        </a:rPr>
                        <a:t> 0.8k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AgentFormer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시간과 사회 차원을 한 transformer로</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Khrylx/AgentFormer</a:t>
                      </a:r>
                      <a:r>
                        <a:rPr sz="800" b="0" i="0">
                          <a:solidFill>
                            <a:srgbClr val="16213A"/>
                          </a:solidFill>
                          <a:latin typeface="Arial"/>
                          <a:ea typeface="Malgun Gothic"/>
                          <a:cs typeface="Malgun Gothic"/>
                        </a:rPr>
                        <a:t> 0.3k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확산으로 "불확정에서 확정으로"</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gutianpei/MID</a:t>
                      </a:r>
                      <a:r>
                        <a:rPr sz="800" b="0" i="0">
                          <a:solidFill>
                            <a:srgbClr val="16213A"/>
                          </a:solidFill>
                          <a:latin typeface="Arial"/>
                          <a:ea typeface="Malgun Gothic"/>
                          <a:cs typeface="Malgun Gothic"/>
                        </a:rPr>
                        <a:t> 0.2k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확산 초기값을 한 번에 예측해 19–31배 가속</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MediaBrain-SJTU/LED</a:t>
                      </a:r>
                      <a:r>
                        <a:rPr sz="800" b="0" i="0">
                          <a:solidFill>
                            <a:srgbClr val="16213A"/>
                          </a:solidFill>
                          <a:latin typeface="Arial"/>
                          <a:ea typeface="Malgun Gothic"/>
                          <a:cs typeface="Malgun Gothic"/>
                        </a:rPr>
                        <a:t> 0.2k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SingularTrajectory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다섯 예측 과제를 한 특이값 공간으로</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InhwanBae/SingularTrajectory</a:t>
                      </a:r>
                      <a:r>
                        <a:rPr sz="800" b="0" i="0">
                          <a:solidFill>
                            <a:srgbClr val="16213A"/>
                          </a:solidFill>
                          <a:latin typeface="Arial"/>
                          <a:ea typeface="Malgun Gothic"/>
                          <a:cs typeface="Malgun Gothic"/>
                        </a:rPr>
                        <a:t> 0.2k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MoFlow</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flow matching과 IMLE 한 스텝 증류</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DSL-Lab/MoFlow</a:t>
                      </a:r>
                      <a:r>
                        <a:rPr sz="800" b="0" i="0">
                          <a:solidFill>
                            <a:srgbClr val="16213A"/>
                          </a:solidFill>
                          <a:latin typeface="Arial"/>
                          <a:ea typeface="Malgun Gothic"/>
                          <a:cs typeface="Malgun Gothic"/>
                        </a:rPr>
                        <a:t> 0.1k</a:t>
                      </a:r>
                    </a:p>
                  </a:txBody>
                  <a:tcPr marL="63500" marR="63500" marT="12700" marB="12700">
                    <a:solidFill>
                      <a:srgbClr val="F3F0E8"/>
                    </a:solidFill>
                  </a:tcPr>
                </a:tc>
              </a:tr>
            </a:tbl>
          </a:graphicData>
        </a:graphic>
      </p:graphicFrame>
      <p:sp>
        <p:nvSpPr>
          <p:cNvPr id="8" name="TextBox 7"/>
          <p:cNvSpPr txBox="1"/>
          <p:nvPr/>
        </p:nvSpPr>
        <p:spPr>
          <a:xfrm>
            <a:off x="609600" y="438219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Social GAN — 그럴듯한 미래를 여러 개 샘플한다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10"/>
              </a:rPr>
              <a:t>arXiv:1803.10892</a:t>
            </a:r>
            <a:r>
              <a:rPr sz="1050" b="0" i="0">
                <a:solidFill>
                  <a:srgbClr val="16213A"/>
                </a:solidFill>
                <a:latin typeface="Arial"/>
                <a:ea typeface="Malgun Gothic"/>
                <a:cs typeface="Malgun Gothic"/>
              </a:rPr>
              <a:t>, CVPR 2018, Stanford). 같은 과거 궤적에도 사회적으로 그럴듯한 미래는 여럿이다. 순환 sequence-to-sequence 생성기가 과거를 보고 미래를 내고, 사람들 사이 정보를 모으는 pooling이 상호작용을 넣는다. 순환 판별기와 적대 학습해 그럴듯한 미래를 만들고, 여러 샘플 중 가장 가까운 것에만 벌점을 주는 variety loss로 다양성을 장려했다.</a:t>
            </a:r>
          </a:p>
        </p:txBody>
      </p:sp>
      <p:sp>
        <p:nvSpPr>
          <p:cNvPr id="9" name="TextBox 8"/>
          <p:cNvSpPr txBox="1"/>
          <p:nvPr/>
        </p:nvSpPr>
        <p:spPr>
          <a:xfrm>
            <a:off x="609600" y="512058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Constant Velocity Model — 가장 단순한 기준선이 신경망을 이긴다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11"/>
              </a:rPr>
              <a:t>arXiv:1903.07933</a:t>
            </a:r>
            <a:r>
              <a:rPr sz="1050" b="0" i="0">
                <a:solidFill>
                  <a:srgbClr val="16213A"/>
                </a:solidFill>
                <a:latin typeface="Arial"/>
                <a:ea typeface="Malgun Gothic"/>
                <a:cs typeface="Malgun Gothic"/>
              </a:rPr>
              <a:t>, RA-L 2020). 보행자의 마지막 상대 이동을 그대로 반복하는 등속 모델이 ETH와 UCY에서 당시 신경망 SOTA(RED, SR-LSTM)보다 평균 오차가 작았다. 방향에 표준편차 25°의 무작위 각도를 섞어 샘플 20개를 낸 판은 평균 ADE 0.28 m로 Social GAN(0.32 m)과 SoPhie보다 좋았다. 저자들은 세 가지를 분석했다. 신경망은 장면별 환경 사전지식을 암묵적으로 배워 새 장면에서 일반화가 나빠진다. 긴 과거 이력은 대부분 쓰이지 않는다. 사람 사이 상호작용은 신경망이 예측하기엔 너무 복잡하고, 대부분 궤적에 큰 영향이 없다.</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199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Trajectron++ — 동역학을 지키고, 자차 계획에 조건을 거는 예측</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arXiv:2001.03093</a:t>
            </a:r>
            <a:r>
              <a:rPr sz="1050" b="0" i="0">
                <a:solidFill>
                  <a:srgbClr val="16213A"/>
                </a:solidFill>
                <a:latin typeface="Arial"/>
                <a:ea typeface="Malgun Gothic"/>
                <a:cs typeface="Malgun Gothic"/>
              </a:rPr>
              <a:t>, ECCV 2020, Stanford ASL). 장면을 에이전트가 노드, 상호작용이 간선인 시공간 그래프로 표현하고, 에이전트마다 과거와 이웃의 영향을 LSTM과 attention으로 요약한다. 이산 잠재 변수(행동 모드 25개)를 둔 조건부 VAE로 여러 미래를 낸다. decoder는 위치가 아니라 제어 입력(보행자는 속도, 차량은 가속도와 조향 변화율)의 분포를 내고, 그것을 동역학 모델로 적분해 궤적을 만든다. 그래서 예측이 물리적으로 가능한 궤적이 된다. 로봇의 </a:t>
            </a:r>
            <a:r>
              <a:rPr sz="1050" b="1" i="0">
                <a:solidFill>
                  <a:srgbClr val="16213A"/>
                </a:solidFill>
                <a:latin typeface="Arial"/>
                <a:ea typeface="Malgun Gothic"/>
                <a:cs typeface="Malgun Gothic"/>
              </a:rPr>
              <a:t>앞으로의 계획</a:t>
            </a:r>
            <a:r>
              <a:rPr sz="1050" b="0" i="0">
                <a:solidFill>
                  <a:srgbClr val="16213A"/>
                </a:solidFill>
                <a:latin typeface="Arial"/>
                <a:ea typeface="Malgun Gothic"/>
                <a:cs typeface="Malgun Gothic"/>
              </a:rPr>
              <a:t>을 입력으로 받아 "내가 이렇게 가면 상대가 어떻게 움직이나"를 예측할 수 있고, 의미 지도 같은 이질적 입력도 받는다. 여러 실제 데이터셋에서 결정적·생성적 방법을 폭넓게 앞섰다.</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200 / 359</a:t>
            </a:r>
          </a:p>
        </p:txBody>
      </p:sp>
      <p:pic>
        <p:nvPicPr>
          <p:cNvPr id="5" name="Picture 4" descr="image.jpg"/>
          <p:cNvPicPr>
            <a:picLocks noChangeAspect="1"/>
          </p:cNvPicPr>
          <p:nvPr/>
        </p:nvPicPr>
        <p:blipFill>
          <a:blip r:embed="rId3"/>
          <a:stretch>
            <a:fillRect/>
          </a:stretch>
        </p:blipFill>
        <p:spPr>
          <a:xfrm>
            <a:off x="3311525" y="1244600"/>
            <a:ext cx="5568950" cy="4445000"/>
          </a:xfrm>
          <a:prstGeom prst="rect">
            <a:avLst/>
          </a:prstGeom>
        </p:spPr>
      </p:pic>
      <p:sp>
        <p:nvSpPr>
          <p:cNvPr id="6" name="TextBox 5"/>
          <p:cNvSpPr txBox="1"/>
          <p:nvPr/>
        </p:nvSpPr>
        <p:spPr>
          <a:xfrm>
            <a:off x="3311525" y="5727700"/>
            <a:ext cx="55689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Trajectron++ (Fig. 2): 장면을 방향 있는 시공간 그래프로 표현하고(왼쪽), 노드 1의 미래를 예측하는 네트워크를 그 그래프 모양대로 만든다(오른쪽). 출처: arXiv:2001.03093</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201 / 359</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AgentFormer와 확산 계열 — 상호작용과 다양성</a:t>
            </a:r>
            <a:r>
              <a:rPr sz="1050" b="0" i="0">
                <a:solidFill>
                  <a:srgbClr val="16213A"/>
                </a:solidFill>
                <a:latin typeface="Arial"/>
                <a:ea typeface="Malgun Gothic"/>
                <a:cs typeface="Malgun Gothic"/>
              </a:rPr>
              <a:t>(AgentFormer </a:t>
            </a:r>
            <a:r>
              <a:rPr sz="1050" b="0" i="0">
                <a:solidFill>
                  <a:srgbClr val="1D4ED8"/>
                </a:solidFill>
                <a:latin typeface="Arial"/>
                <a:ea typeface="Malgun Gothic"/>
                <a:cs typeface="Malgun Gothic"/>
                <a:hlinkClick r:id="rId3"/>
              </a:rPr>
              <a:t>arXiv:2103.14023</a:t>
            </a:r>
            <a:r>
              <a:rPr sz="1050" b="0" i="0">
                <a:solidFill>
                  <a:srgbClr val="16213A"/>
                </a:solidFill>
                <a:latin typeface="Arial"/>
                <a:ea typeface="Malgun Gothic"/>
                <a:cs typeface="Malgun Gothic"/>
              </a:rPr>
              <a:t>, ICCV 2021; MID </a:t>
            </a:r>
            <a:r>
              <a:rPr sz="1050" b="0" i="0">
                <a:solidFill>
                  <a:srgbClr val="1D4ED8"/>
                </a:solidFill>
                <a:latin typeface="Arial"/>
                <a:ea typeface="Malgun Gothic"/>
                <a:cs typeface="Malgun Gothic"/>
                <a:hlinkClick r:id="rId4"/>
              </a:rPr>
              <a:t>arXiv:2203.13777</a:t>
            </a:r>
            <a:r>
              <a:rPr sz="1050" b="0" i="0">
                <a:solidFill>
                  <a:srgbClr val="16213A"/>
                </a:solidFill>
                <a:latin typeface="Arial"/>
                <a:ea typeface="Malgun Gothic"/>
                <a:cs typeface="Malgun Gothic"/>
              </a:rPr>
              <a:t>, CVPR 2022; LED </a:t>
            </a:r>
            <a:r>
              <a:rPr sz="1050" b="0" i="0">
                <a:solidFill>
                  <a:srgbClr val="1D4ED8"/>
                </a:solidFill>
                <a:latin typeface="Arial"/>
                <a:ea typeface="Malgun Gothic"/>
                <a:cs typeface="Malgun Gothic"/>
                <a:hlinkClick r:id="rId5"/>
              </a:rPr>
              <a:t>arXiv:2303.10895</a:t>
            </a:r>
            <a:r>
              <a:rPr sz="1050" b="0" i="0">
                <a:solidFill>
                  <a:srgbClr val="16213A"/>
                </a:solidFill>
                <a:latin typeface="Arial"/>
                <a:ea typeface="Malgun Gothic"/>
                <a:cs typeface="Malgun Gothic"/>
              </a:rPr>
              <a:t>, CVPR 2023; SingularTrajectory </a:t>
            </a:r>
            <a:r>
              <a:rPr sz="1050" b="0" i="0">
                <a:solidFill>
                  <a:srgbClr val="1D4ED8"/>
                </a:solidFill>
                <a:latin typeface="Arial"/>
                <a:ea typeface="Malgun Gothic"/>
                <a:cs typeface="Malgun Gothic"/>
                <a:hlinkClick r:id="rId6"/>
              </a:rPr>
              <a:t>arXiv:2403.18452</a:t>
            </a:r>
            <a:r>
              <a:rPr sz="1050" b="0" i="0">
                <a:solidFill>
                  <a:srgbClr val="16213A"/>
                </a:solidFill>
                <a:latin typeface="Arial"/>
                <a:ea typeface="Malgun Gothic"/>
                <a:cs typeface="Malgun Gothic"/>
              </a:rPr>
              <a:t>, CVPR 2024). AgentFormer는 시간 차원과 사회 차원을 따로 요약하지 않고, 한 에이전트의 과거 상태가 다른 에이전트의 미래 상태에 직접 attention하게 했다. MID는 예측을 "걸을 수 있는 모든 곳에서 불확정성을 조금씩 걷어 내 궤적 하나에 이르는" 역확산 과정으로 보았고, 단계 수로 다양성과 확정성의 균형을 조절했다. 확산은 잡음 제거 단계가 많아 느리다. LED는 학습한 leapfrog 초기화기가 다봉 분포의 초기 샘플들을 한 번에 내서 대부분의 단계를 건너뛰고, NBA, NFL, SDD, ETH-UCY에서 표준 확산보다 19.3–30.8배 빨라졌다. SingularTrajectory는 결정적, 확률적, 도메인 적응, 순간 관측, few-shot의 다섯 과제를 한 특이값 공간으로 통일했다.</a:t>
            </a:r>
          </a:p>
        </p:txBody>
      </p:sp>
      <p:sp>
        <p:nvSpPr>
          <p:cNvPr id="6" name="TextBox 5"/>
          <p:cNvSpPr txBox="1"/>
          <p:nvPr/>
        </p:nvSpPr>
        <p:spPr>
          <a:xfrm>
            <a:off x="609600" y="24159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MoFlow — flow matching으로 K개 미래를 한 스텝에</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7"/>
              </a:rPr>
              <a:t>arXiv:2503.09950</a:t>
            </a:r>
            <a:r>
              <a:rPr sz="1050" b="0" i="0">
                <a:solidFill>
                  <a:srgbClr val="16213A"/>
                </a:solidFill>
                <a:latin typeface="Arial"/>
                <a:ea typeface="Malgun Gothic"/>
                <a:cs typeface="Malgun Gothic"/>
              </a:rPr>
              <a:t>, CVPR 2025, UBC). 장면의 모든 에이전트에 대해 K개의 미래 궤적 세트를 조건부 flow matching으로 낸다. 손실은 K개 중 적어도 하나가 정확하도록 하면서, K개 모두가 다양하고 그럴듯하도록 설계했다. 교사 flow 모델의 샘플만으로 학생을 학습하는 IMLE 증류를 제안해, 한 스텝 학생 모델이 교사보다 100배 빠르다. NBA, ETH-UCY, SDD에서 교사와 학생 모두 최고 성능을 냈다.</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202 / 359</a:t>
            </a:r>
          </a:p>
        </p:txBody>
      </p:sp>
      <p:pic>
        <p:nvPicPr>
          <p:cNvPr id="5" name="Picture 4" descr="image.jpg"/>
          <p:cNvPicPr>
            <a:picLocks noChangeAspect="1"/>
          </p:cNvPicPr>
          <p:nvPr/>
        </p:nvPicPr>
        <p:blipFill>
          <a:blip r:embed="rId3"/>
          <a:stretch>
            <a:fillRect/>
          </a:stretch>
        </p:blipFill>
        <p:spPr>
          <a:xfrm>
            <a:off x="3971925" y="1244600"/>
            <a:ext cx="4248150" cy="4445000"/>
          </a:xfrm>
          <a:prstGeom prst="rect">
            <a:avLst/>
          </a:prstGeom>
        </p:spPr>
      </p:pic>
      <p:sp>
        <p:nvSpPr>
          <p:cNvPr id="6" name="TextBox 5"/>
          <p:cNvSpPr txBox="1"/>
          <p:nvPr/>
        </p:nvSpPr>
        <p:spPr>
          <a:xfrm>
            <a:off x="3971925" y="5727700"/>
            <a:ext cx="42481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MoFlow (Fig. 1): 사회·시간 인코더가 맥락을 요약하고, 운동 decoder가 K개의 미래 궤적 세트와 각각의 분류 점수를 낸다. 출처: arXiv:2503.09950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자세히: Trajectron++의 CVAE와 MoFlow의 flow matching 손실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203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Trajectron++의 다봉 분포.</a:t>
            </a:r>
            <a:r>
              <a:rPr sz="1050" b="0" i="0">
                <a:solidFill>
                  <a:srgbClr val="16213A"/>
                </a:solidFill>
                <a:latin typeface="Arial"/>
                <a:ea typeface="Malgun Gothic"/>
                <a:cs typeface="Malgun Gothic"/>
              </a:rPr>
              <a:t> 과거와 맥락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에서 미래 </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의 분포를 이산 잠재 변수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로 섞는다(</a:t>
            </a:r>
            <a:r>
              <a:rPr sz="1050" b="0" i="1">
                <a:solidFill>
                  <a:srgbClr val="16213A"/>
                </a:solidFill>
                <a:latin typeface="Arial"/>
                <a:ea typeface="Malgun Gothic"/>
                <a:cs typeface="Malgun Gothic"/>
              </a:rPr>
              <a:t>lvert Z rvert = 25</a:t>
            </a:r>
            <a:r>
              <a:rPr sz="1050" b="0" i="0">
                <a:solidFill>
                  <a:srgbClr val="16213A"/>
                </a:solidFill>
                <a:latin typeface="Arial"/>
                <a:ea typeface="Malgun Gothic"/>
                <a:cs typeface="Malgun Gothic"/>
              </a:rPr>
              <a:t>).</a:t>
            </a:r>
          </a:p>
        </p:txBody>
      </p:sp>
      <p:pic>
        <p:nvPicPr>
          <p:cNvPr id="6" name="Picture 5" descr="image.png"/>
          <p:cNvPicPr>
            <a:picLocks noChangeAspect="1"/>
          </p:cNvPicPr>
          <p:nvPr/>
        </p:nvPicPr>
        <p:blipFill>
          <a:blip r:embed="rId3"/>
          <a:stretch>
            <a:fillRect/>
          </a:stretch>
        </p:blipFill>
        <p:spPr>
          <a:xfrm>
            <a:off x="609600" y="1549995"/>
            <a:ext cx="2543175" cy="425450"/>
          </a:xfrm>
          <a:prstGeom prst="rect">
            <a:avLst/>
          </a:prstGeom>
        </p:spPr>
      </p:pic>
      <p:sp>
        <p:nvSpPr>
          <p:cNvPr id="7" name="TextBox 6"/>
          <p:cNvSpPr txBox="1"/>
          <p:nvPr/>
        </p:nvSpPr>
        <p:spPr>
          <a:xfrm>
            <a:off x="609600" y="198675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학습 때는 양방향 LSTM이 실제 미래를 요약해 사후 분포 </a:t>
            </a:r>
            <a:r>
              <a:rPr sz="1050" b="0" i="1">
                <a:solidFill>
                  <a:srgbClr val="16213A"/>
                </a:solidFill>
                <a:latin typeface="Arial"/>
                <a:ea typeface="Malgun Gothic"/>
                <a:cs typeface="Malgun Gothic"/>
              </a:rPr>
              <a:t>q_φ(z | x, y)</a:t>
            </a:r>
            <a:r>
              <a:rPr sz="1050" b="0" i="0">
                <a:solidFill>
                  <a:srgbClr val="16213A"/>
                </a:solidFill>
                <a:latin typeface="Arial"/>
                <a:ea typeface="Malgun Gothic"/>
                <a:cs typeface="Malgun Gothic"/>
              </a:rPr>
              <a:t>를 만든다. 로봇 계획 </a:t>
            </a:r>
            <a:r>
              <a:rPr sz="1050" b="0" i="1">
                <a:solidFill>
                  <a:srgbClr val="16213A"/>
                </a:solidFill>
                <a:latin typeface="Arial"/>
                <a:ea typeface="Malgun Gothic"/>
                <a:cs typeface="Malgun Gothic"/>
              </a:rPr>
              <a:t>y_R</a:t>
            </a:r>
            <a:r>
              <a:rPr sz="1050" b="0" i="0">
                <a:solidFill>
                  <a:srgbClr val="16213A"/>
                </a:solidFill>
                <a:latin typeface="Arial"/>
                <a:ea typeface="Malgun Gothic"/>
                <a:cs typeface="Malgun Gothic"/>
              </a:rPr>
              <a:t>을 조건으로 쓸 때는 다른 양방향 LSTM(은닉 32차원)이 앞으로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 스텝의 계획을 요약해 표현 벡터 </a:t>
            </a:r>
            <a:r>
              <a:rPr sz="1050" b="0" i="1">
                <a:solidFill>
                  <a:srgbClr val="16213A"/>
                </a:solidFill>
                <a:latin typeface="Arial"/>
                <a:ea typeface="Malgun Gothic"/>
                <a:cs typeface="Malgun Gothic"/>
              </a:rPr>
              <a:t>eₓ</a:t>
            </a:r>
            <a:r>
              <a:rPr sz="1050" b="0" i="0">
                <a:solidFill>
                  <a:srgbClr val="16213A"/>
                </a:solidFill>
                <a:latin typeface="Arial"/>
                <a:ea typeface="Malgun Gothic"/>
                <a:cs typeface="Malgun Gothic"/>
              </a:rPr>
              <a:t>에 붙인다.</a:t>
            </a:r>
          </a:p>
        </p:txBody>
      </p:sp>
      <p:sp>
        <p:nvSpPr>
          <p:cNvPr id="8" name="TextBox 7"/>
          <p:cNvSpPr txBox="1"/>
          <p:nvPr/>
        </p:nvSpPr>
        <p:spPr>
          <a:xfrm>
            <a:off x="609600" y="250864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동역학 적분.</a:t>
            </a:r>
            <a:r>
              <a:rPr sz="1050" b="0" i="0">
                <a:solidFill>
                  <a:srgbClr val="16213A"/>
                </a:solidFill>
                <a:latin typeface="Arial"/>
                <a:ea typeface="Malgun Gothic"/>
                <a:cs typeface="Malgun Gothic"/>
              </a:rPr>
              <a:t> GRU decoder가 스텝마다 제어 입력의 가우시안 분포를 낸다. 보행자는 속도를 입력으로 받는 단일 적분기라, 위치 평균이 선형으로 전파된다. 공분산도 칼만 필터 예측 단계처럼 전파된다.</a:t>
            </a:r>
          </a:p>
        </p:txBody>
      </p:sp>
      <p:pic>
        <p:nvPicPr>
          <p:cNvPr id="9" name="Picture 8" descr="image.png"/>
          <p:cNvPicPr>
            <a:picLocks noChangeAspect="1"/>
          </p:cNvPicPr>
          <p:nvPr/>
        </p:nvPicPr>
        <p:blipFill>
          <a:blip r:embed="rId4"/>
          <a:stretch>
            <a:fillRect/>
          </a:stretch>
        </p:blipFill>
        <p:spPr>
          <a:xfrm>
            <a:off x="609600" y="3030538"/>
            <a:ext cx="1571625" cy="250825"/>
          </a:xfrm>
          <a:prstGeom prst="rect">
            <a:avLst/>
          </a:prstGeom>
        </p:spPr>
      </p:pic>
      <p:sp>
        <p:nvSpPr>
          <p:cNvPr id="10" name="TextBox 9"/>
          <p:cNvSpPr txBox="1"/>
          <p:nvPr/>
        </p:nvSpPr>
        <p:spPr>
          <a:xfrm>
            <a:off x="609600" y="33132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MoFlow의 손실.</a:t>
            </a:r>
            <a:r>
              <a:rPr sz="1050" b="0" i="0">
                <a:solidFill>
                  <a:srgbClr val="16213A"/>
                </a:solidFill>
                <a:latin typeface="Arial"/>
                <a:ea typeface="Malgun Gothic"/>
                <a:cs typeface="Malgun Gothic"/>
              </a:rPr>
              <a:t> 잡음 섞인 궤적 </a:t>
            </a:r>
            <a:r>
              <a:rPr sz="1050" b="0" i="1">
                <a:solidFill>
                  <a:srgbClr val="16213A"/>
                </a:solidFill>
                <a:latin typeface="Arial"/>
                <a:ea typeface="Malgun Gothic"/>
                <a:cs typeface="Malgun Gothic"/>
              </a:rPr>
              <a:t>Yᵗ</a:t>
            </a:r>
            <a:r>
              <a:rPr sz="1050" b="0" i="0">
                <a:solidFill>
                  <a:srgbClr val="16213A"/>
                </a:solidFill>
                <a:latin typeface="Arial"/>
                <a:ea typeface="Malgun Gothic"/>
                <a:cs typeface="Malgun Gothic"/>
              </a:rPr>
              <a:t>에서 깨끗한 궤적을 바로 내는 </a:t>
            </a:r>
            <a:r>
              <a:rPr sz="1050" b="0" i="1">
                <a:solidFill>
                  <a:srgbClr val="16213A"/>
                </a:solidFill>
                <a:latin typeface="Arial"/>
                <a:ea typeface="Malgun Gothic"/>
                <a:cs typeface="Malgun Gothic"/>
              </a:rPr>
              <a:t>D_θ(Yᵗ, C, t) = Yᵗ + (1 - t) v_θ(Yᵗ, C, t)</a:t>
            </a:r>
            <a:r>
              <a:rPr sz="1050" b="0" i="0">
                <a:solidFill>
                  <a:srgbClr val="16213A"/>
                </a:solidFill>
                <a:latin typeface="Arial"/>
                <a:ea typeface="Malgun Gothic"/>
                <a:cs typeface="Malgun Gothic"/>
              </a:rPr>
              <a:t>를 학습한다. 네트워크는 장면 수준 예측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 </a:t>
            </a:r>
            <a:r>
              <a:rPr sz="1050" b="0" i="1">
                <a:solidFill>
                  <a:srgbClr val="16213A"/>
                </a:solidFill>
                <a:latin typeface="Arial"/>
                <a:ea typeface="Malgun Gothic"/>
                <a:cs typeface="Malgun Gothic"/>
              </a:rPr>
              <a:t>S_(1:K)</a:t>
            </a:r>
            <a:r>
              <a:rPr sz="1050" b="0" i="0">
                <a:solidFill>
                  <a:srgbClr val="16213A"/>
                </a:solidFill>
                <a:latin typeface="Arial"/>
                <a:ea typeface="Malgun Gothic"/>
                <a:cs typeface="Malgun Gothic"/>
              </a:rPr>
              <a:t>와 분류 로짓 </a:t>
            </a:r>
            <a:r>
              <a:rPr sz="1050" b="0" i="1">
                <a:solidFill>
                  <a:srgbClr val="16213A"/>
                </a:solidFill>
                <a:latin typeface="Arial"/>
                <a:ea typeface="Malgun Gothic"/>
                <a:cs typeface="Malgun Gothic"/>
              </a:rPr>
              <a:t>ζ_(1:K)</a:t>
            </a:r>
            <a:r>
              <a:rPr sz="1050" b="0" i="0">
                <a:solidFill>
                  <a:srgbClr val="16213A"/>
                </a:solidFill>
                <a:latin typeface="Arial"/>
                <a:ea typeface="Malgun Gothic"/>
                <a:cs typeface="Malgun Gothic"/>
              </a:rPr>
              <a:t>를 함께 낸다. 정답 </a:t>
            </a:r>
            <a:r>
              <a:rPr sz="1050" b="0" i="1">
                <a:solidFill>
                  <a:srgbClr val="16213A"/>
                </a:solidFill>
                <a:latin typeface="Arial"/>
                <a:ea typeface="Malgun Gothic"/>
                <a:cs typeface="Malgun Gothic"/>
              </a:rPr>
              <a:t>Y¹</a:t>
            </a:r>
            <a:r>
              <a:rPr sz="1050" b="0" i="0">
                <a:solidFill>
                  <a:srgbClr val="16213A"/>
                </a:solidFill>
                <a:latin typeface="Arial"/>
                <a:ea typeface="Malgun Gothic"/>
                <a:cs typeface="Malgun Gothic"/>
              </a:rPr>
              <a:t>에 가장 가까운 예측만 회귀하고, 그 번호를 분류로 맞힌다(winner-take-all).</a:t>
            </a:r>
          </a:p>
        </p:txBody>
      </p:sp>
      <p:pic>
        <p:nvPicPr>
          <p:cNvPr id="11" name="Picture 10" descr="image.png"/>
          <p:cNvPicPr>
            <a:picLocks noChangeAspect="1"/>
          </p:cNvPicPr>
          <p:nvPr/>
        </p:nvPicPr>
        <p:blipFill>
          <a:blip r:embed="rId5"/>
          <a:stretch>
            <a:fillRect/>
          </a:stretch>
        </p:blipFill>
        <p:spPr>
          <a:xfrm>
            <a:off x="609600" y="3835102"/>
            <a:ext cx="4905375" cy="323850"/>
          </a:xfrm>
          <a:prstGeom prst="rect">
            <a:avLst/>
          </a:prstGeom>
        </p:spPr>
      </p:pic>
      <p:sp>
        <p:nvSpPr>
          <p:cNvPr id="12" name="TextBox 11"/>
          <p:cNvSpPr txBox="1"/>
          <p:nvPr/>
        </p:nvSpPr>
        <p:spPr>
          <a:xfrm>
            <a:off x="609600" y="418405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IMLE 증류.</a:t>
            </a:r>
            <a:r>
              <a:rPr sz="1050" b="0" i="0">
                <a:solidFill>
                  <a:srgbClr val="16213A"/>
                </a:solidFill>
                <a:latin typeface="Arial"/>
                <a:ea typeface="Malgun Gothic"/>
                <a:cs typeface="Malgun Gothic"/>
              </a:rPr>
              <a:t> 학생 생성기 </a:t>
            </a:r>
            <a:r>
              <a:rPr sz="1050" b="0" i="1">
                <a:solidFill>
                  <a:srgbClr val="16213A"/>
                </a:solidFill>
                <a:latin typeface="Arial"/>
                <a:ea typeface="Malgun Gothic"/>
                <a:cs typeface="Malgun Gothic"/>
              </a:rPr>
              <a:t>G_φ</a:t>
            </a:r>
            <a:r>
              <a:rPr sz="1050" b="0" i="0">
                <a:solidFill>
                  <a:srgbClr val="16213A"/>
                </a:solidFill>
                <a:latin typeface="Arial"/>
                <a:ea typeface="Malgun Gothic"/>
                <a:cs typeface="Malgun Gothic"/>
              </a:rPr>
              <a:t>가 같은 맥락에서 샘플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개를 내고, 교사가 ODE로 푼 예측 </a:t>
            </a:r>
            <a:r>
              <a:rPr sz="1050" b="0" i="1">
                <a:solidFill>
                  <a:srgbClr val="16213A"/>
                </a:solidFill>
                <a:latin typeface="Arial"/>
                <a:ea typeface="Malgun Gothic"/>
                <a:cs typeface="Malgun Gothic"/>
              </a:rPr>
              <a:t>Ŷ¹_(1:K)</a:t>
            </a:r>
            <a:r>
              <a:rPr sz="1050" b="0" i="0">
                <a:solidFill>
                  <a:srgbClr val="16213A"/>
                </a:solidFill>
                <a:latin typeface="Arial"/>
                <a:ea typeface="Malgun Gothic"/>
                <a:cs typeface="Malgun Gothic"/>
              </a:rPr>
              <a:t>에 가장 가까운 샘플만 교사 쪽으로 끌어당긴다. 교사의 모든 모드를 덮게 되어 모드 붕괴가 줄고, 추론은 한 스텝이다.</a:t>
            </a:r>
          </a:p>
        </p:txBody>
      </p:sp>
      <p:sp>
        <p:nvSpPr>
          <p:cNvPr id="13" name="TextBox 12"/>
          <p:cNvSpPr txBox="1"/>
          <p:nvPr/>
        </p:nvSpPr>
        <p:spPr>
          <a:xfrm>
            <a:off x="609600" y="470594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MoFlow의 "K개 샘플 + 분류 점수 + 가장 가까운 것만 회귀"는 Planner D의 "후보 여러 개 생성 + 선택기"와 같은 구조다. IMLE 증류는 Planner D의 Euler 10스텝(</a:t>
            </a:r>
            <a:r>
              <a:rPr sz="1050" b="0" i="0">
                <a:solidFill>
                  <a:srgbClr val="16213A"/>
                </a:solidFill>
                <a:latin typeface="Consolas"/>
                <a:ea typeface="Malgun Gothic"/>
                <a:cs typeface="Malgun Gothic"/>
              </a:rPr>
              <a:t>FlowPolicyConfig.sample_steps</a:t>
            </a:r>
            <a:r>
              <a:rPr sz="1050" b="0" i="0">
                <a:solidFill>
                  <a:srgbClr val="16213A"/>
                </a:solidFill>
                <a:latin typeface="Arial"/>
                <a:ea typeface="Malgun Gothic"/>
                <a:cs typeface="Malgun Gothic"/>
              </a:rPr>
              <a:t>)을 한 스텝으로 줄이는 후보다.</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204 / 359</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상용 제품 경로의 검출기는 AGPL-3.0인 Ultralytics YOLO에서 Apache-2.0 실시간 DETR(RT-DETR, D-FINE, RF-DETR)로 바꾼다.</a:t>
            </a:r>
            <a:r>
              <a:rPr sz="1050" b="0" i="0">
                <a:solidFill>
                  <a:srgbClr val="16213A"/>
                </a:solidFill>
                <a:latin typeface="Arial"/>
                <a:ea typeface="Malgun Gothic"/>
                <a:cs typeface="Malgun Gothic"/>
              </a:rPr>
              <a:t> PoC의 추론 API만 바꾸면 되고, 추적(ByteTrack, MIT)과 </a:t>
            </a:r>
            <a:r>
              <a:rPr sz="1050" b="0" i="0">
                <a:solidFill>
                  <a:srgbClr val="16213A"/>
                </a:solidFill>
                <a:latin typeface="Consolas"/>
                <a:ea typeface="Malgun Gothic"/>
                <a:cs typeface="Malgun Gothic"/>
              </a:rPr>
              <a:t>DynamicObstacles</a:t>
            </a:r>
            <a:r>
              <a:rPr sz="1050" b="0" i="0">
                <a:solidFill>
                  <a:srgbClr val="16213A"/>
                </a:solidFill>
                <a:latin typeface="Arial"/>
                <a:ea typeface="Malgun Gothic"/>
                <a:cs typeface="Malgun Gothic"/>
              </a:rPr>
              <a:t> 변환은 그대로 쓴다. 로봇 회전이 잦은 보도에서는 odometry로 카메라 움직임을 보정하는 BoT-SORT식 추적이 다음 개선이다. 예측은 등속 모델을 기준선으로 유지한다. Schöller 등이 보였듯 싸고 강하며, travplan의 </a:t>
            </a:r>
            <a:r>
              <a:rPr sz="1050" b="0" i="0">
                <a:solidFill>
                  <a:srgbClr val="16213A"/>
                </a:solidFill>
                <a:latin typeface="Consolas"/>
                <a:ea typeface="Malgun Gothic"/>
                <a:cs typeface="Malgun Gothic"/>
              </a:rPr>
              <a:t>DynamicObstacles</a:t>
            </a:r>
            <a:r>
              <a:rPr sz="1050" b="0" i="0">
                <a:solidFill>
                  <a:srgbClr val="16213A"/>
                </a:solidFill>
                <a:latin typeface="Arial"/>
                <a:ea typeface="Malgun Gothic"/>
                <a:cs typeface="Malgun Gothic"/>
              </a:rPr>
              <a:t>는 이미 불확실성이 시간에 비례해 커지는 원판으로 그 한계를 덮는다. 좁은 보도에서 보행자가 로봇에게 비켜 주는 상호작용이 문제가 되면, 로봇 계획에 조건을 거는 Trajectron++식 예측을 TP-0028(Planner에 예측 전달)과 함께 검토한다. 추적과 예측을 영상 평면에서 로봇 좌표로 옮기는 단계는 A.12.4 끝에 정리했다.</a:t>
            </a:r>
          </a:p>
        </p:txBody>
      </p:sp>
      <p:sp>
        <p:nvSpPr>
          <p:cNvPr id="6" name="TextBox 5"/>
          <p:cNvSpPr txBox="1"/>
          <p:nvPr/>
        </p:nvSpPr>
        <p:spPr>
          <a:xfrm>
            <a:off x="717550" y="2415977"/>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A.12.4 로봇 기준 3D·BEV: 자율주행차와 모바일 로봇은 어떻게 하나</a:t>
            </a:r>
          </a:p>
        </p:txBody>
      </p:sp>
      <p:sp>
        <p:nvSpPr>
          <p:cNvPr id="7" name="TextBox 6"/>
          <p:cNvSpPr txBox="1"/>
          <p:nvPr/>
        </p:nvSpPr>
        <p:spPr>
          <a:xfrm>
            <a:off x="609600" y="2719189"/>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Planner와 Controller에 필요한 것은 영상 속 상자가 아니라, 로봇 좌표에서 본 위치·속도·미래 점유다.</a:t>
            </a:r>
            <a:r>
              <a:rPr sz="1050" b="0" i="0">
                <a:solidFill>
                  <a:srgbClr val="16213A"/>
                </a:solidFill>
                <a:latin typeface="Arial"/>
                <a:ea typeface="Malgun Gothic"/>
                <a:cs typeface="Malgun Gothic"/>
              </a:rPr>
              <a:t> A.12.1–A.12.3의 방법은 영상 평면에서 검출하고 추적한 뒤, 맨 끝에서 상자 아래 변 하나를 지면으로 올린다. 자율주행차와 모바일 로봇은 순서가 반대다. 센서 데이터를 먼저 3D나 BEV로 올리고, 추적과 예측을 그 공간에서 한다. 거리(m)로 매칭하므로 로봇이 회전해도 매칭이 깨지지 않는다. 속도가 m/s로 바로 나오고, 예측이 TravMap과 같은 격자에 놓인다. 두 분야 모두 "무엇인지 몰라도 움직이는 것"을 잡는 경로를 검출기와 따로 둔다.</a:t>
            </a:r>
          </a:p>
        </p:txBody>
      </p:sp>
      <p:sp>
        <p:nvSpPr>
          <p:cNvPr id="8" name="TextBox 7"/>
          <p:cNvSpPr txBox="1"/>
          <p:nvPr/>
        </p:nvSpPr>
        <p:spPr>
          <a:xfrm>
            <a:off x="609600" y="3457575"/>
            <a:ext cx="10972800" cy="1208484"/>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영상 기준 (A.12.1–A.12.3, 지금 PoC)</a:t>
            </a:r>
          </a:p>
          <a:p>
            <a:r>
              <a:rPr sz="750" b="0" i="0">
                <a:solidFill>
                  <a:srgbClr val="F4F1EA"/>
                </a:solidFill>
                <a:latin typeface="Consolas"/>
                <a:ea typeface="Malgun Gothic"/>
                <a:cs typeface="Malgun Gothic"/>
              </a:rPr>
              <a:t>  카메라 ─▶ 2D 상자 ─▶ 2D 추적(IoU, 픽셀) ─▶ 아래 변 → 지면 xy ─▶ 등속 원판</a:t>
            </a:r>
          </a:p>
          <a:p>
            <a:r>
              <a:rPr sz="750" b="0" i="0">
                <a:solidFill>
                  <a:srgbClr val="F4F1EA"/>
                </a:solidFill>
                <a:latin typeface="Consolas"/>
                <a:ea typeface="Malgun Gothic"/>
                <a:cs typeface="Malgun Gothic"/>
              </a:rPr>
              <a:t>                                            └ 여기서 처음 로봇 좌표가 된다</a:t>
            </a:r>
          </a:p>
          <a:p>
            <a:r>
              <a:rPr sz="750" b="0" i="0">
                <a:solidFill>
                  <a:srgbClr val="F4F1EA"/>
                </a:solidFill>
                <a:latin typeface="Consolas"/>
                <a:ea typeface="Malgun Gothic"/>
                <a:cs typeface="Malgun Gothic"/>
              </a:rPr>
              <a:t> </a:t>
            </a:r>
          </a:p>
          <a:p>
            <a:r>
              <a:rPr sz="750" b="0" i="0">
                <a:solidFill>
                  <a:srgbClr val="F4F1EA"/>
                </a:solidFill>
                <a:latin typeface="Consolas"/>
                <a:ea typeface="Malgun Gothic"/>
                <a:cs typeface="Malgun Gothic"/>
              </a:rPr>
              <a:t>로봇 기준 (A.12.4, 자율주행차·모바일 로봇)</a:t>
            </a:r>
          </a:p>
          <a:p>
            <a:r>
              <a:rPr sz="750" b="0" i="0">
                <a:solidFill>
                  <a:srgbClr val="F4F1EA"/>
                </a:solidFill>
                <a:latin typeface="Consolas"/>
                <a:ea typeface="Malgun Gothic"/>
                <a:cs typeface="Malgun Gothic"/>
              </a:rPr>
              <a:t>  LiDAR·깊이·카메라 ─▶ 3D 검출 / BEV 특징 ─▶ 3D 추적(m, m/s) ─▶ BEV 예측 ─▶ Planner·Controller</a:t>
            </a:r>
          </a:p>
          <a:p>
            <a:r>
              <a:rPr sz="750" b="0" i="0">
                <a:solidFill>
                  <a:srgbClr val="F4F1EA"/>
                </a:solidFill>
                <a:latin typeface="Consolas"/>
                <a:ea typeface="Malgun Gothic"/>
                <a:cs typeface="Malgun Gothic"/>
              </a:rPr>
              <a:t>        └─▶ 클래스 없는 이동 검출(움직이는 점·칸) ─────────────────────────┘</a:t>
            </a:r>
          </a:p>
        </p:txBody>
      </p:sp>
      <p:graphicFrame>
        <p:nvGraphicFramePr>
          <p:cNvPr id="9" name="Table 8"/>
          <p:cNvGraphicFramePr>
            <a:graphicFrameLocks noGrp="1"/>
          </p:cNvGraphicFramePr>
          <p:nvPr/>
        </p:nvGraphicFramePr>
        <p:xfrm>
          <a:off x="609600" y="4754959"/>
          <a:ext cx="10966451" cy="788352"/>
        </p:xfrm>
        <a:graphic>
          <a:graphicData uri="http://schemas.openxmlformats.org/drawingml/2006/table">
            <a:tbl>
              <a:tblPr firstRow="1" bandRow="1">
                <a:tableStyleId>{5C22544A-7EE6-4342-B048-85BDC9FD1C3A}</a:tableStyleId>
              </a:tblPr>
              <a:tblGrid>
                <a:gridCol w="1707059"/>
                <a:gridCol w="2883396"/>
                <a:gridCol w="1861443"/>
                <a:gridCol w="2162969"/>
                <a:gridCol w="2351584"/>
              </a:tblGrid>
              <a:tr h="197088">
                <a:tc>
                  <a:txBody>
                    <a:bodyPr wrap="square"/>
                    <a:lstStyle/>
                    <a:p>
                      <a:r>
                        <a:rPr sz="800" b="1" i="0">
                          <a:solidFill>
                            <a:srgbClr val="F4F1EA"/>
                          </a:solidFill>
                          <a:latin typeface="Arial"/>
                          <a:ea typeface="Malgun Gothic"/>
                          <a:cs typeface="Malgun Gothic"/>
                        </a:rPr>
                        <a:t>설계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출력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장점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한계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물체 단위 3D: 검출 → 추적 → 예측</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CenterPoint, AB3DMOT, DR-SPAAM, Person-MinkUNet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물체 목록(위치, 크기, 속도, 미래 궤적)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가볍다. </a:t>
                      </a:r>
                      <a:r>
                        <a:rPr sz="800" b="0" i="0">
                          <a:solidFill>
                            <a:srgbClr val="16213A"/>
                          </a:solidFill>
                          <a:latin typeface="Consolas"/>
                          <a:ea typeface="Malgun Gothic"/>
                          <a:cs typeface="Malgun Gothic"/>
                        </a:rPr>
                        <a:t>DynamicObstacles</a:t>
                      </a:r>
                      <a:r>
                        <a:rPr sz="800" b="0" i="0">
                          <a:solidFill>
                            <a:srgbClr val="16213A"/>
                          </a:solidFill>
                          <a:latin typeface="Arial"/>
                          <a:ea typeface="Malgun Gothic"/>
                          <a:cs typeface="Malgun Gothic"/>
                        </a:rPr>
                        <a:t>와 형식이 같다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사람 라벨이 필요하다. 학습에 없던 물체를 놓친다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칸 단위 BEV 움직임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FaF, MotionNet, UnO, occupancy flow(A.6)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BEV 칸마다 점유와 미래 변위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물체의 종류와 모양에 상관없다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무겁다. 물체 ID가 없다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모델 없는 이동 검출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M-detector, Dynablox, 동적 occupancy grid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움직이는 점·voxel, 칸별 속도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학습이 없다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멈춰 선 사람을 못 본다. 미래를 내지 않는다</a:t>
                      </a:r>
                    </a:p>
                  </a:txBody>
                  <a:tcPr marL="63500" marR="63500" marT="12700" marB="12700">
                    <a:solidFill>
                      <a:srgbClr val="FFFDF8"/>
                    </a:solidFill>
                  </a:tcPr>
                </a:tc>
              </a:tr>
            </a:tbl>
          </a:graphicData>
        </a:graphic>
      </p:graphicFrame>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2/9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205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자율주행차: 처음부터 BEV에서 검출하고 추적한다.</a:t>
            </a:r>
            <a:r>
              <a:rPr sz="1050" b="0" i="0">
                <a:solidFill>
                  <a:srgbClr val="16213A"/>
                </a:solidFill>
                <a:latin typeface="Arial"/>
                <a:ea typeface="Malgun Gothic"/>
                <a:cs typeface="Malgun Gothic"/>
              </a:rPr>
              <a:t> 카메라만 쓰는 차는 LSS·BEVFormer(A.2)로 여러 카메라의 특징을 BEV로 올린 뒤, LiDAR와 같은 검출·추적 헤드를 붙인다. BEVFusion(A.2)은 두 센서를 같은 BEV에서 합친다. 아래는 LiDAR 쪽의 대표 방법이다.</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CenterPoint — 물체를 BEV의 점으로 찾고, 예측한 속도로 추적한다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arXiv:2006.11275</a:t>
            </a:r>
            <a:r>
              <a:rPr sz="1050" b="0" i="0">
                <a:solidFill>
                  <a:srgbClr val="16213A"/>
                </a:solidFill>
                <a:latin typeface="Arial"/>
                <a:ea typeface="Malgun Gothic"/>
                <a:cs typeface="Malgun Gothic"/>
              </a:rPr>
              <a:t>, CVPR 2021,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MIT ★2.2k). LiDAR 점군을 BEV 특징 지도로 바꾸고, 물체 중심을 heatmap의 봉우리로 찾는다. 방향이 제각각인 3D 상자 대신 점을 찾으므로 회전한 물체에 강하다. 중심마다 크기, 높이, 방향과 함께 속도를 회귀한다. 추적은 따로 학습하지 않는다. 현재 중심을 예측 속도로 한 프레임 되돌린 뒤, 이전 프레임의 가장 가까운 중심과 탐욕적으로 짝짓는다. nuScenes에서 검출 65.5 NDS, 추적 63.8 AMOTA를 냈다.</a:t>
            </a:r>
          </a:p>
        </p:txBody>
      </p:sp>
      <p:sp>
        <p:nvSpPr>
          <p:cNvPr id="7" name="TextBox 6"/>
          <p:cNvSpPr txBox="1"/>
          <p:nvPr/>
        </p:nvSpPr>
        <p:spPr>
          <a:xfrm>
            <a:off x="609600" y="25048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AB3DMOT — 3D 칼만 필터와 헝가리안만으로 충분한 기준선</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arXiv:1907.03961</a:t>
            </a:r>
            <a:r>
              <a:rPr sz="1050" b="0" i="0">
                <a:solidFill>
                  <a:srgbClr val="16213A"/>
                </a:solidFill>
                <a:latin typeface="Arial"/>
                <a:ea typeface="Malgun Gothic"/>
                <a:cs typeface="Malgun Gothic"/>
              </a:rPr>
              <a:t>, IROS 2020, </a:t>
            </a:r>
            <a:r>
              <a:rPr sz="1050" b="0" i="0">
                <a:solidFill>
                  <a:srgbClr val="1D4ED8"/>
                </a:solidFill>
                <a:latin typeface="Arial"/>
                <a:ea typeface="Malgun Gothic"/>
                <a:cs typeface="Malgun Gothic"/>
                <a:hlinkClick r:id="rId6"/>
              </a:rPr>
              <a:t>코드</a:t>
            </a:r>
            <a:r>
              <a:rPr sz="1050" b="0" i="0">
                <a:solidFill>
                  <a:srgbClr val="16213A"/>
                </a:solidFill>
                <a:latin typeface="Arial"/>
                <a:ea typeface="Malgun Gothic"/>
                <a:cs typeface="Malgun Gothic"/>
              </a:rPr>
              <a:t> ★1.8k). 물체마다 3D 위치, 방향, 크기, 속도를 상태로 둔 칼만 필터가 다음 위치를 예측한다. 예측 상자와 새 검출을 3D IoU 비용의 헝가리안 매칭으로 잇는다. 학습하는 부분이 없는데도 KITTI에서 207.4 FPS로 당시 가장 빨랐다. 영상 평면에서 재던 기존 추적 평가를 3D로 옮긴 평가 도구와 지표(AMOTA 등)도 함께 내놓았다.</a:t>
            </a:r>
          </a:p>
        </p:txBody>
      </p:sp>
      <p:sp>
        <p:nvSpPr>
          <p:cNvPr id="8" name="TextBox 7"/>
          <p:cNvSpPr txBox="1"/>
          <p:nvPr/>
        </p:nvSpPr>
        <p:spPr>
          <a:xfrm>
            <a:off x="609600" y="324326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FaF와 MotionNet — 검출·추적·예측을 BEV 한 네트워크로</a:t>
            </a:r>
            <a:r>
              <a:rPr sz="1050" b="0" i="0">
                <a:solidFill>
                  <a:srgbClr val="16213A"/>
                </a:solidFill>
                <a:latin typeface="Arial"/>
                <a:ea typeface="Malgun Gothic"/>
                <a:cs typeface="Malgun Gothic"/>
              </a:rPr>
              <a:t>(FaF </a:t>
            </a:r>
            <a:r>
              <a:rPr sz="1050" b="0" i="0">
                <a:solidFill>
                  <a:srgbClr val="1D4ED8"/>
                </a:solidFill>
                <a:latin typeface="Arial"/>
                <a:ea typeface="Malgun Gothic"/>
                <a:cs typeface="Malgun Gothic"/>
                <a:hlinkClick r:id="rId7"/>
              </a:rPr>
              <a:t>arXiv:2012.12395</a:t>
            </a:r>
            <a:r>
              <a:rPr sz="1050" b="0" i="0">
                <a:solidFill>
                  <a:srgbClr val="16213A"/>
                </a:solidFill>
                <a:latin typeface="Arial"/>
                <a:ea typeface="Malgun Gothic"/>
                <a:cs typeface="Malgun Gothic"/>
              </a:rPr>
              <a:t>, CVPR 2018 oral; MotionNet </a:t>
            </a:r>
            <a:r>
              <a:rPr sz="1050" b="0" i="0">
                <a:solidFill>
                  <a:srgbClr val="1D4ED8"/>
                </a:solidFill>
                <a:latin typeface="Arial"/>
                <a:ea typeface="Malgun Gothic"/>
                <a:cs typeface="Malgun Gothic"/>
                <a:hlinkClick r:id="rId8"/>
              </a:rPr>
              <a:t>arXiv:2003.06754</a:t>
            </a:r>
            <a:r>
              <a:rPr sz="1050" b="0" i="0">
                <a:solidFill>
                  <a:srgbClr val="16213A"/>
                </a:solidFill>
                <a:latin typeface="Arial"/>
                <a:ea typeface="Malgun Gothic"/>
                <a:cs typeface="Malgun Gothic"/>
              </a:rPr>
              <a:t>, CVPR 2020). FaF는 여러 시각의 LiDAR BEV를 시간 축으로 쌓고, 3D 합성곱 하나로 현재 상자, 추적, 미래 궤적을 함께 냈다. 세 과제를 한 네트워크에서 풀자 가림과 성긴 점에 강해졌고, 전체가 30 ms였다. MotionNet은 상자를 버리고 BEV 칸마다 범주와 미래 움직임을 낸다. 저자들은 이 출력을 상자 기반 시스템의 백업으로 제안했다. 상자 검출기가 놓친 움직임을 Planner에 알려 주는 보조 정보라는 뜻이다.</a:t>
            </a:r>
          </a:p>
        </p:txBody>
      </p:sp>
      <p:sp>
        <p:nvSpPr>
          <p:cNvPr id="9" name="TextBox 8"/>
          <p:cNvSpPr txBox="1"/>
          <p:nvPr/>
        </p:nvSpPr>
        <p:spPr>
          <a:xfrm>
            <a:off x="609600" y="398164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UnO — 라벨 없이 LiDAR 광선만으로 4D 점유를 배운다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9"/>
              </a:rPr>
              <a:t>arXiv:2406.08691</a:t>
            </a:r>
            <a:r>
              <a:rPr sz="1050" b="0" i="0">
                <a:solidFill>
                  <a:srgbClr val="16213A"/>
                </a:solidFill>
                <a:latin typeface="Arial"/>
                <a:ea typeface="Malgun Gothic"/>
                <a:cs typeface="Malgun Gothic"/>
              </a:rPr>
              <a:t>, CVPR 2024 oral, Waabi). 광선 하나가 가짜 라벨을 만든다. 센서에서 반사점까지의 구간은 비어 있고, 반사점 바로 뒤는 차 있다. 이 라벨로, 과거 LiDAR를 입력받아 임의의 위치와 미래 시각의 점유를 조회하는 연속 4D 점유장을 학습한다. 사람 라벨 없이 Argoverse 2, nuScenes, KITTI의 점군 예측에서 SOTA를 냈다. 라벨이 적을 때는 BEV 의미 점유에서도 완전 지도학습 SOTA를 앞섰다. CVPR 2024 Argoverse 2 LiDAR 예측 챌린지 1위였다.</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3/9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206 / 359</a:t>
            </a:r>
          </a:p>
        </p:txBody>
      </p:sp>
      <p:pic>
        <p:nvPicPr>
          <p:cNvPr id="5" name="Picture 4" descr="image.jpg"/>
          <p:cNvPicPr>
            <a:picLocks noChangeAspect="1"/>
          </p:cNvPicPr>
          <p:nvPr/>
        </p:nvPicPr>
        <p:blipFill>
          <a:blip r:embed="rId3"/>
          <a:stretch>
            <a:fillRect/>
          </a:stretch>
        </p:blipFill>
        <p:spPr>
          <a:xfrm>
            <a:off x="2540000" y="1244600"/>
            <a:ext cx="7112000" cy="3168650"/>
          </a:xfrm>
          <a:prstGeom prst="rect">
            <a:avLst/>
          </a:prstGeom>
        </p:spPr>
      </p:pic>
      <p:sp>
        <p:nvSpPr>
          <p:cNvPr id="6" name="TextBox 5"/>
          <p:cNvSpPr txBox="1"/>
          <p:nvPr/>
        </p:nvSpPr>
        <p:spPr>
          <a:xfrm>
            <a:off x="2540000" y="4451350"/>
            <a:ext cx="7112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UnO (Fig. 2): 시각 </a:t>
            </a:r>
            <a:r>
              <a:rPr sz="750" b="0" i="1">
                <a:solidFill>
                  <a:srgbClr val="5A6478"/>
                </a:solidFill>
                <a:latin typeface="Arial"/>
                <a:ea typeface="Malgun Gothic"/>
                <a:cs typeface="Malgun Gothic"/>
              </a:rPr>
              <a:t>t_(ij)</a:t>
            </a:r>
            <a:r>
              <a:rPr sz="750" b="0" i="0">
                <a:solidFill>
                  <a:srgbClr val="5A6478"/>
                </a:solidFill>
                <a:latin typeface="Arial"/>
                <a:ea typeface="Malgun Gothic"/>
                <a:cs typeface="Malgun Gothic"/>
              </a:rPr>
              <a:t>에 센서 </a:t>
            </a:r>
            <a:r>
              <a:rPr sz="750" b="0" i="1">
                <a:solidFill>
                  <a:srgbClr val="5A6478"/>
                </a:solidFill>
                <a:latin typeface="Arial"/>
                <a:ea typeface="Malgun Gothic"/>
                <a:cs typeface="Malgun Gothic"/>
              </a:rPr>
              <a:t>sᵢ</a:t>
            </a:r>
            <a:r>
              <a:rPr sz="750" b="0" i="0">
                <a:solidFill>
                  <a:srgbClr val="5A6478"/>
                </a:solidFill>
                <a:latin typeface="Arial"/>
                <a:ea typeface="Malgun Gothic"/>
                <a:cs typeface="Malgun Gothic"/>
              </a:rPr>
              <a:t>에서 나간 광선이 점 </a:t>
            </a:r>
            <a:r>
              <a:rPr sz="750" b="0" i="1">
                <a:solidFill>
                  <a:srgbClr val="5A6478"/>
                </a:solidFill>
                <a:latin typeface="Arial"/>
                <a:ea typeface="Malgun Gothic"/>
                <a:cs typeface="Malgun Gothic"/>
              </a:rPr>
              <a:t>p_(ij)</a:t>
            </a:r>
            <a:r>
              <a:rPr sz="750" b="0" i="0">
                <a:solidFill>
                  <a:srgbClr val="5A6478"/>
                </a:solidFill>
                <a:latin typeface="Arial"/>
                <a:ea typeface="Malgun Gothic"/>
                <a:cs typeface="Malgun Gothic"/>
              </a:rPr>
              <a:t>에서 돌아오면, 그 앞 구간은 비어 있고 바로 뒤 구간은 차 있다는 가짜 라벨이 된다. 출처: arXiv:2406.08691</a:t>
            </a:r>
          </a:p>
        </p:txBody>
      </p:sp>
      <p:sp>
        <p:nvSpPr>
          <p:cNvPr id="7" name="TextBox 6"/>
          <p:cNvSpPr txBox="1"/>
          <p:nvPr/>
        </p:nvSpPr>
        <p:spPr>
          <a:xfrm>
            <a:off x="609600" y="468243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모바일 로봇: 사람 검출을 로봇 좌표에서 한다.</a:t>
            </a:r>
            <a:r>
              <a:rPr sz="1050" b="0" i="0">
                <a:solidFill>
                  <a:srgbClr val="16213A"/>
                </a:solidFill>
                <a:latin typeface="Arial"/>
                <a:ea typeface="Malgun Gothic"/>
                <a:cs typeface="Malgun Gothic"/>
              </a:rPr>
              <a:t> 모바일 로봇은 차보다 센서가 적고 계산이 작다. 그래서 사람만 잘 찾는 가벼운 검출기와 칼만 필터 추적기를 쓰고, 센서 구성에 따라 3D 위치를 얻는 방법이 달라진다.</a:t>
            </a:r>
          </a:p>
        </p:txBody>
      </p:sp>
      <p:graphicFrame>
        <p:nvGraphicFramePr>
          <p:cNvPr id="8" name="Table 7"/>
          <p:cNvGraphicFramePr>
            <a:graphicFrameLocks noGrp="1"/>
          </p:cNvGraphicFramePr>
          <p:nvPr/>
        </p:nvGraphicFramePr>
        <p:xfrm>
          <a:off x="609600" y="5204321"/>
          <a:ext cx="10966449" cy="788352"/>
        </p:xfrm>
        <a:graphic>
          <a:graphicData uri="http://schemas.openxmlformats.org/drawingml/2006/table">
            <a:tbl>
              <a:tblPr firstRow="1" bandRow="1">
                <a:tableStyleId>{5C22544A-7EE6-4342-B048-85BDC9FD1C3A}</a:tableStyleId>
              </a:tblPr>
              <a:tblGrid>
                <a:gridCol w="1751310"/>
                <a:gridCol w="2680295"/>
                <a:gridCol w="1910655"/>
                <a:gridCol w="2381845"/>
                <a:gridCol w="2242344"/>
              </a:tblGrid>
              <a:tr h="197088">
                <a:tc>
                  <a:txBody>
                    <a:bodyPr wrap="square"/>
                    <a:lstStyle/>
                    <a:p>
                      <a:r>
                        <a:rPr sz="800" b="1" i="0">
                          <a:solidFill>
                            <a:srgbClr val="F4F1EA"/>
                          </a:solidFill>
                          <a:latin typeface="Arial"/>
                          <a:ea typeface="Malgun Gothic"/>
                          <a:cs typeface="Malgun Gothic"/>
                        </a:rPr>
                        <a:t>센서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3D 위치를 얻는 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거리 오차</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약점</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2D LiDAR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다리 높이 스캔에서 사람 중심을 바로 검출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DR-SPAAM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작다(거리를 잰다)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한 평면이라 가려진 사람을 못 본다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3D LiDAR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점군에서 3D 상자 검출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CenterPoint, Person-MinkUNet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작다(거리를 잰다)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멀수록 점이 성기다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카메라 + LiDAR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상자 안에 투영되는 LiDAR 점들의 중심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frustum 방식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작다(거리를 잰다)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외부 보정과 시간 동기화가 필요하다</a:t>
                      </a:r>
                    </a:p>
                  </a:txBody>
                  <a:tcPr marL="63500" marR="63500" marT="12700" marB="12700">
                    <a:solidFill>
                      <a:srgbClr val="FFFDF8"/>
                    </a:solidFill>
                  </a:tcPr>
                </a:tc>
              </a:tr>
            </a:tbl>
          </a:graphicData>
        </a:graphic>
      </p:graphicFrame>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4/9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207 / 359</a:t>
            </a:r>
          </a:p>
        </p:txBody>
      </p:sp>
      <p:graphicFrame>
        <p:nvGraphicFramePr>
          <p:cNvPr id="5" name="Table 4"/>
          <p:cNvGraphicFramePr>
            <a:graphicFrameLocks noGrp="1"/>
          </p:cNvGraphicFramePr>
          <p:nvPr/>
        </p:nvGraphicFramePr>
        <p:xfrm>
          <a:off x="609600" y="1244600"/>
          <a:ext cx="10966449" cy="591264"/>
        </p:xfrm>
        <a:graphic>
          <a:graphicData uri="http://schemas.openxmlformats.org/drawingml/2006/table">
            <a:tbl>
              <a:tblPr firstRow="1" bandRow="1">
                <a:tableStyleId>{5C22544A-7EE6-4342-B048-85BDC9FD1C3A}</a:tableStyleId>
              </a:tblPr>
              <a:tblGrid>
                <a:gridCol w="1751310"/>
                <a:gridCol w="2680295"/>
                <a:gridCol w="1910655"/>
                <a:gridCol w="2381845"/>
                <a:gridCol w="2242344"/>
              </a:tblGrid>
              <a:tr h="197088">
                <a:tc>
                  <a:txBody>
                    <a:bodyPr wrap="square"/>
                    <a:lstStyle/>
                    <a:p>
                      <a:r>
                        <a:rPr sz="800" b="1" i="0">
                          <a:solidFill>
                            <a:srgbClr val="F4F1EA"/>
                          </a:solidFill>
                          <a:latin typeface="Arial"/>
                          <a:ea typeface="Malgun Gothic"/>
                          <a:cs typeface="Malgun Gothic"/>
                        </a:rPr>
                        <a:t>센서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3D 위치를 얻는 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거리 오차</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약점</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카메라 + 깊이(RGB-D·스테레오)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상자 안 깊이의 중앙값</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거리 제곱에 비례해 커진다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RGB-D는 실외 햇빛에 약하다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단안 카메라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아래 변 광선과 지면의 교점, 또는 관절에서 거리 추론</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bbox_to_ground_xy</a:t>
                      </a:r>
                      <a:r>
                        <a:rPr sz="800" b="0" i="0">
                          <a:solidFill>
                            <a:srgbClr val="16213A"/>
                          </a:solidFill>
                          <a:latin typeface="Arial"/>
                          <a:ea typeface="Malgun Gothic"/>
                          <a:cs typeface="Malgun Gothic"/>
                        </a:rPr>
                        <a:t>, MonoLoco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거리 제곱에 비례하고, 카메라가 낮을수록 크다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평평한 지면과 정확한 차체 자세를 가정한다</a:t>
                      </a:r>
                    </a:p>
                  </a:txBody>
                  <a:tcPr marL="63500" marR="63500" marT="12700" marB="12700">
                    <a:solidFill>
                      <a:srgbClr val="F3F0E8"/>
                    </a:solidFill>
                  </a:tcPr>
                </a:tc>
              </a:tr>
            </a:tbl>
          </a:graphicData>
        </a:graphic>
      </p:graphicFrame>
      <p:sp>
        <p:nvSpPr>
          <p:cNvPr id="6" name="TextBox 5"/>
          <p:cNvSpPr txBox="1"/>
          <p:nvPr/>
        </p:nvSpPr>
        <p:spPr>
          <a:xfrm>
            <a:off x="609600" y="207893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DR-SPAAM과 임베디드 추적 — 2D LiDAR 한 장으로 사람을 따라간다</a:t>
            </a:r>
            <a:r>
              <a:rPr sz="1050" b="0" i="0">
                <a:solidFill>
                  <a:srgbClr val="16213A"/>
                </a:solidFill>
                <a:latin typeface="Arial"/>
                <a:ea typeface="Malgun Gothic"/>
                <a:cs typeface="Malgun Gothic"/>
              </a:rPr>
              <a:t>(DR-SPAAM </a:t>
            </a:r>
            <a:r>
              <a:rPr sz="1050" b="0" i="0">
                <a:solidFill>
                  <a:srgbClr val="1D4ED8"/>
                </a:solidFill>
                <a:latin typeface="Arial"/>
                <a:ea typeface="Malgun Gothic"/>
                <a:cs typeface="Malgun Gothic"/>
                <a:hlinkClick r:id="rId3"/>
              </a:rPr>
              <a:t>arXiv:2004.14079</a:t>
            </a:r>
            <a:r>
              <a:rPr sz="1050" b="0" i="0">
                <a:solidFill>
                  <a:srgbClr val="16213A"/>
                </a:solidFill>
                <a:latin typeface="Arial"/>
                <a:ea typeface="Malgun Gothic"/>
                <a:cs typeface="Malgun Gothic"/>
              </a:rPr>
              <a:t>, IROS 2020,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GPL-3.0; Plozza 등 </a:t>
            </a:r>
            <a:r>
              <a:rPr sz="1050" b="0" i="0">
                <a:solidFill>
                  <a:srgbClr val="1D4ED8"/>
                </a:solidFill>
                <a:latin typeface="Arial"/>
                <a:ea typeface="Malgun Gothic"/>
                <a:cs typeface="Malgun Gothic"/>
                <a:hlinkClick r:id="rId5"/>
              </a:rPr>
              <a:t>arXiv:2412.15000</a:t>
            </a:r>
            <a:r>
              <a:rPr sz="1050" b="0" i="0">
                <a:solidFill>
                  <a:srgbClr val="16213A"/>
                </a:solidFill>
                <a:latin typeface="Arial"/>
                <a:ea typeface="Malgun Gothic"/>
                <a:cs typeface="Malgun Gothic"/>
              </a:rPr>
              <a:t>, 2024). DR-SPAAM은 2D 스캔의 점마다 주변 구간을 잘라 1D 합성곱으로 보고, 사람 중심을 투표한다. 이전 스캔들의 특징을 공간 attention으로 누적해, 한 평면의 적은 정보를 시간으로 보완한다. GPU 노트북에서 87.2 FPS다. Plozza 등은 이 검출기를 사족보행 로봇(Unitree A1, 270° 2D LiDAR)의 임베디드 컴퓨터에 올렸다. 등속 칼만 필터와 헝가리안 매칭(Norfair 라이브러리)으로 추적해 내비게이션 계획에 넣었다. 모션 캡처 대비 평균 MOTA 85.45%로 20 Hz에서 추적했고, 반응형 내비게이션보다 미리 비켜 갔다.</a:t>
            </a:r>
          </a:p>
        </p:txBody>
      </p:sp>
      <p:sp>
        <p:nvSpPr>
          <p:cNvPr id="7" name="TextBox 6"/>
          <p:cNvSpPr txBox="1"/>
          <p:nvPr/>
        </p:nvSpPr>
        <p:spPr>
          <a:xfrm>
            <a:off x="609600" y="3033812"/>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JRDB와 2D 대 3D LiDAR — 로봇 시점 사람 인식의 기준 데이터</a:t>
            </a:r>
            <a:r>
              <a:rPr sz="1050" b="0" i="0">
                <a:solidFill>
                  <a:srgbClr val="16213A"/>
                </a:solidFill>
                <a:latin typeface="Arial"/>
                <a:ea typeface="Malgun Gothic"/>
                <a:cs typeface="Malgun Gothic"/>
              </a:rPr>
              <a:t>(JRDB </a:t>
            </a:r>
            <a:r>
              <a:rPr sz="1050" b="0" i="0">
                <a:solidFill>
                  <a:srgbClr val="1D4ED8"/>
                </a:solidFill>
                <a:latin typeface="Arial"/>
                <a:ea typeface="Malgun Gothic"/>
                <a:cs typeface="Malgun Gothic"/>
                <a:hlinkClick r:id="rId6"/>
              </a:rPr>
              <a:t>arXiv:1910.11792</a:t>
            </a:r>
            <a:r>
              <a:rPr sz="1050" b="0" i="0">
                <a:solidFill>
                  <a:srgbClr val="16213A"/>
                </a:solidFill>
                <a:latin typeface="Arial"/>
                <a:ea typeface="Malgun Gothic"/>
                <a:cs typeface="Malgun Gothic"/>
              </a:rPr>
              <a:t>, T-PAMI 2021; Person-MinkUNet </a:t>
            </a:r>
            <a:r>
              <a:rPr sz="1050" b="0" i="0">
                <a:solidFill>
                  <a:srgbClr val="1D4ED8"/>
                </a:solidFill>
                <a:latin typeface="Arial"/>
                <a:ea typeface="Malgun Gothic"/>
                <a:cs typeface="Malgun Gothic"/>
                <a:hlinkClick r:id="rId7"/>
              </a:rPr>
              <a:t>arXiv:2107.06780</a:t>
            </a:r>
            <a:r>
              <a:rPr sz="1050" b="0" i="0">
                <a:solidFill>
                  <a:srgbClr val="16213A"/>
                </a:solidFill>
                <a:latin typeface="Arial"/>
                <a:ea typeface="Malgun Gothic"/>
                <a:cs typeface="Malgun Gothic"/>
              </a:rPr>
              <a:t>, 2021; Jia 등 </a:t>
            </a:r>
            <a:r>
              <a:rPr sz="1050" b="0" i="0">
                <a:solidFill>
                  <a:srgbClr val="1D4ED8"/>
                </a:solidFill>
                <a:latin typeface="Arial"/>
                <a:ea typeface="Malgun Gothic"/>
                <a:cs typeface="Malgun Gothic"/>
                <a:hlinkClick r:id="rId8"/>
              </a:rPr>
              <a:t>arXiv:2106.11239</a:t>
            </a:r>
            <a:r>
              <a:rPr sz="1050" b="0" i="0">
                <a:solidFill>
                  <a:srgbClr val="16213A"/>
                </a:solidFill>
                <a:latin typeface="Arial"/>
                <a:ea typeface="Malgun Gothic"/>
                <a:cs typeface="Malgun Gothic"/>
              </a:rPr>
              <a:t>, IROS 2022). JRDB는 사회적 이동 로봇 JackRabbot으로 캠퍼스 실내외를 다니며 모았다. 360° 스테레오 영상, 16채널 Velodyne 두 대, 2D LiDAR 두 대, RGB-D를 담았고, 2D 상자 240만 개, 3D 상자 180만 개, 시간 일관 궤적 3,500개 이상을 달았다. 검출, 추적, 궤적 예측 (JRDB-Traj)을 모두 로봇 좌표에서 평가한다. Person-MinkUNet은 sparse 3D 합성곱 U-Net으로 JRDB 3D 검출 AP 76.4%를 냈고, CVPR 2021 워크숍 챌린지에서 1위를 했다. Jia 등은 같은 데이터에서 DR-SPAAM(2D)과 CenterPoint(3D)를 비교했다. 전체 정확도는 3D가 높았지만, 2D 스캔에 보이는 사람만 따지면 둘이 비슷했다. 2 m를 넘으면 2D 스캔에 안 보이는 사람이 크게 늘었다. 혼잡도에 대한 강건성은 비슷했다. Jetson AGX Xavier에서 CenterPoint가 6.0 FPS, DR-SPAAM이 8.9 FPS였다. DR-SPAAM은 스캔을 3배 솎아 26.6 FPS로 올려도 AP를 1.4%만 잃었다. 한쪽 검출기만 찾은 사람이 적지 않아서, 두 센서가 있으면 앙상블을 권했다.</a:t>
            </a:r>
          </a:p>
        </p:txBody>
      </p:sp>
      <p:sp>
        <p:nvSpPr>
          <p:cNvPr id="8" name="TextBox 7"/>
          <p:cNvSpPr txBox="1"/>
          <p:nvPr/>
        </p:nvSpPr>
        <p:spPr>
          <a:xfrm>
            <a:off x="609600" y="442168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RoboSense — 로봇 바로 옆의 가려지고 잘린 사람</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9"/>
              </a:rPr>
              <a:t>arXiv:2408.15503</a:t>
            </a:r>
            <a:r>
              <a:rPr sz="1050" b="0" i="0">
                <a:solidFill>
                  <a:srgbClr val="16213A"/>
                </a:solidFill>
                <a:latin typeface="Arial"/>
                <a:ea typeface="Malgun Gothic"/>
                <a:cs typeface="Malgun Gothic"/>
              </a:rPr>
              <a:t>, CVPR 2025, </a:t>
            </a:r>
            <a:r>
              <a:rPr sz="1050" b="0" i="0">
                <a:solidFill>
                  <a:srgbClr val="1D4ED8"/>
                </a:solidFill>
                <a:latin typeface="Arial"/>
                <a:ea typeface="Malgun Gothic"/>
                <a:cs typeface="Malgun Gothic"/>
                <a:hlinkClick r:id="rId10"/>
              </a:rPr>
              <a:t>코드</a:t>
            </a:r>
            <a:r>
              <a:rPr sz="1050" b="0" i="0">
                <a:solidFill>
                  <a:srgbClr val="16213A"/>
                </a:solidFill>
                <a:latin typeface="Arial"/>
                <a:ea typeface="Malgun Gothic"/>
                <a:cs typeface="Malgun Gothic"/>
              </a:rPr>
              <a:t>). 청소 로봇에 카메라, 어안 카메라, LiDAR를 달아 혼잡하고 정리되지 않은 환경에서 모았다. 동기화된 13.3만 프레임에 360° 3D 상자 140만 개와 ID를 달았고, 7,600개 시퀀스에서 궤적 21.6만 개가 나온다. 가까운 거리의 장애물 라벨이 KITTI의 270배, nuScenes의 18배다. 자동차 데이터셋에 드문 "로봇 바로 옆에서 가려지고 잘린 물체"가 이 데이터의 핵심이다.</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5/9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208 / 359</a:t>
            </a:r>
          </a:p>
        </p:txBody>
      </p:sp>
      <p:pic>
        <p:nvPicPr>
          <p:cNvPr id="5" name="Picture 4" descr="image.jpg"/>
          <p:cNvPicPr>
            <a:picLocks noChangeAspect="1"/>
          </p:cNvPicPr>
          <p:nvPr/>
        </p:nvPicPr>
        <p:blipFill>
          <a:blip r:embed="rId3"/>
          <a:stretch>
            <a:fillRect/>
          </a:stretch>
        </p:blipFill>
        <p:spPr>
          <a:xfrm>
            <a:off x="2540000" y="1244600"/>
            <a:ext cx="7112000" cy="4445000"/>
          </a:xfrm>
          <a:prstGeom prst="rect">
            <a:avLst/>
          </a:prstGeom>
        </p:spPr>
      </p:pic>
      <p:sp>
        <p:nvSpPr>
          <p:cNvPr id="6" name="TextBox 5"/>
          <p:cNvSpPr txBox="1"/>
          <p:nvPr/>
        </p:nvSpPr>
        <p:spPr>
          <a:xfrm>
            <a:off x="2540000" y="5727700"/>
            <a:ext cx="7112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RoboSense (Fig. 1): 같은 대상이 카메라, 어안, LiDAR, BEV에서 한 ID로 이어지는 3D 상자와 점유 라벨. 출처: arXiv:2408.15503</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6/9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209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MonoLoco — 단안 카메라로 사람 거리와 그 불확실성을 함께 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arXiv:1906.06059</a:t>
            </a:r>
            <a:r>
              <a:rPr sz="1050" b="0" i="0">
                <a:solidFill>
                  <a:srgbClr val="16213A"/>
                </a:solidFill>
                <a:latin typeface="Arial"/>
                <a:ea typeface="Malgun Gothic"/>
                <a:cs typeface="Malgun Gothic"/>
              </a:rPr>
              <a:t>, ICCV 2019,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MonoLoco++ </a:t>
            </a:r>
            <a:r>
              <a:rPr sz="1050" b="0" i="0">
                <a:solidFill>
                  <a:srgbClr val="1D4ED8"/>
                </a:solidFill>
                <a:latin typeface="Arial"/>
                <a:ea typeface="Malgun Gothic"/>
                <a:cs typeface="Malgun Gothic"/>
                <a:hlinkClick r:id="rId5"/>
              </a:rPr>
              <a:t>arXiv:2009.00984</a:t>
            </a:r>
            <a:r>
              <a:rPr sz="1050" b="0" i="0">
                <a:solidFill>
                  <a:srgbClr val="16213A"/>
                </a:solidFill>
                <a:latin typeface="Arial"/>
                <a:ea typeface="Malgun Gothic"/>
                <a:cs typeface="Malgun Gothic"/>
              </a:rPr>
              <a:t>, T-ITS 2021). 영상에서 사람의 2D 관절을 먼저 뽑고, 작은 완전연결망이 관절 좌표로 3D 위치를 낸다. 단안 거리는 원래 모호하므로 Laplace 분포 손실로 신뢰 구간을 함께 낸다. KITTI와 nuScenes에서 당시 단안 SOTA를 넘었고, 먼 보행자에서는 스테레오 방법보다도 정확했다. MonoLoco++는 방향과 크기를 더해 사회적 거리까지 판단한다.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Nav2 — 기본은 추적 없이 매 스캔 표시하고 지운다.</a:t>
            </a:r>
            <a:r>
              <a:rPr sz="1050" b="0" i="0">
                <a:solidFill>
                  <a:srgbClr val="16213A"/>
                </a:solidFill>
                <a:latin typeface="Arial"/>
                <a:ea typeface="Malgun Gothic"/>
                <a:cs typeface="Malgun Gothic"/>
              </a:rPr>
              <a:t> Nav2 costmap의 장애물 층은 스캔 점이 닿은 칸을 표시하고, 광선이 지나간 칸을 지운다. 사람은 그 순간의 장애물일 뿐이고 속도나 미래가 없다. 동적 장애물 파이프라인은 별도 저장소 </a:t>
            </a:r>
            <a:r>
              <a:rPr sz="1050" b="0" i="0">
                <a:solidFill>
                  <a:srgbClr val="1D4ED8"/>
                </a:solidFill>
                <a:latin typeface="Arial"/>
                <a:ea typeface="Malgun Gothic"/>
                <a:cs typeface="Malgun Gothic"/>
                <a:hlinkClick r:id="rId6"/>
              </a:rPr>
              <a:t>navigation2_dynamic</a:t>
            </a:r>
            <a:r>
              <a:rPr sz="1050" b="0" i="0">
                <a:solidFill>
                  <a:srgbClr val="16213A"/>
                </a:solidFill>
                <a:latin typeface="Arial"/>
                <a:ea typeface="Malgun Gothic"/>
                <a:cs typeface="Malgun Gothic"/>
              </a:rPr>
              <a:t>(★78)에 있다. 장애물마다 3D 중심의 위치와 속도를 OpenCV 칼만 필터로 추적하고, 중심 사이 유클리드 거리로 헝가리안 매칭한다(</a:t>
            </a:r>
            <a:r>
              <a:rPr sz="1050" b="0" i="0">
                <a:solidFill>
                  <a:srgbClr val="16213A"/>
                </a:solidFill>
                <a:latin typeface="Consolas"/>
                <a:ea typeface="Malgun Gothic"/>
                <a:cs typeface="Malgun Gothic"/>
              </a:rPr>
              <a:t>top_down</a:t>
            </a:r>
            <a:r>
              <a:rPr sz="1050" b="0" i="0">
                <a:solidFill>
                  <a:srgbClr val="16213A"/>
                </a:solidFill>
                <a:latin typeface="Arial"/>
                <a:ea typeface="Malgun Gothic"/>
                <a:cs typeface="Malgun Gothic"/>
              </a:rPr>
              <a:t>이면 지면에 투영). 결과는 </a:t>
            </a:r>
            <a:r>
              <a:rPr sz="1050" b="0" i="0">
                <a:solidFill>
                  <a:srgbClr val="16213A"/>
                </a:solidFill>
                <a:latin typeface="Consolas"/>
                <a:ea typeface="Malgun Gothic"/>
                <a:cs typeface="Malgun Gothic"/>
              </a:rPr>
              <a:t>nav2_dynamic_msgs/ObstacleArray</a:t>
            </a:r>
            <a:r>
              <a:rPr sz="1050" b="0" i="0">
                <a:solidFill>
                  <a:srgbClr val="16213A"/>
                </a:solidFill>
                <a:latin typeface="Arial"/>
                <a:ea typeface="Malgun Gothic"/>
                <a:cs typeface="Malgun Gothic"/>
              </a:rPr>
              <a:t>로 낸다. 마지막 push가 2024년 6월이고, Nav2 본체의 costmap과 controller에는 들어가지 않았다.</a:t>
            </a:r>
          </a:p>
        </p:txBody>
      </p:sp>
      <p:sp>
        <p:nvSpPr>
          <p:cNvPr id="7" name="TextBox 6"/>
          <p:cNvSpPr txBox="1"/>
          <p:nvPr/>
        </p:nvSpPr>
        <p:spPr>
          <a:xfrm>
            <a:off x="609600" y="27213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클래스 없이 움직이는 것을 잡는다.</a:t>
            </a:r>
            <a:r>
              <a:rPr sz="1050" b="0" i="0">
                <a:solidFill>
                  <a:srgbClr val="16213A"/>
                </a:solidFill>
                <a:latin typeface="Arial"/>
                <a:ea typeface="Malgun Gothic"/>
                <a:cs typeface="Malgun Gothic"/>
              </a:rPr>
              <a:t> 사람 검출기는 학습한 클래스만 본다. 자전거, 전동 킥보드, 카트, 개, 굴러오는 공은 놓칠 수 있다. 또 움직이는 사람을 그대로 높이 지도에 쌓으면, 지나간 자리가 벽처럼 남는다. 두 문제를 "움직이는 점을 따로 가려내는" 방법이 함께 푼다.</a:t>
            </a:r>
          </a:p>
        </p:txBody>
      </p:sp>
      <p:sp>
        <p:nvSpPr>
          <p:cNvPr id="8" name="TextBox 7"/>
          <p:cNvSpPr txBox="1"/>
          <p:nvPr/>
        </p:nvSpPr>
        <p:spPr>
          <a:xfrm>
            <a:off x="609600" y="324326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M-detector — 가림 원리로 점 하나가 도착하자마자 판정한다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7"/>
              </a:rPr>
              <a:t>Nature Communications 2024</a:t>
            </a:r>
            <a:r>
              <a:rPr sz="1050" b="0" i="0">
                <a:solidFill>
                  <a:srgbClr val="16213A"/>
                </a:solidFill>
                <a:latin typeface="Arial"/>
                <a:ea typeface="Malgun Gothic"/>
                <a:cs typeface="Malgun Gothic"/>
              </a:rPr>
              <a:t>, HKU MARS, </a:t>
            </a:r>
            <a:r>
              <a:rPr sz="1050" b="0" i="0">
                <a:solidFill>
                  <a:srgbClr val="1D4ED8"/>
                </a:solidFill>
                <a:latin typeface="Arial"/>
                <a:ea typeface="Malgun Gothic"/>
                <a:cs typeface="Malgun Gothic"/>
                <a:hlinkClick r:id="rId8"/>
              </a:rPr>
              <a:t>코드</a:t>
            </a:r>
            <a:r>
              <a:rPr sz="1050" b="0" i="0">
                <a:solidFill>
                  <a:srgbClr val="16213A"/>
                </a:solidFill>
                <a:latin typeface="Arial"/>
                <a:ea typeface="Malgun Gothic"/>
                <a:cs typeface="Malgun Gothic"/>
              </a:rPr>
              <a:t> GPL-2.0 ★0.7k). 기존 방법은 LiDAR 점을 프레임으로 모은 뒤 물체 단위로 움직임을 찾아서, 지연이 수십–수백 ms였다. M-detector는 과거 프레임들의 깊이 영상을 기억해 두고, 새 점이 도착하자마자 가림 관계로 판정한다. 전에 보이던 배경을 새 점이 가리면, 무언가가 그 앞으로 들어온 것이다. 광선 방향으로 다가오거나 멀어지는 물체는 이어지는 가림 관계로 잡는다. 학습이 없어서 LiDAR 종류와 장면(도시, 주택가, 고속도로, 실내)이 바뀌어도 IoU가 고르게 높았고, 지연은 점당 수 µs였다.</a:t>
            </a:r>
          </a:p>
        </p:txBody>
      </p:sp>
      <p:sp>
        <p:nvSpPr>
          <p:cNvPr id="9" name="TextBox 8"/>
          <p:cNvSpPr txBox="1"/>
          <p:nvPr/>
        </p:nvSpPr>
        <p:spPr>
          <a:xfrm>
            <a:off x="609600" y="4198144"/>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Dynablox — 확실히 비어 있던 공간에 나타난 점이 움직이는 물체다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9"/>
              </a:rPr>
              <a:t>arXiv:2304.10049</a:t>
            </a:r>
            <a:r>
              <a:rPr sz="1050" b="0" i="0">
                <a:solidFill>
                  <a:srgbClr val="16213A"/>
                </a:solidFill>
                <a:latin typeface="Arial"/>
                <a:ea typeface="Malgun Gothic"/>
                <a:cs typeface="Malgun Gothic"/>
              </a:rPr>
              <a:t>, RA-L 2023, ETH ASL, </a:t>
            </a:r>
            <a:r>
              <a:rPr sz="1050" b="0" i="0">
                <a:solidFill>
                  <a:srgbClr val="1D4ED8"/>
                </a:solidFill>
                <a:latin typeface="Arial"/>
                <a:ea typeface="Malgun Gothic"/>
                <a:cs typeface="Malgun Gothic"/>
                <a:hlinkClick r:id="rId10"/>
              </a:rPr>
              <a:t>코드</a:t>
            </a:r>
            <a:r>
              <a:rPr sz="1050" b="0" i="0">
                <a:solidFill>
                  <a:srgbClr val="16213A"/>
                </a:solidFill>
                <a:latin typeface="Arial"/>
                <a:ea typeface="Malgun Gothic"/>
                <a:cs typeface="Malgun Gothic"/>
              </a:rPr>
              <a:t> BSD-3-Clause ★0.6k). voxel 지도를 쌓으면서, 센서 잡음·자세 오차·지도 한계를 따져 확신할 수 있는 빈 공간을 조금씩 넓힌다. 그 빈 공간 안에 새 점이 나타나면 움직이는 물체로 보고, 주변의 덜 확실한 점까지 군집으로 묶는다. 물체 모양이나 환경을 가정하지 않아서, 여러 층 건물과 계단에서도 짐을 든 사람, 흔들리는 문, 굴러가는 공을 잡는다. 실제 데이터에서 IoU 86%에 17 FPS였고, 일반 voxel 지도에 더해지는 계산은 39%였다. NVIDIA nvblox에 GPU 판으로 들어갔다.</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7/9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210 / 359</a:t>
            </a:r>
          </a:p>
        </p:txBody>
      </p:sp>
      <p:pic>
        <p:nvPicPr>
          <p:cNvPr id="5" name="Picture 4" descr="image.jpg"/>
          <p:cNvPicPr>
            <a:picLocks noChangeAspect="1"/>
          </p:cNvPicPr>
          <p:nvPr/>
        </p:nvPicPr>
        <p:blipFill>
          <a:blip r:embed="rId3"/>
          <a:stretch>
            <a:fillRect/>
          </a:stretch>
        </p:blipFill>
        <p:spPr>
          <a:xfrm>
            <a:off x="2581275" y="1244600"/>
            <a:ext cx="7029450" cy="1847850"/>
          </a:xfrm>
          <a:prstGeom prst="rect">
            <a:avLst/>
          </a:prstGeom>
        </p:spPr>
      </p:pic>
      <p:sp>
        <p:nvSpPr>
          <p:cNvPr id="6" name="TextBox 5"/>
          <p:cNvSpPr txBox="1"/>
          <p:nvPr/>
        </p:nvSpPr>
        <p:spPr>
          <a:xfrm>
            <a:off x="2581275" y="3130550"/>
            <a:ext cx="70294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Dynablox (Fig. 2): 점군을 전처리하고(노랑), 확실한 빈 공간 지도에서 움직이는 점을 찾아 덜 확실한 점까지 군집으로 묶은 뒤(주황), voxel 지도와 빈 공간을 갱신한다(초록). 출처: arXiv:2304.10049</a:t>
            </a:r>
          </a:p>
        </p:txBody>
      </p:sp>
      <p:sp>
        <p:nvSpPr>
          <p:cNvPr id="7" name="TextBox 6"/>
          <p:cNvSpPr txBox="1"/>
          <p:nvPr/>
        </p:nvSpPr>
        <p:spPr>
          <a:xfrm>
            <a:off x="609600" y="350381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동적 occupancy grid — 칸마다 점유와 속도를 입자로 추정한다</a:t>
            </a:r>
            <a:r>
              <a:rPr sz="1050" b="0" i="0">
                <a:solidFill>
                  <a:srgbClr val="16213A"/>
                </a:solidFill>
                <a:latin typeface="Arial"/>
                <a:ea typeface="Malgun Gothic"/>
                <a:cs typeface="Malgun Gothic"/>
              </a:rPr>
              <a:t>(Nuss 등 </a:t>
            </a:r>
            <a:r>
              <a:rPr sz="1050" b="0" i="0">
                <a:solidFill>
                  <a:srgbClr val="1D4ED8"/>
                </a:solidFill>
                <a:latin typeface="Arial"/>
                <a:ea typeface="Malgun Gothic"/>
                <a:cs typeface="Malgun Gothic"/>
                <a:hlinkClick r:id="rId4"/>
              </a:rPr>
              <a:t>arXiv:1605.02406</a:t>
            </a:r>
            <a:r>
              <a:rPr sz="1050" b="0" i="0">
                <a:solidFill>
                  <a:srgbClr val="16213A"/>
                </a:solidFill>
                <a:latin typeface="Arial"/>
                <a:ea typeface="Malgun Gothic"/>
                <a:cs typeface="Malgun Gothic"/>
              </a:rPr>
              <a:t>, IJRR 2018,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MIT ★0.3k). 칸들의 상태를 random finite set으로 보고, PHD/MIB 필터를 병렬 입자 필터로 구현했다. 그래서 BEV 칸마다 점유 확률과 속도 분포가 실시간으로 나온다. 차량에서 레이저와 레이더를 합치는 층으로 쓰였다. 물체로 묶지 않고도 칸 단위 속도를 얻으므로, 학습 없는 MotionNet에 해당한다.</a:t>
            </a:r>
          </a:p>
        </p:txBody>
      </p:sp>
      <p:sp>
        <p:nvSpPr>
          <p:cNvPr id="8" name="TextBox 7"/>
          <p:cNvSpPr txBox="1"/>
          <p:nvPr/>
        </p:nvSpPr>
        <p:spPr>
          <a:xfrm>
            <a:off x="609600" y="424219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로봇 시점 예측: 관측이 더럽고, ADE가 전부가 아니다.</a:t>
            </a:r>
            <a:r>
              <a:rPr sz="1050" b="0" i="0">
                <a:solidFill>
                  <a:srgbClr val="16213A"/>
                </a:solidFill>
                <a:latin typeface="Arial"/>
                <a:ea typeface="Malgun Gothic"/>
                <a:cs typeface="Malgun Gothic"/>
              </a:rPr>
              <a:t> A.12.3의 예측기는 대부분 감시 카메라에서 본 깨끗한 BEV 궤적(ETH/UCY)으로 학습하고 평가한다. 로봇이 보는 과거 궤적은 가림, ID 전환, 추적 표류로 더럽다.</a:t>
            </a:r>
          </a:p>
        </p:txBody>
      </p:sp>
      <p:sp>
        <p:nvSpPr>
          <p:cNvPr id="9" name="TextBox 8"/>
          <p:cNvSpPr txBox="1"/>
          <p:nvPr/>
        </p:nvSpPr>
        <p:spPr>
          <a:xfrm>
            <a:off x="609600" y="476408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EgoTraj-Bench — 더러운 로봇 시점 이력으로 예측한다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arXiv:2510.00405</a:t>
            </a:r>
            <a:r>
              <a:rPr sz="1050" b="0" i="0">
                <a:solidFill>
                  <a:srgbClr val="16213A"/>
                </a:solidFill>
                <a:latin typeface="Arial"/>
                <a:ea typeface="Malgun Gothic"/>
                <a:cs typeface="Malgun Gothic"/>
              </a:rPr>
              <a:t>, 2025). 1인칭 영상에서 얻은 잡음 섞인 과거 궤적과, 같은 장면의 깨끗한 BEV 미래 궤적을 짝지은 첫 실제 벤치마크다(TBD 데이터셋 기반). 기존 방법은 과거가 깨끗하다고 가정해서 이 조건에서 성능이 떨어진다. 제안한 BiFlow는 두 흐름의 flow matching으로 과거를 복원하면서 미래를 예측하고, minADE와 minFDE를 평균 10–15% 줄였다.</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8/9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211 / 359</a:t>
            </a:r>
          </a:p>
        </p:txBody>
      </p:sp>
      <p:pic>
        <p:nvPicPr>
          <p:cNvPr id="5" name="Picture 4" descr="image.jpg"/>
          <p:cNvPicPr>
            <a:picLocks noChangeAspect="1"/>
          </p:cNvPicPr>
          <p:nvPr/>
        </p:nvPicPr>
        <p:blipFill>
          <a:blip r:embed="rId3"/>
          <a:stretch>
            <a:fillRect/>
          </a:stretch>
        </p:blipFill>
        <p:spPr>
          <a:xfrm>
            <a:off x="3273425" y="1244600"/>
            <a:ext cx="5645150" cy="4445000"/>
          </a:xfrm>
          <a:prstGeom prst="rect">
            <a:avLst/>
          </a:prstGeom>
        </p:spPr>
      </p:pic>
      <p:sp>
        <p:nvSpPr>
          <p:cNvPr id="6" name="TextBox 5"/>
          <p:cNvSpPr txBox="1"/>
          <p:nvPr/>
        </p:nvSpPr>
        <p:spPr>
          <a:xfrm>
            <a:off x="3273425" y="5727700"/>
            <a:ext cx="56451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EgoTraj-Bench (Fig. 1): 1인칭 관측에서 생기는 문제들. 윗줄은 가림이다. 1인칭 영상(a)에는 한 사람만 보이지만, 같은 순간의 BEV(b)에는 그 뒤에 두 사람이 더 있다. 출처: arXiv:2510.00405</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9/9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212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Legs Over Arms — 하체 자세가 궤적을 예측한다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arXiv:2602.09076</a:t>
            </a:r>
            <a:r>
              <a:rPr sz="1050" b="0" i="0">
                <a:solidFill>
                  <a:srgbClr val="16213A"/>
                </a:solidFill>
                <a:latin typeface="Arial"/>
                <a:ea typeface="Malgun Gothic"/>
                <a:cs typeface="Malgun Gothic"/>
              </a:rPr>
              <a:t>, ICRA 2026). 로봇의 360° 카메라에서 본 사람의 골격 관절을 예측 입력에 더하고, 어느 관절이 도움이 되는지 비교했다. JRDB에서 하체 3D 관절이 ADE를 13% 줄였고, 생체역학 특징이 1–4%를 더 줄였다. 파노라마 단안 영상의 2D 관절만으로도 이 이득이 유지됐다.</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Conformal 불확실성 — 예측이 틀릴 폭을 계획에 넣는다</a:t>
            </a:r>
            <a:r>
              <a:rPr sz="1050" b="0" i="0">
                <a:solidFill>
                  <a:srgbClr val="16213A"/>
                </a:solidFill>
                <a:latin typeface="Arial"/>
                <a:ea typeface="Malgun Gothic"/>
                <a:cs typeface="Malgun Gothic"/>
              </a:rPr>
              <a:t>(Yao 등 </a:t>
            </a:r>
            <a:r>
              <a:rPr sz="1050" b="0" i="0">
                <a:solidFill>
                  <a:srgbClr val="1D4ED8"/>
                </a:solidFill>
                <a:latin typeface="Arial"/>
                <a:ea typeface="Malgun Gothic"/>
                <a:cs typeface="Malgun Gothic"/>
                <a:hlinkClick r:id="rId4"/>
              </a:rPr>
              <a:t>arXiv:2508.05634</a:t>
            </a:r>
            <a:r>
              <a:rPr sz="1050" b="0" i="0">
                <a:solidFill>
                  <a:srgbClr val="16213A"/>
                </a:solidFill>
                <a:latin typeface="Arial"/>
                <a:ea typeface="Malgun Gothic"/>
                <a:cs typeface="Malgun Gothic"/>
              </a:rPr>
              <a:t>, CoRL 2025). 적응형 conformal 추론으로 보행자 예측의 오차 범위를 온라인으로 추정해 로봇 관측에 더하고, 제약 강화학습이 그 범위를 지키게 했다. 학습 분포 안에서 성공률 96.93%로 기존보다 8.80% 높았고, 충돌은 3.72배, 궤적 침범은 2.43배 줄었다. 속도·정책·집단 행동이 바뀐 분포 밖 조건에서도 강건했다.</a:t>
            </a:r>
          </a:p>
        </p:txBody>
      </p:sp>
      <p:sp>
        <p:nvSpPr>
          <p:cNvPr id="7" name="TextBox 6"/>
          <p:cNvSpPr txBox="1"/>
          <p:nvPr/>
        </p:nvSpPr>
        <p:spPr>
          <a:xfrm>
            <a:off x="609600" y="25048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ADE는 내비게이션 성능을 대변하지 못한다</a:t>
            </a:r>
            <a:r>
              <a:rPr sz="1050" b="0" i="0">
                <a:solidFill>
                  <a:srgbClr val="16213A"/>
                </a:solidFill>
                <a:latin typeface="Arial"/>
                <a:ea typeface="Malgun Gothic"/>
                <a:cs typeface="Malgun Gothic"/>
              </a:rPr>
              <a:t>(Stratton 등 </a:t>
            </a:r>
            <a:r>
              <a:rPr sz="1050" b="0" i="0">
                <a:solidFill>
                  <a:srgbClr val="1D4ED8"/>
                </a:solidFill>
                <a:latin typeface="Arial"/>
                <a:ea typeface="Malgun Gothic"/>
                <a:cs typeface="Malgun Gothic"/>
                <a:hlinkClick r:id="rId5"/>
              </a:rPr>
              <a:t>arXiv:2601.09856</a:t>
            </a:r>
            <a:r>
              <a:rPr sz="1050" b="0" i="0">
                <a:solidFill>
                  <a:srgbClr val="16213A"/>
                </a:solidFill>
                <a:latin typeface="Arial"/>
                <a:ea typeface="Malgun Gothic"/>
                <a:cs typeface="Malgun Gothic"/>
              </a:rPr>
              <a:t>, 2026). 좁은 공간에서 두 사람 사이를 지나는 로봇을, 두 로봇 플랫폼과 두 장소에서 참가자 80명과 실험했다. 평균 변위 오차(ADE)는 로봇의 내비게이션 성능과 사람이 받는 인상을 믿을 만하게 예측하지 못했다. 좁은 공간에서는 사람이 로봇의 협조에 자주 응하지 않았다. 로봇 효율을 높이면 사람의 효율과 편안함이 함께 떨어지는 경우도 많았다.</a:t>
            </a:r>
          </a:p>
        </p:txBody>
      </p:sp>
      <p:sp>
        <p:nvSpPr>
          <p:cNvPr id="8" name="TextBox 7"/>
          <p:cNvSpPr txBox="1"/>
          <p:nvPr/>
        </p:nvSpPr>
        <p:spPr>
          <a:xfrm>
            <a:off x="609600" y="32432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EgoNeMo — 로봇 LiDAR로 장소의 보행 패턴 지도를 배운다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arXiv:2609.06195</a:t>
            </a:r>
            <a:r>
              <a:rPr sz="1050" b="0" i="0">
                <a:solidFill>
                  <a:srgbClr val="16213A"/>
                </a:solidFill>
                <a:latin typeface="Arial"/>
                <a:ea typeface="Malgun Gothic"/>
                <a:cs typeface="Malgun Gothic"/>
              </a:rPr>
              <a:t>, 2026-09). 사람의 움직임 분포를 장소마다 저장하는 지도(Map of Dynamics)는 원래 그 장소에서만 쓸 수 있었다. EgoNeMo는 로봇의 1인칭 3D LiDAR에서 움직임 분포와 공간 빈도 지도를 내는 연속 신경 암묵 모델을 학습해, 처음 가는 장소로 옮긴다. 아직 보이지 않는 사람에 대한 장기 사전지식이 된다.</a:t>
            </a:r>
          </a:p>
        </p:txBody>
      </p:sp>
      <p:sp>
        <p:nvSpPr>
          <p:cNvPr id="9" name="TextBox 8"/>
          <p:cNvSpPr txBox="1"/>
          <p:nvPr/>
        </p:nvSpPr>
        <p:spPr>
          <a:xfrm>
            <a:off x="609600" y="376515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Planner에 무엇을 넘기나.</a:t>
            </a:r>
            <a:r>
              <a:rPr sz="1050" b="0" i="0">
                <a:solidFill>
                  <a:srgbClr val="16213A"/>
                </a:solidFill>
                <a:latin typeface="Arial"/>
                <a:ea typeface="Malgun Gothic"/>
                <a:cs typeface="Malgun Gothic"/>
              </a:rPr>
              <a:t> 표현마다 쓰는 쪽과 travplan의 대응이 다르다.</a:t>
            </a:r>
          </a:p>
        </p:txBody>
      </p:sp>
      <p:graphicFrame>
        <p:nvGraphicFramePr>
          <p:cNvPr id="10" name="Table 9"/>
          <p:cNvGraphicFramePr>
            <a:graphicFrameLocks noGrp="1"/>
          </p:cNvGraphicFramePr>
          <p:nvPr/>
        </p:nvGraphicFramePr>
        <p:xfrm>
          <a:off x="609600" y="4070548"/>
          <a:ext cx="10966450" cy="1182528"/>
        </p:xfrm>
        <a:graphic>
          <a:graphicData uri="http://schemas.openxmlformats.org/drawingml/2006/table">
            <a:tbl>
              <a:tblPr firstRow="1" bandRow="1">
                <a:tableStyleId>{5C22544A-7EE6-4342-B048-85BDC9FD1C3A}</a:tableStyleId>
              </a:tblPr>
              <a:tblGrid>
                <a:gridCol w="1743174"/>
                <a:gridCol w="2290564"/>
                <a:gridCol w="2829421"/>
                <a:gridCol w="4103291"/>
              </a:tblGrid>
              <a:tr h="197088">
                <a:tc>
                  <a:txBody>
                    <a:bodyPr wrap="square"/>
                    <a:lstStyle/>
                    <a:p>
                      <a:r>
                        <a:rPr sz="800" b="1" i="0">
                          <a:solidFill>
                            <a:srgbClr val="F4F1EA"/>
                          </a:solidFill>
                          <a:latin typeface="Arial"/>
                          <a:ea typeface="Malgun Gothic"/>
                          <a:cs typeface="Malgun Gothic"/>
                        </a:rPr>
                        <a:t>표현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내용</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쓰는 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물체 목록 + 불확실성 원판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위치, 속도, 시간에 따라 커지는 반경</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navigation2_dynamic, 군중 내비게이션 RL</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DynamicObstacles</a:t>
                      </a:r>
                      <a:r>
                        <a:rPr sz="800" b="0" i="0">
                          <a:solidFill>
                            <a:srgbClr val="16213A"/>
                          </a:solidFill>
                          <a:latin typeface="Arial"/>
                          <a:ea typeface="Malgun Gothic"/>
                          <a:cs typeface="Malgun Gothic"/>
                        </a:rPr>
                        <a:t>, MPPI RiskCost의 시간 가변 층(TP-0012)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과거 궤적 이력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사람마다 과거 H스텝 위치와 속도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예측기, 공동 생성 Planner</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PedestrianHistory</a:t>
                      </a:r>
                      <a:r>
                        <a:rPr sz="800" b="0" i="0">
                          <a:solidFill>
                            <a:srgbClr val="16213A"/>
                          </a:solidFill>
                          <a:latin typeface="Arial"/>
                          <a:ea typeface="Malgun Gothic"/>
                          <a:cs typeface="Malgun Gothic"/>
                        </a:rPr>
                        <a:t>(TP-0049)</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여러 미래 샘플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K개 궤적과 각각의 확률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Trajectron++, MoFlow</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시간별 BEV 점유·변위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칸마다 미래 점유나 이동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MotionNet, occupancy flow(A.6), UnO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TravMap 격자에 시간 축을 더하면 된다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오차 보장 범위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conformal로 보정한 반경</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제약 강화학습, MPC</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DynamicObstacles.sigma_growth</a:t>
                      </a:r>
                      <a:r>
                        <a:rPr sz="800" b="0" i="0">
                          <a:solidFill>
                            <a:srgbClr val="16213A"/>
                          </a:solidFill>
                          <a:latin typeface="Arial"/>
                          <a:ea typeface="Malgun Gothic"/>
                          <a:cs typeface="Malgun Gothic"/>
                        </a:rPr>
                        <a:t>를 데이터로 보정하는 방법</a:t>
                      </a:r>
                    </a:p>
                  </a:txBody>
                  <a:tcPr marL="63500" marR="63500" marT="12700" marB="12700">
                    <a:solidFill>
                      <a:srgbClr val="FFFDF8"/>
                    </a:solidFill>
                  </a:tcPr>
                </a:tc>
              </a:tr>
            </a:tbl>
          </a:graphicData>
        </a:graphic>
      </p:graphicFrame>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자세히: 바닥 평면 변환의 거리 오차와 로봇 좌표 칼만 추적</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213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바닥 평면 변환의 오차는 거리 제곱에 비례한다.</a:t>
            </a:r>
            <a:r>
              <a:rPr sz="1050" b="0" i="0">
                <a:solidFill>
                  <a:srgbClr val="16213A"/>
                </a:solidFill>
                <a:latin typeface="Arial"/>
                <a:ea typeface="Malgun Gothic"/>
                <a:cs typeface="Malgun Gothic"/>
              </a:rPr>
              <a:t> 광축이 수평이고 높이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인 카메라에서, 거리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의 지면 점은 수평선 행 </a:t>
            </a:r>
            <a:r>
              <a:rPr sz="1050" b="0" i="1">
                <a:solidFill>
                  <a:srgbClr val="16213A"/>
                </a:solidFill>
                <a:latin typeface="Arial"/>
                <a:ea typeface="Malgun Gothic"/>
                <a:cs typeface="Malgun Gothic"/>
              </a:rPr>
              <a:t>v₀</a:t>
            </a:r>
            <a:r>
              <a:rPr sz="1050" b="0" i="0">
                <a:solidFill>
                  <a:srgbClr val="16213A"/>
                </a:solidFill>
                <a:latin typeface="Arial"/>
                <a:ea typeface="Malgun Gothic"/>
                <a:cs typeface="Malgun Gothic"/>
              </a:rPr>
              <a:t>보다 </a:t>
            </a:r>
            <a:r>
              <a:rPr sz="1050" b="0" i="1">
                <a:solidFill>
                  <a:srgbClr val="16213A"/>
                </a:solidFill>
                <a:latin typeface="Arial"/>
                <a:ea typeface="Malgun Gothic"/>
                <a:cs typeface="Malgun Gothic"/>
              </a:rPr>
              <a:t>f h / Z</a:t>
            </a:r>
            <a:r>
              <a:rPr sz="1050" b="0" i="0">
                <a:solidFill>
                  <a:srgbClr val="16213A"/>
                </a:solidFill>
                <a:latin typeface="Arial"/>
                <a:ea typeface="Malgun Gothic"/>
                <a:cs typeface="Malgun Gothic"/>
              </a:rPr>
              <a:t>만큼 아래 행에 맺힌다(</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는 픽셀 단위 초점 거리). 거꾸로 풀면 다음과 같다.</a:t>
            </a:r>
          </a:p>
        </p:txBody>
      </p:sp>
      <p:pic>
        <p:nvPicPr>
          <p:cNvPr id="6" name="Picture 5" descr="image.png"/>
          <p:cNvPicPr>
            <a:picLocks noChangeAspect="1"/>
          </p:cNvPicPr>
          <p:nvPr/>
        </p:nvPicPr>
        <p:blipFill>
          <a:blip r:embed="rId3"/>
          <a:stretch>
            <a:fillRect/>
          </a:stretch>
        </p:blipFill>
        <p:spPr>
          <a:xfrm>
            <a:off x="609600" y="1766491"/>
            <a:ext cx="2117725" cy="438150"/>
          </a:xfrm>
          <a:prstGeom prst="rect">
            <a:avLst/>
          </a:prstGeom>
        </p:spPr>
      </p:pic>
      <p:sp>
        <p:nvSpPr>
          <p:cNvPr id="7" name="TextBox 6"/>
          <p:cNvSpPr txBox="1"/>
          <p:nvPr/>
        </p:nvSpPr>
        <p:spPr>
          <a:xfrm>
            <a:off x="609600" y="2213471"/>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f = 600</a:t>
            </a:r>
            <a:r>
              <a:rPr sz="1050" b="0" i="0">
                <a:solidFill>
                  <a:srgbClr val="16213A"/>
                </a:solidFill>
                <a:latin typeface="Arial"/>
                <a:ea typeface="Malgun Gothic"/>
                <a:cs typeface="Malgun Gothic"/>
              </a:rPr>
              <a:t> px, </a:t>
            </a:r>
            <a:r>
              <a:rPr sz="1050" b="0" i="1">
                <a:solidFill>
                  <a:srgbClr val="16213A"/>
                </a:solidFill>
                <a:latin typeface="Arial"/>
                <a:ea typeface="Malgun Gothic"/>
                <a:cs typeface="Malgun Gothic"/>
              </a:rPr>
              <a:t>Z = 5</a:t>
            </a:r>
            <a:r>
              <a:rPr sz="1050" b="0" i="0">
                <a:solidFill>
                  <a:srgbClr val="16213A"/>
                </a:solidFill>
                <a:latin typeface="Arial"/>
                <a:ea typeface="Malgun Gothic"/>
                <a:cs typeface="Malgun Gothic"/>
              </a:rPr>
              <a:t> m이면 아래 변 1 px 오차가 카메라 높이 0.8 m에서 5.2 cm, 0.3 m에서 13.9 cm의 거리 오차가 된다. 차체가 1° 기울면 수평선이 </a:t>
            </a:r>
            <a:r>
              <a:rPr sz="1050" b="0" i="1">
                <a:solidFill>
                  <a:srgbClr val="16213A"/>
                </a:solidFill>
                <a:latin typeface="Arial"/>
                <a:ea typeface="Malgun Gothic"/>
                <a:cs typeface="Malgun Gothic"/>
              </a:rPr>
              <a:t>f tan 1^∘ ≈ 10.5</a:t>
            </a:r>
            <a:r>
              <a:rPr sz="1050" b="0" i="0">
                <a:solidFill>
                  <a:srgbClr val="16213A"/>
                </a:solidFill>
                <a:latin typeface="Arial"/>
                <a:ea typeface="Malgun Gothic"/>
                <a:cs typeface="Malgun Gothic"/>
              </a:rPr>
              <a:t> px 움직인다. 그러면 높이 0.8 m, 거리 5 m에서 거리가 0.5–0.6 m 틀린다. 보도 턱을 넘을 때는 IMU로 잰 자세를 </a:t>
            </a:r>
            <a:r>
              <a:rPr sz="1050" b="0" i="0">
                <a:solidFill>
                  <a:srgbClr val="16213A"/>
                </a:solidFill>
                <a:latin typeface="Consolas"/>
                <a:ea typeface="Malgun Gothic"/>
                <a:cs typeface="Malgun Gothic"/>
              </a:rPr>
              <a:t>T_world_cam</a:t>
            </a:r>
            <a:r>
              <a:rPr sz="1050" b="0" i="0">
                <a:solidFill>
                  <a:srgbClr val="16213A"/>
                </a:solidFill>
                <a:latin typeface="Arial"/>
                <a:ea typeface="Malgun Gothic"/>
                <a:cs typeface="Malgun Gothic"/>
              </a:rPr>
              <a:t>에 넣어야 한다.</a:t>
            </a:r>
          </a:p>
        </p:txBody>
      </p:sp>
      <p:sp>
        <p:nvSpPr>
          <p:cNvPr id="8" name="TextBox 7"/>
          <p:cNvSpPr txBox="1"/>
          <p:nvPr/>
        </p:nvSpPr>
        <p:spPr>
          <a:xfrm>
            <a:off x="609600" y="27353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로봇 좌표 등속 칼만 필터.</a:t>
            </a:r>
            <a:r>
              <a:rPr sz="1050" b="0" i="0">
                <a:solidFill>
                  <a:srgbClr val="16213A"/>
                </a:solidFill>
                <a:latin typeface="Arial"/>
                <a:ea typeface="Malgun Gothic"/>
                <a:cs typeface="Malgun Gothic"/>
              </a:rPr>
              <a:t> 사람마다 상태를 odom 좌표의 위치와 속도 </a:t>
            </a:r>
            <a:r>
              <a:rPr sz="1050" b="0" i="1">
                <a:solidFill>
                  <a:srgbClr val="16213A"/>
                </a:solidFill>
                <a:latin typeface="Arial"/>
                <a:ea typeface="Malgun Gothic"/>
                <a:cs typeface="Malgun Gothic"/>
              </a:rPr>
              <a:t>x = [p, v]</a:t>
            </a:r>
            <a:r>
              <a:rPr sz="1050" b="0" i="0">
                <a:solidFill>
                  <a:srgbClr val="16213A"/>
                </a:solidFill>
                <a:latin typeface="Arial"/>
                <a:ea typeface="Malgun Gothic"/>
                <a:cs typeface="Malgun Gothic"/>
              </a:rPr>
              <a:t>로 둔다.</a:t>
            </a:r>
          </a:p>
        </p:txBody>
      </p:sp>
      <p:pic>
        <p:nvPicPr>
          <p:cNvPr id="9" name="Picture 8" descr="image.png"/>
          <p:cNvPicPr>
            <a:picLocks noChangeAspect="1"/>
          </p:cNvPicPr>
          <p:nvPr/>
        </p:nvPicPr>
        <p:blipFill>
          <a:blip r:embed="rId4"/>
          <a:stretch>
            <a:fillRect/>
          </a:stretch>
        </p:blipFill>
        <p:spPr>
          <a:xfrm>
            <a:off x="609600" y="3040757"/>
            <a:ext cx="4632325" cy="428625"/>
          </a:xfrm>
          <a:prstGeom prst="rect">
            <a:avLst/>
          </a:prstGeom>
        </p:spPr>
      </p:pic>
      <p:sp>
        <p:nvSpPr>
          <p:cNvPr id="10" name="TextBox 9"/>
          <p:cNvSpPr txBox="1"/>
          <p:nvPr/>
        </p:nvSpPr>
        <p:spPr>
          <a:xfrm>
            <a:off x="609600" y="3481685"/>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wₖ</a:t>
            </a:r>
            <a:r>
              <a:rPr sz="1050" b="0" i="0">
                <a:solidFill>
                  <a:srgbClr val="16213A"/>
                </a:solidFill>
                <a:latin typeface="Arial"/>
                <a:ea typeface="Malgun Gothic"/>
                <a:cs typeface="Malgun Gothic"/>
              </a:rPr>
              <a:t>는 가속도 잡음에서 오는 공정 잡음이다. 측정 잡음 </a:t>
            </a:r>
            <a:r>
              <a:rPr sz="1050" b="0" i="1">
                <a:solidFill>
                  <a:srgbClr val="16213A"/>
                </a:solidFill>
                <a:latin typeface="Arial"/>
                <a:ea typeface="Malgun Gothic"/>
                <a:cs typeface="Malgun Gothic"/>
              </a:rPr>
              <a:t>Rₖ</a:t>
            </a:r>
            <a:r>
              <a:rPr sz="1050" b="0" i="0">
                <a:solidFill>
                  <a:srgbClr val="16213A"/>
                </a:solidFill>
                <a:latin typeface="Arial"/>
                <a:ea typeface="Malgun Gothic"/>
                <a:cs typeface="Malgun Gothic"/>
              </a:rPr>
              <a:t>는 센서마다 다르게 둔다. LiDAR 중심은 수 cm로 작게 두고, 바닥점은 위 식처럼 </a:t>
            </a:r>
            <a:r>
              <a:rPr sz="1050" b="0" i="1">
                <a:solidFill>
                  <a:srgbClr val="16213A"/>
                </a:solidFill>
                <a:latin typeface="Arial"/>
                <a:ea typeface="Malgun Gothic"/>
                <a:cs typeface="Malgun Gothic"/>
              </a:rPr>
              <a:t>Z²</a:t>
            </a:r>
            <a:r>
              <a:rPr sz="1050" b="0" i="0">
                <a:solidFill>
                  <a:srgbClr val="16213A"/>
                </a:solidFill>
                <a:latin typeface="Arial"/>
                <a:ea typeface="Malgun Gothic"/>
                <a:cs typeface="Malgun Gothic"/>
              </a:rPr>
              <a:t>에 비례해 키운다. 트랙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와 측정 </a:t>
            </a:r>
            <a:r>
              <a:rPr sz="1050" b="0" i="1">
                <a:solidFill>
                  <a:srgbClr val="16213A"/>
                </a:solidFill>
                <a:latin typeface="Arial"/>
                <a:ea typeface="Malgun Gothic"/>
                <a:cs typeface="Malgun Gothic"/>
              </a:rPr>
              <a:t>j</a:t>
            </a:r>
            <a:r>
              <a:rPr sz="1050" b="0" i="0">
                <a:solidFill>
                  <a:srgbClr val="16213A"/>
                </a:solidFill>
                <a:latin typeface="Arial"/>
                <a:ea typeface="Malgun Gothic"/>
                <a:cs typeface="Malgun Gothic"/>
              </a:rPr>
              <a:t>의 매칭 비용은 마할라노비스 거리다.</a:t>
            </a:r>
          </a:p>
        </p:txBody>
      </p:sp>
      <p:pic>
        <p:nvPicPr>
          <p:cNvPr id="11" name="Picture 10" descr="image.png"/>
          <p:cNvPicPr>
            <a:picLocks noChangeAspect="1"/>
          </p:cNvPicPr>
          <p:nvPr/>
        </p:nvPicPr>
        <p:blipFill>
          <a:blip r:embed="rId5"/>
          <a:stretch>
            <a:fillRect/>
          </a:stretch>
        </p:blipFill>
        <p:spPr>
          <a:xfrm>
            <a:off x="609600" y="4003576"/>
            <a:ext cx="4216400" cy="247650"/>
          </a:xfrm>
          <a:prstGeom prst="rect">
            <a:avLst/>
          </a:prstGeom>
        </p:spPr>
      </p:pic>
      <p:sp>
        <p:nvSpPr>
          <p:cNvPr id="12" name="TextBox 11"/>
          <p:cNvSpPr txBox="1"/>
          <p:nvPr/>
        </p:nvSpPr>
        <p:spPr>
          <a:xfrm>
            <a:off x="609600" y="4284861"/>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d_(ij)²</a:t>
            </a:r>
            <a:r>
              <a:rPr sz="1050" b="0" i="0">
                <a:solidFill>
                  <a:srgbClr val="16213A"/>
                </a:solidFill>
                <a:latin typeface="Arial"/>
                <a:ea typeface="Malgun Gothic"/>
                <a:cs typeface="Malgun Gothic"/>
              </a:rPr>
              <a:t>가 카이제곱 문턱(자유도 2, 99%에서 9.21)을 넘는 짝은 버리고, 나머지를 헝가리안 알고리즘으로 푼다. 불확실한 측정일수록 넓게 받아 주므로, 멀고 부정확한 카메라 측정과 가깝고 정확한 LiDAR 측정을 한 추적기에서 함께 쓸 수 있다. CenterPoint식 매칭은 이 가운데 예측 단계를 네트워크의 속도 출력으로 바꾼 것이다: </a:t>
            </a:r>
            <a:r>
              <a:rPr sz="1050" b="0" i="1">
                <a:solidFill>
                  <a:srgbClr val="16213A"/>
                </a:solidFill>
                <a:latin typeface="Arial"/>
                <a:ea typeface="Malgun Gothic"/>
                <a:cs typeface="Malgun Gothic"/>
              </a:rPr>
              <a:t>p̂ₖ₋₁ = pₖ - vₖ Δ t</a:t>
            </a:r>
            <a:r>
              <a:rPr sz="1050" b="0" i="0">
                <a:solidFill>
                  <a:srgbClr val="16213A"/>
                </a:solidFill>
                <a:latin typeface="Arial"/>
                <a:ea typeface="Malgun Gothic"/>
                <a:cs typeface="Malgun Gothic"/>
              </a:rPr>
              <a:t>.</a:t>
            </a:r>
          </a:p>
        </p:txBody>
      </p:sp>
      <p:sp>
        <p:nvSpPr>
          <p:cNvPr id="13" name="TextBox 12"/>
          <p:cNvSpPr txBox="1"/>
          <p:nvPr/>
        </p:nvSpPr>
        <p:spPr>
          <a:xfrm>
            <a:off x="609600" y="480675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odom 좌표에서 추적하면 로봇 회전이 매칭에 영향을 주지 않는다. 영상 기준 추적에서 BoT-SORT가 광류로 풀던 카메라 움직임 문제(A.12.2)가 좌표 변환 하나로 사라진다. 칼만 공분산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의 위치 블록은 </a:t>
            </a:r>
            <a:r>
              <a:rPr sz="1050" b="0" i="0">
                <a:solidFill>
                  <a:srgbClr val="16213A"/>
                </a:solidFill>
                <a:latin typeface="Consolas"/>
                <a:ea typeface="Malgun Gothic"/>
                <a:cs typeface="Malgun Gothic"/>
              </a:rPr>
              <a:t>DynamicObstacles</a:t>
            </a:r>
            <a:r>
              <a:rPr sz="1050" b="0" i="0">
                <a:solidFill>
                  <a:srgbClr val="16213A"/>
                </a:solidFill>
                <a:latin typeface="Arial"/>
                <a:ea typeface="Malgun Gothic"/>
                <a:cs typeface="Malgun Gothic"/>
              </a:rPr>
              <a:t>의 반경과 </a:t>
            </a:r>
            <a:r>
              <a:rPr sz="1050" b="0" i="0">
                <a:solidFill>
                  <a:srgbClr val="16213A"/>
                </a:solidFill>
                <a:latin typeface="Consolas"/>
                <a:ea typeface="Malgun Gothic"/>
                <a:cs typeface="Malgun Gothic"/>
              </a:rPr>
              <a:t>sigma_growth</a:t>
            </a:r>
            <a:r>
              <a:rPr sz="1050" b="0" i="0">
                <a:solidFill>
                  <a:srgbClr val="16213A"/>
                </a:solidFill>
                <a:latin typeface="Arial"/>
                <a:ea typeface="Malgun Gothic"/>
                <a:cs typeface="Malgun Gothic"/>
              </a:rPr>
              <a:t>를 정하는 근거가 된다.</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214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추적과 예측을 영상 평면에서 로봇 좌표(odom)로 옮긴다. 검출은 카메라가 맡고, 거리는 LiDAR가 잰다.</a:t>
            </a:r>
          </a:p>
        </p:txBody>
      </p:sp>
      <p:sp>
        <p:nvSpPr>
          <p:cNvPr id="6" name="TextBox 5"/>
          <p:cNvSpPr txBox="1"/>
          <p:nvPr/>
        </p:nvSpPr>
        <p:spPr>
          <a:xfrm>
            <a:off x="609600" y="1549995"/>
            <a:ext cx="10972800" cy="13497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물체 단위(먼저).</a:t>
            </a:r>
            <a:r>
              <a:rPr sz="1050" b="0" i="0">
                <a:solidFill>
                  <a:srgbClr val="16213A"/>
                </a:solidFill>
                <a:latin typeface="Arial"/>
                <a:ea typeface="Malgun Gothic"/>
                <a:cs typeface="Malgun Gothic"/>
              </a:rPr>
              <a:t> LiDAR를 0.8 m에 다는 구성(TP-0009)에서는 카메라 상자에 투영되는 LiDAR 점들로 사람의 3D 중심을 구한다. 바닥점 변환(</a:t>
            </a:r>
            <a:r>
              <a:rPr sz="1050" b="0" i="0">
                <a:solidFill>
                  <a:srgbClr val="16213A"/>
                </a:solidFill>
                <a:latin typeface="Consolas"/>
                <a:ea typeface="Malgun Gothic"/>
                <a:cs typeface="Malgun Gothic"/>
              </a:rPr>
              <a:t>bbox_to_ground_xy</a:t>
            </a:r>
            <a:r>
              <a:rPr sz="1050" b="0" i="0">
                <a:solidFill>
                  <a:srgbClr val="16213A"/>
                </a:solidFill>
                <a:latin typeface="Arial"/>
                <a:ea typeface="Malgun Gothic"/>
                <a:cs typeface="Malgun Gothic"/>
              </a:rPr>
              <a:t>)은 LiDAR가 없는 구간의 폴백으로 남긴다. 추적은 odom 좌표 등속 칼만 필터와 마할라노비스 헝가리안으로 하고, 출력은 지금과 같은 </a:t>
            </a:r>
            <a:r>
              <a:rPr sz="1050" b="0" i="0">
                <a:solidFill>
                  <a:srgbClr val="16213A"/>
                </a:solidFill>
                <a:latin typeface="Consolas"/>
                <a:ea typeface="Malgun Gothic"/>
                <a:cs typeface="Malgun Gothic"/>
              </a:rPr>
              <a:t>DynamicObstacles</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PedestrianHistory</a:t>
            </a:r>
            <a:r>
              <a:rPr sz="1050" b="0" i="0">
                <a:solidFill>
                  <a:srgbClr val="16213A"/>
                </a:solidFill>
                <a:latin typeface="Arial"/>
                <a:ea typeface="Malgun Gothic"/>
                <a:cs typeface="Malgun Gothic"/>
              </a:rPr>
              <a:t>다. 운동학 시뮬에서는 TP-0053의 합성 LiDAR에 보행자 원기둥을 넣어 같은 파이프라인을 시험할 수 있다.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클래스 없는 백업.</a:t>
            </a:r>
            <a:r>
              <a:rPr sz="1050" b="0" i="0">
                <a:solidFill>
                  <a:srgbClr val="16213A"/>
                </a:solidFill>
                <a:latin typeface="Arial"/>
                <a:ea typeface="Malgun Gothic"/>
                <a:cs typeface="Malgun Gothic"/>
              </a:rPr>
              <a:t> M-detector·Dynablox식 가림 판정을 elevation mapping과 같은 광선 위에 얹는다. 사람 검출기가 놓친 움직이는 것을 잡고, 지나간 사람이 높이 지도에 벽으로 남는 것도 막는다. M-detector(GPL-2.0)와 DR-SPAAM(GPL-3.0)은 코드 대신 원리만 가져온다.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칸 단위 예측(나중).</a:t>
            </a:r>
            <a:r>
              <a:rPr sz="1050" b="0" i="0">
                <a:solidFill>
                  <a:srgbClr val="16213A"/>
                </a:solidFill>
                <a:latin typeface="Arial"/>
                <a:ea typeface="Malgun Gothic"/>
                <a:cs typeface="Malgun Gothic"/>
              </a:rPr>
              <a:t> MotionNet·UnO식 BEV 예측을 TravMap 격자의 시간 축으로 둔다. UnO처럼 광선만으로 학습하면 사람 라벨이 필요 없고, TravNet 자기지도(TP-0022)와 방향이 같다.</a:t>
            </a:r>
          </a:p>
        </p:txBody>
      </p:sp>
      <p:sp>
        <p:nvSpPr>
          <p:cNvPr id="7" name="TextBox 6"/>
          <p:cNvSpPr txBox="1"/>
          <p:nvPr/>
        </p:nvSpPr>
        <p:spPr>
          <a:xfrm>
            <a:off x="609600" y="2988667"/>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평가는 ADE보다 폐루프 지표로 한다. Stratton 등이 보였듯 ADE는 내비게이션 성능을 대변하지 못한다. travplan에서는 Planner 혼자 피해야 하는 +tracker 조합(TP-0049)의 충돌 수와 최소 여유 거리가 그 지표다.</a:t>
            </a:r>
          </a:p>
        </p:txBody>
      </p:sp>
      <p:sp>
        <p:nvSpPr>
          <p:cNvPr id="8" name="TextBox 7"/>
          <p:cNvSpPr txBox="1"/>
          <p:nvPr/>
        </p:nvSpPr>
        <p:spPr>
          <a:xfrm>
            <a:off x="717550" y="3510558"/>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A.12.5 예측을 주행으로 잇는 법 — 양보와 가감속은 어디서 나오나</a:t>
            </a:r>
          </a:p>
        </p:txBody>
      </p:sp>
      <p:sp>
        <p:nvSpPr>
          <p:cNvPr id="9" name="TextBox 8"/>
          <p:cNvSpPr txBox="1"/>
          <p:nvPr/>
        </p:nvSpPr>
        <p:spPr>
          <a:xfrm>
            <a:off x="609600" y="381377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A.12.1–A.12.4는 </a:t>
            </a:r>
            <a:r>
              <a:rPr sz="1050" b="1" i="0">
                <a:solidFill>
                  <a:srgbClr val="16213A"/>
                </a:solidFill>
                <a:latin typeface="Arial"/>
                <a:ea typeface="Malgun Gothic"/>
                <a:cs typeface="Malgun Gothic"/>
              </a:rPr>
              <a:t>누가 어디로 갈 것인가</a:t>
            </a:r>
            <a:r>
              <a:rPr sz="1050" b="0" i="0">
                <a:solidFill>
                  <a:srgbClr val="16213A"/>
                </a:solidFill>
                <a:latin typeface="Arial"/>
                <a:ea typeface="Malgun Gothic"/>
                <a:cs typeface="Malgun Gothic"/>
              </a:rPr>
              <a:t>까지다. 이 절은 그 예측이 </a:t>
            </a:r>
            <a:r>
              <a:rPr sz="1050" b="1" i="0">
                <a:solidFill>
                  <a:srgbClr val="16213A"/>
                </a:solidFill>
                <a:latin typeface="Arial"/>
                <a:ea typeface="Malgun Gothic"/>
                <a:cs typeface="Malgun Gothic"/>
              </a:rPr>
              <a:t>바퀴의 속도</a:t>
            </a:r>
            <a:r>
              <a:rPr sz="1050" b="0" i="0">
                <a:solidFill>
                  <a:srgbClr val="16213A"/>
                </a:solidFill>
                <a:latin typeface="Arial"/>
                <a:ea typeface="Malgun Gothic"/>
                <a:cs typeface="Malgun Gothic"/>
              </a:rPr>
              <a:t>가 되는 자리를 다룬다. </a:t>
            </a:r>
            <a:r>
              <a:rPr sz="1050" b="1" i="0">
                <a:solidFill>
                  <a:srgbClr val="C2410C"/>
                </a:solidFill>
                <a:latin typeface="Arial"/>
                <a:ea typeface="Malgun Gothic"/>
                <a:cs typeface="Malgun Gothic"/>
              </a:rPr>
              <a:t>동적 장애물을 정적 장애물처럼 지도에 구우면 연속적인 양보는 원리적으로 불가능하다.</a:t>
            </a:r>
            <a:r>
              <a:rPr sz="1050" b="0" i="0">
                <a:solidFill>
                  <a:srgbClr val="16213A"/>
                </a:solidFill>
                <a:latin typeface="Arial"/>
                <a:ea typeface="Malgun Gothic"/>
                <a:cs typeface="Malgun Gothic"/>
              </a:rPr>
              <a:t> 칠해진 칸은 "지금 막혔다"만 말하는데, 양보는 "</a:t>
            </a:r>
            <a:r>
              <a:rPr sz="1050" b="1" i="0">
                <a:solidFill>
                  <a:srgbClr val="16213A"/>
                </a:solidFill>
                <a:latin typeface="Arial"/>
                <a:ea typeface="Malgun Gothic"/>
                <a:cs typeface="Malgun Gothic"/>
              </a:rPr>
              <a:t>언제</a:t>
            </a:r>
            <a:r>
              <a:rPr sz="1050" b="0" i="0">
                <a:solidFill>
                  <a:srgbClr val="16213A"/>
                </a:solidFill>
                <a:latin typeface="Arial"/>
                <a:ea typeface="Malgun Gothic"/>
                <a:cs typeface="Malgun Gothic"/>
              </a:rPr>
              <a:t> 거기 있을 것인가"에 대한 답이기 때문이다.</a:t>
            </a:r>
          </a:p>
        </p:txBody>
      </p:sp>
      <p:sp>
        <p:nvSpPr>
          <p:cNvPr id="10" name="TextBox 9"/>
          <p:cNvSpPr txBox="1"/>
          <p:nvPr/>
        </p:nvSpPr>
        <p:spPr>
          <a:xfrm>
            <a:off x="609600" y="433566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실제로 쓰이는 기제는 셋뿐이고, </a:t>
            </a:r>
            <a:r>
              <a:rPr sz="1050" b="1" i="0">
                <a:solidFill>
                  <a:srgbClr val="C2410C"/>
                </a:solidFill>
                <a:latin typeface="Arial"/>
                <a:ea typeface="Malgun Gothic"/>
                <a:cs typeface="Malgun Gothic"/>
              </a:rPr>
              <a:t>연속적이면서 예측을 쓰는 것은 하나뿐이다.</a:t>
            </a:r>
          </a:p>
        </p:txBody>
      </p:sp>
      <p:graphicFrame>
        <p:nvGraphicFramePr>
          <p:cNvPr id="11" name="Table 10"/>
          <p:cNvGraphicFramePr>
            <a:graphicFrameLocks noGrp="1"/>
          </p:cNvGraphicFramePr>
          <p:nvPr/>
        </p:nvGraphicFramePr>
        <p:xfrm>
          <a:off x="609600" y="4641056"/>
          <a:ext cx="10966450" cy="788352"/>
        </p:xfrm>
        <a:graphic>
          <a:graphicData uri="http://schemas.openxmlformats.org/drawingml/2006/table">
            <a:tbl>
              <a:tblPr firstRow="1" bandRow="1">
                <a:tableStyleId>{5C22544A-7EE6-4342-B048-85BDC9FD1C3A}</a:tableStyleId>
              </a:tblPr>
              <a:tblGrid>
                <a:gridCol w="2876649"/>
                <a:gridCol w="1718667"/>
                <a:gridCol w="2222302"/>
                <a:gridCol w="4148832"/>
              </a:tblGrid>
              <a:tr h="197088">
                <a:tc>
                  <a:txBody>
                    <a:bodyPr wrap="square"/>
                    <a:lstStyle/>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연속적인 속도 조절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예측(속도·시간)을 쓰나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 구현</a:t>
                      </a:r>
                    </a:p>
                  </a:txBody>
                  <a:tcPr marL="63500" marR="63500" marT="12700" marB="12700">
                    <a:solidFill>
                      <a:srgbClr val="16213A"/>
                    </a:solidFill>
                  </a:tcPr>
                </a:tc>
              </a:tr>
              <a:tr h="197088">
                <a:tc>
                  <a:txBody>
                    <a:bodyPr wrap="square"/>
                    <a:lstStyle/>
                    <a:p>
                      <a:r>
                        <a:rPr sz="800" b="1" i="0">
                          <a:solidFill>
                            <a:srgbClr val="16213A"/>
                          </a:solidFill>
                          <a:latin typeface="Arial"/>
                          <a:ea typeface="Malgun Gothic"/>
                          <a:cs typeface="Malgun Gothic"/>
                        </a:rPr>
                        <a:t>A. 근접도 기반 속도 스케일링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costmap inflation → RPP 속도 이득</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B. 구역·전방투영 안전 필터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부분적(</a:t>
                      </a:r>
                      <a:r>
                        <a:rPr sz="800" b="0" i="0">
                          <a:solidFill>
                            <a:srgbClr val="16213A"/>
                          </a:solidFill>
                          <a:latin typeface="Consolas"/>
                          <a:ea typeface="Malgun Gothic"/>
                          <a:cs typeface="Malgun Gothic"/>
                        </a:rPr>
                        <a:t>approach</a:t>
                      </a:r>
                      <a:r>
                        <a:rPr sz="800" b="0" i="0">
                          <a:solidFill>
                            <a:srgbClr val="16213A"/>
                          </a:solidFill>
                          <a:latin typeface="Arial"/>
                          <a:ea typeface="Malgun Gothic"/>
                          <a:cs typeface="Malgun Gothic"/>
                        </a:rPr>
                        <a:t>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장애물을 </a:t>
                      </a:r>
                      <a:r>
                        <a:rPr sz="800" b="1" i="0">
                          <a:solidFill>
                            <a:srgbClr val="16213A"/>
                          </a:solidFill>
                          <a:latin typeface="Arial"/>
                          <a:ea typeface="Malgun Gothic"/>
                          <a:cs typeface="Malgun Gothic"/>
                        </a:rPr>
                        <a:t>정지 상태로 가정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Nav2 Collision Monitor, 안전 라이다</a:t>
                      </a:r>
                    </a:p>
                  </a:txBody>
                  <a:tcPr marL="63500" marR="63500" marT="12700" marB="12700">
                    <a:solidFill>
                      <a:srgbClr val="F3F0E8"/>
                    </a:solidFill>
                  </a:tcPr>
                </a:tc>
              </a:tr>
              <a:tr h="197088">
                <a:tc>
                  <a:txBody>
                    <a:bodyPr wrap="square"/>
                    <a:lstStyle/>
                    <a:p>
                      <a:r>
                        <a:rPr sz="800" b="1" i="0">
                          <a:solidFill>
                            <a:srgbClr val="C2410C"/>
                          </a:solidFill>
                          <a:latin typeface="Arial"/>
                          <a:ea typeface="Malgun Gothic"/>
                          <a:cs typeface="Malgun Gothic"/>
                        </a:rPr>
                        <a:t>C. 시간 인덱스 예측을 롤아웃 비용 안에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Apollo ST 그래프, 소셜 MPC/MPPI, travplan </a:t>
                      </a:r>
                      <a:r>
                        <a:rPr sz="800" b="0" i="0">
                          <a:solidFill>
                            <a:srgbClr val="16213A"/>
                          </a:solidFill>
                          <a:latin typeface="Consolas"/>
                          <a:ea typeface="Malgun Gothic"/>
                          <a:cs typeface="Malgun Gothic"/>
                        </a:rPr>
                        <a:t>RiskCost</a:t>
                      </a:r>
                    </a:p>
                  </a:txBody>
                  <a:tcPr marL="63500" marR="63500" marT="12700" marB="12700">
                    <a:solidFill>
                      <a:srgbClr val="FFFDF8"/>
                    </a:solidFill>
                  </a:tcPr>
                </a:tc>
              </a:tr>
            </a:tbl>
          </a:graphicData>
        </a:graphic>
      </p:graphicFrame>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215 / 359</a:t>
            </a:r>
          </a:p>
        </p:txBody>
      </p:sp>
      <p:sp>
        <p:nvSpPr>
          <p:cNvPr id="5" name="TextBox 4"/>
          <p:cNvSpPr txBox="1"/>
          <p:nvPr/>
        </p:nvSpPr>
        <p:spPr>
          <a:xfrm>
            <a:off x="609600" y="1244600"/>
            <a:ext cx="10972800" cy="188516"/>
          </a:xfrm>
          <a:prstGeom prst="rect">
            <a:avLst/>
          </a:prstGeom>
          <a:noFill/>
        </p:spPr>
        <p:txBody>
          <a:bodyPr wrap="square" lIns="0" rIns="0" tIns="0" bIns="0" anchor="t">
            <a:spAutoFit/>
            <a:normAutofit/>
          </a:bodyPr>
          <a:lstStyle/>
          <a:p>
            <a:r>
              <a:rPr sz="1050" b="1" i="0">
                <a:solidFill>
                  <a:srgbClr val="5A6478"/>
                </a:solidFill>
                <a:latin typeface="Arial"/>
                <a:ea typeface="Malgun Gothic"/>
                <a:cs typeface="Malgun Gothic"/>
              </a:rPr>
              <a:t>자동차: 경로-속도 분해와 ST 그래프</a:t>
            </a:r>
          </a:p>
        </p:txBody>
      </p:sp>
      <p:sp>
        <p:nvSpPr>
          <p:cNvPr id="6" name="TextBox 5"/>
          <p:cNvSpPr txBox="1"/>
          <p:nvPr/>
        </p:nvSpPr>
        <p:spPr>
          <a:xfrm>
            <a:off x="609600" y="152201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어디로 갈지(경로)를 먼저 고정하고, 그 경로를 얼마나 빨리 지날지(속도 프로파일)를 따로 푼다.</a:t>
            </a:r>
            <a:r>
              <a:rPr sz="1050" b="0" i="0">
                <a:solidFill>
                  <a:srgbClr val="16213A"/>
                </a:solidFill>
                <a:latin typeface="Arial"/>
                <a:ea typeface="Malgun Gothic"/>
                <a:cs typeface="Malgun Gothic"/>
              </a:rPr>
              <a:t> 그러면 동적 장애물은 </a:t>
            </a:r>
            <a:r>
              <a:rPr sz="1050" b="0" i="0">
                <a:solidFill>
                  <a:srgbClr val="16213A"/>
                </a:solidFill>
                <a:latin typeface="Consolas"/>
                <a:ea typeface="Malgun Gothic"/>
                <a:cs typeface="Malgun Gothic"/>
              </a:rPr>
              <a:t>(경로상 거리 s, 시간 t)</a:t>
            </a:r>
            <a:r>
              <a:rPr sz="1050" b="0" i="0">
                <a:solidFill>
                  <a:srgbClr val="16213A"/>
                </a:solidFill>
                <a:latin typeface="Arial"/>
                <a:ea typeface="Malgun Gothic"/>
                <a:cs typeface="Malgun Gothic"/>
              </a:rPr>
              <a:t> 평면의 </a:t>
            </a:r>
            <a:r>
              <a:rPr sz="1050" b="1" i="0">
                <a:solidFill>
                  <a:srgbClr val="16213A"/>
                </a:solidFill>
                <a:latin typeface="Arial"/>
                <a:ea typeface="Malgun Gothic"/>
                <a:cs typeface="Malgun Gothic"/>
              </a:rPr>
              <a:t>막힌 영역</a:t>
            </a:r>
            <a:r>
              <a:rPr sz="1050" b="0" i="0">
                <a:solidFill>
                  <a:srgbClr val="16213A"/>
                </a:solidFill>
                <a:latin typeface="Arial"/>
                <a:ea typeface="Malgun Gothic"/>
                <a:cs typeface="Malgun Gothic"/>
              </a:rPr>
              <a:t>이 되고, </a:t>
            </a:r>
            <a:r>
              <a:rPr sz="1050" b="1" i="0">
                <a:solidFill>
                  <a:srgbClr val="C2410C"/>
                </a:solidFill>
                <a:latin typeface="Arial"/>
                <a:ea typeface="Malgun Gothic"/>
                <a:cs typeface="Malgun Gothic"/>
              </a:rPr>
              <a:t>그 영역 </a:t>
            </a:r>
            <a:r>
              <a:rPr sz="1050" b="1" i="0">
                <a:solidFill>
                  <a:srgbClr val="C2410C"/>
                </a:solidFill>
                <a:latin typeface="Arial"/>
                <a:ea typeface="Malgun Gothic"/>
                <a:cs typeface="Malgun Gothic"/>
              </a:rPr>
              <a:t>아래</a:t>
            </a:r>
            <a:r>
              <a:rPr sz="1050" b="1" i="0">
                <a:solidFill>
                  <a:srgbClr val="C2410C"/>
                </a:solidFill>
                <a:latin typeface="Arial"/>
                <a:ea typeface="Malgun Gothic"/>
                <a:cs typeface="Malgun Gothic"/>
              </a:rPr>
              <a:t>로 지나가면 양보, </a:t>
            </a:r>
            <a:r>
              <a:rPr sz="1050" b="1" i="0">
                <a:solidFill>
                  <a:srgbClr val="C2410C"/>
                </a:solidFill>
                <a:latin typeface="Arial"/>
                <a:ea typeface="Malgun Gothic"/>
                <a:cs typeface="Malgun Gothic"/>
              </a:rPr>
              <a:t>위</a:t>
            </a:r>
            <a:r>
              <a:rPr sz="1050" b="1" i="0">
                <a:solidFill>
                  <a:srgbClr val="C2410C"/>
                </a:solidFill>
                <a:latin typeface="Arial"/>
                <a:ea typeface="Malgun Gothic"/>
                <a:cs typeface="Malgun Gothic"/>
              </a:rPr>
              <a:t>로 지나가면 선행이다.</a:t>
            </a:r>
            <a:r>
              <a:rPr sz="1050" b="0" i="0">
                <a:solidFill>
                  <a:srgbClr val="16213A"/>
                </a:solidFill>
                <a:latin typeface="Arial"/>
                <a:ea typeface="Malgun Gothic"/>
                <a:cs typeface="Malgun Gothic"/>
              </a:rPr>
              <a:t> 양보/추월이라는 이산 결정이 "ST 평면에서 어느 쪽으로 비켜 가느냐"라는 기하 문제가 된다.</a:t>
            </a:r>
          </a:p>
        </p:txBody>
      </p:sp>
      <p:sp>
        <p:nvSpPr>
          <p:cNvPr id="7" name="TextBox 6"/>
          <p:cNvSpPr txBox="1"/>
          <p:nvPr/>
        </p:nvSpPr>
        <p:spPr>
          <a:xfrm>
            <a:off x="609600" y="204390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Apollo 현행 소스(</a:t>
            </a:r>
            <a:r>
              <a:rPr sz="1050" b="0" i="0">
                <a:solidFill>
                  <a:srgbClr val="16213A"/>
                </a:solidFill>
                <a:latin typeface="Consolas"/>
                <a:ea typeface="Malgun Gothic"/>
                <a:cs typeface="Malgun Gothic"/>
              </a:rPr>
              <a:t>modules/planning/tasks/</a:t>
            </a:r>
            <a:r>
              <a:rPr sz="1050" b="0" i="0">
                <a:solidFill>
                  <a:srgbClr val="16213A"/>
                </a:solidFill>
                <a:latin typeface="Arial"/>
                <a:ea typeface="Malgun Gothic"/>
                <a:cs typeface="Malgun Gothic"/>
              </a:rPr>
              <a:t>)에 이 단계가 그대로 있다. </a:t>
            </a:r>
            <a:r>
              <a:rPr sz="1050" b="1" i="0">
                <a:solidFill>
                  <a:srgbClr val="16213A"/>
                </a:solidFill>
                <a:latin typeface="Arial"/>
                <a:ea typeface="Malgun Gothic"/>
                <a:cs typeface="Malgun Gothic"/>
              </a:rPr>
              <a:t>2026-09-30에 직접 확인했다.</a:t>
            </a:r>
          </a:p>
        </p:txBody>
      </p:sp>
      <p:graphicFrame>
        <p:nvGraphicFramePr>
          <p:cNvPr id="8" name="Table 7"/>
          <p:cNvGraphicFramePr>
            <a:graphicFrameLocks noGrp="1"/>
          </p:cNvGraphicFramePr>
          <p:nvPr/>
        </p:nvGraphicFramePr>
        <p:xfrm>
          <a:off x="609600" y="2349302"/>
          <a:ext cx="10966450" cy="985440"/>
        </p:xfrm>
        <a:graphic>
          <a:graphicData uri="http://schemas.openxmlformats.org/drawingml/2006/table">
            <a:tbl>
              <a:tblPr firstRow="1" bandRow="1">
                <a:tableStyleId>{5C22544A-7EE6-4342-B048-85BDC9FD1C3A}</a:tableStyleId>
              </a:tblPr>
              <a:tblGrid>
                <a:gridCol w="1134368"/>
                <a:gridCol w="4913213"/>
                <a:gridCol w="4918869"/>
              </a:tblGrid>
              <a:tr h="197088">
                <a:tc>
                  <a:txBody>
                    <a:bodyPr wrap="square"/>
                    <a:lstStyle/>
                    <a:p>
                      <a:r>
                        <a:rPr sz="800" b="1" i="0">
                          <a:solidFill>
                            <a:srgbClr val="F4F1EA"/>
                          </a:solidFill>
                          <a:latin typeface="Arial"/>
                          <a:ea typeface="Malgun Gothic"/>
                          <a:cs typeface="Malgun Gothic"/>
                        </a:rPr>
                        <a:t>단계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모듈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하는 일</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① ST 경계 생성</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st_bounds_decider</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speed_bounds_decider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예측 궤적 → </a:t>
                      </a:r>
                      <a:r>
                        <a:rPr sz="800" b="0" i="0">
                          <a:solidFill>
                            <a:srgbClr val="16213A"/>
                          </a:solidFill>
                          <a:latin typeface="Consolas"/>
                          <a:ea typeface="Malgun Gothic"/>
                          <a:cs typeface="Malgun Gothic"/>
                        </a:rPr>
                        <a:t>STBoundary</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planning_base/common/speed/st_boundary.h</a:t>
                      </a:r>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② 이산 결정</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speed_decider</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obstacle_nudge_decider</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rule_based_stop_decider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장애물별 양보/추월/추종/정지</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③ 거친 탐색</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path_time_heuristic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ST 격자 위 DP</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④ </a:t>
                      </a:r>
                      <a:r>
                        <a:rPr sz="800" b="1" i="0">
                          <a:solidFill>
                            <a:srgbClr val="C2410C"/>
                          </a:solidFill>
                          <a:latin typeface="Arial"/>
                          <a:ea typeface="Malgun Gothic"/>
                          <a:cs typeface="Malgun Gothic"/>
                        </a:rPr>
                        <a:t>연속 평활화</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piecewise_jerk_speed</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piecewise_jerk_speed_nonlinear</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저크 제한 QP → 부드러운 가감속</a:t>
                      </a:r>
                    </a:p>
                  </a:txBody>
                  <a:tcPr marL="63500" marR="63500" marT="12700" marB="12700">
                    <a:solidFill>
                      <a:srgbClr val="F3F0E8"/>
                    </a:solidFill>
                  </a:tcPr>
                </a:tc>
              </a:tr>
            </a:tbl>
          </a:graphicData>
        </a:graphic>
      </p:graphicFrame>
      <p:sp>
        <p:nvSpPr>
          <p:cNvPr id="9" name="TextBox 8"/>
          <p:cNvSpPr txBox="1"/>
          <p:nvPr/>
        </p:nvSpPr>
        <p:spPr>
          <a:xfrm>
            <a:off x="609600" y="3676352"/>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연속성이 나오는 자리는 ④다.</a:t>
            </a:r>
            <a:r>
              <a:rPr sz="1050" b="0" i="0">
                <a:solidFill>
                  <a:srgbClr val="16213A"/>
                </a:solidFill>
                <a:latin typeface="Arial"/>
                <a:ea typeface="Malgun Gothic"/>
                <a:cs typeface="Malgun Gothic"/>
              </a:rPr>
              <a:t> 속도 프로파일 자체가 최적화 변수이고 저크가 제약이라, 해가 곧 미분 가능한 속도 곡선이다. 보행자가 조금 가까워지면 ST 경계가 조금 올라오고 속도 곡선이 조금 눌린다. 그게 "연속적인 양보"의 정체다. 참고로 ②가 자주 뒤집히면 </a:t>
            </a:r>
            <a:r>
              <a:rPr sz="1050" b="1" i="0">
                <a:solidFill>
                  <a:srgbClr val="16213A"/>
                </a:solidFill>
                <a:latin typeface="Arial"/>
                <a:ea typeface="Malgun Gothic"/>
                <a:cs typeface="Malgun Gothic"/>
              </a:rPr>
              <a:t>결정 떨림(decision chattering)</a:t>
            </a:r>
            <a:r>
              <a:rPr sz="1050" b="0" i="0">
                <a:solidFill>
                  <a:srgbClr val="16213A"/>
                </a:solidFill>
                <a:latin typeface="Arial"/>
                <a:ea typeface="Malgun Gothic"/>
                <a:cs typeface="Malgun Gothic"/>
              </a:rPr>
              <a:t>이 되어 급가감속으로 나타난다.</a:t>
            </a:r>
          </a:p>
        </p:txBody>
      </p:sp>
      <p:sp>
        <p:nvSpPr>
          <p:cNvPr id="10" name="TextBox 9"/>
          <p:cNvSpPr txBox="1"/>
          <p:nvPr/>
        </p:nvSpPr>
        <p:spPr>
          <a:xfrm>
            <a:off x="609600" y="419824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그런데 양산 스택 셋이 이 문제를 서로 다르게 푼다. 어느 쪽인지 구분하는 것이 이 절에서 가장 쓸모 있다.</a:t>
            </a:r>
          </a:p>
        </p:txBody>
      </p:sp>
      <p:graphicFrame>
        <p:nvGraphicFramePr>
          <p:cNvPr id="11" name="Table 10"/>
          <p:cNvGraphicFramePr>
            <a:graphicFrameLocks noGrp="1"/>
          </p:cNvGraphicFramePr>
          <p:nvPr/>
        </p:nvGraphicFramePr>
        <p:xfrm>
          <a:off x="609600" y="4503638"/>
          <a:ext cx="10966450" cy="1151016"/>
        </p:xfrm>
        <a:graphic>
          <a:graphicData uri="http://schemas.openxmlformats.org/drawingml/2006/table">
            <a:tbl>
              <a:tblPr firstRow="1" bandRow="1">
                <a:tableStyleId>{5C22544A-7EE6-4342-B048-85BDC9FD1C3A}</a:tableStyleId>
              </a:tblPr>
              <a:tblGrid>
                <a:gridCol w="644029"/>
                <a:gridCol w="6600428"/>
                <a:gridCol w="3721993"/>
              </a:tblGrid>
              <a:tr h="197088">
                <a:tc>
                  <a:txBody>
                    <a:bodyPr wrap="square"/>
                    <a:lstStyle/>
                    <a:p>
                      <a:r>
                        <a:rPr sz="800" b="1" i="0">
                          <a:solidFill>
                            <a:srgbClr val="F4F1EA"/>
                          </a:solidFill>
                          <a:latin typeface="Arial"/>
                          <a:ea typeface="Malgun Gothic"/>
                          <a:cs typeface="Malgun Gothic"/>
                        </a:rPr>
                        <a:t>스택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이산 결정(양보/추월)이 사는 곳</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연속 가감속을 만드는 것</a:t>
                      </a:r>
                    </a:p>
                  </a:txBody>
                  <a:tcPr marL="63500" marR="63500" marT="12700" marB="12700">
                    <a:solidFill>
                      <a:srgbClr val="16213A"/>
                    </a:solidFill>
                  </a:tcPr>
                </a:tc>
              </a:tr>
              <a:tr h="317976">
                <a:tc>
                  <a:txBody>
                    <a:bodyPr wrap="square"/>
                    <a:lstStyle/>
                    <a:p>
                      <a:r>
                        <a:rPr sz="800" b="1" i="0">
                          <a:solidFill>
                            <a:srgbClr val="16213A"/>
                          </a:solidFill>
                          <a:latin typeface="Arial"/>
                          <a:ea typeface="Malgun Gothic"/>
                          <a:cs typeface="Malgun Gothic"/>
                        </a:rPr>
                        <a:t>Apollo</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SpeedDecider</a:t>
                      </a:r>
                      <a:r>
                        <a:rPr sz="800" b="0" i="0">
                          <a:solidFill>
                            <a:srgbClr val="16213A"/>
                          </a:solidFill>
                          <a:latin typeface="Arial"/>
                          <a:ea typeface="Malgun Gothic"/>
                          <a:cs typeface="Malgun Gothic"/>
                        </a:rPr>
                        <a:t>가 DP 프로파일을 읽고 ST 경계마다 </a:t>
                      </a:r>
                      <a:r>
                        <a:rPr sz="800" b="0" i="0">
                          <a:solidFill>
                            <a:srgbClr val="16213A"/>
                          </a:solidFill>
                          <a:latin typeface="Consolas"/>
                          <a:ea typeface="Malgun Gothic"/>
                          <a:cs typeface="Malgun Gothic"/>
                        </a:rPr>
                        <a:t>STOP/FOLLOW/YIELD/OVERTAKE</a:t>
                      </a:r>
                      <a:r>
                        <a:rPr sz="800" b="0" i="0">
                          <a:solidFill>
                            <a:srgbClr val="16213A"/>
                          </a:solidFill>
                          <a:latin typeface="Arial"/>
                          <a:ea typeface="Malgun Gothic"/>
                          <a:cs typeface="Malgun Gothic"/>
                        </a:rPr>
                        <a:t> 라벨</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라벨이 그 경계를 </a:t>
                      </a:r>
                      <a:r>
                        <a:rPr sz="800" b="1" i="1">
                          <a:solidFill>
                            <a:srgbClr val="C2410C"/>
                          </a:solidFill>
                          <a:latin typeface="Arial"/>
                          <a:ea typeface="Malgun Gothic"/>
                          <a:cs typeface="Malgun Gothic"/>
                        </a:rPr>
                        <a:t>s</a:t>
                      </a:r>
                      <a:r>
                        <a:rPr sz="800" b="1" i="0">
                          <a:solidFill>
                            <a:srgbClr val="C2410C"/>
                          </a:solidFill>
                          <a:latin typeface="Arial"/>
                          <a:ea typeface="Malgun Gothic"/>
                          <a:cs typeface="Malgun Gothic"/>
                        </a:rPr>
                        <a:t>의 </a:t>
                      </a:r>
                      <a:r>
                        <a:rPr sz="800" b="1" i="0">
                          <a:solidFill>
                            <a:srgbClr val="C2410C"/>
                          </a:solidFill>
                          <a:latin typeface="Arial"/>
                          <a:ea typeface="Malgun Gothic"/>
                          <a:cs typeface="Malgun Gothic"/>
                        </a:rPr>
                        <a:t>상한</a:t>
                      </a:r>
                      <a:r>
                        <a:rPr sz="800" b="1" i="0">
                          <a:solidFill>
                            <a:srgbClr val="C2410C"/>
                          </a:solidFill>
                          <a:latin typeface="Arial"/>
                          <a:ea typeface="Malgun Gothic"/>
                          <a:cs typeface="Malgun Gothic"/>
                        </a:rPr>
                        <a:t>으로 쓸지 </a:t>
                      </a:r>
                      <a:r>
                        <a:rPr sz="800" b="1" i="0">
                          <a:solidFill>
                            <a:srgbClr val="C2410C"/>
                          </a:solidFill>
                          <a:latin typeface="Arial"/>
                          <a:ea typeface="Malgun Gothic"/>
                          <a:cs typeface="Malgun Gothic"/>
                        </a:rPr>
                        <a:t>하한</a:t>
                      </a:r>
                      <a:r>
                        <a:rPr sz="800" b="1" i="0">
                          <a:solidFill>
                            <a:srgbClr val="C2410C"/>
                          </a:solidFill>
                          <a:latin typeface="Arial"/>
                          <a:ea typeface="Malgun Gothic"/>
                          <a:cs typeface="Malgun Gothic"/>
                        </a:rPr>
                        <a:t>으로 쓸지 고른다</a:t>
                      </a:r>
                      <a:r>
                        <a:rPr sz="800" b="0" i="0">
                          <a:solidFill>
                            <a:srgbClr val="16213A"/>
                          </a:solidFill>
                          <a:latin typeface="Arial"/>
                          <a:ea typeface="Malgun Gothic"/>
                          <a:cs typeface="Malgun Gothic"/>
                        </a:rPr>
                        <a:t> → piecewise-jerk QP(OSQP)</a:t>
                      </a:r>
                    </a:p>
                  </a:txBody>
                  <a:tcPr marL="63500" marR="63500" marT="12700" marB="12700">
                    <a:solidFill>
                      <a:srgbClr val="FFFDF8"/>
                    </a:solidFill>
                  </a:tcPr>
                </a:tc>
              </a:tr>
              <a:tr h="317976">
                <a:tc>
                  <a:txBody>
                    <a:bodyPr wrap="square"/>
                    <a:lstStyle/>
                    <a:p>
                      <a:r>
                        <a:rPr sz="800" b="1" i="0">
                          <a:solidFill>
                            <a:srgbClr val="16213A"/>
                          </a:solidFill>
                          <a:latin typeface="Arial"/>
                          <a:ea typeface="Malgun Gothic"/>
                          <a:cs typeface="Malgun Gothic"/>
                        </a:rPr>
                        <a:t>Autoware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모듈마다 </a:t>
                      </a:r>
                      <a:r>
                        <a:rPr sz="800" b="0" i="0">
                          <a:solidFill>
                            <a:srgbClr val="16213A"/>
                          </a:solidFill>
                          <a:latin typeface="Consolas"/>
                          <a:ea typeface="Malgun Gothic"/>
                          <a:cs typeface="Malgun Gothic"/>
                        </a:rPr>
                        <a:t>stop</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slowdown</a:t>
                      </a:r>
                      <a:r>
                        <a:rPr sz="800" b="0" i="0">
                          <a:solidFill>
                            <a:srgbClr val="16213A"/>
                          </a:solidFill>
                          <a:latin typeface="Arial"/>
                          <a:ea typeface="Malgun Gothic"/>
                          <a:cs typeface="Malgun Gothic"/>
                        </a:rPr>
                        <a:t>/없음, </a:t>
                      </a:r>
                      <a:r>
                        <a:rPr sz="800" b="1" i="0">
                          <a:solidFill>
                            <a:srgbClr val="16213A"/>
                          </a:solidFill>
                          <a:latin typeface="Arial"/>
                          <a:ea typeface="Malgun Gothic"/>
                          <a:cs typeface="Malgun Gothic"/>
                        </a:rPr>
                        <a:t>비대칭 on/off 시간 버퍼</a:t>
                      </a:r>
                      <a:r>
                        <a:rPr sz="800" b="0" i="0">
                          <a:solidFill>
                            <a:srgbClr val="16213A"/>
                          </a:solidFill>
                          <a:latin typeface="Arial"/>
                          <a:ea typeface="Malgun Gothic"/>
                          <a:cs typeface="Malgun Gothic"/>
                        </a:rPr>
                        <a:t>로 히스테리시스</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모듈은 </a:t>
                      </a:r>
                      <a:r>
                        <a:rPr sz="800" b="1" i="0">
                          <a:solidFill>
                            <a:srgbClr val="C2410C"/>
                          </a:solidFill>
                          <a:latin typeface="Arial"/>
                          <a:ea typeface="Malgun Gothic"/>
                          <a:cs typeface="Malgun Gothic"/>
                        </a:rPr>
                        <a:t>호 길이 위치에 속도 상한·정지점만 꽂는다.</a:t>
                      </a:r>
                      <a:r>
                        <a:rPr sz="800" b="1" i="0">
                          <a:solidFill>
                            <a:srgbClr val="C2410C"/>
                          </a:solidFill>
                          <a:latin typeface="Arial"/>
                          <a:ea typeface="Malgun Gothic"/>
                          <a:cs typeface="Malgun Gothic"/>
                        </a:rPr>
                        <a:t> QP 하나가 저크 한계로 거꾸로 전파</a:t>
                      </a:r>
                      <a:r>
                        <a:rPr sz="800" b="0" i="0">
                          <a:solidFill>
                            <a:srgbClr val="16213A"/>
                          </a:solidFill>
                          <a:latin typeface="Arial"/>
                          <a:ea typeface="Malgun Gothic"/>
                          <a:cs typeface="Malgun Gothic"/>
                        </a:rPr>
                        <a:t> → 구조적으로 부드럽다</a:t>
                      </a:r>
                    </a:p>
                  </a:txBody>
                  <a:tcPr marL="63500" marR="63500" marT="12700" marB="12700">
                    <a:solidFill>
                      <a:srgbClr val="F3F0E8"/>
                    </a:solidFill>
                  </a:tcPr>
                </a:tc>
              </a:tr>
              <a:tr h="317976">
                <a:tc>
                  <a:txBody>
                    <a:bodyPr wrap="square"/>
                    <a:lstStyle/>
                    <a:p>
                      <a:r>
                        <a:rPr sz="800" b="1" i="0">
                          <a:solidFill>
                            <a:srgbClr val="16213A"/>
                          </a:solidFill>
                          <a:latin typeface="Arial"/>
                          <a:ea typeface="Malgun Gothic"/>
                          <a:cs typeface="Malgun Gothic"/>
                        </a:rPr>
                        <a:t>openpilot</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이산 결정이 아예 없다.</a:t>
                      </a:r>
                      <a:r>
                        <a:rPr sz="800" b="0" i="0">
                          <a:solidFill>
                            <a:srgbClr val="16213A"/>
                          </a:solidFill>
                          <a:latin typeface="Arial"/>
                          <a:ea typeface="Malgun Gothic"/>
                          <a:cs typeface="Malgun Gothic"/>
                        </a:rPr>
                        <a:t> 앞차가 없으면 50 m 앞에 </a:t>
                      </a:r>
                      <a:r>
                        <a:rPr sz="800" b="1" i="0">
                          <a:solidFill>
                            <a:srgbClr val="16213A"/>
                          </a:solidFill>
                          <a:latin typeface="Arial"/>
                          <a:ea typeface="Malgun Gothic"/>
                          <a:cs typeface="Malgun Gothic"/>
                        </a:rPr>
                        <a:t>자기보다 10 m/s 빠른 가짜 앞차</a:t>
                      </a:r>
                      <a:r>
                        <a:rPr sz="800" b="0" i="0">
                          <a:solidFill>
                            <a:srgbClr val="16213A"/>
                          </a:solidFill>
                          <a:latin typeface="Arial"/>
                          <a:ea typeface="Malgun Gothic"/>
                          <a:cs typeface="Malgun Gothic"/>
                        </a:rPr>
                        <a:t>를 채워 문제 구조를 바꾸지 않는다(소스 주석: </a:t>
                      </a:r>
                      <a:r>
                        <a:rPr sz="800" b="0" i="1">
                          <a:solidFill>
                            <a:srgbClr val="16213A"/>
                          </a:solidFill>
                          <a:latin typeface="Arial"/>
                          <a:ea typeface="Malgun Gothic"/>
                          <a:cs typeface="Malgun Gothic"/>
                        </a:rPr>
                        <a:t>"Fake a fast lead car, so mpc can keep running in the same mode"</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acados NMPC, 거리 제약을 </a:t>
                      </a:r>
                      <a:r>
                        <a:rPr sz="800" b="1" i="0">
                          <a:solidFill>
                            <a:srgbClr val="16213A"/>
                          </a:solidFill>
                          <a:latin typeface="Arial"/>
                          <a:ea typeface="Malgun Gothic"/>
                          <a:cs typeface="Malgun Gothic"/>
                        </a:rPr>
                        <a:t>슬랙</a:t>
                      </a:r>
                      <a:r>
                        <a:rPr sz="800" b="0" i="0">
                          <a:solidFill>
                            <a:srgbClr val="16213A"/>
                          </a:solidFill>
                          <a:latin typeface="Arial"/>
                          <a:ea typeface="Malgun Gothic"/>
                          <a:cs typeface="Malgun Gothic"/>
                        </a:rPr>
                        <a:t>으로 걸고 </a:t>
                      </a:r>
                      <a:r>
                        <a:rPr sz="800" b="0" i="0">
                          <a:solidFill>
                            <a:srgbClr val="16213A"/>
                          </a:solidFill>
                          <a:latin typeface="Consolas"/>
                          <a:ea typeface="Malgun Gothic"/>
                          <a:cs typeface="Malgun Gothic"/>
                        </a:rPr>
                        <a:t>A_CHANGE_COST=200</a:t>
                      </a:r>
                      <a:r>
                        <a:rPr sz="800" b="0" i="0">
                          <a:solidFill>
                            <a:srgbClr val="16213A"/>
                          </a:solidFill>
                          <a:latin typeface="Arial"/>
                          <a:ea typeface="Malgun Gothic"/>
                          <a:cs typeface="Malgun Gothic"/>
                        </a:rPr>
                        <a:t>으로 가속 변화를 벌한다</a:t>
                      </a:r>
                    </a:p>
                  </a:txBody>
                  <a:tcPr marL="63500" marR="63500" marT="12700" marB="12700">
                    <a:solidFill>
                      <a:srgbClr val="FFFDF8"/>
                    </a:solidFill>
                  </a:tcPr>
                </a:tc>
              </a:tr>
            </a:tbl>
          </a:graphicData>
        </a:graphic>
      </p:graphicFrame>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216 / 359</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Autoware의 구조가 travplan에 가장 곧바로 옮겨진다.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autoware_velocity_smoother</a:t>
            </a:r>
            <a:r>
              <a:rPr sz="1050" b="0" i="0">
                <a:solidFill>
                  <a:srgbClr val="16213A"/>
                </a:solidFill>
                <a:latin typeface="Arial"/>
                <a:ea typeface="Malgun Gothic"/>
                <a:cs typeface="Malgun Gothic"/>
              </a:rPr>
              <a:t>의 README가 그 핵심을 적는다 — </a:t>
            </a:r>
            <a:r>
              <a:rPr sz="1050" b="0" i="1">
                <a:solidFill>
                  <a:srgbClr val="16213A"/>
                </a:solidFill>
                <a:latin typeface="Arial"/>
                <a:ea typeface="Malgun Gothic"/>
                <a:cs typeface="Malgun Gothic"/>
              </a:rPr>
              <a:t>"The external velocity is applied at the position that it is able to reach the velocity limit with the deceleration and the jerk constraints set as the parameter."</a:t>
            </a:r>
            <a:r>
              <a:rPr sz="1050" b="0" i="0">
                <a:solidFill>
                  <a:srgbClr val="16213A"/>
                </a:solidFill>
                <a:latin typeface="Arial"/>
                <a:ea typeface="Malgun Gothic"/>
                <a:cs typeface="Malgun Gothic"/>
              </a:rPr>
              <a:t> 즉 </a:t>
            </a:r>
            <a:r>
              <a:rPr sz="1050" b="1" i="0">
                <a:solidFill>
                  <a:srgbClr val="C2410C"/>
                </a:solidFill>
                <a:latin typeface="Arial"/>
                <a:ea typeface="Malgun Gothic"/>
                <a:cs typeface="Malgun Gothic"/>
              </a:rPr>
              <a:t>"여기서 이 속도 이하"라는 이진 요구를, 저크 한계로 </a:t>
            </a:r>
            <a:r>
              <a:rPr sz="1050" b="1" i="1">
                <a:solidFill>
                  <a:srgbClr val="C2410C"/>
                </a:solidFill>
                <a:latin typeface="Arial"/>
                <a:ea typeface="Malgun Gothic"/>
                <a:cs typeface="Malgun Gothic"/>
              </a:rPr>
              <a:t>s</a:t>
            </a:r>
            <a:r>
              <a:rPr sz="1050" b="1" i="0">
                <a:solidFill>
                  <a:srgbClr val="C2410C"/>
                </a:solidFill>
                <a:latin typeface="Arial"/>
                <a:ea typeface="Malgun Gothic"/>
                <a:cs typeface="Malgun Gothic"/>
              </a:rPr>
              <a:t>축을 따라 거꾸로 전파해 부드러운 조기 감속으로 바꾼다.</a:t>
            </a:r>
            <a:r>
              <a:rPr sz="1050" b="0" i="0">
                <a:solidFill>
                  <a:srgbClr val="16213A"/>
                </a:solidFill>
                <a:latin typeface="Arial"/>
                <a:ea typeface="Malgun Gothic"/>
                <a:cs typeface="Malgun Gothic"/>
              </a:rPr>
              <a:t> 회피 로직은 이진이어도 되고, 부드러움은 </a:t>
            </a:r>
            <a:r>
              <a:rPr sz="1050" b="1" i="0">
                <a:solidFill>
                  <a:srgbClr val="16213A"/>
                </a:solidFill>
                <a:latin typeface="Arial"/>
                <a:ea typeface="Malgun Gothic"/>
                <a:cs typeface="Malgun Gothic"/>
              </a:rPr>
              <a:t>한 곳</a:t>
            </a:r>
            <a:r>
              <a:rPr sz="1050" b="0" i="0">
                <a:solidFill>
                  <a:srgbClr val="16213A"/>
                </a:solidFill>
                <a:latin typeface="Arial"/>
                <a:ea typeface="Malgun Gothic"/>
                <a:cs typeface="Malgun Gothic"/>
              </a:rPr>
              <a:t>에서 책임진다. (⚠️ 단, 같은 README의 </a:t>
            </a:r>
            <a:r>
              <a:rPr sz="1050" b="1" i="0">
                <a:solidFill>
                  <a:srgbClr val="16213A"/>
                </a:solidFill>
                <a:latin typeface="Arial"/>
                <a:ea typeface="Malgun Gothic"/>
                <a:cs typeface="Malgun Gothic"/>
              </a:rPr>
              <a:t>곡선(횡가속) 속도 상한</a:t>
            </a:r>
            <a:r>
              <a:rPr sz="1050" b="0" i="0">
                <a:solidFill>
                  <a:srgbClr val="16213A"/>
                </a:solidFill>
                <a:latin typeface="Arial"/>
                <a:ea typeface="Malgun Gothic"/>
                <a:cs typeface="Malgun Gothic"/>
              </a:rPr>
              <a:t> 절에는 반대 방향 주의가 있다 — </a:t>
            </a:r>
            <a:r>
              <a:rPr sz="1050" b="0" i="1">
                <a:solidFill>
                  <a:srgbClr val="16213A"/>
                </a:solidFill>
                <a:latin typeface="Arial"/>
                <a:ea typeface="Malgun Gothic"/>
                <a:cs typeface="Malgun Gothic"/>
              </a:rPr>
              <a:t>"velocity limit that requests larger than </a:t>
            </a:r>
            <a:r>
              <a:rPr sz="1050" b="0" i="1">
                <a:solidFill>
                  <a:srgbClr val="16213A"/>
                </a:solidFill>
                <a:latin typeface="Consolas"/>
                <a:ea typeface="Malgun Gothic"/>
                <a:cs typeface="Malgun Gothic"/>
              </a:rPr>
              <a:t>nominal.jerk</a:t>
            </a:r>
            <a:r>
              <a:rPr sz="1050" b="0" i="1">
                <a:solidFill>
                  <a:srgbClr val="16213A"/>
                </a:solidFill>
                <a:latin typeface="Arial"/>
                <a:ea typeface="Malgun Gothic"/>
                <a:cs typeface="Malgun Gothic"/>
              </a:rPr>
              <a:t> is not applied. In other words, even if a sharp curve is planned just in front of the ego, no deceleration is performed."</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외부 속도 상한은 위치를 뒤로 미루지만, </a:t>
            </a:r>
            <a:r>
              <a:rPr sz="1050" b="1" i="0">
                <a:solidFill>
                  <a:srgbClr val="C2410C"/>
                </a:solidFill>
                <a:latin typeface="Arial"/>
                <a:ea typeface="Malgun Gothic"/>
                <a:cs typeface="Malgun Gothic"/>
              </a:rPr>
              <a:t>곡선 상한은 거부된다</a:t>
            </a:r>
            <a:r>
              <a:rPr sz="1050" b="1" i="0">
                <a:solidFill>
                  <a:srgbClr val="C2410C"/>
                </a:solidFill>
                <a:latin typeface="Arial"/>
                <a:ea typeface="Malgun Gothic"/>
                <a:cs typeface="Malgun Gothic"/>
              </a:rPr>
              <a:t> — 두 경로가 다르다.</a:t>
            </a:r>
            <a:r>
              <a:rPr sz="1050" b="0" i="0">
                <a:solidFill>
                  <a:srgbClr val="16213A"/>
                </a:solidFill>
                <a:latin typeface="Arial"/>
                <a:ea typeface="Malgun Gothic"/>
                <a:cs typeface="Malgun Gothic"/>
              </a:rPr>
              <a:t>)</a:t>
            </a:r>
          </a:p>
        </p:txBody>
      </p:sp>
      <p:sp>
        <p:nvSpPr>
          <p:cNvPr id="6" name="TextBox 5"/>
          <p:cNvSpPr txBox="1"/>
          <p:nvPr/>
        </p:nvSpPr>
        <p:spPr>
          <a:xfrm>
            <a:off x="609600" y="24159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openpilot의 트릭은 더 급진적이다</a:t>
            </a:r>
            <a:r>
              <a:rPr sz="1050" b="0" i="0">
                <a:solidFill>
                  <a:srgbClr val="16213A"/>
                </a:solidFill>
                <a:latin typeface="Arial"/>
                <a:ea typeface="Malgun Gothic"/>
                <a:cs typeface="Malgun Gothic"/>
              </a:rPr>
              <a:t>(★63772, MIT, acados </a:t>
            </a:r>
            <a:r>
              <a:rPr sz="1050" b="0" i="0">
                <a:solidFill>
                  <a:srgbClr val="16213A"/>
                </a:solidFill>
                <a:latin typeface="Consolas"/>
                <a:ea typeface="Malgun Gothic"/>
                <a:cs typeface="Malgun Gothic"/>
              </a:rPr>
              <a:t>SQP_RTI</a:t>
            </a:r>
            <a:r>
              <a:rPr sz="1050" b="0" i="0">
                <a:solidFill>
                  <a:srgbClr val="16213A"/>
                </a:solidFill>
                <a:latin typeface="Arial"/>
                <a:ea typeface="Malgun Gothic"/>
                <a:cs typeface="Malgun Gothic"/>
              </a:rPr>
              <a:t> — travplan MPC와 같은 솔버). 움직이는 앞차를 </a:t>
            </a:r>
            <a:r>
              <a:rPr sz="1050" b="1" i="0">
                <a:solidFill>
                  <a:srgbClr val="16213A"/>
                </a:solidFill>
                <a:latin typeface="Arial"/>
                <a:ea typeface="Malgun Gothic"/>
                <a:cs typeface="Malgun Gothic"/>
              </a:rPr>
              <a:t>정지한 장애물이 더 먼 거리에 있는 것으로 환산</a:t>
            </a:r>
            <a:r>
              <a:rPr sz="1050" b="0" i="0">
                <a:solidFill>
                  <a:srgbClr val="16213A"/>
                </a:solidFill>
                <a:latin typeface="Arial"/>
                <a:ea typeface="Malgun Gothic"/>
                <a:cs typeface="Malgun Gothic"/>
              </a:rPr>
              <a:t>한다:</a:t>
            </a:r>
          </a:p>
        </p:txBody>
      </p:sp>
      <p:pic>
        <p:nvPicPr>
          <p:cNvPr id="7" name="Picture 6" descr="image.png"/>
          <p:cNvPicPr>
            <a:picLocks noChangeAspect="1"/>
          </p:cNvPicPr>
          <p:nvPr/>
        </p:nvPicPr>
        <p:blipFill>
          <a:blip r:embed="rId3"/>
          <a:stretch>
            <a:fillRect/>
          </a:stretch>
        </p:blipFill>
        <p:spPr>
          <a:xfrm>
            <a:off x="609600" y="2721372"/>
            <a:ext cx="1939925" cy="419100"/>
          </a:xfrm>
          <a:prstGeom prst="rect">
            <a:avLst/>
          </a:prstGeom>
        </p:spPr>
      </p:pic>
      <p:sp>
        <p:nvSpPr>
          <p:cNvPr id="8" name="TextBox 7"/>
          <p:cNvSpPr txBox="1"/>
          <p:nvPr/>
        </p:nvSpPr>
        <p:spPr>
          <a:xfrm>
            <a:off x="609600" y="3151584"/>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그러면 "따라갈까 설까"라는 모드가 </a:t>
            </a:r>
            <a:r>
              <a:rPr sz="1050" b="1" i="0">
                <a:solidFill>
                  <a:srgbClr val="16213A"/>
                </a:solidFill>
                <a:latin typeface="Arial"/>
                <a:ea typeface="Malgun Gothic"/>
                <a:cs typeface="Malgun Gothic"/>
              </a:rPr>
              <a:t>사라진다.</a:t>
            </a:r>
            <a:r>
              <a:rPr sz="1050" b="0" i="0">
                <a:solidFill>
                  <a:srgbClr val="16213A"/>
                </a:solidFill>
                <a:latin typeface="Arial"/>
                <a:ea typeface="Malgun Gothic"/>
                <a:cs typeface="Malgun Gothic"/>
              </a:rPr>
              <a:t> 장애물은 그냥 파라미터 하나(</a:t>
            </a:r>
            <a:r>
              <a:rPr sz="1050" b="0" i="0">
                <a:solidFill>
                  <a:srgbClr val="16213A"/>
                </a:solidFill>
                <a:latin typeface="Consolas"/>
                <a:ea typeface="Malgun Gothic"/>
                <a:cs typeface="Malgun Gothic"/>
              </a:rPr>
              <a:t>x_obstacle</a:t>
            </a:r>
            <a:r>
              <a:rPr sz="1050" b="0" i="0">
                <a:solidFill>
                  <a:srgbClr val="16213A"/>
                </a:solidFill>
                <a:latin typeface="Arial"/>
                <a:ea typeface="Malgun Gothic"/>
                <a:cs typeface="Malgun Gothic"/>
              </a:rPr>
              <a:t>)이고, 여러 소스 중 최솟값을 取한다. 제약도 하드가 아니라 슬랙이고, 소스 주석이 이유를 그대로 적는다 — </a:t>
            </a:r>
            <a:r>
              <a:rPr sz="1050" b="1" i="1">
                <a:solidFill>
                  <a:srgbClr val="C2410C"/>
                </a:solidFill>
                <a:latin typeface="Arial"/>
                <a:ea typeface="Malgun Gothic"/>
                <a:cs typeface="Malgun Gothic"/>
              </a:rPr>
              <a:t>"the obstacle ... is treated as a slack constraint so it behaves like an asymmetrical cost."</a:t>
            </a:r>
            <a:r>
              <a:rPr sz="1050" b="0" i="0">
                <a:solidFill>
                  <a:srgbClr val="16213A"/>
                </a:solidFill>
                <a:latin typeface="Arial"/>
                <a:ea typeface="Malgun Gothic"/>
                <a:cs typeface="Malgun Gothic"/>
              </a:rPr>
              <a:t> 그리고 그 제약은 </a:t>
            </a:r>
            <a:r>
              <a:rPr sz="1050" b="0" i="1">
                <a:solidFill>
                  <a:srgbClr val="16213A"/>
                </a:solidFill>
                <a:latin typeface="Arial"/>
                <a:ea typeface="Malgun Gothic"/>
                <a:cs typeface="Malgun Gothic"/>
              </a:rPr>
              <a:t>(x_(obs) - x_(ego) - factor· d_(comfort)) / (v_(ego) + 10)</a:t>
            </a:r>
            <a:r>
              <a:rPr sz="1050" b="0" i="0">
                <a:solidFill>
                  <a:srgbClr val="16213A"/>
                </a:solidFill>
                <a:latin typeface="Arial"/>
                <a:ea typeface="Malgun Gothic"/>
                <a:cs typeface="Malgun Gothic"/>
              </a:rPr>
              <a:t>으로 </a:t>
            </a:r>
            <a:r>
              <a:rPr sz="1050" b="1" i="0">
                <a:solidFill>
                  <a:srgbClr val="C2410C"/>
                </a:solidFill>
                <a:latin typeface="Arial"/>
                <a:ea typeface="Malgun Gothic"/>
                <a:cs typeface="Malgun Gothic"/>
              </a:rPr>
              <a:t>속도로 정규화</a:t>
            </a:r>
            <a:r>
              <a:rPr sz="1050" b="1" i="0">
                <a:solidFill>
                  <a:srgbClr val="C2410C"/>
                </a:solidFill>
                <a:latin typeface="Arial"/>
                <a:ea typeface="Malgun Gothic"/>
                <a:cs typeface="Malgun Gothic"/>
              </a:rPr>
              <a:t>돼 있다</a:t>
            </a:r>
            <a:r>
              <a:rPr sz="1050" b="0" i="0">
                <a:solidFill>
                  <a:srgbClr val="16213A"/>
                </a:solidFill>
                <a:latin typeface="Arial"/>
                <a:ea typeface="Malgun Gothic"/>
                <a:cs typeface="Malgun Gothic"/>
              </a:rPr>
              <a:t> — 빠를수록 같은 거리가 더 위험하게 읽힌다.</a:t>
            </a:r>
          </a:p>
        </p:txBody>
      </p:sp>
      <p:sp>
        <p:nvSpPr>
          <p:cNvPr id="9" name="TextBox 8"/>
          <p:cNvSpPr txBox="1"/>
          <p:nvPr/>
        </p:nvSpPr>
        <p:spPr>
          <a:xfrm>
            <a:off x="609600" y="388997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Autoware가 떨림을 막는 법은 값으로 박혀 있다.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autoware_motion_velocity_run_out_module</a:t>
            </a:r>
            <a:r>
              <a:rPr sz="1050" b="0" i="0">
                <a:solidFill>
                  <a:srgbClr val="16213A"/>
                </a:solidFill>
                <a:latin typeface="Arial"/>
                <a:ea typeface="Malgun Gothic"/>
                <a:cs typeface="Malgun Gothic"/>
              </a:rPr>
              <a:t> (파라미터 이름공간 </a:t>
            </a:r>
            <a:r>
              <a:rPr sz="1050" b="0" i="0">
                <a:solidFill>
                  <a:srgbClr val="16213A"/>
                </a:solidFill>
                <a:latin typeface="Consolas"/>
                <a:ea typeface="Malgun Gothic"/>
                <a:cs typeface="Malgun Gothic"/>
              </a:rPr>
              <a:t>run_out</a:t>
            </a:r>
            <a:r>
              <a:rPr sz="1050" b="0" i="0">
                <a:solidFill>
                  <a:srgbClr val="16213A"/>
                </a:solidFill>
                <a:latin typeface="Arial"/>
                <a:ea typeface="Malgun Gothic"/>
                <a:cs typeface="Malgun Gothic"/>
              </a:rPr>
              <a:t>)이 </a:t>
            </a:r>
            <a:r>
              <a:rPr sz="1050" b="1" i="0">
                <a:solidFill>
                  <a:srgbClr val="16213A"/>
                </a:solidFill>
                <a:latin typeface="Arial"/>
                <a:ea typeface="Malgun Gothic"/>
                <a:cs typeface="Malgun Gothic"/>
              </a:rPr>
              <a:t>Schmitt 트리거</a:t>
            </a:r>
            <a:r>
              <a:rPr sz="1050" b="0" i="0">
                <a:solidFill>
                  <a:srgbClr val="16213A"/>
                </a:solidFill>
                <a:latin typeface="Arial"/>
                <a:ea typeface="Malgun Gothic"/>
                <a:cs typeface="Malgun Gothic"/>
              </a:rPr>
              <a:t>다 — </a:t>
            </a:r>
            <a:r>
              <a:rPr sz="1050" b="0" i="0">
                <a:solidFill>
                  <a:srgbClr val="16213A"/>
                </a:solidFill>
                <a:latin typeface="Consolas"/>
                <a:ea typeface="Malgun Gothic"/>
                <a:cs typeface="Malgun Gothic"/>
              </a:rPr>
              <a:t>slowdown</a:t>
            </a:r>
            <a:r>
              <a:rPr sz="1050" b="0" i="0">
                <a:solidFill>
                  <a:srgbClr val="16213A"/>
                </a:solidFill>
                <a:latin typeface="Arial"/>
                <a:ea typeface="Malgun Gothic"/>
                <a:cs typeface="Malgun Gothic"/>
              </a:rPr>
              <a:t>은 on 0.1 s / off 0.5 s, </a:t>
            </a:r>
            <a:r>
              <a:rPr sz="1050" b="0" i="0">
                <a:solidFill>
                  <a:srgbClr val="16213A"/>
                </a:solidFill>
                <a:latin typeface="Consolas"/>
                <a:ea typeface="Malgun Gothic"/>
                <a:cs typeface="Malgun Gothic"/>
              </a:rPr>
              <a:t>stop</a:t>
            </a:r>
            <a:r>
              <a:rPr sz="1050" b="0" i="0">
                <a:solidFill>
                  <a:srgbClr val="16213A"/>
                </a:solidFill>
                <a:latin typeface="Arial"/>
                <a:ea typeface="Malgun Gothic"/>
                <a:cs typeface="Malgun Gothic"/>
              </a:rPr>
              <a:t>은 on 0.3 s / off </a:t>
            </a:r>
            <a:r>
              <a:rPr sz="1050" b="1" i="0">
                <a:solidFill>
                  <a:srgbClr val="16213A"/>
                </a:solidFill>
                <a:latin typeface="Arial"/>
                <a:ea typeface="Malgun Gothic"/>
                <a:cs typeface="Malgun Gothic"/>
              </a:rPr>
              <a:t>1.0 s</a:t>
            </a:r>
            <a:r>
              <a:rPr sz="1050" b="0" i="0">
                <a:solidFill>
                  <a:srgbClr val="16213A"/>
                </a:solidFill>
                <a:latin typeface="Arial"/>
                <a:ea typeface="Malgun Gothic"/>
                <a:cs typeface="Malgun Gothic"/>
              </a:rPr>
              <a:t>로 </a:t>
            </a:r>
            <a:r>
              <a:rPr sz="1050" b="1" i="0">
                <a:solidFill>
                  <a:srgbClr val="C2410C"/>
                </a:solidFill>
                <a:latin typeface="Arial"/>
                <a:ea typeface="Malgun Gothic"/>
                <a:cs typeface="Malgun Gothic"/>
              </a:rPr>
              <a:t>켜기는 빠르고 끄기는 느리다.</a:t>
            </a:r>
            <a:r>
              <a:rPr sz="1050" b="0" i="0">
                <a:solidFill>
                  <a:srgbClr val="16213A"/>
                </a:solidFill>
                <a:latin typeface="Arial"/>
                <a:ea typeface="Malgun Gothic"/>
                <a:cs typeface="Malgun Gothic"/>
              </a:rPr>
              <a:t> 정지점이 튀지 않도록 이전 정지점을 </a:t>
            </a:r>
            <a:r>
              <a:rPr sz="1050" b="0" i="0">
                <a:solidFill>
                  <a:srgbClr val="16213A"/>
                </a:solidFill>
                <a:latin typeface="Consolas"/>
                <a:ea typeface="Malgun Gothic"/>
                <a:cs typeface="Malgun Gothic"/>
              </a:rPr>
              <a:t>reuse_margin 5.0 m</a:t>
            </a:r>
            <a:r>
              <a:rPr sz="1050" b="0" i="0">
                <a:solidFill>
                  <a:srgbClr val="16213A"/>
                </a:solidFill>
                <a:latin typeface="Arial"/>
                <a:ea typeface="Malgun Gothic"/>
                <a:cs typeface="Malgun Gothic"/>
              </a:rPr>
              <a:t> 안에서 재사용하고, 횡단보도 모듈은 파라미터 설명에 아예 </a:t>
            </a:r>
            <a:r>
              <a:rPr sz="1050" b="0" i="1">
                <a:solidFill>
                  <a:srgbClr val="16213A"/>
                </a:solidFill>
                <a:latin typeface="Arial"/>
                <a:ea typeface="Malgun Gothic"/>
                <a:cs typeface="Malgun Gothic"/>
              </a:rPr>
              <a:t>"to suppress chattering"</a:t>
            </a:r>
            <a:r>
              <a:rPr sz="1050" b="0" i="0">
                <a:solidFill>
                  <a:srgbClr val="16213A"/>
                </a:solidFill>
                <a:latin typeface="Arial"/>
                <a:ea typeface="Malgun Gothic"/>
                <a:cs typeface="Malgun Gothic"/>
              </a:rPr>
              <a:t>이라고 적어 두었다. </a:t>
            </a:r>
            <a:r>
              <a:rPr sz="1050" b="1" i="0">
                <a:solidFill>
                  <a:srgbClr val="C2410C"/>
                </a:solidFill>
                <a:latin typeface="Arial"/>
                <a:ea typeface="Malgun Gothic"/>
                <a:cs typeface="Malgun Gothic"/>
              </a:rPr>
              <a:t>그리고 조우가 지평 뒤쪽일수록 요구 시간 여유가 </a:t>
            </a:r>
            <a:r>
              <a:rPr sz="1050" b="1" i="0">
                <a:solidFill>
                  <a:srgbClr val="C2410C"/>
                </a:solidFill>
                <a:latin typeface="Arial"/>
                <a:ea typeface="Malgun Gothic"/>
                <a:cs typeface="Malgun Gothic"/>
              </a:rPr>
              <a:t>연속적으로</a:t>
            </a:r>
            <a:r>
              <a:rPr sz="1050" b="1" i="0">
                <a:solidFill>
                  <a:srgbClr val="C2410C"/>
                </a:solidFill>
                <a:latin typeface="Arial"/>
                <a:ea typeface="Malgun Gothic"/>
                <a:cs typeface="Malgun Gothic"/>
              </a:rPr>
              <a:t> 커진다</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ego_enter_times [0, 3] s → time_margins [0, 6] s</a:t>
            </a:r>
            <a:r>
              <a:rPr sz="1050" b="0" i="0">
                <a:solidFill>
                  <a:srgbClr val="16213A"/>
                </a:solidFill>
                <a:latin typeface="Arial"/>
                <a:ea typeface="Malgun Gothic"/>
                <a:cs typeface="Malgun Gothic"/>
              </a:rPr>
              <a:t>) — 예측 불확실성 팽창의 시간축 버전이다.</a:t>
            </a:r>
          </a:p>
        </p:txBody>
      </p:sp>
      <p:sp>
        <p:nvSpPr>
          <p:cNvPr id="10" name="TextBox 9"/>
          <p:cNvSpPr txBox="1"/>
          <p:nvPr/>
        </p:nvSpPr>
        <p:spPr>
          <a:xfrm>
            <a:off x="609600" y="4844852"/>
            <a:ext cx="10972800" cy="188516"/>
          </a:xfrm>
          <a:prstGeom prst="rect">
            <a:avLst/>
          </a:prstGeom>
          <a:noFill/>
        </p:spPr>
        <p:txBody>
          <a:bodyPr wrap="square" lIns="0" rIns="0" tIns="0" bIns="0" anchor="t">
            <a:spAutoFit/>
            <a:normAutofit/>
          </a:bodyPr>
          <a:lstStyle/>
          <a:p>
            <a:r>
              <a:rPr sz="1050" b="1" i="0">
                <a:solidFill>
                  <a:srgbClr val="5A6478"/>
                </a:solidFill>
                <a:latin typeface="Arial"/>
                <a:ea typeface="Malgun Gothic"/>
                <a:cs typeface="Malgun Gothic"/>
              </a:rPr>
              <a:t>로봇: ROS 2가 실제로 하는 것은 A와 B뿐이다</a:t>
            </a:r>
          </a:p>
        </p:txBody>
      </p:sp>
      <p:sp>
        <p:nvSpPr>
          <p:cNvPr id="11" name="TextBox 10"/>
          <p:cNvSpPr txBox="1"/>
          <p:nvPr/>
        </p:nvSpPr>
        <p:spPr>
          <a:xfrm>
            <a:off x="609600" y="5122267"/>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Nav2 </a:t>
            </a:r>
            <a:r>
              <a:rPr sz="1050" b="0" i="0">
                <a:solidFill>
                  <a:srgbClr val="16213A"/>
                </a:solidFill>
                <a:latin typeface="Consolas"/>
                <a:ea typeface="Malgun Gothic"/>
                <a:cs typeface="Malgun Gothic"/>
              </a:rPr>
              <a:t>main</a:t>
            </a:r>
            <a:r>
              <a:rPr sz="1050" b="0" i="0">
                <a:solidFill>
                  <a:srgbClr val="16213A"/>
                </a:solidFill>
                <a:latin typeface="Arial"/>
                <a:ea typeface="Malgun Gothic"/>
                <a:cs typeface="Malgun Gothic"/>
              </a:rPr>
              <a:t>(2026-09-28)을 읽어 확인한 결과다.</a:t>
            </a:r>
          </a:p>
        </p:txBody>
      </p:sp>
      <p:sp>
        <p:nvSpPr>
          <p:cNvPr id="12" name="TextBox 11"/>
          <p:cNvSpPr txBox="1"/>
          <p:nvPr/>
        </p:nvSpPr>
        <p:spPr>
          <a:xfrm>
            <a:off x="609600" y="5427662"/>
            <a:ext cx="10972800" cy="6748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Consolas"/>
                <a:ea typeface="Malgun Gothic"/>
                <a:cs typeface="Malgun Gothic"/>
              </a:rPr>
              <a:t>nav2_mppi_controller</a:t>
            </a:r>
            <a:r>
              <a:rPr sz="1050" b="0" i="0">
                <a:solidFill>
                  <a:srgbClr val="16213A"/>
                </a:solidFill>
                <a:latin typeface="Arial"/>
                <a:ea typeface="Malgun Gothic"/>
                <a:cs typeface="Malgun Gothic"/>
              </a:rPr>
              <a:t>의 critic은 </a:t>
            </a:r>
            <a:r>
              <a:rPr sz="1050" b="1" i="0">
                <a:solidFill>
                  <a:srgbClr val="16213A"/>
                </a:solidFill>
                <a:latin typeface="Arial"/>
                <a:ea typeface="Malgun Gothic"/>
                <a:cs typeface="Malgun Gothic"/>
              </a:rPr>
              <a:t>11개</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constraint</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cost</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goal_angle</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goal</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obstacles</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path_align</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path_angle</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path_follow</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prefer_forward</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twirling</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velocity_deadband</a:t>
            </a:r>
            <a:r>
              <a:rPr sz="1050" b="0" i="0">
                <a:solidFill>
                  <a:srgbClr val="16213A"/>
                </a:solidFill>
                <a:latin typeface="Arial"/>
                <a:ea typeface="Malgun Gothic"/>
                <a:cs typeface="Malgun Gothic"/>
              </a:rPr>
              <a:t>)인데 </a:t>
            </a:r>
            <a:r>
              <a:rPr sz="1050" b="1" i="0">
                <a:solidFill>
                  <a:srgbClr val="C2410C"/>
                </a:solidFill>
                <a:latin typeface="Arial"/>
                <a:ea typeface="Malgun Gothic"/>
                <a:cs typeface="Malgun Gothic"/>
              </a:rPr>
              <a:t>장애물 속도를 보는 것이 하나도 없다.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obstacles_critic.cpp</a:t>
            </a:r>
            <a:r>
              <a:rPr sz="1050" b="0" i="0">
                <a:solidFill>
                  <a:srgbClr val="16213A"/>
                </a:solidFill>
                <a:latin typeface="Arial"/>
                <a:ea typeface="Malgun Gothic"/>
                <a:cs typeface="Malgun Gothic"/>
              </a:rPr>
              <a:t>에 예측·속도·시간 인덱스 코드가 없다. 롤아웃은 시간 인덱스를 갖는데 critic이 그 인덱스를 버린다.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Consolas"/>
                <a:ea typeface="Malgun Gothic"/>
                <a:cs typeface="Malgun Gothic"/>
              </a:rPr>
              <a:t>nav2_costmap_2d</a:t>
            </a:r>
            <a:r>
              <a:rPr sz="1050" b="0" i="0">
                <a:solidFill>
                  <a:srgbClr val="16213A"/>
                </a:solidFill>
                <a:latin typeface="Arial"/>
                <a:ea typeface="Malgun Gothic"/>
                <a:cs typeface="Malgun Gothic"/>
              </a:rPr>
              <a:t>의 레이어 API(</a:t>
            </a:r>
            <a:r>
              <a:rPr sz="1050" b="0" i="0">
                <a:solidFill>
                  <a:srgbClr val="16213A"/>
                </a:solidFill>
                <a:latin typeface="Consolas"/>
                <a:ea typeface="Malgun Gothic"/>
                <a:cs typeface="Malgun Gothic"/>
              </a:rPr>
              <a:t>layer.hpp</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updateBounds</a:t>
            </a:r>
            <a:r>
              <a:rPr sz="1050" b="0" i="0">
                <a:solidFill>
                  <a:srgbClr val="16213A"/>
                </a:solidFill>
                <a:latin typeface="Arial"/>
                <a:ea typeface="Malgun Gothic"/>
                <a:cs typeface="Malgun Gothic"/>
              </a:rPr>
              <a:t>)는 </a:t>
            </a:r>
            <a:r>
              <a:rPr sz="1050" b="1" i="0">
                <a:solidFill>
                  <a:srgbClr val="16213A"/>
                </a:solidFill>
                <a:latin typeface="Arial"/>
                <a:ea typeface="Malgun Gothic"/>
                <a:cs typeface="Malgun Gothic"/>
              </a:rPr>
              <a:t>속도를 받을 인자 자체가 없다.</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217 / 359</a:t>
            </a:r>
          </a:p>
        </p:txBody>
      </p:sp>
      <p:sp>
        <p:nvSpPr>
          <p:cNvPr id="5" name="TextBox 4"/>
          <p:cNvSpPr txBox="1"/>
          <p:nvPr/>
        </p:nvSpPr>
        <p:spPr>
          <a:xfrm>
            <a:off x="609600" y="1244600"/>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Consolas"/>
                <a:ea typeface="Malgun Gothic"/>
                <a:cs typeface="Malgun Gothic"/>
              </a:rPr>
              <a:t>navigation2_dynamic</a:t>
            </a:r>
            <a:r>
              <a:rPr sz="1050" b="0" i="0">
                <a:solidFill>
                  <a:srgbClr val="16213A"/>
                </a:solidFill>
                <a:latin typeface="Arial"/>
                <a:ea typeface="Malgun Gothic"/>
                <a:cs typeface="Malgun Gothic"/>
              </a:rPr>
              <a:t>(★78, Apache-2.0)은 속도를 추적하지만 </a:t>
            </a:r>
            <a:r>
              <a:rPr sz="1050" b="1" i="0">
                <a:solidFill>
                  <a:srgbClr val="C2410C"/>
                </a:solidFill>
                <a:latin typeface="Arial"/>
                <a:ea typeface="Malgun Gothic"/>
                <a:cs typeface="Malgun Gothic"/>
              </a:rPr>
              <a:t>그것을 소비하는 모션 모듈이 없고</a:t>
            </a:r>
            <a:r>
              <a:rPr sz="1050" b="0" i="0">
                <a:solidFill>
                  <a:srgbClr val="16213A"/>
                </a:solidFill>
                <a:latin typeface="Arial"/>
                <a:ea typeface="Malgun Gothic"/>
                <a:cs typeface="Malgun Gothic"/>
              </a:rPr>
              <a:t> 기본 브랜치가 </a:t>
            </a:r>
            <a:r>
              <a:rPr sz="1050" b="1" i="0">
                <a:solidFill>
                  <a:srgbClr val="16213A"/>
                </a:solidFill>
                <a:latin typeface="Arial"/>
                <a:ea typeface="Malgun Gothic"/>
                <a:cs typeface="Malgun Gothic"/>
              </a:rPr>
              <a:t>2024-06-10</a:t>
            </a:r>
            <a:r>
              <a:rPr sz="1050" b="0" i="0">
                <a:solidFill>
                  <a:srgbClr val="16213A"/>
                </a:solidFill>
                <a:latin typeface="Arial"/>
                <a:ea typeface="Malgun Gothic"/>
                <a:cs typeface="Malgun Gothic"/>
              </a:rPr>
              <a:t>에 멈췄다.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Collision Monitor에서 시간을 보는 것은 </a:t>
            </a:r>
            <a:r>
              <a:rPr sz="1050" b="0" i="0">
                <a:solidFill>
                  <a:srgbClr val="16213A"/>
                </a:solidFill>
                <a:latin typeface="Consolas"/>
                <a:ea typeface="Malgun Gothic"/>
                <a:cs typeface="Malgun Gothic"/>
              </a:rPr>
              <a:t>approach</a:t>
            </a:r>
            <a:r>
              <a:rPr sz="1050" b="0" i="0">
                <a:solidFill>
                  <a:srgbClr val="16213A"/>
                </a:solidFill>
                <a:latin typeface="Arial"/>
                <a:ea typeface="Malgun Gothic"/>
                <a:cs typeface="Malgun Gothic"/>
              </a:rPr>
              <a:t> 하나뿐이고, 그마저 </a:t>
            </a:r>
            <a:r>
              <a:rPr sz="1050" b="1" i="0">
                <a:solidFill>
                  <a:srgbClr val="16213A"/>
                </a:solidFill>
                <a:latin typeface="Arial"/>
                <a:ea typeface="Malgun Gothic"/>
                <a:cs typeface="Malgun Gothic"/>
              </a:rPr>
              <a:t>장애물을 정지 상태로 놓고</a:t>
            </a:r>
            <a:r>
              <a:rPr sz="1050" b="0" i="0">
                <a:solidFill>
                  <a:srgbClr val="16213A"/>
                </a:solidFill>
                <a:latin typeface="Arial"/>
                <a:ea typeface="Malgun Gothic"/>
                <a:cs typeface="Malgun Gothic"/>
              </a:rPr>
              <a:t> 자기 자신만 전방 투영한다.</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자세히: 연속적인 감속이 수학적으로 어디서 나오는가 — 세 가지 형태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218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샘플링 MPC — 여기서 흔한 오해를 먼저 걷어낸다.</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MPPI는 </a:t>
            </a:r>
            <a:r>
              <a:rPr sz="1050" b="1" i="0">
                <a:solidFill>
                  <a:srgbClr val="C2410C"/>
                </a:solidFill>
                <a:latin typeface="Arial"/>
                <a:ea typeface="Malgun Gothic"/>
                <a:cs typeface="Malgun Gothic"/>
              </a:rPr>
              <a:t>비용을 미분하지 않는다.</a:t>
            </a:r>
            <a:r>
              <a:rPr sz="1050" b="1" i="0">
                <a:solidFill>
                  <a:srgbClr val="C2410C"/>
                </a:solidFill>
                <a:latin typeface="Arial"/>
                <a:ea typeface="Malgun Gothic"/>
                <a:cs typeface="Malgun Gothic"/>
              </a:rPr>
              <a:t> 그래서 출력의 연속성은 비용이 매끄러워서 생기는 것이 </a:t>
            </a:r>
            <a:r>
              <a:rPr sz="1050" b="1" i="0">
                <a:solidFill>
                  <a:srgbClr val="C2410C"/>
                </a:solidFill>
                <a:latin typeface="Arial"/>
                <a:ea typeface="Malgun Gothic"/>
                <a:cs typeface="Malgun Gothic"/>
              </a:rPr>
              <a:t>아니다.</a:t>
            </a:r>
            <a:r>
              <a:rPr sz="1050" b="0" i="0">
                <a:solidFill>
                  <a:srgbClr val="16213A"/>
                </a:solidFill>
                <a:latin typeface="Arial"/>
                <a:ea typeface="Malgun Gothic"/>
                <a:cs typeface="Malgun Gothic"/>
              </a:rPr>
              <a:t> 연속성은 Boltzmann 평균 </a:t>
            </a:r>
            <a:r>
              <a:rPr sz="1050" b="0" i="1">
                <a:solidFill>
                  <a:srgbClr val="16213A"/>
                </a:solidFill>
                <a:latin typeface="Arial"/>
                <a:ea typeface="Malgun Gothic"/>
                <a:cs typeface="Malgun Gothic"/>
              </a:rPr>
              <a:t>u* = ū + ∑ₖ w^((k)) ε^((k))</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w^((k)) ∝ exp(-1/λ(Sₖ - Sₘᵢₙ))</a:t>
            </a:r>
            <a:r>
              <a:rPr sz="1050" b="0" i="0">
                <a:solidFill>
                  <a:srgbClr val="16213A"/>
                </a:solidFill>
                <a:latin typeface="Arial"/>
                <a:ea typeface="Malgun Gothic"/>
                <a:cs typeface="Malgun Gothic"/>
              </a:rPr>
              <a:t> 에서 온다 — 보행자 예측 위치가 조금 움직이면 모든 </a:t>
            </a:r>
            <a:r>
              <a:rPr sz="1050" b="0" i="1">
                <a:solidFill>
                  <a:srgbClr val="16213A"/>
                </a:solidFill>
                <a:latin typeface="Arial"/>
                <a:ea typeface="Malgun Gothic"/>
                <a:cs typeface="Malgun Gothic"/>
              </a:rPr>
              <a:t>Sₖ</a:t>
            </a:r>
            <a:r>
              <a:rPr sz="1050" b="0" i="0">
                <a:solidFill>
                  <a:srgbClr val="16213A"/>
                </a:solidFill>
                <a:latin typeface="Arial"/>
                <a:ea typeface="Malgun Gothic"/>
                <a:cs typeface="Malgun Gothic"/>
              </a:rPr>
              <a:t>가 조금 움직이고, 가중치가 조금 움직이고,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가 조금 움직인다. </a:t>
            </a:r>
            <a:r>
              <a:rPr sz="1050" b="1" i="0">
                <a:solidFill>
                  <a:srgbClr val="16213A"/>
                </a:solidFill>
                <a:latin typeface="Arial"/>
                <a:ea typeface="Malgun Gothic"/>
                <a:cs typeface="Malgun Gothic"/>
              </a:rPr>
              <a:t>계단형 비용이어도 그렇다.</a:t>
            </a:r>
            <a:r>
              <a:rPr sz="1050" b="0" i="0">
                <a:solidFill>
                  <a:srgbClr val="16213A"/>
                </a:solidFill>
                <a:latin typeface="Arial"/>
                <a:ea typeface="Malgun Gothic"/>
                <a:cs typeface="Malgun Gothic"/>
              </a:rPr>
              <a:t> 브레이크가 급한지 부드러운지의 진짜 손잡이는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다(크면 뭉개지고 굼뜨며, 작으면 argmin에 가까워져 이기는 롤아웃이 바뀔 때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가 튄다).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그러면 시간 인덱스 매끈한 비용은 무엇을 사는가 — </a:t>
            </a:r>
            <a:r>
              <a:rPr sz="1050" b="1" i="0">
                <a:solidFill>
                  <a:srgbClr val="C2410C"/>
                </a:solidFill>
                <a:latin typeface="Arial"/>
                <a:ea typeface="Malgun Gothic"/>
                <a:cs typeface="Malgun Gothic"/>
              </a:rPr>
              <a:t>"얼마나 부드럽게"가 아니라 "언제"다.</a:t>
            </a:r>
            <a:r>
              <a:rPr sz="1050" b="0" i="0">
                <a:solidFill>
                  <a:srgbClr val="16213A"/>
                </a:solidFill>
                <a:latin typeface="Arial"/>
                <a:ea typeface="Malgun Gothic"/>
                <a:cs typeface="Malgun Gothic"/>
              </a:rPr>
              <a:t> 이진 지시함수를 쓰면 충돌하지 않는 롤아웃이 전부 0점으로 동점이라, 실제로 겹치기 전까지 </a:t>
            </a:r>
            <a:r>
              <a:rPr sz="1050" b="1" i="0">
                <a:solidFill>
                  <a:srgbClr val="16213A"/>
                </a:solidFill>
                <a:latin typeface="Arial"/>
                <a:ea typeface="Malgun Gothic"/>
                <a:cs typeface="Malgun Gothic"/>
              </a:rPr>
              <a:t>더 넓게 돌 이유가 없다.</a:t>
            </a:r>
            <a:r>
              <a:rPr sz="1050" b="0" i="0">
                <a:solidFill>
                  <a:srgbClr val="16213A"/>
                </a:solidFill>
                <a:latin typeface="Arial"/>
                <a:ea typeface="Malgun Gothic"/>
                <a:cs typeface="Malgun Gothic"/>
              </a:rPr>
              <a:t> 그러다 비용이 튀고 늦게 꺾는다. </a:t>
            </a:r>
            <a:r>
              <a:rPr sz="1050" b="0" i="1">
                <a:solidFill>
                  <a:srgbClr val="16213A"/>
                </a:solidFill>
                <a:latin typeface="Arial"/>
                <a:ea typeface="Malgun Gothic"/>
                <a:cs typeface="Malgun Gothic"/>
              </a:rPr>
              <a:t>exp(-d²/σ²)</a:t>
            </a:r>
            <a:r>
              <a:rPr sz="1050" b="0" i="0">
                <a:solidFill>
                  <a:srgbClr val="16213A"/>
                </a:solidFill>
                <a:latin typeface="Arial"/>
                <a:ea typeface="Malgun Gothic"/>
                <a:cs typeface="Malgun Gothic"/>
              </a:rPr>
              <a:t>처럼 어디서나 단조 감소하면 </a:t>
            </a:r>
            <a:r>
              <a:rPr sz="1050" b="1" i="0">
                <a:solidFill>
                  <a:srgbClr val="16213A"/>
                </a:solidFill>
                <a:latin typeface="Arial"/>
                <a:ea typeface="Malgun Gothic"/>
                <a:cs typeface="Malgun Gothic"/>
              </a:rPr>
              <a:t>모든 롤아웃에 순위가 생겨</a:t>
            </a:r>
            <a:r>
              <a:rPr sz="1050" b="0" i="0">
                <a:solidFill>
                  <a:srgbClr val="16213A"/>
                </a:solidFill>
                <a:latin typeface="Arial"/>
                <a:ea typeface="Malgun Gothic"/>
                <a:cs typeface="Malgun Gothic"/>
              </a:rPr>
              <a:t>, 아직 전부 안전한 동안에도 평균이 타고 갈 기울기가 있다.</a:t>
            </a:r>
          </a:p>
        </p:txBody>
      </p:sp>
      <p:sp>
        <p:nvSpPr>
          <p:cNvPr id="7" name="TextBox 6"/>
          <p:cNvSpPr txBox="1"/>
          <p:nvPr/>
        </p:nvSpPr>
        <p:spPr>
          <a:xfrm>
            <a:off x="609600" y="25048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그리고 비등방성이 "양보"를 만든다.</a:t>
            </a:r>
            <a:r>
              <a:rPr sz="1050" b="0" i="0">
                <a:solidFill>
                  <a:srgbClr val="16213A"/>
                </a:solidFill>
                <a:latin typeface="Arial"/>
                <a:ea typeface="Malgun Gothic"/>
                <a:cs typeface="Malgun Gothic"/>
              </a:rPr>
              <a:t> 전방 분산 </a:t>
            </a:r>
            <a:r>
              <a:rPr sz="1050" b="0" i="1">
                <a:solidFill>
                  <a:srgbClr val="16213A"/>
                </a:solidFill>
                <a:latin typeface="Arial"/>
                <a:ea typeface="Malgun Gothic"/>
                <a:cs typeface="Malgun Gothic"/>
              </a:rPr>
              <a:t>σₚₐᵣₐₗₗₑₗ</a:t>
            </a:r>
            <a:r>
              <a:rPr sz="1050" b="0" i="0">
                <a:solidFill>
                  <a:srgbClr val="16213A"/>
                </a:solidFill>
                <a:latin typeface="Arial"/>
                <a:ea typeface="Malgun Gothic"/>
                <a:cs typeface="Malgun Gothic"/>
              </a:rPr>
              <a:t>을 보행자 속도에 따라 키우면 비싼 로브가 </a:t>
            </a:r>
            <a:r>
              <a:rPr sz="1050" b="1" i="0">
                <a:solidFill>
                  <a:srgbClr val="C2410C"/>
                </a:solidFill>
                <a:latin typeface="Arial"/>
                <a:ea typeface="Malgun Gothic"/>
                <a:cs typeface="Malgun Gothic"/>
              </a:rPr>
              <a:t>보행자의 </a:t>
            </a:r>
            <a:r>
              <a:rPr sz="1050" b="1" i="0">
                <a:solidFill>
                  <a:srgbClr val="C2410C"/>
                </a:solidFill>
                <a:latin typeface="Arial"/>
                <a:ea typeface="Malgun Gothic"/>
                <a:cs typeface="Malgun Gothic"/>
              </a:rPr>
              <a:t>앞쪽</a:t>
            </a:r>
            <a:r>
              <a:rPr sz="1050" b="0" i="0">
                <a:solidFill>
                  <a:srgbClr val="16213A"/>
                </a:solidFill>
                <a:latin typeface="Arial"/>
                <a:ea typeface="Malgun Gothic"/>
                <a:cs typeface="Malgun Gothic"/>
              </a:rPr>
              <a:t>에 놓인다. 그러면 가장 싼 롤아웃은 </a:t>
            </a:r>
            <a:r>
              <a:rPr sz="1050" b="1" i="0">
                <a:solidFill>
                  <a:srgbClr val="16213A"/>
                </a:solidFill>
                <a:latin typeface="Arial"/>
                <a:ea typeface="Malgun Gothic"/>
                <a:cs typeface="Malgun Gothic"/>
              </a:rPr>
              <a:t>교차점에 더 늦게 도착하는</a:t>
            </a:r>
            <a:r>
              <a:rPr sz="1050" b="0" i="0">
                <a:solidFill>
                  <a:srgbClr val="16213A"/>
                </a:solidFill>
                <a:latin typeface="Arial"/>
                <a:ea typeface="Malgun Gothic"/>
                <a:cs typeface="Malgun Gothic"/>
              </a:rPr>
              <a:t> 것들이다 — </a:t>
            </a:r>
            <a:r>
              <a:rPr sz="1050" b="1" i="0">
                <a:solidFill>
                  <a:srgbClr val="C2410C"/>
                </a:solidFill>
                <a:latin typeface="Arial"/>
                <a:ea typeface="Malgun Gothic"/>
                <a:cs typeface="Malgun Gothic"/>
              </a:rPr>
              <a:t>즉 </a:t>
            </a:r>
            <a:r>
              <a:rPr sz="1050" b="1" i="0">
                <a:solidFill>
                  <a:srgbClr val="C2410C"/>
                </a:solidFill>
                <a:latin typeface="Arial"/>
                <a:ea typeface="Malgun Gothic"/>
                <a:cs typeface="Malgun Gothic"/>
              </a:rPr>
              <a:t>감속이 규칙으로 박히는 게 아니라 최적화가 발견하는 선택지가 된다.</a:t>
            </a:r>
            <a:r>
              <a:rPr sz="1050" b="0" i="0">
                <a:solidFill>
                  <a:srgbClr val="16213A"/>
                </a:solidFill>
                <a:latin typeface="Arial"/>
                <a:ea typeface="Malgun Gothic"/>
                <a:cs typeface="Malgun Gothic"/>
              </a:rPr>
              <a:t> 이것이 질문의 답에 가장 가까운 한 문장이다.</a:t>
            </a:r>
          </a:p>
        </p:txBody>
      </p:sp>
      <p:sp>
        <p:nvSpPr>
          <p:cNvPr id="8" name="TextBox 7"/>
          <p:cNvSpPr txBox="1"/>
          <p:nvPr/>
        </p:nvSpPr>
        <p:spPr>
          <a:xfrm>
            <a:off x="609600" y="302676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 그런데 "매끄러우면 된다"는 틀렸다 — 진짜 조건은 </a:t>
            </a:r>
            <a:r>
              <a:rPr sz="1050" b="1" i="1">
                <a:solidFill>
                  <a:srgbClr val="16213A"/>
                </a:solidFill>
                <a:latin typeface="Arial"/>
                <a:ea typeface="Malgun Gothic"/>
                <a:cs typeface="Malgun Gothic"/>
              </a:rPr>
              <a:t>여유 비례 스케일링</a:t>
            </a:r>
            <a:r>
              <a:rPr sz="1050" b="1" i="0">
                <a:solidFill>
                  <a:srgbClr val="16213A"/>
                </a:solidFill>
                <a:latin typeface="Arial"/>
                <a:ea typeface="Malgun Gothic"/>
                <a:cs typeface="Malgun Gothic"/>
              </a:rPr>
              <a:t>이다.</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 p_(ego) - p_(obs)‖² ≥ r²</a:t>
            </a:r>
            <a:r>
              <a:rPr sz="1050" b="0" i="0">
                <a:solidFill>
                  <a:srgbClr val="16213A"/>
                </a:solidFill>
                <a:latin typeface="Arial"/>
                <a:ea typeface="Malgun Gothic"/>
                <a:cs typeface="Malgun Gothic"/>
              </a:rPr>
              <a:t>는 완벽하게 매끄러운데도 </a:t>
            </a:r>
            <a:r>
              <a:rPr sz="1050" b="1" i="0">
                <a:solidFill>
                  <a:srgbClr val="16213A"/>
                </a:solidFill>
                <a:latin typeface="Arial"/>
                <a:ea typeface="Malgun Gothic"/>
                <a:cs typeface="Malgun Gothic"/>
              </a:rPr>
              <a:t>늦게 밟는다.</a:t>
            </a:r>
            <a:r>
              <a:rPr sz="1050" b="0" i="0">
                <a:solidFill>
                  <a:srgbClr val="16213A"/>
                </a:solidFill>
                <a:latin typeface="Arial"/>
                <a:ea typeface="Malgun Gothic"/>
                <a:cs typeface="Malgun Gothic"/>
              </a:rPr>
              <a:t> 가깝지 않으면 제약이 </a:t>
            </a:r>
            <a:r>
              <a:rPr sz="1050" b="1" i="0">
                <a:solidFill>
                  <a:srgbClr val="16213A"/>
                </a:solidFill>
                <a:latin typeface="Arial"/>
                <a:ea typeface="Malgun Gothic"/>
                <a:cs typeface="Malgun Gothic"/>
              </a:rPr>
              <a:t>활성화되지 않기 때문</a:t>
            </a:r>
            <a:r>
              <a:rPr sz="1050" b="0" i="0">
                <a:solidFill>
                  <a:srgbClr val="16213A"/>
                </a:solidFill>
                <a:latin typeface="Arial"/>
                <a:ea typeface="Malgun Gothic"/>
                <a:cs typeface="Malgun Gothic"/>
              </a:rPr>
              <a:t>이다. Zeng 등의 표현으로 </a:t>
            </a:r>
            <a:r>
              <a:rPr sz="1050" b="0" i="1">
                <a:solidFill>
                  <a:srgbClr val="16213A"/>
                </a:solidFill>
                <a:latin typeface="Arial"/>
                <a:ea typeface="Malgun Gothic"/>
                <a:cs typeface="Malgun Gothic"/>
              </a:rPr>
              <a:t>"these obstacle avoidance constraints under Euclidean norms will not confine the robot's movement unless the robot is relatively close to the obstacles."</a:t>
            </a:r>
            <a:r>
              <a:rPr sz="1050" b="0" i="0">
                <a:solidFill>
                  <a:srgbClr val="16213A"/>
                </a:solidFill>
                <a:latin typeface="Arial"/>
                <a:ea typeface="Malgun Gothic"/>
                <a:cs typeface="Malgun Gothic"/>
              </a:rPr>
              <a:t>
</a:t>
            </a:r>
            <a:r>
              <a:rPr sz="1050" b="1" i="1">
                <a:solidFill>
                  <a:srgbClr val="C2410C"/>
                </a:solidFill>
                <a:latin typeface="Arial"/>
                <a:ea typeface="Malgun Gothic"/>
                <a:cs typeface="Malgun Gothic"/>
              </a:rPr>
              <a:t>ḣ ≥ -α(h)</a:t>
            </a:r>
            <a:r>
              <a:rPr sz="1050" b="1" i="0">
                <a:solidFill>
                  <a:srgbClr val="C2410C"/>
                </a:solidFill>
                <a:latin typeface="Arial"/>
                <a:ea typeface="Malgun Gothic"/>
                <a:cs typeface="Malgun Gothic"/>
              </a:rPr>
              <a:t>처럼 제약이 자기 여유에 비례해 스케일돼야 멀리서부터 활성화된다.</a:t>
            </a:r>
            <a:r>
              <a:rPr sz="1050" b="0" i="0">
                <a:solidFill>
                  <a:srgbClr val="16213A"/>
                </a:solidFill>
                <a:latin typeface="Arial"/>
                <a:ea typeface="Malgun Gothic"/>
                <a:cs typeface="Malgun Gothic"/>
              </a:rPr>
              <a:t> 그래서 적어야 할 기제는 "미분 가능"이 아니라 </a:t>
            </a:r>
            <a:r>
              <a:rPr sz="1050" b="1" i="0">
                <a:solidFill>
                  <a:srgbClr val="16213A"/>
                </a:solidFill>
                <a:latin typeface="Arial"/>
                <a:ea typeface="Malgun Gothic"/>
                <a:cs typeface="Malgun Gothic"/>
              </a:rPr>
              <a:t>"여유 비례"</a:t>
            </a:r>
            <a:r>
              <a:rPr sz="1050" b="0" i="0">
                <a:solidFill>
                  <a:srgbClr val="16213A"/>
                </a:solidFill>
                <a:latin typeface="Arial"/>
                <a:ea typeface="Malgun Gothic"/>
                <a:cs typeface="Malgun Gothic"/>
              </a:rPr>
              <a:t>다. 이것이 CBF 형태(③)와 확률 제약 형태가 단순 거리 제약보다 나은 정확한 이유다.</a:t>
            </a:r>
          </a:p>
        </p:txBody>
      </p:sp>
      <p:sp>
        <p:nvSpPr>
          <p:cNvPr id="9" name="TextBox 8"/>
          <p:cNvSpPr txBox="1"/>
          <p:nvPr/>
        </p:nvSpPr>
        <p:spPr>
          <a:xfrm>
            <a:off x="609600" y="3981648"/>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 그리고 "이진 비용이 MPPI를 거칠게 만든다"는 문헌이 오히려 반대를 말한다.</a:t>
            </a:r>
            <a:r>
              <a:rPr sz="1050" b="0" i="0">
                <a:solidFill>
                  <a:srgbClr val="16213A"/>
                </a:solidFill>
                <a:latin typeface="Arial"/>
                <a:ea typeface="Malgun Gothic"/>
                <a:cs typeface="Malgun Gothic"/>
              </a:rPr>
              <a:t> ① Kim 등(</a:t>
            </a:r>
            <a:r>
              <a:rPr sz="1050" b="0" i="0">
                <a:solidFill>
                  <a:srgbClr val="1D4ED8"/>
                </a:solidFill>
                <a:latin typeface="Arial"/>
                <a:ea typeface="Malgun Gothic"/>
                <a:cs typeface="Malgun Gothic"/>
                <a:hlinkClick r:id="rId3"/>
              </a:rPr>
              <a:t>arXiv:2112.09988</a:t>
            </a:r>
            <a:r>
              <a:rPr sz="1050" b="0" i="0">
                <a:solidFill>
                  <a:srgbClr val="16213A"/>
                </a:solidFill>
                <a:latin typeface="Arial"/>
                <a:ea typeface="Malgun Gothic"/>
                <a:cs typeface="Malgun Gothic"/>
              </a:rPr>
              <a:t>, RA-L 2022)은 MPPI의 떨림을 </a:t>
            </a:r>
            <a:r>
              <a:rPr sz="1050" b="1" i="0">
                <a:solidFill>
                  <a:srgbClr val="16213A"/>
                </a:solidFill>
                <a:latin typeface="Arial"/>
                <a:ea typeface="Malgun Gothic"/>
                <a:cs typeface="Malgun Gothic"/>
              </a:rPr>
              <a:t>샘플링 확률성</a:t>
            </a:r>
            <a:r>
              <a:rPr sz="1050" b="0" i="0">
                <a:solidFill>
                  <a:srgbClr val="16213A"/>
                </a:solidFill>
                <a:latin typeface="Arial"/>
                <a:ea typeface="Malgun Gothic"/>
                <a:cs typeface="Malgun Gothic"/>
              </a:rPr>
              <a:t> 탓으로 돌린다 — </a:t>
            </a:r>
            <a:r>
              <a:rPr sz="1050" b="0" i="1">
                <a:solidFill>
                  <a:srgbClr val="16213A"/>
                </a:solidFill>
                <a:latin typeface="Arial"/>
                <a:ea typeface="Malgun Gothic"/>
                <a:cs typeface="Malgun Gothic"/>
              </a:rPr>
              <a:t>"the stochastic nature of sampling-based methods can cause significant chattering"</a:t>
            </a:r>
            <a:r>
              <a:rPr sz="1050" b="0" i="0">
                <a:solidFill>
                  <a:srgbClr val="16213A"/>
                </a:solidFill>
                <a:latin typeface="Arial"/>
                <a:ea typeface="Malgun Gothic"/>
                <a:cs typeface="Malgun Gothic"/>
              </a:rPr>
              <a:t>. (⚠️ 저자들이 비용 절벽의 기여를 </a:t>
            </a:r>
            <a:r>
              <a:rPr sz="1050" b="1" i="0">
                <a:solidFill>
                  <a:srgbClr val="16213A"/>
                </a:solidFill>
                <a:latin typeface="Arial"/>
                <a:ea typeface="Malgun Gothic"/>
                <a:cs typeface="Malgun Gothic"/>
              </a:rPr>
              <a:t>부정한 것은 아니다</a:t>
            </a:r>
            <a:r>
              <a:rPr sz="1050" b="0" i="0">
                <a:solidFill>
                  <a:srgbClr val="16213A"/>
                </a:solidFill>
                <a:latin typeface="Arial"/>
                <a:ea typeface="Malgun Gothic"/>
                <a:cs typeface="Malgun Gothic"/>
              </a:rPr>
              <a:t> — 대비는 이 문서의 것이다.) ② 확률 제약 MPPI(C2U-MPPI = 아래 Mohamed 외, </a:t>
            </a:r>
            <a:r>
              <a:rPr sz="1050" b="0" i="0">
                <a:solidFill>
                  <a:srgbClr val="1D4ED8"/>
                </a:solidFill>
                <a:latin typeface="Arial"/>
                <a:ea typeface="Malgun Gothic"/>
                <a:cs typeface="Malgun Gothic"/>
                <a:hlinkClick r:id="rId4"/>
              </a:rPr>
              <a:t>arXiv:2501.08520</a:t>
            </a:r>
            <a:r>
              <a:rPr sz="1050" b="0" i="0">
                <a:solidFill>
                  <a:srgbClr val="16213A"/>
                </a:solidFill>
                <a:latin typeface="Arial"/>
                <a:ea typeface="Malgun Gothic"/>
                <a:cs typeface="Malgun Gothic"/>
              </a:rPr>
              <a:t> Table I, 보행자 6명)는 세 번째 비용 항이 </a:t>
            </a:r>
            <a:r>
              <a:rPr sz="1050" b="1" i="0">
                <a:solidFill>
                  <a:srgbClr val="16213A"/>
                </a:solidFill>
                <a:latin typeface="Arial"/>
                <a:ea typeface="Malgun Gothic"/>
                <a:cs typeface="Malgun Gothic"/>
              </a:rPr>
              <a:t>말 그대로 이진</a:t>
            </a:r>
            <a:r>
              <a:rPr sz="1050" b="0" i="0">
                <a:solidFill>
                  <a:srgbClr val="16213A"/>
                </a:solidFill>
                <a:latin typeface="Arial"/>
                <a:ea typeface="Malgun Gothic"/>
                <a:cs typeface="Malgun Gothic"/>
              </a:rPr>
              <a:t>인데, 누적 저크가 하드 제약을 쓴 MPCC보다 </a:t>
            </a:r>
            <a:r>
              <a:rPr sz="1050" b="1" i="0">
                <a:solidFill>
                  <a:srgbClr val="16213A"/>
                </a:solidFill>
                <a:latin typeface="Arial"/>
                <a:ea typeface="Malgun Gothic"/>
                <a:cs typeface="Malgun Gothic"/>
              </a:rPr>
              <a:t>낮았다</a:t>
            </a:r>
            <a:r>
              <a:rPr sz="1050" b="0" i="0">
                <a:solidFill>
                  <a:srgbClr val="16213A"/>
                </a:solidFill>
                <a:latin typeface="Arial"/>
                <a:ea typeface="Malgun Gothic"/>
                <a:cs typeface="Malgun Gothic"/>
              </a:rPr>
              <a:t> (10.2/14.4/17.3 대 38.0/50.2/60.8, 충돌 0/0/0 대 1/7/4).</a:t>
            </a:r>
          </a:p>
        </p:txBody>
      </p:sp>
      <p:sp>
        <p:nvSpPr>
          <p:cNvPr id="10" name="TextBox 9"/>
          <p:cNvSpPr txBox="1"/>
          <p:nvPr/>
        </p:nvSpPr>
        <p:spPr>
          <a:xfrm>
            <a:off x="609600" y="493653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이유는 앞서 본 Boltzmann 평균이다 — </a:t>
            </a:r>
            <a:r>
              <a:rPr sz="1050" b="1" i="0">
                <a:solidFill>
                  <a:srgbClr val="C2410C"/>
                </a:solidFill>
                <a:latin typeface="Arial"/>
                <a:ea typeface="Malgun Gothic"/>
                <a:cs typeface="Malgun Gothic"/>
              </a:rPr>
              <a:t>softmax가 이진 지시함수를 </a:t>
            </a:r>
            <a:r>
              <a:rPr sz="1050" b="1" i="0">
                <a:solidFill>
                  <a:srgbClr val="C2410C"/>
                </a:solidFill>
                <a:latin typeface="Arial"/>
                <a:ea typeface="Malgun Gothic"/>
                <a:cs typeface="Malgun Gothic"/>
              </a:rPr>
              <a:t>합성곱해서</a:t>
            </a:r>
            <a:r>
              <a:rPr sz="1050" b="1" i="0">
                <a:solidFill>
                  <a:srgbClr val="C2410C"/>
                </a:solidFill>
                <a:latin typeface="Arial"/>
                <a:ea typeface="Malgun Gothic"/>
                <a:cs typeface="Malgun Gothic"/>
              </a:rPr>
              <a:t> 매끄럽게 만든다.</a:t>
            </a:r>
            <a:r>
              <a:rPr sz="1050" b="0" i="0">
                <a:solidFill>
                  <a:srgbClr val="16213A"/>
                </a:solidFill>
                <a:latin typeface="Arial"/>
                <a:ea typeface="Malgun Gothic"/>
                <a:cs typeface="Malgun Gothic"/>
              </a:rPr>
              <a:t> 플래그를 밟는 롤아웃의 </a:t>
            </a:r>
            <a:r>
              <a:rPr sz="1050" b="1" i="0">
                <a:solidFill>
                  <a:srgbClr val="16213A"/>
                </a:solidFill>
                <a:latin typeface="Arial"/>
                <a:ea typeface="Malgun Gothic"/>
                <a:cs typeface="Malgun Gothic"/>
              </a:rPr>
              <a:t>비율</a:t>
            </a:r>
            <a:r>
              <a:rPr sz="1050" b="0" i="0">
                <a:solidFill>
                  <a:srgbClr val="16213A"/>
                </a:solidFill>
                <a:latin typeface="Arial"/>
                <a:ea typeface="Malgun Gothic"/>
                <a:cs typeface="Malgun Gothic"/>
              </a:rPr>
              <a:t>이 명목 제어에 따라 연속적으로 변하기 때문이다. </a:t>
            </a:r>
            <a:r>
              <a:rPr sz="1050" b="1" i="0">
                <a:solidFill>
                  <a:srgbClr val="C2410C"/>
                </a:solidFill>
                <a:latin typeface="Arial"/>
                <a:ea typeface="Malgun Gothic"/>
                <a:cs typeface="Malgun Gothic"/>
              </a:rPr>
              <a:t>그래서 결론이 travplan의 두 트랙에서 갈린다:</a:t>
            </a:r>
          </a:p>
        </p:txBody>
      </p:sp>
      <p:sp>
        <p:nvSpPr>
          <p:cNvPr id="11" name="TextBox 10"/>
          <p:cNvSpPr txBox="1"/>
          <p:nvPr/>
        </p:nvSpPr>
        <p:spPr>
          <a:xfrm>
            <a:off x="609600" y="545842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15개(문단·식·그림)는 대시보드 리서치 탭의 "자세히: 연속적인 감속이 수학적으로 어디서 나오는가 — 세 가지 형태" 토글에 있다.</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219 / 359</a:t>
            </a:r>
          </a:p>
        </p:txBody>
      </p:sp>
      <p:sp>
        <p:nvSpPr>
          <p:cNvPr id="5" name="TextBox 4"/>
          <p:cNvSpPr txBox="1"/>
          <p:nvPr/>
        </p:nvSpPr>
        <p:spPr>
          <a:xfrm>
            <a:off x="609600" y="1244600"/>
            <a:ext cx="10972800" cy="188516"/>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완벽하게 예측해도 양보는 풀리지 않는다 — Freezing Robot Problem</a:t>
            </a:r>
          </a:p>
        </p:txBody>
      </p:sp>
      <p:sp>
        <p:nvSpPr>
          <p:cNvPr id="6" name="TextBox 5"/>
          <p:cNvSpPr txBox="1"/>
          <p:nvPr/>
        </p:nvSpPr>
        <p:spPr>
          <a:xfrm>
            <a:off x="609600" y="152201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절에서 하나만 기억한다면 이것이다. 원 논문은 Trautman &amp; Krause, </a:t>
            </a:r>
            <a:r>
              <a:rPr sz="1050" b="0" i="1">
                <a:solidFill>
                  <a:srgbClr val="16213A"/>
                </a:solidFill>
                <a:latin typeface="Arial"/>
                <a:ea typeface="Malgun Gothic"/>
                <a:cs typeface="Malgun Gothic"/>
              </a:rPr>
              <a:t>Unfreezing the Robot</a:t>
            </a:r>
            <a:r>
              <a:rPr sz="1050" b="0" i="0">
                <a:solidFill>
                  <a:srgbClr val="16213A"/>
                </a:solidFill>
                <a:latin typeface="Arial"/>
                <a:ea typeface="Malgun Gothic"/>
                <a:cs typeface="Malgun Gothic"/>
              </a:rPr>
              <a:t>(IROS 2010, DOI </a:t>
            </a:r>
            <a:r>
              <a:rPr sz="1050" b="0" i="0">
                <a:solidFill>
                  <a:srgbClr val="1D4ED8"/>
                </a:solidFill>
                <a:latin typeface="Arial"/>
                <a:ea typeface="Malgun Gothic"/>
                <a:cs typeface="Malgun Gothic"/>
                <a:hlinkClick r:id="rId3"/>
              </a:rPr>
              <a:t>10.1109/IROS.2010.5654369</a:t>
            </a:r>
            <a:r>
              <a:rPr sz="1050" b="0" i="0">
                <a:solidFill>
                  <a:srgbClr val="16213A"/>
                </a:solidFill>
                <a:latin typeface="Arial"/>
                <a:ea typeface="Malgun Gothic"/>
                <a:cs typeface="Malgun Gothic"/>
              </a:rPr>
              <a:t>)이지만 </a:t>
            </a:r>
            <a:r>
              <a:rPr sz="1050" b="1" i="0">
                <a:solidFill>
                  <a:srgbClr val="16213A"/>
                </a:solidFill>
                <a:latin typeface="Arial"/>
                <a:ea typeface="Malgun Gothic"/>
                <a:cs typeface="Malgun Gothic"/>
              </a:rPr>
              <a:t>폐쇄 접근이라 원문을 확인할 수 없어, 아래 인용은 모두 저널판</a:t>
            </a:r>
            <a:r>
              <a:rPr sz="1050" b="0" i="0">
                <a:solidFill>
                  <a:srgbClr val="16213A"/>
                </a:solidFill>
                <a:latin typeface="Arial"/>
                <a:ea typeface="Malgun Gothic"/>
                <a:cs typeface="Malgun Gothic"/>
              </a:rPr>
              <a:t>(Trautman 외, IJRR 2015 34(3):335, DOI </a:t>
            </a:r>
            <a:r>
              <a:rPr sz="1050" b="0" i="0">
                <a:solidFill>
                  <a:srgbClr val="1D4ED8"/>
                </a:solidFill>
                <a:latin typeface="Arial"/>
                <a:ea typeface="Malgun Gothic"/>
                <a:cs typeface="Malgun Gothic"/>
                <a:hlinkClick r:id="rId4"/>
              </a:rPr>
              <a:t>10.1177/0278364914557874</a:t>
            </a:r>
            <a:r>
              <a:rPr sz="1050" b="0" i="0">
                <a:solidFill>
                  <a:srgbClr val="16213A"/>
                </a:solidFill>
                <a:latin typeface="Arial"/>
                <a:ea typeface="Malgun Gothic"/>
                <a:cs typeface="Malgun Gothic"/>
              </a:rPr>
              <a:t>, Caltech OA 사본)</a:t>
            </a:r>
            <a:r>
              <a:rPr sz="1050" b="1" i="0">
                <a:solidFill>
                  <a:srgbClr val="16213A"/>
                </a:solidFill>
                <a:latin typeface="Arial"/>
                <a:ea typeface="Malgun Gothic"/>
                <a:cs typeface="Malgun Gothic"/>
              </a:rPr>
              <a:t>에서 직접 확인한 것이다.</a:t>
            </a:r>
          </a:p>
        </p:txBody>
      </p:sp>
      <p:sp>
        <p:nvSpPr>
          <p:cNvPr id="7" name="TextBox 6"/>
          <p:cNvSpPr txBox="1"/>
          <p:nvPr/>
        </p:nvSpPr>
        <p:spPr>
          <a:xfrm>
            <a:off x="609600" y="2043906"/>
            <a:ext cx="10972800" cy="559991"/>
          </a:xfrm>
          <a:prstGeom prst="rect">
            <a:avLst/>
          </a:prstGeom>
          <a:solidFill>
            <a:srgbClr val="EEF1F6"/>
          </a:solidFill>
        </p:spPr>
        <p:txBody>
          <a:bodyPr wrap="square" lIns="114300" rIns="114300" tIns="63500" bIns="63500" anchor="t">
            <a:spAutoFit/>
            <a:normAutofit/>
          </a:bodyPr>
          <a:lstStyle/>
          <a:p>
            <a:r>
              <a:rPr sz="1050" b="0" i="1">
                <a:solidFill>
                  <a:srgbClr val="33405A"/>
                </a:solidFill>
                <a:latin typeface="Arial"/>
                <a:ea typeface="Malgun Gothic"/>
                <a:cs typeface="Malgun Gothic"/>
              </a:rPr>
              <a:t>"However, even under perfect </a:t>
            </a:r>
            <a:r>
              <a:rPr sz="1050" b="0" i="1">
                <a:solidFill>
                  <a:srgbClr val="33405A"/>
                </a:solidFill>
                <a:latin typeface="Arial"/>
                <a:ea typeface="Malgun Gothic"/>
                <a:cs typeface="Malgun Gothic"/>
              </a:rPr>
              <a:t>individual</a:t>
            </a:r>
            <a:r>
              <a:rPr sz="1050" b="0" i="1">
                <a:solidFill>
                  <a:srgbClr val="33405A"/>
                </a:solidFill>
                <a:latin typeface="Arial"/>
                <a:ea typeface="Malgun Gothic"/>
                <a:cs typeface="Malgun Gothic"/>
              </a:rPr>
              <a:t> prediction (i.e. each agent's trajectory is known to the planning algorithm) the FRP still occurs if the crowd adopts </a:t>
            </a:r>
            <a:r>
              <a:rPr sz="1050" b="0" i="1">
                <a:solidFill>
                  <a:srgbClr val="33405A"/>
                </a:solidFill>
                <a:latin typeface="Arial"/>
                <a:ea typeface="Malgun Gothic"/>
                <a:cs typeface="Malgun Gothic"/>
              </a:rPr>
              <a:t>specific configurations</a:t>
            </a:r>
            <a:r>
              <a:rPr sz="1050" b="0" i="1">
                <a:solidFill>
                  <a:srgbClr val="33405A"/>
                </a:solidFill>
                <a:latin typeface="Arial"/>
                <a:ea typeface="Malgun Gothic"/>
                <a:cs typeface="Malgun Gothic"/>
              </a:rPr>
              <a:t>."</a:t>
            </a:r>
          </a:p>
        </p:txBody>
      </p:sp>
      <p:sp>
        <p:nvSpPr>
          <p:cNvPr id="8" name="TextBox 7"/>
          <p:cNvSpPr txBox="1"/>
          <p:nvPr/>
        </p:nvSpPr>
        <p:spPr>
          <a:xfrm>
            <a:off x="609600" y="2692797"/>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바로 다음 문장이 그 "특정 배치"를 설명한다 — </a:t>
            </a:r>
            <a:r>
              <a:rPr sz="1050" b="0" i="1">
                <a:solidFill>
                  <a:srgbClr val="16213A"/>
                </a:solidFill>
                <a:latin typeface="Arial"/>
                <a:ea typeface="Malgun Gothic"/>
                <a:cs typeface="Malgun Gothic"/>
              </a:rPr>
              <a:t>"when people walk </a:t>
            </a:r>
            <a:r>
              <a:rPr sz="1050" b="0" i="1">
                <a:solidFill>
                  <a:srgbClr val="16213A"/>
                </a:solidFill>
                <a:latin typeface="Arial"/>
                <a:ea typeface="Malgun Gothic"/>
                <a:cs typeface="Malgun Gothic"/>
              </a:rPr>
              <a:t>shoulder to shoulder</a:t>
            </a:r>
            <a:r>
              <a:rPr sz="1050" b="0" i="1">
                <a:solidFill>
                  <a:srgbClr val="16213A"/>
                </a:solidFill>
                <a:latin typeface="Arial"/>
                <a:ea typeface="Malgun Gothic"/>
                <a:cs typeface="Malgun Gothic"/>
              </a:rPr>
              <a:t>, the robot is forced to walk around the crowd, </a:t>
            </a:r>
            <a:r>
              <a:rPr sz="1050" b="0" i="1">
                <a:solidFill>
                  <a:srgbClr val="16213A"/>
                </a:solidFill>
                <a:latin typeface="Arial"/>
                <a:ea typeface="Malgun Gothic"/>
                <a:cs typeface="Malgun Gothic"/>
              </a:rPr>
              <a:t>even when the humans are willing to allow passage</a:t>
            </a:r>
            <a:r>
              <a:rPr sz="1050" b="0" i="1">
                <a:solidFill>
                  <a:srgbClr val="16213A"/>
                </a:solidFill>
                <a:latin typeface="Arial"/>
                <a:ea typeface="Malgun Gothic"/>
                <a:cs typeface="Malgun Gothic"/>
              </a:rPr>
              <a:t>."</a:t>
            </a:r>
            <a:r>
              <a:rPr sz="1050" b="0" i="0">
                <a:solidFill>
                  <a:srgbClr val="16213A"/>
                </a:solidFill>
                <a:latin typeface="Arial"/>
                <a:ea typeface="Malgun Gothic"/>
                <a:cs typeface="Malgun Gothic"/>
              </a:rPr>
              <a:t> 그리고 밀도에 대해서는 이렇게 쓴다:</a:t>
            </a:r>
          </a:p>
        </p:txBody>
      </p:sp>
      <p:sp>
        <p:nvSpPr>
          <p:cNvPr id="9" name="TextBox 8"/>
          <p:cNvSpPr txBox="1"/>
          <p:nvPr/>
        </p:nvSpPr>
        <p:spPr>
          <a:xfrm>
            <a:off x="609600" y="3214688"/>
            <a:ext cx="10972800" cy="827286"/>
          </a:xfrm>
          <a:prstGeom prst="rect">
            <a:avLst/>
          </a:prstGeom>
          <a:solidFill>
            <a:srgbClr val="EEF1F6"/>
          </a:solidFill>
        </p:spPr>
        <p:txBody>
          <a:bodyPr wrap="square" lIns="114300" rIns="114300" tIns="63500" bIns="63500" anchor="t">
            <a:spAutoFit/>
            <a:normAutofit/>
          </a:bodyPr>
          <a:lstStyle/>
          <a:p>
            <a:r>
              <a:rPr sz="1050" b="0" i="1">
                <a:solidFill>
                  <a:srgbClr val="33405A"/>
                </a:solidFill>
                <a:latin typeface="Arial"/>
                <a:ea typeface="Malgun Gothic"/>
                <a:cs typeface="Malgun Gothic"/>
              </a:rPr>
              <a:t>"approaches that work at improving the independent agent prediction or reducing the covariance </a:t>
            </a:r>
            <a:r>
              <a:rPr sz="1050" b="0" i="1">
                <a:solidFill>
                  <a:srgbClr val="33405A"/>
                </a:solidFill>
                <a:latin typeface="Arial"/>
                <a:ea typeface="Malgun Gothic"/>
                <a:cs typeface="Malgun Gothic"/>
              </a:rPr>
              <a:t>only solve the FRP for crowd densities below a certain threshold</a:t>
            </a:r>
            <a:r>
              <a:rPr sz="1050" b="0" i="1">
                <a:solidFill>
                  <a:srgbClr val="33405A"/>
                </a:solidFill>
                <a:latin typeface="Arial"/>
                <a:ea typeface="Malgun Gothic"/>
                <a:cs typeface="Malgun Gothic"/>
              </a:rPr>
              <a:t>; importantly, they cannot be expected to solve the FRP in general, no matter how favorable the circumstances."</a:t>
            </a:r>
          </a:p>
          <a:p>
            <a:r>
              <a:rPr sz="1050" b="0" i="1">
                <a:solidFill>
                  <a:srgbClr val="33405A"/>
                </a:solidFill>
                <a:latin typeface="Arial"/>
                <a:ea typeface="Malgun Gothic"/>
                <a:cs typeface="Malgun Gothic"/>
              </a:rPr>
              <a:t>"a crucial element is missing: </a:t>
            </a:r>
            <a:r>
              <a:rPr sz="1050" b="0" i="1">
                <a:solidFill>
                  <a:srgbClr val="33405A"/>
                </a:solidFill>
                <a:latin typeface="Arial"/>
                <a:ea typeface="Malgun Gothic"/>
                <a:cs typeface="Malgun Gothic"/>
              </a:rPr>
              <a:t>the agent motion model is agnostic of the navigating robot.</a:t>
            </a:r>
            <a:r>
              <a:rPr sz="1050" b="0" i="1">
                <a:solidFill>
                  <a:srgbClr val="33405A"/>
                </a:solidFill>
                <a:latin typeface="Arial"/>
                <a:ea typeface="Malgun Gothic"/>
                <a:cs typeface="Malgun Gothic"/>
              </a:rPr>
              <a:t>"</a:t>
            </a:r>
          </a:p>
        </p:txBody>
      </p:sp>
      <p:sp>
        <p:nvSpPr>
          <p:cNvPr id="10" name="TextBox 9"/>
          <p:cNvSpPr txBox="1"/>
          <p:nvPr/>
        </p:nvSpPr>
        <p:spPr>
          <a:xfrm>
            <a:off x="609600" y="4130873"/>
            <a:ext cx="10972800" cy="86598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즉 개별 예측을 아무리 잘해도 안 된다.</a:t>
            </a:r>
            <a:r>
              <a:rPr sz="1050" b="0" i="0">
                <a:solidFill>
                  <a:srgbClr val="16213A"/>
                </a:solidFill>
                <a:latin typeface="Arial"/>
                <a:ea typeface="Malgun Gothic"/>
                <a:cs typeface="Malgun Gothic"/>
              </a:rPr>
              <a:t> 원인은 정확도가 아니라 </a:t>
            </a:r>
            <a:r>
              <a:rPr sz="1050" b="1" i="0">
                <a:solidFill>
                  <a:srgbClr val="16213A"/>
                </a:solidFill>
                <a:latin typeface="Arial"/>
                <a:ea typeface="Malgun Gothic"/>
                <a:cs typeface="Malgun Gothic"/>
              </a:rPr>
              <a:t>구조</a:t>
            </a:r>
            <a:r>
              <a:rPr sz="1050" b="0" i="0">
                <a:solidFill>
                  <a:srgbClr val="16213A"/>
                </a:solidFill>
                <a:latin typeface="Arial"/>
                <a:ea typeface="Malgun Gothic"/>
                <a:cs typeface="Malgun Gothic"/>
              </a:rPr>
              <a:t>다. 예측을 로봇의 후보 행동과 무관하게 한 번 계산해서 장애물 장(場)으로 넘기면, 사람들이 나란히 걷는 것 같은 </a:t>
            </a:r>
            <a:r>
              <a:rPr sz="1050" b="1" i="0">
                <a:solidFill>
                  <a:srgbClr val="16213A"/>
                </a:solidFill>
                <a:latin typeface="Arial"/>
                <a:ea typeface="Malgun Gothic"/>
                <a:cs typeface="Malgun Gothic"/>
              </a:rPr>
              <a:t>특정 배치</a:t>
            </a:r>
            <a:r>
              <a:rPr sz="1050" b="0" i="0">
                <a:solidFill>
                  <a:srgbClr val="16213A"/>
                </a:solidFill>
                <a:latin typeface="Arial"/>
                <a:ea typeface="Malgun Gothic"/>
                <a:cs typeface="Malgun Gothic"/>
              </a:rPr>
              <a:t>에서 "모든 경로가 막혔다"가 되어 로봇이 선다 — 사람들이 비켜 줄 의향이 있어도 그렇다. 해법은 예측을 </a:t>
            </a:r>
            <a:r>
              <a:rPr sz="1050" b="1" i="0">
                <a:solidFill>
                  <a:srgbClr val="16213A"/>
                </a:solidFill>
                <a:latin typeface="Arial"/>
                <a:ea typeface="Malgun Gothic"/>
                <a:cs typeface="Malgun Gothic"/>
              </a:rPr>
              <a:t>로봇의 계획에 의존하게</a:t>
            </a:r>
            <a:r>
              <a:rPr sz="1050" b="0" i="0">
                <a:solidFill>
                  <a:srgbClr val="16213A"/>
                </a:solidFill>
                <a:latin typeface="Arial"/>
                <a:ea typeface="Malgun Gothic"/>
                <a:cs typeface="Malgun Gothic"/>
              </a:rPr>
              <a:t> 만드는 것이다(joint collision avoidance). ⚠️ </a:t>
            </a:r>
            <a:r>
              <a:rPr sz="1050" b="1" i="0">
                <a:solidFill>
                  <a:srgbClr val="16213A"/>
                </a:solidFill>
                <a:latin typeface="Arial"/>
                <a:ea typeface="Malgun Gothic"/>
                <a:cs typeface="Malgun Gothic"/>
              </a:rPr>
              <a:t>정정(2026-09-30)</a:t>
            </a:r>
            <a:r>
              <a:rPr sz="1050" b="0" i="0">
                <a:solidFill>
                  <a:srgbClr val="16213A"/>
                </a:solidFill>
                <a:latin typeface="Arial"/>
                <a:ea typeface="Malgun Gothic"/>
                <a:cs typeface="Malgun Gothic"/>
              </a:rPr>
              <a:t>: 처음에는 이 인용을 IROS 2010 것으로 적고 "군중 밀도가 높으면"이라고 옮겼는데, 원문은 </a:t>
            </a:r>
            <a:r>
              <a:rPr sz="1050" b="1" i="0">
                <a:solidFill>
                  <a:srgbClr val="16213A"/>
                </a:solidFill>
                <a:latin typeface="Arial"/>
                <a:ea typeface="Malgun Gothic"/>
                <a:cs typeface="Malgun Gothic"/>
              </a:rPr>
              <a:t>"특정 배치"</a:t>
            </a:r>
            <a:r>
              <a:rPr sz="1050" b="0" i="0">
                <a:solidFill>
                  <a:srgbClr val="16213A"/>
                </a:solidFill>
                <a:latin typeface="Arial"/>
                <a:ea typeface="Malgun Gothic"/>
                <a:cs typeface="Malgun Gothic"/>
              </a:rPr>
              <a:t>이고 </a:t>
            </a:r>
            <a:r>
              <a:rPr sz="1050" b="1" i="0">
                <a:solidFill>
                  <a:srgbClr val="16213A"/>
                </a:solidFill>
                <a:latin typeface="Arial"/>
                <a:ea typeface="Malgun Gothic"/>
                <a:cs typeface="Malgun Gothic"/>
              </a:rPr>
              <a:t>"individual"</a:t>
            </a:r>
            <a:r>
              <a:rPr sz="1050" b="0" i="0">
                <a:solidFill>
                  <a:srgbClr val="16213A"/>
                </a:solidFill>
                <a:latin typeface="Arial"/>
                <a:ea typeface="Malgun Gothic"/>
                <a:cs typeface="Malgun Gothic"/>
              </a:rPr>
              <a:t>이 빠져 있었다. 밀도는 위 세 번째 인용처럼 </a:t>
            </a:r>
            <a:r>
              <a:rPr sz="1050" b="0" i="1">
                <a:solidFill>
                  <a:srgbClr val="16213A"/>
                </a:solidFill>
                <a:latin typeface="Arial"/>
                <a:ea typeface="Malgun Gothic"/>
                <a:cs typeface="Malgun Gothic"/>
              </a:rPr>
              <a:t>"더 나은 개별 예측은 어떤 밀도 문턱 아래에서만 통한다"</a:t>
            </a:r>
            <a:r>
              <a:rPr sz="1050" b="0" i="0">
                <a:solidFill>
                  <a:srgbClr val="16213A"/>
                </a:solidFill>
                <a:latin typeface="Arial"/>
                <a:ea typeface="Malgun Gothic"/>
                <a:cs typeface="Malgun Gothic"/>
              </a:rPr>
              <a:t>는 형태로 등장한다.</a:t>
            </a:r>
          </a:p>
        </p:txBody>
      </p:sp>
      <p:sp>
        <p:nvSpPr>
          <p:cNvPr id="11" name="TextBox 10"/>
          <p:cNvSpPr txBox="1"/>
          <p:nvPr/>
        </p:nvSpPr>
        <p:spPr>
          <a:xfrm>
            <a:off x="609600" y="5085755"/>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IGP의 상호작용 항은 모든 쌍에 대해 곱해지고 </a:t>
            </a:r>
            <a:r>
              <a:rPr sz="1050" b="0" i="1">
                <a:solidFill>
                  <a:srgbClr val="16213A"/>
                </a:solidFill>
                <a:latin typeface="Arial"/>
                <a:ea typeface="Malgun Gothic"/>
                <a:cs typeface="Malgun Gothic"/>
              </a:rPr>
              <a:t>[1-α, 1]</a:t>
            </a:r>
            <a:r>
              <a:rPr sz="1050" b="0" i="0">
                <a:solidFill>
                  <a:srgbClr val="16213A"/>
                </a:solidFill>
                <a:latin typeface="Arial"/>
                <a:ea typeface="Malgun Gothic"/>
                <a:cs typeface="Malgun Gothic"/>
              </a:rPr>
              <a:t>로 유계다. </a:t>
            </a:r>
            <a:r>
              <a:rPr sz="1050" b="0" i="1">
                <a:solidFill>
                  <a:srgbClr val="16213A"/>
                </a:solidFill>
                <a:latin typeface="Arial"/>
                <a:ea typeface="Malgun Gothic"/>
                <a:cs typeface="Malgun Gothic"/>
              </a:rPr>
              <a:t>α &lt; 1</a:t>
            </a:r>
            <a:r>
              <a:rPr sz="1050" b="0" i="0">
                <a:solidFill>
                  <a:srgbClr val="16213A"/>
                </a:solidFill>
                <a:latin typeface="Arial"/>
                <a:ea typeface="Malgun Gothic"/>
                <a:cs typeface="Malgun Gothic"/>
              </a:rPr>
              <a:t>이면 </a:t>
            </a:r>
            <a:r>
              <a:rPr sz="1050" b="1" i="0">
                <a:solidFill>
                  <a:srgbClr val="C2410C"/>
                </a:solidFill>
                <a:latin typeface="Arial"/>
                <a:ea typeface="Malgun Gothic"/>
                <a:cs typeface="Malgun Gothic"/>
              </a:rPr>
              <a:t>어떤 공동 경로에도 확률 0이 배정되지 않아 "전부 막혔다"가 성립할 수 없다</a:t>
            </a:r>
            <a:r>
              <a:rPr sz="1050" b="0" i="0">
                <a:solidFill>
                  <a:srgbClr val="16213A"/>
                </a:solidFill>
                <a:latin typeface="Arial"/>
                <a:ea typeface="Malgun Gothic"/>
                <a:cs typeface="Malgun Gothic"/>
              </a:rPr>
              <a:t> — 구조적으로 얼지 않는다. Nav2 MPPI의 </a:t>
            </a:r>
            <a:r>
              <a:rPr sz="1050" b="0" i="0">
                <a:solidFill>
                  <a:srgbClr val="16213A"/>
                </a:solidFill>
                <a:latin typeface="Consolas"/>
                <a:ea typeface="Malgun Gothic"/>
                <a:cs typeface="Malgun Gothic"/>
              </a:rPr>
              <a:t>all_trajectories_collide</a:t>
            </a:r>
            <a:r>
              <a:rPr sz="1050" b="0" i="0">
                <a:solidFill>
                  <a:srgbClr val="16213A"/>
                </a:solidFill>
                <a:latin typeface="Arial"/>
                <a:ea typeface="Malgun Gothic"/>
                <a:cs typeface="Malgun Gothic"/>
              </a:rPr>
              <a:t> 같은 </a:t>
            </a:r>
            <a:r>
              <a:rPr sz="1050" b="1" i="0">
                <a:solidFill>
                  <a:srgbClr val="16213A"/>
                </a:solidFill>
                <a:latin typeface="Arial"/>
                <a:ea typeface="Malgun Gothic"/>
                <a:cs typeface="Malgun Gothic"/>
              </a:rPr>
              <a:t>하드 실패 분기</a:t>
            </a:r>
            <a:r>
              <a:rPr sz="1050" b="0" i="0">
                <a:solidFill>
                  <a:srgbClr val="16213A"/>
                </a:solidFill>
                <a:latin typeface="Arial"/>
                <a:ea typeface="Malgun Gothic"/>
                <a:cs typeface="Malgun Gothic"/>
              </a:rPr>
              <a:t>가 정확히 이것이 제거하려는 구조다.</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220 / 359</a:t>
            </a:r>
          </a:p>
        </p:txBody>
      </p:sp>
      <p:pic>
        <p:nvPicPr>
          <p:cNvPr id="5" name="Picture 4" descr="image.jpg"/>
          <p:cNvPicPr>
            <a:picLocks noChangeAspect="1"/>
          </p:cNvPicPr>
          <p:nvPr/>
        </p:nvPicPr>
        <p:blipFill>
          <a:blip r:embed="rId3"/>
          <a:stretch>
            <a:fillRect/>
          </a:stretch>
        </p:blipFill>
        <p:spPr>
          <a:xfrm>
            <a:off x="1016000" y="1244600"/>
            <a:ext cx="10160000" cy="2863850"/>
          </a:xfrm>
          <a:prstGeom prst="rect">
            <a:avLst/>
          </a:prstGeom>
        </p:spPr>
      </p:pic>
      <p:sp>
        <p:nvSpPr>
          <p:cNvPr id="6" name="TextBox 5"/>
          <p:cNvSpPr txBox="1"/>
          <p:nvPr/>
        </p:nvSpPr>
        <p:spPr>
          <a:xfrm>
            <a:off x="1016000" y="414655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Mavrogiannis 외 (Fig. 1): 소셜 로봇 내비게이션 연구의 흐름. 예측과 계획을 분리하는 쪽에서 결합하는 쪽으로 넘어가는 축이 이 절의 주제다. 출처: arXiv:2103.05668</a:t>
            </a:r>
          </a:p>
        </p:txBody>
      </p:sp>
      <p:sp>
        <p:nvSpPr>
          <p:cNvPr id="7" name="TextBox 6"/>
          <p:cNvSpPr txBox="1"/>
          <p:nvPr/>
        </p:nvSpPr>
        <p:spPr>
          <a:xfrm>
            <a:off x="609600" y="4377630"/>
            <a:ext cx="10972800" cy="188516"/>
          </a:xfrm>
          <a:prstGeom prst="rect">
            <a:avLst/>
          </a:prstGeom>
          <a:noFill/>
        </p:spPr>
        <p:txBody>
          <a:bodyPr wrap="square" lIns="0" rIns="0" tIns="0" bIns="0" anchor="t">
            <a:spAutoFit/>
            <a:normAutofit/>
          </a:bodyPr>
          <a:lstStyle/>
          <a:p>
            <a:r>
              <a:rPr sz="1050" b="1" i="0">
                <a:solidFill>
                  <a:srgbClr val="5A6478"/>
                </a:solidFill>
                <a:latin typeface="Arial"/>
                <a:ea typeface="Malgun Gothic"/>
                <a:cs typeface="Malgun Gothic"/>
              </a:rPr>
              <a:t>그 대가가 측정된 적이 있다 — 충돌이 타임아웃으로 바뀐다</a:t>
            </a:r>
          </a:p>
        </p:txBody>
      </p:sp>
      <p:sp>
        <p:nvSpPr>
          <p:cNvPr id="8" name="TextBox 7"/>
          <p:cNvSpPr txBox="1"/>
          <p:nvPr/>
        </p:nvSpPr>
        <p:spPr>
          <a:xfrm>
            <a:off x="609600" y="465504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PGIF-MPPI(</a:t>
            </a:r>
            <a:r>
              <a:rPr sz="1050" b="0" i="0">
                <a:solidFill>
                  <a:srgbClr val="1D4ED8"/>
                </a:solidFill>
                <a:latin typeface="Arial"/>
                <a:ea typeface="Malgun Gothic"/>
                <a:cs typeface="Malgun Gothic"/>
                <a:hlinkClick r:id="rId4"/>
              </a:rPr>
              <a:t>arXiv:2608.08323</a:t>
            </a:r>
            <a:r>
              <a:rPr sz="1050" b="0" i="0">
                <a:solidFill>
                  <a:srgbClr val="16213A"/>
                </a:solidFill>
                <a:latin typeface="Arial"/>
                <a:ea typeface="Malgun Gothic"/>
                <a:cs typeface="Malgun Gothic"/>
              </a:rPr>
              <a:t>)가 바로 이 절에서 권하는 것을 한다 — 보행자 예측을 지평 전체로 전파하고, 진행 방향에 정렬된 </a:t>
            </a:r>
            <a:r>
              <a:rPr sz="1050" b="1" i="0">
                <a:solidFill>
                  <a:srgbClr val="16213A"/>
                </a:solidFill>
                <a:latin typeface="Arial"/>
                <a:ea typeface="Malgun Gothic"/>
                <a:cs typeface="Malgun Gothic"/>
              </a:rPr>
              <a:t>비등방 가우시안</a:t>
            </a:r>
            <a:r>
              <a:rPr sz="1050" b="0" i="0">
                <a:solidFill>
                  <a:srgbClr val="16213A"/>
                </a:solidFill>
                <a:latin typeface="Arial"/>
                <a:ea typeface="Malgun Gothic"/>
                <a:cs typeface="Malgun Gothic"/>
              </a:rPr>
              <a:t>으로 비용에 넣는다 (전방 분산이 보행자 속도에 따라 커져 "motion cone"을 만든다). 저자들이 복도 300 시나리오를 밀도 3단계로 돌린 결과가 </a:t>
            </a:r>
            <a:r>
              <a:rPr sz="1050" b="1" i="0">
                <a:solidFill>
                  <a:srgbClr val="C2410C"/>
                </a:solidFill>
                <a:latin typeface="Arial"/>
                <a:ea typeface="Malgun Gothic"/>
                <a:cs typeface="Malgun Gothic"/>
              </a:rPr>
              <a:t>이 절 전체의 교환 관계를 한 표로 보여 준다.</a:t>
            </a:r>
          </a:p>
        </p:txBody>
      </p:sp>
      <p:graphicFrame>
        <p:nvGraphicFramePr>
          <p:cNvPr id="9" name="Table 8"/>
          <p:cNvGraphicFramePr>
            <a:graphicFrameLocks noGrp="1"/>
          </p:cNvGraphicFramePr>
          <p:nvPr/>
        </p:nvGraphicFramePr>
        <p:xfrm>
          <a:off x="609600" y="5176937"/>
          <a:ext cx="10966945" cy="788352"/>
        </p:xfrm>
        <a:graphic>
          <a:graphicData uri="http://schemas.openxmlformats.org/drawingml/2006/table">
            <a:tbl>
              <a:tblPr firstRow="1" bandRow="1">
                <a:tableStyleId>{5C22544A-7EE6-4342-B048-85BDC9FD1C3A}</a:tableStyleId>
              </a:tblPr>
              <a:tblGrid>
                <a:gridCol w="5805785"/>
                <a:gridCol w="1685230"/>
                <a:gridCol w="1685230"/>
                <a:gridCol w="1790700"/>
              </a:tblGrid>
              <a:tr h="197088">
                <a:tc>
                  <a:txBody>
                    <a:bodyPr wrap="square"/>
                    <a:lstStyle/>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희박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중간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조밀</a:t>
                      </a:r>
                    </a:p>
                  </a:txBody>
                  <a:tcPr marL="63500" marR="63500" marT="12700" marB="12700">
                    <a:solidFill>
                      <a:srgbClr val="16213A"/>
                    </a:solidFill>
                  </a:tcPr>
                </a:tc>
              </a:tr>
              <a:tr h="197088">
                <a:tc>
                  <a:txBody>
                    <a:bodyPr wrap="square"/>
                    <a:lstStyle/>
                    <a:p>
                      <a:r>
                        <a:rPr sz="800" b="1" i="0">
                          <a:solidFill>
                            <a:srgbClr val="16213A"/>
                          </a:solidFill>
                          <a:latin typeface="Arial"/>
                          <a:ea typeface="Malgun Gothic"/>
                          <a:cs typeface="Malgun Gothic"/>
                        </a:rPr>
                        <a:t>기준선</a:t>
                      </a:r>
                      <a:r>
                        <a:rPr sz="800" b="0" i="0">
                          <a:solidFill>
                            <a:srgbClr val="16213A"/>
                          </a:solidFill>
                          <a:latin typeface="Arial"/>
                          <a:ea typeface="Malgun Gothic"/>
                          <a:cs typeface="Malgun Gothic"/>
                        </a:rPr>
                        <a:t>(현재 위치만 보는 MPPI) 성공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78.0 %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29.0 %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18.0 %</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　　　　충돌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22.0 %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71.0 %</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82.0 %</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　　　　타임아웃</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0.0 %</a:t>
                      </a:r>
                    </a:p>
                  </a:txBody>
                  <a:tcPr marL="63500" marR="63500" marT="12700" marB="12700">
                    <a:solidFill>
                      <a:srgbClr val="FFFDF8"/>
                    </a:solidFill>
                  </a:tcPr>
                </a:tc>
              </a:tr>
            </a:tbl>
          </a:graphicData>
        </a:graphic>
      </p:graphicFrame>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221 / 359</a:t>
            </a:r>
          </a:p>
        </p:txBody>
      </p:sp>
      <p:graphicFrame>
        <p:nvGraphicFramePr>
          <p:cNvPr id="5" name="Table 4"/>
          <p:cNvGraphicFramePr>
            <a:graphicFrameLocks noGrp="1"/>
          </p:cNvGraphicFramePr>
          <p:nvPr/>
        </p:nvGraphicFramePr>
        <p:xfrm>
          <a:off x="609600" y="1244600"/>
          <a:ext cx="10966945" cy="788352"/>
        </p:xfrm>
        <a:graphic>
          <a:graphicData uri="http://schemas.openxmlformats.org/drawingml/2006/table">
            <a:tbl>
              <a:tblPr firstRow="1" bandRow="1">
                <a:tableStyleId>{5C22544A-7EE6-4342-B048-85BDC9FD1C3A}</a:tableStyleId>
              </a:tblPr>
              <a:tblGrid>
                <a:gridCol w="5805785"/>
                <a:gridCol w="1685230"/>
                <a:gridCol w="1685230"/>
                <a:gridCol w="1790700"/>
              </a:tblGrid>
              <a:tr h="197088">
                <a:tc>
                  <a:txBody>
                    <a:bodyPr wrap="square"/>
                    <a:lstStyle/>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희박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중간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조밀</a:t>
                      </a:r>
                    </a:p>
                  </a:txBody>
                  <a:tcPr marL="63500" marR="63500" marT="12700" marB="12700">
                    <a:solidFill>
                      <a:srgbClr val="16213A"/>
                    </a:solidFill>
                  </a:tcPr>
                </a:tc>
              </a:tr>
              <a:tr h="197088">
                <a:tc>
                  <a:txBody>
                    <a:bodyPr wrap="square"/>
                    <a:lstStyle/>
                    <a:p>
                      <a:r>
                        <a:rPr sz="800" b="1" i="0">
                          <a:solidFill>
                            <a:srgbClr val="16213A"/>
                          </a:solidFill>
                          <a:latin typeface="Arial"/>
                          <a:ea typeface="Malgun Gothic"/>
                          <a:cs typeface="Malgun Gothic"/>
                        </a:rPr>
                        <a:t>PGIF</a:t>
                      </a:r>
                      <a:r>
                        <a:rPr sz="800" b="0" i="0">
                          <a:solidFill>
                            <a:srgbClr val="16213A"/>
                          </a:solidFill>
                          <a:latin typeface="Arial"/>
                          <a:ea typeface="Malgun Gothic"/>
                          <a:cs typeface="Malgun Gothic"/>
                        </a:rPr>
                        <a:t>(시간 인덱스 비등방) 성공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93.0 %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78.0 %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41.0 %</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　　　　충돌</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0.0 %</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0.0 %</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0.0 %</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　　　　타임아웃</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22.0 %</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59.0 %</a:t>
                      </a:r>
                    </a:p>
                  </a:txBody>
                  <a:tcPr marL="63500" marR="63500" marT="12700" marB="12700">
                    <a:solidFill>
                      <a:srgbClr val="FFFDF8"/>
                    </a:solidFill>
                  </a:tcPr>
                </a:tc>
              </a:tr>
            </a:tbl>
          </a:graphicData>
        </a:graphic>
      </p:graphicFrame>
      <p:sp>
        <p:nvSpPr>
          <p:cNvPr id="6" name="TextBox 5"/>
          <p:cNvSpPr txBox="1"/>
          <p:nvPr/>
        </p:nvSpPr>
        <p:spPr>
          <a:xfrm>
            <a:off x="609600" y="2325291"/>
            <a:ext cx="10972800" cy="649486"/>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충돌이 사라진 자리를 타임아웃이 그대로 채운다.</a:t>
            </a:r>
            <a:r>
              <a:rPr sz="1050" b="0" i="0">
                <a:solidFill>
                  <a:srgbClr val="16213A"/>
                </a:solidFill>
                <a:latin typeface="Arial"/>
                <a:ea typeface="Malgun Gothic"/>
                <a:cs typeface="Malgun Gothic"/>
              </a:rPr>
              <a:t> 조밀 구간에서 충돌 82 % → 0 %인데 타임아웃 0 % → 59 %다. 저자들이 적은 실패 기제는 이렇다 — </a:t>
            </a:r>
            <a:r>
              <a:rPr sz="1050" b="0" i="1">
                <a:solidFill>
                  <a:srgbClr val="16213A"/>
                </a:solidFill>
                <a:latin typeface="Arial"/>
                <a:ea typeface="Malgun Gothic"/>
                <a:cs typeface="Malgun Gothic"/>
              </a:rPr>
              <a:t>"predicted anisotropic fields occupy a large portion of the workspace, leaving few low cost trajectories. As a result, the weighting mechanism favours trajectories with minimal forward progress, causing the robot to wait for the environment to clear."</a:t>
            </a:r>
          </a:p>
        </p:txBody>
      </p:sp>
      <p:sp>
        <p:nvSpPr>
          <p:cNvPr id="7" name="TextBox 6"/>
          <p:cNvSpPr txBox="1"/>
          <p:nvPr/>
        </p:nvSpPr>
        <p:spPr>
          <a:xfrm>
            <a:off x="609600" y="3063677"/>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다만 저자들은 이것을 고전적 FRP와 명시적으로 구분한다</a:t>
            </a:r>
            <a:r>
              <a:rPr sz="1050" b="0" i="0">
                <a:solidFill>
                  <a:srgbClr val="16213A"/>
                </a:solidFill>
                <a:latin typeface="Arial"/>
                <a:ea typeface="Malgun Gothic"/>
                <a:cs typeface="Malgun Gothic"/>
              </a:rPr>
              <a:t> — </a:t>
            </a:r>
            <a:r>
              <a:rPr sz="1050" b="0" i="1">
                <a:solidFill>
                  <a:srgbClr val="16213A"/>
                </a:solidFill>
                <a:latin typeface="Arial"/>
                <a:ea typeface="Malgun Gothic"/>
                <a:cs typeface="Malgun Gothic"/>
              </a:rPr>
              <a:t>"This form of conservatism </a:t>
            </a:r>
            <a:r>
              <a:rPr sz="1050" b="0" i="1">
                <a:solidFill>
                  <a:srgbClr val="16213A"/>
                </a:solidFill>
                <a:latin typeface="Arial"/>
                <a:ea typeface="Malgun Gothic"/>
                <a:cs typeface="Malgun Gothic"/>
              </a:rPr>
              <a:t>differs from the classical freezing robot problem</a:t>
            </a:r>
            <a:r>
              <a:rPr sz="1050" b="0" i="1">
                <a:solidFill>
                  <a:srgbClr val="16213A"/>
                </a:solidFill>
                <a:latin typeface="Arial"/>
                <a:ea typeface="Malgun Gothic"/>
                <a:cs typeface="Malgun Gothic"/>
              </a:rPr>
              <a:t>, which arises from the absence of collision free paths at the current time. Here, the issue stems from </a:t>
            </a:r>
            <a:r>
              <a:rPr sz="1050" b="0" i="1">
                <a:solidFill>
                  <a:srgbClr val="16213A"/>
                </a:solidFill>
                <a:latin typeface="Arial"/>
                <a:ea typeface="Malgun Gothic"/>
                <a:cs typeface="Malgun Gothic"/>
              </a:rPr>
              <a:t>over weighting predicted future risk that has not yet materialised.</a:t>
            </a:r>
            <a:r>
              <a:rPr sz="1050" b="0" i="1">
                <a:solidFill>
                  <a:srgbClr val="16213A"/>
                </a:solidFill>
                <a:latin typeface="Arial"/>
                <a:ea typeface="Malgun Gothic"/>
                <a:cs typeface="Malgun Gothic"/>
              </a:rPr>
              <a:t> Since it is tied to </a:t>
            </a:r>
            <a:r>
              <a:rPr sz="1050" b="0" i="1">
                <a:solidFill>
                  <a:srgbClr val="16213A"/>
                </a:solidFill>
                <a:latin typeface="Arial"/>
                <a:ea typeface="Malgun Gothic"/>
                <a:cs typeface="Malgun Gothic"/>
              </a:rPr>
              <a:t>cost design rather than planner structure</a:t>
            </a:r>
            <a:r>
              <a:rPr sz="1050" b="0" i="1">
                <a:solidFill>
                  <a:srgbClr val="16213A"/>
                </a:solidFill>
                <a:latin typeface="Arial"/>
                <a:ea typeface="Malgun Gothic"/>
                <a:cs typeface="Malgun Gothic"/>
              </a:rPr>
              <a:t>, it can be mitigated without altering the underlying MPPI framework."</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둘을 같은 현상으로 읽는 것은 이 문서의 해석이고, 저자들의 주장이 아니다.</a:t>
            </a:r>
          </a:p>
        </p:txBody>
      </p:sp>
      <p:sp>
        <p:nvSpPr>
          <p:cNvPr id="8" name="TextBox 7"/>
          <p:cNvSpPr txBox="1"/>
          <p:nvPr/>
        </p:nvSpPr>
        <p:spPr>
          <a:xfrm>
            <a:off x="609600" y="38020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그래서 이 절의 처방은 반쪽이다.</a:t>
            </a:r>
            <a:r>
              <a:rPr sz="1050" b="0" i="0">
                <a:solidFill>
                  <a:srgbClr val="16213A"/>
                </a:solidFill>
                <a:latin typeface="Arial"/>
                <a:ea typeface="Malgun Gothic"/>
                <a:cs typeface="Malgun Gothic"/>
              </a:rPr>
              <a:t> 시간 인덱스 매끈한 비용은 "늦게 꺾기"를 고치지만, 밀도가 오르면 </a:t>
            </a:r>
            <a:r>
              <a:rPr sz="1050" b="1" i="0">
                <a:solidFill>
                  <a:srgbClr val="16213A"/>
                </a:solidFill>
                <a:latin typeface="Arial"/>
                <a:ea typeface="Malgun Gothic"/>
                <a:cs typeface="Malgun Gothic"/>
              </a:rPr>
              <a:t>얼어붙기를 되돌려 놓는다.</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살아 있게 하는 장치(liveness)를 설계에 같이 넣어야 한다</a:t>
            </a:r>
            <a:r>
              <a:rPr sz="1050" b="0" i="0">
                <a:solidFill>
                  <a:srgbClr val="16213A"/>
                </a:solidFill>
                <a:latin typeface="Arial"/>
                <a:ea typeface="Malgun Gothic"/>
                <a:cs typeface="Malgun Gothic"/>
              </a:rPr>
              <a:t> — 저자들이 제안하는 것은 실행 가능한 저비용 롤아웃이 없을 때 </a:t>
            </a:r>
            <a:r>
              <a:rPr sz="1050" b="0" i="0">
                <a:solidFill>
                  <a:srgbClr val="16213A"/>
                </a:solidFill>
                <a:latin typeface="Consolas"/>
                <a:ea typeface="Malgun Gothic"/>
                <a:cs typeface="Malgun Gothic"/>
              </a:rPr>
              <a:t>w_human</a:t>
            </a:r>
            <a:r>
              <a:rPr sz="1050" b="0" i="0">
                <a:solidFill>
                  <a:srgbClr val="16213A"/>
                </a:solidFill>
                <a:latin typeface="Arial"/>
                <a:ea typeface="Malgun Gothic"/>
                <a:cs typeface="Malgun Gothic"/>
              </a:rPr>
              <a:t>을 </a:t>
            </a:r>
            <a:r>
              <a:rPr sz="1050" b="1" i="0">
                <a:solidFill>
                  <a:srgbClr val="16213A"/>
                </a:solidFill>
                <a:latin typeface="Arial"/>
                <a:ea typeface="Malgun Gothic"/>
                <a:cs typeface="Malgun Gothic"/>
              </a:rPr>
              <a:t>동적으로 낮추는</a:t>
            </a:r>
            <a:r>
              <a:rPr sz="1050" b="0" i="0">
                <a:solidFill>
                  <a:srgbClr val="16213A"/>
                </a:solidFill>
                <a:latin typeface="Arial"/>
                <a:ea typeface="Malgun Gothic"/>
                <a:cs typeface="Malgun Gothic"/>
              </a:rPr>
              <a:t> 것, 전방 분산을 예측 불확실성에 비례시키는 것, 의도 인지 예측이다.</a:t>
            </a:r>
          </a:p>
        </p:txBody>
      </p:sp>
      <p:sp>
        <p:nvSpPr>
          <p:cNvPr id="9" name="TextBox 8"/>
          <p:cNvSpPr txBox="1"/>
          <p:nvPr/>
        </p:nvSpPr>
        <p:spPr>
          <a:xfrm>
            <a:off x="609600" y="4323953"/>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단독 저자이고 워크숍 논문이며</a:t>
            </a:r>
            <a:r>
              <a:rPr sz="1050" b="0" i="0">
                <a:solidFill>
                  <a:srgbClr val="16213A"/>
                </a:solidFill>
                <a:latin typeface="Arial"/>
                <a:ea typeface="Malgun Gothic"/>
                <a:cs typeface="Malgun Gothic"/>
              </a:rPr>
              <a:t>(HFR 2026, Springer Proceedings in Advanced Robotics 게재 확정) </a:t>
            </a:r>
            <a:r>
              <a:rPr sz="1050" b="1" i="0">
                <a:solidFill>
                  <a:srgbClr val="16213A"/>
                </a:solidFill>
                <a:latin typeface="Arial"/>
                <a:ea typeface="Malgun Gothic"/>
                <a:cs typeface="Malgun Gothic"/>
              </a:rPr>
              <a:t>시뮬레이션 300회뿐이다.</a:t>
            </a:r>
            <a:r>
              <a:rPr sz="1050" b="0" i="0">
                <a:solidFill>
                  <a:srgbClr val="16213A"/>
                </a:solidFill>
                <a:latin typeface="Arial"/>
                <a:ea typeface="Malgun Gothic"/>
                <a:cs typeface="Malgun Gothic"/>
              </a:rPr>
              <a:t> 수치의 방향은 믿을 만하지만 앵커 인용으로 쓰지 않는다. 실물 로봇 근거는 DRA-MPPI(IROS 2025, </a:t>
            </a:r>
            <a:r>
              <a:rPr sz="1050" b="0" i="0">
                <a:solidFill>
                  <a:srgbClr val="1D4ED8"/>
                </a:solidFill>
                <a:latin typeface="Arial"/>
                <a:ea typeface="Malgun Gothic"/>
                <a:cs typeface="Malgun Gothic"/>
                <a:hlinkClick r:id="rId3"/>
              </a:rPr>
              <a:t>arXiv:2506.21205</a:t>
            </a:r>
            <a:r>
              <a:rPr sz="1050" b="0" i="0">
                <a:solidFill>
                  <a:srgbClr val="16213A"/>
                </a:solidFill>
                <a:latin typeface="Arial"/>
                <a:ea typeface="Malgun Gothic"/>
                <a:cs typeface="Malgun Gothic"/>
              </a:rPr>
              <a:t>, Jackal + 보행자 5명)이고 그쪽은 Controller 문서 §C.2에 이미 있다.</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222 / 359</a:t>
            </a:r>
          </a:p>
        </p:txBody>
      </p:sp>
      <p:pic>
        <p:nvPicPr>
          <p:cNvPr id="5" name="Picture 4" descr="image.jpg"/>
          <p:cNvPicPr>
            <a:picLocks noChangeAspect="1"/>
          </p:cNvPicPr>
          <p:nvPr/>
        </p:nvPicPr>
        <p:blipFill>
          <a:blip r:embed="rId3"/>
          <a:stretch>
            <a:fillRect/>
          </a:stretch>
        </p:blipFill>
        <p:spPr>
          <a:xfrm>
            <a:off x="609600" y="1244600"/>
            <a:ext cx="3556000" cy="1562100"/>
          </a:xfrm>
          <a:prstGeom prst="rect">
            <a:avLst/>
          </a:prstGeom>
        </p:spPr>
      </p:pic>
      <p:sp>
        <p:nvSpPr>
          <p:cNvPr id="6" name="TextBox 5"/>
          <p:cNvSpPr txBox="1"/>
          <p:nvPr/>
        </p:nvSpPr>
        <p:spPr>
          <a:xfrm>
            <a:off x="609600" y="28448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PGIF: 보행자 진행 방향으로 늘어난 비등방 가우시안 비용 장과 그 열지도. 비싼 로브가 보행자 앞쪽에 놓이는 것이 "양보"를 만드는 기하다. 출처: arXiv:2608.08323</a:t>
            </a:r>
          </a:p>
        </p:txBody>
      </p:sp>
      <p:pic>
        <p:nvPicPr>
          <p:cNvPr id="7" name="Picture 6" descr="image.jpg"/>
          <p:cNvPicPr>
            <a:picLocks noChangeAspect="1"/>
          </p:cNvPicPr>
          <p:nvPr/>
        </p:nvPicPr>
        <p:blipFill>
          <a:blip r:embed="rId4"/>
          <a:stretch>
            <a:fillRect/>
          </a:stretch>
        </p:blipFill>
        <p:spPr>
          <a:xfrm>
            <a:off x="4318000" y="1244600"/>
            <a:ext cx="3556000" cy="1422400"/>
          </a:xfrm>
          <a:prstGeom prst="rect">
            <a:avLst/>
          </a:prstGeom>
        </p:spPr>
      </p:pic>
      <p:sp>
        <p:nvSpPr>
          <p:cNvPr id="8" name="TextBox 7"/>
          <p:cNvSpPr txBox="1"/>
          <p:nvPr/>
        </p:nvSpPr>
        <p:spPr>
          <a:xfrm>
            <a:off x="4318000" y="27051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PGIF: 기준선 MPPI. 현재 보행자 위치 기준으로는 충돌이 없는 궤적인데, 실행하는 동안 보행자가 그 자리로 걸어 들어온다. Nav2 obstacles_critic의 상태가 이 그림이다. 출처: arXiv:2608.08323</a:t>
            </a:r>
          </a:p>
        </p:txBody>
      </p:sp>
      <p:pic>
        <p:nvPicPr>
          <p:cNvPr id="9" name="Picture 8" descr="image.jpg"/>
          <p:cNvPicPr>
            <a:picLocks noChangeAspect="1"/>
          </p:cNvPicPr>
          <p:nvPr/>
        </p:nvPicPr>
        <p:blipFill>
          <a:blip r:embed="rId5"/>
          <a:stretch>
            <a:fillRect/>
          </a:stretch>
        </p:blipFill>
        <p:spPr>
          <a:xfrm>
            <a:off x="8026400" y="1244600"/>
            <a:ext cx="3556000" cy="1422400"/>
          </a:xfrm>
          <a:prstGeom prst="rect">
            <a:avLst/>
          </a:prstGeom>
        </p:spPr>
      </p:pic>
      <p:sp>
        <p:nvSpPr>
          <p:cNvPr id="10" name="TextBox 9"/>
          <p:cNvSpPr txBox="1"/>
          <p:nvPr/>
        </p:nvSpPr>
        <p:spPr>
          <a:xfrm>
            <a:off x="8026400" y="27051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PGIF: 같은 장면. 예측을 비용에 넣으면 미리 벗어난다. 출처: arXiv:2608.08323</a:t>
            </a:r>
          </a:p>
        </p:txBody>
      </p:sp>
      <p:sp>
        <p:nvSpPr>
          <p:cNvPr id="11" name="TextBox 10"/>
          <p:cNvSpPr txBox="1"/>
          <p:nvPr/>
        </p:nvSpPr>
        <p:spPr>
          <a:xfrm>
            <a:off x="609600" y="3220541"/>
            <a:ext cx="10972800" cy="188516"/>
          </a:xfrm>
          <a:prstGeom prst="rect">
            <a:avLst/>
          </a:prstGeom>
          <a:noFill/>
        </p:spPr>
        <p:txBody>
          <a:bodyPr wrap="square" lIns="0" rIns="0" tIns="0" bIns="0" anchor="t">
            <a:spAutoFit/>
            <a:normAutofit/>
          </a:bodyPr>
          <a:lstStyle/>
          <a:p>
            <a:r>
              <a:rPr sz="1050" b="1" i="0">
                <a:solidFill>
                  <a:srgbClr val="5A6478"/>
                </a:solidFill>
                <a:latin typeface="Arial"/>
                <a:ea typeface="Malgun Gothic"/>
                <a:cs typeface="Malgun Gothic"/>
              </a:rPr>
              <a:t>불확실할수록 더 일찍 감속하게 만드는 법 — travplan의 σ 채널과 바로 맞는다</a:t>
            </a:r>
          </a:p>
        </p:txBody>
      </p:sp>
      <p:sp>
        <p:nvSpPr>
          <p:cNvPr id="12" name="TextBox 11"/>
          <p:cNvSpPr txBox="1"/>
          <p:nvPr/>
        </p:nvSpPr>
        <p:spPr>
          <a:xfrm>
            <a:off x="609600" y="3497957"/>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Mohamed 외(RA-L 2025, </a:t>
            </a:r>
            <a:r>
              <a:rPr sz="1050" b="0" i="0">
                <a:solidFill>
                  <a:srgbClr val="1D4ED8"/>
                </a:solidFill>
                <a:latin typeface="Arial"/>
                <a:ea typeface="Malgun Gothic"/>
                <a:cs typeface="Malgun Gothic"/>
                <a:hlinkClick r:id="rId6"/>
              </a:rPr>
              <a:t>arXiv:2501.08520</a:t>
            </a:r>
            <a:r>
              <a:rPr sz="1050" b="0" i="0">
                <a:solidFill>
                  <a:srgbClr val="16213A"/>
                </a:solidFill>
                <a:latin typeface="Arial"/>
                <a:ea typeface="Malgun Gothic"/>
                <a:cs typeface="Malgun Gothic"/>
              </a:rPr>
              <a:t>, Jackal 실물)가 충돌 확률 제약 </a:t>
            </a:r>
            <a:r>
              <a:rPr sz="1050" b="0" i="1">
                <a:solidFill>
                  <a:srgbClr val="16213A"/>
                </a:solidFill>
                <a:latin typeface="Arial"/>
                <a:ea typeface="Malgun Gothic"/>
                <a:cs typeface="Malgun Gothic"/>
              </a:rPr>
              <a:t>Pr(‖ pₖ - pₖⁿ ‖ ≤ r_(safe)) ≤ δ</a:t>
            </a:r>
            <a:r>
              <a:rPr sz="1050" b="0" i="0">
                <a:solidFill>
                  <a:srgbClr val="16213A"/>
                </a:solidFill>
                <a:latin typeface="Arial"/>
                <a:ea typeface="Malgun Gothic"/>
                <a:cs typeface="Malgun Gothic"/>
              </a:rPr>
              <a:t>를 닫힌 형태로 바꾼다.</a:t>
            </a:r>
          </a:p>
        </p:txBody>
      </p:sp>
      <p:pic>
        <p:nvPicPr>
          <p:cNvPr id="13" name="Picture 12" descr="image.png"/>
          <p:cNvPicPr>
            <a:picLocks noChangeAspect="1"/>
          </p:cNvPicPr>
          <p:nvPr/>
        </p:nvPicPr>
        <p:blipFill>
          <a:blip r:embed="rId7"/>
          <a:stretch>
            <a:fillRect/>
          </a:stretch>
        </p:blipFill>
        <p:spPr>
          <a:xfrm>
            <a:off x="609600" y="3803352"/>
            <a:ext cx="7270750" cy="346075"/>
          </a:xfrm>
          <a:prstGeom prst="rect">
            <a:avLst/>
          </a:prstGeom>
        </p:spPr>
      </p:pic>
      <p:sp>
        <p:nvSpPr>
          <p:cNvPr id="14" name="TextBox 13"/>
          <p:cNvSpPr txBox="1"/>
          <p:nvPr/>
        </p:nvSpPr>
        <p:spPr>
          <a:xfrm>
            <a:off x="609600" y="4172049"/>
            <a:ext cx="10972800" cy="865981"/>
          </a:xfrm>
          <a:prstGeom prst="rect">
            <a:avLst/>
          </a:prstGeom>
          <a:noFill/>
        </p:spPr>
        <p:txBody>
          <a:bodyPr wrap="square" lIns="0" rIns="0" tIns="0" bIns="0" anchor="t">
            <a:spAutoFit/>
            <a:normAutofit/>
          </a:bodyPr>
          <a:lstStyle/>
          <a:p>
            <a:r>
              <a:rPr sz="1050" b="1" i="1">
                <a:solidFill>
                  <a:srgbClr val="C2410C"/>
                </a:solidFill>
                <a:latin typeface="Arial"/>
                <a:ea typeface="Malgun Gothic"/>
                <a:cs typeface="Malgun Gothic"/>
              </a:rPr>
              <a:t>M</a:t>
            </a:r>
            <a:r>
              <a:rPr sz="1050" b="1" i="0">
                <a:solidFill>
                  <a:srgbClr val="C2410C"/>
                </a:solidFill>
                <a:latin typeface="Arial"/>
                <a:ea typeface="Malgun Gothic"/>
                <a:cs typeface="Malgun Gothic"/>
              </a:rPr>
              <a:t>은 상태에 대해 매끄러운 2차 형식이고, </a:t>
            </a:r>
            <a:r>
              <a:rPr sz="1050" b="1" i="1">
                <a:solidFill>
                  <a:srgbClr val="C2410C"/>
                </a:solidFill>
                <a:latin typeface="Arial"/>
                <a:ea typeface="Malgun Gothic"/>
                <a:cs typeface="Malgun Gothic"/>
              </a:rPr>
              <a:t>Σ^cₖ</a:t>
            </a:r>
            <a:r>
              <a:rPr sz="1050" b="1" i="0">
                <a:solidFill>
                  <a:srgbClr val="C2410C"/>
                </a:solidFill>
                <a:latin typeface="Arial"/>
                <a:ea typeface="Malgun Gothic"/>
                <a:cs typeface="Malgun Gothic"/>
              </a:rPr>
              <a:t>가 커지면 </a:t>
            </a:r>
            <a:r>
              <a:rPr sz="1050" b="1" i="1">
                <a:solidFill>
                  <a:srgbClr val="C2410C"/>
                </a:solidFill>
                <a:latin typeface="Arial"/>
                <a:ea typeface="Malgun Gothic"/>
                <a:cs typeface="Malgun Gothic"/>
              </a:rPr>
              <a:t>M</a:t>
            </a:r>
            <a:r>
              <a:rPr sz="1050" b="1" i="0">
                <a:solidFill>
                  <a:srgbClr val="C2410C"/>
                </a:solidFill>
                <a:latin typeface="Arial"/>
                <a:ea typeface="Malgun Gothic"/>
                <a:cs typeface="Malgun Gothic"/>
              </a:rPr>
              <a:t>이 문턱보다 빠르게 줄어 접근 금지 타원이 부푼다.</a:t>
            </a:r>
            <a:r>
              <a:rPr sz="1050" b="0" i="0">
                <a:solidFill>
                  <a:srgbClr val="16213A"/>
                </a:solidFill>
                <a:latin typeface="Arial"/>
                <a:ea typeface="Malgun Gothic"/>
                <a:cs typeface="Malgun Gothic"/>
              </a:rPr>
              <a:t> 즉 예측 분산이 지평을 따라 자라면 </a:t>
            </a:r>
            <a:r>
              <a:rPr sz="1050" b="1" i="0">
                <a:solidFill>
                  <a:srgbClr val="16213A"/>
                </a:solidFill>
                <a:latin typeface="Arial"/>
                <a:ea typeface="Malgun Gothic"/>
                <a:cs typeface="Malgun Gothic"/>
              </a:rPr>
              <a:t>금지 영역이 연속적으로 커지고</a:t>
            </a:r>
            <a:r>
              <a:rPr sz="1050" b="0" i="0">
                <a:solidFill>
                  <a:srgbClr val="16213A"/>
                </a:solidFill>
                <a:latin typeface="Arial"/>
                <a:ea typeface="Malgun Gothic"/>
                <a:cs typeface="Malgun Gothic"/>
              </a:rPr>
              <a:t>, 로봇은 </a:t>
            </a:r>
            <a:r>
              <a:rPr sz="1050" b="0" i="1">
                <a:solidFill>
                  <a:srgbClr val="16213A"/>
                </a:solidFill>
                <a:latin typeface="Arial"/>
                <a:ea typeface="Malgun Gothic"/>
                <a:cs typeface="Malgun Gothic"/>
              </a:rPr>
              <a:t>예측이 불확실한 만큼</a:t>
            </a:r>
            <a:r>
              <a:rPr sz="1050" b="0" i="0">
                <a:solidFill>
                  <a:srgbClr val="16213A"/>
                </a:solidFill>
                <a:latin typeface="Arial"/>
                <a:ea typeface="Malgun Gothic"/>
                <a:cs typeface="Malgun Gothic"/>
              </a:rPr>
              <a:t> 감속한다 — 규칙을 따로 쓰지 않아도 기하에서 공짜로 나온다. ⚠️ </a:t>
            </a:r>
            <a:r>
              <a:rPr sz="1050" b="1" i="0">
                <a:solidFill>
                  <a:srgbClr val="16213A"/>
                </a:solidFill>
                <a:latin typeface="Arial"/>
                <a:ea typeface="Malgun Gothic"/>
                <a:cs typeface="Malgun Gothic"/>
              </a:rPr>
              <a:t>정정</a:t>
            </a:r>
            <a:r>
              <a:rPr sz="1050" b="0" i="0">
                <a:solidFill>
                  <a:srgbClr val="16213A"/>
                </a:solidFill>
                <a:latin typeface="Arial"/>
                <a:ea typeface="Malgun Gothic"/>
                <a:cs typeface="Malgun Gothic"/>
              </a:rPr>
              <a:t>: 처음에는 "</a:t>
            </a:r>
            <a:r>
              <a:rPr sz="1050" b="0" i="1">
                <a:solidFill>
                  <a:srgbClr val="16213A"/>
                </a:solidFill>
                <a:latin typeface="Arial"/>
                <a:ea typeface="Malgun Gothic"/>
                <a:cs typeface="Malgun Gothic"/>
              </a:rPr>
              <a:t>κ</a:t>
            </a:r>
            <a:r>
              <a:rPr sz="1050" b="0" i="0">
                <a:solidFill>
                  <a:srgbClr val="16213A"/>
                </a:solidFill>
                <a:latin typeface="Arial"/>
                <a:ea typeface="Malgun Gothic"/>
                <a:cs typeface="Malgun Gothic"/>
              </a:rPr>
              <a:t>가 불확실성과 함께 커진다"고 썼는데 </a:t>
            </a:r>
            <a:r>
              <a:rPr sz="1050" b="1" i="0">
                <a:solidFill>
                  <a:srgbClr val="16213A"/>
                </a:solidFill>
                <a:latin typeface="Arial"/>
                <a:ea typeface="Malgun Gothic"/>
                <a:cs typeface="Malgun Gothic"/>
              </a:rPr>
              <a:t>반대다.</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κ = -2ln(η_cδ/Aᵣ)</a:t>
            </a:r>
            <a:r>
              <a:rPr sz="1050" b="0" i="0">
                <a:solidFill>
                  <a:srgbClr val="16213A"/>
                </a:solidFill>
                <a:latin typeface="Arial"/>
                <a:ea typeface="Malgun Gothic"/>
                <a:cs typeface="Malgun Gothic"/>
              </a:rPr>
              <a:t>이라 </a:t>
            </a:r>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가 커지면 </a:t>
            </a:r>
            <a:r>
              <a:rPr sz="1050" b="0" i="1">
                <a:solidFill>
                  <a:srgbClr val="16213A"/>
                </a:solidFill>
                <a:latin typeface="Arial"/>
                <a:ea typeface="Malgun Gothic"/>
                <a:cs typeface="Malgun Gothic"/>
              </a:rPr>
              <a:t>η_c</a:t>
            </a:r>
            <a:r>
              <a:rPr sz="1050" b="0" i="0">
                <a:solidFill>
                  <a:srgbClr val="16213A"/>
                </a:solidFill>
                <a:latin typeface="Arial"/>
                <a:ea typeface="Malgun Gothic"/>
                <a:cs typeface="Malgun Gothic"/>
              </a:rPr>
              <a:t>가 커지고 </a:t>
            </a:r>
            <a:r>
              <a:rPr sz="1050" b="0" i="1">
                <a:solidFill>
                  <a:srgbClr val="16213A"/>
                </a:solidFill>
                <a:latin typeface="Arial"/>
                <a:ea typeface="Malgun Gothic"/>
                <a:cs typeface="Malgun Gothic"/>
              </a:rPr>
              <a:t>κ</a:t>
            </a:r>
            <a:r>
              <a:rPr sz="1050" b="0" i="0">
                <a:solidFill>
                  <a:srgbClr val="16213A"/>
                </a:solidFill>
                <a:latin typeface="Arial"/>
                <a:ea typeface="Malgun Gothic"/>
                <a:cs typeface="Malgun Gothic"/>
              </a:rPr>
              <a:t>는 </a:t>
            </a:r>
            <a:r>
              <a:rPr sz="1050" b="1" i="0">
                <a:solidFill>
                  <a:srgbClr val="16213A"/>
                </a:solidFill>
                <a:latin typeface="Arial"/>
                <a:ea typeface="Malgun Gothic"/>
                <a:cs typeface="Malgun Gothic"/>
              </a:rPr>
              <a:t>작아진다</a:t>
            </a:r>
            <a:r>
              <a:rPr sz="1050" b="0" i="0">
                <a:solidFill>
                  <a:srgbClr val="16213A"/>
                </a:solidFill>
                <a:latin typeface="Arial"/>
                <a:ea typeface="Malgun Gothic"/>
                <a:cs typeface="Malgun Gothic"/>
              </a:rPr>
              <a:t>(논문 Fig. 2 설정으로 계산하면 </a:t>
            </a:r>
            <a:r>
              <a:rPr sz="1050" b="0" i="1">
                <a:solidFill>
                  <a:srgbClr val="16213A"/>
                </a:solidFill>
                <a:latin typeface="Arial"/>
                <a:ea typeface="Malgun Gothic"/>
                <a:cs typeface="Malgun Gothic"/>
              </a:rPr>
              <a:t>Σₒ = I₂</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κ=3.01</a:t>
            </a:r>
            <a:r>
              <a:rPr sz="1050" b="0" i="0">
                <a:solidFill>
                  <a:srgbClr val="16213A"/>
                </a:solidFill>
                <a:latin typeface="Arial"/>
                <a:ea typeface="Malgun Gothic"/>
                <a:cs typeface="Malgun Gothic"/>
              </a:rPr>
              <a:t>·반경 1.73 m, </a:t>
            </a:r>
            <a:r>
              <a:rPr sz="1050" b="0" i="1">
                <a:solidFill>
                  <a:srgbClr val="16213A"/>
                </a:solidFill>
                <a:latin typeface="Arial"/>
                <a:ea typeface="Malgun Gothic"/>
                <a:cs typeface="Malgun Gothic"/>
              </a:rPr>
              <a:t>Σₒ = 0.1I₂</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κ=7.61</a:t>
            </a:r>
            <a:r>
              <a:rPr sz="1050" b="0" i="0">
                <a:solidFill>
                  <a:srgbClr val="16213A"/>
                </a:solidFill>
                <a:latin typeface="Arial"/>
                <a:ea typeface="Malgun Gothic"/>
                <a:cs typeface="Malgun Gothic"/>
              </a:rPr>
              <a:t>·반경 0.87 m). </a:t>
            </a:r>
            <a:r>
              <a:rPr sz="1050" b="1" i="0">
                <a:solidFill>
                  <a:srgbClr val="16213A"/>
                </a:solidFill>
                <a:latin typeface="Arial"/>
                <a:ea typeface="Malgun Gothic"/>
                <a:cs typeface="Malgun Gothic"/>
              </a:rPr>
              <a:t>커지는 것은 </a:t>
            </a:r>
            <a:r>
              <a:rPr sz="1050" b="1" i="1">
                <a:solidFill>
                  <a:srgbClr val="16213A"/>
                </a:solidFill>
                <a:latin typeface="Arial"/>
                <a:ea typeface="Malgun Gothic"/>
                <a:cs typeface="Malgun Gothic"/>
              </a:rPr>
              <a:t>κ</a:t>
            </a:r>
            <a:r>
              <a:rPr sz="1050" b="1" i="0">
                <a:solidFill>
                  <a:srgbClr val="16213A"/>
                </a:solidFill>
                <a:latin typeface="Arial"/>
                <a:ea typeface="Malgun Gothic"/>
                <a:cs typeface="Malgun Gothic"/>
              </a:rPr>
              <a:t>가 아니라 접근 금지 반경이다.</a:t>
            </a:r>
            <a:r>
              <a:rPr sz="1050" b="0" i="0">
                <a:solidFill>
                  <a:srgbClr val="16213A"/>
                </a:solidFill>
                <a:latin typeface="Arial"/>
                <a:ea typeface="Malgun Gothic"/>
                <a:cs typeface="Malgun Gothic"/>
              </a:rPr>
              <a:t> 저자들의 표현으로는 </a:t>
            </a:r>
            <a:r>
              <a:rPr sz="1050" b="0" i="1">
                <a:solidFill>
                  <a:srgbClr val="16213A"/>
                </a:solidFill>
                <a:latin typeface="Arial"/>
                <a:ea typeface="Malgun Gothic"/>
                <a:cs typeface="Malgun Gothic"/>
              </a:rPr>
              <a:t>"unlike many approaches that uniformly inflate robot and obstacle geometries with fixed pre-defined inflation ... our method enables a more precise, direction-aware safety buffer."</a:t>
            </a:r>
          </a:p>
        </p:txBody>
      </p:sp>
      <p:sp>
        <p:nvSpPr>
          <p:cNvPr id="15" name="TextBox 14"/>
          <p:cNvSpPr txBox="1"/>
          <p:nvPr/>
        </p:nvSpPr>
        <p:spPr>
          <a:xfrm>
            <a:off x="609600" y="512693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이것이 travplan의 </a:t>
            </a:r>
            <a:r>
              <a:rPr sz="1050" b="0" i="0">
                <a:solidFill>
                  <a:srgbClr val="16213A"/>
                </a:solidFill>
                <a:latin typeface="Consolas"/>
                <a:ea typeface="Malgun Gothic"/>
                <a:cs typeface="Malgun Gothic"/>
              </a:rPr>
              <a:t>Ch.SIGMA</a:t>
            </a:r>
            <a:r>
              <a:rPr sz="1050" b="0" i="0">
                <a:solidFill>
                  <a:srgbClr val="16213A"/>
                </a:solidFill>
                <a:latin typeface="Arial"/>
                <a:ea typeface="Malgun Gothic"/>
                <a:cs typeface="Malgun Gothic"/>
              </a:rPr>
              <a:t> 채널과 잔차 GP 분산(Controller·안전 §E.10)이 들어갈 자리다. 지금 </a:t>
            </a:r>
            <a:r>
              <a:rPr sz="1050" b="0" i="0">
                <a:solidFill>
                  <a:srgbClr val="16213A"/>
                </a:solidFill>
                <a:latin typeface="Consolas"/>
                <a:ea typeface="Malgun Gothic"/>
                <a:cs typeface="Malgun Gothic"/>
              </a:rPr>
              <a:t>DynamicObstacles</a:t>
            </a:r>
            <a:r>
              <a:rPr sz="1050" b="0" i="0">
                <a:solidFill>
                  <a:srgbClr val="16213A"/>
                </a:solidFill>
                <a:latin typeface="Arial"/>
                <a:ea typeface="Malgun Gothic"/>
                <a:cs typeface="Malgun Gothic"/>
              </a:rPr>
              <a:t>는 </a:t>
            </a:r>
            <a:r>
              <a:rPr sz="1050" b="0" i="0">
                <a:solidFill>
                  <a:srgbClr val="16213A"/>
                </a:solidFill>
                <a:latin typeface="Consolas"/>
                <a:ea typeface="Malgun Gothic"/>
                <a:cs typeface="Malgun Gothic"/>
              </a:rPr>
              <a:t>sigma_growth=0.15 m/s</a:t>
            </a:r>
            <a:r>
              <a:rPr sz="1050" b="0" i="0">
                <a:solidFill>
                  <a:srgbClr val="16213A"/>
                </a:solidFill>
                <a:latin typeface="Arial"/>
                <a:ea typeface="Malgun Gothic"/>
                <a:cs typeface="Malgun Gothic"/>
              </a:rPr>
              <a:t>로 반지름을 </a:t>
            </a:r>
            <a:r>
              <a:rPr sz="1050" b="1" i="0">
                <a:solidFill>
                  <a:srgbClr val="16213A"/>
                </a:solidFill>
                <a:latin typeface="Arial"/>
                <a:ea typeface="Malgun Gothic"/>
                <a:cs typeface="Malgun Gothic"/>
              </a:rPr>
              <a:t>선형으로</a:t>
            </a:r>
            <a:r>
              <a:rPr sz="1050" b="0" i="0">
                <a:solidFill>
                  <a:srgbClr val="16213A"/>
                </a:solidFill>
                <a:latin typeface="Arial"/>
                <a:ea typeface="Malgun Gothic"/>
                <a:cs typeface="Malgun Gothic"/>
              </a:rPr>
              <a:t> 키우는 고정 규칙인데, 이 형태로 바꾸면 매퍼와 GP가 내는 실제 분산이 그대로 감속량이 된다.</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자세히: 안전과 효율은 스칼라가 아니라 경계선이다 — 그리고 "군중 모델"이 결과를 바꾼다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223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Mavrogiannis 등(ACM THRI 2023, DOI </a:t>
            </a:r>
            <a:r>
              <a:rPr sz="1050" b="0" i="0">
                <a:solidFill>
                  <a:srgbClr val="16213A"/>
                </a:solidFill>
                <a:latin typeface="Consolas"/>
                <a:ea typeface="Malgun Gothic"/>
                <a:cs typeface="Malgun Gothic"/>
              </a:rPr>
              <a:t>10.1145/3583741</a:t>
            </a:r>
            <a:r>
              <a:rPr sz="1050" b="0" i="0">
                <a:solidFill>
                  <a:srgbClr val="16213A"/>
                </a:solidFill>
                <a:latin typeface="Arial"/>
                <a:ea typeface="Malgun Gothic"/>
                <a:cs typeface="Malgun Gothic"/>
              </a:rPr>
              <a:t>)이 기준선들을 직접 돌려 </a:t>
            </a:r>
            <a:r>
              <a:rPr sz="1050" b="1" i="0">
                <a:solidFill>
                  <a:srgbClr val="16213A"/>
                </a:solidFill>
                <a:latin typeface="Arial"/>
                <a:ea typeface="Malgun Gothic"/>
                <a:cs typeface="Malgun Gothic"/>
              </a:rPr>
              <a:t>도달 시간 대 충돌 수</a:t>
            </a:r>
            <a:r>
              <a:rPr sz="1050" b="0" i="0">
                <a:solidFill>
                  <a:srgbClr val="16213A"/>
                </a:solidFill>
                <a:latin typeface="Arial"/>
                <a:ea typeface="Malgun Gothic"/>
                <a:cs typeface="Malgun Gothic"/>
              </a:rPr>
              <a:t> 평면에 찍었다. </a:t>
            </a:r>
            <a:r>
              <a:rPr sz="1050" b="1" i="0">
                <a:solidFill>
                  <a:srgbClr val="C2410C"/>
                </a:solidFill>
                <a:latin typeface="Arial"/>
                <a:ea typeface="Malgun Gothic"/>
                <a:cs typeface="Malgun Gothic"/>
              </a:rPr>
              <a:t>양보를 잘한다는 것은 한 점이 아니라 </a:t>
            </a:r>
            <a:r>
              <a:rPr sz="1050" b="1" i="0">
                <a:solidFill>
                  <a:srgbClr val="C2410C"/>
                </a:solidFill>
                <a:latin typeface="Arial"/>
                <a:ea typeface="Malgun Gothic"/>
                <a:cs typeface="Malgun Gothic"/>
              </a:rPr>
              <a:t>이 경계선 위 어디에 서 있느냐</a:t>
            </a:r>
            <a:r>
              <a:rPr sz="1050" b="1" i="0">
                <a:solidFill>
                  <a:srgbClr val="C2410C"/>
                </a:solidFill>
                <a:latin typeface="Arial"/>
                <a:ea typeface="Malgun Gothic"/>
                <a:cs typeface="Malgun Gothic"/>
              </a:rPr>
              <a:t>이고, 보수적인 끝이 곧 얼어붙은 로봇이다.</a:t>
            </a:r>
          </a:p>
        </p:txBody>
      </p:sp>
      <p:pic>
        <p:nvPicPr>
          <p:cNvPr id="6" name="Picture 5" descr="image.jpg"/>
          <p:cNvPicPr>
            <a:picLocks noChangeAspect="1"/>
          </p:cNvPicPr>
          <p:nvPr/>
        </p:nvPicPr>
        <p:blipFill>
          <a:blip r:embed="rId3"/>
          <a:stretch>
            <a:fillRect/>
          </a:stretch>
        </p:blipFill>
        <p:spPr>
          <a:xfrm>
            <a:off x="609600" y="1766491"/>
            <a:ext cx="2667000" cy="2667000"/>
          </a:xfrm>
          <a:prstGeom prst="rect">
            <a:avLst/>
          </a:prstGeom>
        </p:spPr>
      </p:pic>
      <p:sp>
        <p:nvSpPr>
          <p:cNvPr id="7" name="TextBox 6"/>
          <p:cNvSpPr txBox="1"/>
          <p:nvPr/>
        </p:nvSpPr>
        <p:spPr>
          <a:xfrm>
            <a:off x="609600" y="4471591"/>
            <a:ext cx="54102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Mavrogiannis 외: 사회적 힘(SFM)으로 움직이는 군중, 약 0.19명/m². 출처: arXiv:2103.05668</a:t>
            </a:r>
          </a:p>
        </p:txBody>
      </p:sp>
      <p:pic>
        <p:nvPicPr>
          <p:cNvPr id="8" name="Picture 7" descr="image.jpg"/>
          <p:cNvPicPr>
            <a:picLocks noChangeAspect="1"/>
          </p:cNvPicPr>
          <p:nvPr/>
        </p:nvPicPr>
        <p:blipFill>
          <a:blip r:embed="rId4"/>
          <a:stretch>
            <a:fillRect/>
          </a:stretch>
        </p:blipFill>
        <p:spPr>
          <a:xfrm>
            <a:off x="6172200" y="1766491"/>
            <a:ext cx="2667000" cy="2667000"/>
          </a:xfrm>
          <a:prstGeom prst="rect">
            <a:avLst/>
          </a:prstGeom>
        </p:spPr>
      </p:pic>
      <p:sp>
        <p:nvSpPr>
          <p:cNvPr id="9" name="TextBox 8"/>
          <p:cNvSpPr txBox="1"/>
          <p:nvPr/>
        </p:nvSpPr>
        <p:spPr>
          <a:xfrm>
            <a:off x="6172200" y="4471591"/>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Mavrogiannis 외: 같은 밀도, ORCA(상호 양보) 군중. 둘을 겹쳐 보면 "보수적이다"의 상당 부분이 가정한 군중 모델의 산물임이 드러난다. 출처: arXiv:2103.05668</a:t>
            </a:r>
          </a:p>
        </p:txBody>
      </p:sp>
      <p:sp>
        <p:nvSpPr>
          <p:cNvPr id="10" name="TextBox 9"/>
          <p:cNvSpPr txBox="1"/>
          <p:nvPr/>
        </p:nvSpPr>
        <p:spPr>
          <a:xfrm>
            <a:off x="609600" y="4844852"/>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저자들의 관찰을 그대로 옮기면 — </a:t>
            </a:r>
            <a:r>
              <a:rPr sz="1050" b="0" i="1">
                <a:solidFill>
                  <a:srgbClr val="16213A"/>
                </a:solidFill>
                <a:latin typeface="Arial"/>
                <a:ea typeface="Malgun Gothic"/>
                <a:cs typeface="Malgun Gothic"/>
              </a:rPr>
              <a:t>"A robot trained in the ORCA environment results in a more conservative policy. On the other hand, a robot trained in the SFM environment moves more efficiently (faster) and less safely (more collisions)."</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즉 시뮬레이터의 보행자 모델을 고르는 순간 정책의 보수성이 결정된다.</a:t>
            </a:r>
            <a:r>
              <a:rPr sz="1050" b="0" i="0">
                <a:solidFill>
                  <a:srgbClr val="16213A"/>
                </a:solidFill>
                <a:latin typeface="Arial"/>
                <a:ea typeface="Malgun Gothic"/>
                <a:cs typeface="Malgun Gothic"/>
              </a:rPr>
              <a:t> travplan의 보행자는 지금 등속 직선(</a:t>
            </a:r>
            <a:r>
              <a:rPr sz="1050" b="0" i="0">
                <a:solidFill>
                  <a:srgbClr val="16213A"/>
                </a:solidFill>
                <a:latin typeface="Consolas"/>
                <a:ea typeface="Malgun Gothic"/>
                <a:cs typeface="Malgun Gothic"/>
              </a:rPr>
              <a:t>sim/terrain.py::crossing_pedestrians</a:t>
            </a:r>
            <a:r>
              <a:rPr sz="1050" b="0" i="0">
                <a:solidFill>
                  <a:srgbClr val="16213A"/>
                </a:solidFill>
                <a:latin typeface="Arial"/>
                <a:ea typeface="Malgun Gothic"/>
                <a:cs typeface="Malgun Gothic"/>
              </a:rPr>
              <a:t>)이라 </a:t>
            </a:r>
            <a:r>
              <a:rPr sz="1050" b="1" i="0">
                <a:solidFill>
                  <a:srgbClr val="16213A"/>
                </a:solidFill>
                <a:latin typeface="Arial"/>
                <a:ea typeface="Malgun Gothic"/>
                <a:cs typeface="Malgun Gothic"/>
              </a:rPr>
              <a:t>로봇에게 전혀 양보하지 않는 군중</a:t>
            </a:r>
            <a:r>
              <a:rPr sz="1050" b="0" i="0">
                <a:solidFill>
                  <a:srgbClr val="16213A"/>
                </a:solidFill>
                <a:latin typeface="Arial"/>
                <a:ea typeface="Malgun Gothic"/>
                <a:cs typeface="Malgun Gothic"/>
              </a:rPr>
              <a:t>이고, 이는 ORCA보다도 비협조적인 극단이다(TP-0036 반응형 보행자가 이 자리다).</a:t>
            </a:r>
          </a:p>
        </p:txBody>
      </p:sp>
      <p:sp>
        <p:nvSpPr>
          <p:cNvPr id="11" name="TextBox 10"/>
          <p:cNvSpPr txBox="1"/>
          <p:nvPr/>
        </p:nvSpPr>
        <p:spPr>
          <a:xfrm>
            <a:off x="609600" y="5583238"/>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1개(문단·식·그림)는 대시보드 리서치 탭의 "자세히: 안전과 효율은 스칼라가 아니라 경계선이다 — 그리고 "군중 모델"이 결과를 바꾼다" 토글에 있다.</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224 / 359</a:t>
            </a:r>
          </a:p>
        </p:txBody>
      </p:sp>
      <p:sp>
        <p:nvSpPr>
          <p:cNvPr id="5" name="TextBox 4"/>
          <p:cNvSpPr txBox="1"/>
          <p:nvPr/>
        </p:nvSpPr>
        <p:spPr>
          <a:xfrm>
            <a:off x="609600" y="1244600"/>
            <a:ext cx="10972800" cy="188516"/>
          </a:xfrm>
          <a:prstGeom prst="rect">
            <a:avLst/>
          </a:prstGeom>
          <a:noFill/>
        </p:spPr>
        <p:txBody>
          <a:bodyPr wrap="square" lIns="0" rIns="0" tIns="0" bIns="0" anchor="t">
            <a:spAutoFit/>
            <a:normAutofit/>
          </a:bodyPr>
          <a:lstStyle/>
          <a:p>
            <a:r>
              <a:rPr sz="1050" b="1" i="0">
                <a:solidFill>
                  <a:srgbClr val="5A6478"/>
                </a:solidFill>
                <a:latin typeface="Arial"/>
                <a:ea typeface="Malgun Gothic"/>
                <a:cs typeface="Malgun Gothic"/>
              </a:rPr>
              <a:t>업계는 어디까지 와 있나 — 기제 B다</a:t>
            </a:r>
          </a:p>
        </p:txBody>
      </p:sp>
      <p:sp>
        <p:nvSpPr>
          <p:cNvPr id="6" name="TextBox 5"/>
          <p:cNvSpPr txBox="1"/>
          <p:nvPr/>
        </p:nvSpPr>
        <p:spPr>
          <a:xfrm>
            <a:off x="609600" y="152201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보도 배달로봇의 양보 정책에 대한 공개된 기술 문서는 사실상 없다. 예외가 하나 있는데 상장사라 법적 구속력이 있는 문서가 남는다. </a:t>
            </a:r>
            <a:r>
              <a:rPr sz="1050" b="1" i="0">
                <a:solidFill>
                  <a:srgbClr val="16213A"/>
                </a:solidFill>
                <a:latin typeface="Arial"/>
                <a:ea typeface="Malgun Gothic"/>
                <a:cs typeface="Malgun Gothic"/>
              </a:rPr>
              <a:t>Serve Robotics 10-K</a:t>
            </a:r>
            <a:r>
              <a:rPr sz="1050" b="0" i="0">
                <a:solidFill>
                  <a:srgbClr val="16213A"/>
                </a:solidFill>
                <a:latin typeface="Arial"/>
                <a:ea typeface="Malgun Gothic"/>
                <a:cs typeface="Malgun Gothic"/>
              </a:rPr>
              <a:t>(FY2025, 2026-03-12 제출, CIK 0001832483):</a:t>
            </a:r>
          </a:p>
        </p:txBody>
      </p:sp>
      <p:sp>
        <p:nvSpPr>
          <p:cNvPr id="7" name="TextBox 6"/>
          <p:cNvSpPr txBox="1"/>
          <p:nvPr/>
        </p:nvSpPr>
        <p:spPr>
          <a:xfrm>
            <a:off x="609600" y="2043906"/>
            <a:ext cx="10972800" cy="559991"/>
          </a:xfrm>
          <a:prstGeom prst="rect">
            <a:avLst/>
          </a:prstGeom>
          <a:solidFill>
            <a:srgbClr val="EEF1F6"/>
          </a:solidFill>
        </p:spPr>
        <p:txBody>
          <a:bodyPr wrap="square" lIns="114300" rIns="114300" tIns="63500" bIns="63500" anchor="t">
            <a:spAutoFit/>
            <a:normAutofit/>
          </a:bodyPr>
          <a:lstStyle/>
          <a:p>
            <a:r>
              <a:rPr sz="1050" b="0" i="1">
                <a:solidFill>
                  <a:srgbClr val="33405A"/>
                </a:solidFill>
                <a:latin typeface="Arial"/>
                <a:ea typeface="Malgun Gothic"/>
                <a:cs typeface="Malgun Gothic"/>
              </a:rPr>
              <a:t>"they </a:t>
            </a:r>
            <a:r>
              <a:rPr sz="1050" b="0" i="1">
                <a:solidFill>
                  <a:srgbClr val="33405A"/>
                </a:solidFill>
                <a:latin typeface="Arial"/>
                <a:ea typeface="Malgun Gothic"/>
                <a:cs typeface="Malgun Gothic"/>
              </a:rPr>
              <a:t>yield the right of way</a:t>
            </a:r>
            <a:r>
              <a:rPr sz="1050" b="0" i="1">
                <a:solidFill>
                  <a:srgbClr val="33405A"/>
                </a:solidFill>
                <a:latin typeface="Arial"/>
                <a:ea typeface="Malgun Gothic"/>
                <a:cs typeface="Malgun Gothic"/>
              </a:rPr>
              <a:t> to vehicles, pedestrians or sidewalk and road users, as they are programmed to </a:t>
            </a:r>
            <a:r>
              <a:rPr sz="1050" b="0" i="1">
                <a:solidFill>
                  <a:srgbClr val="33405A"/>
                </a:solidFill>
                <a:latin typeface="Arial"/>
                <a:ea typeface="Malgun Gothic"/>
                <a:cs typeface="Malgun Gothic"/>
              </a:rPr>
              <a:t>cross only at controlled intersections</a:t>
            </a:r>
            <a:r>
              <a:rPr sz="1050" b="0" i="1">
                <a:solidFill>
                  <a:srgbClr val="33405A"/>
                </a:solidFill>
                <a:latin typeface="Arial"/>
                <a:ea typeface="Malgun Gothic"/>
                <a:cs typeface="Malgun Gothic"/>
              </a:rPr>
              <a:t> during a pedestrian 'walk' signal and to </a:t>
            </a:r>
            <a:r>
              <a:rPr sz="1050" b="0" i="1">
                <a:solidFill>
                  <a:srgbClr val="33405A"/>
                </a:solidFill>
                <a:latin typeface="Arial"/>
                <a:ea typeface="Malgun Gothic"/>
                <a:cs typeface="Malgun Gothic"/>
              </a:rPr>
              <a:t>slow down or stop if a pedestrian approaches the delivery robot from any direction</a:t>
            </a:r>
            <a:r>
              <a:rPr sz="1050" b="0" i="1">
                <a:solidFill>
                  <a:srgbClr val="33405A"/>
                </a:solidFill>
                <a:latin typeface="Arial"/>
                <a:ea typeface="Malgun Gothic"/>
                <a:cs typeface="Malgun Gothic"/>
              </a:rPr>
              <a:t>."</a:t>
            </a:r>
          </a:p>
        </p:txBody>
      </p:sp>
      <p:sp>
        <p:nvSpPr>
          <p:cNvPr id="8" name="TextBox 7"/>
          <p:cNvSpPr txBox="1"/>
          <p:nvPr/>
        </p:nvSpPr>
        <p:spPr>
          <a:xfrm>
            <a:off x="609600" y="2692797"/>
            <a:ext cx="10972800" cy="649486"/>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"어느 방향에서든 접근하면 감속하거나 정지" — 전방위 근접 트리거에 2상태 응답이다. 기제 B이지 C가 아니다.</a:t>
            </a:r>
            <a:r>
              <a:rPr sz="1050" b="0" i="0">
                <a:solidFill>
                  <a:srgbClr val="16213A"/>
                </a:solidFill>
                <a:latin typeface="Arial"/>
                <a:ea typeface="Malgun Gothic"/>
                <a:cs typeface="Malgun Gothic"/>
              </a:rPr>
              <a:t> 같은 문서가 </a:t>
            </a:r>
            <a:r>
              <a:rPr sz="1050" b="0" i="1">
                <a:solidFill>
                  <a:srgbClr val="16213A"/>
                </a:solidFill>
                <a:latin typeface="Arial"/>
                <a:ea typeface="Malgun Gothic"/>
                <a:cs typeface="Malgun Gothic"/>
              </a:rPr>
              <a:t>"projecting the trajectory of other dynamic agents"</a:t>
            </a:r>
            <a:r>
              <a:rPr sz="1050" b="0" i="0">
                <a:solidFill>
                  <a:srgbClr val="16213A"/>
                </a:solidFill>
                <a:latin typeface="Arial"/>
                <a:ea typeface="Malgun Gothic"/>
                <a:cs typeface="Malgun Gothic"/>
              </a:rPr>
              <a:t>라고 예측을 한다고 쓰지만, </a:t>
            </a:r>
            <a:r>
              <a:rPr sz="1050" b="1" i="0">
                <a:solidFill>
                  <a:srgbClr val="16213A"/>
                </a:solidFill>
                <a:latin typeface="Arial"/>
                <a:ea typeface="Malgun Gothic"/>
                <a:cs typeface="Malgun Gothic"/>
              </a:rPr>
              <a:t>그 예측이 모션에 어떻게 닿는지는 말하지 않는다.</a:t>
            </a:r>
            <a:r>
              <a:rPr sz="1050" b="0" i="0">
                <a:solidFill>
                  <a:srgbClr val="16213A"/>
                </a:solidFill>
                <a:latin typeface="Arial"/>
                <a:ea typeface="Malgun Gothic"/>
                <a:cs typeface="Malgun Gothic"/>
              </a:rPr>
              <a:t> 2,000대 규모 운영사의 SEC 제출 문서 기준 업계 현실이 Nav2가 기본으로 주는 것과 같은 구조라는 뜻이고, </a:t>
            </a:r>
            <a:r>
              <a:rPr sz="1050" b="1" i="0">
                <a:solidFill>
                  <a:srgbClr val="C2410C"/>
                </a:solidFill>
                <a:latin typeface="Arial"/>
                <a:ea typeface="Malgun Gothic"/>
                <a:cs typeface="Malgun Gothic"/>
              </a:rPr>
              <a:t>이 방향의 연구가 왜 아직 열려 있는지에 대한 인용 가능한 근거다.</a:t>
            </a:r>
          </a:p>
        </p:txBody>
      </p:sp>
      <p:sp>
        <p:nvSpPr>
          <p:cNvPr id="9" name="TextBox 8"/>
          <p:cNvSpPr txBox="1"/>
          <p:nvPr/>
        </p:nvSpPr>
        <p:spPr>
          <a:xfrm>
            <a:off x="609600" y="3431183"/>
            <a:ext cx="10972800" cy="188516"/>
          </a:xfrm>
          <a:prstGeom prst="rect">
            <a:avLst/>
          </a:prstGeom>
          <a:noFill/>
        </p:spPr>
        <p:txBody>
          <a:bodyPr wrap="square" lIns="0" rIns="0" tIns="0" bIns="0" anchor="t">
            <a:spAutoFit/>
            <a:normAutofit/>
          </a:bodyPr>
          <a:lstStyle/>
          <a:p>
            <a:r>
              <a:rPr sz="1050" b="1" i="0">
                <a:solidFill>
                  <a:srgbClr val="5A6478"/>
                </a:solidFill>
                <a:latin typeface="Arial"/>
                <a:ea typeface="Malgun Gothic"/>
                <a:cs typeface="Malgun Gothic"/>
              </a:rPr>
              <a:t>travplan은 어디에 있나</a:t>
            </a:r>
          </a:p>
        </p:txBody>
      </p:sp>
      <p:sp>
        <p:nvSpPr>
          <p:cNvPr id="10" name="TextBox 9"/>
          <p:cNvSpPr txBox="1"/>
          <p:nvPr/>
        </p:nvSpPr>
        <p:spPr>
          <a:xfrm>
            <a:off x="609600" y="37085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기제 C에 이미 서 있다.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core/types.py::DynamicObstacles.cost(xy, t)</a:t>
            </a:r>
            <a:r>
              <a:rPr sz="1050" b="0" i="0">
                <a:solidFill>
                  <a:srgbClr val="16213A"/>
                </a:solidFill>
                <a:latin typeface="Arial"/>
                <a:ea typeface="Malgun Gothic"/>
                <a:cs typeface="Malgun Gothic"/>
              </a:rPr>
              <a:t>가 시간 인덱스에 선형 감쇠하는 비용이고(</a:t>
            </a:r>
            <a:r>
              <a:rPr sz="1050" b="0" i="0">
                <a:solidFill>
                  <a:srgbClr val="16213A"/>
                </a:solidFill>
                <a:latin typeface="Consolas"/>
                <a:ea typeface="Malgun Gothic"/>
                <a:cs typeface="Malgun Gothic"/>
              </a:rPr>
              <a:t>margin=0.6 m</a:t>
            </a:r>
            <a:r>
              <a:rPr sz="1050" b="0" i="0">
                <a:solidFill>
                  <a:srgbClr val="16213A"/>
                </a:solidFill>
                <a:latin typeface="Arial"/>
                <a:ea typeface="Malgun Gothic"/>
                <a:cs typeface="Malgun Gothic"/>
              </a:rPr>
              <a:t>, 예측 불확실성만큼 </a:t>
            </a:r>
            <a:r>
              <a:rPr sz="1050" b="0" i="0">
                <a:solidFill>
                  <a:srgbClr val="16213A"/>
                </a:solidFill>
                <a:latin typeface="Consolas"/>
                <a:ea typeface="Malgun Gothic"/>
                <a:cs typeface="Malgun Gothic"/>
              </a:rPr>
              <a:t>sigma_growth=0.15 m/s</a:t>
            </a:r>
            <a:r>
              <a:rPr sz="1050" b="0" i="0">
                <a:solidFill>
                  <a:srgbClr val="16213A"/>
                </a:solidFill>
                <a:latin typeface="Arial"/>
                <a:ea typeface="Malgun Gothic"/>
                <a:cs typeface="Malgun Gothic"/>
              </a:rPr>
              <a:t>로 팽창), </a:t>
            </a:r>
            <a:r>
              <a:rPr sz="1050" b="0" i="0">
                <a:solidFill>
                  <a:srgbClr val="16213A"/>
                </a:solidFill>
                <a:latin typeface="Consolas"/>
                <a:ea typeface="Malgun Gothic"/>
                <a:cs typeface="Malgun Gothic"/>
              </a:rPr>
              <a:t>control/mppi/costs.py::RiskCost</a:t>
            </a:r>
            <a:r>
              <a:rPr sz="1050" b="0" i="0">
                <a:solidFill>
                  <a:srgbClr val="16213A"/>
                </a:solidFill>
                <a:latin typeface="Arial"/>
                <a:ea typeface="Malgun Gothic"/>
                <a:cs typeface="Malgun Gothic"/>
              </a:rPr>
              <a:t>가 롤아웃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번째 스텝을 </a:t>
            </a:r>
            <a:r>
              <a:rPr sz="1050" b="0" i="1">
                <a:solidFill>
                  <a:srgbClr val="16213A"/>
                </a:solidFill>
                <a:latin typeface="Arial"/>
                <a:ea typeface="Malgun Gothic"/>
                <a:cs typeface="Malgun Gothic"/>
              </a:rPr>
              <a:t>t = k Δ t</a:t>
            </a:r>
            <a:r>
              <a:rPr sz="1050" b="0" i="0">
                <a:solidFill>
                  <a:srgbClr val="16213A"/>
                </a:solidFill>
                <a:latin typeface="Arial"/>
                <a:ea typeface="Malgun Gothic"/>
                <a:cs typeface="Malgun Gothic"/>
              </a:rPr>
              <a:t>의 예측과 대조한다(4 s 지평). </a:t>
            </a:r>
            <a:r>
              <a:rPr sz="1050" b="1" i="0">
                <a:solidFill>
                  <a:srgbClr val="C2410C"/>
                </a:solidFill>
                <a:latin typeface="Arial"/>
                <a:ea typeface="Malgun Gothic"/>
                <a:cs typeface="Malgun Gothic"/>
              </a:rPr>
              <a:t>Nav2 코어보다 이 축에서 앞서 있다.</a:t>
            </a:r>
          </a:p>
        </p:txBody>
      </p:sp>
      <p:sp>
        <p:nvSpPr>
          <p:cNvPr id="11" name="TextBox 10"/>
          <p:cNvSpPr txBox="1"/>
          <p:nvPr/>
        </p:nvSpPr>
        <p:spPr>
          <a:xfrm>
            <a:off x="609600" y="423048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그런데 두 가지가 빠져 있다.</a:t>
            </a:r>
          </a:p>
        </p:txBody>
      </p:sp>
      <p:sp>
        <p:nvSpPr>
          <p:cNvPr id="12" name="TextBox 11"/>
          <p:cNvSpPr txBox="1"/>
          <p:nvPr/>
        </p:nvSpPr>
        <p:spPr>
          <a:xfrm>
            <a:off x="609600" y="4535884"/>
            <a:ext cx="10972800" cy="15408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C2410C"/>
                </a:solidFill>
                <a:latin typeface="Arial"/>
                <a:ea typeface="Malgun Gothic"/>
                <a:cs typeface="Malgun Gothic"/>
              </a:rPr>
              <a:t>속도 프로파일 단계가 없다.</a:t>
            </a:r>
            <a:r>
              <a:rPr sz="1050" b="0" i="0">
                <a:solidFill>
                  <a:srgbClr val="16213A"/>
                </a:solidFill>
                <a:latin typeface="Arial"/>
                <a:ea typeface="Malgun Gothic"/>
                <a:cs typeface="Malgun Gothic"/>
              </a:rPr>
              <a:t> travplan 전체에 재타이밍·속도 계획 코드가 없고(</a:t>
            </a:r>
            <a:r>
              <a:rPr sz="1050" b="0" i="0">
                <a:solidFill>
                  <a:srgbClr val="16213A"/>
                </a:solidFill>
                <a:latin typeface="Consolas"/>
                <a:ea typeface="Malgun Gothic"/>
                <a:cs typeface="Malgun Gothic"/>
              </a:rPr>
              <a:t>MPCConfig.v_des = 1.0</a:t>
            </a:r>
            <a:r>
              <a:rPr sz="1050" b="0" i="0">
                <a:solidFill>
                  <a:srgbClr val="16213A"/>
                </a:solidFill>
                <a:latin typeface="Arial"/>
                <a:ea typeface="Malgun Gothic"/>
                <a:cs typeface="Malgun Gothic"/>
              </a:rPr>
              <a:t>이 경로 참조를 등속으로 시간 매개화하지만 </a:t>
            </a:r>
            <a:r>
              <a:rPr sz="1050" b="1" i="0">
                <a:solidFill>
                  <a:srgbClr val="16213A"/>
                </a:solidFill>
                <a:latin typeface="Arial"/>
                <a:ea typeface="Malgun Gothic"/>
                <a:cs typeface="Malgun Gothic"/>
              </a:rPr>
              <a:t>프로파일은 아니다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TrackerController</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v_ref=1.0</a:t>
            </a:r>
            <a:r>
              <a:rPr sz="1050" b="0" i="0">
                <a:solidFill>
                  <a:srgbClr val="16213A"/>
                </a:solidFill>
                <a:latin typeface="Arial"/>
                <a:ea typeface="Malgun Gothic"/>
                <a:cs typeface="Malgun Gothic"/>
              </a:rPr>
              <a:t> 고정값과 목표 근처 감속뿐), MPPI가 body twist를 참조에 대해 직접 최적화한다. 그래서 </a:t>
            </a:r>
            <a:r>
              <a:rPr sz="1050" b="1" i="0">
                <a:solidFill>
                  <a:srgbClr val="16213A"/>
                </a:solidFill>
                <a:latin typeface="Arial"/>
                <a:ea typeface="Malgun Gothic"/>
                <a:cs typeface="Malgun Gothic"/>
              </a:rPr>
              <a:t>"비껴갈까"와 "늦출까"가 하나의 비용 안에서 경쟁한다.</a:t>
            </a:r>
            <a:r>
              <a:rPr sz="1050" b="0" i="0">
                <a:solidFill>
                  <a:srgbClr val="16213A"/>
                </a:solidFill>
                <a:latin typeface="Arial"/>
                <a:ea typeface="Malgun Gothic"/>
                <a:cs typeface="Malgun Gothic"/>
              </a:rPr>
              <a:t> Apollo가 ②에서 먼저 정하고 ④에서 부드럽게 푸는 것을 한 번에 섞어 푸는 셈이다.</a:t>
            </a:r>
          </a:p>
          <a:p>
            <a:pPr>
              <a:spcBef>
                <a:spcPts val="200"/>
              </a:spcBef>
            </a:pPr>
            <a:r>
              <a:rPr sz="1050" b="0" i="0">
                <a:solidFill>
                  <a:srgbClr val="5A6478"/>
                </a:solidFill>
                <a:latin typeface="Arial"/>
                <a:ea typeface="Malgun Gothic"/>
                <a:cs typeface="Malgun Gothic"/>
              </a:rPr>
              <a:t>2. </a:t>
            </a:r>
            <a:r>
              <a:rPr sz="1050" b="1" i="0">
                <a:solidFill>
                  <a:srgbClr val="C2410C"/>
                </a:solidFill>
                <a:latin typeface="Arial"/>
                <a:ea typeface="Malgun Gothic"/>
                <a:cs typeface="Malgun Gothic"/>
              </a:rPr>
              <a:t>예측이 로봇의 행동과 무관하다.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DynamicObstacles</a:t>
            </a:r>
            <a:r>
              <a:rPr sz="1050" b="0" i="0">
                <a:solidFill>
                  <a:srgbClr val="16213A"/>
                </a:solidFill>
                <a:latin typeface="Arial"/>
                <a:ea typeface="Malgun Gothic"/>
                <a:cs typeface="Malgun Gothic"/>
              </a:rPr>
              <a:t>는 등속 예측을 한 번 계산해 넘긴다 — </a:t>
            </a:r>
            <a:r>
              <a:rPr sz="1050" b="1" i="0">
                <a:solidFill>
                  <a:srgbClr val="16213A"/>
                </a:solidFill>
                <a:latin typeface="Arial"/>
                <a:ea typeface="Malgun Gothic"/>
                <a:cs typeface="Malgun Gothic"/>
              </a:rPr>
              <a:t>Trautman이 말한 FRP 구조 그 자체다.</a:t>
            </a:r>
            <a:r>
              <a:rPr sz="1050" b="0" i="0">
                <a:solidFill>
                  <a:srgbClr val="16213A"/>
                </a:solidFill>
                <a:latin typeface="Arial"/>
                <a:ea typeface="Malgun Gothic"/>
                <a:cs typeface="Malgun Gothic"/>
              </a:rPr>
              <a:t> 값싼 해법이 이미 공개돼 있다: </a:t>
            </a:r>
            <a:r>
              <a:rPr sz="1050" b="0" i="0">
                <a:solidFill>
                  <a:srgbClr val="16213A"/>
                </a:solidFill>
                <a:latin typeface="Consolas"/>
                <a:ea typeface="Malgun Gothic"/>
                <a:cs typeface="Malgun Gothic"/>
              </a:rPr>
              <a:t>robotics-upo/social_force_window_planner</a:t>
            </a:r>
            <a:r>
              <a:rPr sz="1050" b="0" i="0">
                <a:solidFill>
                  <a:srgbClr val="16213A"/>
                </a:solidFill>
                <a:latin typeface="Arial"/>
                <a:ea typeface="Malgun Gothic"/>
                <a:cs typeface="Malgun Gothic"/>
              </a:rPr>
              <a:t>(★58, BSD-3, </a:t>
            </a:r>
            <a:r>
              <a:rPr sz="1050" b="0" i="0">
                <a:solidFill>
                  <a:srgbClr val="16213A"/>
                </a:solidFill>
                <a:latin typeface="Consolas"/>
                <a:ea typeface="Malgun Gothic"/>
                <a:cs typeface="Malgun Gothic"/>
              </a:rPr>
              <a:t>ros2</a:t>
            </a:r>
            <a:r>
              <a:rPr sz="1050" b="0" i="0">
                <a:solidFill>
                  <a:srgbClr val="16213A"/>
                </a:solidFill>
                <a:latin typeface="Arial"/>
                <a:ea typeface="Malgun Gothic"/>
                <a:cs typeface="Malgun Gothic"/>
              </a:rPr>
              <a:t>, 2025-05-26)는 </a:t>
            </a:r>
            <a:r>
              <a:rPr sz="1050" b="1" i="0">
                <a:solidFill>
                  <a:srgbClr val="C2410C"/>
                </a:solidFill>
                <a:latin typeface="Arial"/>
                <a:ea typeface="Malgun Gothic"/>
                <a:cs typeface="Malgun Gothic"/>
              </a:rPr>
              <a:t>후보 궤적마다 SFM으로 보행자를 </a:t>
            </a:r>
            <a:r>
              <a:rPr sz="1050" b="1" i="0">
                <a:solidFill>
                  <a:srgbClr val="C2410C"/>
                </a:solidFill>
                <a:latin typeface="Arial"/>
                <a:ea typeface="Malgun Gothic"/>
                <a:cs typeface="Malgun Gothic"/>
              </a:rPr>
              <a:t>다시 굴린다</a:t>
            </a:r>
            <a:r>
              <a:rPr sz="1050" b="0" i="0">
                <a:solidFill>
                  <a:srgbClr val="16213A"/>
                </a:solidFill>
                <a:latin typeface="Arial"/>
                <a:ea typeface="Malgun Gothic"/>
                <a:cs typeface="Malgun Gothic"/>
              </a:rPr>
              <a:t> — </a:t>
            </a:r>
            <a:r>
              <a:rPr sz="1050" b="0" i="1">
                <a:solidFill>
                  <a:srgbClr val="16213A"/>
                </a:solidFill>
                <a:latin typeface="Arial"/>
                <a:ea typeface="Malgun Gothic"/>
                <a:cs typeface="Malgun Gothic"/>
              </a:rPr>
              <a:t>"the SFM is employed as a predictor of the future state of the surrounding people along the trajectories"</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sim_time</a:t>
            </a:r>
            <a:r>
              <a:rPr sz="1050" b="0" i="0">
                <a:solidFill>
                  <a:srgbClr val="16213A"/>
                </a:solidFill>
                <a:latin typeface="Arial"/>
                <a:ea typeface="Malgun Gothic"/>
                <a:cs typeface="Malgun Gothic"/>
              </a:rPr>
              <a:t> 코드 기본값 1.0 s, 배포 config는 1.5 s — README의 0.5 s는 낡았다). travplan의 "지형 시나리오는 </a:t>
            </a:r>
            <a:r>
              <a:rPr sz="1050" b="0" i="0">
                <a:solidFill>
                  <a:srgbClr val="16213A"/>
                </a:solidFill>
                <a:latin typeface="Consolas"/>
                <a:ea typeface="Malgun Gothic"/>
                <a:cs typeface="Malgun Gothic"/>
              </a:rPr>
              <a:t>sim/terrain.py</a:t>
            </a:r>
            <a:r>
              <a:rPr sz="1050" b="0" i="0">
                <a:solidFill>
                  <a:srgbClr val="16213A"/>
                </a:solidFill>
                <a:latin typeface="Arial"/>
                <a:ea typeface="Malgun Gothic"/>
                <a:cs typeface="Malgun Gothic"/>
              </a:rPr>
              <a:t> 한 곳" 규율을 그대로 늘려 </a:t>
            </a:r>
            <a:r>
              <a:rPr sz="1050" b="1" i="0">
                <a:solidFill>
                  <a:srgbClr val="16213A"/>
                </a:solidFill>
                <a:latin typeface="Arial"/>
                <a:ea typeface="Malgun Gothic"/>
                <a:cs typeface="Malgun Gothic"/>
              </a:rPr>
              <a:t>반응형 보행자 모델 하나를 시뮬과 컨트롤러가 공유</a:t>
            </a:r>
            <a:r>
              <a:rPr sz="1050" b="0" i="0">
                <a:solidFill>
                  <a:srgbClr val="16213A"/>
                </a:solidFill>
                <a:latin typeface="Arial"/>
                <a:ea typeface="Malgun Gothic"/>
                <a:cs typeface="Malgun Gothic"/>
              </a:rPr>
              <a:t>하면 된다(TP-0036과 같은 자리다).</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2/9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225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3. </a:t>
            </a:r>
            <a:r>
              <a:rPr sz="1050" b="1" i="0">
                <a:solidFill>
                  <a:srgbClr val="C2410C"/>
                </a:solidFill>
                <a:latin typeface="Arial"/>
                <a:ea typeface="Malgun Gothic"/>
                <a:cs typeface="Malgun Gothic"/>
              </a:rPr>
              <a:t>얼어붙기를 미리 예산에 넣어야 한다.</a:t>
            </a:r>
            <a:r>
              <a:rPr sz="1050" b="0" i="0">
                <a:solidFill>
                  <a:srgbClr val="16213A"/>
                </a:solidFill>
                <a:latin typeface="Arial"/>
                <a:ea typeface="Malgun Gothic"/>
                <a:cs typeface="Malgun Gothic"/>
              </a:rPr>
              <a:t> PGIF의 표가 보여 주듯 잘 만든 시간 인덱스 비용은 충돌을 0으로 만들면서 타임아웃을 59 %까지 올린다. travplan의 현재 게이트(CLAUDE.md)에는 </a:t>
            </a:r>
            <a:r>
              <a:rPr sz="1050" b="1" i="0">
                <a:solidFill>
                  <a:srgbClr val="16213A"/>
                </a:solidFill>
                <a:latin typeface="Arial"/>
                <a:ea typeface="Malgun Gothic"/>
                <a:cs typeface="Malgun Gothic"/>
              </a:rPr>
              <a:t>정지 시간 지표가 없어서</a:t>
            </a:r>
            <a:r>
              <a:rPr sz="1050" b="0" i="0">
                <a:solidFill>
                  <a:srgbClr val="16213A"/>
                </a:solidFill>
                <a:latin typeface="Arial"/>
                <a:ea typeface="Malgun Gothic"/>
                <a:cs typeface="Malgun Gothic"/>
              </a:rPr>
              <a:t> 이 실패가 원인 불명의 성공률 하락으로만 보인다(TP-0091). 살아 있게 하는 장치 — 실행 가능한 저비용 롤아웃이 없을 때 보행자 비용 가중치를 낮추는 것 — 을 나중에 붙이는 패치가 아니라 </a:t>
            </a:r>
            <a:r>
              <a:rPr sz="1050" b="1" i="0">
                <a:solidFill>
                  <a:srgbClr val="16213A"/>
                </a:solidFill>
                <a:latin typeface="Arial"/>
                <a:ea typeface="Malgun Gothic"/>
                <a:cs typeface="Malgun Gothic"/>
              </a:rPr>
              <a:t>설계의 일부</a:t>
            </a:r>
            <a:r>
              <a:rPr sz="1050" b="0" i="0">
                <a:solidFill>
                  <a:srgbClr val="16213A"/>
                </a:solidFill>
                <a:latin typeface="Arial"/>
                <a:ea typeface="Malgun Gothic"/>
                <a:cs typeface="Malgun Gothic"/>
              </a:rPr>
              <a:t>로 넣는다.</a:t>
            </a:r>
          </a:p>
        </p:txBody>
      </p:sp>
      <p:sp>
        <p:nvSpPr>
          <p:cNvPr id="6" name="TextBox 5"/>
          <p:cNvSpPr txBox="1"/>
          <p:nvPr/>
        </p:nvSpPr>
        <p:spPr>
          <a:xfrm>
            <a:off x="609600" y="1982986"/>
            <a:ext cx="10972800" cy="188516"/>
          </a:xfrm>
          <a:prstGeom prst="rect">
            <a:avLst/>
          </a:prstGeom>
          <a:noFill/>
        </p:spPr>
        <p:txBody>
          <a:bodyPr wrap="square" lIns="0" rIns="0" tIns="0" bIns="0" anchor="t">
            <a:spAutoFit/>
            <a:normAutofit/>
          </a:bodyPr>
          <a:lstStyle/>
          <a:p>
            <a:r>
              <a:rPr sz="1050" b="1" i="0">
                <a:solidFill>
                  <a:srgbClr val="5A6478"/>
                </a:solidFill>
                <a:latin typeface="Arial"/>
                <a:ea typeface="Malgun Gothic"/>
                <a:cs typeface="Malgun Gothic"/>
              </a:rPr>
              <a:t>TP-0089 — 두 참조 모드가 감속을 다르게 벌한다</a:t>
            </a:r>
          </a:p>
        </p:txBody>
      </p:sp>
      <p:sp>
        <p:nvSpPr>
          <p:cNvPr id="7" name="TextBox 6"/>
          <p:cNvSpPr txBox="1"/>
          <p:nvPr/>
        </p:nvSpPr>
        <p:spPr>
          <a:xfrm>
            <a:off x="609600" y="2260402"/>
            <a:ext cx="10972800" cy="432991"/>
          </a:xfrm>
          <a:prstGeom prst="rect">
            <a:avLst/>
          </a:prstGeom>
          <a:noFill/>
        </p:spPr>
        <p:txBody>
          <a:bodyPr wrap="square" lIns="0" rIns="0" tIns="0" bIns="0" anchor="t">
            <a:spAutoFit/>
            <a:normAutofit/>
          </a:bodyPr>
          <a:lstStyle/>
          <a:p>
            <a:r>
              <a:rPr sz="1050" b="0" i="0">
                <a:solidFill>
                  <a:srgbClr val="16213A"/>
                </a:solidFill>
                <a:latin typeface="Consolas"/>
                <a:ea typeface="Malgun Gothic"/>
                <a:cs typeface="Malgun Gothic"/>
              </a:rPr>
              <a:t>ReferenceCost</a:t>
            </a:r>
            <a:r>
              <a:rPr sz="1050" b="0" i="0">
                <a:solidFill>
                  <a:srgbClr val="16213A"/>
                </a:solidFill>
                <a:latin typeface="Arial"/>
                <a:ea typeface="Malgun Gothic"/>
                <a:cs typeface="Malgun Gothic"/>
              </a:rPr>
              <a:t>의 </a:t>
            </a:r>
            <a:r>
              <a:rPr sz="1050" b="1" i="0">
                <a:solidFill>
                  <a:srgbClr val="16213A"/>
                </a:solidFill>
                <a:latin typeface="Arial"/>
                <a:ea typeface="Malgun Gothic"/>
                <a:cs typeface="Malgun Gothic"/>
              </a:rPr>
              <a:t>경로 모드</a:t>
            </a:r>
            <a:r>
              <a:rPr sz="1050" b="0" i="0">
                <a:solidFill>
                  <a:srgbClr val="16213A"/>
                </a:solidFill>
                <a:latin typeface="Arial"/>
                <a:ea typeface="Malgun Gothic"/>
                <a:cs typeface="Malgun Gothic"/>
              </a:rPr>
              <a:t>는 진행을 지평 </a:t>
            </a:r>
            <a:r>
              <a:rPr sz="1050" b="1" i="0">
                <a:solidFill>
                  <a:srgbClr val="16213A"/>
                </a:solidFill>
                <a:latin typeface="Arial"/>
                <a:ea typeface="Malgun Gothic"/>
                <a:cs typeface="Malgun Gothic"/>
              </a:rPr>
              <a:t>끝점만</a:t>
            </a:r>
            <a:r>
              <a:rPr sz="1050" b="0" i="0">
                <a:solidFill>
                  <a:srgbClr val="16213A"/>
                </a:solidFill>
                <a:latin typeface="Arial"/>
                <a:ea typeface="Malgun Gothic"/>
                <a:cs typeface="Malgun Gothic"/>
              </a:rPr>
              <a:t> 보고, </a:t>
            </a:r>
            <a:r>
              <a:rPr sz="1050" b="1" i="0">
                <a:solidFill>
                  <a:srgbClr val="16213A"/>
                </a:solidFill>
                <a:latin typeface="Arial"/>
                <a:ea typeface="Malgun Gothic"/>
                <a:cs typeface="Malgun Gothic"/>
              </a:rPr>
              <a:t>궤적 모드</a:t>
            </a:r>
            <a:r>
              <a:rPr sz="1050" b="0" i="0">
                <a:solidFill>
                  <a:srgbClr val="16213A"/>
                </a:solidFill>
                <a:latin typeface="Arial"/>
                <a:ea typeface="Malgun Gothic"/>
                <a:cs typeface="Malgun Gothic"/>
              </a:rPr>
              <a:t>는 시간 인덱스 목표와의 거리를 </a:t>
            </a:r>
            <a:r>
              <a:rPr sz="1050" b="1" i="0">
                <a:solidFill>
                  <a:srgbClr val="16213A"/>
                </a:solidFill>
                <a:latin typeface="Arial"/>
                <a:ea typeface="Malgun Gothic"/>
                <a:cs typeface="Malgun Gothic"/>
              </a:rPr>
              <a:t>지평 전체 평균</a:t>
            </a:r>
            <a:r>
              <a:rPr sz="1050" b="0" i="0">
                <a:solidFill>
                  <a:srgbClr val="16213A"/>
                </a:solidFill>
                <a:latin typeface="Arial"/>
                <a:ea typeface="Malgun Gothic"/>
                <a:cs typeface="Malgun Gothic"/>
              </a:rPr>
              <a:t>으로 센다. 그래서 궤적 모드에서는 따라잡아도 중간 감속이 벌점으로 남는다. </a:t>
            </a:r>
            <a:r>
              <a:rPr sz="1050" b="1" i="0">
                <a:solidFill>
                  <a:srgbClr val="C2410C"/>
                </a:solidFill>
                <a:latin typeface="Arial"/>
                <a:ea typeface="Malgun Gothic"/>
                <a:cs typeface="Malgun Gothic"/>
              </a:rPr>
              <a:t>travplan에서 쟀더니 궤적 모드가 </a:t>
            </a:r>
            <a:r>
              <a:rPr sz="1050" b="1" i="0">
                <a:solidFill>
                  <a:srgbClr val="C2410C"/>
                </a:solidFill>
                <a:latin typeface="Arial"/>
                <a:ea typeface="Malgun Gothic"/>
                <a:cs typeface="Malgun Gothic"/>
              </a:rPr>
              <a:t>같은 만큼 비키면서 시간은 덜 낸다.</a:t>
            </a:r>
            <a:r>
              <a:rPr sz="1050" b="0" i="0">
                <a:solidFill>
                  <a:srgbClr val="16213A"/>
                </a:solidFill>
                <a:latin typeface="Arial"/>
                <a:ea typeface="Malgun Gothic"/>
                <a:cs typeface="Malgun Gothic"/>
              </a:rPr>
              <a:t> 측정·정정·한계는 개발 기록 </a:t>
            </a:r>
            <a:r>
              <a:rPr sz="1050" b="1" i="0">
                <a:solidFill>
                  <a:srgbClr val="16213A"/>
                </a:solidFill>
                <a:latin typeface="Arial"/>
                <a:ea typeface="Malgun Gothic"/>
                <a:cs typeface="Malgun Gothic"/>
              </a:rPr>
              <a:t>A.13.11</a:t>
            </a:r>
            <a:r>
              <a:rPr sz="1050" b="0" i="0">
                <a:solidFill>
                  <a:srgbClr val="16213A"/>
                </a:solidFill>
                <a:latin typeface="Arial"/>
                <a:ea typeface="Malgun Gothic"/>
                <a:cs typeface="Malgun Gothic"/>
              </a:rPr>
              <a:t>에 있다.</a:t>
            </a:r>
          </a:p>
        </p:txBody>
      </p:sp>
      <p:sp>
        <p:nvSpPr>
          <p:cNvPr id="8" name="TextBox 7"/>
          <p:cNvSpPr txBox="1"/>
          <p:nvPr/>
        </p:nvSpPr>
        <p:spPr>
          <a:xfrm>
            <a:off x="609600" y="2782292"/>
            <a:ext cx="10972800" cy="188516"/>
          </a:xfrm>
          <a:prstGeom prst="rect">
            <a:avLst/>
          </a:prstGeom>
          <a:noFill/>
        </p:spPr>
        <p:txBody>
          <a:bodyPr wrap="square" lIns="0" rIns="0" tIns="0" bIns="0" anchor="t">
            <a:spAutoFit/>
            <a:normAutofit/>
          </a:bodyPr>
          <a:lstStyle/>
          <a:p>
            <a:r>
              <a:rPr sz="1050" b="1" i="0">
                <a:solidFill>
                  <a:srgbClr val="5A6478"/>
                </a:solidFill>
                <a:latin typeface="Arial"/>
                <a:ea typeface="Malgun Gothic"/>
                <a:cs typeface="Malgun Gothic"/>
              </a:rPr>
              <a:t>무엇을 재야 "양보했다"를 아는가</a:t>
            </a:r>
          </a:p>
        </p:txBody>
      </p:sp>
      <p:sp>
        <p:nvSpPr>
          <p:cNvPr id="9" name="TextBox 8"/>
          <p:cNvSpPr txBox="1"/>
          <p:nvPr/>
        </p:nvSpPr>
        <p:spPr>
          <a:xfrm>
            <a:off x="609600" y="305970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Francis 등(31인 공저, ACM THRI 2025, DOI </a:t>
            </a:r>
            <a:r>
              <a:rPr sz="1050" b="0" i="0">
                <a:solidFill>
                  <a:srgbClr val="16213A"/>
                </a:solidFill>
                <a:latin typeface="Consolas"/>
                <a:ea typeface="Malgun Gothic"/>
                <a:cs typeface="Malgun Gothic"/>
              </a:rPr>
              <a:t>10.1145/3700599</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arXiv:2306.16740</a:t>
            </a:r>
            <a:r>
              <a:rPr sz="1050" b="0" i="0">
                <a:solidFill>
                  <a:srgbClr val="16213A"/>
                </a:solidFill>
                <a:latin typeface="Arial"/>
                <a:ea typeface="Malgun Gothic"/>
                <a:cs typeface="Malgun Gothic"/>
              </a:rPr>
              <a:t>)의 지표 분류가 표준이다. </a:t>
            </a:r>
            <a:r>
              <a:rPr sz="1050" b="1" i="0">
                <a:solidFill>
                  <a:srgbClr val="C2410C"/>
                </a:solidFill>
                <a:latin typeface="Arial"/>
                <a:ea typeface="Malgun Gothic"/>
                <a:cs typeface="Malgun Gothic"/>
              </a:rPr>
              <a:t>travplan의 현재 게이트(CLAUDE.md)에는 충돌률과 최대 pitch만 있어, </a:t>
            </a:r>
            <a:r>
              <a:rPr sz="1050" b="1" i="0">
                <a:solidFill>
                  <a:srgbClr val="C2410C"/>
                </a:solidFill>
                <a:latin typeface="Arial"/>
                <a:ea typeface="Malgun Gothic"/>
                <a:cs typeface="Malgun Gothic"/>
              </a:rPr>
              <a:t>"얼어붙어서 안 부딪힌 것"과 "양보해서 안 부딪힌 것"을 구분하지 못한다.</a:t>
            </a:r>
          </a:p>
        </p:txBody>
      </p:sp>
      <p:graphicFrame>
        <p:nvGraphicFramePr>
          <p:cNvPr id="10" name="Table 9"/>
          <p:cNvGraphicFramePr>
            <a:graphicFrameLocks noGrp="1"/>
          </p:cNvGraphicFramePr>
          <p:nvPr/>
        </p:nvGraphicFramePr>
        <p:xfrm>
          <a:off x="609600" y="3581598"/>
          <a:ext cx="10966450" cy="1182528"/>
        </p:xfrm>
        <a:graphic>
          <a:graphicData uri="http://schemas.openxmlformats.org/drawingml/2006/table">
            <a:tbl>
              <a:tblPr firstRow="1" bandRow="1">
                <a:tableStyleId>{5C22544A-7EE6-4342-B048-85BDC9FD1C3A}</a:tableStyleId>
              </a:tblPr>
              <a:tblGrid>
                <a:gridCol w="1636415"/>
                <a:gridCol w="5356324"/>
                <a:gridCol w="3973711"/>
              </a:tblGrid>
              <a:tr h="197088">
                <a:tc>
                  <a:txBody>
                    <a:bodyPr wrap="square"/>
                    <a:lstStyle/>
                    <a:p>
                      <a:r>
                        <a:rPr sz="800" b="1" i="0">
                          <a:solidFill>
                            <a:srgbClr val="F4F1EA"/>
                          </a:solidFill>
                          <a:latin typeface="Arial"/>
                          <a:ea typeface="Malgun Gothic"/>
                          <a:cs typeface="Malgun Gothic"/>
                        </a:rPr>
                        <a:t>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정의(원문)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왜 필요한가</a:t>
                      </a:r>
                    </a:p>
                  </a:txBody>
                  <a:tcPr marL="63500" marR="63500" marT="12700" marB="12700">
                    <a:solidFill>
                      <a:srgbClr val="16213A"/>
                    </a:solidFill>
                  </a:tcPr>
                </a:tc>
              </a:tr>
              <a:tr h="197088">
                <a:tc>
                  <a:txBody>
                    <a:bodyPr wrap="square"/>
                    <a:lstStyle/>
                    <a:p>
                      <a:r>
                        <a:rPr sz="800" b="1" i="0">
                          <a:solidFill>
                            <a:srgbClr val="16213A"/>
                          </a:solidFill>
                          <a:latin typeface="Arial"/>
                          <a:ea typeface="Malgun Gothic"/>
                          <a:cs typeface="Malgun Gothic"/>
                        </a:rPr>
                        <a:t>Stalled time </a:t>
                      </a:r>
                      <a:r>
                        <a:rPr sz="800" b="1" i="0">
                          <a:solidFill>
                            <a:srgbClr val="16213A"/>
                          </a:solidFill>
                          <a:latin typeface="Consolas"/>
                          <a:ea typeface="Malgun Gothic"/>
                          <a:cs typeface="Malgun Gothic"/>
                        </a:rPr>
                        <a:t>ST</a:t>
                      </a:r>
                    </a:p>
                  </a:txBody>
                  <a:tcPr marL="63500" marR="63500" marT="12700" marB="12700">
                    <a:solidFill>
                      <a:srgbClr val="FFFDF8"/>
                    </a:solidFill>
                  </a:tcPr>
                </a:tc>
                <a:tc>
                  <a:txBody>
                    <a:bodyPr wrap="square"/>
                    <a:lstStyle/>
                    <a:p>
                      <a:r>
                        <a:rPr sz="800" b="0" i="1">
                          <a:solidFill>
                            <a:srgbClr val="16213A"/>
                          </a:solidFill>
                          <a:latin typeface="Arial"/>
                          <a:ea typeface="Malgun Gothic"/>
                          <a:cs typeface="Malgun Gothic"/>
                        </a:rPr>
                        <a:t>"Time where the magnitude of the speed of the robot falls within a given threshold."</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얼어붙기 탐지 — 이것만이 "안 움직여서 안 부딪힌" 경우를 잡는다</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Space compliance </a:t>
                      </a:r>
                      <a:r>
                        <a:rPr sz="800" b="1" i="0">
                          <a:solidFill>
                            <a:srgbClr val="16213A"/>
                          </a:solidFill>
                          <a:latin typeface="Consolas"/>
                          <a:ea typeface="Malgun Gothic"/>
                          <a:cs typeface="Malgun Gothic"/>
                        </a:rPr>
                        <a:t>SC</a:t>
                      </a:r>
                      <a:r>
                        <a:rPr sz="800" b="1" i="0">
                          <a:solidFill>
                            <a:srgbClr val="16213A"/>
                          </a:solidFill>
                          <a:latin typeface="Arial"/>
                          <a:ea typeface="Malgun Gothic"/>
                          <a:cs typeface="Malgun Gothic"/>
                        </a:rPr>
                        <a:t>/</a:t>
                      </a:r>
                      <a:r>
                        <a:rPr sz="800" b="1" i="0">
                          <a:solidFill>
                            <a:srgbClr val="16213A"/>
                          </a:solidFill>
                          <a:latin typeface="Consolas"/>
                          <a:ea typeface="Malgun Gothic"/>
                          <a:cs typeface="Malgun Gothic"/>
                        </a:rPr>
                        <a:t>PSC</a:t>
                      </a:r>
                    </a:p>
                  </a:txBody>
                  <a:tcPr marL="63500" marR="63500" marT="12700" marB="12700">
                    <a:solidFill>
                      <a:srgbClr val="F3F0E8"/>
                    </a:solidFill>
                  </a:tcPr>
                </a:tc>
                <a:tc>
                  <a:txBody>
                    <a:bodyPr wrap="square"/>
                    <a:lstStyle/>
                    <a:p>
                      <a:r>
                        <a:rPr sz="800" b="0" i="1">
                          <a:solidFill>
                            <a:srgbClr val="16213A"/>
                          </a:solidFill>
                          <a:latin typeface="Arial"/>
                          <a:ea typeface="Malgun Gothic"/>
                          <a:cs typeface="Malgun Gothic"/>
                        </a:rPr>
                        <a:t>"Ratio of the trajectory with the minimum distance to a human under a given threshold."</a:t>
                      </a:r>
                      <a:r>
                        <a:rPr sz="800" b="0" i="0">
                          <a:solidFill>
                            <a:srgbClr val="16213A"/>
                          </a:solidFill>
                          <a:latin typeface="Arial"/>
                          <a:ea typeface="Malgun Gothic"/>
                          <a:cs typeface="Malgun Gothic"/>
                        </a:rPr>
                        <a:t>(0.5 m면 PSC)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최악 한 점이 아니라 </a:t>
                      </a:r>
                      <a:r>
                        <a:rPr sz="800" b="1" i="0">
                          <a:solidFill>
                            <a:srgbClr val="16213A"/>
                          </a:solidFill>
                          <a:latin typeface="Arial"/>
                          <a:ea typeface="Malgun Gothic"/>
                          <a:cs typeface="Malgun Gothic"/>
                        </a:rPr>
                        <a:t>지속 시간 비율</a:t>
                      </a:r>
                      <a:r>
                        <a:rPr sz="800" b="0" i="0">
                          <a:solidFill>
                            <a:srgbClr val="16213A"/>
                          </a:solidFill>
                          <a:latin typeface="Arial"/>
                          <a:ea typeface="Malgun Gothic"/>
                          <a:cs typeface="Malgun Gothic"/>
                        </a:rPr>
                        <a:t>이라, 스치듯 지난 것과 계속 붙어 간 것을 가른다</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Movement jerk </a:t>
                      </a:r>
                      <a:r>
                        <a:rPr sz="800" b="1" i="0">
                          <a:solidFill>
                            <a:srgbClr val="16213A"/>
                          </a:solidFill>
                          <a:latin typeface="Consolas"/>
                          <a:ea typeface="Malgun Gothic"/>
                          <a:cs typeface="Malgun Gothic"/>
                        </a:rPr>
                        <a:t>J</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선속도의 2차 도함수</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감속이 부드러웠는지 급정거였는지</a:t>
                      </a:r>
                      <a:r>
                        <a:rPr sz="800" b="0" i="0">
                          <a:solidFill>
                            <a:srgbClr val="16213A"/>
                          </a:solidFill>
                          <a:latin typeface="Arial"/>
                          <a:ea typeface="Malgun Gothic"/>
                          <a:cs typeface="Malgun Gothic"/>
                        </a:rPr>
                        <a:t> — 기제 B가 떨어지는 지점</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Aggregated Time </a:t>
                      </a:r>
                      <a:r>
                        <a:rPr sz="800" b="1" i="0">
                          <a:solidFill>
                            <a:srgbClr val="16213A"/>
                          </a:solidFill>
                          <a:latin typeface="Consolas"/>
                          <a:ea typeface="Malgun Gothic"/>
                          <a:cs typeface="Malgun Gothic"/>
                        </a:rPr>
                        <a:t>AT</a:t>
                      </a:r>
                    </a:p>
                  </a:txBody>
                  <a:tcPr marL="63500" marR="63500" marT="12700" marB="12700">
                    <a:solidFill>
                      <a:srgbClr val="F3F0E8"/>
                    </a:solidFill>
                  </a:tcPr>
                </a:tc>
                <a:tc>
                  <a:txBody>
                    <a:bodyPr wrap="square"/>
                    <a:lstStyle/>
                    <a:p>
                      <a:r>
                        <a:rPr sz="800" b="0" i="1">
                          <a:solidFill>
                            <a:srgbClr val="16213A"/>
                          </a:solidFill>
                          <a:latin typeface="Arial"/>
                          <a:ea typeface="Malgun Gothic"/>
                          <a:cs typeface="Malgun Gothic"/>
                        </a:rPr>
                        <a:t>"Time taken for a subset of cooperative agents to meet their goals."</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내가 사람에게 끼친 지연</a:t>
                      </a:r>
                      <a:r>
                        <a:rPr sz="800" b="0" i="0">
                          <a:solidFill>
                            <a:srgbClr val="16213A"/>
                          </a:solidFill>
                          <a:latin typeface="Arial"/>
                          <a:ea typeface="Malgun Gothic"/>
                          <a:cs typeface="Malgun Gothic"/>
                        </a:rPr>
                        <a:t>을 계산에 넣는 유일한 지표 — 진짜 양보 지표에 가장 가깝다</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Min TTC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모두 등속 직선이라 가정한 최소 충돌 시간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지표 자체에 등속 가정이 박혀 있음에 주의</a:t>
                      </a:r>
                    </a:p>
                  </a:txBody>
                  <a:tcPr marL="63500" marR="63500" marT="12700" marB="12700">
                    <a:solidFill>
                      <a:srgbClr val="FFFDF8"/>
                    </a:solidFill>
                  </a:tcPr>
                </a:tc>
              </a:tr>
            </a:tbl>
          </a:graphicData>
        </a:graphic>
      </p:graphicFrame>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3/9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226 / 359</a:t>
            </a:r>
          </a:p>
        </p:txBody>
      </p:sp>
      <p:pic>
        <p:nvPicPr>
          <p:cNvPr id="5" name="Picture 4" descr="image.jpg"/>
          <p:cNvPicPr>
            <a:picLocks noChangeAspect="1"/>
          </p:cNvPicPr>
          <p:nvPr/>
        </p:nvPicPr>
        <p:blipFill>
          <a:blip r:embed="rId3"/>
          <a:stretch>
            <a:fillRect/>
          </a:stretch>
        </p:blipFill>
        <p:spPr>
          <a:xfrm>
            <a:off x="2149475" y="1244600"/>
            <a:ext cx="7893050" cy="4445000"/>
          </a:xfrm>
          <a:prstGeom prst="rect">
            <a:avLst/>
          </a:prstGeom>
        </p:spPr>
      </p:pic>
      <p:sp>
        <p:nvSpPr>
          <p:cNvPr id="6" name="TextBox 5"/>
          <p:cNvSpPr txBox="1"/>
          <p:nvPr/>
        </p:nvSpPr>
        <p:spPr>
          <a:xfrm>
            <a:off x="2149475" y="5727700"/>
            <a:ext cx="789305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Francis 외 (Fig. 1): 안전·편안함·가독성·예의·사회적 능숙함·상대 이해·능동성·맥락 적합성 여덟 원칙과 거기서 나오는 지표들. 출처: arXiv:2306.16740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4/9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227 / 359</a:t>
            </a:r>
          </a:p>
        </p:txBody>
      </p:sp>
      <p:sp>
        <p:nvSpPr>
          <p:cNvPr id="5" name="TextBox 4"/>
          <p:cNvSpPr txBox="1"/>
          <p:nvPr/>
        </p:nvSpPr>
        <p:spPr>
          <a:xfrm>
            <a:off x="609600" y="1244600"/>
            <a:ext cx="10972800" cy="188516"/>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그런데 이 분야에 "양보"라는 어휘 자체가 없다</a:t>
            </a:r>
          </a:p>
        </p:txBody>
      </p:sp>
      <p:sp>
        <p:nvSpPr>
          <p:cNvPr id="6" name="TextBox 5"/>
          <p:cNvSpPr txBox="1"/>
          <p:nvPr/>
        </p:nvSpPr>
        <p:spPr>
          <a:xfrm>
            <a:off x="609600" y="152201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표준 문서들의 PDF를 내려받아 직접 세어 봤다(2026-09-30).</a:t>
            </a:r>
          </a:p>
        </p:txBody>
      </p:sp>
      <p:graphicFrame>
        <p:nvGraphicFramePr>
          <p:cNvPr id="7" name="Table 6"/>
          <p:cNvGraphicFramePr>
            <a:graphicFrameLocks noGrp="1"/>
          </p:cNvGraphicFramePr>
          <p:nvPr/>
        </p:nvGraphicFramePr>
        <p:xfrm>
          <a:off x="609600" y="1827411"/>
          <a:ext cx="10966450" cy="1182528"/>
        </p:xfrm>
        <a:graphic>
          <a:graphicData uri="http://schemas.openxmlformats.org/drawingml/2006/table">
            <a:tbl>
              <a:tblPr firstRow="1" bandRow="1">
                <a:tableStyleId>{5C22544A-7EE6-4342-B048-85BDC9FD1C3A}</a:tableStyleId>
              </a:tblPr>
              <a:tblGrid>
                <a:gridCol w="3001764"/>
                <a:gridCol w="3143746"/>
                <a:gridCol w="4820940"/>
              </a:tblGrid>
              <a:tr h="197088">
                <a:tc>
                  <a:txBody>
                    <a:bodyPr wrap="square"/>
                    <a:lstStyle/>
                    <a:p>
                      <a:r>
                        <a:rPr sz="800" b="1" i="0">
                          <a:solidFill>
                            <a:srgbClr val="F4F1EA"/>
                          </a:solidFill>
                          <a:latin typeface="Arial"/>
                          <a:ea typeface="Malgun Gothic"/>
                          <a:cs typeface="Malgun Gothic"/>
                        </a:rPr>
                        <a:t>검색어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Francis 외(31인, ACM THRI 2025)</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Mirsky 외 </a:t>
                      </a:r>
                      <a:r>
                        <a:rPr sz="800" b="1" i="1">
                          <a:solidFill>
                            <a:srgbClr val="F4F1EA"/>
                          </a:solidFill>
                          <a:latin typeface="Arial"/>
                          <a:ea typeface="Malgun Gothic"/>
                          <a:cs typeface="Malgun Gothic"/>
                        </a:rPr>
                        <a:t>Conflict Avoidance</a:t>
                      </a:r>
                      <a:r>
                        <a:rPr sz="800" b="1" i="0">
                          <a:solidFill>
                            <a:srgbClr val="F4F1EA"/>
                          </a:solidFill>
                          <a:latin typeface="Arial"/>
                          <a:ea typeface="Malgun Gothic"/>
                          <a:cs typeface="Malgun Gothic"/>
                        </a:rPr>
                        <a:t> 서베이(ACM THRI 2024)</a:t>
                      </a:r>
                    </a:p>
                  </a:txBody>
                  <a:tcPr marL="63500" marR="63500" marT="12700" marB="12700">
                    <a:solidFill>
                      <a:srgbClr val="16213A"/>
                    </a:solidFill>
                  </a:tcPr>
                </a:tc>
              </a:tr>
              <a:tr h="197088">
                <a:tc>
                  <a:txBody>
                    <a:bodyPr wrap="square"/>
                    <a:lstStyle/>
                    <a:p>
                      <a:r>
                        <a:rPr sz="800" b="0" i="0">
                          <a:solidFill>
                            <a:srgbClr val="16213A"/>
                          </a:solidFill>
                          <a:latin typeface="Consolas"/>
                          <a:ea typeface="Malgun Gothic"/>
                          <a:cs typeface="Malgun Gothic"/>
                        </a:rPr>
                        <a:t>yield</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right of way</a:t>
                      </a:r>
                      <a:r>
                        <a:rPr sz="800" b="0" i="0">
                          <a:solidFill>
                            <a:srgbClr val="16213A"/>
                          </a:solidFill>
                          <a:latin typeface="Arial"/>
                          <a:ea typeface="Malgun Gothic"/>
                          <a:cs typeface="Malgun Gothic"/>
                        </a:rPr>
                        <a:t> / </a:t>
                      </a:r>
                      <a:r>
                        <a:rPr sz="800" b="0" i="0">
                          <a:solidFill>
                            <a:srgbClr val="16213A"/>
                          </a:solidFill>
                          <a:latin typeface="Consolas"/>
                          <a:ea typeface="Malgun Gothic"/>
                          <a:cs typeface="Malgun Gothic"/>
                        </a:rPr>
                        <a:t>right-of-way</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0 / 0</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0 / 0</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passing side</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priority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0</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Politeness</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bl>
          </a:graphicData>
        </a:graphic>
      </p:graphicFrame>
      <p:sp>
        <p:nvSpPr>
          <p:cNvPr id="8" name="TextBox 7"/>
          <p:cNvSpPr txBox="1"/>
          <p:nvPr/>
        </p:nvSpPr>
        <p:spPr>
          <a:xfrm>
            <a:off x="609600" y="3400822"/>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소셜 내비게이션 평가의 표준 문서가 "양보"도 "통행 우선권"도 한 번도 쓰지 않으면서 "예의"는 21번 쓴다.</a:t>
            </a:r>
            <a:r>
              <a:rPr sz="1050" b="0" i="0">
                <a:solidFill>
                  <a:srgbClr val="16213A"/>
                </a:solidFill>
                <a:latin typeface="Arial"/>
                <a:ea typeface="Malgun Gothic"/>
                <a:cs typeface="Malgun Gothic"/>
              </a:rPr>
              <a:t> 충돌 회피로 범위를 좁힌 서베이조차 통행 우선권을 다루지 않는다. 대신 시나리오 분류(정면 접근, 보행자 추월, 로봇 추월, 교차, 사각 코너, 협로)로 </a:t>
            </a:r>
            <a:r>
              <a:rPr sz="1050" b="1" i="0">
                <a:solidFill>
                  <a:srgbClr val="16213A"/>
                </a:solidFill>
                <a:latin typeface="Arial"/>
                <a:ea typeface="Malgun Gothic"/>
                <a:cs typeface="Malgun Gothic"/>
              </a:rPr>
              <a:t>이름을 붙이지 않은 채</a:t>
            </a:r>
            <a:r>
              <a:rPr sz="1050" b="0" i="0">
                <a:solidFill>
                  <a:srgbClr val="16213A"/>
                </a:solidFill>
                <a:latin typeface="Arial"/>
                <a:ea typeface="Malgun Gothic"/>
                <a:cs typeface="Malgun Gothic"/>
              </a:rPr>
              <a:t> 같은 결정을 인코딩해 둔다.</a:t>
            </a:r>
          </a:p>
        </p:txBody>
      </p:sp>
      <p:sp>
        <p:nvSpPr>
          <p:cNvPr id="9" name="TextBox 8"/>
          <p:cNvSpPr txBox="1"/>
          <p:nvPr/>
        </p:nvSpPr>
        <p:spPr>
          <a:xfrm>
            <a:off x="609600" y="392271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그리고 더 날카로운 모순이 있다.</a:t>
            </a:r>
            <a:r>
              <a:rPr sz="1050" b="0" i="0">
                <a:solidFill>
                  <a:srgbClr val="16213A"/>
                </a:solidFill>
                <a:latin typeface="Arial"/>
                <a:ea typeface="Malgun Gothic"/>
                <a:cs typeface="Malgun Gothic"/>
              </a:rPr>
              <a:t> Francis 외의 지표 표에서 </a:t>
            </a:r>
            <a:r>
              <a:rPr sz="1050" b="1" i="0">
                <a:solidFill>
                  <a:srgbClr val="C2410C"/>
                </a:solidFill>
                <a:latin typeface="Arial"/>
                <a:ea typeface="Malgun Gothic"/>
                <a:cs typeface="Malgun Gothic"/>
              </a:rPr>
              <a:t>Stalled time과 Failure to progress는 "예의" 항목이 아니라 "성공/실패" 항목에 있다.</a:t>
            </a:r>
            <a:r>
              <a:rPr sz="1050" b="0" i="0">
                <a:solidFill>
                  <a:srgbClr val="16213A"/>
                </a:solidFill>
                <a:latin typeface="Arial"/>
                <a:ea typeface="Malgun Gothic"/>
                <a:cs typeface="Malgun Gothic"/>
              </a:rPr>
              <a:t> 즉 </a:t>
            </a:r>
            <a:r>
              <a:rPr sz="1050" b="1" i="0">
                <a:solidFill>
                  <a:srgbClr val="16213A"/>
                </a:solidFill>
                <a:latin typeface="Arial"/>
                <a:ea typeface="Malgun Gothic"/>
                <a:cs typeface="Malgun Gothic"/>
              </a:rPr>
              <a:t>그 분야의 벤치마크는 멈추는 것을 실패로 센다.</a:t>
            </a:r>
            <a:r>
              <a:rPr sz="1050" b="0" i="0">
                <a:solidFill>
                  <a:srgbClr val="16213A"/>
                </a:solidFill>
                <a:latin typeface="Arial"/>
                <a:ea typeface="Malgun Gothic"/>
                <a:cs typeface="Malgun Gothic"/>
              </a:rPr>
              <a:t> 원칙은 예의를 요구하는데 지표는 양보를 벌한다 — </a:t>
            </a:r>
            <a:r>
              <a:rPr sz="1050" b="1" i="0">
                <a:solidFill>
                  <a:srgbClr val="C2410C"/>
                </a:solidFill>
                <a:latin typeface="Arial"/>
                <a:ea typeface="Malgun Gothic"/>
                <a:cs typeface="Malgun Gothic"/>
              </a:rPr>
              <a:t>양보하는 컨트롤러가 그것을 평가하려고 만든 지표 체계에서 손해를 본다.</a:t>
            </a:r>
            <a:r>
              <a:rPr sz="1050" b="0" i="0">
                <a:solidFill>
                  <a:srgbClr val="16213A"/>
                </a:solidFill>
                <a:latin typeface="Arial"/>
                <a:ea typeface="Malgun Gothic"/>
                <a:cs typeface="Malgun Gothic"/>
              </a:rPr>
              <a:t> travplan이 TP-0091로 정지 시간 지표를 넣을 때 이 점을 같이 봐야 한다.</a:t>
            </a:r>
          </a:p>
        </p:txBody>
      </p:sp>
      <p:sp>
        <p:nvSpPr>
          <p:cNvPr id="10" name="TextBox 9"/>
          <p:cNvSpPr txBox="1"/>
          <p:nvPr/>
        </p:nvSpPr>
        <p:spPr>
          <a:xfrm>
            <a:off x="609600" y="4661098"/>
            <a:ext cx="10972800" cy="188516"/>
          </a:xfrm>
          <a:prstGeom prst="rect">
            <a:avLst/>
          </a:prstGeom>
          <a:noFill/>
        </p:spPr>
        <p:txBody>
          <a:bodyPr wrap="square" lIns="0" rIns="0" tIns="0" bIns="0" anchor="t">
            <a:spAutoFit/>
            <a:normAutofit/>
          </a:bodyPr>
          <a:lstStyle/>
          <a:p>
            <a:r>
              <a:rPr sz="1050" b="1" i="0">
                <a:solidFill>
                  <a:srgbClr val="5A6478"/>
                </a:solidFill>
                <a:latin typeface="Arial"/>
                <a:ea typeface="Malgun Gothic"/>
                <a:cs typeface="Malgun Gothic"/>
              </a:rPr>
              <a:t>법으로 강제되는 곳이 있다 — 그리고 그것이 유일하게 단단한 요구사항이다</a:t>
            </a:r>
          </a:p>
        </p:txBody>
      </p:sp>
      <p:sp>
        <p:nvSpPr>
          <p:cNvPr id="11" name="TextBox 10"/>
          <p:cNvSpPr txBox="1"/>
          <p:nvPr/>
        </p:nvSpPr>
        <p:spPr>
          <a:xfrm>
            <a:off x="609600" y="493851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보도 배달로봇의 양보에 대해 </a:t>
            </a:r>
            <a:r>
              <a:rPr sz="1050" b="1" i="0">
                <a:solidFill>
                  <a:srgbClr val="16213A"/>
                </a:solidFill>
                <a:latin typeface="Arial"/>
                <a:ea typeface="Malgun Gothic"/>
                <a:cs typeface="Malgun Gothic"/>
              </a:rPr>
              <a:t>인용 가능한 가장 확실한 근거는 논문이 아니라 법령이다.</a:t>
            </a:r>
            <a:r>
              <a:rPr sz="1050" b="0" i="0">
                <a:solidFill>
                  <a:srgbClr val="16213A"/>
                </a:solidFill>
                <a:latin typeface="Arial"/>
                <a:ea typeface="Malgun Gothic"/>
                <a:cs typeface="Malgun Gothic"/>
              </a:rPr>
              <a:t> Texas Transportation Code Ch. 552A(2019년 S.B. 969로 신설)를 원문으로 확인했다.</a:t>
            </a:r>
          </a:p>
        </p:txBody>
      </p:sp>
      <p:sp>
        <p:nvSpPr>
          <p:cNvPr id="12" name="TextBox 11"/>
          <p:cNvSpPr txBox="1"/>
          <p:nvPr/>
        </p:nvSpPr>
        <p:spPr>
          <a:xfrm>
            <a:off x="609600" y="5243909"/>
            <a:ext cx="10972800" cy="559991"/>
          </a:xfrm>
          <a:prstGeom prst="rect">
            <a:avLst/>
          </a:prstGeom>
          <a:solidFill>
            <a:srgbClr val="EEF1F6"/>
          </a:solidFill>
        </p:spPr>
        <p:txBody>
          <a:bodyPr wrap="square" lIns="114300" rIns="114300" tIns="63500" bIns="63500" anchor="t">
            <a:spAutoFit/>
            <a:normAutofit/>
          </a:bodyPr>
          <a:lstStyle/>
          <a:p>
            <a:r>
              <a:rPr sz="1050" b="0" i="0">
                <a:solidFill>
                  <a:srgbClr val="33405A"/>
                </a:solidFill>
                <a:latin typeface="Arial"/>
                <a:ea typeface="Malgun Gothic"/>
                <a:cs typeface="Malgun Gothic"/>
              </a:rPr>
              <a:t>§ 552A.0005(a): </a:t>
            </a:r>
            <a:r>
              <a:rPr sz="1050" b="0" i="1">
                <a:solidFill>
                  <a:srgbClr val="33405A"/>
                </a:solidFill>
                <a:latin typeface="Arial"/>
                <a:ea typeface="Malgun Gothic"/>
                <a:cs typeface="Malgun Gothic"/>
              </a:rPr>
              <a:t>"A personal delivery or mobile carrying device operated under this subchapter must: ... </a:t>
            </a:r>
            <a:r>
              <a:rPr sz="1050" b="0" i="1">
                <a:solidFill>
                  <a:srgbClr val="33405A"/>
                </a:solidFill>
                <a:latin typeface="Arial"/>
                <a:ea typeface="Malgun Gothic"/>
                <a:cs typeface="Malgun Gothic"/>
              </a:rPr>
              <a:t>(2) yield the right-of-way to all other traffic, including pedestrians;</a:t>
            </a:r>
            <a:r>
              <a:rPr sz="1050" b="0" i="1">
                <a:solidFill>
                  <a:srgbClr val="33405A"/>
                </a:solidFill>
                <a:latin typeface="Arial"/>
                <a:ea typeface="Malgun Gothic"/>
                <a:cs typeface="Malgun Gothic"/>
              </a:rPr>
              <a:t> (3) not unreasonably interfere with or obstruct other traffic, including pedestrians ..."</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5/9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228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같은 장이 제약도 준다 — 보행자 구역 </a:t>
            </a:r>
            <a:r>
              <a:rPr sz="1050" b="1" i="0">
                <a:solidFill>
                  <a:srgbClr val="16213A"/>
                </a:solidFill>
                <a:latin typeface="Arial"/>
                <a:ea typeface="Malgun Gothic"/>
                <a:cs typeface="Malgun Gothic"/>
              </a:rPr>
              <a:t>10 mph(≈4.5 m/s)</a:t>
            </a:r>
            <a:r>
              <a:rPr sz="1050" b="0" i="0">
                <a:solidFill>
                  <a:srgbClr val="16213A"/>
                </a:solidFill>
                <a:latin typeface="Arial"/>
                <a:ea typeface="Malgun Gothic"/>
                <a:cs typeface="Malgun Gothic"/>
              </a:rPr>
              <a:t> 상한(지자체가 낮출 수 있으나 </a:t>
            </a:r>
            <a:r>
              <a:rPr sz="1050" b="1" i="0">
                <a:solidFill>
                  <a:srgbClr val="16213A"/>
                </a:solidFill>
                <a:latin typeface="Arial"/>
                <a:ea typeface="Malgun Gothic"/>
                <a:cs typeface="Malgun Gothic"/>
              </a:rPr>
              <a:t>7 mph 미만은 불가</a:t>
            </a:r>
            <a:r>
              <a:rPr sz="1050" b="0" i="0">
                <a:solidFill>
                  <a:srgbClr val="16213A"/>
                </a:solidFill>
                <a:latin typeface="Arial"/>
                <a:ea typeface="Malgun Gothic"/>
                <a:cs typeface="Malgun Gothic"/>
              </a:rPr>
              <a:t>), 도로 갓길 20 mph, </a:t>
            </a:r>
            <a:r>
              <a:rPr sz="1050" b="0" i="1">
                <a:solidFill>
                  <a:srgbClr val="16213A"/>
                </a:solidFill>
                <a:latin typeface="Arial"/>
                <a:ea typeface="Malgun Gothic"/>
                <a:cs typeface="Malgun Gothic"/>
              </a:rPr>
              <a:t>"a braking system that enables the device to come to a controlled stop"</a:t>
            </a:r>
            <a:r>
              <a:rPr sz="1050" b="0" i="0">
                <a:solidFill>
                  <a:srgbClr val="16213A"/>
                </a:solidFill>
                <a:latin typeface="Arial"/>
                <a:ea typeface="Malgun Gothic"/>
                <a:cs typeface="Malgun Gothic"/>
              </a:rPr>
              <a:t>, 그리고 "보행자 구역"에 </a:t>
            </a:r>
            <a:r>
              <a:rPr sz="1050" b="1" i="0">
                <a:solidFill>
                  <a:srgbClr val="16213A"/>
                </a:solidFill>
                <a:latin typeface="Arial"/>
                <a:ea typeface="Malgun Gothic"/>
                <a:cs typeface="Malgun Gothic"/>
              </a:rPr>
              <a:t>횡단보도·스쿨존이 포함</a:t>
            </a:r>
            <a:r>
              <a:rPr sz="1050" b="0" i="0">
                <a:solidFill>
                  <a:srgbClr val="16213A"/>
                </a:solidFill>
                <a:latin typeface="Arial"/>
                <a:ea typeface="Malgun Gothic"/>
                <a:cs typeface="Malgun Gothic"/>
              </a:rPr>
              <a:t>된다. ⚠️ 이 장에 </a:t>
            </a:r>
            <a:r>
              <a:rPr sz="1050" b="1" i="0">
                <a:solidFill>
                  <a:srgbClr val="16213A"/>
                </a:solidFill>
                <a:latin typeface="Arial"/>
                <a:ea typeface="Malgun Gothic"/>
                <a:cs typeface="Malgun Gothic"/>
              </a:rPr>
              <a:t>중량 제한은 없다</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pound</a:t>
            </a:r>
            <a:r>
              <a:rPr sz="1050" b="0" i="0">
                <a:solidFill>
                  <a:srgbClr val="16213A"/>
                </a:solidFill>
                <a:latin typeface="Arial"/>
                <a:ea typeface="Malgun Gothic"/>
                <a:cs typeface="Malgun Gothic"/>
              </a:rPr>
              <a:t> 0회 — 흔히 인용되는 "550 lb"는 여기서 나오지 않는다. 검증된 값은 버지니아의 500 lb다).</a:t>
            </a:r>
          </a:p>
        </p:txBody>
      </p:sp>
      <p:sp>
        <p:nvSpPr>
          <p:cNvPr id="6" name="TextBox 5"/>
          <p:cNvSpPr txBox="1"/>
          <p:nvPr/>
        </p:nvSpPr>
        <p:spPr>
          <a:xfrm>
            <a:off x="609600" y="1982986"/>
            <a:ext cx="10972800" cy="86598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주마다 의무가 다르다는 것이 핵심이다.</a:t>
            </a:r>
            <a:r>
              <a:rPr sz="1050" b="0" i="0">
                <a:solidFill>
                  <a:srgbClr val="16213A"/>
                </a:solidFill>
                <a:latin typeface="Arial"/>
                <a:ea typeface="Malgun Gothic"/>
                <a:cs typeface="Malgun Gothic"/>
              </a:rPr>
              <a:t> 텍사스는 </a:t>
            </a:r>
            <a:r>
              <a:rPr sz="1050" b="1" i="0">
                <a:solidFill>
                  <a:srgbClr val="16213A"/>
                </a:solidFill>
                <a:latin typeface="Arial"/>
                <a:ea typeface="Malgun Gothic"/>
                <a:cs typeface="Malgun Gothic"/>
              </a:rPr>
              <a:t>보행자를 포함한 모든 통행에 양보</a:t>
            </a:r>
            <a:r>
              <a:rPr sz="1050" b="0" i="0">
                <a:solidFill>
                  <a:srgbClr val="16213A"/>
                </a:solidFill>
                <a:latin typeface="Arial"/>
                <a:ea typeface="Malgun Gothic"/>
                <a:cs typeface="Malgun Gothic"/>
              </a:rPr>
              <a:t>를 명령한다. 플로리다(§ 316.2071)는 더 미묘하다 — 보행자와 동등한 권리를 주되 </a:t>
            </a:r>
            <a:r>
              <a:rPr sz="1050" b="1" i="0">
                <a:solidFill>
                  <a:srgbClr val="C2410C"/>
                </a:solidFill>
                <a:latin typeface="Arial"/>
                <a:ea typeface="Malgun Gothic"/>
                <a:cs typeface="Malgun Gothic"/>
              </a:rPr>
              <a:t>거기서 로봇을 다시 빼내어</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"must yield the right-of-way to pedestrians on the sidewalk or crosswalk"</a:t>
            </a:r>
            <a:r>
              <a:rPr sz="1050" b="0" i="0">
                <a:solidFill>
                  <a:srgbClr val="16213A"/>
                </a:solidFill>
                <a:latin typeface="Arial"/>
                <a:ea typeface="Malgun Gothic"/>
                <a:cs typeface="Malgun Gothic"/>
              </a:rPr>
              <a:t>를 덧붙인다. 버지니아는 동등 취급만 하고 </a:t>
            </a:r>
            <a:r>
              <a:rPr sz="1050" b="0" i="0">
                <a:solidFill>
                  <a:srgbClr val="16213A"/>
                </a:solidFill>
                <a:latin typeface="Consolas"/>
                <a:ea typeface="Malgun Gothic"/>
                <a:cs typeface="Malgun Gothic"/>
              </a:rPr>
              <a:t>yield</a:t>
            </a:r>
            <a:r>
              <a:rPr sz="1050" b="0" i="0">
                <a:solidFill>
                  <a:srgbClr val="16213A"/>
                </a:solidFill>
                <a:latin typeface="Arial"/>
                <a:ea typeface="Malgun Gothic"/>
                <a:cs typeface="Malgun Gothic"/>
              </a:rPr>
              <a:t>가 </a:t>
            </a:r>
            <a:r>
              <a:rPr sz="1050" b="1" i="0">
                <a:solidFill>
                  <a:srgbClr val="16213A"/>
                </a:solidFill>
                <a:latin typeface="Arial"/>
                <a:ea typeface="Malgun Gothic"/>
                <a:cs typeface="Malgun Gothic"/>
              </a:rPr>
              <a:t>0회</a:t>
            </a:r>
            <a:r>
              <a:rPr sz="1050" b="0" i="0">
                <a:solidFill>
                  <a:srgbClr val="16213A"/>
                </a:solidFill>
                <a:latin typeface="Arial"/>
                <a:ea typeface="Malgun Gothic"/>
                <a:cs typeface="Malgun Gothic"/>
              </a:rPr>
              <a:t> 나온다 — </a:t>
            </a:r>
            <a:r>
              <a:rPr sz="1050" b="1" i="0">
                <a:solidFill>
                  <a:srgbClr val="C2410C"/>
                </a:solidFill>
                <a:latin typeface="Arial"/>
                <a:ea typeface="Malgun Gothic"/>
                <a:cs typeface="Malgun Gothic"/>
              </a:rPr>
              <a:t>보행자의 권리를 가진 로봇은 구조적으로 </a:t>
            </a:r>
            <a:r>
              <a:rPr sz="1050" b="1" i="0">
                <a:solidFill>
                  <a:srgbClr val="C2410C"/>
                </a:solidFill>
                <a:latin typeface="Arial"/>
                <a:ea typeface="Malgun Gothic"/>
                <a:cs typeface="Malgun Gothic"/>
              </a:rPr>
              <a:t>다른 보행자에게 양보할 의무가 없다.</a:t>
            </a:r>
            <a:r>
              <a:rPr sz="1050" b="0" i="0">
                <a:solidFill>
                  <a:srgbClr val="16213A"/>
                </a:solidFill>
                <a:latin typeface="Arial"/>
                <a:ea typeface="Malgun Gothic"/>
                <a:cs typeface="Malgun Gothic"/>
              </a:rPr>
              <a:t> 세 주가 법적으로 다른 답을 주면서 </a:t>
            </a:r>
            <a:r>
              <a:rPr sz="1050" b="1" i="0">
                <a:solidFill>
                  <a:srgbClr val="16213A"/>
                </a:solidFill>
                <a:latin typeface="Arial"/>
                <a:ea typeface="Malgun Gothic"/>
                <a:cs typeface="Malgun Gothic"/>
              </a:rPr>
              <a:t>어느 쪽도 기제를 지정하지 않는다.</a:t>
            </a:r>
            <a:r>
              <a:rPr sz="1050" b="0" i="0">
                <a:solidFill>
                  <a:srgbClr val="16213A"/>
                </a:solidFill>
                <a:latin typeface="Arial"/>
                <a:ea typeface="Malgun Gothic"/>
                <a:cs typeface="Malgun Gothic"/>
              </a:rPr>
              <a:t> 즉 </a:t>
            </a:r>
            <a:r>
              <a:rPr sz="1050" b="1" i="0">
                <a:solidFill>
                  <a:srgbClr val="C2410C"/>
                </a:solidFill>
                <a:latin typeface="Arial"/>
                <a:ea typeface="Malgun Gothic"/>
                <a:cs typeface="Malgun Gothic"/>
              </a:rPr>
              <a:t>양보 컨트롤러는 어떤 관할에서는 </a:t>
            </a:r>
            <a:r>
              <a:rPr sz="1050" b="1" i="0">
                <a:solidFill>
                  <a:srgbClr val="C2410C"/>
                </a:solidFill>
                <a:latin typeface="Arial"/>
                <a:ea typeface="Malgun Gothic"/>
                <a:cs typeface="Malgun Gothic"/>
              </a:rPr>
              <a:t>법적 의무</a:t>
            </a:r>
            <a:r>
              <a:rPr sz="1050" b="1" i="0">
                <a:solidFill>
                  <a:srgbClr val="C2410C"/>
                </a:solidFill>
                <a:latin typeface="Arial"/>
                <a:ea typeface="Malgun Gothic"/>
                <a:cs typeface="Malgun Gothic"/>
              </a:rPr>
              <a:t>이고 다른 곳에서는 초과 준수다.</a:t>
            </a:r>
            <a:r>
              <a:rPr sz="1050" b="0" i="0">
                <a:solidFill>
                  <a:srgbClr val="16213A"/>
                </a:solidFill>
                <a:latin typeface="Arial"/>
                <a:ea typeface="Malgun Gothic"/>
                <a:cs typeface="Malgun Gothic"/>
              </a:rPr>
              <a:t> travplan의 </a:t>
            </a:r>
            <a:r>
              <a:rPr sz="1050" b="0" i="0">
                <a:solidFill>
                  <a:srgbClr val="16213A"/>
                </a:solidFill>
                <a:latin typeface="Consolas"/>
                <a:ea typeface="Malgun Gothic"/>
                <a:cs typeface="Malgun Gothic"/>
              </a:rPr>
              <a:t>v_max = 1.5 m/s</a:t>
            </a:r>
            <a:r>
              <a:rPr sz="1050" b="0" i="0">
                <a:solidFill>
                  <a:srgbClr val="16213A"/>
                </a:solidFill>
                <a:latin typeface="Arial"/>
                <a:ea typeface="Malgun Gothic"/>
                <a:cs typeface="Malgun Gothic"/>
              </a:rPr>
              <a:t>는 어느 상한에도 여유 있게 들어간다.</a:t>
            </a:r>
          </a:p>
        </p:txBody>
      </p:sp>
      <p:sp>
        <p:nvSpPr>
          <p:cNvPr id="7" name="TextBox 6"/>
          <p:cNvSpPr txBox="1"/>
          <p:nvPr/>
        </p:nvSpPr>
        <p:spPr>
          <a:xfrm>
            <a:off x="609600" y="2937867"/>
            <a:ext cx="10972800" cy="188516"/>
          </a:xfrm>
          <a:prstGeom prst="rect">
            <a:avLst/>
          </a:prstGeom>
          <a:noFill/>
        </p:spPr>
        <p:txBody>
          <a:bodyPr wrap="square" lIns="0" rIns="0" tIns="0" bIns="0" anchor="t">
            <a:spAutoFit/>
            <a:normAutofit/>
          </a:bodyPr>
          <a:lstStyle/>
          <a:p>
            <a:r>
              <a:rPr sz="1050" b="1" i="0">
                <a:solidFill>
                  <a:srgbClr val="5A6478"/>
                </a:solidFill>
                <a:latin typeface="Arial"/>
                <a:ea typeface="Malgun Gothic"/>
                <a:cs typeface="Malgun Gothic"/>
              </a:rPr>
              <a:t>업계에서 나온 유일한 기술 문서는 특허 하나다 — 그런데 대상이 자동차다</a:t>
            </a:r>
          </a:p>
        </p:txBody>
      </p:sp>
      <p:sp>
        <p:nvSpPr>
          <p:cNvPr id="8" name="TextBox 7"/>
          <p:cNvSpPr txBox="1"/>
          <p:nvPr/>
        </p:nvSpPr>
        <p:spPr>
          <a:xfrm>
            <a:off x="609600" y="3215283"/>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Starship의 </a:t>
            </a:r>
            <a:r>
              <a:rPr sz="1050" b="1" i="0">
                <a:solidFill>
                  <a:srgbClr val="16213A"/>
                </a:solidFill>
                <a:latin typeface="Arial"/>
                <a:ea typeface="Malgun Gothic"/>
                <a:cs typeface="Malgun Gothic"/>
              </a:rPr>
              <a:t>EP 3 679 441 B1</a:t>
            </a:r>
            <a:r>
              <a:rPr sz="1050" b="0" i="0">
                <a:solidFill>
                  <a:srgbClr val="16213A"/>
                </a:solidFill>
                <a:latin typeface="Arial"/>
                <a:ea typeface="Malgun Gothic"/>
                <a:cs typeface="Malgun Gothic"/>
              </a:rPr>
              <a:t>(= US 10,282,995 B2, 우선권 2017, 등록 2023-06-28)을 원문으로 읽었다. 제목이 </a:t>
            </a:r>
            <a:r>
              <a:rPr sz="1050" b="0" i="1">
                <a:solidFill>
                  <a:srgbClr val="16213A"/>
                </a:solidFill>
                <a:latin typeface="Arial"/>
                <a:ea typeface="Malgun Gothic"/>
                <a:cs typeface="Malgun Gothic"/>
              </a:rPr>
              <a:t>"Mobile robot having collision avoidance system for crossing a road from a pedestrian pathway"</a:t>
            </a:r>
            <a:r>
              <a:rPr sz="1050" b="0" i="0">
                <a:solidFill>
                  <a:srgbClr val="16213A"/>
                </a:solidFill>
                <a:latin typeface="Arial"/>
                <a:ea typeface="Malgun Gothic"/>
                <a:cs typeface="Malgun Gothic"/>
              </a:rPr>
              <a:t>다.</a:t>
            </a:r>
          </a:p>
        </p:txBody>
      </p:sp>
      <p:sp>
        <p:nvSpPr>
          <p:cNvPr id="9" name="TextBox 8"/>
          <p:cNvSpPr txBox="1"/>
          <p:nvPr/>
        </p:nvSpPr>
        <p:spPr>
          <a:xfrm>
            <a:off x="609600" y="373717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동작이 travplan에 옮길 만하다 — </a:t>
            </a:r>
            <a:r>
              <a:rPr sz="1050" b="1" i="0">
                <a:solidFill>
                  <a:srgbClr val="16213A"/>
                </a:solidFill>
                <a:latin typeface="Arial"/>
                <a:ea typeface="Malgun Gothic"/>
                <a:cs typeface="Malgun Gothic"/>
              </a:rPr>
              <a:t>진입 전에 go/no-go로 한 번 판단하고, 건너는 도중에는 "중단하고 후진" 분기를 연다.</a:t>
            </a:r>
            <a:r>
              <a:rPr sz="1050" b="0" i="0">
                <a:solidFill>
                  <a:srgbClr val="16213A"/>
                </a:solidFill>
                <a:latin typeface="Arial"/>
                <a:ea typeface="Malgun Gothic"/>
                <a:cs typeface="Malgun Gothic"/>
              </a:rPr>
              <a:t> 그런데 그 분기가 조건부다:</a:t>
            </a:r>
          </a:p>
        </p:txBody>
      </p:sp>
      <p:sp>
        <p:nvSpPr>
          <p:cNvPr id="10" name="TextBox 9"/>
          <p:cNvSpPr txBox="1"/>
          <p:nvPr/>
        </p:nvSpPr>
        <p:spPr>
          <a:xfrm>
            <a:off x="609600" y="4042569"/>
            <a:ext cx="10972800" cy="559991"/>
          </a:xfrm>
          <a:prstGeom prst="rect">
            <a:avLst/>
          </a:prstGeom>
          <a:solidFill>
            <a:srgbClr val="EEF1F6"/>
          </a:solidFill>
        </p:spPr>
        <p:txBody>
          <a:bodyPr wrap="square" lIns="114300" rIns="114300" tIns="63500" bIns="63500" anchor="t">
            <a:spAutoFit/>
            <a:normAutofit/>
          </a:bodyPr>
          <a:lstStyle/>
          <a:p>
            <a:r>
              <a:rPr sz="1050" b="0" i="1">
                <a:solidFill>
                  <a:srgbClr val="33405A"/>
                </a:solidFill>
                <a:latin typeface="Arial"/>
                <a:ea typeface="Malgun Gothic"/>
                <a:cs typeface="Malgun Gothic"/>
              </a:rPr>
              <a:t>"determining whether or not an object is </a:t>
            </a:r>
            <a:r>
              <a:rPr sz="1050" b="0" i="1">
                <a:solidFill>
                  <a:srgbClr val="33405A"/>
                </a:solidFill>
                <a:latin typeface="Arial"/>
                <a:ea typeface="Malgun Gothic"/>
                <a:cs typeface="Malgun Gothic"/>
              </a:rPr>
              <a:t>directly behind</a:t>
            </a:r>
            <a:r>
              <a:rPr sz="1050" b="0" i="1">
                <a:solidFill>
                  <a:srgbClr val="33405A"/>
                </a:solidFill>
                <a:latin typeface="Arial"/>
                <a:ea typeface="Malgun Gothic"/>
                <a:cs typeface="Malgun Gothic"/>
              </a:rPr>
              <a:t> the mobile robot and applying the reverse acceleration </a:t>
            </a:r>
            <a:r>
              <a:rPr sz="1050" b="0" i="1">
                <a:solidFill>
                  <a:srgbClr val="33405A"/>
                </a:solidFill>
                <a:latin typeface="Arial"/>
                <a:ea typeface="Malgun Gothic"/>
                <a:cs typeface="Malgun Gothic"/>
              </a:rPr>
              <a:t>only if no object is sensed directly behind</a:t>
            </a:r>
            <a:r>
              <a:rPr sz="1050" b="0" i="1">
                <a:solidFill>
                  <a:srgbClr val="33405A"/>
                </a:solidFill>
                <a:latin typeface="Arial"/>
                <a:ea typeface="Malgun Gothic"/>
                <a:cs typeface="Malgun Gothic"/>
              </a:rPr>
              <a:t>"</a:t>
            </a:r>
            <a:r>
              <a:rPr sz="1050" b="0" i="0">
                <a:solidFill>
                  <a:srgbClr val="33405A"/>
                </a:solidFill>
                <a:latin typeface="Arial"/>
                <a:ea typeface="Malgun Gothic"/>
                <a:cs typeface="Malgun Gothic"/>
              </a:rPr>
              <a:t>, 그리고 </a:t>
            </a:r>
            <a:r>
              <a:rPr sz="1050" b="0" i="1">
                <a:solidFill>
                  <a:srgbClr val="33405A"/>
                </a:solidFill>
                <a:latin typeface="Arial"/>
                <a:ea typeface="Malgun Gothic"/>
                <a:cs typeface="Malgun Gothic"/>
              </a:rPr>
              <a:t>"the reverse acceleration is applied in such a way that the robot's forward speed decreases, </a:t>
            </a:r>
            <a:r>
              <a:rPr sz="1050" b="0" i="1">
                <a:solidFill>
                  <a:srgbClr val="33405A"/>
                </a:solidFill>
                <a:latin typeface="Arial"/>
                <a:ea typeface="Malgun Gothic"/>
                <a:cs typeface="Malgun Gothic"/>
              </a:rPr>
              <a:t>passes zero and becomes negative</a:t>
            </a:r>
            <a:r>
              <a:rPr sz="1050" b="0" i="1">
                <a:solidFill>
                  <a:srgbClr val="33405A"/>
                </a:solidFill>
                <a:latin typeface="Arial"/>
                <a:ea typeface="Malgun Gothic"/>
                <a:cs typeface="Malgun Gothic"/>
              </a:rPr>
              <a:t>"</a:t>
            </a:r>
            <a:r>
              <a:rPr sz="1050" b="0" i="0">
                <a:solidFill>
                  <a:srgbClr val="33405A"/>
                </a:solidFill>
                <a:latin typeface="Arial"/>
                <a:ea typeface="Malgun Gothic"/>
                <a:cs typeface="Malgun Gothic"/>
              </a:rPr>
              <a:t>, 후진은 최대 </a:t>
            </a:r>
            <a:r>
              <a:rPr sz="1050" b="1" i="0">
                <a:solidFill>
                  <a:srgbClr val="33405A"/>
                </a:solidFill>
                <a:latin typeface="Arial"/>
                <a:ea typeface="Malgun Gothic"/>
                <a:cs typeface="Malgun Gothic"/>
              </a:rPr>
              <a:t>1.5 m</a:t>
            </a:r>
            <a:r>
              <a:rPr sz="1050" b="0" i="0">
                <a:solidFill>
                  <a:srgbClr val="33405A"/>
                </a:solidFill>
                <a:latin typeface="Arial"/>
                <a:ea typeface="Malgun Gothic"/>
                <a:cs typeface="Malgun Gothic"/>
              </a:rPr>
              <a:t>까지.</a:t>
            </a:r>
          </a:p>
        </p:txBody>
      </p:sp>
      <p:sp>
        <p:nvSpPr>
          <p:cNvPr id="11" name="TextBox 10"/>
          <p:cNvSpPr txBox="1"/>
          <p:nvPr/>
        </p:nvSpPr>
        <p:spPr>
          <a:xfrm>
            <a:off x="609600" y="4691459"/>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위험 판정도 영리하다 — </a:t>
            </a:r>
            <a:r>
              <a:rPr sz="1050" b="0" i="1">
                <a:solidFill>
                  <a:srgbClr val="16213A"/>
                </a:solidFill>
                <a:latin typeface="Arial"/>
                <a:ea typeface="Malgun Gothic"/>
                <a:cs typeface="Malgun Gothic"/>
              </a:rPr>
              <a:t>"an approaching object that is </a:t>
            </a:r>
            <a:r>
              <a:rPr sz="1050" b="0" i="1">
                <a:solidFill>
                  <a:srgbClr val="16213A"/>
                </a:solidFill>
                <a:latin typeface="Arial"/>
                <a:ea typeface="Malgun Gothic"/>
                <a:cs typeface="Malgun Gothic"/>
              </a:rPr>
              <a:t>not decelerating</a:t>
            </a:r>
            <a:r>
              <a:rPr sz="1050" b="0" i="1">
                <a:solidFill>
                  <a:srgbClr val="16213A"/>
                </a:solidFill>
                <a:latin typeface="Arial"/>
                <a:ea typeface="Malgun Gothic"/>
                <a:cs typeface="Malgun Gothic"/>
              </a:rPr>
              <a:t>"</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감속하고 있는 물체는 위험이 아니다. 이미 나에게 양보하고 있다는 뜻이기 때문이다.</a:t>
            </a:r>
            <a:r>
              <a:rPr sz="1050" b="0" i="0">
                <a:solidFill>
                  <a:srgbClr val="16213A"/>
                </a:solidFill>
                <a:latin typeface="Arial"/>
                <a:ea typeface="Malgun Gothic"/>
                <a:cs typeface="Malgun Gothic"/>
              </a:rPr>
              <a:t> 상대의 감속을 관측해 의도를 읽는 셈이고, travplan의 </a:t>
            </a:r>
            <a:r>
              <a:rPr sz="1050" b="0" i="0">
                <a:solidFill>
                  <a:srgbClr val="16213A"/>
                </a:solidFill>
                <a:latin typeface="Consolas"/>
                <a:ea typeface="Malgun Gothic"/>
                <a:cs typeface="Malgun Gothic"/>
              </a:rPr>
              <a:t>DynamicObstacles</a:t>
            </a:r>
            <a:r>
              <a:rPr sz="1050" b="0" i="0">
                <a:solidFill>
                  <a:srgbClr val="16213A"/>
                </a:solidFill>
                <a:latin typeface="Arial"/>
                <a:ea typeface="Malgun Gothic"/>
                <a:cs typeface="Malgun Gothic"/>
              </a:rPr>
              <a:t>가 속도만 보고 </a:t>
            </a:r>
            <a:r>
              <a:rPr sz="1050" b="1" i="0">
                <a:solidFill>
                  <a:srgbClr val="16213A"/>
                </a:solidFill>
                <a:latin typeface="Arial"/>
                <a:ea typeface="Malgun Gothic"/>
                <a:cs typeface="Malgun Gothic"/>
              </a:rPr>
              <a:t>가속도를 안 보는</a:t>
            </a:r>
            <a:r>
              <a:rPr sz="1050" b="0" i="0">
                <a:solidFill>
                  <a:srgbClr val="16213A"/>
                </a:solidFill>
                <a:latin typeface="Arial"/>
                <a:ea typeface="Malgun Gothic"/>
                <a:cs typeface="Malgun Gothic"/>
              </a:rPr>
              <a:t> 것과 대비된다.</a:t>
            </a:r>
          </a:p>
        </p:txBody>
      </p:sp>
      <p:sp>
        <p:nvSpPr>
          <p:cNvPr id="12" name="TextBox 11"/>
          <p:cNvSpPr txBox="1"/>
          <p:nvPr/>
        </p:nvSpPr>
        <p:spPr>
          <a:xfrm>
            <a:off x="609600" y="521335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정직하게 적어 둔다: 이것은 자동차에게 양보하는 것이다.</a:t>
            </a:r>
            <a:r>
              <a:rPr sz="1050" b="0" i="0">
                <a:solidFill>
                  <a:srgbClr val="16213A"/>
                </a:solidFill>
                <a:latin typeface="Arial"/>
                <a:ea typeface="Malgun Gothic"/>
                <a:cs typeface="Malgun Gothic"/>
              </a:rPr>
              <a:t> 보행자는 "후진할 때 치지 말아야 할 대상"으로만 나온다. </a:t>
            </a:r>
            <a:r>
              <a:rPr sz="1050" b="1" i="0">
                <a:solidFill>
                  <a:srgbClr val="C2410C"/>
                </a:solidFill>
                <a:latin typeface="Arial"/>
                <a:ea typeface="Malgun Gothic"/>
                <a:cs typeface="Malgun Gothic"/>
              </a:rPr>
              <a:t>보도에서 보행자에게 양보하는 것에 대한 기업 기술 문서는 어디에도 없다.</a:t>
            </a:r>
            <a:r>
              <a:rPr sz="1050" b="0" i="0">
                <a:solidFill>
                  <a:srgbClr val="16213A"/>
                </a:solidFill>
                <a:latin typeface="Arial"/>
                <a:ea typeface="Malgun Gothic"/>
                <a:cs typeface="Malgun Gothic"/>
              </a:rPr>
              <a:t> Serve·Kiwibot·Cartken은 색인된 논문이 0건이고, 특허 포트폴리오는 이번 조사에서 </a:t>
            </a:r>
            <a:r>
              <a:rPr sz="1050" b="1" i="0">
                <a:solidFill>
                  <a:srgbClr val="16213A"/>
                </a:solidFill>
                <a:latin typeface="Arial"/>
                <a:ea typeface="Malgun Gothic"/>
                <a:cs typeface="Malgun Gothic"/>
              </a:rPr>
              <a:t>검색 자체가 막혀 "없다"고 말할 수 없다.</a:t>
            </a:r>
            <a:r>
              <a:rPr sz="1050" b="0" i="0">
                <a:solidFill>
                  <a:srgbClr val="16213A"/>
                </a:solidFill>
                <a:latin typeface="Arial"/>
                <a:ea typeface="Malgun Gothic"/>
                <a:cs typeface="Malgun Gothic"/>
              </a:rPr>
              <a:t> 실증 연구도 셋뿐이고 정량적인 것은 하나다(Gehrke 외 2023, 지표가 </a:t>
            </a:r>
            <a:r>
              <a:rPr sz="1050" b="1" i="0">
                <a:solidFill>
                  <a:srgbClr val="16213A"/>
                </a:solidFill>
                <a:latin typeface="Arial"/>
                <a:ea typeface="Malgun Gothic"/>
                <a:cs typeface="Malgun Gothic"/>
              </a:rPr>
              <a:t>post-encroachment time</a:t>
            </a:r>
            <a:r>
              <a:rPr sz="1050" b="0" i="0">
                <a:solidFill>
                  <a:srgbClr val="16213A"/>
                </a:solidFill>
                <a:latin typeface="Arial"/>
                <a:ea typeface="Malgun Gothic"/>
                <a:cs typeface="Malgun Gothic"/>
              </a:rPr>
              <a:t>이다). </a:t>
            </a:r>
            <a:r>
              <a:rPr sz="1050" b="1" i="0">
                <a:solidFill>
                  <a:srgbClr val="C2410C"/>
                </a:solidFill>
                <a:latin typeface="Arial"/>
                <a:ea typeface="Malgun Gothic"/>
                <a:cs typeface="Malgun Gothic"/>
              </a:rPr>
              <a:t>양보율(yield rate) 수치는 문헌 어디에도 없다.</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6/9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229 / 359</a:t>
            </a:r>
          </a:p>
        </p:txBody>
      </p:sp>
      <p:sp>
        <p:nvSpPr>
          <p:cNvPr id="5" name="TextBox 4"/>
          <p:cNvSpPr txBox="1"/>
          <p:nvPr/>
        </p:nvSpPr>
        <p:spPr>
          <a:xfrm>
            <a:off x="609600" y="1244600"/>
            <a:ext cx="10972800" cy="188516"/>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그래서 실제로 무엇을 하는지는 보도에서 관찰됐다 — 그리고 그것은 "얼어붙기"다</a:t>
            </a:r>
          </a:p>
        </p:txBody>
      </p:sp>
      <p:sp>
        <p:nvSpPr>
          <p:cNvPr id="6" name="TextBox 5"/>
          <p:cNvSpPr txBox="1"/>
          <p:nvPr/>
        </p:nvSpPr>
        <p:spPr>
          <a:xfrm>
            <a:off x="609600" y="152201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가장 좋은 공개 기록은 기업 문서가 아니라 </a:t>
            </a:r>
            <a:r>
              <a:rPr sz="1050" b="1" i="0">
                <a:solidFill>
                  <a:srgbClr val="16213A"/>
                </a:solidFill>
                <a:latin typeface="Arial"/>
                <a:ea typeface="Malgun Gothic"/>
                <a:cs typeface="Malgun Gothic"/>
              </a:rPr>
              <a:t>시가 발주한 파일럿의 민족지 관찰</a:t>
            </a:r>
            <a:r>
              <a:rPr sz="1050" b="0" i="0">
                <a:solidFill>
                  <a:srgbClr val="16213A"/>
                </a:solidFill>
                <a:latin typeface="Arial"/>
                <a:ea typeface="Malgun Gothic"/>
                <a:cs typeface="Malgun Gothic"/>
              </a:rPr>
              <a:t>이다. 피츠버그 교통국(DOMI)이 Knight 재단 지원으로 2021년 7–12월에 </a:t>
            </a:r>
            <a:r>
              <a:rPr sz="1050" b="1" i="0">
                <a:solidFill>
                  <a:srgbClr val="16213A"/>
                </a:solidFill>
                <a:latin typeface="Arial"/>
                <a:ea typeface="Malgun Gothic"/>
                <a:cs typeface="Malgun Gothic"/>
              </a:rPr>
              <a:t>Kiwibot</a:t>
            </a:r>
            <a:r>
              <a:rPr sz="1050" b="0" i="0">
                <a:solidFill>
                  <a:srgbClr val="16213A"/>
                </a:solidFill>
                <a:latin typeface="Arial"/>
                <a:ea typeface="Malgun Gothic"/>
                <a:cs typeface="Malgun Gothic"/>
              </a:rPr>
              <a:t>을 돌렸고, CMU 연구진이 관찰했다(Weinberg 외, MTI 7(5):53). PDF를 직접 받아 세어 보니 </a:t>
            </a:r>
            <a:r>
              <a:rPr sz="1050" b="0" i="0">
                <a:solidFill>
                  <a:srgbClr val="16213A"/>
                </a:solidFill>
                <a:latin typeface="Consolas"/>
                <a:ea typeface="Malgun Gothic"/>
                <a:cs typeface="Malgun Gothic"/>
              </a:rPr>
              <a:t>Kiwibot</a:t>
            </a:r>
            <a:r>
              <a:rPr sz="1050" b="0" i="0">
                <a:solidFill>
                  <a:srgbClr val="16213A"/>
                </a:solidFill>
                <a:latin typeface="Arial"/>
                <a:ea typeface="Malgun Gothic"/>
                <a:cs typeface="Malgun Gothic"/>
              </a:rPr>
              <a:t> 17회, </a:t>
            </a:r>
            <a:r>
              <a:rPr sz="1050" b="0" i="0">
                <a:solidFill>
                  <a:srgbClr val="16213A"/>
                </a:solidFill>
                <a:latin typeface="Consolas"/>
                <a:ea typeface="Malgun Gothic"/>
                <a:cs typeface="Malgun Gothic"/>
              </a:rPr>
              <a:t>Starship</a:t>
            </a:r>
            <a:r>
              <a:rPr sz="1050" b="0" i="0">
                <a:solidFill>
                  <a:srgbClr val="16213A"/>
                </a:solidFill>
                <a:latin typeface="Arial"/>
                <a:ea typeface="Malgun Gothic"/>
                <a:cs typeface="Malgun Gothic"/>
              </a:rPr>
              <a:t> 0회, 그리고 </a:t>
            </a:r>
            <a:r>
              <a:rPr sz="1050" b="0" i="0">
                <a:solidFill>
                  <a:srgbClr val="16213A"/>
                </a:solidFill>
                <a:latin typeface="Consolas"/>
                <a:ea typeface="Malgun Gothic"/>
                <a:cs typeface="Malgun Gothic"/>
              </a:rPr>
              <a:t>yield</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0회</a:t>
            </a:r>
            <a:r>
              <a:rPr sz="1050" b="0" i="0">
                <a:solidFill>
                  <a:srgbClr val="16213A"/>
                </a:solidFill>
                <a:latin typeface="Arial"/>
                <a:ea typeface="Malgun Gothic"/>
                <a:cs typeface="Malgun Gothic"/>
              </a:rPr>
              <a:t>다.</a:t>
            </a:r>
          </a:p>
        </p:txBody>
      </p:sp>
      <p:sp>
        <p:nvSpPr>
          <p:cNvPr id="7" name="TextBox 6"/>
          <p:cNvSpPr txBox="1"/>
          <p:nvPr/>
        </p:nvSpPr>
        <p:spPr>
          <a:xfrm>
            <a:off x="609600" y="204390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휠체어 이용자가 로봇의 안전을 5점 만점에 5점으로 매기며 한 설명이 이 절 전체의 결론과 겹친다:</a:t>
            </a:r>
          </a:p>
        </p:txBody>
      </p:sp>
      <p:sp>
        <p:nvSpPr>
          <p:cNvPr id="8" name="TextBox 7"/>
          <p:cNvSpPr txBox="1"/>
          <p:nvPr/>
        </p:nvSpPr>
        <p:spPr>
          <a:xfrm>
            <a:off x="609600" y="2349302"/>
            <a:ext cx="10972800" cy="559991"/>
          </a:xfrm>
          <a:prstGeom prst="rect">
            <a:avLst/>
          </a:prstGeom>
          <a:solidFill>
            <a:srgbClr val="EEF1F6"/>
          </a:solidFill>
        </p:spPr>
        <p:txBody>
          <a:bodyPr wrap="square" lIns="114300" rIns="114300" tIns="63500" bIns="63500" anchor="t">
            <a:spAutoFit/>
            <a:normAutofit/>
          </a:bodyPr>
          <a:lstStyle/>
          <a:p>
            <a:r>
              <a:rPr sz="1050" b="0" i="1">
                <a:solidFill>
                  <a:srgbClr val="33405A"/>
                </a:solidFill>
                <a:latin typeface="Arial"/>
                <a:ea typeface="Malgun Gothic"/>
                <a:cs typeface="Malgun Gothic"/>
              </a:rPr>
              <a:t>"</a:t>
            </a:r>
            <a:r>
              <a:rPr sz="1050" b="0" i="1">
                <a:solidFill>
                  <a:srgbClr val="33405A"/>
                </a:solidFill>
                <a:latin typeface="Arial"/>
                <a:ea typeface="Malgun Gothic"/>
                <a:cs typeface="Malgun Gothic"/>
              </a:rPr>
              <a:t>They stop if something is in their way, they won't move again until the other thing has moved.</a:t>
            </a:r>
            <a:r>
              <a:rPr sz="1050" b="0" i="1">
                <a:solidFill>
                  <a:srgbClr val="33405A"/>
                </a:solidFill>
                <a:latin typeface="Arial"/>
                <a:ea typeface="Malgun Gothic"/>
                <a:cs typeface="Malgun Gothic"/>
              </a:rPr>
              <a:t> Before it even comes in contact, before it even gets to you, it will stop until you move and then it will keep going."</a:t>
            </a:r>
            <a:r>
              <a:rPr sz="1050" b="0" i="0">
                <a:solidFill>
                  <a:srgbClr val="33405A"/>
                </a:solidFill>
                <a:latin typeface="Arial"/>
                <a:ea typeface="Malgun Gothic"/>
                <a:cs typeface="Malgun Gothic"/>
              </a:rPr>
              <a:t> (인터뷰, 2021-11-17)</a:t>
            </a:r>
          </a:p>
        </p:txBody>
      </p:sp>
      <p:sp>
        <p:nvSpPr>
          <p:cNvPr id="9" name="TextBox 8"/>
          <p:cNvSpPr txBox="1"/>
          <p:nvPr/>
        </p:nvSpPr>
        <p:spPr>
          <a:xfrm>
            <a:off x="609600" y="299819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저자들의 진단도 같다 — </a:t>
            </a:r>
            <a:r>
              <a:rPr sz="1050" b="0" i="1">
                <a:solidFill>
                  <a:srgbClr val="16213A"/>
                </a:solidFill>
                <a:latin typeface="Arial"/>
                <a:ea typeface="Malgun Gothic"/>
                <a:cs typeface="Malgun Gothic"/>
              </a:rPr>
              <a:t>"we did not observe any collisions or near collisions. This is likely due to the </a:t>
            </a:r>
            <a:r>
              <a:rPr sz="1050" b="0" i="1">
                <a:solidFill>
                  <a:srgbClr val="16213A"/>
                </a:solidFill>
                <a:latin typeface="Arial"/>
                <a:ea typeface="Malgun Gothic"/>
                <a:cs typeface="Malgun Gothic"/>
              </a:rPr>
              <a:t>low pedestrian density</a:t>
            </a:r>
            <a:r>
              <a:rPr sz="1050" b="0" i="1">
                <a:solidFill>
                  <a:srgbClr val="16213A"/>
                </a:solidFill>
                <a:latin typeface="Arial"/>
                <a:ea typeface="Malgun Gothic"/>
                <a:cs typeface="Malgun Gothic"/>
              </a:rPr>
              <a:t> of the routes selected for testing and the </a:t>
            </a:r>
            <a:r>
              <a:rPr sz="1050" b="0" i="1">
                <a:solidFill>
                  <a:srgbClr val="16213A"/>
                </a:solidFill>
                <a:latin typeface="Arial"/>
                <a:ea typeface="Malgun Gothic"/>
                <a:cs typeface="Malgun Gothic"/>
              </a:rPr>
              <a:t>stop-and-wait strategy</a:t>
            </a:r>
            <a:r>
              <a:rPr sz="1050" b="0" i="1">
                <a:solidFill>
                  <a:srgbClr val="16213A"/>
                </a:solidFill>
                <a:latin typeface="Arial"/>
                <a:ea typeface="Malgun Gothic"/>
                <a:cs typeface="Malgun Gothic"/>
              </a:rPr>
              <a:t> employed by the robot when encountering people too closely."</a:t>
            </a:r>
          </a:p>
        </p:txBody>
      </p:sp>
      <p:sp>
        <p:nvSpPr>
          <p:cNvPr id="10" name="TextBox 9"/>
          <p:cNvSpPr txBox="1"/>
          <p:nvPr/>
        </p:nvSpPr>
        <p:spPr>
          <a:xfrm>
            <a:off x="609600" y="3520083"/>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즉 Trautman이 2010년에 이름 붙인 얼어붙기가 상용 로봇으로 출하돼 보도에서 관찰되고 있다.</a:t>
            </a:r>
            <a:r>
              <a:rPr sz="1050" b="0" i="0">
                <a:solidFill>
                  <a:srgbClr val="16213A"/>
                </a:solidFill>
                <a:latin typeface="Arial"/>
                <a:ea typeface="Malgun Gothic"/>
                <a:cs typeface="Malgun Gothic"/>
              </a:rPr>
              <a:t> 그리고 충돌이 0이었던 이유를 저자들이 </a:t>
            </a:r>
            <a:r>
              <a:rPr sz="1050" b="1" i="0">
                <a:solidFill>
                  <a:srgbClr val="16213A"/>
                </a:solidFill>
                <a:latin typeface="Arial"/>
                <a:ea typeface="Malgun Gothic"/>
                <a:cs typeface="Malgun Gothic"/>
              </a:rPr>
              <a:t>밀도가 낮았기 때문</a:t>
            </a:r>
            <a:r>
              <a:rPr sz="1050" b="0" i="0">
                <a:solidFill>
                  <a:srgbClr val="16213A"/>
                </a:solidFill>
                <a:latin typeface="Arial"/>
                <a:ea typeface="Malgun Gothic"/>
                <a:cs typeface="Malgun Gothic"/>
              </a:rPr>
              <a:t>이라고 직접 적었다 — PGIF 표에서 밀도가 오를 때 타임아웃이 59 %로 뛴 것과 정확히 같은 이야기다. ⚠️ 파일럿의 현실성에도 단서가 붙는다: 실제 주민 주문은 </a:t>
            </a:r>
            <a:r>
              <a:rPr sz="1050" b="1" i="0">
                <a:solidFill>
                  <a:srgbClr val="16213A"/>
                </a:solidFill>
                <a:latin typeface="Arial"/>
                <a:ea typeface="Malgun Gothic"/>
                <a:cs typeface="Malgun Gothic"/>
              </a:rPr>
              <a:t>9건</a:t>
            </a:r>
            <a:r>
              <a:rPr sz="1050" b="0" i="0">
                <a:solidFill>
                  <a:srgbClr val="16213A"/>
                </a:solidFill>
                <a:latin typeface="Arial"/>
                <a:ea typeface="Malgun Gothic"/>
                <a:cs typeface="Malgun Gothic"/>
              </a:rPr>
              <a:t>이었고 상호작용을 만들기 위한 </a:t>
            </a:r>
            <a:r>
              <a:rPr sz="1050" b="1" i="0">
                <a:solidFill>
                  <a:srgbClr val="16213A"/>
                </a:solidFill>
                <a:latin typeface="Arial"/>
                <a:ea typeface="Malgun Gothic"/>
                <a:cs typeface="Malgun Gothic"/>
              </a:rPr>
              <a:t>모의 주문이 1,400건</a:t>
            </a:r>
            <a:r>
              <a:rPr sz="1050" b="0" i="0">
                <a:solidFill>
                  <a:srgbClr val="16213A"/>
                </a:solidFill>
                <a:latin typeface="Arial"/>
                <a:ea typeface="Malgun Gothic"/>
                <a:cs typeface="Malgun Gothic"/>
              </a:rPr>
              <a:t>이었다.</a:t>
            </a:r>
          </a:p>
        </p:txBody>
      </p:sp>
      <p:sp>
        <p:nvSpPr>
          <p:cNvPr id="11" name="TextBox 10"/>
          <p:cNvSpPr txBox="1"/>
          <p:nvPr/>
        </p:nvSpPr>
        <p:spPr>
          <a:xfrm>
            <a:off x="609600" y="4041973"/>
            <a:ext cx="10972800" cy="188516"/>
          </a:xfrm>
          <a:prstGeom prst="rect">
            <a:avLst/>
          </a:prstGeom>
          <a:noFill/>
        </p:spPr>
        <p:txBody>
          <a:bodyPr wrap="square" lIns="0" rIns="0" tIns="0" bIns="0" anchor="t">
            <a:spAutoFit/>
            <a:normAutofit/>
          </a:bodyPr>
          <a:lstStyle/>
          <a:p>
            <a:r>
              <a:rPr sz="1050" b="1" i="0">
                <a:solidFill>
                  <a:srgbClr val="5A6478"/>
                </a:solidFill>
                <a:latin typeface="Arial"/>
                <a:ea typeface="Malgun Gothic"/>
                <a:cs typeface="Malgun Gothic"/>
              </a:rPr>
              <a:t>얼어붙기를 재는 이름 붙은 지표가 이미 있다 — 그리고 우리 게이트에는 없다</a:t>
            </a:r>
          </a:p>
        </p:txBody>
      </p:sp>
      <p:sp>
        <p:nvSpPr>
          <p:cNvPr id="12" name="TextBox 11"/>
          <p:cNvSpPr txBox="1"/>
          <p:nvPr/>
        </p:nvSpPr>
        <p:spPr>
          <a:xfrm>
            <a:off x="609600" y="431938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Frozone</a:t>
            </a:r>
            <a:r>
              <a:rPr sz="1050" b="0" i="0">
                <a:solidFill>
                  <a:srgbClr val="16213A"/>
                </a:solidFill>
                <a:latin typeface="Arial"/>
                <a:ea typeface="Malgun Gothic"/>
                <a:cs typeface="Malgun Gothic"/>
              </a:rPr>
              <a:t>(Sathyamoorthy 외, RA-L 2020, </a:t>
            </a:r>
            <a:r>
              <a:rPr sz="1050" b="0" i="0">
                <a:solidFill>
                  <a:srgbClr val="1D4ED8"/>
                </a:solidFill>
                <a:latin typeface="Arial"/>
                <a:ea typeface="Malgun Gothic"/>
                <a:cs typeface="Malgun Gothic"/>
                <a:hlinkClick r:id="rId3"/>
              </a:rPr>
              <a:t>arXiv:2003.05395</a:t>
            </a:r>
            <a:r>
              <a:rPr sz="1050" b="0" i="0">
                <a:solidFill>
                  <a:srgbClr val="16213A"/>
                </a:solidFill>
                <a:latin typeface="Arial"/>
                <a:ea typeface="Malgun Gothic"/>
                <a:cs typeface="Malgun Gothic"/>
              </a:rPr>
              <a:t>)이 정의를 준다:</a:t>
            </a:r>
          </a:p>
        </p:txBody>
      </p:sp>
      <p:sp>
        <p:nvSpPr>
          <p:cNvPr id="13" name="TextBox 12"/>
          <p:cNvSpPr txBox="1"/>
          <p:nvPr/>
        </p:nvSpPr>
        <p:spPr>
          <a:xfrm>
            <a:off x="609600" y="4624784"/>
            <a:ext cx="10972800" cy="343495"/>
          </a:xfrm>
          <a:prstGeom prst="rect">
            <a:avLst/>
          </a:prstGeom>
          <a:solidFill>
            <a:srgbClr val="EEF1F6"/>
          </a:solidFill>
        </p:spPr>
        <p:txBody>
          <a:bodyPr wrap="square" lIns="114300" rIns="114300" tIns="63500" bIns="63500" anchor="t">
            <a:spAutoFit/>
            <a:normAutofit/>
          </a:bodyPr>
          <a:lstStyle/>
          <a:p>
            <a:r>
              <a:rPr sz="1050" b="1" i="0">
                <a:solidFill>
                  <a:srgbClr val="33405A"/>
                </a:solidFill>
                <a:latin typeface="Arial"/>
                <a:ea typeface="Malgun Gothic"/>
                <a:cs typeface="Malgun Gothic"/>
              </a:rPr>
              <a:t>Freezing Rate</a:t>
            </a:r>
            <a:r>
              <a:rPr sz="1050" b="0" i="0">
                <a:solidFill>
                  <a:srgbClr val="33405A"/>
                </a:solidFill>
                <a:latin typeface="Arial"/>
                <a:ea typeface="Malgun Gothic"/>
                <a:cs typeface="Malgun Gothic"/>
              </a:rPr>
              <a:t> — </a:t>
            </a:r>
            <a:r>
              <a:rPr sz="1050" b="0" i="1">
                <a:solidFill>
                  <a:srgbClr val="33405A"/>
                </a:solidFill>
                <a:latin typeface="Arial"/>
                <a:ea typeface="Malgun Gothic"/>
                <a:cs typeface="Malgun Gothic"/>
              </a:rPr>
              <a:t>"The number of times the robot got stuck or </a:t>
            </a:r>
            <a:r>
              <a:rPr sz="1050" b="0" i="1">
                <a:solidFill>
                  <a:srgbClr val="33405A"/>
                </a:solidFill>
                <a:latin typeface="Arial"/>
                <a:ea typeface="Malgun Gothic"/>
                <a:cs typeface="Malgun Gothic"/>
              </a:rPr>
              <a:t>started oscillating for more than 10 seconds</a:t>
            </a:r>
            <a:r>
              <a:rPr sz="1050" b="0" i="1">
                <a:solidFill>
                  <a:srgbClr val="33405A"/>
                </a:solidFill>
                <a:latin typeface="Arial"/>
                <a:ea typeface="Malgun Gothic"/>
                <a:cs typeface="Malgun Gothic"/>
              </a:rPr>
              <a:t>, while avoiding obstacles over the total number of attempts."</a:t>
            </a:r>
          </a:p>
        </p:txBody>
      </p:sp>
      <p:sp>
        <p:nvSpPr>
          <p:cNvPr id="14" name="TextBox 13"/>
          <p:cNvSpPr txBox="1"/>
          <p:nvPr/>
        </p:nvSpPr>
        <p:spPr>
          <a:xfrm>
            <a:off x="609600" y="5057180"/>
            <a:ext cx="10972800" cy="649486"/>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그리고 그 논문이 보고한 시나리오가 하필 travplan의 보도 조우다</a:t>
            </a:r>
            <a:r>
              <a:rPr sz="1050" b="0" i="0">
                <a:solidFill>
                  <a:srgbClr val="16213A"/>
                </a:solidFill>
                <a:latin typeface="Arial"/>
                <a:ea typeface="Malgun Gothic"/>
                <a:cs typeface="Malgun Gothic"/>
              </a:rPr>
              <a:t> — </a:t>
            </a:r>
            <a:r>
              <a:rPr sz="1050" b="0" i="1">
                <a:solidFill>
                  <a:srgbClr val="16213A"/>
                </a:solidFill>
                <a:latin typeface="Arial"/>
                <a:ea typeface="Malgun Gothic"/>
                <a:cs typeface="Malgun Gothic"/>
              </a:rPr>
              <a:t>"a pedestrian approaches the robot </a:t>
            </a:r>
            <a:r>
              <a:rPr sz="1050" b="0" i="1">
                <a:solidFill>
                  <a:srgbClr val="16213A"/>
                </a:solidFill>
                <a:latin typeface="Arial"/>
                <a:ea typeface="Malgun Gothic"/>
                <a:cs typeface="Malgun Gothic"/>
              </a:rPr>
              <a:t>head-on starting from 3 meters away</a:t>
            </a:r>
            <a:r>
              <a:rPr sz="1050" b="0" i="1">
                <a:solidFill>
                  <a:srgbClr val="16213A"/>
                </a:solidFill>
                <a:latin typeface="Arial"/>
                <a:ea typeface="Malgun Gothic"/>
                <a:cs typeface="Malgun Gothic"/>
              </a:rPr>
              <a:t>"</a:t>
            </a:r>
            <a:r>
              <a:rPr sz="1050" b="0" i="0">
                <a:solidFill>
                  <a:srgbClr val="16213A"/>
                </a:solidFill>
                <a:latin typeface="Arial"/>
                <a:ea typeface="Malgun Gothic"/>
                <a:cs typeface="Malgun Gothic"/>
              </a:rPr>
              <a:t>에서 </a:t>
            </a:r>
            <a:r>
              <a:rPr sz="1050" b="1" i="0">
                <a:solidFill>
                  <a:srgbClr val="16213A"/>
                </a:solidFill>
                <a:latin typeface="Arial"/>
                <a:ea typeface="Malgun Gothic"/>
                <a:cs typeface="Malgun Gothic"/>
              </a:rPr>
              <a:t>이전 방법들이 전부 멈춰서 15초 넘게 진동했다.</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travplan의 벤치마크 게이트(성공률·계획 시간·충돌률·pitch·GT cost)에는 정지·진동을 잡는 항목이 없어, </a:t>
            </a:r>
            <a:r>
              <a:rPr sz="1050" b="1" i="0">
                <a:solidFill>
                  <a:srgbClr val="C2410C"/>
                </a:solidFill>
                <a:latin typeface="Arial"/>
                <a:ea typeface="Malgun Gothic"/>
                <a:cs typeface="Malgun Gothic"/>
              </a:rPr>
              <a:t>얼어붙은 로봇이 다섯 지표 중 넷을 통과한다</a:t>
            </a:r>
            <a:r>
              <a:rPr sz="1050" b="1" i="0">
                <a:solidFill>
                  <a:srgbClr val="C2410C"/>
                </a:solidFill>
                <a:latin typeface="Arial"/>
                <a:ea typeface="Malgun Gothic"/>
                <a:cs typeface="Malgun Gothic"/>
              </a:rPr>
              <a:t>(실패하는 것은 성공률뿐이다).</a:t>
            </a:r>
            <a:r>
              <a:rPr sz="1050" b="0" i="0">
                <a:solidFill>
                  <a:srgbClr val="16213A"/>
                </a:solidFill>
                <a:latin typeface="Arial"/>
                <a:ea typeface="Malgun Gothic"/>
                <a:cs typeface="Malgun Gothic"/>
              </a:rPr>
              <a:t> ⚠️ 정면 조우 자체는 있다 — </a:t>
            </a:r>
            <a:r>
              <a:rPr sz="1050" b="0" i="0">
                <a:solidFill>
                  <a:srgbClr val="16213A"/>
                </a:solidFill>
                <a:latin typeface="Consolas"/>
                <a:ea typeface="Malgun Gothic"/>
                <a:cs typeface="Malgun Gothic"/>
              </a:rPr>
              <a:t>sim/terrain.py::crossing_pedestrians</a:t>
            </a:r>
            <a:r>
              <a:rPr sz="1050" b="0" i="0">
                <a:solidFill>
                  <a:srgbClr val="16213A"/>
                </a:solidFill>
                <a:latin typeface="Arial"/>
                <a:ea typeface="Malgun Gothic"/>
                <a:cs typeface="Malgun Gothic"/>
              </a:rPr>
              <a:t>의 보행자 0이 경로 80 % 지점에서 마주 온다. 없는 것은 </a:t>
            </a:r>
            <a:r>
              <a:rPr sz="1050" b="1" i="0">
                <a:solidFill>
                  <a:srgbClr val="16213A"/>
                </a:solidFill>
                <a:latin typeface="Arial"/>
                <a:ea typeface="Malgun Gothic"/>
                <a:cs typeface="Malgun Gothic"/>
              </a:rPr>
              <a:t>3 m로 통제한 설정과 그것을 재는 지표</a:t>
            </a:r>
            <a:r>
              <a:rPr sz="1050" b="0" i="0">
                <a:solidFill>
                  <a:srgbClr val="16213A"/>
                </a:solidFill>
                <a:latin typeface="Arial"/>
                <a:ea typeface="Malgun Gothic"/>
                <a:cs typeface="Malgun Gothic"/>
              </a:rPr>
              <a:t>다(TP-0091·TP-0094).</a:t>
            </a:r>
          </a:p>
        </p:txBody>
      </p:sp>
      <p:sp>
        <p:nvSpPr>
          <p:cNvPr id="15" name="TextBox 14"/>
          <p:cNvSpPr txBox="1"/>
          <p:nvPr/>
        </p:nvSpPr>
        <p:spPr>
          <a:xfrm>
            <a:off x="609600" y="579556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같은 축의 다른 지표로 CrowdBot의 </a:t>
            </a:r>
            <a:r>
              <a:rPr sz="1050" b="0" i="1">
                <a:solidFill>
                  <a:srgbClr val="16213A"/>
                </a:solidFill>
                <a:latin typeface="Arial"/>
                <a:ea typeface="Malgun Gothic"/>
                <a:cs typeface="Malgun Gothic"/>
              </a:rPr>
              <a:t>T_(rtg) = t_(free)/t_(crowd)</a:t>
            </a:r>
            <a:r>
              <a:rPr sz="1050" b="0" i="0">
                <a:solidFill>
                  <a:srgbClr val="16213A"/>
                </a:solidFill>
                <a:latin typeface="Arial"/>
                <a:ea typeface="Malgun Gothic"/>
                <a:cs typeface="Malgun Gothic"/>
              </a:rPr>
              <a:t>(1.0이면 군중이 없는 것과 같은 효율)와 SEAN 2.0의 </a:t>
            </a:r>
            <a:r>
              <a:rPr sz="1050" b="0" i="1">
                <a:solidFill>
                  <a:srgbClr val="16213A"/>
                </a:solidFill>
                <a:latin typeface="Arial"/>
                <a:ea typeface="Malgun Gothic"/>
                <a:cs typeface="Malgun Gothic"/>
              </a:rPr>
              <a:t>"Time Not Moving"</a:t>
            </a:r>
            <a:r>
              <a:rPr sz="1050" b="0" i="0">
                <a:solidFill>
                  <a:srgbClr val="16213A"/>
                </a:solidFill>
                <a:latin typeface="Arial"/>
                <a:ea typeface="Malgun Gothic"/>
                <a:cs typeface="Malgun Gothic"/>
              </a:rPr>
              <a:t>이 있다. ⚠️ 반대로 </a:t>
            </a:r>
            <a:r>
              <a:rPr sz="1050" b="1" i="0">
                <a:solidFill>
                  <a:srgbClr val="16213A"/>
                </a:solidFill>
                <a:latin typeface="Arial"/>
                <a:ea typeface="Malgun Gothic"/>
                <a:cs typeface="Malgun Gothic"/>
              </a:rPr>
              <a:t>"yield rate"나 "deadlock rate"라는 이름의 지표는 이 문헌에 존재하지 않는다.</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7/9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230 / 359</a:t>
            </a:r>
          </a:p>
        </p:txBody>
      </p:sp>
      <p:sp>
        <p:nvSpPr>
          <p:cNvPr id="5" name="TextBox 4"/>
          <p:cNvSpPr txBox="1"/>
          <p:nvPr/>
        </p:nvSpPr>
        <p:spPr>
          <a:xfrm>
            <a:off x="609600" y="1244600"/>
            <a:ext cx="10972800" cy="188516"/>
          </a:xfrm>
          <a:prstGeom prst="rect">
            <a:avLst/>
          </a:prstGeom>
          <a:noFill/>
        </p:spPr>
        <p:txBody>
          <a:bodyPr wrap="square" lIns="0" rIns="0" tIns="0" bIns="0" anchor="t">
            <a:spAutoFit/>
            <a:normAutofit/>
          </a:bodyPr>
          <a:lstStyle/>
          <a:p>
            <a:r>
              <a:rPr sz="1050" b="1" i="0">
                <a:solidFill>
                  <a:srgbClr val="5A6478"/>
                </a:solidFill>
                <a:latin typeface="Arial"/>
                <a:ea typeface="Malgun Gothic"/>
                <a:cs typeface="Malgun Gothic"/>
              </a:rPr>
              <a:t>2010년의 그 사람이 2024년에 낸 답 — 그리고 acados 트랙에 바로 맞는 것</a:t>
            </a:r>
          </a:p>
        </p:txBody>
      </p:sp>
      <p:sp>
        <p:nvSpPr>
          <p:cNvPr id="6" name="TextBox 5"/>
          <p:cNvSpPr txBox="1"/>
          <p:nvPr/>
        </p:nvSpPr>
        <p:spPr>
          <a:xfrm>
            <a:off x="609600" y="1522016"/>
            <a:ext cx="10972800" cy="649486"/>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Trautman 본인이 14년 뒤 후속을 냈다.</a:t>
            </a:r>
            <a:r>
              <a:rPr sz="1050" b="0" i="0">
                <a:solidFill>
                  <a:srgbClr val="16213A"/>
                </a:solidFill>
                <a:latin typeface="Arial"/>
                <a:ea typeface="Malgun Gothic"/>
                <a:cs typeface="Malgun Gothic"/>
              </a:rPr>
              <a:t> BRNE(Sun·Baldini·Hughes·</a:t>
            </a:r>
            <a:r>
              <a:rPr sz="1050" b="1" i="0">
                <a:solidFill>
                  <a:srgbClr val="16213A"/>
                </a:solidFill>
                <a:latin typeface="Arial"/>
                <a:ea typeface="Malgun Gothic"/>
                <a:cs typeface="Malgun Gothic"/>
              </a:rPr>
              <a:t>Trautman</a:t>
            </a:r>
            <a:r>
              <a:rPr sz="1050" b="0" i="0">
                <a:solidFill>
                  <a:srgbClr val="16213A"/>
                </a:solidFill>
                <a:latin typeface="Arial"/>
                <a:ea typeface="Malgun Gothic"/>
                <a:cs typeface="Malgun Gothic"/>
              </a:rPr>
              <a:t>·Murphey, </a:t>
            </a:r>
            <a:r>
              <a:rPr sz="1050" b="0" i="0">
                <a:solidFill>
                  <a:srgbClr val="1D4ED8"/>
                </a:solidFill>
                <a:latin typeface="Arial"/>
                <a:ea typeface="Malgun Gothic"/>
                <a:cs typeface="Malgun Gothic"/>
                <a:hlinkClick r:id="rId3"/>
              </a:rPr>
              <a:t>arXiv:2403.01537</a:t>
            </a:r>
            <a:r>
              <a:rPr sz="1050" b="0" i="0">
                <a:solidFill>
                  <a:srgbClr val="16213A"/>
                </a:solidFill>
                <a:latin typeface="Arial"/>
                <a:ea typeface="Malgun Gothic"/>
                <a:cs typeface="Malgun Gothic"/>
              </a:rPr>
              <a:t>, IJRR 게재) — </a:t>
            </a:r>
            <a:r>
              <a:rPr sz="1050" b="0" i="1">
                <a:solidFill>
                  <a:srgbClr val="16213A"/>
                </a:solidFill>
                <a:latin typeface="Arial"/>
                <a:ea typeface="Malgun Gothic"/>
                <a:cs typeface="Malgun Gothic"/>
              </a:rPr>
              <a:t>"Robots navigating in crowded areas should </a:t>
            </a:r>
            <a:r>
              <a:rPr sz="1050" b="0" i="1">
                <a:solidFill>
                  <a:srgbClr val="16213A"/>
                </a:solidFill>
                <a:latin typeface="Arial"/>
                <a:ea typeface="Malgun Gothic"/>
                <a:cs typeface="Malgun Gothic"/>
              </a:rPr>
              <a:t>negotiate free space with humans rather than fully controlling collision avoidance</a:t>
            </a:r>
            <a:r>
              <a:rPr sz="1050" b="0" i="1">
                <a:solidFill>
                  <a:srgbClr val="16213A"/>
                </a:solidFill>
                <a:latin typeface="Arial"/>
                <a:ea typeface="Malgun Gothic"/>
                <a:cs typeface="Malgun Gothic"/>
              </a:rPr>
              <a:t>, as this can lead to freezing behavior."</a:t>
            </a:r>
            <a:r>
              <a:rPr sz="1050" b="0" i="0">
                <a:solidFill>
                  <a:srgbClr val="16213A"/>
                </a:solidFill>
                <a:latin typeface="Arial"/>
                <a:ea typeface="Malgun Gothic"/>
                <a:cs typeface="Malgun Gothic"/>
              </a:rPr>
              <a:t> 궤적 분포에 대한 베이즈 갱신을 반복해 </a:t>
            </a:r>
            <a:r>
              <a:rPr sz="1050" b="1" i="0">
                <a:solidFill>
                  <a:srgbClr val="C2410C"/>
                </a:solidFill>
                <a:latin typeface="Arial"/>
                <a:ea typeface="Malgun Gothic"/>
                <a:cs typeface="Malgun Gothic"/>
              </a:rPr>
              <a:t>로봇의 확률적 계획과 보행자 예측을 </a:t>
            </a:r>
            <a:r>
              <a:rPr sz="1050" b="1" i="0">
                <a:solidFill>
                  <a:srgbClr val="C2410C"/>
                </a:solidFill>
                <a:latin typeface="Arial"/>
                <a:ea typeface="Malgun Gothic"/>
                <a:cs typeface="Malgun Gothic"/>
              </a:rPr>
              <a:t>동시에</a:t>
            </a:r>
            <a:r>
              <a:rPr sz="1050" b="1" i="0">
                <a:solidFill>
                  <a:srgbClr val="C2410C"/>
                </a:solidFill>
                <a:latin typeface="Arial"/>
                <a:ea typeface="Malgun Gothic"/>
                <a:cs typeface="Malgun Gothic"/>
              </a:rPr>
              <a:t> 생성</a:t>
            </a:r>
            <a:r>
              <a:rPr sz="1050" b="0" i="0">
                <a:solidFill>
                  <a:srgbClr val="16213A"/>
                </a:solidFill>
                <a:latin typeface="Arial"/>
                <a:ea typeface="Malgun Gothic"/>
                <a:cs typeface="Malgun Gothic"/>
              </a:rPr>
              <a:t>하고, 그것이 혼합전략 내시 균형과 동치임을 보인다. 사족 로봇에 온보드 실시간이다.</a:t>
            </a:r>
          </a:p>
        </p:txBody>
      </p:sp>
      <p:sp>
        <p:nvSpPr>
          <p:cNvPr id="7" name="TextBox 6"/>
          <p:cNvSpPr txBox="1"/>
          <p:nvPr/>
        </p:nvSpPr>
        <p:spPr>
          <a:xfrm>
            <a:off x="609600" y="226040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travplan의 acados 트랙에 가장 곧바로 옮겨지는 것은 SICNav</a:t>
            </a:r>
            <a:r>
              <a:rPr sz="1050" b="0" i="0">
                <a:solidFill>
                  <a:srgbClr val="16213A"/>
                </a:solidFill>
                <a:latin typeface="Arial"/>
                <a:ea typeface="Malgun Gothic"/>
                <a:cs typeface="Malgun Gothic"/>
              </a:rPr>
              <a:t>(Samavi 외, IEEE T-RO, </a:t>
            </a:r>
            <a:r>
              <a:rPr sz="1050" b="0" i="0">
                <a:solidFill>
                  <a:srgbClr val="1D4ED8"/>
                </a:solidFill>
                <a:latin typeface="Arial"/>
                <a:ea typeface="Malgun Gothic"/>
                <a:cs typeface="Malgun Gothic"/>
                <a:hlinkClick r:id="rId4"/>
              </a:rPr>
              <a:t>arXiv:2310.10982</a:t>
            </a:r>
            <a:r>
              <a:rPr sz="1050" b="0" i="0">
                <a:solidFill>
                  <a:srgbClr val="16213A"/>
                </a:solidFill>
                <a:latin typeface="Arial"/>
                <a:ea typeface="Malgun Gothic"/>
                <a:cs typeface="Malgun Gothic"/>
              </a:rPr>
              <a:t>)다 — </a:t>
            </a:r>
            <a:r>
              <a:rPr sz="1050" b="0" i="1">
                <a:solidFill>
                  <a:srgbClr val="16213A"/>
                </a:solidFill>
                <a:latin typeface="Arial"/>
                <a:ea typeface="Malgun Gothic"/>
                <a:cs typeface="Malgun Gothic"/>
              </a:rPr>
              <a:t>"Many existing methods </a:t>
            </a:r>
            <a:r>
              <a:rPr sz="1050" b="0" i="1">
                <a:solidFill>
                  <a:srgbClr val="16213A"/>
                </a:solidFill>
                <a:latin typeface="Arial"/>
                <a:ea typeface="Malgun Gothic"/>
                <a:cs typeface="Malgun Gothic"/>
              </a:rPr>
              <a:t>decouple prediction from planning</a:t>
            </a:r>
            <a:r>
              <a:rPr sz="1050" b="0" i="1">
                <a:solidFill>
                  <a:srgbClr val="16213A"/>
                </a:solidFill>
                <a:latin typeface="Arial"/>
                <a:ea typeface="Malgun Gothic"/>
                <a:cs typeface="Malgun Gothic"/>
              </a:rPr>
              <a:t>, which does not account for the interaction between robot and human motions and </a:t>
            </a:r>
            <a:r>
              <a:rPr sz="1050" b="0" i="1">
                <a:solidFill>
                  <a:srgbClr val="16213A"/>
                </a:solidFill>
                <a:latin typeface="Arial"/>
                <a:ea typeface="Malgun Gothic"/>
                <a:cs typeface="Malgun Gothic"/>
              </a:rPr>
              <a:t>can lead to the robot getting stuck</a:t>
            </a:r>
            <a:r>
              <a:rPr sz="1050" b="0" i="1">
                <a:solidFill>
                  <a:srgbClr val="16213A"/>
                </a:solidFill>
                <a:latin typeface="Arial"/>
                <a:ea typeface="Malgun Gothic"/>
                <a:cs typeface="Malgun Gothic"/>
              </a:rPr>
              <a:t>."</a:t>
            </a:r>
            <a:r>
              <a:rPr sz="1050" b="0" i="0">
                <a:solidFill>
                  <a:srgbClr val="16213A"/>
                </a:solidFill>
                <a:latin typeface="Arial"/>
                <a:ea typeface="Malgun Gothic"/>
                <a:cs typeface="Malgun Gothic"/>
              </a:rPr>
              <a:t> 해법이 구체적이다: </a:t>
            </a:r>
            <a:r>
              <a:rPr sz="1050" b="1" i="0">
                <a:solidFill>
                  <a:srgbClr val="C2410C"/>
                </a:solidFill>
                <a:latin typeface="Arial"/>
                <a:ea typeface="Malgun Gothic"/>
                <a:cs typeface="Malgun Gothic"/>
              </a:rPr>
              <a:t>각 보행자가 ORCA를 따른다고 보고 그 모델을 로봇 국소 플래너의 제약으로 박아 넣는다</a:t>
            </a:r>
            <a:r>
              <a:rPr sz="1050" b="1" i="0">
                <a:solidFill>
                  <a:srgbClr val="C2410C"/>
                </a:solidFill>
                <a:latin typeface="Arial"/>
                <a:ea typeface="Malgun Gothic"/>
                <a:cs typeface="Malgun Gothic"/>
              </a:rPr>
              <a:t>(이중수준 비선형 MPC, KKT 재정식화).</a:t>
            </a:r>
            <a:r>
              <a:rPr sz="1050" b="0" i="0">
                <a:solidFill>
                  <a:srgbClr val="16213A"/>
                </a:solidFill>
                <a:latin typeface="Arial"/>
                <a:ea typeface="Malgun Gothic"/>
                <a:cs typeface="Malgun Gothic"/>
              </a:rPr>
              <a:t> 반응형 보행자 모델을 따로 만들 필요 없이 기성 ORCA를 제약으로 쓰는 것이라 TP-0090의 가장 값싼 구현 경로다.</a:t>
            </a:r>
          </a:p>
        </p:txBody>
      </p:sp>
      <p:sp>
        <p:nvSpPr>
          <p:cNvPr id="8" name="TextBox 7"/>
          <p:cNvSpPr txBox="1"/>
          <p:nvPr/>
        </p:nvSpPr>
        <p:spPr>
          <a:xfrm>
            <a:off x="609600" y="299878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 밖에 SACSoN(</a:t>
            </a:r>
            <a:r>
              <a:rPr sz="1050" b="0" i="0">
                <a:solidFill>
                  <a:srgbClr val="1D4ED8"/>
                </a:solidFill>
                <a:latin typeface="Arial"/>
                <a:ea typeface="Malgun Gothic"/>
                <a:cs typeface="Malgun Gothic"/>
                <a:hlinkClick r:id="rId5"/>
              </a:rPr>
              <a:t>arXiv:2306.01874</a:t>
            </a:r>
            <a:r>
              <a:rPr sz="1050" b="0" i="0">
                <a:solidFill>
                  <a:srgbClr val="16213A"/>
                </a:solidFill>
                <a:latin typeface="Arial"/>
                <a:ea typeface="Malgun Gothic"/>
                <a:cs typeface="Malgun Gothic"/>
              </a:rPr>
              <a:t>)의 </a:t>
            </a:r>
            <a:r>
              <a:rPr sz="1050" b="1" i="0">
                <a:solidFill>
                  <a:srgbClr val="16213A"/>
                </a:solidFill>
                <a:latin typeface="Arial"/>
                <a:ea typeface="Malgun Gothic"/>
                <a:cs typeface="Malgun Gothic"/>
              </a:rPr>
              <a:t>반사실 목적함수</a:t>
            </a:r>
            <a:r>
              <a:rPr sz="1050" b="0" i="0">
                <a:solidFill>
                  <a:srgbClr val="16213A"/>
                </a:solidFill>
                <a:latin typeface="Arial"/>
                <a:ea typeface="Malgun Gothic"/>
                <a:cs typeface="Malgun Gothic"/>
              </a:rPr>
              <a:t>가 "적절히 양보했는가"의 가장 깔끔한 형식적 정의다 — </a:t>
            </a:r>
            <a:r>
              <a:rPr sz="1050" b="1" i="1">
                <a:solidFill>
                  <a:srgbClr val="C2410C"/>
                </a:solidFill>
                <a:latin typeface="Arial"/>
                <a:ea typeface="Malgun Gothic"/>
                <a:cs typeface="Malgun Gothic"/>
              </a:rPr>
              <a:t>"if the robot had not intruded into the space, would the human have acted in the same way?"</a:t>
            </a:r>
            <a:r>
              <a:rPr sz="1050" b="0" i="0">
                <a:solidFill>
                  <a:srgbClr val="16213A"/>
                </a:solidFill>
                <a:latin typeface="Arial"/>
                <a:ea typeface="Malgun Gothic"/>
                <a:cs typeface="Malgun Gothic"/>
              </a:rPr>
              <a:t> 를 최소화한다.</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8/9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231 / 359</a:t>
            </a:r>
          </a:p>
        </p:txBody>
      </p:sp>
      <p:pic>
        <p:nvPicPr>
          <p:cNvPr id="5" name="Picture 4" descr="image.jpg"/>
          <p:cNvPicPr>
            <a:picLocks noChangeAspect="1"/>
          </p:cNvPicPr>
          <p:nvPr/>
        </p:nvPicPr>
        <p:blipFill>
          <a:blip r:embed="rId3"/>
          <a:stretch>
            <a:fillRect/>
          </a:stretch>
        </p:blipFill>
        <p:spPr>
          <a:xfrm>
            <a:off x="609600" y="1244600"/>
            <a:ext cx="5410200" cy="1593850"/>
          </a:xfrm>
          <a:prstGeom prst="rect">
            <a:avLst/>
          </a:prstGeom>
        </p:spPr>
      </p:pic>
      <p:sp>
        <p:nvSpPr>
          <p:cNvPr id="6" name="TextBox 5"/>
          <p:cNvSpPr txBox="1"/>
          <p:nvPr/>
        </p:nvSpPr>
        <p:spPr>
          <a:xfrm>
            <a:off x="609600" y="287655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BRNE (Fig. 1): 분리형 / 협조형 / 내시 균형 항법의 비교. 이 절의 논지를 Trautman 본인이 그린 그림이다. 출처: arXiv:2403.01537</a:t>
            </a:r>
          </a:p>
        </p:txBody>
      </p:sp>
      <p:pic>
        <p:nvPicPr>
          <p:cNvPr id="7" name="Picture 6" descr="image.jpg"/>
          <p:cNvPicPr>
            <a:picLocks noChangeAspect="1"/>
          </p:cNvPicPr>
          <p:nvPr/>
        </p:nvPicPr>
        <p:blipFill>
          <a:blip r:embed="rId4"/>
          <a:stretch>
            <a:fillRect/>
          </a:stretch>
        </p:blipFill>
        <p:spPr>
          <a:xfrm>
            <a:off x="6172200" y="1244600"/>
            <a:ext cx="2787650" cy="2667000"/>
          </a:xfrm>
          <a:prstGeom prst="rect">
            <a:avLst/>
          </a:prstGeom>
        </p:spPr>
      </p:pic>
      <p:sp>
        <p:nvSpPr>
          <p:cNvPr id="8" name="TextBox 7"/>
          <p:cNvSpPr txBox="1"/>
          <p:nvPr/>
        </p:nvSpPr>
        <p:spPr>
          <a:xfrm>
            <a:off x="61722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Frozone (Fig. 1): 위가 실제 얼어붙기(로봇이 멈추고 진동, 문제의 보행자가 빨강), 아래가 Potential Freezing Zone을 우회하는 같은 상황. 과잉 보수성을 실패 모드로 보여 주는 가장 좋은 그림이다. 출처: arXiv:2003.05395</a:t>
            </a:r>
          </a:p>
        </p:txBody>
      </p:sp>
      <p:sp>
        <p:nvSpPr>
          <p:cNvPr id="9" name="TextBox 8"/>
          <p:cNvSpPr txBox="1"/>
          <p:nvPr/>
        </p:nvSpPr>
        <p:spPr>
          <a:xfrm>
            <a:off x="609600" y="4322961"/>
            <a:ext cx="10972800" cy="188516"/>
          </a:xfrm>
          <a:prstGeom prst="rect">
            <a:avLst/>
          </a:prstGeom>
          <a:noFill/>
        </p:spPr>
        <p:txBody>
          <a:bodyPr wrap="square" lIns="0" rIns="0" tIns="0" bIns="0" anchor="t">
            <a:spAutoFit/>
            <a:normAutofit/>
          </a:bodyPr>
          <a:lstStyle/>
          <a:p>
            <a:r>
              <a:rPr sz="1050" b="1" i="0">
                <a:solidFill>
                  <a:srgbClr val="5A6478"/>
                </a:solidFill>
                <a:latin typeface="Arial"/>
                <a:ea typeface="Malgun Gothic"/>
                <a:cs typeface="Malgun Gothic"/>
              </a:rPr>
              <a:t>지나가는 쪽(passing side)은 이산 선택이고, 그것을 재는 법이 이미 있다</a:t>
            </a:r>
          </a:p>
        </p:txBody>
      </p:sp>
      <p:sp>
        <p:nvSpPr>
          <p:cNvPr id="10" name="TextBox 9"/>
          <p:cNvSpPr txBox="1"/>
          <p:nvPr/>
        </p:nvSpPr>
        <p:spPr>
          <a:xfrm>
            <a:off x="609600" y="4600377"/>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SA-CADRL(</a:t>
            </a:r>
            <a:r>
              <a:rPr sz="1050" b="0" i="0">
                <a:solidFill>
                  <a:srgbClr val="1D4ED8"/>
                </a:solidFill>
                <a:latin typeface="Arial"/>
                <a:ea typeface="Malgun Gothic"/>
                <a:cs typeface="Malgun Gothic"/>
                <a:hlinkClick r:id="rId5"/>
              </a:rPr>
              <a:t>arXiv:1703.08862</a:t>
            </a:r>
            <a:r>
              <a:rPr sz="1050" b="0" i="0">
                <a:solidFill>
                  <a:srgbClr val="16213A"/>
                </a:solidFill>
                <a:latin typeface="Arial"/>
                <a:ea typeface="Malgun Gothic"/>
                <a:cs typeface="Malgun Gothic"/>
              </a:rPr>
              <a:t>)이 </a:t>
            </a:r>
            <a:r>
              <a:rPr sz="1050" b="0" i="1">
                <a:solidFill>
                  <a:srgbClr val="16213A"/>
                </a:solidFill>
                <a:latin typeface="Arial"/>
                <a:ea typeface="Malgun Gothic"/>
                <a:cs typeface="Malgun Gothic"/>
              </a:rPr>
              <a:t>"humans tend to follow simple navigation norms ... such as </a:t>
            </a:r>
            <a:r>
              <a:rPr sz="1050" b="0" i="1">
                <a:solidFill>
                  <a:srgbClr val="16213A"/>
                </a:solidFill>
                <a:latin typeface="Arial"/>
                <a:ea typeface="Malgun Gothic"/>
                <a:cs typeface="Malgun Gothic"/>
              </a:rPr>
              <a:t>passing on the right and overtaking on the left</a:t>
            </a:r>
            <a:r>
              <a:rPr sz="1050" b="0" i="1">
                <a:solidFill>
                  <a:srgbClr val="16213A"/>
                </a:solidFill>
                <a:latin typeface="Arial"/>
                <a:ea typeface="Malgun Gothic"/>
                <a:cs typeface="Malgun Gothic"/>
              </a:rPr>
              <a:t>"</a:t>
            </a:r>
            <a:r>
              <a:rPr sz="1050" b="0" i="0">
                <a:solidFill>
                  <a:srgbClr val="16213A"/>
                </a:solidFill>
                <a:latin typeface="Arial"/>
                <a:ea typeface="Malgun Gothic"/>
                <a:cs typeface="Malgun Gothic"/>
              </a:rPr>
              <a:t>를 반평면 페널티로 구현하고, </a:t>
            </a:r>
            <a:r>
              <a:rPr sz="1050" b="1" i="0">
                <a:solidFill>
                  <a:srgbClr val="C2410C"/>
                </a:solidFill>
                <a:latin typeface="Arial"/>
                <a:ea typeface="Malgun Gothic"/>
                <a:cs typeface="Malgun Gothic"/>
              </a:rPr>
              <a:t>"Norm preference (%)"</a:t>
            </a:r>
            <a:r>
              <a:rPr sz="1050" b="1" i="0">
                <a:solidFill>
                  <a:srgbClr val="C2410C"/>
                </a:solidFill>
                <a:latin typeface="Arial"/>
                <a:ea typeface="Malgun Gothic"/>
                <a:cs typeface="Malgun Gothic"/>
              </a:rPr>
              <a:t>라는 지표로 보고한다</a:t>
            </a:r>
            <a:r>
              <a:rPr sz="1050" b="0" i="0">
                <a:solidFill>
                  <a:srgbClr val="16213A"/>
                </a:solidFill>
                <a:latin typeface="Arial"/>
                <a:ea typeface="Malgun Gothic"/>
                <a:cs typeface="Malgun Gothic"/>
              </a:rPr>
              <a:t> — ORCA 45/55·51/49·50/50(무작위), CADRL 37/63·38/62·43/57, SA-CADRL(좌측 규범) </a:t>
            </a:r>
            <a:r>
              <a:rPr sz="1050" b="1" i="0">
                <a:solidFill>
                  <a:srgbClr val="16213A"/>
                </a:solidFill>
                <a:latin typeface="Arial"/>
                <a:ea typeface="Malgun Gothic"/>
                <a:cs typeface="Malgun Gothic"/>
              </a:rPr>
              <a:t>98/2·85/15·86/14</a:t>
            </a:r>
            <a:r>
              <a:rPr sz="1050" b="0" i="0">
                <a:solidFill>
                  <a:srgbClr val="16213A"/>
                </a:solidFill>
                <a:latin typeface="Arial"/>
                <a:ea typeface="Malgun Gothic"/>
                <a:cs typeface="Malgun Gothic"/>
              </a:rPr>
              <a:t>. 규범을 따르도록 학습했는지가 </a:t>
            </a:r>
            <a:r>
              <a:rPr sz="1050" b="1" i="0">
                <a:solidFill>
                  <a:srgbClr val="16213A"/>
                </a:solidFill>
                <a:latin typeface="Arial"/>
                <a:ea typeface="Malgun Gothic"/>
                <a:cs typeface="Malgun Gothic"/>
              </a:rPr>
              <a:t>백분율 하나로</a:t>
            </a:r>
            <a:r>
              <a:rPr sz="1050" b="0" i="0">
                <a:solidFill>
                  <a:srgbClr val="16213A"/>
                </a:solidFill>
                <a:latin typeface="Arial"/>
                <a:ea typeface="Malgun Gothic"/>
                <a:cs typeface="Malgun Gothic"/>
              </a:rPr>
              <a:t> 드러난다. travplan이 "적절히 양보했는가"를 재려 할 때 바로 쓸 수 있는 형태다.</a:t>
            </a:r>
          </a:p>
        </p:txBody>
      </p:sp>
      <p:sp>
        <p:nvSpPr>
          <p:cNvPr id="11" name="TextBox 10"/>
          <p:cNvSpPr txBox="1"/>
          <p:nvPr/>
        </p:nvSpPr>
        <p:spPr>
          <a:xfrm>
            <a:off x="609600" y="5338762"/>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 이산 선택을 형식화한 것이 </a:t>
            </a:r>
            <a:r>
              <a:rPr sz="1050" b="1" i="0">
                <a:solidFill>
                  <a:srgbClr val="16213A"/>
                </a:solidFill>
                <a:latin typeface="Arial"/>
                <a:ea typeface="Malgun Gothic"/>
                <a:cs typeface="Malgun Gothic"/>
              </a:rPr>
              <a:t>위상 브레이드</a:t>
            </a:r>
            <a:r>
              <a:rPr sz="1050" b="0" i="0">
                <a:solidFill>
                  <a:srgbClr val="16213A"/>
                </a:solidFill>
                <a:latin typeface="Arial"/>
                <a:ea typeface="Malgun Gothic"/>
                <a:cs typeface="Malgun Gothic"/>
              </a:rPr>
              <a:t>다 — Mavrogiannis &amp; Knepper, IJRR 38(2-3):338–356, 2019 (DOI </a:t>
            </a:r>
            <a:r>
              <a:rPr sz="1050" b="0" i="0">
                <a:solidFill>
                  <a:srgbClr val="1D4ED8"/>
                </a:solidFill>
                <a:latin typeface="Arial"/>
                <a:ea typeface="Malgun Gothic"/>
                <a:cs typeface="Malgun Gothic"/>
                <a:hlinkClick r:id="rId6"/>
              </a:rPr>
              <a:t>10.1177/0278364918781016</a:t>
            </a:r>
            <a:r>
              <a:rPr sz="1050" b="0" i="0">
                <a:solidFill>
                  <a:srgbClr val="16213A"/>
                </a:solidFill>
                <a:latin typeface="Arial"/>
                <a:ea typeface="Malgun Gothic"/>
                <a:cs typeface="Malgun Gothic"/>
              </a:rPr>
              <a:t>, arXiv에 없음). 저자들의 표현으로 </a:t>
            </a:r>
            <a:r>
              <a:rPr sz="1050" b="0" i="1">
                <a:solidFill>
                  <a:srgbClr val="16213A"/>
                </a:solidFill>
                <a:latin typeface="Arial"/>
                <a:ea typeface="Malgun Gothic"/>
                <a:cs typeface="Malgun Gothic"/>
              </a:rPr>
              <a:t>"We model such classes as equivalence classes of multi-agent path topology, using the formalism of topological braids"</a:t>
            </a:r>
            <a:r>
              <a:rPr sz="1050" b="0" i="0">
                <a:solidFill>
                  <a:srgbClr val="16213A"/>
                </a:solidFill>
                <a:latin typeface="Arial"/>
                <a:ea typeface="Malgun Gothic"/>
                <a:cs typeface="Malgun Gothic"/>
              </a:rPr>
              <a:t>이고, 관측으로 </a:t>
            </a:r>
            <a:r>
              <a:rPr sz="1050" b="1" i="0">
                <a:solidFill>
                  <a:srgbClr val="16213A"/>
                </a:solidFill>
                <a:latin typeface="Arial"/>
                <a:ea typeface="Malgun Gothic"/>
                <a:cs typeface="Malgun Gothic"/>
              </a:rPr>
              <a:t>집단의 회피 전략을 추론한 뒤</a:t>
            </a:r>
            <a:r>
              <a:rPr sz="1050" b="0" i="0">
                <a:solidFill>
                  <a:srgbClr val="16213A"/>
                </a:solidFill>
                <a:latin typeface="Arial"/>
                <a:ea typeface="Malgun Gothic"/>
                <a:cs typeface="Malgun Gothic"/>
              </a:rPr>
              <a:t> 에너지 효율과 타협한다. </a:t>
            </a:r>
            <a:r>
              <a:rPr sz="1050" b="1" i="0">
                <a:solidFill>
                  <a:srgbClr val="C2410C"/>
                </a:solidFill>
                <a:latin typeface="Arial"/>
                <a:ea typeface="Malgun Gothic"/>
                <a:cs typeface="Malgun Gothic"/>
              </a:rPr>
              <a:t>구조가 이 절 첫머리의 Apollo와 똑같다 — </a:t>
            </a:r>
            <a:r>
              <a:rPr sz="1050" b="1" i="0">
                <a:solidFill>
                  <a:srgbClr val="C2410C"/>
                </a:solidFill>
                <a:latin typeface="Arial"/>
                <a:ea typeface="Malgun Gothic"/>
                <a:cs typeface="Malgun Gothic"/>
              </a:rPr>
              <a:t>이산 클래스 추론 + 연속 타협 목적함수</a:t>
            </a:r>
            <a:r>
              <a:rPr sz="1050" b="1" i="0">
                <a:solidFill>
                  <a:srgbClr val="C2410C"/>
                </a:solidFill>
                <a:latin typeface="Arial"/>
                <a:ea typeface="Malgun Gothic"/>
                <a:cs typeface="Malgun Gothic"/>
              </a:rPr>
              <a:t>다.</a:t>
            </a:r>
            <a:r>
              <a:rPr sz="1050" b="0" i="0">
                <a:solidFill>
                  <a:srgbClr val="16213A"/>
                </a:solidFill>
                <a:latin typeface="Arial"/>
                <a:ea typeface="Malgun Gothic"/>
                <a:cs typeface="Malgun Gothic"/>
              </a:rPr>
              <a:t> 자동차는 ST 평면에서, 소셜 내비게이션은 브레이드에서 같은 일을 한다.</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동적 장애물</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A.12 동적 장애물: 검출, 추적, 궤적 예측</a:t>
            </a:r>
            <a:r>
              <a:rPr sz="1050" b="0" i="0">
                <a:solidFill>
                  <a:srgbClr val="5A6478"/>
                </a:solidFill>
                <a:latin typeface="Arial"/>
                <a:ea typeface="Malgun Gothic"/>
                <a:cs typeface="Malgun Gothic"/>
              </a:rPr>
              <a:t>  9/9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232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 조사 중 </a:t>
            </a:r>
            <a:r>
              <a:rPr sz="1050" b="0" i="0">
                <a:solidFill>
                  <a:srgbClr val="16213A"/>
                </a:solidFill>
                <a:latin typeface="Consolas"/>
                <a:ea typeface="Malgun Gothic"/>
                <a:cs typeface="Malgun Gothic"/>
              </a:rPr>
              <a:t>arXiv:1906.11251</a:t>
            </a:r>
            <a:r>
              <a:rPr sz="1050" b="0" i="0">
                <a:solidFill>
                  <a:srgbClr val="16213A"/>
                </a:solidFill>
                <a:latin typeface="Arial"/>
                <a:ea typeface="Malgun Gothic"/>
                <a:cs typeface="Malgun Gothic"/>
              </a:rPr>
              <a:t>이 이 브레이드 논문으로 잘못 돌아다니는 것을 확인했다. </a:t>
            </a:r>
            <a:r>
              <a:rPr sz="1050" b="1" i="0">
                <a:solidFill>
                  <a:srgbClr val="16213A"/>
                </a:solidFill>
                <a:latin typeface="Arial"/>
                <a:ea typeface="Malgun Gothic"/>
                <a:cs typeface="Malgun Gothic"/>
              </a:rPr>
              <a:t>그 ID는 물리학 논문 (</a:t>
            </a:r>
            <a:r>
              <a:rPr sz="1050" b="1" i="1">
                <a:solidFill>
                  <a:srgbClr val="16213A"/>
                </a:solidFill>
                <a:latin typeface="Arial"/>
                <a:ea typeface="Malgun Gothic"/>
                <a:cs typeface="Malgun Gothic"/>
              </a:rPr>
              <a:t>"</a:t>
            </a:r>
            <a:r>
              <a:rPr sz="1050" b="1" i="1">
                <a:solidFill>
                  <a:srgbClr val="16213A"/>
                </a:solidFill>
                <a:latin typeface="Arial"/>
                <a:ea typeface="Malgun Gothic"/>
                <a:cs typeface="Malgun Gothic"/>
              </a:rPr>
              <a:t>TT̄</a:t>
            </a:r>
            <a:r>
              <a:rPr sz="1050" b="1" i="1">
                <a:solidFill>
                  <a:srgbClr val="16213A"/>
                </a:solidFill>
                <a:latin typeface="Arial"/>
                <a:ea typeface="Malgun Gothic"/>
                <a:cs typeface="Malgun Gothic"/>
              </a:rPr>
              <a:t> and the mirage of a bulk cutoff"</a:t>
            </a:r>
            <a:r>
              <a:rPr sz="1050" b="1" i="0">
                <a:solidFill>
                  <a:srgbClr val="16213A"/>
                </a:solidFill>
                <a:latin typeface="Arial"/>
                <a:ea typeface="Malgun Gothic"/>
                <a:cs typeface="Malgun Gothic"/>
              </a:rPr>
              <a:t>)이다.</a:t>
            </a:r>
            <a:r>
              <a:rPr sz="1050" b="0" i="0">
                <a:solidFill>
                  <a:srgbClr val="16213A"/>
                </a:solidFill>
                <a:latin typeface="Arial"/>
                <a:ea typeface="Malgun Gothic"/>
                <a:cs typeface="Malgun Gothic"/>
              </a:rPr>
              <a:t> 위 DOI를 쓴다.</a:t>
            </a:r>
          </a:p>
        </p:txBody>
      </p:sp>
      <p:sp>
        <p:nvSpPr>
          <p:cNvPr id="6" name="TextBox 5"/>
          <p:cNvSpPr txBox="1"/>
          <p:nvPr/>
        </p:nvSpPr>
        <p:spPr>
          <a:xfrm>
            <a:off x="609600" y="1549995"/>
            <a:ext cx="10972800" cy="188516"/>
          </a:xfrm>
          <a:prstGeom prst="rect">
            <a:avLst/>
          </a:prstGeom>
          <a:noFill/>
        </p:spPr>
        <p:txBody>
          <a:bodyPr wrap="square" lIns="0" rIns="0" tIns="0" bIns="0" anchor="t">
            <a:spAutoFit/>
            <a:normAutofit/>
          </a:bodyPr>
          <a:lstStyle/>
          <a:p>
            <a:r>
              <a:rPr sz="1050" b="1" i="0">
                <a:solidFill>
                  <a:srgbClr val="5A6478"/>
                </a:solidFill>
                <a:latin typeface="Arial"/>
                <a:ea typeface="Malgun Gothic"/>
                <a:cs typeface="Malgun Gothic"/>
              </a:rPr>
              <a:t>읽을 만한 오픈소스 (2026-09-30 </a:t>
            </a:r>
            <a:r>
              <a:rPr sz="1050" b="1" i="0">
                <a:solidFill>
                  <a:srgbClr val="5A6478"/>
                </a:solidFill>
                <a:latin typeface="Consolas"/>
                <a:ea typeface="Malgun Gothic"/>
                <a:cs typeface="Malgun Gothic"/>
              </a:rPr>
              <a:t>gh api</a:t>
            </a:r>
            <a:r>
              <a:rPr sz="1050" b="1" i="0">
                <a:solidFill>
                  <a:srgbClr val="5A6478"/>
                </a:solidFill>
                <a:latin typeface="Arial"/>
                <a:ea typeface="Malgun Gothic"/>
                <a:cs typeface="Malgun Gothic"/>
              </a:rPr>
              <a:t> 확인)</a:t>
            </a:r>
          </a:p>
        </p:txBody>
      </p:sp>
      <p:graphicFrame>
        <p:nvGraphicFramePr>
          <p:cNvPr id="7" name="Table 6"/>
          <p:cNvGraphicFramePr>
            <a:graphicFrameLocks noGrp="1"/>
          </p:cNvGraphicFramePr>
          <p:nvPr/>
        </p:nvGraphicFramePr>
        <p:xfrm>
          <a:off x="609600" y="1827411"/>
          <a:ext cx="10966450" cy="2136456"/>
        </p:xfrm>
        <a:graphic>
          <a:graphicData uri="http://schemas.openxmlformats.org/drawingml/2006/table">
            <a:tbl>
              <a:tblPr firstRow="1" bandRow="1">
                <a:tableStyleId>{5C22544A-7EE6-4342-B048-85BDC9FD1C3A}</a:tableStyleId>
              </a:tblPr>
              <a:tblGrid>
                <a:gridCol w="1629172"/>
                <a:gridCol w="552252"/>
                <a:gridCol w="2001341"/>
                <a:gridCol w="1303734"/>
                <a:gridCol w="5479951"/>
              </a:tblGrid>
              <a:tr h="197088">
                <a:tc>
                  <a:txBody>
                    <a:bodyPr wrap="square"/>
                    <a:lstStyle/>
                    <a:p>
                      <a:r>
                        <a:rPr sz="800" b="1" i="0">
                          <a:solidFill>
                            <a:srgbClr val="F4F1EA"/>
                          </a:solidFill>
                          <a:latin typeface="Arial"/>
                          <a:ea typeface="Malgun Gothic"/>
                          <a:cs typeface="Malgun Gothic"/>
                        </a:rPr>
                        <a:t>저장소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활동</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왜</a:t>
                      </a:r>
                    </a:p>
                  </a:txBody>
                  <a:tcPr marL="63500" marR="63500" marT="12700" marB="12700">
                    <a:solidFill>
                      <a:srgbClr val="16213A"/>
                    </a:solidFill>
                  </a:tcPr>
                </a:tc>
              </a:tr>
              <a:tr h="197088">
                <a:tc>
                  <a:txBody>
                    <a:bodyPr wrap="square"/>
                    <a:lstStyle/>
                    <a:p>
                      <a:r>
                        <a:rPr sz="800" b="1" i="0">
                          <a:solidFill>
                            <a:srgbClr val="1D4ED8"/>
                          </a:solidFill>
                          <a:latin typeface="Arial"/>
                          <a:ea typeface="Malgun Gothic"/>
                          <a:cs typeface="Malgun Gothic"/>
                          <a:hlinkClick r:id="rId3"/>
                        </a:rPr>
                        <a:t>social_force_window_planner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ros2</a:t>
                      </a:r>
                      <a:r>
                        <a:rPr sz="800" b="0" i="0">
                          <a:solidFill>
                            <a:srgbClr val="16213A"/>
                          </a:solidFill>
                          <a:latin typeface="Arial"/>
                          <a:ea typeface="Malgun Gothic"/>
                          <a:cs typeface="Malgun Gothic"/>
                        </a:rPr>
                        <a:t> 2025-05</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후보 궤적마다 보행자를 다시 굴린다 — FRP의 실제 해법이 DWA 안에 들어 있다.</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sim_time</a:t>
                      </a:r>
                      <a:r>
                        <a:rPr sz="800" b="0" i="0">
                          <a:solidFill>
                            <a:srgbClr val="16213A"/>
                          </a:solidFill>
                          <a:latin typeface="Arial"/>
                          <a:ea typeface="Malgun Gothic"/>
                          <a:cs typeface="Malgun Gothic"/>
                        </a:rPr>
                        <a:t> 1.0 s(배포 config 1.5 s)</a:t>
                      </a:r>
                    </a:p>
                  </a:txBody>
                  <a:tcPr marL="63500" marR="63500" marT="12700" marB="12700">
                    <a:solidFill>
                      <a:srgbClr val="FFFDF8"/>
                    </a:solidFill>
                  </a:tcPr>
                </a:tc>
              </a:tr>
              <a:tr h="317976">
                <a:tc>
                  <a:txBody>
                    <a:bodyPr wrap="square"/>
                    <a:lstStyle/>
                    <a:p>
                      <a:r>
                        <a:rPr sz="800" b="0" i="0">
                          <a:solidFill>
                            <a:srgbClr val="1D4ED8"/>
                          </a:solidFill>
                          <a:latin typeface="Arial"/>
                          <a:ea typeface="Malgun Gothic"/>
                          <a:cs typeface="Malgun Gothic"/>
                          <a:hlinkClick r:id="rId4"/>
                        </a:rPr>
                        <a:t>nav2_social_mpc_controller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파일 없음 (</a:t>
                      </a:r>
                      <a:r>
                        <a:rPr sz="800" b="0" i="0">
                          <a:solidFill>
                            <a:srgbClr val="16213A"/>
                          </a:solidFill>
                          <a:latin typeface="Consolas"/>
                          <a:ea typeface="Malgun Gothic"/>
                          <a:cs typeface="Malgun Gothic"/>
                        </a:rPr>
                        <a:t>package.xml</a:t>
                      </a:r>
                      <a:r>
                        <a:rPr sz="800" b="0" i="0">
                          <a:solidFill>
                            <a:srgbClr val="16213A"/>
                          </a:solidFill>
                          <a:latin typeface="Arial"/>
                          <a:ea typeface="Malgun Gothic"/>
                          <a:cs typeface="Malgun Gothic"/>
                        </a:rPr>
                        <a:t>은 Apache-2.0)</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master</a:t>
                      </a:r>
                      <a:r>
                        <a:rPr sz="800" b="0" i="0">
                          <a:solidFill>
                            <a:srgbClr val="16213A"/>
                          </a:solidFill>
                          <a:latin typeface="Arial"/>
                          <a:ea typeface="Malgun Gothic"/>
                          <a:cs typeface="Malgun Gothic"/>
                        </a:rPr>
                        <a:t> 2025-06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Ceres 자동미분 MPC, 시간 인덱스 보행자 + </a:t>
                      </a:r>
                      <a:r>
                        <a:rPr sz="800" b="0" i="0">
                          <a:solidFill>
                            <a:srgbClr val="16213A"/>
                          </a:solidFill>
                          <a:latin typeface="Consolas"/>
                          <a:ea typeface="Malgun Gothic"/>
                          <a:cs typeface="Malgun Gothic"/>
                        </a:rPr>
                        <a:t>social_work</a:t>
                      </a:r>
                      <a:r>
                        <a:rPr sz="800" b="0" i="0">
                          <a:solidFill>
                            <a:srgbClr val="16213A"/>
                          </a:solidFill>
                          <a:latin typeface="Arial"/>
                          <a:ea typeface="Malgun Gothic"/>
                          <a:cs typeface="Malgun Gothic"/>
                        </a:rPr>
                        <a:t> 잔차. ⚠️ 에이전트 </a:t>
                      </a:r>
                      <a:r>
                        <a:rPr sz="800" b="1" i="0">
                          <a:solidFill>
                            <a:srgbClr val="16213A"/>
                          </a:solidFill>
                          <a:latin typeface="Arial"/>
                          <a:ea typeface="Malgun Gothic"/>
                          <a:cs typeface="Malgun Gothic"/>
                        </a:rPr>
                        <a:t>3명 상한</a:t>
                      </a:r>
                      <a:r>
                        <a:rPr sz="800" b="0" i="0">
                          <a:solidFill>
                            <a:srgbClr val="16213A"/>
                          </a:solidFill>
                          <a:latin typeface="Arial"/>
                          <a:ea typeface="Malgun Gothic"/>
                          <a:cs typeface="Malgun Gothic"/>
                        </a:rPr>
                        <a:t>(메시지 순서대로 잘라낸다)</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5"/>
                        </a:rPr>
                        <a:t>lightsfm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위 둘이 공유하는 SFM 코어</a:t>
                      </a:r>
                    </a:p>
                  </a:txBody>
                  <a:tcPr marL="63500" marR="63500" marT="12700" marB="12700">
                    <a:solidFill>
                      <a:srgbClr val="FFFDF8"/>
                    </a:solidFill>
                  </a:tcPr>
                </a:tc>
              </a:tr>
              <a:tr h="317976">
                <a:tc>
                  <a:txBody>
                    <a:bodyPr wrap="square"/>
                    <a:lstStyle/>
                    <a:p>
                      <a:r>
                        <a:rPr sz="800" b="1" i="0">
                          <a:solidFill>
                            <a:srgbClr val="1D4ED8"/>
                          </a:solidFill>
                          <a:latin typeface="Arial"/>
                          <a:ea typeface="Malgun Gothic"/>
                          <a:cs typeface="Malgun Gothic"/>
                          <a:hlinkClick r:id="rId6"/>
                        </a:rPr>
                        <a:t>hunav_sim</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7"/>
                        </a:rPr>
                        <a:t>Isaac 래퍼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166 / 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 / 없음</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v2.0</a:t>
                      </a:r>
                      <a:r>
                        <a:rPr sz="800" b="0" i="0">
                          <a:solidFill>
                            <a:srgbClr val="16213A"/>
                          </a:solidFill>
                          <a:latin typeface="Arial"/>
                          <a:ea typeface="Malgun Gothic"/>
                          <a:cs typeface="Malgun Gothic"/>
                        </a:rPr>
                        <a:t> 2026-09 / 2025-12</a:t>
                      </a:r>
                    </a:p>
                  </a:txBody>
                  <a:tcPr marL="63500" marR="63500" marT="12700" marB="12700">
                    <a:solidFill>
                      <a:srgbClr val="F3F0E8"/>
                    </a:solidFill>
                  </a:tcPr>
                </a:tc>
                <a:tc>
                  <a:txBody>
                    <a:bodyPr wrap="square"/>
                    <a:lstStyle/>
                    <a:p>
                      <a:r>
                        <a:rPr sz="800" b="1" i="0">
                          <a:solidFill>
                            <a:srgbClr val="C2410C"/>
                          </a:solidFill>
                          <a:latin typeface="Arial"/>
                          <a:ea typeface="Malgun Gothic"/>
                          <a:cs typeface="Malgun Gothic"/>
                        </a:rPr>
                        <a:t>반응형 보행자 + 소셜 지표를 대신 계산해 준다. </a:t>
                      </a:r>
                      <a:r>
                        <a:rPr sz="800" b="1" i="0">
                          <a:solidFill>
                            <a:srgbClr val="C2410C"/>
                          </a:solidFill>
                          <a:latin typeface="Arial"/>
                          <a:ea typeface="Malgun Gothic"/>
                          <a:cs typeface="Malgun Gothic"/>
                        </a:rPr>
                        <a:t>P1 Isaac Sim과 TP-0036에 바로 맞는다.</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8"/>
                        </a:rPr>
                        <a:t>snape/RVO2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967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main</a:t>
                      </a:r>
                      <a:r>
                        <a:rPr sz="800" b="0" i="0">
                          <a:solidFill>
                            <a:srgbClr val="16213A"/>
                          </a:solidFill>
                          <a:latin typeface="Arial"/>
                          <a:ea typeface="Malgun Gothic"/>
                          <a:cs typeface="Malgun Gothic"/>
                        </a:rPr>
                        <a:t> 2026-09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정본 ORCA. </a:t>
                      </a:r>
                      <a:r>
                        <a:rPr sz="800" b="1" i="0">
                          <a:solidFill>
                            <a:srgbClr val="16213A"/>
                          </a:solidFill>
                          <a:latin typeface="Arial"/>
                          <a:ea typeface="Malgun Gothic"/>
                          <a:cs typeface="Malgun Gothic"/>
                        </a:rPr>
                        <a:t>상호성 가정</a:t>
                      </a:r>
                      <a:r>
                        <a:rPr sz="800" b="0" i="0">
                          <a:solidFill>
                            <a:srgbClr val="16213A"/>
                          </a:solidFill>
                          <a:latin typeface="Arial"/>
                          <a:ea typeface="Malgun Gothic"/>
                          <a:cs typeface="Malgun Gothic"/>
                        </a:rPr>
                        <a:t>이 곧 "협조를 기대하라"의 구현</a:t>
                      </a:r>
                    </a:p>
                  </a:txBody>
                  <a:tcPr marL="63500" marR="63500" marT="12700" marB="12700">
                    <a:solidFill>
                      <a:srgbClr val="FFFDF8"/>
                    </a:solidFill>
                  </a:tcPr>
                </a:tc>
              </a:tr>
              <a:tr h="317976">
                <a:tc>
                  <a:txBody>
                    <a:bodyPr wrap="square"/>
                    <a:lstStyle/>
                    <a:p>
                      <a:r>
                        <a:rPr sz="800" b="0" i="0">
                          <a:solidFill>
                            <a:srgbClr val="1D4ED8"/>
                          </a:solidFill>
                          <a:latin typeface="Arial"/>
                          <a:ea typeface="Malgun Gothic"/>
                          <a:cs typeface="Malgun Gothic"/>
                          <a:hlinkClick r:id="rId9"/>
                        </a:rPr>
                        <a:t>teb_local_planner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1353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BSD-3</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noetic-devel</a:t>
                      </a:r>
                      <a:r>
                        <a:rPr sz="800" b="0" i="0">
                          <a:solidFill>
                            <a:srgbClr val="16213A"/>
                          </a:solidFill>
                          <a:latin typeface="Arial"/>
                          <a:ea typeface="Malgun Gothic"/>
                          <a:cs typeface="Malgun Gothic"/>
                        </a:rPr>
                        <a:t> 2026-09</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include_dynamic_obstacles</a:t>
                      </a:r>
                      <a:r>
                        <a:rPr sz="800" b="0" i="0">
                          <a:solidFill>
                            <a:srgbClr val="16213A"/>
                          </a:solidFill>
                          <a:latin typeface="Arial"/>
                          <a:ea typeface="Malgun Gothic"/>
                          <a:cs typeface="Malgun Gothic"/>
                        </a:rPr>
                        <a:t> — 시간 탄성 밴드를 따라 장애물을 전방 투영. ⚠️ 기본 브랜치가 </a:t>
                      </a:r>
                      <a:r>
                        <a:rPr sz="800" b="1" i="0">
                          <a:solidFill>
                            <a:srgbClr val="16213A"/>
                          </a:solidFill>
                          <a:latin typeface="Arial"/>
                          <a:ea typeface="Malgun Gothic"/>
                          <a:cs typeface="Malgun Gothic"/>
                        </a:rPr>
                        <a:t>ROS 1</a:t>
                      </a:r>
                      <a:r>
                        <a:rPr sz="800" b="0" i="0">
                          <a:solidFill>
                            <a:srgbClr val="16213A"/>
                          </a:solidFill>
                          <a:latin typeface="Arial"/>
                          <a:ea typeface="Malgun Gothic"/>
                          <a:cs typeface="Malgun Gothic"/>
                        </a:rPr>
                        <a:t>이고 </a:t>
                      </a:r>
                      <a:r>
                        <a:rPr sz="800" b="0" i="0">
                          <a:solidFill>
                            <a:srgbClr val="16213A"/>
                          </a:solidFill>
                          <a:latin typeface="Consolas"/>
                          <a:ea typeface="Malgun Gothic"/>
                          <a:cs typeface="Malgun Gothic"/>
                        </a:rPr>
                        <a:t>ros2-master</a:t>
                      </a:r>
                      <a:r>
                        <a:rPr sz="800" b="0" i="0">
                          <a:solidFill>
                            <a:srgbClr val="16213A"/>
                          </a:solidFill>
                          <a:latin typeface="Arial"/>
                          <a:ea typeface="Malgun Gothic"/>
                          <a:cs typeface="Malgun Gothic"/>
                        </a:rPr>
                        <a:t>는 2024-11</a:t>
                      </a:r>
                    </a:p>
                  </a:txBody>
                  <a:tcPr marL="63500" marR="63500" marT="12700" marB="12700">
                    <a:solidFill>
                      <a:srgbClr val="F3F0E8"/>
                    </a:solidFill>
                  </a:tcPr>
                </a:tc>
              </a:tr>
              <a:tr h="197088">
                <a:tc>
                  <a:txBody>
                    <a:bodyPr wrap="square"/>
                    <a:lstStyle/>
                    <a:p>
                      <a:r>
                        <a:rPr sz="800" b="0" i="0">
                          <a:solidFill>
                            <a:srgbClr val="1D4ED8"/>
                          </a:solidFill>
                          <a:latin typeface="Arial"/>
                          <a:ea typeface="Malgun Gothic"/>
                          <a:cs typeface="Malgun Gothic"/>
                          <a:hlinkClick r:id="rId10"/>
                        </a:rPr>
                        <a:t>navigation2_dynamic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master</a:t>
                      </a:r>
                      <a:r>
                        <a:rPr sz="800" b="0" i="0">
                          <a:solidFill>
                            <a:srgbClr val="16213A"/>
                          </a:solidFill>
                          <a:latin typeface="Arial"/>
                          <a:ea typeface="Malgun Gothic"/>
                          <a:cs typeface="Malgun Gothic"/>
                        </a:rPr>
                        <a:t> </a:t>
                      </a:r>
                      <a:r>
                        <a:rPr sz="800" b="1" i="0">
                          <a:solidFill>
                            <a:srgbClr val="16213A"/>
                          </a:solidFill>
                          <a:latin typeface="Arial"/>
                          <a:ea typeface="Malgun Gothic"/>
                          <a:cs typeface="Malgun Gothic"/>
                        </a:rPr>
                        <a:t>2024-06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속도를 추적하지만 </a:t>
                      </a:r>
                      <a:r>
                        <a:rPr sz="800" b="1" i="0">
                          <a:solidFill>
                            <a:srgbClr val="16213A"/>
                          </a:solidFill>
                          <a:latin typeface="Arial"/>
                          <a:ea typeface="Malgun Gothic"/>
                          <a:cs typeface="Malgun Gothic"/>
                        </a:rPr>
                        <a:t>소비자가 없다.</a:t>
                      </a:r>
                      <a:r>
                        <a:rPr sz="800" b="0" i="0">
                          <a:solidFill>
                            <a:srgbClr val="16213A"/>
                          </a:solidFill>
                          <a:latin typeface="Arial"/>
                          <a:ea typeface="Malgun Gothic"/>
                          <a:cs typeface="Malgun Gothic"/>
                        </a:rPr>
                        <a:t> 정체된 상태</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11"/>
                        </a:rPr>
                        <a:t>CrowdNav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738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master</a:t>
                      </a:r>
                      <a:r>
                        <a:rPr sz="800" b="0" i="0">
                          <a:solidFill>
                            <a:srgbClr val="16213A"/>
                          </a:solidFill>
                          <a:latin typeface="Arial"/>
                          <a:ea typeface="Malgun Gothic"/>
                          <a:cs typeface="Malgun Gothic"/>
                        </a:rPr>
                        <a:t> 2021-10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SARL/CADRL 기준 구현. 휴면이지만 참조 구현</a:t>
                      </a:r>
                    </a:p>
                  </a:txBody>
                  <a:tcPr marL="63500" marR="63500" marT="12700" marB="12700">
                    <a:solidFill>
                      <a:srgbClr val="F3F0E8"/>
                    </a:solidFill>
                  </a:tcPr>
                </a:tc>
              </a:tr>
            </a:tbl>
          </a:graphicData>
        </a:graphic>
      </p:graphicFrame>
      <p:sp>
        <p:nvSpPr>
          <p:cNvPr id="8" name="TextBox 7"/>
          <p:cNvSpPr txBox="1"/>
          <p:nvPr/>
        </p:nvSpPr>
        <p:spPr>
          <a:xfrm>
            <a:off x="609600" y="459323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 검증하지 못한 것</a:t>
            </a:r>
            <a:r>
              <a:rPr sz="1050" b="0" i="0">
                <a:solidFill>
                  <a:srgbClr val="16213A"/>
                </a:solidFill>
                <a:latin typeface="Arial"/>
                <a:ea typeface="Malgun Gothic"/>
                <a:cs typeface="Malgun Gothic"/>
              </a:rPr>
              <a:t>: 학술 소셜 MPPI 계보(체 제약 MPC, 위상 기반 등)의 arXiv ID, 결합 예측-계획 최신 논문들(iLQGames, Trajectron++ 등)의 ID, Starship·Kiwibot·Coco의 기술 자료 일체. </a:t>
            </a:r>
            <a:r>
              <a:rPr sz="1050" b="1" i="0">
                <a:solidFill>
                  <a:srgbClr val="C2410C"/>
                </a:solidFill>
                <a:latin typeface="Arial"/>
                <a:ea typeface="Malgun Gothic"/>
                <a:cs typeface="Malgun Gothic"/>
              </a:rPr>
              <a:t>조사 환경에서 arXiv API와 특허 검색이 막혀 확인하지 못했다 — 인용하기 전에 다시 확인해야 한다.</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인식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예측·World model</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인식 (docs/research-perception.md)    233 / 359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A.6 자율주행 자동차: occupancy flow와 world model</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예측·World model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A.6 자율주행 자동차: occupancy flow와 world model</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234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자동차 쪽은 "지금 무엇이 있는가"(정적 occupancy)를 넘어 </a:t>
            </a:r>
            <a:r>
              <a:rPr sz="1050" b="1" i="0">
                <a:solidFill>
                  <a:srgbClr val="16213A"/>
                </a:solidFill>
                <a:latin typeface="Arial"/>
                <a:ea typeface="Malgun Gothic"/>
                <a:cs typeface="Malgun Gothic"/>
              </a:rPr>
              <a:t>"잠시 뒤 무엇이 어디에 있을까"</a:t>
            </a:r>
            <a:r>
              <a:rPr sz="1050" b="0" i="0">
                <a:solidFill>
                  <a:srgbClr val="16213A"/>
                </a:solidFill>
                <a:latin typeface="Arial"/>
                <a:ea typeface="Malgun Gothic"/>
                <a:cs typeface="Malgun Gothic"/>
              </a:rPr>
              <a:t>를 예측하는 단계로 넘어갔다. 방법은 두 갈래다. 칸마다 움직임을 예측하는 </a:t>
            </a:r>
            <a:r>
              <a:rPr sz="1050" b="1" i="0">
                <a:solidFill>
                  <a:srgbClr val="16213A"/>
                </a:solidFill>
                <a:latin typeface="Arial"/>
                <a:ea typeface="Malgun Gothic"/>
                <a:cs typeface="Malgun Gothic"/>
              </a:rPr>
              <a:t>occupancy flow</a:t>
            </a:r>
            <a:r>
              <a:rPr sz="1050" b="0" i="0">
                <a:solidFill>
                  <a:srgbClr val="16213A"/>
                </a:solidFill>
                <a:latin typeface="Arial"/>
                <a:ea typeface="Malgun Gothic"/>
                <a:cs typeface="Malgun Gothic"/>
              </a:rPr>
              <a:t>와, 장면의 미래 자체를 생성 모델로 만들어 내는 </a:t>
            </a:r>
            <a:r>
              <a:rPr sz="1050" b="1" i="0">
                <a:solidFill>
                  <a:srgbClr val="16213A"/>
                </a:solidFill>
                <a:latin typeface="Arial"/>
                <a:ea typeface="Malgun Gothic"/>
                <a:cs typeface="Malgun Gothic"/>
              </a:rPr>
              <a:t>world model</a:t>
            </a:r>
            <a:r>
              <a:rPr sz="1050" b="0" i="0">
                <a:solidFill>
                  <a:srgbClr val="16213A"/>
                </a:solidFill>
                <a:latin typeface="Arial"/>
                <a:ea typeface="Malgun Gothic"/>
                <a:cs typeface="Malgun Gothic"/>
              </a:rPr>
              <a:t>이다. travplan이 보행자 미래 위치를 예측하는 문제(</a:t>
            </a:r>
            <a:r>
              <a:rPr sz="1050" b="0" i="0">
                <a:solidFill>
                  <a:srgbClr val="16213A"/>
                </a:solidFill>
                <a:latin typeface="Consolas"/>
                <a:ea typeface="Malgun Gothic"/>
                <a:cs typeface="Malgun Gothic"/>
              </a:rPr>
              <a:t>DynamicObstacles</a:t>
            </a:r>
            <a:r>
              <a:rPr sz="1050" b="0" i="0">
                <a:solidFill>
                  <a:srgbClr val="16213A"/>
                </a:solidFill>
                <a:latin typeface="Arial"/>
                <a:ea typeface="Malgun Gothic"/>
                <a:cs typeface="Malgun Gothic"/>
              </a:rPr>
              <a:t>, TP-0012)와 같은 종류라 참고할 가치가 있다. 다만 모두 자동차 멀티카메라 리그를 전제하고 Orin 실측이 없어서, 채택 후보가 아니라 </a:t>
            </a:r>
            <a:r>
              <a:rPr sz="1050" b="1" i="0">
                <a:solidFill>
                  <a:srgbClr val="16213A"/>
                </a:solidFill>
                <a:latin typeface="Arial"/>
                <a:ea typeface="Malgun Gothic"/>
                <a:cs typeface="Malgun Gothic"/>
              </a:rPr>
              <a:t>앞으로 볼 계보</a:t>
            </a:r>
            <a:r>
              <a:rPr sz="1050" b="0" i="0">
                <a:solidFill>
                  <a:srgbClr val="16213A"/>
                </a:solidFill>
                <a:latin typeface="Arial"/>
                <a:ea typeface="Malgun Gothic"/>
                <a:cs typeface="Malgun Gothic"/>
              </a:rPr>
              <a:t>로 둔다.</a:t>
            </a:r>
          </a:p>
        </p:txBody>
      </p:sp>
      <p:sp>
        <p:nvSpPr>
          <p:cNvPr id="6" name="TextBox 5"/>
          <p:cNvSpPr txBox="1"/>
          <p:nvPr/>
        </p:nvSpPr>
        <p:spPr>
          <a:xfrm>
            <a:off x="609600" y="1982986"/>
            <a:ext cx="10972800" cy="1502966"/>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정적 occupancy (A.2, 채택 안 함)            occupancy flow / world model (A.6, 참고)</a:t>
            </a:r>
          </a:p>
          <a:p>
            <a:r>
              <a:rPr sz="750" b="0" i="0">
                <a:solidFill>
                  <a:srgbClr val="F4F1EA"/>
                </a:solidFill>
                <a:latin typeface="Consolas"/>
                <a:ea typeface="Malgun Gothic"/>
                <a:cs typeface="Malgun Gothic"/>
              </a:rPr>
              <a:t>┌──────────┐    ┌──────────┐               ┌──────────┐    ┌────────────┐    ┌──────────────┐</a:t>
            </a:r>
          </a:p>
          <a:p>
            <a:r>
              <a:rPr sz="750" b="0" i="0">
                <a:solidFill>
                  <a:srgbClr val="F4F1EA"/>
                </a:solidFill>
                <a:latin typeface="Consolas"/>
                <a:ea typeface="Malgun Gothic"/>
                <a:cs typeface="Malgun Gothic"/>
              </a:rPr>
              <a:t>│ 현재 센서 │──▶ │ 현재 시점 │               │ 과거 occ  │──▶ │ world model │──▶ │ 미래 occupancy │</a:t>
            </a:r>
          </a:p>
          <a:p>
            <a:r>
              <a:rPr sz="750" b="0" i="0">
                <a:solidFill>
                  <a:srgbClr val="F4F1EA"/>
                </a:solidFill>
                <a:latin typeface="Consolas"/>
                <a:ea typeface="Malgun Gothic"/>
                <a:cs typeface="Malgun Gothic"/>
              </a:rPr>
              <a:t>│ 프레임    │    │ occupancy │               │ 시퀀스    │    │ (자기회귀 /  │    │ + (선택) 자기  │</a:t>
            </a:r>
          </a:p>
          <a:p>
            <a:r>
              <a:rPr sz="750" b="0" i="0">
                <a:solidFill>
                  <a:srgbClr val="F4F1EA"/>
                </a:solidFill>
                <a:latin typeface="Consolas"/>
                <a:ea typeface="Malgun Gothic"/>
                <a:cs typeface="Malgun Gothic"/>
              </a:rPr>
              <a:t>└──────────┘    └──────────┘               └──────────┘    │ diffusion / │    │ 차량 궤적      │</a:t>
            </a:r>
          </a:p>
          <a:p>
            <a:r>
              <a:rPr sz="750" b="0" i="0">
                <a:solidFill>
                  <a:srgbClr val="F4F1EA"/>
                </a:solidFill>
                <a:latin typeface="Consolas"/>
                <a:ea typeface="Malgun Gothic"/>
                <a:cs typeface="Malgun Gothic"/>
              </a:rPr>
              <a:t>                                                           │ 4D 가우시안) │    └──────────────┘</a:t>
            </a:r>
          </a:p>
          <a:p>
            <a:r>
              <a:rPr sz="750" b="0" i="0">
                <a:solidFill>
                  <a:srgbClr val="F4F1EA"/>
                </a:solidFill>
                <a:latin typeface="Consolas"/>
                <a:ea typeface="Malgun Gothic"/>
                <a:cs typeface="Malgun Gothic"/>
              </a:rPr>
              <a:t>                                                           └────────────┘</a:t>
            </a:r>
          </a:p>
          <a:p>
            <a:r>
              <a:rPr sz="750" b="0" i="0">
                <a:solidFill>
                  <a:srgbClr val="F4F1EA"/>
                </a:solidFill>
                <a:latin typeface="Consolas"/>
                <a:ea typeface="Malgun Gothic"/>
                <a:cs typeface="Malgun Gothic"/>
              </a:rPr>
              <a:t>                                   travplan DynamicObstacles와 같은 "미래 위치 예측" 문제다.</a:t>
            </a:r>
          </a:p>
          <a:p>
            <a:r>
              <a:rPr sz="750" b="0" i="0">
                <a:solidFill>
                  <a:srgbClr val="F4F1EA"/>
                </a:solidFill>
                <a:latin typeface="Consolas"/>
                <a:ea typeface="Malgun Gothic"/>
                <a:cs typeface="Malgun Gothic"/>
              </a:rPr>
              <a:t>                                   다만 자동차 world model은 정적·동적 장면 전체를 한 번에 예측한다.</a:t>
            </a:r>
          </a:p>
        </p:txBody>
      </p:sp>
      <p:sp>
        <p:nvSpPr>
          <p:cNvPr id="7" name="TextBox 6"/>
          <p:cNvSpPr txBox="1"/>
          <p:nvPr/>
        </p:nvSpPr>
        <p:spPr>
          <a:xfrm>
            <a:off x="609600" y="357485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world model 계보.</a:t>
            </a:r>
            <a:r>
              <a:rPr sz="1050" b="0" i="0">
                <a:solidFill>
                  <a:srgbClr val="16213A"/>
                </a:solidFill>
                <a:latin typeface="Arial"/>
                <a:ea typeface="Malgun Gothic"/>
                <a:cs typeface="Malgun Gothic"/>
              </a:rPr>
              <a:t> 시작은 </a:t>
            </a:r>
            <a:r>
              <a:rPr sz="1050" b="1" i="0">
                <a:solidFill>
                  <a:srgbClr val="16213A"/>
                </a:solidFill>
                <a:latin typeface="Arial"/>
                <a:ea typeface="Malgun Gothic"/>
                <a:cs typeface="Malgun Gothic"/>
              </a:rPr>
              <a:t>OccWorld</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arXiv:2311.16038</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)다. 과거 occupancy 시퀀스를 이산 장면 토큰으로 바꾸고, transformer가 미래 occupancy와 자기 차량 궤적을 함께 예측한다. 인스턴스나 지도 라벨 없이 학습한다. 뒤이은 연구는 각자 한 가지씩 더했다.</a:t>
            </a:r>
          </a:p>
        </p:txBody>
      </p:sp>
      <p:sp>
        <p:nvSpPr>
          <p:cNvPr id="8" name="TextBox 7"/>
          <p:cNvSpPr txBox="1"/>
          <p:nvPr/>
        </p:nvSpPr>
        <p:spPr>
          <a:xfrm>
            <a:off x="609600" y="4096742"/>
            <a:ext cx="10972800" cy="14005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Drive-OccWorld</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arXiv:2408.14197</a:t>
            </a:r>
            <a:r>
              <a:rPr sz="1050" b="0" i="0">
                <a:solidFill>
                  <a:srgbClr val="16213A"/>
                </a:solidFill>
                <a:latin typeface="Arial"/>
                <a:ea typeface="Malgun Gothic"/>
                <a:cs typeface="Malgun Gothic"/>
              </a:rPr>
              <a:t>, AAAI 2025) — 과거 BEV를 쌓는 메모리와 행동 조건부 생성을 더해, 후보 궤적마다 미래를 그려 보고 가장 안전한 궤적을 고르는 </a:t>
            </a:r>
            <a:r>
              <a:rPr sz="1050" b="1" i="0">
                <a:solidFill>
                  <a:srgbClr val="16213A"/>
                </a:solidFill>
                <a:latin typeface="Arial"/>
                <a:ea typeface="Malgun Gothic"/>
                <a:cs typeface="Malgun Gothic"/>
              </a:rPr>
              <a:t>계획까지</a:t>
            </a:r>
            <a:r>
              <a:rPr sz="1050" b="0" i="0">
                <a:solidFill>
                  <a:srgbClr val="16213A"/>
                </a:solidFill>
                <a:latin typeface="Arial"/>
                <a:ea typeface="Malgun Gothic"/>
                <a:cs typeface="Malgun Gothic"/>
              </a:rPr>
              <a:t> 확장했다.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OccLLaMA</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arXiv:2409.03272</a:t>
            </a:r>
            <a:r>
              <a:rPr sz="1050" b="0" i="0">
                <a:solidFill>
                  <a:srgbClr val="16213A"/>
                </a:solidFill>
                <a:latin typeface="Arial"/>
                <a:ea typeface="Malgun Gothic"/>
                <a:cs typeface="Malgun Gothic"/>
              </a:rPr>
              <a:t>) — occupancy를 언어 토큰처럼 다뤄 LLaMA 구조 하나로 장면 이해·예측·행동을 처리한다.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DFIT-OccWorld</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7"/>
              </a:rPr>
              <a:t>arXiv:2412.13772</a:t>
            </a:r>
            <a:r>
              <a:rPr sz="1050" b="0" i="0">
                <a:solidFill>
                  <a:srgbClr val="16213A"/>
                </a:solidFill>
                <a:latin typeface="Arial"/>
                <a:ea typeface="Malgun Gothic"/>
                <a:cs typeface="Malgun Gothic"/>
              </a:rPr>
              <a:t>) — 동적 flow와 정적 flow를 나누고, 미분 가능 렌더링으로 이미지 보조 학습을 더했다.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GEM</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8"/>
              </a:rPr>
              <a:t>arXiv:2605.17682</a:t>
            </a:r>
            <a:r>
              <a:rPr sz="1050" b="0" i="0">
                <a:solidFill>
                  <a:srgbClr val="16213A"/>
                </a:solidFill>
                <a:latin typeface="Arial"/>
                <a:ea typeface="Malgun Gothic"/>
                <a:cs typeface="Malgun Gothic"/>
              </a:rPr>
              <a:t>, 2026-05) — 한 스텝씩 예측하지 않고, 장면을 </a:t>
            </a:r>
            <a:r>
              <a:rPr sz="1050" b="1" i="0">
                <a:solidFill>
                  <a:srgbClr val="16213A"/>
                </a:solidFill>
                <a:latin typeface="Arial"/>
                <a:ea typeface="Malgun Gothic"/>
                <a:cs typeface="Malgun Gothic"/>
              </a:rPr>
              <a:t>임의 시각에 조회할 수 있는 연속 4D 가우시안</a:t>
            </a:r>
            <a:r>
              <a:rPr sz="1050" b="0" i="0">
                <a:solidFill>
                  <a:srgbClr val="16213A"/>
                </a:solidFill>
                <a:latin typeface="Arial"/>
                <a:ea typeface="Malgun Gothic"/>
                <a:cs typeface="Malgun Gothic"/>
              </a:rPr>
              <a:t>으로 표현한다. 자기회귀의 누적 오차를 구조적으로 피한다.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RiskWorld</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9"/>
              </a:rPr>
              <a:t>arXiv:2609.18442</a:t>
            </a:r>
            <a:r>
              <a:rPr sz="1050" b="0" i="0">
                <a:solidFill>
                  <a:srgbClr val="16213A"/>
                </a:solidFill>
                <a:latin typeface="Arial"/>
                <a:ea typeface="Malgun Gothic"/>
                <a:cs typeface="Malgun Gothic"/>
              </a:rPr>
              <a:t>, 2026-09) — flow로 점유를 옮기는 예측에 위험 지도를 결합하고, </a:t>
            </a:r>
            <a:r>
              <a:rPr sz="1050" b="1" i="0">
                <a:solidFill>
                  <a:srgbClr val="16213A"/>
                </a:solidFill>
                <a:latin typeface="Arial"/>
                <a:ea typeface="Malgun Gothic"/>
                <a:cs typeface="Malgun Gothic"/>
              </a:rPr>
              <a:t>위험할 때만 궤적을 교체</a:t>
            </a:r>
            <a:r>
              <a:rPr sz="1050" b="0" i="0">
                <a:solidFill>
                  <a:srgbClr val="16213A"/>
                </a:solidFill>
                <a:latin typeface="Arial"/>
                <a:ea typeface="Malgun Gothic"/>
                <a:cs typeface="Malgun Gothic"/>
              </a:rPr>
              <a:t>한다. 이 계열에서 유일하게 지연 시간을 보고했다(RTX 4090 11.5 FPS, 파라미터 9,081만 개). 그래도 데스크톱 GPU 기준이다.</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예측·World model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A.6 자율주행 자동차: occupancy flow와 world model</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235 / 359</a:t>
            </a:r>
          </a:p>
        </p:txBody>
      </p:sp>
      <p:pic>
        <p:nvPicPr>
          <p:cNvPr id="5" name="Picture 4" descr="image.jpg"/>
          <p:cNvPicPr>
            <a:picLocks noChangeAspect="1"/>
          </p:cNvPicPr>
          <p:nvPr/>
        </p:nvPicPr>
        <p:blipFill>
          <a:blip r:embed="rId3"/>
          <a:stretch>
            <a:fillRect/>
          </a:stretch>
        </p:blipFill>
        <p:spPr>
          <a:xfrm>
            <a:off x="609600" y="1244600"/>
            <a:ext cx="3556000" cy="1606550"/>
          </a:xfrm>
          <a:prstGeom prst="rect">
            <a:avLst/>
          </a:prstGeom>
        </p:spPr>
      </p:pic>
      <p:sp>
        <p:nvSpPr>
          <p:cNvPr id="6" name="TextBox 5"/>
          <p:cNvSpPr txBox="1"/>
          <p:nvPr/>
        </p:nvSpPr>
        <p:spPr>
          <a:xfrm>
            <a:off x="609600" y="288925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OccWorld (Fig. 2): 과거 occupancy를 토큰으로 바꿔 GPT처럼 다음 장면과 자기 차량 경로를 함께 예측하는 구조. 출처: arXiv:2311.16038</a:t>
            </a:r>
          </a:p>
        </p:txBody>
      </p:sp>
      <p:pic>
        <p:nvPicPr>
          <p:cNvPr id="7" name="Picture 6" descr="image.jpg"/>
          <p:cNvPicPr>
            <a:picLocks noChangeAspect="1"/>
          </p:cNvPicPr>
          <p:nvPr/>
        </p:nvPicPr>
        <p:blipFill>
          <a:blip r:embed="rId4"/>
          <a:stretch>
            <a:fillRect/>
          </a:stretch>
        </p:blipFill>
        <p:spPr>
          <a:xfrm>
            <a:off x="4318000" y="1244600"/>
            <a:ext cx="3556000" cy="1447800"/>
          </a:xfrm>
          <a:prstGeom prst="rect">
            <a:avLst/>
          </a:prstGeom>
        </p:spPr>
      </p:pic>
      <p:sp>
        <p:nvSpPr>
          <p:cNvPr id="8" name="TextBox 7"/>
          <p:cNvSpPr txBox="1"/>
          <p:nvPr/>
        </p:nvSpPr>
        <p:spPr>
          <a:xfrm>
            <a:off x="4318000" y="27305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Drive-OccWorld (Fig. 1): 관측과 후보 궤적을 넣으면 미래 4D occupancy를 생성하고, 그 예측으로 가장 안전한 궤적을 고른다. 출처: arXiv:2408.14197</a:t>
            </a:r>
          </a:p>
        </p:txBody>
      </p:sp>
      <p:pic>
        <p:nvPicPr>
          <p:cNvPr id="9" name="Picture 8" descr="image.jpg"/>
          <p:cNvPicPr>
            <a:picLocks noChangeAspect="1"/>
          </p:cNvPicPr>
          <p:nvPr/>
        </p:nvPicPr>
        <p:blipFill>
          <a:blip r:embed="rId5"/>
          <a:stretch>
            <a:fillRect/>
          </a:stretch>
        </p:blipFill>
        <p:spPr>
          <a:xfrm>
            <a:off x="8026400" y="1244600"/>
            <a:ext cx="3556000" cy="1905000"/>
          </a:xfrm>
          <a:prstGeom prst="rect">
            <a:avLst/>
          </a:prstGeom>
        </p:spPr>
      </p:pic>
      <p:sp>
        <p:nvSpPr>
          <p:cNvPr id="10" name="TextBox 9"/>
          <p:cNvSpPr txBox="1"/>
          <p:nvPr/>
        </p:nvSpPr>
        <p:spPr>
          <a:xfrm>
            <a:off x="8026400" y="31877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OccLLaMA (Fig. 1): occupancy를 언어 토큰처럼 다뤄 장면 이해·예측·행동을 하나의 언어모델로 처리. 출처: arXiv:2409.03272</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예측·World model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A.6 자율주행 자동차: occupancy flow와 world model</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236 / 359</a:t>
            </a:r>
          </a:p>
        </p:txBody>
      </p:sp>
      <p:pic>
        <p:nvPicPr>
          <p:cNvPr id="5" name="Picture 4" descr="image.jpg"/>
          <p:cNvPicPr>
            <a:picLocks noChangeAspect="1"/>
          </p:cNvPicPr>
          <p:nvPr/>
        </p:nvPicPr>
        <p:blipFill>
          <a:blip r:embed="rId3"/>
          <a:stretch>
            <a:fillRect/>
          </a:stretch>
        </p:blipFill>
        <p:spPr>
          <a:xfrm>
            <a:off x="609600" y="1244600"/>
            <a:ext cx="2813050" cy="2667000"/>
          </a:xfrm>
          <a:prstGeom prst="rect">
            <a:avLst/>
          </a:prstGeom>
        </p:spPr>
      </p:pic>
      <p:sp>
        <p:nvSpPr>
          <p:cNvPr id="6" name="TextBox 5"/>
          <p:cNvSpPr txBox="1"/>
          <p:nvPr/>
        </p:nvSpPr>
        <p:spPr>
          <a:xfrm>
            <a:off x="609600" y="39497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DFIT-OccWorld (Fig. 1): 기존 2단계·자기회귀 방식(위)과 달리 한 번에 미래 occupancy를 워핑·보정하는 방식(아래) 비교. 출처: arXiv:2412.13772</a:t>
            </a:r>
          </a:p>
        </p:txBody>
      </p:sp>
      <p:pic>
        <p:nvPicPr>
          <p:cNvPr id="7" name="Picture 6" descr="image.jpg"/>
          <p:cNvPicPr>
            <a:picLocks noChangeAspect="1"/>
          </p:cNvPicPr>
          <p:nvPr/>
        </p:nvPicPr>
        <p:blipFill>
          <a:blip r:embed="rId4"/>
          <a:stretch>
            <a:fillRect/>
          </a:stretch>
        </p:blipFill>
        <p:spPr>
          <a:xfrm>
            <a:off x="4318000" y="1244600"/>
            <a:ext cx="3556000" cy="2127250"/>
          </a:xfrm>
          <a:prstGeom prst="rect">
            <a:avLst/>
          </a:prstGeom>
        </p:spPr>
      </p:pic>
      <p:sp>
        <p:nvSpPr>
          <p:cNvPr id="8" name="TextBox 7"/>
          <p:cNvSpPr txBox="1"/>
          <p:nvPr/>
        </p:nvSpPr>
        <p:spPr>
          <a:xfrm>
            <a:off x="4318000" y="340995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GEM (Fig. 1): 칸(복셀) 단위로 한 스텝씩 예측하는 방식 대신, 연속 4D 가우시안으로 원하는 시각을 바로 조회한다. 출처: arXiv:2605.17682</a:t>
            </a:r>
          </a:p>
        </p:txBody>
      </p:sp>
      <p:pic>
        <p:nvPicPr>
          <p:cNvPr id="9" name="Picture 8" descr="image.jpg"/>
          <p:cNvPicPr>
            <a:picLocks noChangeAspect="1"/>
          </p:cNvPicPr>
          <p:nvPr/>
        </p:nvPicPr>
        <p:blipFill>
          <a:blip r:embed="rId5"/>
          <a:stretch>
            <a:fillRect/>
          </a:stretch>
        </p:blipFill>
        <p:spPr>
          <a:xfrm>
            <a:off x="8026400" y="1244600"/>
            <a:ext cx="3556000" cy="2501900"/>
          </a:xfrm>
          <a:prstGeom prst="rect">
            <a:avLst/>
          </a:prstGeom>
        </p:spPr>
      </p:pic>
      <p:sp>
        <p:nvSpPr>
          <p:cNvPr id="10" name="TextBox 9"/>
          <p:cNvSpPr txBox="1"/>
          <p:nvPr/>
        </p:nvSpPr>
        <p:spPr>
          <a:xfrm>
            <a:off x="8026400" y="37846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RiskWorld (Fig. 1): 위험 이력·장면·BEV 특징을 합쳐 후보 궤적을 평가하고, 위험할 때만 궤적을 교체하는 구조. 출처: arXiv:2609.18442</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예측·World model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A.6 자율주행 자동차: occupancy flow와 world model</a:t>
            </a:r>
            <a:r>
              <a:rPr sz="1050" b="0" i="0">
                <a:solidFill>
                  <a:srgbClr val="5A6478"/>
                </a:solidFill>
                <a:latin typeface="Arial"/>
                <a:ea typeface="Malgun Gothic"/>
                <a:cs typeface="Malgun Gothic"/>
              </a:rPr>
              <a:t>  자세히: OccWorld의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237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문제 정의.</a:t>
            </a:r>
            <a:r>
              <a:rPr sz="1050" b="0" i="0">
                <a:solidFill>
                  <a:srgbClr val="16213A"/>
                </a:solidFill>
                <a:latin typeface="Arial"/>
                <a:ea typeface="Malgun Gothic"/>
                <a:cs typeface="Malgun Gothic"/>
              </a:rPr>
              <a:t> 자율주행 모델은 과거 센서 입력과 자기 위치로 미래 자기 위치를 낸다. world model </a:t>
            </a:r>
            <a:r>
              <a:rPr sz="1050" b="0" i="1">
                <a:solidFill>
                  <a:srgbClr val="16213A"/>
                </a:solidFill>
                <a:latin typeface="Arial"/>
                <a:ea typeface="Malgun Gothic"/>
                <a:cs typeface="Malgun Gothic"/>
              </a:rPr>
              <a:t>w</a:t>
            </a:r>
            <a:r>
              <a:rPr sz="1050" b="0" i="0">
                <a:solidFill>
                  <a:srgbClr val="16213A"/>
                </a:solidFill>
                <a:latin typeface="Arial"/>
                <a:ea typeface="Malgun Gothic"/>
                <a:cs typeface="Malgun Gothic"/>
              </a:rPr>
              <a:t>는 여기서 한 걸음 나아가 </a:t>
            </a:r>
            <a:r>
              <a:rPr sz="1050" b="1" i="0">
                <a:solidFill>
                  <a:srgbClr val="16213A"/>
                </a:solidFill>
                <a:latin typeface="Arial"/>
                <a:ea typeface="Malgun Gothic"/>
                <a:cs typeface="Malgun Gothic"/>
              </a:rPr>
              <a:t>장면과 자기 위치를 함께</a:t>
            </a:r>
            <a:r>
              <a:rPr sz="1050" b="0" i="0">
                <a:solidFill>
                  <a:srgbClr val="16213A"/>
                </a:solidFill>
                <a:latin typeface="Arial"/>
                <a:ea typeface="Malgun Gothic"/>
                <a:cs typeface="Malgun Gothic"/>
              </a:rPr>
              <a:t> 다음 시각으로 넘긴다.</a:t>
            </a:r>
          </a:p>
        </p:txBody>
      </p:sp>
      <p:pic>
        <p:nvPicPr>
          <p:cNvPr id="6" name="Picture 5" descr="image.png"/>
          <p:cNvPicPr>
            <a:picLocks noChangeAspect="1"/>
          </p:cNvPicPr>
          <p:nvPr/>
        </p:nvPicPr>
        <p:blipFill>
          <a:blip r:embed="rId3"/>
          <a:stretch>
            <a:fillRect/>
          </a:stretch>
        </p:blipFill>
        <p:spPr>
          <a:xfrm>
            <a:off x="609600" y="1549995"/>
            <a:ext cx="1857375" cy="241300"/>
          </a:xfrm>
          <a:prstGeom prst="rect">
            <a:avLst/>
          </a:prstGeom>
        </p:spPr>
      </p:pic>
      <p:sp>
        <p:nvSpPr>
          <p:cNvPr id="7" name="TextBox 6"/>
          <p:cNvSpPr txBox="1"/>
          <p:nvPr/>
        </p:nvSpPr>
        <p:spPr>
          <a:xfrm>
            <a:off x="609600" y="182751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 한 시각의 "세계 토큰" 집합 = 장면 토큰 + 자기 차량 토큰.)</a:t>
            </a:r>
          </a:p>
        </p:txBody>
      </p:sp>
      <p:sp>
        <p:nvSpPr>
          <p:cNvPr id="8" name="TextBox 7"/>
          <p:cNvSpPr txBox="1"/>
          <p:nvPr/>
        </p:nvSpPr>
        <p:spPr>
          <a:xfrm>
            <a:off x="609600" y="213290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장면 토크나이저(배경 0.14 VQ-VAE).</a:t>
            </a:r>
            <a:r>
              <a:rPr sz="1050" b="0" i="0">
                <a:solidFill>
                  <a:srgbClr val="16213A"/>
                </a:solidFill>
                <a:latin typeface="Arial"/>
                <a:ea typeface="Malgun Gothic"/>
                <a:cs typeface="Malgun Gothic"/>
              </a:rPr>
              <a:t> 3D occupancy </a:t>
            </a:r>
            <a:r>
              <a:rPr sz="1050" b="0" i="1">
                <a:solidFill>
                  <a:srgbClr val="16213A"/>
                </a:solidFill>
                <a:latin typeface="Arial"/>
                <a:ea typeface="Malgun Gothic"/>
                <a:cs typeface="Malgun Gothic"/>
              </a:rPr>
              <a:t>y ∈ ℝ^(H × W × D)</a:t>
            </a:r>
            <a:r>
              <a:rPr sz="1050" b="0" i="0">
                <a:solidFill>
                  <a:srgbClr val="16213A"/>
                </a:solidFill>
                <a:latin typeface="Arial"/>
                <a:ea typeface="Malgun Gothic"/>
                <a:cs typeface="Malgun Gothic"/>
              </a:rPr>
              <a:t>의 클래스마다 학습 가능한 임베딩을 주고 높이축으로 이어 붙여 BEV로 만든다. 2D 합성곱으로 줄인 특징을 codebook의 가장 가까운 벡터로 바꾸면 이산 토큰이 된다.</a:t>
            </a:r>
          </a:p>
        </p:txBody>
      </p:sp>
      <p:pic>
        <p:nvPicPr>
          <p:cNvPr id="9" name="Picture 8" descr="image.png"/>
          <p:cNvPicPr>
            <a:picLocks noChangeAspect="1"/>
          </p:cNvPicPr>
          <p:nvPr/>
        </p:nvPicPr>
        <p:blipFill>
          <a:blip r:embed="rId4"/>
          <a:stretch>
            <a:fillRect/>
          </a:stretch>
        </p:blipFill>
        <p:spPr>
          <a:xfrm>
            <a:off x="609600" y="2654796"/>
            <a:ext cx="2613025" cy="304800"/>
          </a:xfrm>
          <a:prstGeom prst="rect">
            <a:avLst/>
          </a:prstGeom>
        </p:spPr>
      </p:pic>
      <p:sp>
        <p:nvSpPr>
          <p:cNvPr id="10" name="TextBox 9"/>
          <p:cNvSpPr txBox="1"/>
          <p:nvPr/>
        </p:nvSpPr>
        <p:spPr>
          <a:xfrm>
            <a:off x="609600" y="298727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시공간 생성 transformer.</a:t>
            </a:r>
            <a:r>
              <a:rPr sz="1050" b="0" i="0">
                <a:solidFill>
                  <a:srgbClr val="16213A"/>
                </a:solidFill>
                <a:latin typeface="Arial"/>
                <a:ea typeface="Malgun Gothic"/>
                <a:cs typeface="Malgun Gothic"/>
              </a:rPr>
              <a:t> GPT는 토큰을 하나씩 내지만, 장면은 한 시각에 토큰이 수백 개다. 그래서 같은 시각 안의 토큰은 공간 attention으로 묶고, 시각 사이는 인과적 attention으로 이어 </a:t>
            </a:r>
            <a:r>
              <a:rPr sz="1050" b="1" i="0">
                <a:solidFill>
                  <a:srgbClr val="16213A"/>
                </a:solidFill>
                <a:latin typeface="Arial"/>
                <a:ea typeface="Malgun Gothic"/>
                <a:cs typeface="Malgun Gothic"/>
              </a:rPr>
              <a:t>다음 시각의 토큰 집합 전체</a:t>
            </a:r>
            <a:r>
              <a:rPr sz="1050" b="0" i="0">
                <a:solidFill>
                  <a:srgbClr val="16213A"/>
                </a:solidFill>
                <a:latin typeface="Arial"/>
                <a:ea typeface="Malgun Gothic"/>
                <a:cs typeface="Malgun Gothic"/>
              </a:rPr>
              <a:t>를 한 번에 예측한다.</a:t>
            </a:r>
          </a:p>
        </p:txBody>
      </p:sp>
      <p:sp>
        <p:nvSpPr>
          <p:cNvPr id="11" name="TextBox 10"/>
          <p:cNvSpPr txBox="1"/>
          <p:nvPr/>
        </p:nvSpPr>
        <p:spPr>
          <a:xfrm>
            <a:off x="609600" y="350916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인스턴스·지도 라벨 없이 occupancy 시퀀스만으로 학습한다는 점이 핵심이다. travplan도 보행자 박스 없이 "TravMap 시퀀스의 다음 프레임"을 예측하는 방식으로 동적 장애물을 다룰 수 있다(TP-0012의 대안 경로).</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예측·World model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A.6 자율주행 자동차: occupancy flow와 world model</a:t>
            </a:r>
            <a:r>
              <a:rPr sz="1050" b="0" i="0">
                <a:solidFill>
                  <a:srgbClr val="5A6478"/>
                </a:solidFill>
                <a:latin typeface="Arial"/>
                <a:ea typeface="Malgun Gothic"/>
                <a:cs typeface="Malgun Gothic"/>
              </a:rPr>
              <a:t>  자세히: Drive-OccWorld의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238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세 구성.</a:t>
            </a:r>
            <a:r>
              <a:rPr sz="1050" b="0" i="0">
                <a:solidFill>
                  <a:srgbClr val="16213A"/>
                </a:solidFill>
                <a:latin typeface="Arial"/>
                <a:ea typeface="Malgun Gothic"/>
                <a:cs typeface="Malgun Gothic"/>
              </a:rPr>
              <a:t> ① 이력 인코더(BEVFormer 계열)가 과거 카메라 영상을 BEV 특징으로 바꾼다. ② 메모리 큐가 과거 BEV를 쌓는다. ③ world decoder가 미래 occupancy와 flow를 예측한다.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조건부 정규화.</a:t>
            </a:r>
            <a:r>
              <a:rPr sz="1050" b="0" i="0">
                <a:solidFill>
                  <a:srgbClr val="16213A"/>
                </a:solidFill>
                <a:latin typeface="Arial"/>
                <a:ea typeface="Malgun Gothic"/>
                <a:cs typeface="Malgun Gothic"/>
              </a:rPr>
              <a:t> 쌓은 BEV에 의미·움직임 정보를 넣는 방법이 간단하다. affine 없는 LayerNorm 뒤에, 의미·움직임 라벨로부터 만든 scale과 shift를 곱하고 더한다.</a:t>
            </a:r>
          </a:p>
        </p:txBody>
      </p:sp>
      <p:pic>
        <p:nvPicPr>
          <p:cNvPr id="7" name="Picture 6" descr="image.png"/>
          <p:cNvPicPr>
            <a:picLocks noChangeAspect="1"/>
          </p:cNvPicPr>
          <p:nvPr/>
        </p:nvPicPr>
        <p:blipFill>
          <a:blip r:embed="rId3"/>
          <a:stretch>
            <a:fillRect/>
          </a:stretch>
        </p:blipFill>
        <p:spPr>
          <a:xfrm>
            <a:off x="609600" y="1855391"/>
            <a:ext cx="2527300" cy="244475"/>
          </a:xfrm>
          <a:prstGeom prst="rect">
            <a:avLst/>
          </a:prstGeom>
        </p:spPr>
      </p:pic>
      <p:sp>
        <p:nvSpPr>
          <p:cNvPr id="8" name="TextBox 7"/>
          <p:cNvSpPr txBox="1"/>
          <p:nvPr/>
        </p:nvSpPr>
        <p:spPr>
          <a:xfrm>
            <a:off x="609600" y="213449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행동 조건부 생성.</a:t>
            </a:r>
            <a:r>
              <a:rPr sz="1050" b="0" i="0">
                <a:solidFill>
                  <a:srgbClr val="16213A"/>
                </a:solidFill>
                <a:latin typeface="Arial"/>
                <a:ea typeface="Malgun Gothic"/>
                <a:cs typeface="Malgun Gothic"/>
              </a:rPr>
              <a:t> 속도 </a:t>
            </a:r>
            <a:r>
              <a:rPr sz="1050" b="0" i="1">
                <a:solidFill>
                  <a:srgbClr val="16213A"/>
                </a:solidFill>
                <a:latin typeface="Arial"/>
                <a:ea typeface="Malgun Gothic"/>
                <a:cs typeface="Malgun Gothic"/>
              </a:rPr>
              <a:t>(vₓ, v_y)</a:t>
            </a:r>
            <a:r>
              <a:rPr sz="1050" b="0" i="0">
                <a:solidFill>
                  <a:srgbClr val="16213A"/>
                </a:solidFill>
                <a:latin typeface="Arial"/>
                <a:ea typeface="Malgun Gothic"/>
                <a:cs typeface="Malgun Gothic"/>
              </a:rPr>
              <a:t>, 조향(곡률 </a:t>
            </a:r>
            <a:r>
              <a:rPr sz="1050" b="0" i="1">
                <a:solidFill>
                  <a:srgbClr val="16213A"/>
                </a:solidFill>
                <a:latin typeface="Arial"/>
                <a:ea typeface="Malgun Gothic"/>
                <a:cs typeface="Malgun Gothic"/>
              </a:rPr>
              <a:t>m⁻¹</a:t>
            </a:r>
            <a:r>
              <a:rPr sz="1050" b="0" i="0">
                <a:solidFill>
                  <a:srgbClr val="16213A"/>
                </a:solidFill>
                <a:latin typeface="Arial"/>
                <a:ea typeface="Malgun Gothic"/>
                <a:cs typeface="Malgun Gothic"/>
              </a:rPr>
              <a:t>), 궤적 </a:t>
            </a:r>
            <a:r>
              <a:rPr sz="1050" b="0" i="1">
                <a:solidFill>
                  <a:srgbClr val="16213A"/>
                </a:solidFill>
                <a:latin typeface="Arial"/>
                <a:ea typeface="Malgun Gothic"/>
                <a:cs typeface="Malgun Gothic"/>
              </a:rPr>
              <a:t>(Δ x, Δ y)</a:t>
            </a:r>
            <a:r>
              <a:rPr sz="1050" b="0" i="0">
                <a:solidFill>
                  <a:srgbClr val="16213A"/>
                </a:solidFill>
                <a:latin typeface="Arial"/>
                <a:ea typeface="Malgun Gothic"/>
                <a:cs typeface="Malgun Gothic"/>
              </a:rPr>
              <a:t>, 고수준 명령을 Fourier 임베딩해 cross-attention으로 넣는다. "이렇게 움직이면 세상이 어떻게 보일까"를 물을 수 있다.</a:t>
            </a:r>
          </a:p>
        </p:txBody>
      </p:sp>
      <p:sp>
        <p:nvSpPr>
          <p:cNvPr id="9" name="TextBox 8"/>
          <p:cNvSpPr txBox="1"/>
          <p:nvPr/>
        </p:nvSpPr>
        <p:spPr>
          <a:xfrm>
            <a:off x="609600" y="243988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계획.</a:t>
            </a:r>
            <a:r>
              <a:rPr sz="1050" b="0" i="0">
                <a:solidFill>
                  <a:srgbClr val="16213A"/>
                </a:solidFill>
                <a:latin typeface="Arial"/>
                <a:ea typeface="Malgun Gothic"/>
                <a:cs typeface="Malgun Gothic"/>
              </a:rPr>
              <a:t> 후보 궤적마다 미래 occupancy를 그리고, occupancy 기반 비용(충돌·차선·거리 등 여러 항의 합)으로 평가해 가장 낮은 궤적을 고른 뒤, BEV 특징으로 다듬는다(ST-P3 방식).</a:t>
            </a:r>
          </a:p>
        </p:txBody>
      </p:sp>
      <p:sp>
        <p:nvSpPr>
          <p:cNvPr id="10" name="TextBox 9"/>
          <p:cNvSpPr txBox="1"/>
          <p:nvPr/>
        </p:nvSpPr>
        <p:spPr>
          <a:xfrm>
            <a:off x="609600" y="274528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후보 궤적마다 미래를 그려 보고 비용으로 고르는 구조</a:t>
            </a:r>
            <a:r>
              <a:rPr sz="1050" b="0" i="0">
                <a:solidFill>
                  <a:srgbClr val="16213A"/>
                </a:solidFill>
                <a:latin typeface="Arial"/>
                <a:ea typeface="Malgun Gothic"/>
                <a:cs typeface="Malgun Gothic"/>
              </a:rPr>
              <a:t>는 Planner D의 "후보 샘플 → 선택기" 구조와 같다. 선택기가 보는 지도를 "현재 TravMap"에서 "행동 조건부 미래 지도"로 바꾸는 확장 경로를 보여 준다.</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예측·World model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A.6 자율주행 자동차: occupancy flow와 world model</a:t>
            </a:r>
            <a:r>
              <a:rPr sz="1050" b="0" i="0">
                <a:solidFill>
                  <a:srgbClr val="5A6478"/>
                </a:solidFill>
                <a:latin typeface="Arial"/>
                <a:ea typeface="Malgun Gothic"/>
                <a:cs typeface="Malgun Gothic"/>
              </a:rPr>
              <a:t>  자세히: OccLLaMA의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239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희소 장면 토크나이저.</a:t>
            </a:r>
            <a:r>
              <a:rPr sz="1050" b="0" i="0">
                <a:solidFill>
                  <a:srgbClr val="16213A"/>
                </a:solidFill>
                <a:latin typeface="Arial"/>
                <a:ea typeface="Malgun Gothic"/>
                <a:cs typeface="Malgun Gothic"/>
              </a:rPr>
              <a:t> occupancy의 약 90%는 빈 공간이다. 빈 voxel을 버리고, BEV 기둥마다 남은 voxel을 (높이, 라벨) 점들의 집합으로 본다. PointPillars식 기둥 임베딩 + Swin 블록으로 BEV 특징을 만든 뒤 VQ로 이산화한다. 빈 칸과 의미 클래스를 따로 복원해 불균형을 줄인다.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통합 어휘.</a:t>
            </a:r>
            <a:r>
              <a:rPr sz="1050" b="0" i="0">
                <a:solidFill>
                  <a:srgbClr val="16213A"/>
                </a:solidFill>
                <a:latin typeface="Arial"/>
                <a:ea typeface="Malgun Gothic"/>
                <a:cs typeface="Malgun Gothic"/>
              </a:rPr>
              <a:t> 장면 토큰 어휘 </a:t>
            </a:r>
            <a:r>
              <a:rPr sz="1050" b="0" i="1">
                <a:solidFill>
                  <a:srgbClr val="16213A"/>
                </a:solidFill>
                <a:latin typeface="Arial"/>
                <a:ea typeface="Malgun Gothic"/>
                <a:cs typeface="Malgun Gothic"/>
              </a:rPr>
              <a:t>Vₛ</a:t>
            </a:r>
            <a:r>
              <a:rPr sz="1050" b="0" i="0">
                <a:solidFill>
                  <a:srgbClr val="16213A"/>
                </a:solidFill>
                <a:latin typeface="Arial"/>
                <a:ea typeface="Malgun Gothic"/>
                <a:cs typeface="Malgun Gothic"/>
              </a:rPr>
              <a:t>, 언어 어휘 </a:t>
            </a:r>
            <a:r>
              <a:rPr sz="1050" b="0" i="1">
                <a:solidFill>
                  <a:srgbClr val="16213A"/>
                </a:solidFill>
                <a:latin typeface="Arial"/>
                <a:ea typeface="Malgun Gothic"/>
                <a:cs typeface="Malgun Gothic"/>
              </a:rPr>
              <a:t>Vₜ</a:t>
            </a:r>
            <a:r>
              <a:rPr sz="1050" b="0" i="0">
                <a:solidFill>
                  <a:srgbClr val="16213A"/>
                </a:solidFill>
                <a:latin typeface="Arial"/>
                <a:ea typeface="Malgun Gothic"/>
                <a:cs typeface="Malgun Gothic"/>
              </a:rPr>
              <a:t>, 행동 어휘 </a:t>
            </a:r>
            <a:r>
              <a:rPr sz="1050" b="0" i="1">
                <a:solidFill>
                  <a:srgbClr val="16213A"/>
                </a:solidFill>
                <a:latin typeface="Arial"/>
                <a:ea typeface="Malgun Gothic"/>
                <a:cs typeface="Malgun Gothic"/>
              </a:rPr>
              <a:t>Vₐ</a:t>
            </a:r>
            <a:r>
              <a:rPr sz="1050" b="0" i="0">
                <a:solidFill>
                  <a:srgbClr val="16213A"/>
                </a:solidFill>
                <a:latin typeface="Arial"/>
                <a:ea typeface="Malgun Gothic"/>
                <a:cs typeface="Malgun Gothic"/>
              </a:rPr>
              <a:t>(웨이포인트 좌표를 구간으로 나눈 것), 경계 토큰(</a:t>
            </a:r>
            <a:r>
              <a:rPr sz="1050" b="0" i="0">
                <a:solidFill>
                  <a:srgbClr val="16213A"/>
                </a:solidFill>
                <a:latin typeface="Consolas"/>
                <a:ea typeface="Malgun Gothic"/>
                <a:cs typeface="Malgun Gothic"/>
              </a:rPr>
              <a:t>&lt;occ&gt;</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&lt;act&gt;</a:t>
            </a:r>
            <a:r>
              <a:rPr sz="1050" b="0" i="0">
                <a:solidFill>
                  <a:srgbClr val="16213A"/>
                </a:solidFill>
                <a:latin typeface="Arial"/>
                <a:ea typeface="Malgun Gothic"/>
                <a:cs typeface="Malgun Gothic"/>
              </a:rPr>
              <a:t> 등)을 합쳐 하나의 어휘로 만든다.</a:t>
            </a:r>
          </a:p>
        </p:txBody>
      </p:sp>
      <p:pic>
        <p:nvPicPr>
          <p:cNvPr id="7" name="Picture 6" descr="image.png"/>
          <p:cNvPicPr>
            <a:picLocks noChangeAspect="1"/>
          </p:cNvPicPr>
          <p:nvPr/>
        </p:nvPicPr>
        <p:blipFill>
          <a:blip r:embed="rId3"/>
          <a:stretch>
            <a:fillRect/>
          </a:stretch>
        </p:blipFill>
        <p:spPr>
          <a:xfrm>
            <a:off x="609600" y="2071886"/>
            <a:ext cx="1590675" cy="241300"/>
          </a:xfrm>
          <a:prstGeom prst="rect">
            <a:avLst/>
          </a:prstGeom>
        </p:spPr>
      </p:pic>
      <p:sp>
        <p:nvSpPr>
          <p:cNvPr id="8" name="TextBox 7"/>
          <p:cNvSpPr txBox="1"/>
          <p:nvPr/>
        </p:nvSpPr>
        <p:spPr>
          <a:xfrm>
            <a:off x="609600" y="235029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LLaMA 하나가 이 어휘 위에서 다음 토큰을 예측하므로, </a:t>
            </a:r>
            <a:r>
              <a:rPr sz="1050" b="1" i="0">
                <a:solidFill>
                  <a:srgbClr val="16213A"/>
                </a:solidFill>
                <a:latin typeface="Arial"/>
                <a:ea typeface="Malgun Gothic"/>
                <a:cs typeface="Malgun Gothic"/>
              </a:rPr>
              <a:t>장면 예측·질의응답·계획</a:t>
            </a:r>
            <a:r>
              <a:rPr sz="1050" b="0" i="0">
                <a:solidFill>
                  <a:srgbClr val="16213A"/>
                </a:solidFill>
                <a:latin typeface="Arial"/>
                <a:ea typeface="Malgun Gothic"/>
                <a:cs typeface="Malgun Gothic"/>
              </a:rPr>
              <a:t>이 같은 모델의 서로 다른 프롬프트가 된다.</a:t>
            </a:r>
          </a:p>
        </p:txBody>
      </p:sp>
      <p:sp>
        <p:nvSpPr>
          <p:cNvPr id="9" name="TextBox 8"/>
          <p:cNvSpPr txBox="1"/>
          <p:nvPr/>
        </p:nvSpPr>
        <p:spPr>
          <a:xfrm>
            <a:off x="609600" y="265568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당장 쓸 구조는 아니다. 다만 "웨이포인트를 구간 토큰으로 바꾸는" 행동 이산화는 Planner를 언어 모델 계열로 확장할 때의 표준적인 선택지다.</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예측·World model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A.6 자율주행 자동차: occupancy flow와 world model</a:t>
            </a:r>
            <a:r>
              <a:rPr sz="1050" b="0" i="0">
                <a:solidFill>
                  <a:srgbClr val="5A6478"/>
                </a:solidFill>
                <a:latin typeface="Arial"/>
                <a:ea typeface="Malgun Gothic"/>
                <a:cs typeface="Malgun Gothic"/>
              </a:rPr>
              <a:t>  자세히: DFIT-OccWorld의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240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문제 재정의.</a:t>
            </a:r>
            <a:r>
              <a:rPr sz="1050" b="0" i="0">
                <a:solidFill>
                  <a:srgbClr val="16213A"/>
                </a:solidFill>
                <a:latin typeface="Arial"/>
                <a:ea typeface="Malgun Gothic"/>
                <a:cs typeface="Malgun Gothic"/>
              </a:rPr>
              <a:t> OccWorld 계열은 미래 장면 전체를 새로 만들어 낸다. DFIT은 "대부분의 장면은 그대로거나 자기 차량 움직임만큼 옮겨질 뿐"이라는 점에 주목해, 미래를 </a:t>
            </a:r>
            <a:r>
              <a:rPr sz="1050" b="1" i="0">
                <a:solidFill>
                  <a:srgbClr val="16213A"/>
                </a:solidFill>
                <a:latin typeface="Arial"/>
                <a:ea typeface="Malgun Gothic"/>
                <a:cs typeface="Malgun Gothic"/>
              </a:rPr>
              <a:t>현재 occupancy를 flow로 옮긴 것 + 작은 보정</a:t>
            </a:r>
            <a:r>
              <a:rPr sz="1050" b="0" i="0">
                <a:solidFill>
                  <a:srgbClr val="16213A"/>
                </a:solidFill>
                <a:latin typeface="Arial"/>
                <a:ea typeface="Malgun Gothic"/>
                <a:cs typeface="Malgun Gothic"/>
              </a:rPr>
              <a:t>으로 예측한다.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분리된 동적 flow.</a:t>
            </a:r>
            <a:r>
              <a:rPr sz="1050" b="0" i="0">
                <a:solidFill>
                  <a:srgbClr val="16213A"/>
                </a:solidFill>
                <a:latin typeface="Arial"/>
                <a:ea typeface="Malgun Gothic"/>
                <a:cs typeface="Malgun Gothic"/>
              </a:rPr>
              <a:t> 정적 부분은 자기 차량의 자세 변화로 정확히 옮길 수 있다. 네트워크는 </a:t>
            </a:r>
            <a:r>
              <a:rPr sz="1050" b="1" i="0">
                <a:solidFill>
                  <a:srgbClr val="16213A"/>
                </a:solidFill>
                <a:latin typeface="Arial"/>
                <a:ea typeface="Malgun Gothic"/>
                <a:cs typeface="Malgun Gothic"/>
              </a:rPr>
              <a:t>동적 물체의 flow만</a:t>
            </a:r>
            <a:r>
              <a:rPr sz="1050" b="0" i="0">
                <a:solidFill>
                  <a:srgbClr val="16213A"/>
                </a:solidFill>
                <a:latin typeface="Arial"/>
                <a:ea typeface="Malgun Gothic"/>
                <a:cs typeface="Malgun Gothic"/>
              </a:rPr>
              <a:t> 예측하면 된다. 예측 문제가 훨씬 쉬워진다.</a:t>
            </a:r>
          </a:p>
        </p:txBody>
      </p:sp>
      <p:sp>
        <p:nvSpPr>
          <p:cNvPr id="7" name="TextBox 6"/>
          <p:cNvSpPr txBox="1"/>
          <p:nvPr/>
        </p:nvSpPr>
        <p:spPr>
          <a:xfrm>
            <a:off x="609600" y="20718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시공간 토큰과 SALT attention.</a:t>
            </a:r>
            <a:r>
              <a:rPr sz="1050" b="0" i="0">
                <a:solidFill>
                  <a:srgbClr val="16213A"/>
                </a:solidFill>
                <a:latin typeface="Arial"/>
                <a:ea typeface="Malgun Gothic"/>
                <a:cs typeface="Malgun Gothic"/>
              </a:rPr>
              <a:t> occupancy와 영상을 BEV 패치 토큰으로 만든다. 2D 합성곱으로 query·key·value를 만들어 공간 구조를 유지하고, attention은 시간 방향으로 건다.</a:t>
            </a:r>
          </a:p>
        </p:txBody>
      </p:sp>
      <p:sp>
        <p:nvSpPr>
          <p:cNvPr id="8" name="TextBox 7"/>
          <p:cNvSpPr txBox="1"/>
          <p:nvPr/>
        </p:nvSpPr>
        <p:spPr>
          <a:xfrm>
            <a:off x="609600" y="23772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 보조 학습.</a:t>
            </a:r>
            <a:r>
              <a:rPr sz="1050" b="0" i="0">
                <a:solidFill>
                  <a:srgbClr val="16213A"/>
                </a:solidFill>
                <a:latin typeface="Arial"/>
                <a:ea typeface="Malgun Gothic"/>
                <a:cs typeface="Malgun Gothic"/>
              </a:rPr>
              <a:t> 미분 가능 렌더링으로 예측 occupancy를 영상으로 그려 학습 신호를 더한다. 추론 때는 쓰지 않아 비용이 없다.</a:t>
            </a:r>
          </a:p>
        </p:txBody>
      </p:sp>
      <p:sp>
        <p:nvSpPr>
          <p:cNvPr id="9" name="TextBox 8"/>
          <p:cNvSpPr txBox="1"/>
          <p:nvPr/>
        </p:nvSpPr>
        <p:spPr>
          <a:xfrm>
            <a:off x="609600" y="26826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정적 지형은 자세 변화로 옮기고, 움직이는 것만 학습한다</a:t>
            </a:r>
            <a:r>
              <a:rPr sz="1050" b="0" i="0">
                <a:solidFill>
                  <a:srgbClr val="16213A"/>
                </a:solidFill>
                <a:latin typeface="Arial"/>
                <a:ea typeface="Malgun Gothic"/>
                <a:cs typeface="Malgun Gothic"/>
              </a:rPr>
              <a:t>는 분리는 travplan 구조와 같다. TravMap(정적)은 오도메트리로 옮기고, </a:t>
            </a:r>
            <a:r>
              <a:rPr sz="1050" b="0" i="0">
                <a:solidFill>
                  <a:srgbClr val="16213A"/>
                </a:solidFill>
                <a:latin typeface="Consolas"/>
                <a:ea typeface="Malgun Gothic"/>
                <a:cs typeface="Malgun Gothic"/>
              </a:rPr>
              <a:t>DynamicObstacles</a:t>
            </a:r>
            <a:r>
              <a:rPr sz="1050" b="0" i="0">
                <a:solidFill>
                  <a:srgbClr val="16213A"/>
                </a:solidFill>
                <a:latin typeface="Arial"/>
                <a:ea typeface="Malgun Gothic"/>
                <a:cs typeface="Malgun Gothic"/>
              </a:rPr>
              <a:t>만 예측하면 된다.</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예측·World model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A.6 자율주행 자동차: occupancy flow와 world model</a:t>
            </a:r>
            <a:r>
              <a:rPr sz="1050" b="0" i="0">
                <a:solidFill>
                  <a:srgbClr val="5A6478"/>
                </a:solidFill>
                <a:latin typeface="Arial"/>
                <a:ea typeface="Malgun Gothic"/>
                <a:cs typeface="Malgun Gothic"/>
              </a:rPr>
              <a:t>  자세히: GEM의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241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배경: 4D 가우시안.</a:t>
            </a:r>
            <a:r>
              <a:rPr sz="1050" b="0" i="0">
                <a:solidFill>
                  <a:srgbClr val="16213A"/>
                </a:solidFill>
                <a:latin typeface="Arial"/>
                <a:ea typeface="Malgun Gothic"/>
                <a:cs typeface="Malgun Gothic"/>
              </a:rPr>
              <a:t> 각 원시체는 시공간 좌표 </a:t>
            </a:r>
            <a:r>
              <a:rPr sz="1050" b="0" i="1">
                <a:solidFill>
                  <a:srgbClr val="16213A"/>
                </a:solidFill>
                <a:latin typeface="Arial"/>
                <a:ea typeface="Malgun Gothic"/>
                <a:cs typeface="Malgun Gothic"/>
              </a:rPr>
              <a:t>u = [x^⊤, t]^⊤</a:t>
            </a:r>
            <a:r>
              <a:rPr sz="1050" b="0" i="0">
                <a:solidFill>
                  <a:srgbClr val="16213A"/>
                </a:solidFill>
                <a:latin typeface="Arial"/>
                <a:ea typeface="Malgun Gothic"/>
                <a:cs typeface="Malgun Gothic"/>
              </a:rPr>
              <a:t> 위의 가우시안이다.</a:t>
            </a:r>
          </a:p>
        </p:txBody>
      </p:sp>
      <p:pic>
        <p:nvPicPr>
          <p:cNvPr id="6" name="Picture 5" descr="image.png"/>
          <p:cNvPicPr>
            <a:picLocks noChangeAspect="1"/>
          </p:cNvPicPr>
          <p:nvPr/>
        </p:nvPicPr>
        <p:blipFill>
          <a:blip r:embed="rId3"/>
          <a:stretch>
            <a:fillRect/>
          </a:stretch>
        </p:blipFill>
        <p:spPr>
          <a:xfrm>
            <a:off x="609600" y="1549995"/>
            <a:ext cx="4933950" cy="431800"/>
          </a:xfrm>
          <a:prstGeom prst="rect">
            <a:avLst/>
          </a:prstGeom>
        </p:spPr>
      </p:pic>
      <p:sp>
        <p:nvSpPr>
          <p:cNvPr id="7" name="TextBox 6"/>
          <p:cNvSpPr txBox="1"/>
          <p:nvPr/>
        </p:nvSpPr>
        <p:spPr>
          <a:xfrm>
            <a:off x="609600" y="199092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임의 시각 조회(핵심).</a:t>
            </a:r>
            <a:r>
              <a:rPr sz="1050" b="0" i="0">
                <a:solidFill>
                  <a:srgbClr val="16213A"/>
                </a:solidFill>
                <a:latin typeface="Arial"/>
                <a:ea typeface="Malgun Gothic"/>
                <a:cs typeface="Malgun Gothic"/>
              </a:rPr>
              <a:t> 가우시안 조건부 공식을 쓰면, 시각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를 고정했을 때 공간 분포가 닫힌 형태로 나온다. 평균이 시간에 선형으로 움직이므로 </a:t>
            </a:r>
            <a:r>
              <a:rPr sz="1050" b="0" i="1">
                <a:solidFill>
                  <a:srgbClr val="16213A"/>
                </a:solidFill>
                <a:latin typeface="Arial"/>
                <a:ea typeface="Malgun Gothic"/>
                <a:cs typeface="Malgun Gothic"/>
              </a:rPr>
              <a:t>Σₛₜσₜ⁻²</a:t>
            </a:r>
            <a:r>
              <a:rPr sz="1050" b="0" i="0">
                <a:solidFill>
                  <a:srgbClr val="16213A"/>
                </a:solidFill>
                <a:latin typeface="Arial"/>
                <a:ea typeface="Malgun Gothic"/>
                <a:cs typeface="Malgun Gothic"/>
              </a:rPr>
              <a:t>가 곧 </a:t>
            </a:r>
            <a:r>
              <a:rPr sz="1050" b="1" i="0">
                <a:solidFill>
                  <a:srgbClr val="16213A"/>
                </a:solidFill>
                <a:latin typeface="Arial"/>
                <a:ea typeface="Malgun Gothic"/>
                <a:cs typeface="Malgun Gothic"/>
              </a:rPr>
              <a:t>속도</a:t>
            </a:r>
            <a:r>
              <a:rPr sz="1050" b="0" i="0">
                <a:solidFill>
                  <a:srgbClr val="16213A"/>
                </a:solidFill>
                <a:latin typeface="Arial"/>
                <a:ea typeface="Malgun Gothic"/>
                <a:cs typeface="Malgun Gothic"/>
              </a:rPr>
              <a:t>다.</a:t>
            </a:r>
          </a:p>
        </p:txBody>
      </p:sp>
      <p:pic>
        <p:nvPicPr>
          <p:cNvPr id="8" name="Picture 7" descr="image.png"/>
          <p:cNvPicPr>
            <a:picLocks noChangeAspect="1"/>
          </p:cNvPicPr>
          <p:nvPr/>
        </p:nvPicPr>
        <p:blipFill>
          <a:blip r:embed="rId4"/>
          <a:stretch>
            <a:fillRect/>
          </a:stretch>
        </p:blipFill>
        <p:spPr>
          <a:xfrm>
            <a:off x="609600" y="2296319"/>
            <a:ext cx="3657600" cy="330200"/>
          </a:xfrm>
          <a:prstGeom prst="rect">
            <a:avLst/>
          </a:prstGeom>
        </p:spPr>
      </p:pic>
      <p:sp>
        <p:nvSpPr>
          <p:cNvPr id="9" name="TextBox 8"/>
          <p:cNvSpPr txBox="1"/>
          <p:nvPr/>
        </p:nvSpPr>
        <p:spPr>
          <a:xfrm>
            <a:off x="609600" y="264924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자기회귀 모델은 3초 뒤를 보려면 1초, 2초를 먼저 만들어야 하고 오차가 쌓인다. GEM은 원하는 시각에 바로 잘라서 voxel로 그린다.</a:t>
            </a:r>
          </a:p>
        </p:txBody>
      </p:sp>
      <p:sp>
        <p:nvSpPr>
          <p:cNvPr id="10" name="TextBox 9"/>
          <p:cNvSpPr txBox="1"/>
          <p:nvPr/>
        </p:nvSpPr>
        <p:spPr>
          <a:xfrm>
            <a:off x="609600" y="295463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속도 분해.</a:t>
            </a:r>
            <a:r>
              <a:rPr sz="1050" b="0" i="0">
                <a:solidFill>
                  <a:srgbClr val="16213A"/>
                </a:solidFill>
                <a:latin typeface="Arial"/>
                <a:ea typeface="Malgun Gothic"/>
                <a:cs typeface="Malgun Gothic"/>
              </a:rPr>
              <a:t> 각 원시체의 속도를 자기 차량 움직임 때문에 생기는 겉보기 속도와 물체 자체 속도로 나눈다. 원시체는 영상 특징을 모으는 refiner 블록으로 위치를 다듬는다.</a:t>
            </a:r>
          </a:p>
        </p:txBody>
      </p:sp>
      <p:sp>
        <p:nvSpPr>
          <p:cNvPr id="11" name="TextBox 10"/>
          <p:cNvSpPr txBox="1"/>
          <p:nvPr/>
        </p:nvSpPr>
        <p:spPr>
          <a:xfrm>
            <a:off x="609600" y="326003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D는 시간 인덱스 궤적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을 낸다. 궤적의 각 시각에 맞춰 장애물 위치를 조회해야 하므로, </a:t>
            </a:r>
            <a:r>
              <a:rPr sz="1050" b="1" i="0">
                <a:solidFill>
                  <a:srgbClr val="C2410C"/>
                </a:solidFill>
                <a:latin typeface="Arial"/>
                <a:ea typeface="Malgun Gothic"/>
                <a:cs typeface="Malgun Gothic"/>
              </a:rPr>
              <a:t>임의 시각에 조회 가능한 연속 표현</a:t>
            </a:r>
            <a:r>
              <a:rPr sz="1050" b="0" i="0">
                <a:solidFill>
                  <a:srgbClr val="16213A"/>
                </a:solidFill>
                <a:latin typeface="Arial"/>
                <a:ea typeface="Malgun Gothic"/>
                <a:cs typeface="Malgun Gothic"/>
              </a:rPr>
              <a:t>은 </a:t>
            </a:r>
            <a:r>
              <a:rPr sz="1050" b="0" i="0">
                <a:solidFill>
                  <a:srgbClr val="16213A"/>
                </a:solidFill>
                <a:latin typeface="Consolas"/>
                <a:ea typeface="Malgun Gothic"/>
                <a:cs typeface="Malgun Gothic"/>
              </a:rPr>
              <a:t>DynamicObstacles</a:t>
            </a:r>
            <a:r>
              <a:rPr sz="1050" b="0" i="0">
                <a:solidFill>
                  <a:srgbClr val="16213A"/>
                </a:solidFill>
                <a:latin typeface="Arial"/>
                <a:ea typeface="Malgun Gothic"/>
                <a:cs typeface="Malgun Gothic"/>
              </a:rPr>
              <a:t>를 확장할 때 알맞은 형태다(지금은 등속 외삽).</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예측·World model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A.6 자율주행 자동차: occupancy flow와 world model</a:t>
            </a:r>
            <a:r>
              <a:rPr sz="1050" b="0" i="0">
                <a:solidFill>
                  <a:srgbClr val="5A6478"/>
                </a:solidFill>
                <a:latin typeface="Arial"/>
                <a:ea typeface="Malgun Gothic"/>
                <a:cs typeface="Malgun Gothic"/>
              </a:rPr>
              <a:t>  자세히: RiskWorld의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242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위험장(risk field).</a:t>
            </a:r>
            <a:r>
              <a:rPr sz="1050" b="0" i="0">
                <a:solidFill>
                  <a:srgbClr val="16213A"/>
                </a:solidFill>
                <a:latin typeface="Arial"/>
                <a:ea typeface="Malgun Gothic"/>
                <a:cs typeface="Malgun Gothic"/>
              </a:rPr>
              <a:t> 도로 형상, 행위자 점유, 움직임에 따른 위험, 행위자 간 상호작용 위험을 BEV 채널로 그린다. 행위자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의 움직임 위험은 진행 방향으로 늘어난 가우시안이다.</a:t>
            </a:r>
          </a:p>
        </p:txBody>
      </p:sp>
      <p:pic>
        <p:nvPicPr>
          <p:cNvPr id="6" name="Picture 5" descr="image.png"/>
          <p:cNvPicPr>
            <a:picLocks noChangeAspect="1"/>
          </p:cNvPicPr>
          <p:nvPr/>
        </p:nvPicPr>
        <p:blipFill>
          <a:blip r:embed="rId3"/>
          <a:stretch>
            <a:fillRect/>
          </a:stretch>
        </p:blipFill>
        <p:spPr>
          <a:xfrm>
            <a:off x="609600" y="1549995"/>
            <a:ext cx="3213100" cy="463550"/>
          </a:xfrm>
          <a:prstGeom prst="rect">
            <a:avLst/>
          </a:prstGeom>
        </p:spPr>
      </p:pic>
      <p:sp>
        <p:nvSpPr>
          <p:cNvPr id="7" name="TextBox 6"/>
          <p:cNvSpPr txBox="1"/>
          <p:nvPr/>
        </p:nvSpPr>
        <p:spPr>
          <a:xfrm>
            <a:off x="609600" y="201880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uᵢ, vᵢ</a:t>
            </a:r>
            <a:r>
              <a:rPr sz="1050" b="0" i="0">
                <a:solidFill>
                  <a:srgbClr val="16213A"/>
                </a:solidFill>
                <a:latin typeface="Arial"/>
                <a:ea typeface="Malgun Gothic"/>
                <a:cs typeface="Malgun Gothic"/>
              </a:rPr>
              <a:t>: 행위자 좌표계의 종·횡 거리, </a:t>
            </a:r>
            <a:r>
              <a:rPr sz="1050" b="0" i="1">
                <a:solidFill>
                  <a:srgbClr val="16213A"/>
                </a:solidFill>
                <a:latin typeface="Arial"/>
                <a:ea typeface="Malgun Gothic"/>
                <a:cs typeface="Malgun Gothic"/>
              </a:rPr>
              <a:t>Aᵢ</a:t>
            </a:r>
            <a:r>
              <a:rPr sz="1050" b="0" i="0">
                <a:solidFill>
                  <a:srgbClr val="16213A"/>
                </a:solidFill>
                <a:latin typeface="Arial"/>
                <a:ea typeface="Malgun Gothic"/>
                <a:cs typeface="Malgun Gothic"/>
              </a:rPr>
              <a:t>: 클래스별 크기, </a:t>
            </a:r>
            <a:r>
              <a:rPr sz="1050" b="0" i="1">
                <a:solidFill>
                  <a:srgbClr val="16213A"/>
                </a:solidFill>
                <a:latin typeface="Arial"/>
                <a:ea typeface="Malgun Gothic"/>
                <a:cs typeface="Malgun Gothic"/>
              </a:rPr>
              <a:t>ωᵢ</a:t>
            </a:r>
            <a:r>
              <a:rPr sz="1050" b="0" i="0">
                <a:solidFill>
                  <a:srgbClr val="16213A"/>
                </a:solidFill>
                <a:latin typeface="Arial"/>
                <a:ea typeface="Malgun Gothic"/>
                <a:cs typeface="Malgun Gothic"/>
              </a:rPr>
              <a:t>: 속도에 따른 방향 가중.)</a:t>
            </a:r>
          </a:p>
        </p:txBody>
      </p:sp>
      <p:sp>
        <p:nvSpPr>
          <p:cNvPr id="8" name="TextBox 7"/>
          <p:cNvSpPr txBox="1"/>
          <p:nvPr/>
        </p:nvSpPr>
        <p:spPr>
          <a:xfrm>
            <a:off x="609600" y="232419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flow로 옮기는 점유 예측.</a:t>
            </a:r>
            <a:r>
              <a:rPr sz="1050" b="0" i="0">
                <a:solidFill>
                  <a:srgbClr val="16213A"/>
                </a:solidFill>
                <a:latin typeface="Arial"/>
                <a:ea typeface="Malgun Gothic"/>
                <a:cs typeface="Malgun Gothic"/>
              </a:rPr>
              <a:t> 매 스텝 flow </a:t>
            </a:r>
            <a:r>
              <a:rPr sz="1050" b="0" i="1">
                <a:solidFill>
                  <a:srgbClr val="16213A"/>
                </a:solidFill>
                <a:latin typeface="Arial"/>
                <a:ea typeface="Malgun Gothic"/>
                <a:cs typeface="Malgun Gothic"/>
              </a:rPr>
              <a:t>Fₜ</a:t>
            </a:r>
            <a:r>
              <a:rPr sz="1050" b="0" i="0">
                <a:solidFill>
                  <a:srgbClr val="16213A"/>
                </a:solidFill>
                <a:latin typeface="Arial"/>
                <a:ea typeface="Malgun Gothic"/>
                <a:cs typeface="Malgun Gothic"/>
              </a:rPr>
              <a:t>를 예측해 점유·특징을 같은 변위로 뒤로 warp하고, warp만으로 설명되지 않는 변화(새로 나타남·사라짐)는 source/sink 헤드로 보정한다.</a:t>
            </a:r>
          </a:p>
        </p:txBody>
      </p:sp>
      <p:pic>
        <p:nvPicPr>
          <p:cNvPr id="9" name="Picture 8" descr="image.png"/>
          <p:cNvPicPr>
            <a:picLocks noChangeAspect="1"/>
          </p:cNvPicPr>
          <p:nvPr/>
        </p:nvPicPr>
        <p:blipFill>
          <a:blip r:embed="rId4"/>
          <a:stretch>
            <a:fillRect/>
          </a:stretch>
        </p:blipFill>
        <p:spPr>
          <a:xfrm>
            <a:off x="609600" y="2629595"/>
            <a:ext cx="4702175" cy="244475"/>
          </a:xfrm>
          <a:prstGeom prst="rect">
            <a:avLst/>
          </a:prstGeom>
        </p:spPr>
      </p:pic>
      <p:sp>
        <p:nvSpPr>
          <p:cNvPr id="10" name="TextBox 9"/>
          <p:cNvSpPr txBox="1"/>
          <p:nvPr/>
        </p:nvSpPr>
        <p:spPr>
          <a:xfrm>
            <a:off x="609600" y="290879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"지속 기준" 개입(핵심).</a:t>
            </a:r>
            <a:r>
              <a:rPr sz="1050" b="0" i="0">
                <a:solidFill>
                  <a:srgbClr val="16213A"/>
                </a:solidFill>
                <a:latin typeface="Arial"/>
                <a:ea typeface="Malgun Gothic"/>
                <a:cs typeface="Malgun Gothic"/>
              </a:rPr>
              <a:t> 후보 궤적마다 두 가지를 비교한다. 예측된 미래를 따라 조회한 위험과, </a:t>
            </a:r>
            <a:r>
              <a:rPr sz="1050" b="1" i="0">
                <a:solidFill>
                  <a:srgbClr val="16213A"/>
                </a:solidFill>
                <a:latin typeface="Arial"/>
                <a:ea typeface="Malgun Gothic"/>
                <a:cs typeface="Malgun Gothic"/>
              </a:rPr>
              <a:t>현재 장면이 그대로 유지된다고 가정한</a:t>
            </a:r>
            <a:r>
              <a:rPr sz="1050" b="0" i="0">
                <a:solidFill>
                  <a:srgbClr val="16213A"/>
                </a:solidFill>
                <a:latin typeface="Arial"/>
                <a:ea typeface="Malgun Gothic"/>
                <a:cs typeface="Malgun Gothic"/>
              </a:rPr>
              <a:t> 위험이다. 미래 쪽이 뚜렷이 더 위험할 때만 충돌 점수를 올린다(보정량은 항상 0 이상).</a:t>
            </a:r>
          </a:p>
        </p:txBody>
      </p:sp>
      <p:pic>
        <p:nvPicPr>
          <p:cNvPr id="11" name="Picture 10" descr="image.png"/>
          <p:cNvPicPr>
            <a:picLocks noChangeAspect="1"/>
          </p:cNvPicPr>
          <p:nvPr/>
        </p:nvPicPr>
        <p:blipFill>
          <a:blip r:embed="rId5"/>
          <a:stretch>
            <a:fillRect/>
          </a:stretch>
        </p:blipFill>
        <p:spPr>
          <a:xfrm>
            <a:off x="609600" y="3430687"/>
            <a:ext cx="4343400" cy="422275"/>
          </a:xfrm>
          <a:prstGeom prst="rect">
            <a:avLst/>
          </a:prstGeom>
        </p:spPr>
      </p:pic>
      <p:sp>
        <p:nvSpPr>
          <p:cNvPr id="12" name="TextBox 11"/>
          <p:cNvSpPr txBox="1"/>
          <p:nvPr/>
        </p:nvSpPr>
        <p:spPr>
          <a:xfrm>
            <a:off x="609600" y="386526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그리고 현재 선택된 궤적의 위험이 임계를 넘을 때만, 위험과 추종 오차가 모두 나빠지지 않는 후보 가운데 </a:t>
            </a:r>
            <a:r>
              <a:rPr sz="1050" b="0" i="1">
                <a:solidFill>
                  <a:srgbClr val="16213A"/>
                </a:solidFill>
                <a:latin typeface="Arial"/>
                <a:ea typeface="Malgun Gothic"/>
                <a:cs typeface="Malgun Gothic"/>
              </a:rPr>
              <a:t>Jₖ</a:t>
            </a:r>
            <a:r>
              <a:rPr sz="1050" b="0" i="0">
                <a:solidFill>
                  <a:srgbClr val="16213A"/>
                </a:solidFill>
                <a:latin typeface="Arial"/>
                <a:ea typeface="Malgun Gothic"/>
                <a:cs typeface="Malgun Gothic"/>
              </a:rPr>
              <a:t>가 가장 작은 것으로 바꾼다. 조건을 못 채우면 </a:t>
            </a:r>
            <a:r>
              <a:rPr sz="1050" b="1" i="0">
                <a:solidFill>
                  <a:srgbClr val="16213A"/>
                </a:solidFill>
                <a:latin typeface="Arial"/>
                <a:ea typeface="Malgun Gothic"/>
                <a:cs typeface="Malgun Gothic"/>
              </a:rPr>
              <a:t>원래 궤적을 유지</a:t>
            </a:r>
            <a:r>
              <a:rPr sz="1050" b="0" i="0">
                <a:solidFill>
                  <a:srgbClr val="16213A"/>
                </a:solidFill>
                <a:latin typeface="Arial"/>
                <a:ea typeface="Malgun Gothic"/>
                <a:cs typeface="Malgun Gothic"/>
              </a:rPr>
              <a:t>한다.</a:t>
            </a:r>
          </a:p>
        </p:txBody>
      </p:sp>
      <p:pic>
        <p:nvPicPr>
          <p:cNvPr id="13" name="Picture 12" descr="image.png"/>
          <p:cNvPicPr>
            <a:picLocks noChangeAspect="1"/>
          </p:cNvPicPr>
          <p:nvPr/>
        </p:nvPicPr>
        <p:blipFill>
          <a:blip r:embed="rId6"/>
          <a:stretch>
            <a:fillRect/>
          </a:stretch>
        </p:blipFill>
        <p:spPr>
          <a:xfrm>
            <a:off x="609600" y="4170660"/>
            <a:ext cx="2454275" cy="323850"/>
          </a:xfrm>
          <a:prstGeom prst="rect">
            <a:avLst/>
          </a:prstGeom>
        </p:spPr>
      </p:pic>
      <p:sp>
        <p:nvSpPr>
          <p:cNvPr id="14" name="TextBox 13"/>
          <p:cNvSpPr txBox="1"/>
          <p:nvPr/>
        </p:nvSpPr>
        <p:spPr>
          <a:xfrm>
            <a:off x="609600" y="45196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D는 매 재계획마다 새 샘플을 뽑아 궤적이 흔들린다(B.9). </a:t>
            </a:r>
            <a:r>
              <a:rPr sz="1050" b="1" i="0">
                <a:solidFill>
                  <a:srgbClr val="C2410C"/>
                </a:solidFill>
                <a:latin typeface="Arial"/>
                <a:ea typeface="Malgun Gothic"/>
                <a:cs typeface="Malgun Gothic"/>
              </a:rPr>
              <a:t>“기존 계획을 기본값으로 두고, 확실히 더 위험할 때만 교체”</a:t>
            </a:r>
            <a:r>
              <a:rPr sz="1050" b="0" i="0">
                <a:solidFill>
                  <a:srgbClr val="16213A"/>
                </a:solidFill>
                <a:latin typeface="Arial"/>
                <a:ea typeface="Malgun Gothic"/>
                <a:cs typeface="Malgun Gothic"/>
              </a:rPr>
              <a:t>하는 이 규칙은 선택기에 바로 넣을 수 있다.</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예측·World model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A.6 자율주행 자동차: occupancy flow와 world model</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243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occupancy flow(생성 모델이 아닌 예측).</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OFMPNet</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arXiv:2404.02263</a:t>
            </a:r>
            <a:r>
              <a:rPr sz="1050" b="0" i="0">
                <a:solidFill>
                  <a:srgbClr val="16213A"/>
                </a:solidFill>
                <a:latin typeface="Arial"/>
                <a:ea typeface="Malgun Gothic"/>
                <a:cs typeface="Malgun Gothic"/>
              </a:rPr>
              <a:t>)은 Waymo Occupancy-and-Flow 벤치마크를 직접 겨냥해 Soft-IoU 52.1%, AUC 76.75%를 보고했다(지연 미보고). </a:t>
            </a:r>
            <a:r>
              <a:rPr sz="1050" b="1" i="0">
                <a:solidFill>
                  <a:srgbClr val="16213A"/>
                </a:solidFill>
                <a:latin typeface="Arial"/>
                <a:ea typeface="Malgun Gothic"/>
                <a:cs typeface="Malgun Gothic"/>
              </a:rPr>
              <a:t>Let Occ Flow</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arXiv:2407.07587</a:t>
            </a:r>
            <a:r>
              <a:rPr sz="1050" b="0" i="0">
                <a:solidFill>
                  <a:srgbClr val="16213A"/>
                </a:solidFill>
                <a:latin typeface="Arial"/>
                <a:ea typeface="Malgun Gothic"/>
                <a:cs typeface="Malgun Gothic"/>
              </a:rPr>
              <a:t>, CoRL 2024)는 카메라만으로 tri-plane 볼륨과 미분 가능 렌더링을 써서 occupancy와 flow를 자기지도로 배운다. </a:t>
            </a:r>
            <a:r>
              <a:rPr sz="1050" b="1" i="0">
                <a:solidFill>
                  <a:srgbClr val="16213A"/>
                </a:solidFill>
                <a:latin typeface="Arial"/>
                <a:ea typeface="Malgun Gothic"/>
                <a:cs typeface="Malgun Gothic"/>
              </a:rPr>
              <a:t>DOME</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arXiv:2410.10429</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6"/>
              </a:rPr>
              <a:t>HF 페이지</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7"/>
              </a:rPr>
              <a:t>코드</a:t>
            </a:r>
            <a:r>
              <a:rPr sz="1050" b="0" i="0">
                <a:solidFill>
                  <a:srgbClr val="16213A"/>
                </a:solidFill>
                <a:latin typeface="Arial"/>
                <a:ea typeface="Malgun Gothic"/>
                <a:cs typeface="Malgun Gothic"/>
              </a:rPr>
              <a:t>)는 궤적 조건으로 제어할 수 있는 diffusion world model이다.</a:t>
            </a:r>
          </a:p>
        </p:txBody>
      </p:sp>
      <p:pic>
        <p:nvPicPr>
          <p:cNvPr id="6" name="Picture 5" descr="image.jpg"/>
          <p:cNvPicPr>
            <a:picLocks noChangeAspect="1"/>
          </p:cNvPicPr>
          <p:nvPr/>
        </p:nvPicPr>
        <p:blipFill>
          <a:blip r:embed="rId8"/>
          <a:stretch>
            <a:fillRect/>
          </a:stretch>
        </p:blipFill>
        <p:spPr>
          <a:xfrm>
            <a:off x="609600" y="1982986"/>
            <a:ext cx="5410200" cy="1143000"/>
          </a:xfrm>
          <a:prstGeom prst="rect">
            <a:avLst/>
          </a:prstGeom>
        </p:spPr>
      </p:pic>
      <p:sp>
        <p:nvSpPr>
          <p:cNvPr id="7" name="TextBox 6"/>
          <p:cNvSpPr txBox="1"/>
          <p:nvPr/>
        </p:nvSpPr>
        <p:spPr>
          <a:xfrm>
            <a:off x="609600" y="3164086"/>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Let Occ Flow (Fig. 1): 3D 라벨 없이 카메라 영상만으로 occupancy와 움직임(flow)을 자기지도로 학습. 출처: arXiv:2407.07587</a:t>
            </a:r>
          </a:p>
        </p:txBody>
      </p:sp>
      <p:pic>
        <p:nvPicPr>
          <p:cNvPr id="8" name="Picture 7" descr="image.jpg"/>
          <p:cNvPicPr>
            <a:picLocks noChangeAspect="1"/>
          </p:cNvPicPr>
          <p:nvPr/>
        </p:nvPicPr>
        <p:blipFill>
          <a:blip r:embed="rId9"/>
          <a:stretch>
            <a:fillRect/>
          </a:stretch>
        </p:blipFill>
        <p:spPr>
          <a:xfrm>
            <a:off x="6172200" y="1982986"/>
            <a:ext cx="5410200" cy="1828800"/>
          </a:xfrm>
          <a:prstGeom prst="rect">
            <a:avLst/>
          </a:prstGeom>
        </p:spPr>
      </p:pic>
      <p:sp>
        <p:nvSpPr>
          <p:cNvPr id="9" name="TextBox 8"/>
          <p:cNvSpPr txBox="1"/>
          <p:nvPr/>
        </p:nvSpPr>
        <p:spPr>
          <a:xfrm>
            <a:off x="6172200" y="3849886"/>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DOME (Fig. 1): 궤적 조건을 바꾸면 그에 맞는 긴 미래 occupancy를 생성(조건부 diffusion world model). 출처: arXiv:2410.10429</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예측·World model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A.6 자율주행 자동차: occupancy flow와 world model</a:t>
            </a:r>
            <a:r>
              <a:rPr sz="1050" b="0" i="0">
                <a:solidFill>
                  <a:srgbClr val="5A6478"/>
                </a:solidFill>
                <a:latin typeface="Arial"/>
                <a:ea typeface="Malgun Gothic"/>
                <a:cs typeface="Malgun Gothic"/>
              </a:rPr>
              <a:t>  자세히: Let Occ Flow의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244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표현.</a:t>
            </a:r>
            <a:r>
              <a:rPr sz="1050" b="0" i="0">
                <a:solidFill>
                  <a:srgbClr val="16213A"/>
                </a:solidFill>
                <a:latin typeface="Arial"/>
                <a:ea typeface="Malgun Gothic"/>
                <a:cs typeface="Malgun Gothic"/>
              </a:rPr>
              <a:t> 멀티뷰 영상 특징을 세 직교 평면(tri-plane, TPV)에 deformable attention으로 모으고, 이를 브로드캐스트해 3D 특징 볼륨을 만든다. 두 MLP가 SDF 장과 flow 장을 낸다.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3D 라벨 없는 학습.</a:t>
            </a:r>
            <a:r>
              <a:rPr sz="1050" b="0" i="0">
                <a:solidFill>
                  <a:srgbClr val="16213A"/>
                </a:solidFill>
                <a:latin typeface="Arial"/>
                <a:ea typeface="Malgun Gothic"/>
                <a:cs typeface="Malgun Gothic"/>
              </a:rPr>
              <a:t> 광선 위 샘플점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의 깊이 </a:t>
            </a:r>
            <a:r>
              <a:rPr sz="1050" b="0" i="1">
                <a:solidFill>
                  <a:srgbClr val="16213A"/>
                </a:solidFill>
                <a:latin typeface="Arial"/>
                <a:ea typeface="Malgun Gothic"/>
                <a:cs typeface="Malgun Gothic"/>
              </a:rPr>
              <a:t>dᵢ</a:t>
            </a:r>
            <a:r>
              <a:rPr sz="1050" b="0" i="0">
                <a:solidFill>
                  <a:srgbClr val="16213A"/>
                </a:solidFill>
                <a:latin typeface="Arial"/>
                <a:ea typeface="Malgun Gothic"/>
                <a:cs typeface="Malgun Gothic"/>
              </a:rPr>
              <a:t>와 flow </a:t>
            </a:r>
            <a:r>
              <a:rPr sz="1050" b="0" i="1">
                <a:solidFill>
                  <a:srgbClr val="16213A"/>
                </a:solidFill>
                <a:latin typeface="Arial"/>
                <a:ea typeface="Malgun Gothic"/>
                <a:cs typeface="Malgun Gothic"/>
              </a:rPr>
              <a:t>fᵢ</a:t>
            </a:r>
            <a:r>
              <a:rPr sz="1050" b="0" i="0">
                <a:solidFill>
                  <a:srgbClr val="16213A"/>
                </a:solidFill>
                <a:latin typeface="Arial"/>
                <a:ea typeface="Malgun Gothic"/>
                <a:cs typeface="Malgun Gothic"/>
              </a:rPr>
              <a:t>로 현재 픽셀이 다음 프레임 어디에 보일지 계산하고, 두 영상의 밝기 차이(L1 + D-SSIM)를 줄인다.</a:t>
            </a:r>
          </a:p>
        </p:txBody>
      </p:sp>
      <p:pic>
        <p:nvPicPr>
          <p:cNvPr id="7" name="Picture 6" descr="image.png"/>
          <p:cNvPicPr>
            <a:picLocks noChangeAspect="1"/>
          </p:cNvPicPr>
          <p:nvPr/>
        </p:nvPicPr>
        <p:blipFill>
          <a:blip r:embed="rId3"/>
          <a:stretch>
            <a:fillRect/>
          </a:stretch>
        </p:blipFill>
        <p:spPr>
          <a:xfrm>
            <a:off x="609600" y="1855391"/>
            <a:ext cx="5175250" cy="434975"/>
          </a:xfrm>
          <a:prstGeom prst="rect">
            <a:avLst/>
          </a:prstGeom>
        </p:spPr>
      </p:pic>
      <p:sp>
        <p:nvSpPr>
          <p:cNvPr id="8" name="TextBox 7"/>
          <p:cNvSpPr txBox="1"/>
          <p:nvPr/>
        </p:nvSpPr>
        <p:spPr>
          <a:xfrm>
            <a:off x="609600" y="230038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동적 분리.</a:t>
            </a:r>
            <a:r>
              <a:rPr sz="1050" b="0" i="0">
                <a:solidFill>
                  <a:srgbClr val="16213A"/>
                </a:solidFill>
                <a:latin typeface="Arial"/>
                <a:ea typeface="Malgun Gothic"/>
                <a:cs typeface="Malgun Gothic"/>
              </a:rPr>
              <a:t> 광학 흐름에서 "렌더 깊이와 자기 움직임으로 설명되는 정적 흐름"을 빼면 동적 흐름만 남는다. 이것으로 정적 영역의 flow를 0으로 묶고 불균형을 줄인다.</a:t>
            </a:r>
          </a:p>
        </p:txBody>
      </p:sp>
      <p:pic>
        <p:nvPicPr>
          <p:cNvPr id="9" name="Picture 8" descr="image.png"/>
          <p:cNvPicPr>
            <a:picLocks noChangeAspect="1"/>
          </p:cNvPicPr>
          <p:nvPr/>
        </p:nvPicPr>
        <p:blipFill>
          <a:blip r:embed="rId4"/>
          <a:stretch>
            <a:fillRect/>
          </a:stretch>
        </p:blipFill>
        <p:spPr>
          <a:xfrm>
            <a:off x="609600" y="2605782"/>
            <a:ext cx="1073150" cy="241300"/>
          </a:xfrm>
          <a:prstGeom prst="rect">
            <a:avLst/>
          </a:prstGeom>
        </p:spPr>
      </p:pic>
      <p:sp>
        <p:nvSpPr>
          <p:cNvPr id="10" name="TextBox 9"/>
          <p:cNvSpPr txBox="1"/>
          <p:nvPr/>
        </p:nvSpPr>
        <p:spPr>
          <a:xfrm>
            <a:off x="609600" y="288329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로봇 오도메트리가 있으면 정적 흐름을 계산할 수 있다. 보도 영상에서 </a:t>
            </a:r>
            <a:r>
              <a:rPr sz="1050" b="1" i="0">
                <a:solidFill>
                  <a:srgbClr val="C2410C"/>
                </a:solidFill>
                <a:latin typeface="Arial"/>
                <a:ea typeface="Malgun Gothic"/>
                <a:cs typeface="Malgun Gothic"/>
              </a:rPr>
              <a:t>남는 흐름 = 움직이는 보행자</a:t>
            </a:r>
            <a:r>
              <a:rPr sz="1050" b="0" i="0">
                <a:solidFill>
                  <a:srgbClr val="16213A"/>
                </a:solidFill>
                <a:latin typeface="Arial"/>
                <a:ea typeface="Malgun Gothic"/>
                <a:cs typeface="Malgun Gothic"/>
              </a:rPr>
              <a:t>라는 자기지도 신호는 동적 장애물 검출 라벨 없이 쓸 수 있다.</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예측·World model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A.6 자율주행 자동차: occupancy flow와 world model</a:t>
            </a:r>
            <a:r>
              <a:rPr sz="1050" b="0" i="0">
                <a:solidFill>
                  <a:srgbClr val="5A6478"/>
                </a:solidFill>
                <a:latin typeface="Arial"/>
                <a:ea typeface="Malgun Gothic"/>
                <a:cs typeface="Malgun Gothic"/>
              </a:rPr>
              <a:t>  자세히: DOME의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245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Occ-VAE(연속 잠재).</a:t>
            </a:r>
            <a:r>
              <a:rPr sz="1050" b="0" i="0">
                <a:solidFill>
                  <a:srgbClr val="16213A"/>
                </a:solidFill>
                <a:latin typeface="Arial"/>
                <a:ea typeface="Malgun Gothic"/>
                <a:cs typeface="Malgun Gothic"/>
              </a:rPr>
              <a:t> 이산 토크나이저는 세밀한 구조를 잃는다. DOME은 occupancy를 BEV 텐서로 바꾼 뒤 </a:t>
            </a:r>
            <a:r>
              <a:rPr sz="1050" b="1" i="0">
                <a:solidFill>
                  <a:srgbClr val="16213A"/>
                </a:solidFill>
                <a:latin typeface="Arial"/>
                <a:ea typeface="Malgun Gothic"/>
                <a:cs typeface="Malgun Gothic"/>
              </a:rPr>
              <a:t>연속</a:t>
            </a:r>
            <a:r>
              <a:rPr sz="1050" b="0" i="0">
                <a:solidFill>
                  <a:srgbClr val="16213A"/>
                </a:solidFill>
                <a:latin typeface="Arial"/>
                <a:ea typeface="Malgun Gothic"/>
                <a:cs typeface="Malgun Gothic"/>
              </a:rPr>
              <a:t> VAE 잠재로 압축한다(배경 0.14의 VQ와 대비).</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잠재 diffusion world model.</a:t>
            </a:r>
            <a:r>
              <a:rPr sz="1050" b="0" i="0">
                <a:solidFill>
                  <a:srgbClr val="16213A"/>
                </a:solidFill>
                <a:latin typeface="Arial"/>
                <a:ea typeface="Malgun Gothic"/>
                <a:cs typeface="Malgun Gothic"/>
              </a:rPr>
              <a:t> 잠재 시퀀스 </a:t>
            </a:r>
            <a:r>
              <a:rPr sz="1050" b="0" i="1">
                <a:solidFill>
                  <a:srgbClr val="16213A"/>
                </a:solidFill>
                <a:latin typeface="Arial"/>
                <a:ea typeface="Malgun Gothic"/>
                <a:cs typeface="Malgun Gothic"/>
              </a:rPr>
              <a:t>z ∈ ℝ^(n_f × nₕ × n_w × C)</a:t>
            </a:r>
            <a:r>
              <a:rPr sz="1050" b="0" i="0">
                <a:solidFill>
                  <a:srgbClr val="16213A"/>
                </a:solidFill>
                <a:latin typeface="Arial"/>
                <a:ea typeface="Malgun Gothic"/>
                <a:cs typeface="Malgun Gothic"/>
              </a:rPr>
              <a:t> 중 앞의 </a:t>
            </a:r>
            <a:r>
              <a:rPr sz="1050" b="0" i="1">
                <a:solidFill>
                  <a:srgbClr val="16213A"/>
                </a:solidFill>
                <a:latin typeface="Arial"/>
                <a:ea typeface="Malgun Gothic"/>
                <a:cs typeface="Malgun Gothic"/>
              </a:rPr>
              <a:t>n_c</a:t>
            </a:r>
            <a:r>
              <a:rPr sz="1050" b="0" i="0">
                <a:solidFill>
                  <a:srgbClr val="16213A"/>
                </a:solidFill>
                <a:latin typeface="Arial"/>
                <a:ea typeface="Malgun Gothic"/>
                <a:cs typeface="Malgun Gothic"/>
              </a:rPr>
              <a:t> 프레임만 보이게 가리고, 시공간 diffusion transformer가 나머지 미래 프레임을 denoise한다(배경 0.5 diffusion).</a:t>
            </a:r>
          </a:p>
        </p:txBody>
      </p:sp>
      <p:sp>
        <p:nvSpPr>
          <p:cNvPr id="7" name="TextBox 6"/>
          <p:cNvSpPr txBox="1"/>
          <p:nvPr/>
        </p:nvSpPr>
        <p:spPr>
          <a:xfrm>
            <a:off x="609600" y="18553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궤적 조건.</a:t>
            </a:r>
            <a:r>
              <a:rPr sz="1050" b="0" i="0">
                <a:solidFill>
                  <a:srgbClr val="16213A"/>
                </a:solidFill>
                <a:latin typeface="Arial"/>
                <a:ea typeface="Malgun Gothic"/>
                <a:cs typeface="Malgun Gothic"/>
              </a:rPr>
              <a:t> 자기 차량의 상대 이동 </a:t>
            </a:r>
            <a:r>
              <a:rPr sz="1050" b="0" i="1">
                <a:solidFill>
                  <a:srgbClr val="16213A"/>
                </a:solidFill>
                <a:latin typeface="Arial"/>
                <a:ea typeface="Malgun Gothic"/>
                <a:cs typeface="Malgun Gothic"/>
              </a:rPr>
              <a:t>[x, y]</a:t>
            </a:r>
            <a:r>
              <a:rPr sz="1050" b="0" i="0">
                <a:solidFill>
                  <a:srgbClr val="16213A"/>
                </a:solidFill>
                <a:latin typeface="Arial"/>
                <a:ea typeface="Malgun Gothic"/>
                <a:cs typeface="Malgun Gothic"/>
              </a:rPr>
              <a:t>와 yaw를 위치 인코딩해 조건으로 넣는다. 학습 때 궤적을 다시 샘플링해 드문 기동(급회전 등)을 늘려, 조건을 무시하지 않도록 한다.</a:t>
            </a:r>
          </a:p>
        </p:txBody>
      </p:sp>
      <p:sp>
        <p:nvSpPr>
          <p:cNvPr id="8" name="TextBox 7"/>
          <p:cNvSpPr txBox="1"/>
          <p:nvPr/>
        </p:nvSpPr>
        <p:spPr>
          <a:xfrm>
            <a:off x="609600" y="21607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"궤적이 주어졌을 때 미래 지도"를 생성하므로, Planner D 후보마다 조건부 미래를 그려 평가하는 데 쓸 수 있다. 다만 diffusion을 후보마다 돌리는 비용은 Orin에서 감당하기 어렵다.</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예측·World model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A.6 자율주행 자동차: occupancy flow와 world model</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246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벤치마크.</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UniOcc</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arXiv:2503.24381</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HF 데이터셋</a:t>
            </a:r>
            <a:r>
              <a:rPr sz="1050" b="0" i="0">
                <a:solidFill>
                  <a:srgbClr val="16213A"/>
                </a:solidFill>
                <a:latin typeface="Arial"/>
                <a:ea typeface="Malgun Gothic"/>
                <a:cs typeface="Malgun Gothic"/>
              </a:rPr>
              <a:t>)는 nuScenes, Waymo, CARLA, OPV2V를 하나의 occupancy·flow 예측 벤치마크로 묶고, 정답 라벨 없이도 쓸 수 있는 지표를 준다. 코드와 데이터가 모두 공개돼 있다. </a:t>
            </a:r>
            <a:r>
              <a:rPr sz="1050" b="1" i="0">
                <a:solidFill>
                  <a:srgbClr val="16213A"/>
                </a:solidFill>
                <a:latin typeface="Arial"/>
                <a:ea typeface="Malgun Gothic"/>
                <a:cs typeface="Malgun Gothic"/>
              </a:rPr>
              <a:t>Cam4DOcc</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arXiv:2311.17663</a:t>
            </a:r>
            <a:r>
              <a:rPr sz="1050" b="0" i="0">
                <a:solidFill>
                  <a:srgbClr val="16213A"/>
                </a:solidFill>
                <a:latin typeface="Arial"/>
                <a:ea typeface="Malgun Gothic"/>
                <a:cs typeface="Malgun Gothic"/>
              </a:rPr>
              <a:t>)는 같은 계열의 초기 벤치마크다.</a:t>
            </a:r>
          </a:p>
        </p:txBody>
      </p:sp>
      <p:pic>
        <p:nvPicPr>
          <p:cNvPr id="6" name="Picture 5" descr="image.jpg"/>
          <p:cNvPicPr>
            <a:picLocks noChangeAspect="1"/>
          </p:cNvPicPr>
          <p:nvPr/>
        </p:nvPicPr>
        <p:blipFill>
          <a:blip r:embed="rId7"/>
          <a:stretch>
            <a:fillRect/>
          </a:stretch>
        </p:blipFill>
        <p:spPr>
          <a:xfrm>
            <a:off x="609600" y="1766491"/>
            <a:ext cx="5410200" cy="1701800"/>
          </a:xfrm>
          <a:prstGeom prst="rect">
            <a:avLst/>
          </a:prstGeom>
        </p:spPr>
      </p:pic>
      <p:sp>
        <p:nvSpPr>
          <p:cNvPr id="7" name="TextBox 6"/>
          <p:cNvSpPr txBox="1"/>
          <p:nvPr/>
        </p:nvSpPr>
        <p:spPr>
          <a:xfrm>
            <a:off x="609600" y="3506391"/>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UniOcc (Fig. 2): 물체 단위 flow와 복셀 단위 flow 비교. 복셀 flow가 모양이 불완전한 물체도 다룬다. 출처: arXiv:2503.24381</a:t>
            </a:r>
          </a:p>
        </p:txBody>
      </p:sp>
      <p:pic>
        <p:nvPicPr>
          <p:cNvPr id="8" name="Picture 7" descr="image.jpg"/>
          <p:cNvPicPr>
            <a:picLocks noChangeAspect="1"/>
          </p:cNvPicPr>
          <p:nvPr/>
        </p:nvPicPr>
        <p:blipFill>
          <a:blip r:embed="rId8"/>
          <a:stretch>
            <a:fillRect/>
          </a:stretch>
        </p:blipFill>
        <p:spPr>
          <a:xfrm>
            <a:off x="6172200" y="1766491"/>
            <a:ext cx="4552950" cy="2667000"/>
          </a:xfrm>
          <a:prstGeom prst="rect">
            <a:avLst/>
          </a:prstGeom>
        </p:spPr>
      </p:pic>
      <p:sp>
        <p:nvSpPr>
          <p:cNvPr id="9" name="TextBox 8"/>
          <p:cNvSpPr txBox="1"/>
          <p:nvPr/>
        </p:nvSpPr>
        <p:spPr>
          <a:xfrm>
            <a:off x="6172200" y="4471591"/>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Cam4DOcc (Fig. 1): 카메라만으로 미래 occupancy를 예측하는 벤치마크의 데이터 형식과 기준선 구성. 출처: arXiv:2311.17663</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예측·World model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A.6 자율주행 자동차: occupancy flow와 world model</a:t>
            </a:r>
            <a:r>
              <a:rPr sz="1050" b="0" i="0">
                <a:solidFill>
                  <a:srgbClr val="5A6478"/>
                </a:solidFill>
                <a:latin typeface="Arial"/>
                <a:ea typeface="Malgun Gothic"/>
                <a:cs typeface="Malgun Gothic"/>
              </a:rPr>
              <a:t>  자세히: UniOcc의 voxel flow 정의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247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물체 flow와 voxel flow의 차이(그림).</a:t>
            </a:r>
            <a:r>
              <a:rPr sz="1050" b="0" i="0">
                <a:solidFill>
                  <a:srgbClr val="16213A"/>
                </a:solidFill>
                <a:latin typeface="Arial"/>
                <a:ea typeface="Malgun Gothic"/>
                <a:cs typeface="Malgun Gothic"/>
              </a:rPr>
              <a:t> 물체 속도를 모든 voxel에 똑같이 주면 회전이 사라진다. UniOcc는 voxel마다 </a:t>
            </a:r>
            <a:r>
              <a:rPr sz="1050" b="1" i="0">
                <a:solidFill>
                  <a:srgbClr val="16213A"/>
                </a:solidFill>
                <a:latin typeface="Arial"/>
                <a:ea typeface="Malgun Gothic"/>
                <a:cs typeface="Malgun Gothic"/>
              </a:rPr>
              <a:t>다음 시각의 3D 변위</a:t>
            </a:r>
            <a:r>
              <a:rPr sz="1050" b="0" i="0">
                <a:solidFill>
                  <a:srgbClr val="16213A"/>
                </a:solidFill>
                <a:latin typeface="Arial"/>
                <a:ea typeface="Malgun Gothic"/>
                <a:cs typeface="Malgun Gothic"/>
              </a:rPr>
              <a:t>를 따로 준다. 행위자 좌표계 변환을 합성해 각 voxel이 다음 시각에 어디 있을지 계산하고 차이를 flow로 쓴다.</a:t>
            </a:r>
          </a:p>
        </p:txBody>
      </p:sp>
      <p:pic>
        <p:nvPicPr>
          <p:cNvPr id="6" name="Picture 5" descr="image.png"/>
          <p:cNvPicPr>
            <a:picLocks noChangeAspect="1"/>
          </p:cNvPicPr>
          <p:nvPr/>
        </p:nvPicPr>
        <p:blipFill>
          <a:blip r:embed="rId3"/>
          <a:stretch>
            <a:fillRect/>
          </a:stretch>
        </p:blipFill>
        <p:spPr>
          <a:xfrm>
            <a:off x="609600" y="1766491"/>
            <a:ext cx="3679825" cy="273050"/>
          </a:xfrm>
          <a:prstGeom prst="rect">
            <a:avLst/>
          </a:prstGeom>
        </p:spPr>
      </p:pic>
      <p:sp>
        <p:nvSpPr>
          <p:cNvPr id="7" name="TextBox 6"/>
          <p:cNvSpPr txBox="1"/>
          <p:nvPr/>
        </p:nvSpPr>
        <p:spPr>
          <a:xfrm>
            <a:off x="609600" y="206900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flow가 예측을 돕는다.</a:t>
            </a:r>
            <a:r>
              <a:rPr sz="1050" b="0" i="0">
                <a:solidFill>
                  <a:srgbClr val="16213A"/>
                </a:solidFill>
                <a:latin typeface="Arial"/>
                <a:ea typeface="Malgun Gothic"/>
                <a:cs typeface="Malgun Gothic"/>
              </a:rPr>
              <a:t> OccWorld에 flow 인코더·디코더를 더하면 특히 움직이는 클래스의 mIoU가 오른다.</a:t>
            </a:r>
          </a:p>
        </p:txBody>
      </p:sp>
      <p:sp>
        <p:nvSpPr>
          <p:cNvPr id="8" name="TextBox 7"/>
          <p:cNvSpPr txBox="1"/>
          <p:nvPr/>
        </p:nvSpPr>
        <p:spPr>
          <a:xfrm>
            <a:off x="609600" y="237440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스워브 로봇은 제자리 회전이 잦다. 회전을 보존하는 voxel flow 정의는 Isaac에서 동적 장애물 정답을 만들 때 그대로 쓸 수 있다.</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예측·World model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A.6 자율주행 자동차: occupancy flow와 world model</a:t>
            </a:r>
            <a:r>
              <a:rPr sz="1050" b="0" i="0">
                <a:solidFill>
                  <a:srgbClr val="5A6478"/>
                </a:solidFill>
                <a:latin typeface="Arial"/>
                <a:ea typeface="Malgun Gothic"/>
                <a:cs typeface="Malgun Gothic"/>
              </a:rPr>
              <a:t>  자세히: Cam4DOcc의 과제 정의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248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과제.</a:t>
            </a:r>
            <a:r>
              <a:rPr sz="1050" b="0" i="0">
                <a:solidFill>
                  <a:srgbClr val="16213A"/>
                </a:solidFill>
                <a:latin typeface="Arial"/>
                <a:ea typeface="Malgun Gothic"/>
                <a:cs typeface="Malgun Gothic"/>
              </a:rPr>
              <a:t> 과거 </a:t>
            </a:r>
            <a:r>
              <a:rPr sz="1050" b="0" i="1">
                <a:solidFill>
                  <a:srgbClr val="16213A"/>
                </a:solidFill>
                <a:latin typeface="Arial"/>
                <a:ea typeface="Malgun Gothic"/>
                <a:cs typeface="Malgun Gothic"/>
              </a:rPr>
              <a:t>Nₚ</a:t>
            </a:r>
            <a:r>
              <a:rPr sz="1050" b="0" i="0">
                <a:solidFill>
                  <a:srgbClr val="16213A"/>
                </a:solidFill>
                <a:latin typeface="Arial"/>
                <a:ea typeface="Malgun Gothic"/>
                <a:cs typeface="Malgun Gothic"/>
              </a:rPr>
              <a:t>개와 현재 카메라 영상으로, 현재 occupancy </a:t>
            </a:r>
            <a:r>
              <a:rPr sz="1050" b="0" i="1">
                <a:solidFill>
                  <a:srgbClr val="16213A"/>
                </a:solidFill>
                <a:latin typeface="Arial"/>
                <a:ea typeface="Malgun Gothic"/>
                <a:cs typeface="Malgun Gothic"/>
              </a:rPr>
              <a:t>O_c</a:t>
            </a:r>
            <a:r>
              <a:rPr sz="1050" b="0" i="0">
                <a:solidFill>
                  <a:srgbClr val="16213A"/>
                </a:solidFill>
                <a:latin typeface="Arial"/>
                <a:ea typeface="Malgun Gothic"/>
                <a:cs typeface="Malgun Gothic"/>
              </a:rPr>
              <a:t>와 짧은 미래 </a:t>
            </a:r>
            <a:r>
              <a:rPr sz="1050" b="0" i="1">
                <a:solidFill>
                  <a:srgbClr val="16213A"/>
                </a:solidFill>
                <a:latin typeface="Arial"/>
                <a:ea typeface="Malgun Gothic"/>
                <a:cs typeface="Malgun Gothic"/>
              </a:rPr>
              <a:t>N_f</a:t>
            </a:r>
            <a:r>
              <a:rPr sz="1050" b="0" i="0">
                <a:solidFill>
                  <a:srgbClr val="16213A"/>
                </a:solidFill>
                <a:latin typeface="Arial"/>
                <a:ea typeface="Malgun Gothic"/>
                <a:cs typeface="Malgun Gothic"/>
              </a:rPr>
              <a:t> 스텝의 occupancy </a:t>
            </a:r>
            <a:r>
              <a:rPr sz="1050" b="0" i="1">
                <a:solidFill>
                  <a:srgbClr val="16213A"/>
                </a:solidFill>
                <a:latin typeface="Arial"/>
                <a:ea typeface="Malgun Gothic"/>
                <a:cs typeface="Malgun Gothic"/>
              </a:rPr>
              <a:t>O_f</a:t>
            </a:r>
            <a:r>
              <a:rPr sz="1050" b="0" i="0">
                <a:solidFill>
                  <a:srgbClr val="16213A"/>
                </a:solidFill>
                <a:latin typeface="Arial"/>
                <a:ea typeface="Malgun Gothic"/>
                <a:cs typeface="Malgun Gothic"/>
              </a:rPr>
              <a:t>를 함께 예측한다.</a:t>
            </a:r>
          </a:p>
        </p:txBody>
      </p:sp>
      <p:pic>
        <p:nvPicPr>
          <p:cNvPr id="6" name="Picture 5" descr="image.png"/>
          <p:cNvPicPr>
            <a:picLocks noChangeAspect="1"/>
          </p:cNvPicPr>
          <p:nvPr/>
        </p:nvPicPr>
        <p:blipFill>
          <a:blip r:embed="rId3"/>
          <a:stretch>
            <a:fillRect/>
          </a:stretch>
        </p:blipFill>
        <p:spPr>
          <a:xfrm>
            <a:off x="609600" y="1549995"/>
            <a:ext cx="3870325" cy="250825"/>
          </a:xfrm>
          <a:prstGeom prst="rect">
            <a:avLst/>
          </a:prstGeom>
        </p:spPr>
      </p:pic>
      <p:sp>
        <p:nvSpPr>
          <p:cNvPr id="7" name="TextBox 6"/>
          <p:cNvSpPr txBox="1"/>
          <p:nvPr/>
        </p:nvSpPr>
        <p:spPr>
          <a:xfrm>
            <a:off x="609600" y="183733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두 클래스.</a:t>
            </a:r>
            <a:r>
              <a:rPr sz="1050" b="0" i="0">
                <a:solidFill>
                  <a:srgbClr val="16213A"/>
                </a:solidFill>
                <a:latin typeface="Arial"/>
                <a:ea typeface="Malgun Gothic"/>
                <a:cs typeface="Malgun Gothic"/>
              </a:rPr>
              <a:t> 움직일 수 있는 물체(GMO: 차, 보행자, 자전거 등)와 정적 물체(GSO)로만 나눈다. 안전에 중요한 쪽은 GMO다.</a:t>
            </a:r>
          </a:p>
        </p:txBody>
      </p:sp>
      <p:sp>
        <p:nvSpPr>
          <p:cNvPr id="8" name="TextBox 7"/>
          <p:cNvSpPr txBox="1"/>
          <p:nvPr/>
        </p:nvSpPr>
        <p:spPr>
          <a:xfrm>
            <a:off x="609600" y="214272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기준선 네 가지.</a:t>
            </a:r>
            <a:r>
              <a:rPr sz="1050" b="0" i="0">
                <a:solidFill>
                  <a:srgbClr val="16213A"/>
                </a:solidFill>
                <a:latin typeface="Arial"/>
                <a:ea typeface="Malgun Gothic"/>
                <a:cs typeface="Malgun Gothic"/>
              </a:rPr>
              <a:t> 현재 occupancy를 그대로 미래로 쓰는 "정적 세계" 모델, 점군 예측을 voxel화하는 방법, 2D 예측을 들어 올리는 방법, 끝까지 학습하는 4D 모델이다.</a:t>
            </a:r>
          </a:p>
        </p:txBody>
      </p:sp>
      <p:sp>
        <p:nvSpPr>
          <p:cNvPr id="9" name="TextBox 8"/>
          <p:cNvSpPr txBox="1"/>
          <p:nvPr/>
        </p:nvSpPr>
        <p:spPr>
          <a:xfrm>
            <a:off x="609600" y="244812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정적 세계 기준선(= travplan의 지금 방식)이 얼마나 나쁜지를 같은 지표로 재는 방법을 준다. 동적 장애물 예측을 도입할 때 비교 기준으로 쓴다.</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예측·World model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A.6 자율주행 자동차: occupancy flow와 world model</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249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확인하지 못한 것.</a:t>
            </a:r>
            <a:r>
              <a:rPr sz="1050" b="0" i="0">
                <a:solidFill>
                  <a:srgbClr val="16213A"/>
                </a:solidFill>
                <a:latin typeface="Arial"/>
                <a:ea typeface="Malgun Gothic"/>
                <a:cs typeface="Malgun Gothic"/>
              </a:rPr>
              <a:t> Waymo Occupancy and Flow 챌린지 2022년 우승으로 흔히 인용되는 </a:t>
            </a:r>
            <a:r>
              <a:rPr sz="1050" b="1" i="0">
                <a:solidFill>
                  <a:srgbClr val="16213A"/>
                </a:solidFill>
                <a:latin typeface="Arial"/>
                <a:ea typeface="Malgun Gothic"/>
                <a:cs typeface="Malgun Gothic"/>
              </a:rPr>
              <a:t>HOPE</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arXiv:2206.10118</a:t>
            </a:r>
            <a:r>
              <a:rPr sz="1050" b="0" i="0">
                <a:solidFill>
                  <a:srgbClr val="16213A"/>
                </a:solidFill>
                <a:latin typeface="Arial"/>
                <a:ea typeface="Malgun Gothic"/>
                <a:cs typeface="Malgun Gothic"/>
              </a:rPr>
              <a:t>)는 논문 자체만 확인했고, Waymo 공식 결과 페이지로 우승 여부를 교차 확인하지 못했다. 2024년 챌린지의 특정 우승 기법은 확인하지 못해 인용하지 않는다. 2025–2026년 새 챌린지의 근거도 찾지 못했다. 연구의 중심은 UniOcc 같은 공개 벤치마크와 OccWorld 계열 world model로 옮겨 간 것으로 보인다.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커뮤니티 활동(2026-09 기준).</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wzzheng/OccWorld</a:t>
            </a:r>
            <a:r>
              <a:rPr sz="1050" b="0" i="0">
                <a:solidFill>
                  <a:srgbClr val="16213A"/>
                </a:solidFill>
                <a:latin typeface="Arial"/>
                <a:ea typeface="Malgun Gothic"/>
                <a:cs typeface="Malgun Gothic"/>
              </a:rPr>
              <a:t> 588★(2026-09-23 갱신), </a:t>
            </a:r>
            <a:r>
              <a:rPr sz="1050" b="0" i="0">
                <a:solidFill>
                  <a:srgbClr val="16213A"/>
                </a:solidFill>
                <a:latin typeface="Consolas"/>
                <a:ea typeface="Malgun Gothic"/>
                <a:cs typeface="Malgun Gothic"/>
              </a:rPr>
              <a:t>weiyithu/SurroundOcc</a:t>
            </a:r>
            <a:r>
              <a:rPr sz="1050" b="0" i="0">
                <a:solidFill>
                  <a:srgbClr val="16213A"/>
                </a:solidFill>
                <a:latin typeface="Arial"/>
                <a:ea typeface="Malgun Gothic"/>
                <a:cs typeface="Malgun Gothic"/>
              </a:rPr>
              <a:t> 1,084★, </a:t>
            </a:r>
            <a:r>
              <a:rPr sz="1050" b="0" i="0">
                <a:solidFill>
                  <a:srgbClr val="16213A"/>
                </a:solidFill>
                <a:latin typeface="Consolas"/>
                <a:ea typeface="Malgun Gothic"/>
                <a:cs typeface="Malgun Gothic"/>
              </a:rPr>
              <a:t>haomo-ai/Cam4DOcc</a:t>
            </a:r>
            <a:r>
              <a:rPr sz="1050" b="0" i="0">
                <a:solidFill>
                  <a:srgbClr val="16213A"/>
                </a:solidFill>
                <a:latin typeface="Arial"/>
                <a:ea typeface="Malgun Gothic"/>
                <a:cs typeface="Malgun Gothic"/>
              </a:rPr>
              <a:t> 293★, </a:t>
            </a:r>
            <a:r>
              <a:rPr sz="1050" b="0" i="0">
                <a:solidFill>
                  <a:srgbClr val="16213A"/>
                </a:solidFill>
                <a:latin typeface="Consolas"/>
                <a:ea typeface="Malgun Gothic"/>
                <a:cs typeface="Malgun Gothic"/>
              </a:rPr>
              <a:t>tasl-lab/UniOcc</a:t>
            </a:r>
            <a:r>
              <a:rPr sz="1050" b="0" i="0">
                <a:solidFill>
                  <a:srgbClr val="16213A"/>
                </a:solidFill>
                <a:latin typeface="Arial"/>
                <a:ea typeface="Malgun Gothic"/>
                <a:cs typeface="Malgun Gothic"/>
              </a:rPr>
              <a:t> 226★, </a:t>
            </a:r>
            <a:r>
              <a:rPr sz="1050" b="0" i="0">
                <a:solidFill>
                  <a:srgbClr val="16213A"/>
                </a:solidFill>
                <a:latin typeface="Consolas"/>
                <a:ea typeface="Malgun Gothic"/>
                <a:cs typeface="Malgun Gothic"/>
              </a:rPr>
              <a:t>gusongen/DOME</a:t>
            </a:r>
            <a:r>
              <a:rPr sz="1050" b="0" i="0">
                <a:solidFill>
                  <a:srgbClr val="16213A"/>
                </a:solidFill>
                <a:latin typeface="Arial"/>
                <a:ea typeface="Malgun Gothic"/>
                <a:cs typeface="Malgun Gothic"/>
              </a:rPr>
              <a:t> 70★(2026-04까지 활발). 자동차 occupancy 연구는 여전히 활발하다.</a:t>
            </a:r>
          </a:p>
        </p:txBody>
      </p:sp>
      <p:pic>
        <p:nvPicPr>
          <p:cNvPr id="7" name="Picture 6" descr="image.png"/>
          <p:cNvPicPr>
            <a:picLocks noChangeAspect="1"/>
          </p:cNvPicPr>
          <p:nvPr/>
        </p:nvPicPr>
        <p:blipFill>
          <a:blip r:embed="rId4"/>
          <a:stretch>
            <a:fillRect/>
          </a:stretch>
        </p:blipFill>
        <p:spPr>
          <a:xfrm>
            <a:off x="3657600" y="2504877"/>
            <a:ext cx="4876800" cy="2743200"/>
          </a:xfrm>
          <a:prstGeom prst="rect">
            <a:avLst/>
          </a:prstGeom>
        </p:spPr>
      </p:pic>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예측·World model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A.6 자율주행 자동차: occupancy flow와 world model</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250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비교</a:t>
            </a:r>
          </a:p>
        </p:txBody>
      </p:sp>
      <p:graphicFrame>
        <p:nvGraphicFramePr>
          <p:cNvPr id="6" name="Table 5"/>
          <p:cNvGraphicFramePr>
            <a:graphicFrameLocks noGrp="1"/>
          </p:cNvGraphicFramePr>
          <p:nvPr/>
        </p:nvGraphicFramePr>
        <p:xfrm>
          <a:off x="609600" y="1547812"/>
          <a:ext cx="10966449" cy="1970880"/>
        </p:xfrm>
        <a:graphic>
          <a:graphicData uri="http://schemas.openxmlformats.org/drawingml/2006/table">
            <a:tbl>
              <a:tblPr firstRow="1" bandRow="1">
                <a:tableStyleId>{5C22544A-7EE6-4342-B048-85BDC9FD1C3A}</a:tableStyleId>
              </a:tblPr>
              <a:tblGrid>
                <a:gridCol w="1551682"/>
                <a:gridCol w="1945580"/>
                <a:gridCol w="3841353"/>
                <a:gridCol w="1877516"/>
                <a:gridCol w="1750318"/>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입력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실측 근거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OFMPNet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 + BEV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occupancy + flow, Waymo 벤치마크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Soft-IoU·AUC만</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arXiv:2404.02263</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OccWorld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과거 occupancy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장면 토큰 transformer, 장면·자기 궤적 동시 예측</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arXiv:2311.16038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Drive-OccWorld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메모리 조건부 4D 예측 + 행동 조건부 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arXiv:2408.14197</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OccLLaMA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occupancy 토큰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occupancy-언어-행동 world model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arXiv:2409.03272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Let Occ Flow</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tri-plane + 미분 가능 렌더링, 자기지도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arXiv:2407.07587</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UniOcc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여러 데이터셋</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occupancy + flow 통합 벤치마크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해당 없음</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arXiv:2503.24381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DOME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제어 가능한 diffusion world model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arXiv:2410.10429</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GEM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occupancy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임의 시각 조회 4D 가우시안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arXiv:2605.17682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RiskWorld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 + 지도 + 행위자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flow 예측 + 위험 기반 선택적 재계획</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RTX 4090 11.5 FPS</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arXiv:2609.18442</a:t>
                      </a:r>
                    </a:p>
                  </a:txBody>
                  <a:tcPr marL="63500" marR="63500" marT="12700" marB="12700">
                    <a:solidFill>
                      <a:srgbClr val="FFFDF8"/>
                    </a:solidFill>
                  </a:tcPr>
                </a:tc>
              </a:tr>
            </a:tbl>
          </a:graphicData>
        </a:graphic>
      </p:graphicFrame>
      <p:sp>
        <p:nvSpPr>
          <p:cNvPr id="7" name="TextBox 6"/>
          <p:cNvSpPr txBox="1"/>
          <p:nvPr/>
        </p:nvSpPr>
        <p:spPr>
          <a:xfrm>
            <a:off x="609600" y="410666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결론.</a:t>
            </a:r>
            <a:r>
              <a:rPr sz="1050" b="0" i="0">
                <a:solidFill>
                  <a:srgbClr val="16213A"/>
                </a:solidFill>
                <a:latin typeface="Arial"/>
                <a:ea typeface="Malgun Gothic"/>
                <a:cs typeface="Malgun Gothic"/>
              </a:rPr>
              <a:t> 이 계열은 모두 데스크톱 GPU급이고 Orin 실측이 없어 P2 채택 후보가 아니다. 그래도 "미래 점유를 예측해 회피에 쓴다"는 문제 설정은 travplan의 동적 장애물 처리(§C)와 같다. 특히 RiskWorld의 </a:t>
            </a:r>
            <a:r>
              <a:rPr sz="1050" b="1" i="0">
                <a:solidFill>
                  <a:srgbClr val="16213A"/>
                </a:solidFill>
                <a:latin typeface="Arial"/>
                <a:ea typeface="Malgun Gothic"/>
                <a:cs typeface="Malgun Gothic"/>
              </a:rPr>
              <a:t>"위험할 때만 재계획"</a:t>
            </a:r>
            <a:r>
              <a:rPr sz="1050" b="0" i="0">
                <a:solidFill>
                  <a:srgbClr val="16213A"/>
                </a:solidFill>
                <a:latin typeface="Arial"/>
                <a:ea typeface="Malgun Gothic"/>
                <a:cs typeface="Malgun Gothic"/>
              </a:rPr>
              <a:t>은 Planner D의 재계획 간 일관성 문제(§B.9)에 참고할 만하다.</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인식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보행 로봇</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인식 (docs/research-perception.md)    251 / 359</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A.7 4족 보행 로봇의 인식</a:t>
            </a:r>
          </a:p>
          <a:p>
            <a:pPr>
              <a:spcAft>
                <a:spcPts val="400"/>
              </a:spcAft>
            </a:pPr>
            <a:r>
              <a:rPr sz="1000" b="0" i="0">
                <a:solidFill>
                  <a:srgbClr val="C9D1E0"/>
                </a:solidFill>
                <a:latin typeface="Arial"/>
                <a:ea typeface="Malgun Gothic"/>
                <a:cs typeface="Malgun Gothic"/>
              </a:rPr>
              <a:t>A.8 휴머노이드의 인식</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A.9 폼팩터 비교: travplan에 무엇이 쓰이나</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보행 로봇</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252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탭을 읽는 법.</a:t>
            </a:r>
            <a:r>
              <a:rPr sz="1050" b="0" i="0">
                <a:solidFill>
                  <a:srgbClr val="16213A"/>
                </a:solidFill>
                <a:latin typeface="Arial"/>
                <a:ea typeface="Malgun Gothic"/>
                <a:cs typeface="Malgun Gothic"/>
              </a:rPr>
              <a:t> 논문마다 "자세히" 토글에 풀려는 문제, 입력과 구조, 학습 방법, 수식, 실험 수치, 한계, travplan에 주는 것을 적었다. 그 논문을 읽는 데 필요한 개념은 </a:t>
            </a:r>
            <a:r>
              <a:rPr sz="1050" b="1" i="0">
                <a:solidFill>
                  <a:srgbClr val="16213A"/>
                </a:solidFill>
                <a:latin typeface="Arial"/>
                <a:ea typeface="Malgun Gothic"/>
                <a:cs typeface="Malgun Gothic"/>
              </a:rPr>
              <a:t>바로 뒤의 "배경:" 토글</a:t>
            </a:r>
            <a:r>
              <a:rPr sz="1050" b="0" i="0">
                <a:solidFill>
                  <a:srgbClr val="16213A"/>
                </a:solidFill>
                <a:latin typeface="Arial"/>
                <a:ea typeface="Malgun Gothic"/>
                <a:cs typeface="Malgun Gothic"/>
              </a:rPr>
              <a:t>에 있다. 개념 하나는 대표 논문 하나 뒤에 한 번만 두므로(처음 쓰는 논문보다 뒤일 수 있다), 다른 논문에서 다시 나오면 아래 색인으로 찾는다.</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보행 로봇</a:t>
            </a:r>
            <a:r>
              <a:rPr sz="1050" b="0" i="0">
                <a:solidFill>
                  <a:srgbClr val="5A6478"/>
                </a:solidFill>
                <a:latin typeface="Arial"/>
                <a:ea typeface="Malgun Gothic"/>
                <a:cs typeface="Malgun Gothic"/>
              </a:rPr>
              <a:t>  배경지식 찾아보기 — 이 탭의 배경 토글 40개와 위치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253 / 359</a:t>
            </a:r>
          </a:p>
        </p:txBody>
      </p:sp>
      <p:sp>
        <p:nvSpPr>
          <p:cNvPr id="5" name="TextBox 4"/>
          <p:cNvSpPr txBox="1"/>
          <p:nvPr/>
        </p:nvSpPr>
        <p:spPr>
          <a:xfrm>
            <a:off x="609600" y="124460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2개(문단·식·그림)는 대시보드 리서치 탭의 "배경지식 찾아보기 — 이 탭의 배경 토글 40개와 위치" 토글에 있다.</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254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travplan은 바퀴형이지만, 보도 위 지형(계단·연석·경사·요철)을 실제 하드웨어로 가장 오래 다뤄 온 쪽은 4족 보행 커뮤니티다. 이들이 얻은 교훈 하나가 travplan에 그대로 쓰인다. </a:t>
            </a:r>
            <a:r>
              <a:rPr sz="1050" b="1" i="0">
                <a:solidFill>
                  <a:srgbClr val="C2410C"/>
                </a:solidFill>
                <a:latin typeface="Arial"/>
                <a:ea typeface="Malgun Gothic"/>
                <a:cs typeface="Malgun Gothic"/>
              </a:rPr>
              <a:t>지형을 매 순간 완벽히 재구성할 필요는 없고, 얼마나 믿을 만한지를 함께 알면 된다.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TravMap.SIGMA</a:t>
            </a:r>
            <a:r>
              <a:rPr sz="1050" b="0" i="0">
                <a:solidFill>
                  <a:srgbClr val="16213A"/>
                </a:solidFill>
                <a:latin typeface="Arial"/>
                <a:ea typeface="Malgun Gothic"/>
                <a:cs typeface="Malgun Gothic"/>
              </a:rPr>
              <a:t> 채널이 바로 그 역할이다.</a:t>
            </a:r>
          </a:p>
        </p:txBody>
      </p:sp>
      <p:sp>
        <p:nvSpPr>
          <p:cNvPr id="6" name="TextBox 5"/>
          <p:cNvSpPr txBox="1"/>
          <p:nvPr/>
        </p:nvSpPr>
        <p:spPr>
          <a:xfrm>
            <a:off x="609600" y="1766491"/>
            <a:ext cx="10972800" cy="1355725"/>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(1) blind / proprioceptive 보행                 (2) perceptive 보행 (지형 지도 기반)</a:t>
            </a:r>
          </a:p>
          <a:p>
            <a:r>
              <a:rPr sz="750" b="0" i="0">
                <a:solidFill>
                  <a:srgbClr val="F4F1EA"/>
                </a:solidFill>
                <a:latin typeface="Consolas"/>
                <a:ea typeface="Malgun Gothic"/>
                <a:cs typeface="Malgun Gothic"/>
              </a:rPr>
              <a:t>┌─────────────┐                               ┌──────────────┐    ┌─────────────────┐</a:t>
            </a:r>
          </a:p>
          <a:p>
            <a:r>
              <a:rPr sz="750" b="0" i="0">
                <a:solidFill>
                  <a:srgbClr val="F4F1EA"/>
                </a:solidFill>
                <a:latin typeface="Consolas"/>
                <a:ea typeface="Malgun Gothic"/>
                <a:cs typeface="Malgun Gothic"/>
              </a:rPr>
              <a:t>│ 관절 인코더  │──▶ RL 정책 ──▶ 토크            │ LiDAR·스테레오 │──▶ │ elevation map    │──▶ 지형 인지 정책 / 발 디딤</a:t>
            </a:r>
          </a:p>
          <a:p>
            <a:r>
              <a:rPr sz="750" b="0" i="0">
                <a:solidFill>
                  <a:srgbClr val="F4F1EA"/>
                </a:solidFill>
                <a:latin typeface="Consolas"/>
                <a:ea typeface="Malgun Gothic"/>
                <a:cs typeface="Malgun Gothic"/>
              </a:rPr>
              <a:t>│ + IMU만     │   (관절과 IMU 이력으로 지형 추론) │              │    │ (WVN 등 자기지도) │</a:t>
            </a:r>
          </a:p>
          <a:p>
            <a:r>
              <a:rPr sz="750" b="0" i="0">
                <a:solidFill>
                  <a:srgbClr val="F4F1EA"/>
                </a:solidFill>
                <a:latin typeface="Consolas"/>
                <a:ea typeface="Malgun Gothic"/>
                <a:cs typeface="Malgun Gothic"/>
              </a:rPr>
              <a:t>└─────────────┘                               └──────────────┘    └─────────────────┘</a:t>
            </a:r>
          </a:p>
          <a:p>
            <a:r>
              <a:rPr sz="750" b="0" i="0">
                <a:solidFill>
                  <a:srgbClr val="F4F1EA"/>
                </a:solidFill>
                <a:latin typeface="Consolas"/>
                <a:ea typeface="Malgun Gothic"/>
                <a:cs typeface="Malgun Gothic"/>
              </a:rPr>
              <a:t> 닿은 뒤에야 반응한다.                           장애물·계단을 미리 보고 돌아간다.</a:t>
            </a:r>
          </a:p>
          <a:p>
            <a:r>
              <a:rPr sz="750" b="0" i="0">
                <a:solidFill>
                  <a:srgbClr val="F4F1EA"/>
                </a:solidFill>
                <a:latin typeface="Consolas"/>
                <a:ea typeface="Malgun Gothic"/>
                <a:cs typeface="Malgun Gothic"/>
              </a:rPr>
              <a:t> 큰 장애물을 미리 피하거나 경로를 짜지 못한다.     travplan의 elevation_mapping_gpu_ros2(TP-0008)가 여기 속한다.</a:t>
            </a:r>
          </a:p>
          <a:p>
            <a:r>
              <a:rPr sz="750" b="0" i="0">
                <a:solidFill>
                  <a:srgbClr val="F4F1EA"/>
                </a:solidFill>
                <a:latin typeface="Consolas"/>
                <a:ea typeface="Malgun Gothic"/>
                <a:cs typeface="Malgun Gothic"/>
              </a:rPr>
              <a:t> (Lee et al. 2020, Science Robotics)</a:t>
            </a:r>
          </a:p>
        </p:txBody>
      </p:sp>
      <p:sp>
        <p:nvSpPr>
          <p:cNvPr id="7" name="TextBox 6"/>
          <p:cNvSpPr txBox="1"/>
          <p:nvPr/>
        </p:nvSpPr>
        <p:spPr>
          <a:xfrm>
            <a:off x="609600" y="321111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blind 보행의 한계.</a:t>
            </a:r>
            <a:r>
              <a:rPr sz="1050" b="0" i="0">
                <a:solidFill>
                  <a:srgbClr val="16213A"/>
                </a:solidFill>
                <a:latin typeface="Arial"/>
                <a:ea typeface="Malgun Gothic"/>
                <a:cs typeface="Malgun Gothic"/>
              </a:rPr>
              <a:t> Lee, Hwangbo, Wellhausen, Koltun, Hutter의 </a:t>
            </a:r>
            <a:r>
              <a:rPr sz="1050" b="0" i="1">
                <a:solidFill>
                  <a:srgbClr val="16213A"/>
                </a:solidFill>
                <a:latin typeface="Arial"/>
                <a:ea typeface="Malgun Gothic"/>
                <a:cs typeface="Malgun Gothic"/>
              </a:rPr>
              <a:t>Learning quadrupedal locomotion over challenging terrain</a:t>
            </a:r>
            <a:r>
              <a:rPr sz="1050" b="0" i="0">
                <a:solidFill>
                  <a:srgbClr val="16213A"/>
                </a:solidFill>
                <a:latin typeface="Arial"/>
                <a:ea typeface="Malgun Gothic"/>
                <a:cs typeface="Malgun Gothic"/>
              </a:rPr>
              <a:t>(Science Robotics 2020, </a:t>
            </a:r>
            <a:r>
              <a:rPr sz="1050" b="0" i="0">
                <a:solidFill>
                  <a:srgbClr val="1D4ED8"/>
                </a:solidFill>
                <a:latin typeface="Arial"/>
                <a:ea typeface="Malgun Gothic"/>
                <a:cs typeface="Malgun Gothic"/>
                <a:hlinkClick r:id="rId3"/>
              </a:rPr>
              <a:t>링크</a:t>
            </a:r>
            <a:r>
              <a:rPr sz="1050" b="0" i="0">
                <a:solidFill>
                  <a:srgbClr val="16213A"/>
                </a:solidFill>
                <a:latin typeface="Arial"/>
                <a:ea typeface="Malgun Gothic"/>
                <a:cs typeface="Malgun Gothic"/>
              </a:rPr>
              <a:t>)은 카메라와 LiDAR 없이 관절 인코더와 IMU만으로 걷는다. RL 정책이 관절과 IMU 신호의 이력에서 지형을 암묵적으로 읽어(발 접촉·힘 센서는 쓰지 않는다), 실제 ANYmal이 진흙·눈·잔해 위를 걸었다. 하지만 </a:t>
            </a:r>
            <a:r>
              <a:rPr sz="1050" b="1" i="0">
                <a:solidFill>
                  <a:srgbClr val="C2410C"/>
                </a:solidFill>
                <a:latin typeface="Arial"/>
                <a:ea typeface="Malgun Gothic"/>
                <a:cs typeface="Malgun Gothic"/>
              </a:rPr>
              <a:t>닿는 순간에만 반응</a:t>
            </a:r>
            <a:r>
              <a:rPr sz="1050" b="0" i="0">
                <a:solidFill>
                  <a:srgbClr val="16213A"/>
                </a:solidFill>
                <a:latin typeface="Arial"/>
                <a:ea typeface="Malgun Gothic"/>
                <a:cs typeface="Malgun Gothic"/>
              </a:rPr>
              <a:t>하므로 갭이나 계단 같은 큰 장애물은 미리 피하지 못한다. 경로를 지형 비용으로 미리 최적화해야 하는 travplan에는 이것만으로 부족하다는 반례다.</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자세히: Lee et al. 2020(blind 보행)의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255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기존 보행 제어기는 상태 기계로 동작 원형과 반사 동작을 차례로 부른다. 전환 조건은 "발이 닿았나", "미끄러졌나"를 문턱값으로 추정해 정한다. 진흙·눈·수풀처럼 모델에 없는 지면에서는 이 추정이 흔들리고, 상황이 늘수록 상태 기계가 커진다. 카메라와 LiDAR는 마찰·무름을 재지 못하고, 눈·물·수풀에 가려진다. 이전 RL 보행은 평지 실험실에 머물렀다. 저자들은 다음을 보였다. </a:t>
            </a:r>
            <a:r>
              <a:rPr sz="1050" b="1" i="0">
                <a:solidFill>
                  <a:srgbClr val="C2410C"/>
                </a:solidFill>
                <a:latin typeface="Arial"/>
                <a:ea typeface="Malgun Gothic"/>
                <a:cs typeface="Malgun Gothic"/>
              </a:rPr>
              <a:t>관절 인코더와 IMU만 쓰는 정책이 시뮬레이션의 단단한 지형에서만 배우고도 실제 자연 지형으로 zero-shot으로 옮겨 간다.</a:t>
            </a:r>
            <a:r>
              <a:rPr sz="1050" b="0" i="0">
                <a:solidFill>
                  <a:srgbClr val="16213A"/>
                </a:solidFill>
                <a:latin typeface="Arial"/>
                <a:ea typeface="Malgun Gothic"/>
                <a:cs typeface="Malgun Gothic"/>
              </a:rPr>
              <a:t> 핵심 재료는 셋이다. TCN 학생 정책, 특권 교사, 적응형 지형 커리큘럼이다.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명령.</a:t>
            </a:r>
            <a:r>
              <a:rPr sz="1050" b="0" i="0">
                <a:solidFill>
                  <a:srgbClr val="16213A"/>
                </a:solidFill>
                <a:latin typeface="Arial"/>
                <a:ea typeface="Malgun Gothic"/>
                <a:cs typeface="Malgun Gothic"/>
              </a:rPr>
              <a:t> 속도가 아니라 </a:t>
            </a:r>
            <a:r>
              <a:rPr sz="1050" b="1" i="0">
                <a:solidFill>
                  <a:srgbClr val="16213A"/>
                </a:solidFill>
                <a:latin typeface="Arial"/>
                <a:ea typeface="Malgun Gothic"/>
                <a:cs typeface="Malgun Gothic"/>
              </a:rPr>
              <a:t>방향</a:t>
            </a:r>
            <a:r>
              <a:rPr sz="1050" b="0" i="0">
                <a:solidFill>
                  <a:srgbClr val="16213A"/>
                </a:solidFill>
                <a:latin typeface="Arial"/>
                <a:ea typeface="Malgun Gothic"/>
                <a:cs typeface="Malgun Gothic"/>
              </a:rPr>
              <a:t>만 준다. 거친 지형에서는 낼 수 있는 속도가 오르막·내리막마다 달라 목표 속도를 정하기 어렵기 때문이다. 명령은 몸체 좌표의 진행 방향 </a:t>
            </a:r>
            <a:r>
              <a:rPr sz="1050" b="0" i="1">
                <a:solidFill>
                  <a:srgbClr val="16213A"/>
                </a:solidFill>
                <a:latin typeface="Arial"/>
                <a:ea typeface="Malgun Gothic"/>
                <a:cs typeface="Malgun Gothic"/>
              </a:rPr>
              <a:t>⟨ cosψ_T, sinψ_T ⟩</a:t>
            </a:r>
            <a:r>
              <a:rPr sz="1050" b="0" i="0">
                <a:solidFill>
                  <a:srgbClr val="16213A"/>
                </a:solidFill>
                <a:latin typeface="Arial"/>
                <a:ea typeface="Malgun Gothic"/>
                <a:cs typeface="Malgun Gothic"/>
              </a:rPr>
              <a:t>(정지는 </a:t>
            </a:r>
            <a:r>
              <a:rPr sz="1050" b="0" i="1">
                <a:solidFill>
                  <a:srgbClr val="16213A"/>
                </a:solidFill>
                <a:latin typeface="Arial"/>
                <a:ea typeface="Malgun Gothic"/>
                <a:cs typeface="Malgun Gothic"/>
              </a:rPr>
              <a:t>⟨ 0, 0 ⟩</a:t>
            </a:r>
            <a:r>
              <a:rPr sz="1050" b="0" i="0">
                <a:solidFill>
                  <a:srgbClr val="16213A"/>
                </a:solidFill>
                <a:latin typeface="Arial"/>
                <a:ea typeface="Malgun Gothic"/>
                <a:cs typeface="Malgun Gothic"/>
              </a:rPr>
              <a:t>)과 회전 방향 </a:t>
            </a:r>
            <a:r>
              <a:rPr sz="1050" b="0" i="1">
                <a:solidFill>
                  <a:srgbClr val="16213A"/>
                </a:solidFill>
                <a:latin typeface="Arial"/>
                <a:ea typeface="Malgun Gothic"/>
                <a:cs typeface="Malgun Gothic"/>
              </a:rPr>
              <a:t>{-1, 0, 1}</a:t>
            </a:r>
            <a:r>
              <a:rPr sz="1050" b="0" i="0">
                <a:solidFill>
                  <a:srgbClr val="16213A"/>
                </a:solidFill>
                <a:latin typeface="Arial"/>
                <a:ea typeface="Malgun Gothic"/>
                <a:cs typeface="Malgun Gothic"/>
              </a:rPr>
              <a:t>이다.</a:t>
            </a:r>
          </a:p>
        </p:txBody>
      </p:sp>
      <p:sp>
        <p:nvSpPr>
          <p:cNvPr id="7" name="TextBox 6"/>
          <p:cNvSpPr txBox="1"/>
          <p:nvPr/>
        </p:nvSpPr>
        <p:spPr>
          <a:xfrm>
            <a:off x="609600" y="25048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생성: PMTG.</a:t>
            </a:r>
            <a:r>
              <a:rPr sz="1050" b="0" i="0">
                <a:solidFill>
                  <a:srgbClr val="16213A"/>
                </a:solidFill>
                <a:latin typeface="Arial"/>
                <a:ea typeface="Malgun Gothic"/>
                <a:cs typeface="Malgun Gothic"/>
              </a:rPr>
              <a:t> 정책이 관절을 직접 내지 않는다. 다리마다 발 궤적 생성기(FTG)가 주기 운동을 만들고, 정책은 그 위에 잔차를 얹는다. 다리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의 위상은 아래처럼 흐른다. </a:t>
            </a:r>
            <a:r>
              <a:rPr sz="1050" b="0" i="1">
                <a:solidFill>
                  <a:srgbClr val="16213A"/>
                </a:solidFill>
                <a:latin typeface="Arial"/>
                <a:ea typeface="Malgun Gothic"/>
                <a:cs typeface="Malgun Gothic"/>
              </a:rPr>
              <a:t>[0, π)</a:t>
            </a:r>
            <a:r>
              <a:rPr sz="1050" b="0" i="0">
                <a:solidFill>
                  <a:srgbClr val="16213A"/>
                </a:solidFill>
                <a:latin typeface="Arial"/>
                <a:ea typeface="Malgun Gothic"/>
                <a:cs typeface="Malgun Gothic"/>
              </a:rPr>
              <a:t>가 접지, </a:t>
            </a:r>
            <a:r>
              <a:rPr sz="1050" b="0" i="1">
                <a:solidFill>
                  <a:srgbClr val="16213A"/>
                </a:solidFill>
                <a:latin typeface="Arial"/>
                <a:ea typeface="Malgun Gothic"/>
                <a:cs typeface="Malgun Gothic"/>
              </a:rPr>
              <a:t>[π, 2π)</a:t>
            </a:r>
            <a:r>
              <a:rPr sz="1050" b="0" i="0">
                <a:solidFill>
                  <a:srgbClr val="16213A"/>
                </a:solidFill>
                <a:latin typeface="Arial"/>
                <a:ea typeface="Malgun Gothic"/>
                <a:cs typeface="Malgun Gothic"/>
              </a:rPr>
              <a:t>가 스윙이다.</a:t>
            </a:r>
          </a:p>
        </p:txBody>
      </p:sp>
      <p:pic>
        <p:nvPicPr>
          <p:cNvPr id="8" name="Picture 7" descr="image.png"/>
          <p:cNvPicPr>
            <a:picLocks noChangeAspect="1"/>
          </p:cNvPicPr>
          <p:nvPr/>
        </p:nvPicPr>
        <p:blipFill>
          <a:blip r:embed="rId3"/>
          <a:stretch>
            <a:fillRect/>
          </a:stretch>
        </p:blipFill>
        <p:spPr>
          <a:xfrm>
            <a:off x="609600" y="3026767"/>
            <a:ext cx="4308475" cy="241300"/>
          </a:xfrm>
          <a:prstGeom prst="rect">
            <a:avLst/>
          </a:prstGeom>
        </p:spPr>
      </p:pic>
      <p:sp>
        <p:nvSpPr>
          <p:cNvPr id="9" name="TextBox 8"/>
          <p:cNvSpPr txBox="1"/>
          <p:nvPr/>
        </p:nvSpPr>
        <p:spPr>
          <a:xfrm>
            <a:off x="609600" y="3304282"/>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f₀ = 1.25</a:t>
            </a:r>
            <a:r>
              <a:rPr sz="1050" b="0" i="0">
                <a:solidFill>
                  <a:srgbClr val="16213A"/>
                </a:solidFill>
                <a:latin typeface="Arial"/>
                <a:ea typeface="Malgun Gothic"/>
                <a:cs typeface="Malgun Gothic"/>
              </a:rPr>
              <a:t> Hz는 공통 기저 주파수(기존 trot 제어기 값), </a:t>
            </a:r>
            <a:r>
              <a:rPr sz="1050" b="0" i="1">
                <a:solidFill>
                  <a:srgbClr val="16213A"/>
                </a:solidFill>
                <a:latin typeface="Arial"/>
                <a:ea typeface="Malgun Gothic"/>
                <a:cs typeface="Malgun Gothic"/>
              </a:rPr>
              <a:t>fᵢ</a:t>
            </a:r>
            <a:r>
              <a:rPr sz="1050" b="0" i="0">
                <a:solidFill>
                  <a:srgbClr val="16213A"/>
                </a:solidFill>
                <a:latin typeface="Arial"/>
                <a:ea typeface="Malgun Gothic"/>
                <a:cs typeface="Malgun Gothic"/>
              </a:rPr>
              <a:t>는 정책이 내는 다리별 주파수 오프셋,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는 발 높이 </a:t>
            </a:r>
            <a:r>
              <a:rPr sz="1050" b="0" i="1">
                <a:solidFill>
                  <a:srgbClr val="16213A"/>
                </a:solidFill>
                <a:latin typeface="Arial"/>
                <a:ea typeface="Malgun Gothic"/>
                <a:cs typeface="Malgun Gothic"/>
              </a:rPr>
              <a:t>h = 0.2</a:t>
            </a:r>
            <a:r>
              <a:rPr sz="1050" b="0" i="0">
                <a:solidFill>
                  <a:srgbClr val="16213A"/>
                </a:solidFill>
                <a:latin typeface="Arial"/>
                <a:ea typeface="Malgun Gothic"/>
                <a:cs typeface="Malgun Gothic"/>
              </a:rPr>
              <a:t> m인 3차 Hermite 스윙 곡선, </a:t>
            </a:r>
            <a:r>
              <a:rPr sz="1050" b="0" i="1">
                <a:solidFill>
                  <a:srgbClr val="16213A"/>
                </a:solidFill>
                <a:latin typeface="Arial"/>
                <a:ea typeface="Malgun Gothic"/>
                <a:cs typeface="Malgun Gothic"/>
              </a:rPr>
              <a:t>Δ r</a:t>
            </a:r>
            <a:r>
              <a:rPr sz="1050" b="0" i="0">
                <a:solidFill>
                  <a:srgbClr val="16213A"/>
                </a:solidFill>
                <a:latin typeface="Arial"/>
                <a:ea typeface="Malgun Gothic"/>
                <a:cs typeface="Malgun Gothic"/>
              </a:rPr>
              <a:t>은 정책이 내는 발 위치 잔차다. 행동은 16차원(</a:t>
            </a:r>
            <a:r>
              <a:rPr sz="1050" b="0" i="1">
                <a:solidFill>
                  <a:srgbClr val="16213A"/>
                </a:solidFill>
                <a:latin typeface="Arial"/>
                <a:ea typeface="Malgun Gothic"/>
                <a:cs typeface="Malgun Gothic"/>
              </a:rPr>
              <a:t>fᵢ</a:t>
            </a:r>
            <a:r>
              <a:rPr sz="1050" b="0" i="0">
                <a:solidFill>
                  <a:srgbClr val="16213A"/>
                </a:solidFill>
                <a:latin typeface="Arial"/>
                <a:ea typeface="Malgun Gothic"/>
                <a:cs typeface="Malgun Gothic"/>
              </a:rPr>
              <a:t> 4개 + 잔차 3×4)이다. 목표 발 위치는 해석적 IK로 관절 목표가 되고 관절 PD가 따라간다. 발 목표는 몸체 롤·피치와 분리된 수평 좌표 </a:t>
            </a:r>
            <a:r>
              <a:rPr sz="1050" b="0" i="1">
                <a:solidFill>
                  <a:srgbClr val="16213A"/>
                </a:solidFill>
                <a:latin typeface="Arial"/>
                <a:ea typeface="Malgun Gothic"/>
                <a:cs typeface="Malgun Gothic"/>
              </a:rPr>
              <a:t>Hᵢ</a:t>
            </a:r>
            <a:r>
              <a:rPr sz="1050" b="0" i="0">
                <a:solidFill>
                  <a:srgbClr val="16213A"/>
                </a:solidFill>
                <a:latin typeface="Arial"/>
                <a:ea typeface="Malgun Gothic"/>
                <a:cs typeface="Malgun Gothic"/>
              </a:rPr>
              <a:t>에서 정의해 학습 초반 넘어짐을 줄였다.</a:t>
            </a:r>
          </a:p>
        </p:txBody>
      </p:sp>
      <p:sp>
        <p:nvSpPr>
          <p:cNvPr id="10" name="TextBox 9"/>
          <p:cNvSpPr txBox="1"/>
          <p:nvPr/>
        </p:nvSpPr>
        <p:spPr>
          <a:xfrm>
            <a:off x="609600" y="382617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관측.</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oₜ</a:t>
            </a:r>
            <a:r>
              <a:rPr sz="1050" b="0" i="0">
                <a:solidFill>
                  <a:srgbClr val="16213A"/>
                </a:solidFill>
                <a:latin typeface="Arial"/>
                <a:ea typeface="Malgun Gothic"/>
                <a:cs typeface="Malgun Gothic"/>
              </a:rPr>
              <a:t>는 명령, 중력 벡터(자세), 몸체 선·각속도, 관절 위치·속도 24, FTG 위상 </a:t>
            </a:r>
            <a:r>
              <a:rPr sz="1050" b="0" i="1">
                <a:solidFill>
                  <a:srgbClr val="16213A"/>
                </a:solidFill>
                <a:latin typeface="Arial"/>
                <a:ea typeface="Malgun Gothic"/>
                <a:cs typeface="Malgun Gothic"/>
              </a:rPr>
              <a:t>⟨cosφ, sinφ⟩</a:t>
            </a:r>
            <a:r>
              <a:rPr sz="1050" b="0" i="0">
                <a:solidFill>
                  <a:srgbClr val="16213A"/>
                </a:solidFill>
                <a:latin typeface="Arial"/>
                <a:ea typeface="Malgun Gothic"/>
                <a:cs typeface="Malgun Gothic"/>
              </a:rPr>
              <a:t> 8, FTG 주파수 4, 기저 주파수, 관절 위치 오차·속도 이력(−0.01 s, −0.02 s), 이전 발 목표 2개다. 배치 시 몸체 속도·자세는 IMU와 다리 기구학을 합친 상태 추정기가 준다. </a:t>
            </a:r>
            <a:r>
              <a:rPr sz="1050" b="1" i="0">
                <a:solidFill>
                  <a:srgbClr val="16213A"/>
                </a:solidFill>
                <a:latin typeface="Arial"/>
                <a:ea typeface="Malgun Gothic"/>
                <a:cs typeface="Malgun Gothic"/>
              </a:rPr>
              <a:t>발 접촉 센서·힘 센서는 쓰지 않는다.</a:t>
            </a:r>
            <a:r>
              <a:rPr sz="1050" b="0" i="0">
                <a:solidFill>
                  <a:srgbClr val="16213A"/>
                </a:solidFill>
                <a:latin typeface="Arial"/>
                <a:ea typeface="Malgun Gothic"/>
                <a:cs typeface="Malgun Gothic"/>
              </a:rPr>
              <a:t> 특권 정보 </a:t>
            </a:r>
            <a:r>
              <a:rPr sz="1050" b="0" i="1">
                <a:solidFill>
                  <a:srgbClr val="16213A"/>
                </a:solidFill>
                <a:latin typeface="Arial"/>
                <a:ea typeface="Malgun Gothic"/>
                <a:cs typeface="Malgun Gothic"/>
              </a:rPr>
              <a:t>xₜ</a:t>
            </a:r>
            <a:r>
              <a:rPr sz="1050" b="0" i="0">
                <a:solidFill>
                  <a:srgbClr val="16213A"/>
                </a:solidFill>
                <a:latin typeface="Arial"/>
                <a:ea typeface="Malgun Gothic"/>
                <a:cs typeface="Malgun Gothic"/>
              </a:rPr>
              <a:t>는 시뮬레이터에서만 얻는다. 발마다 반지름 10 cm 원 위 높이 스캔 (9점, 합 36), 발 아래 지형 법선 12, 발 접촉 힘 4, 발·허벅지·정강이 접촉 상태 각 4, 발–지면 마찰계수 4, 몸체 외력 3이다.</a:t>
            </a:r>
          </a:p>
        </p:txBody>
      </p:sp>
      <p:sp>
        <p:nvSpPr>
          <p:cNvPr id="11" name="TextBox 10"/>
          <p:cNvSpPr txBox="1"/>
          <p:nvPr/>
        </p:nvSpPr>
        <p:spPr>
          <a:xfrm>
            <a:off x="609600" y="456455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1단계: 특권 교사.</a:t>
            </a:r>
            <a:r>
              <a:rPr sz="1050" b="0" i="0">
                <a:solidFill>
                  <a:srgbClr val="16213A"/>
                </a:solidFill>
                <a:latin typeface="Arial"/>
                <a:ea typeface="Malgun Gothic"/>
                <a:cs typeface="Malgun Gothic"/>
              </a:rPr>
              <a:t> MLP 인코더가 </a:t>
            </a:r>
            <a:r>
              <a:rPr sz="1050" b="0" i="1">
                <a:solidFill>
                  <a:srgbClr val="16213A"/>
                </a:solidFill>
                <a:latin typeface="Arial"/>
                <a:ea typeface="Malgun Gothic"/>
                <a:cs typeface="Malgun Gothic"/>
              </a:rPr>
              <a:t>xₜ</a:t>
            </a:r>
            <a:r>
              <a:rPr sz="1050" b="0" i="0">
                <a:solidFill>
                  <a:srgbClr val="16213A"/>
                </a:solidFill>
                <a:latin typeface="Arial"/>
                <a:ea typeface="Malgun Gothic"/>
                <a:cs typeface="Malgun Gothic"/>
              </a:rPr>
              <a:t>를 잠재 </a:t>
            </a:r>
            <a:r>
              <a:rPr sz="1050" b="0" i="1">
                <a:solidFill>
                  <a:srgbClr val="16213A"/>
                </a:solidFill>
                <a:latin typeface="Arial"/>
                <a:ea typeface="Malgun Gothic"/>
                <a:cs typeface="Malgun Gothic"/>
              </a:rPr>
              <a:t>l̄ₜ</a:t>
            </a:r>
            <a:r>
              <a:rPr sz="1050" b="0" i="0">
                <a:solidFill>
                  <a:srgbClr val="16213A"/>
                </a:solidFill>
                <a:latin typeface="Arial"/>
                <a:ea typeface="Malgun Gothic"/>
                <a:cs typeface="Malgun Gothic"/>
              </a:rPr>
              <a:t>(지형·접촉 특징만)로 줄이고, </a:t>
            </a:r>
            <a:r>
              <a:rPr sz="1050" b="0" i="1">
                <a:solidFill>
                  <a:srgbClr val="16213A"/>
                </a:solidFill>
                <a:latin typeface="Arial"/>
                <a:ea typeface="Malgun Gothic"/>
                <a:cs typeface="Malgun Gothic"/>
              </a:rPr>
              <a:t>oₜ</a:t>
            </a:r>
            <a:r>
              <a:rPr sz="1050" b="0" i="0">
                <a:solidFill>
                  <a:srgbClr val="16213A"/>
                </a:solidFill>
                <a:latin typeface="Arial"/>
                <a:ea typeface="Malgun Gothic"/>
                <a:cs typeface="Malgun Gothic"/>
              </a:rPr>
              <a:t>와 이어 붙여 MLP(256-128-64)가 </a:t>
            </a:r>
            <a:r>
              <a:rPr sz="1050" b="0" i="1">
                <a:solidFill>
                  <a:srgbClr val="16213A"/>
                </a:solidFill>
                <a:latin typeface="Arial"/>
                <a:ea typeface="Malgun Gothic"/>
                <a:cs typeface="Malgun Gothic"/>
              </a:rPr>
              <a:t>āₜ</a:t>
            </a:r>
            <a:r>
              <a:rPr sz="1050" b="0" i="0">
                <a:solidFill>
                  <a:srgbClr val="16213A"/>
                </a:solidFill>
                <a:latin typeface="Arial"/>
                <a:ea typeface="Malgun Gothic"/>
                <a:cs typeface="Malgun Gothic"/>
              </a:rPr>
              <a:t>를 낸다. TRPO로 학습한다(할인율 0.995, 배치 80,000, 10,000회, 에피소드 400 스텝). 시뮬레이터는 RaiSim이고, 직렬 탄성 구동기는 학습된 actuator network로 흉내 낸다. 마찰·외란·관측 잡음을 무작위화한다. 보상은 아래 가중합이다.</a:t>
            </a:r>
          </a:p>
        </p:txBody>
      </p:sp>
      <p:pic>
        <p:nvPicPr>
          <p:cNvPr id="12" name="Picture 11" descr="image.png"/>
          <p:cNvPicPr>
            <a:picLocks noChangeAspect="1"/>
          </p:cNvPicPr>
          <p:nvPr/>
        </p:nvPicPr>
        <p:blipFill>
          <a:blip r:embed="rId4"/>
          <a:stretch>
            <a:fillRect/>
          </a:stretch>
        </p:blipFill>
        <p:spPr>
          <a:xfrm>
            <a:off x="609600" y="5086449"/>
            <a:ext cx="5203825" cy="241300"/>
          </a:xfrm>
          <a:prstGeom prst="rect">
            <a:avLst/>
          </a:prstGeom>
        </p:spPr>
      </p:pic>
      <p:sp>
        <p:nvSpPr>
          <p:cNvPr id="13" name="TextBox 12"/>
          <p:cNvSpPr txBox="1"/>
          <p:nvPr/>
        </p:nvSpPr>
        <p:spPr>
          <a:xfrm>
            <a:off x="609600" y="5363964"/>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rₗᵥ</a:t>
            </a:r>
            <a:r>
              <a:rPr sz="1050" b="0" i="0">
                <a:solidFill>
                  <a:srgbClr val="16213A"/>
                </a:solidFill>
                <a:latin typeface="Arial"/>
                <a:ea typeface="Malgun Gothic"/>
                <a:cs typeface="Malgun Gothic"/>
              </a:rPr>
              <a:t>는 명령 방향 투영 속도 </a:t>
            </a:r>
            <a:r>
              <a:rPr sz="1050" b="0" i="1">
                <a:solidFill>
                  <a:srgbClr val="16213A"/>
                </a:solidFill>
                <a:latin typeface="Arial"/>
                <a:ea typeface="Malgun Gothic"/>
                <a:cs typeface="Malgun Gothic"/>
              </a:rPr>
              <a:t>vₚᵣ</a:t>
            </a:r>
            <a:r>
              <a:rPr sz="1050" b="0" i="0">
                <a:solidFill>
                  <a:srgbClr val="16213A"/>
                </a:solidFill>
                <a:latin typeface="Arial"/>
                <a:ea typeface="Malgun Gothic"/>
                <a:cs typeface="Malgun Gothic"/>
              </a:rPr>
              <a:t>에 대해 </a:t>
            </a:r>
            <a:r>
              <a:rPr sz="1050" b="0" i="1">
                <a:solidFill>
                  <a:srgbClr val="16213A"/>
                </a:solidFill>
                <a:latin typeface="Arial"/>
                <a:ea typeface="Malgun Gothic"/>
                <a:cs typeface="Malgun Gothic"/>
              </a:rPr>
              <a:t>vₚᵣ &lt; 0.6</a:t>
            </a:r>
            <a:r>
              <a:rPr sz="1050" b="0" i="0">
                <a:solidFill>
                  <a:srgbClr val="16213A"/>
                </a:solidFill>
                <a:latin typeface="Arial"/>
                <a:ea typeface="Malgun Gothic"/>
                <a:cs typeface="Malgun Gothic"/>
              </a:rPr>
              <a:t>이면 </a:t>
            </a:r>
            <a:r>
              <a:rPr sz="1050" b="0" i="1">
                <a:solidFill>
                  <a:srgbClr val="16213A"/>
                </a:solidFill>
                <a:latin typeface="Arial"/>
                <a:ea typeface="Malgun Gothic"/>
                <a:cs typeface="Malgun Gothic"/>
              </a:rPr>
              <a:t>exp(-2(vₚᵣ - 0.6)²)</a:t>
            </a:r>
            <a:r>
              <a:rPr sz="1050" b="0" i="0">
                <a:solidFill>
                  <a:srgbClr val="16213A"/>
                </a:solidFill>
                <a:latin typeface="Arial"/>
                <a:ea typeface="Malgun Gothic"/>
                <a:cs typeface="Malgun Gothic"/>
              </a:rPr>
              <a:t>, 아니면 1이다(더 빨리 가라). </a:t>
            </a:r>
            <a:r>
              <a:rPr sz="1050" b="0" i="1">
                <a:solidFill>
                  <a:srgbClr val="16213A"/>
                </a:solidFill>
                <a:latin typeface="Arial"/>
                <a:ea typeface="Malgun Gothic"/>
                <a:cs typeface="Malgun Gothic"/>
              </a:rPr>
              <a:t>rₐᵥ</a:t>
            </a:r>
            <a:r>
              <a:rPr sz="1050" b="0" i="0">
                <a:solidFill>
                  <a:srgbClr val="16213A"/>
                </a:solidFill>
                <a:latin typeface="Arial"/>
                <a:ea typeface="Malgun Gothic"/>
                <a:cs typeface="Malgun Gothic"/>
              </a:rPr>
              <a:t>는 회전, </a:t>
            </a:r>
            <a:r>
              <a:rPr sz="1050" b="0" i="1">
                <a:solidFill>
                  <a:srgbClr val="16213A"/>
                </a:solidFill>
                <a:latin typeface="Arial"/>
                <a:ea typeface="Malgun Gothic"/>
                <a:cs typeface="Malgun Gothic"/>
              </a:rPr>
              <a:t>r_b</a:t>
            </a:r>
            <a:r>
              <a:rPr sz="1050" b="0" i="0">
                <a:solidFill>
                  <a:srgbClr val="16213A"/>
                </a:solidFill>
                <a:latin typeface="Arial"/>
                <a:ea typeface="Malgun Gothic"/>
                <a:cs typeface="Malgun Gothic"/>
              </a:rPr>
              <a:t>는 명령과 직교한 속도·롤/피치 각속도 억제, </a:t>
            </a:r>
            <a:r>
              <a:rPr sz="1050" b="0" i="1">
                <a:solidFill>
                  <a:srgbClr val="16213A"/>
                </a:solidFill>
                <a:latin typeface="Arial"/>
                <a:ea typeface="Malgun Gothic"/>
                <a:cs typeface="Malgun Gothic"/>
              </a:rPr>
              <a:t>r_(fc)</a:t>
            </a:r>
            <a:r>
              <a:rPr sz="1050" b="0" i="0">
                <a:solidFill>
                  <a:srgbClr val="16213A"/>
                </a:solidFill>
                <a:latin typeface="Arial"/>
                <a:ea typeface="Malgun Gothic"/>
                <a:cs typeface="Malgun Gothic"/>
              </a:rPr>
              <a:t>는 스윙 발이 주변 스캔 높이보다 높은 비율, </a:t>
            </a:r>
            <a:r>
              <a:rPr sz="1050" b="0" i="1">
                <a:solidFill>
                  <a:srgbClr val="16213A"/>
                </a:solidFill>
                <a:latin typeface="Arial"/>
                <a:ea typeface="Malgun Gothic"/>
                <a:cs typeface="Malgun Gothic"/>
              </a:rPr>
              <a:t>r_(bc)</a:t>
            </a:r>
            <a:r>
              <a:rPr sz="1050" b="0" i="0">
                <a:solidFill>
                  <a:srgbClr val="16213A"/>
                </a:solidFill>
                <a:latin typeface="Arial"/>
                <a:ea typeface="Malgun Gothic"/>
                <a:cs typeface="Malgun Gothic"/>
              </a:rPr>
              <a:t>는 발 이외 몸 접촉 벌점, </a:t>
            </a:r>
            <a:r>
              <a:rPr sz="1050" b="0" i="1">
                <a:solidFill>
                  <a:srgbClr val="16213A"/>
                </a:solidFill>
                <a:latin typeface="Arial"/>
                <a:ea typeface="Malgun Gothic"/>
                <a:cs typeface="Malgun Gothic"/>
              </a:rPr>
              <a:t>rₛ</a:t>
            </a:r>
            <a:r>
              <a:rPr sz="1050" b="0" i="0">
                <a:solidFill>
                  <a:srgbClr val="16213A"/>
                </a:solidFill>
                <a:latin typeface="Arial"/>
                <a:ea typeface="Malgun Gothic"/>
                <a:cs typeface="Malgun Gothic"/>
              </a:rPr>
              <a:t>는 발 목표의 2차 차분 벌점, </a:t>
            </a:r>
            <a:r>
              <a:rPr sz="1050" b="0" i="1">
                <a:solidFill>
                  <a:srgbClr val="16213A"/>
                </a:solidFill>
                <a:latin typeface="Arial"/>
                <a:ea typeface="Malgun Gothic"/>
                <a:cs typeface="Malgun Gothic"/>
              </a:rPr>
              <a:t>r_τ</a:t>
            </a:r>
            <a:r>
              <a:rPr sz="1050" b="0" i="0">
                <a:solidFill>
                  <a:srgbClr val="16213A"/>
                </a:solidFill>
                <a:latin typeface="Arial"/>
                <a:ea typeface="Malgun Gothic"/>
                <a:cs typeface="Malgun Gothic"/>
              </a:rPr>
              <a:t>는 토크 벌점이다.</a:t>
            </a:r>
          </a:p>
        </p:txBody>
      </p:sp>
      <p:sp>
        <p:nvSpPr>
          <p:cNvPr id="14" name="TextBox 13"/>
          <p:cNvSpPr txBox="1"/>
          <p:nvPr/>
        </p:nvSpPr>
        <p:spPr>
          <a:xfrm>
            <a:off x="609600" y="588585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16개(문단·식·그림)는 대시보드 리서치 탭의 "자세히: Lee et al. 2020(blind 보행)의 방법과 수식" 토글에 있다.</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고유감각과 외부감각 — blind 보행 로봇은 무엇을 "느끼고", 이력으로 지형을 어떻게 추정하나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256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고유감각(proprioception)은 로봇이 </a:t>
            </a:r>
            <a:r>
              <a:rPr sz="1050" b="1" i="0">
                <a:solidFill>
                  <a:srgbClr val="16213A"/>
                </a:solidFill>
                <a:latin typeface="Arial"/>
                <a:ea typeface="Malgun Gothic"/>
                <a:cs typeface="Malgun Gothic"/>
              </a:rPr>
              <a:t>자기 몸의 상태</a:t>
            </a:r>
            <a:r>
              <a:rPr sz="1050" b="0" i="0">
                <a:solidFill>
                  <a:srgbClr val="16213A"/>
                </a:solidFill>
                <a:latin typeface="Arial"/>
                <a:ea typeface="Malgun Gothic"/>
                <a:cs typeface="Malgun Gothic"/>
              </a:rPr>
              <a:t>를 재는 감각이다. 외부감각(exteroception)은 </a:t>
            </a:r>
            <a:r>
              <a:rPr sz="1050" b="1" i="0">
                <a:solidFill>
                  <a:srgbClr val="16213A"/>
                </a:solidFill>
                <a:latin typeface="Arial"/>
                <a:ea typeface="Malgun Gothic"/>
                <a:cs typeface="Malgun Gothic"/>
              </a:rPr>
              <a:t>몸 밖 세계</a:t>
            </a:r>
            <a:r>
              <a:rPr sz="1050" b="0" i="0">
                <a:solidFill>
                  <a:srgbClr val="16213A"/>
                </a:solidFill>
                <a:latin typeface="Arial"/>
                <a:ea typeface="Malgun Gothic"/>
                <a:cs typeface="Malgun Gothic"/>
              </a:rPr>
              <a:t>를 재는 감각이다.</a:t>
            </a:r>
          </a:p>
        </p:txBody>
      </p:sp>
      <p:graphicFrame>
        <p:nvGraphicFramePr>
          <p:cNvPr id="6" name="Table 5"/>
          <p:cNvGraphicFramePr>
            <a:graphicFrameLocks noGrp="1"/>
          </p:cNvGraphicFramePr>
          <p:nvPr/>
        </p:nvGraphicFramePr>
        <p:xfrm>
          <a:off x="609600" y="1549995"/>
          <a:ext cx="10966450" cy="985440"/>
        </p:xfrm>
        <a:graphic>
          <a:graphicData uri="http://schemas.openxmlformats.org/drawingml/2006/table">
            <a:tbl>
              <a:tblPr firstRow="1" bandRow="1">
                <a:tableStyleId>{5C22544A-7EE6-4342-B048-85BDC9FD1C3A}</a:tableStyleId>
              </a:tblPr>
              <a:tblGrid>
                <a:gridCol w="1328638"/>
                <a:gridCol w="4600575"/>
                <a:gridCol w="5037237"/>
              </a:tblGrid>
              <a:tr h="197088">
                <a:tc>
                  <a:txBody>
                    <a:bodyPr wrap="square"/>
                    <a:lstStyle/>
                    <a:p>
                      <a:r>
                        <a:rPr sz="800" b="1" i="0">
                          <a:solidFill>
                            <a:srgbClr val="F4F1EA"/>
                          </a:solidFill>
                          <a:latin typeface="Arial"/>
                          <a:ea typeface="Malgun Gothic"/>
                          <a:cs typeface="Malgun Gothic"/>
                        </a:rPr>
                        <a:t>구분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센서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재는 것</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고유감각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관절 인코더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관절 각도·각속도(미분), 목표와의 위치 오차</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고유감각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IMU</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선가속도·각속도 → 자세(롤·피치), 중력 방향</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고유감각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모터 전류·토크, 발 접촉/힘 센서(있으면)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관절 토크, 발이 닿았는지·얼마나 눌리는지</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외부감각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카메라, 깊이 카메라, LiDAR, 초음파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앞의 기하·색·거리</a:t>
                      </a:r>
                    </a:p>
                  </a:txBody>
                  <a:tcPr marL="63500" marR="63500" marT="12700" marB="12700">
                    <a:solidFill>
                      <a:srgbClr val="F3F0E8"/>
                    </a:solidFill>
                  </a:tcPr>
                </a:tc>
              </a:tr>
            </a:tbl>
          </a:graphicData>
        </a:graphic>
      </p:graphicFrame>
      <p:sp>
        <p:nvSpPr>
          <p:cNvPr id="7" name="TextBox 6"/>
          <p:cNvSpPr txBox="1"/>
          <p:nvPr/>
        </p:nvSpPr>
        <p:spPr>
          <a:xfrm>
            <a:off x="609600" y="287704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몸체 속도는 직접 재는 센서가 없어서 IMU와 다리 기구학(닿은 발은 멈춰 있다고 가정)을 칼만 필터로 합쳐 추정한다.</a:t>
            </a:r>
          </a:p>
        </p:txBody>
      </p:sp>
      <p:sp>
        <p:nvSpPr>
          <p:cNvPr id="8" name="TextBox 7"/>
          <p:cNvSpPr txBox="1"/>
          <p:nvPr/>
        </p:nvSpPr>
        <p:spPr>
          <a:xfrm>
            <a:off x="609600" y="318244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고유감각만으로 걷나.</a:t>
            </a:r>
            <a:r>
              <a:rPr sz="1050" b="0" i="0">
                <a:solidFill>
                  <a:srgbClr val="16213A"/>
                </a:solidFill>
                <a:latin typeface="Arial"/>
                <a:ea typeface="Malgun Gothic"/>
                <a:cs typeface="Malgun Gothic"/>
              </a:rPr>
              <a:t> 외부감각은 눈·물·수풀·어둠에서 깨지고, 마찰이나 무름은 원래 못 잰다. 고유감각은 튼튼하고 빠르다(수백 Hz). 대신 </a:t>
            </a:r>
            <a:r>
              <a:rPr sz="1050" b="1" i="0">
                <a:solidFill>
                  <a:srgbClr val="C2410C"/>
                </a:solidFill>
                <a:latin typeface="Arial"/>
                <a:ea typeface="Malgun Gothic"/>
                <a:cs typeface="Malgun Gothic"/>
              </a:rPr>
              <a:t>지형이 몸에 영향을 준 뒤에야 신호가 생긴다.</a:t>
            </a:r>
          </a:p>
        </p:txBody>
      </p:sp>
      <p:sp>
        <p:nvSpPr>
          <p:cNvPr id="9" name="TextBox 8"/>
          <p:cNvSpPr txBox="1"/>
          <p:nvPr/>
        </p:nvSpPr>
        <p:spPr>
          <a:xfrm>
            <a:off x="609600" y="348783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"느끼는" 방식.</a:t>
            </a:r>
            <a:r>
              <a:rPr sz="1050" b="0" i="0">
                <a:solidFill>
                  <a:srgbClr val="16213A"/>
                </a:solidFill>
                <a:latin typeface="Arial"/>
                <a:ea typeface="Malgun Gothic"/>
                <a:cs typeface="Malgun Gothic"/>
              </a:rPr>
              <a:t> 지형은 관측되지 않는 상태 </a:t>
            </a:r>
            <a:r>
              <a:rPr sz="1050" b="0" i="1">
                <a:solidFill>
                  <a:srgbClr val="16213A"/>
                </a:solidFill>
                <a:latin typeface="Arial"/>
                <a:ea typeface="Malgun Gothic"/>
                <a:cs typeface="Malgun Gothic"/>
              </a:rPr>
              <a:t>e</a:t>
            </a:r>
            <a:r>
              <a:rPr sz="1050" b="0" i="0">
                <a:solidFill>
                  <a:srgbClr val="16213A"/>
                </a:solidFill>
                <a:latin typeface="Arial"/>
                <a:ea typeface="Malgun Gothic"/>
                <a:cs typeface="Malgun Gothic"/>
              </a:rPr>
              <a:t>(높이, 마찰, 외력)다. 한 순간의 관측 </a:t>
            </a:r>
            <a:r>
              <a:rPr sz="1050" b="0" i="1">
                <a:solidFill>
                  <a:srgbClr val="16213A"/>
                </a:solidFill>
                <a:latin typeface="Arial"/>
                <a:ea typeface="Malgun Gothic"/>
                <a:cs typeface="Malgun Gothic"/>
              </a:rPr>
              <a:t>oₜ</a:t>
            </a:r>
            <a:r>
              <a:rPr sz="1050" b="0" i="0">
                <a:solidFill>
                  <a:srgbClr val="16213A"/>
                </a:solidFill>
                <a:latin typeface="Arial"/>
                <a:ea typeface="Malgun Gothic"/>
                <a:cs typeface="Malgun Gothic"/>
              </a:rPr>
              <a:t>로는 </a:t>
            </a:r>
            <a:r>
              <a:rPr sz="1050" b="0" i="1">
                <a:solidFill>
                  <a:srgbClr val="16213A"/>
                </a:solidFill>
                <a:latin typeface="Arial"/>
                <a:ea typeface="Malgun Gothic"/>
                <a:cs typeface="Malgun Gothic"/>
              </a:rPr>
              <a:t>e</a:t>
            </a:r>
            <a:r>
              <a:rPr sz="1050" b="0" i="0">
                <a:solidFill>
                  <a:srgbClr val="16213A"/>
                </a:solidFill>
                <a:latin typeface="Arial"/>
                <a:ea typeface="Malgun Gothic"/>
                <a:cs typeface="Malgun Gothic"/>
              </a:rPr>
              <a:t>를 알 수 없다. 예를 들어 스윙 중인 발이 예상보다 일찍 멈추면(턱) 관절 위치 오차가 튀고 몸이 앞으로 기운다. 발이 미끄러지면 명령 방향과 추정 몸체 속도가 어긋나고 관절 속도가 튄다. 이런 흔적은 </a:t>
            </a:r>
            <a:r>
              <a:rPr sz="1050" b="1" i="0">
                <a:solidFill>
                  <a:srgbClr val="16213A"/>
                </a:solidFill>
                <a:latin typeface="Arial"/>
                <a:ea typeface="Malgun Gothic"/>
                <a:cs typeface="Malgun Gothic"/>
              </a:rPr>
              <a:t>시간에 걸쳐</a:t>
            </a:r>
            <a:r>
              <a:rPr sz="1050" b="0" i="0">
                <a:solidFill>
                  <a:srgbClr val="16213A"/>
                </a:solidFill>
                <a:latin typeface="Arial"/>
                <a:ea typeface="Malgun Gothic"/>
                <a:cs typeface="Malgun Gothic"/>
              </a:rPr>
              <a:t> 나타나므로 최근 이력을 모아야 한다. 부분관측 문제(POMDP)에서는 믿음(belief)이 전체 이력의 충분통계량이다. 최근 이력은 그 믿음을 근사하는 데 쓰는 입력이다.</a:t>
            </a:r>
          </a:p>
        </p:txBody>
      </p:sp>
      <p:pic>
        <p:nvPicPr>
          <p:cNvPr id="10" name="Picture 9" descr="image.png"/>
          <p:cNvPicPr>
            <a:picLocks noChangeAspect="1"/>
          </p:cNvPicPr>
          <p:nvPr/>
        </p:nvPicPr>
        <p:blipFill>
          <a:blip r:embed="rId3"/>
          <a:stretch>
            <a:fillRect/>
          </a:stretch>
        </p:blipFill>
        <p:spPr>
          <a:xfrm>
            <a:off x="609600" y="4226223"/>
            <a:ext cx="3025775" cy="241300"/>
          </a:xfrm>
          <a:prstGeom prst="rect">
            <a:avLst/>
          </a:prstGeom>
        </p:spPr>
      </p:pic>
      <p:sp>
        <p:nvSpPr>
          <p:cNvPr id="11" name="TextBox 10"/>
          <p:cNvSpPr txBox="1"/>
          <p:nvPr/>
        </p:nvSpPr>
        <p:spPr>
          <a:xfrm>
            <a:off x="609600" y="4503738"/>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φ_θ</a:t>
            </a:r>
            <a:r>
              <a:rPr sz="1050" b="0" i="0">
                <a:solidFill>
                  <a:srgbClr val="16213A"/>
                </a:solidFill>
                <a:latin typeface="Arial"/>
                <a:ea typeface="Malgun Gothic"/>
                <a:cs typeface="Malgun Gothic"/>
              </a:rPr>
              <a:t>는 이력에서 지형 특징을 뽑는 인코더다. 정답 </a:t>
            </a:r>
            <a:r>
              <a:rPr sz="1050" b="0" i="1">
                <a:solidFill>
                  <a:srgbClr val="16213A"/>
                </a:solidFill>
                <a:latin typeface="Arial"/>
                <a:ea typeface="Malgun Gothic"/>
                <a:cs typeface="Malgun Gothic"/>
              </a:rPr>
              <a:t>e</a:t>
            </a:r>
            <a:r>
              <a:rPr sz="1050" b="0" i="0">
                <a:solidFill>
                  <a:srgbClr val="16213A"/>
                </a:solidFill>
                <a:latin typeface="Arial"/>
                <a:ea typeface="Malgun Gothic"/>
                <a:cs typeface="Malgun Gothic"/>
              </a:rPr>
              <a:t>는 시뮬레이터가 알므로, 교사가 본 특징 </a:t>
            </a:r>
            <a:r>
              <a:rPr sz="1050" b="0" i="1">
                <a:solidFill>
                  <a:srgbClr val="16213A"/>
                </a:solidFill>
                <a:latin typeface="Arial"/>
                <a:ea typeface="Malgun Gothic"/>
                <a:cs typeface="Malgun Gothic"/>
              </a:rPr>
              <a:t>l̄ₜ</a:t>
            </a:r>
            <a:r>
              <a:rPr sz="1050" b="0" i="0">
                <a:solidFill>
                  <a:srgbClr val="16213A"/>
                </a:solidFill>
                <a:latin typeface="Arial"/>
                <a:ea typeface="Malgun Gothic"/>
                <a:cs typeface="Malgun Gothic"/>
              </a:rPr>
              <a:t>를 </a:t>
            </a:r>
            <a:r>
              <a:rPr sz="1050" b="0" i="1">
                <a:solidFill>
                  <a:srgbClr val="16213A"/>
                </a:solidFill>
                <a:latin typeface="Arial"/>
                <a:ea typeface="Malgun Gothic"/>
                <a:cs typeface="Malgun Gothic"/>
              </a:rPr>
              <a:t>φ_θ</a:t>
            </a:r>
            <a:r>
              <a:rPr sz="1050" b="0" i="0">
                <a:solidFill>
                  <a:srgbClr val="16213A"/>
                </a:solidFill>
                <a:latin typeface="Arial"/>
                <a:ea typeface="Malgun Gothic"/>
                <a:cs typeface="Malgun Gothic"/>
              </a:rPr>
              <a:t>의 학습 목표로 쓴다 (배경 0.12의 특권 교사). 이력 길이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이 짧으면 턱을 앞발로 느낀 뒤 뒷발이 올 때쯤 이미 잊는다.</a:t>
            </a:r>
          </a:p>
        </p:txBody>
      </p:sp>
      <p:sp>
        <p:nvSpPr>
          <p:cNvPr id="12" name="TextBox 11"/>
          <p:cNvSpPr txBox="1"/>
          <p:nvPr/>
        </p:nvSpPr>
        <p:spPr>
          <a:xfrm>
            <a:off x="609600" y="502562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Lee 2020에서 앞발이 16.8 cm 턱에 걸린 시점의 관절 측정을 정책이 이후 스윙 내내 참조한다(saliency가 그 시점에 높다). TCN-1(20 ms 기억)은 뒷다리가 턱을 만날 때 실패가 많았다.</a:t>
            </a:r>
          </a:p>
        </p:txBody>
      </p:sp>
      <p:sp>
        <p:nvSpPr>
          <p:cNvPr id="13" name="TextBox 12"/>
          <p:cNvSpPr txBox="1"/>
          <p:nvPr/>
        </p:nvSpPr>
        <p:spPr>
          <a:xfrm>
            <a:off x="609600" y="533102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 쓰는 곳.</a:t>
            </a:r>
            <a:r>
              <a:rPr sz="1050" b="0" i="0">
                <a:solidFill>
                  <a:srgbClr val="16213A"/>
                </a:solidFill>
                <a:latin typeface="Arial"/>
                <a:ea typeface="Malgun Gothic"/>
                <a:cs typeface="Malgun Gothic"/>
              </a:rPr>
              <a:t> Lee 2020은 관절 인코더 + IMU 이력만 쓴다. Stop to Decide는 IMU 피치로 계단 정상을 판정하고, 발 힘 4채널은 기록만 한다. travplan의 바퀴 로봇이라면 휠 오도메트리와 명령 속도의 차이(미끄럼), IMU 피치, 모터 전류가 고유감각이다.</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TCN(시간 합성곱 신경망) — 과거만 보는 dilated causal 합성곱으로 긴 이력을 요약한다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257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TCN(Temporal Convolutional Network)은 시계열에 1차원 합성곱을 쌓은 신경망이다. 두 규칙을 지킨다. </a:t>
            </a:r>
            <a:r>
              <a:rPr sz="1050" b="1" i="0">
                <a:solidFill>
                  <a:srgbClr val="16213A"/>
                </a:solidFill>
                <a:latin typeface="Arial"/>
                <a:ea typeface="Malgun Gothic"/>
                <a:cs typeface="Malgun Gothic"/>
              </a:rPr>
              <a:t>인과(causal)</a:t>
            </a:r>
            <a:r>
              <a:rPr sz="1050" b="0" i="0">
                <a:solidFill>
                  <a:srgbClr val="16213A"/>
                </a:solidFill>
                <a:latin typeface="Arial"/>
                <a:ea typeface="Malgun Gothic"/>
                <a:cs typeface="Malgun Gothic"/>
              </a:rPr>
              <a:t>: 시각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의 출력은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 이전 입력만 본다. </a:t>
            </a:r>
            <a:r>
              <a:rPr sz="1050" b="1" i="0">
                <a:solidFill>
                  <a:srgbClr val="16213A"/>
                </a:solidFill>
                <a:latin typeface="Arial"/>
                <a:ea typeface="Malgun Gothic"/>
                <a:cs typeface="Malgun Gothic"/>
              </a:rPr>
              <a:t>팽창(dilated)</a:t>
            </a:r>
            <a:r>
              <a:rPr sz="1050" b="0" i="0">
                <a:solidFill>
                  <a:srgbClr val="16213A"/>
                </a:solidFill>
                <a:latin typeface="Arial"/>
                <a:ea typeface="Malgun Gothic"/>
                <a:cs typeface="Malgun Gothic"/>
              </a:rPr>
              <a:t>: 합성곱 필터가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칸씩 건너뛰며 입력을 본다.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제어 정책은 과거 0.1–2 s의 센서 흐름을 요약해야 한다. MLP는 한 순간만 보고, RNN(GRU·LSTM)은 긴 이력을 담지만 시간 순서대로 계산해야 해서 학습이 느리고 불안정할 수 있다. TCN은 시간축 전체를 병렬로 계산하고, 보는 이력 길이를 층 설계로 정확히 정한다.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동작하나.</a:t>
            </a:r>
            <a:r>
              <a:rPr sz="1050" b="0" i="0">
                <a:solidFill>
                  <a:srgbClr val="16213A"/>
                </a:solidFill>
                <a:latin typeface="Arial"/>
                <a:ea typeface="Malgun Gothic"/>
                <a:cs typeface="Malgun Gothic"/>
              </a:rPr>
              <a:t> 필터 크기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 팽창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인 인과 합성곱은 아래와 같다.</a:t>
            </a:r>
          </a:p>
        </p:txBody>
      </p:sp>
      <p:pic>
        <p:nvPicPr>
          <p:cNvPr id="8" name="Picture 7" descr="image.png"/>
          <p:cNvPicPr>
            <a:picLocks noChangeAspect="1"/>
          </p:cNvPicPr>
          <p:nvPr/>
        </p:nvPicPr>
        <p:blipFill>
          <a:blip r:embed="rId3"/>
          <a:stretch>
            <a:fillRect/>
          </a:stretch>
        </p:blipFill>
        <p:spPr>
          <a:xfrm>
            <a:off x="609600" y="2593777"/>
            <a:ext cx="1285875" cy="555625"/>
          </a:xfrm>
          <a:prstGeom prst="rect">
            <a:avLst/>
          </a:prstGeom>
        </p:spPr>
      </p:pic>
      <p:sp>
        <p:nvSpPr>
          <p:cNvPr id="9" name="TextBox 8"/>
          <p:cNvSpPr txBox="1"/>
          <p:nvPr/>
        </p:nvSpPr>
        <p:spPr>
          <a:xfrm>
            <a:off x="609600" y="3141762"/>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d = 1, 2, 4, …</a:t>
            </a:r>
            <a:r>
              <a:rPr sz="1050" b="0" i="0">
                <a:solidFill>
                  <a:srgbClr val="16213A"/>
                </a:solidFill>
                <a:latin typeface="Arial"/>
                <a:ea typeface="Malgun Gothic"/>
                <a:cs typeface="Malgun Gothic"/>
              </a:rPr>
              <a:t>로 층마다 두 배씩 늘리면 수용 영역(receptive field, 출력 하나가 보는 과거 길이)이 층 수에 지수로 커진다. stride 1인 층을 쌓으면 수용 영역은 </a:t>
            </a:r>
            <a:r>
              <a:rPr sz="1050" b="0" i="1">
                <a:solidFill>
                  <a:srgbClr val="16213A"/>
                </a:solidFill>
                <a:latin typeface="Arial"/>
                <a:ea typeface="Malgun Gothic"/>
                <a:cs typeface="Malgun Gothic"/>
              </a:rPr>
              <a:t>R = 1 + (K - 1)∑ᵢ dᵢ</a:t>
            </a:r>
            <a:r>
              <a:rPr sz="1050" b="0" i="0">
                <a:solidFill>
                  <a:srgbClr val="16213A"/>
                </a:solidFill>
                <a:latin typeface="Arial"/>
                <a:ea typeface="Malgun Gothic"/>
                <a:cs typeface="Malgun Gothic"/>
              </a:rPr>
              <a:t>이다.</a:t>
            </a:r>
          </a:p>
        </p:txBody>
      </p:sp>
      <p:sp>
        <p:nvSpPr>
          <p:cNvPr id="10" name="TextBox 9"/>
          <p:cNvSpPr txBox="1"/>
          <p:nvPr/>
        </p:nvSpPr>
        <p:spPr>
          <a:xfrm>
            <a:off x="609600" y="3447157"/>
            <a:ext cx="10972800" cy="914003"/>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출력      ●                          d=4 층: t, t-4, t-8 을 본다</a:t>
            </a:r>
          </a:p>
          <a:p>
            <a:r>
              <a:rPr sz="750" b="0" i="0">
                <a:solidFill>
                  <a:srgbClr val="F4F1EA"/>
                </a:solidFill>
                <a:latin typeface="Consolas"/>
                <a:ea typeface="Malgun Gothic"/>
                <a:cs typeface="Malgun Gothic"/>
              </a:rPr>
              <a:t>          │╲___╲</a:t>
            </a:r>
          </a:p>
          <a:p>
            <a:r>
              <a:rPr sz="750" b="0" i="0">
                <a:solidFill>
                  <a:srgbClr val="F4F1EA"/>
                </a:solidFill>
                <a:latin typeface="Consolas"/>
                <a:ea typeface="Malgun Gothic"/>
                <a:cs typeface="Malgun Gothic"/>
              </a:rPr>
              <a:t>d=2 층    ●   ●   ●                  각 칸이 t, t-2, t-4 를 본다</a:t>
            </a:r>
          </a:p>
          <a:p>
            <a:r>
              <a:rPr sz="750" b="0" i="0">
                <a:solidFill>
                  <a:srgbClr val="F4F1EA"/>
                </a:solidFill>
                <a:latin typeface="Consolas"/>
                <a:ea typeface="Malgun Gothic"/>
                <a:cs typeface="Malgun Gothic"/>
              </a:rPr>
              <a:t>d=1 층   ●●● ●●● ●●●</a:t>
            </a:r>
          </a:p>
          <a:p>
            <a:r>
              <a:rPr sz="750" b="0" i="0">
                <a:solidFill>
                  <a:srgbClr val="F4F1EA"/>
                </a:solidFill>
                <a:latin typeface="Consolas"/>
                <a:ea typeface="Malgun Gothic"/>
                <a:cs typeface="Malgun Gothic"/>
              </a:rPr>
              <a:t>입력  x_{t-14} … x_t   (K=3, d=1,2,4 → R = 1 + 2·(1+2+4) = 15)</a:t>
            </a:r>
          </a:p>
        </p:txBody>
      </p:sp>
      <p:sp>
        <p:nvSpPr>
          <p:cNvPr id="11" name="TextBox 10"/>
          <p:cNvSpPr txBox="1"/>
          <p:nvPr/>
        </p:nvSpPr>
        <p:spPr>
          <a:xfrm>
            <a:off x="609600" y="445006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K = 3</a:t>
            </a:r>
            <a:r>
              <a:rPr sz="1050" b="0" i="0">
                <a:solidFill>
                  <a:srgbClr val="16213A"/>
                </a:solidFill>
                <a:latin typeface="Arial"/>
                <a:ea typeface="Malgun Gothic"/>
                <a:cs typeface="Malgun Gothic"/>
              </a:rPr>
              <a:t>, 팽창 1·2·4의 세 층이면 파라미터는 층당 가중치 3개(필터 크기 3)뿐인데 15스텝 이력을 본다. 50 Hz 입력이면 0.3 s다. 같은 길이를 팽창 없이 보려면 7층이 필요하다.</a:t>
            </a:r>
          </a:p>
        </p:txBody>
      </p:sp>
      <p:sp>
        <p:nvSpPr>
          <p:cNvPr id="12" name="TextBox 11"/>
          <p:cNvSpPr txBox="1"/>
          <p:nvPr/>
        </p:nvSpPr>
        <p:spPr>
          <a:xfrm>
            <a:off x="609600" y="475545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 쓰는 곳.</a:t>
            </a:r>
            <a:r>
              <a:rPr sz="1050" b="0" i="0">
                <a:solidFill>
                  <a:srgbClr val="16213A"/>
                </a:solidFill>
                <a:latin typeface="Arial"/>
                <a:ea typeface="Malgun Gothic"/>
                <a:cs typeface="Malgun Gothic"/>
              </a:rPr>
              <a:t> Lee 2020의 학생 정책은 필터 크기 5, 팽창 1·2·4의 인과 합성곱 3층 사이에 stride 2 합성곱을 끼워 차원을 줄인다. TCN-</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은 수용 영역이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스텝(= </a:t>
            </a:r>
            <a:r>
              <a:rPr sz="1050" b="0" i="1">
                <a:solidFill>
                  <a:srgbClr val="16213A"/>
                </a:solidFill>
                <a:latin typeface="Arial"/>
                <a:ea typeface="Malgun Gothic"/>
                <a:cs typeface="Malgun Gothic"/>
              </a:rPr>
              <a:t>0.02N</a:t>
            </a:r>
            <a:r>
              <a:rPr sz="1050" b="0" i="0">
                <a:solidFill>
                  <a:srgbClr val="16213A"/>
                </a:solidFill>
                <a:latin typeface="Arial"/>
                <a:ea typeface="Malgun Gothic"/>
                <a:cs typeface="Malgun Gothic"/>
              </a:rPr>
              <a:t> s)인 모델이다. 한 번의 SGD 갱신이 TCN-100은 0.051 s, 같은 길이 GRU는 0.152 s였다. Controller 문서의 HDVIO2.0도 명령·자이로 이력에 TCN을 쓴다.</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258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실제 배포된 로봇의 센서.</a:t>
            </a:r>
            <a:r>
              <a:rPr sz="1050" b="0" i="0">
                <a:solidFill>
                  <a:srgbClr val="16213A"/>
                </a:solidFill>
                <a:latin typeface="Arial"/>
                <a:ea typeface="Malgun Gothic"/>
                <a:cs typeface="Malgun Gothic"/>
              </a:rPr>
              <a:t> 벤더 공식 자료 기준이다. Boston Dynamics Spot은 스테레오 깊이 카메라 5쌍으로 거의 360°를 보고, 최근 펌웨어에 학습 기반 계단 분류를 더했다(</a:t>
            </a:r>
            <a:r>
              <a:rPr sz="1050" b="0" i="0">
                <a:solidFill>
                  <a:srgbClr val="1D4ED8"/>
                </a:solidFill>
                <a:latin typeface="Arial"/>
                <a:ea typeface="Malgun Gothic"/>
                <a:cs typeface="Malgun Gothic"/>
                <a:hlinkClick r:id="rId3"/>
              </a:rPr>
              <a:t>BD 공식</a:t>
            </a:r>
            <a:r>
              <a:rPr sz="1050" b="0" i="0">
                <a:solidFill>
                  <a:srgbClr val="16213A"/>
                </a:solidFill>
                <a:latin typeface="Arial"/>
                <a:ea typeface="Malgun Gothic"/>
                <a:cs typeface="Malgun Gothic"/>
              </a:rPr>
              <a:t>). ANYbotics ANYmal은 360° LiDAR(최대 100 m)와 깊이 카메라 6대를 합쳐, 지도 작성·발 디딤 선택·보행자 궤적 예측까지 신경망으로 처리한다(</a:t>
            </a:r>
            <a:r>
              <a:rPr sz="1050" b="0" i="0">
                <a:solidFill>
                  <a:srgbClr val="1D4ED8"/>
                </a:solidFill>
                <a:latin typeface="Arial"/>
                <a:ea typeface="Malgun Gothic"/>
                <a:cs typeface="Malgun Gothic"/>
                <a:hlinkClick r:id="rId4"/>
              </a:rPr>
              <a:t>ANYbotics</a:t>
            </a:r>
            <a:r>
              <a:rPr sz="1050" b="0" i="0">
                <a:solidFill>
                  <a:srgbClr val="16213A"/>
                </a:solidFill>
                <a:latin typeface="Arial"/>
                <a:ea typeface="Malgun Gothic"/>
                <a:cs typeface="Malgun Gothic"/>
              </a:rPr>
              <a:t>). Unitree Go2는 자체 4D LiDAR(L1)와 RealSense D435i를, B2는 3D LiDAR와 깊이 카메라 2대를 Jetson급 온보드 컴퓨터로 처리한다.</a:t>
            </a:r>
          </a:p>
        </p:txBody>
      </p:sp>
      <p:sp>
        <p:nvSpPr>
          <p:cNvPr id="6" name="TextBox 5"/>
          <p:cNvSpPr txBox="1"/>
          <p:nvPr/>
        </p:nvSpPr>
        <p:spPr>
          <a:xfrm>
            <a:off x="609600" y="1982986"/>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현장에서 5분 만에 배우는 traversability — WVN 계열.</a:t>
            </a:r>
            <a:r>
              <a:rPr sz="1050" b="0" i="0">
                <a:solidFill>
                  <a:srgbClr val="16213A"/>
                </a:solidFill>
                <a:latin typeface="Arial"/>
                <a:ea typeface="Malgun Gothic"/>
                <a:cs typeface="Malgun Gothic"/>
              </a:rPr>
              <a:t> Mattamala, Frey et al.의 </a:t>
            </a:r>
            <a:r>
              <a:rPr sz="1050" b="0" i="1">
                <a:solidFill>
                  <a:srgbClr val="16213A"/>
                </a:solidFill>
                <a:latin typeface="Arial"/>
                <a:ea typeface="Malgun Gothic"/>
                <a:cs typeface="Malgun Gothic"/>
              </a:rPr>
              <a:t>Wild Visual Navigation</a:t>
            </a:r>
            <a:r>
              <a:rPr sz="1050" b="0" i="0">
                <a:solidFill>
                  <a:srgbClr val="16213A"/>
                </a:solidFill>
                <a:latin typeface="Arial"/>
                <a:ea typeface="Malgun Gothic"/>
                <a:cs typeface="Malgun Gothic"/>
              </a:rPr>
              <a:t>(Autonomous Robots 2025, </a:t>
            </a:r>
            <a:r>
              <a:rPr sz="1050" b="0" i="0">
                <a:solidFill>
                  <a:srgbClr val="1D4ED8"/>
                </a:solidFill>
                <a:latin typeface="Arial"/>
                <a:ea typeface="Malgun Gothic"/>
                <a:cs typeface="Malgun Gothic"/>
                <a:hlinkClick r:id="rId5"/>
              </a:rPr>
              <a:t>Springer</a:t>
            </a:r>
            <a:r>
              <a:rPr sz="1050" b="0" i="0">
                <a:solidFill>
                  <a:srgbClr val="16213A"/>
                </a:solidFill>
                <a:latin typeface="Arial"/>
                <a:ea typeface="Malgun Gothic"/>
                <a:cs typeface="Malgun Gothic"/>
              </a:rPr>
              <a:t>)은 고정한 자기지도 비전 백본(DINO 계열) 특징 위에 가벼운 traversability 헤드를 얹는다. 사람이 5분쯤 로봇을 몰면, 그동안 명령 속도를 얼마나 따라갔는지(속도 추종 오차, proprioception)를 라벨로 삼아 </a:t>
            </a:r>
            <a:r>
              <a:rPr sz="1050" b="1" i="0">
                <a:solidFill>
                  <a:srgbClr val="16213A"/>
                </a:solidFill>
                <a:latin typeface="Arial"/>
                <a:ea typeface="Malgun Gothic"/>
                <a:cs typeface="Malgun Gothic"/>
              </a:rPr>
              <a:t>새 환경에서 5분 안에 온보드 학습</a:t>
            </a:r>
            <a:r>
              <a:rPr sz="1050" b="0" i="0">
                <a:solidFill>
                  <a:srgbClr val="16213A"/>
                </a:solidFill>
                <a:latin typeface="Arial"/>
                <a:ea typeface="Malgun Gothic"/>
                <a:cs typeface="Malgun Gothic"/>
              </a:rPr>
              <a:t>을 끝낸다. travplan TP-0010이 하려는 "시뮬 접촉·슬립 로그로 TravNet 자기지도 학습"과 같은 구조라 가장 가까운 참고 구현이다. 같은 계열로 SALON(</a:t>
            </a:r>
            <a:r>
              <a:rPr sz="1050" b="0" i="0">
                <a:solidFill>
                  <a:srgbClr val="1D4ED8"/>
                </a:solidFill>
                <a:latin typeface="Arial"/>
                <a:ea typeface="Malgun Gothic"/>
                <a:cs typeface="Malgun Gothic"/>
                <a:hlinkClick r:id="rId6"/>
              </a:rPr>
              <a:t>arXiv:2412.07826</a:t>
            </a:r>
            <a:r>
              <a:rPr sz="1050" b="0" i="0">
                <a:solidFill>
                  <a:srgbClr val="16213A"/>
                </a:solidFill>
                <a:latin typeface="Arial"/>
                <a:ea typeface="Malgun Gothic"/>
                <a:cs typeface="Malgun Gothic"/>
              </a:rPr>
              <a:t>, 주 플랫폼 ATV, 휠체어 보도 데이터로 정성 시연)과 STERLING(</a:t>
            </a:r>
            <a:r>
              <a:rPr sz="1050" b="0" i="0">
                <a:solidFill>
                  <a:srgbClr val="1D4ED8"/>
                </a:solidFill>
                <a:latin typeface="Arial"/>
                <a:ea typeface="Malgun Gothic"/>
                <a:cs typeface="Malgun Gothic"/>
                <a:hlinkClick r:id="rId7"/>
              </a:rPr>
              <a:t>arXiv:2309.15302</a:t>
            </a:r>
            <a:r>
              <a:rPr sz="1050" b="0" i="0">
                <a:solidFill>
                  <a:srgbClr val="16213A"/>
                </a:solidFill>
                <a:latin typeface="Arial"/>
                <a:ea typeface="Malgun Gothic"/>
                <a:cs typeface="Malgun Gothic"/>
              </a:rPr>
              <a:t>, CoRL 2023, 주 플랫폼 4족 Spot, 바퀴형 Jackal로 무미세조정 전이)이 있다.</a:t>
            </a:r>
          </a:p>
        </p:txBody>
      </p:sp>
      <p:pic>
        <p:nvPicPr>
          <p:cNvPr id="7" name="Picture 6" descr="image.jpg"/>
          <p:cNvPicPr>
            <a:picLocks noChangeAspect="1"/>
          </p:cNvPicPr>
          <p:nvPr/>
        </p:nvPicPr>
        <p:blipFill>
          <a:blip r:embed="rId8"/>
          <a:stretch>
            <a:fillRect/>
          </a:stretch>
        </p:blipFill>
        <p:spPr>
          <a:xfrm>
            <a:off x="609600" y="2937867"/>
            <a:ext cx="3556000" cy="2559050"/>
          </a:xfrm>
          <a:prstGeom prst="rect">
            <a:avLst/>
          </a:prstGeom>
        </p:spPr>
      </p:pic>
      <p:sp>
        <p:nvSpPr>
          <p:cNvPr id="8" name="TextBox 7"/>
          <p:cNvSpPr txBox="1"/>
          <p:nvPr/>
        </p:nvSpPr>
        <p:spPr>
          <a:xfrm>
            <a:off x="609600" y="5535017"/>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Wild Visual Navigation (Fig. 2): RGB·주행거리·proprioception만 입력으로, 주행하면서 traversability 네트워크를 현장에서 학습하는 흐름. 출처: arXiv:2404.07110</a:t>
            </a:r>
          </a:p>
        </p:txBody>
      </p:sp>
      <p:pic>
        <p:nvPicPr>
          <p:cNvPr id="9" name="Picture 8" descr="image.jpg"/>
          <p:cNvPicPr>
            <a:picLocks noChangeAspect="1"/>
          </p:cNvPicPr>
          <p:nvPr/>
        </p:nvPicPr>
        <p:blipFill>
          <a:blip r:embed="rId9"/>
          <a:stretch>
            <a:fillRect/>
          </a:stretch>
        </p:blipFill>
        <p:spPr>
          <a:xfrm>
            <a:off x="4318000" y="2937867"/>
            <a:ext cx="3556000" cy="1206500"/>
          </a:xfrm>
          <a:prstGeom prst="rect">
            <a:avLst/>
          </a:prstGeom>
        </p:spPr>
      </p:pic>
      <p:sp>
        <p:nvSpPr>
          <p:cNvPr id="10" name="TextBox 9"/>
          <p:cNvSpPr txBox="1"/>
          <p:nvPr/>
        </p:nvSpPr>
        <p:spPr>
          <a:xfrm>
            <a:off x="4318000" y="4182467"/>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SALON (Fig. 2): 비전 foundation model 특징 + 주행 경험으로 비용 지도와 속도 지도를 온라인 학습. 출처: arXiv:2412.07826</a:t>
            </a:r>
          </a:p>
        </p:txBody>
      </p:sp>
      <p:pic>
        <p:nvPicPr>
          <p:cNvPr id="11" name="Picture 10" descr="image.jpg"/>
          <p:cNvPicPr>
            <a:picLocks noChangeAspect="1"/>
          </p:cNvPicPr>
          <p:nvPr/>
        </p:nvPicPr>
        <p:blipFill>
          <a:blip r:embed="rId10"/>
          <a:stretch>
            <a:fillRect/>
          </a:stretch>
        </p:blipFill>
        <p:spPr>
          <a:xfrm>
            <a:off x="8026400" y="2937867"/>
            <a:ext cx="3556000" cy="2222500"/>
          </a:xfrm>
          <a:prstGeom prst="rect">
            <a:avLst/>
          </a:prstGeom>
        </p:spPr>
      </p:pic>
      <p:sp>
        <p:nvSpPr>
          <p:cNvPr id="12" name="TextBox 11"/>
          <p:cNvSpPr txBox="1"/>
          <p:nvPr/>
        </p:nvSpPr>
        <p:spPr>
          <a:xfrm>
            <a:off x="8026400" y="5198467"/>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STERLING (Fig. 2): 같은 지점을 다른 시점에서 본 지형 패치를 같은 표현으로 묶는 자기지도 학습 구조. 출처: arXiv:2309.15302</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자세히: Wild Visual Navigation의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259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숲과 풀밭에서는 높은 풀·잔가지·덤불이 기하로는 단단한 장애물처럼 보인다. 의미 분할은 라벨이 많이 들고 클래스가 고정된다. 기존 자기지도 방법은 로봇별 데이터셋으로 오프라인 학습한 뒤 적응 없이 배포한다. WVN은 현장에서 라벨 생성·학습·추론을 동시에 돌려 몇 분의 시연만으로 새 환경에 맞춘다. 이 논문(arXiv:2404.07110)은 RSS 2023 원판(Frey et al.)의 확장판이다. 다중 카메라, STEGO 특징, 새 부표본화 방식, 픽셀별 추론, 오픈소스 코드를 더했다.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입출력.</a:t>
            </a:r>
            <a:r>
              <a:rPr sz="1050" b="0" i="0">
                <a:solidFill>
                  <a:srgbClr val="16213A"/>
                </a:solidFill>
                <a:latin typeface="Arial"/>
                <a:ea typeface="Malgun Gothic"/>
                <a:cs typeface="Malgun Gothic"/>
              </a:rPr>
              <a:t> 입력은 단안 RGB 영상, 오도메트리, proprioception(추정 속도와 명령 속도)뿐이다. 영상은 224×224로 줄여 고정 백본에 넣는다. 백본은 DINO-ViT(픽셀별 384차원) 또는 STEGO(DINO 위에 대조 학습 층을 얹은 것, 90차원)다(배경: DINO/ViT 토글 참고). 출력은 픽셀별 traversability 점수 </a:t>
            </a:r>
            <a:r>
              <a:rPr sz="1050" b="0" i="1">
                <a:solidFill>
                  <a:srgbClr val="16213A"/>
                </a:solidFill>
                <a:latin typeface="Arial"/>
                <a:ea typeface="Malgun Gothic"/>
                <a:cs typeface="Malgun Gothic"/>
              </a:rPr>
              <a:t>τ ∈ [0, 1]</a:t>
            </a:r>
            <a:r>
              <a:rPr sz="1050" b="0" i="0">
                <a:solidFill>
                  <a:srgbClr val="16213A"/>
                </a:solidFill>
                <a:latin typeface="Arial"/>
                <a:ea typeface="Malgun Gothic"/>
                <a:cs typeface="Malgun Gothic"/>
              </a:rPr>
              <a:t>(0이 못 감)과, 이를 이진화할 임계값 </a:t>
            </a:r>
            <a:r>
              <a:rPr sz="1050" b="0" i="1">
                <a:solidFill>
                  <a:srgbClr val="16213A"/>
                </a:solidFill>
                <a:latin typeface="Arial"/>
                <a:ea typeface="Malgun Gothic"/>
                <a:cs typeface="Malgun Gothic"/>
              </a:rPr>
              <a:t>τₜₕᵣ</a:t>
            </a:r>
            <a:r>
              <a:rPr sz="1050" b="0" i="0">
                <a:solidFill>
                  <a:srgbClr val="16213A"/>
                </a:solidFill>
                <a:latin typeface="Arial"/>
                <a:ea typeface="Malgun Gothic"/>
                <a:cs typeface="Malgun Gothic"/>
              </a:rPr>
              <a:t>이다.</a:t>
            </a:r>
          </a:p>
        </p:txBody>
      </p:sp>
      <p:sp>
        <p:nvSpPr>
          <p:cNvPr id="7" name="TextBox 6"/>
          <p:cNvSpPr txBox="1"/>
          <p:nvPr/>
        </p:nvSpPr>
        <p:spPr>
          <a:xfrm>
            <a:off x="609600" y="25048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구조: 서로 다른 주기로 도는 두 프로세스.</a:t>
            </a:r>
          </a:p>
        </p:txBody>
      </p:sp>
      <p:sp>
        <p:nvSpPr>
          <p:cNvPr id="8" name="TextBox 7"/>
          <p:cNvSpPr txBox="1"/>
          <p:nvPr/>
        </p:nvSpPr>
        <p:spPr>
          <a:xfrm>
            <a:off x="609600" y="2810272"/>
            <a:ext cx="10972800" cy="766762"/>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[특징 추출·추론]  카메라 스케줄러(가중 라운드로빈, 한 번에 카메라 하나) → 224×224 → 특징 맵 F (E×H×W)</a:t>
            </a:r>
          </a:p>
          <a:p>
            <a:r>
              <a:rPr sz="750" b="0" i="0">
                <a:solidFill>
                  <a:srgbClr val="F4F1EA"/>
                </a:solidFill>
                <a:latin typeface="Consolas"/>
                <a:ea typeface="Malgun Gothic"/>
                <a:cs typeface="Malgun Gothic"/>
              </a:rPr>
              <a:t>                 → 부표본화(SLIC · STEGO · 무작위, 영상당 약 100개 f_n) → MLP 추론(세그먼트별 또는 픽셀별)</a:t>
            </a:r>
          </a:p>
          <a:p>
            <a:r>
              <a:rPr sz="750" b="0" i="0">
                <a:solidFill>
                  <a:srgbClr val="F4F1EA"/>
                </a:solidFill>
                <a:latin typeface="Consolas"/>
                <a:ea typeface="Malgun Gothic"/>
                <a:cs typeface="Malgun Gothic"/>
              </a:rPr>
              <a:t>[온라인 학습]     명령·실제 속도 → τ → supervision graph(링 버퍼, 발자국 궤적)</a:t>
            </a:r>
          </a:p>
          <a:p>
            <a:r>
              <a:rPr sz="750" b="0" i="0">
                <a:solidFill>
                  <a:srgbClr val="F4F1EA"/>
                </a:solidFill>
                <a:latin typeface="Consolas"/>
                <a:ea typeface="Malgun Gothic"/>
                <a:cs typeface="Malgun Gothic"/>
              </a:rPr>
              <a:t>                 → mission graph(노드마다 I, M, f_n, τ_n) → 유효 노드 8개 배치로 MLP 갱신 → 가중치를 5 s마다 공유</a:t>
            </a:r>
          </a:p>
        </p:txBody>
      </p:sp>
      <p:sp>
        <p:nvSpPr>
          <p:cNvPr id="9" name="TextBox 8"/>
          <p:cNvSpPr txBox="1"/>
          <p:nvPr/>
        </p:nvSpPr>
        <p:spPr>
          <a:xfrm>
            <a:off x="609600" y="366593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부표본화.</a:t>
            </a:r>
            <a:r>
              <a:rPr sz="1050" b="0" i="0">
                <a:solidFill>
                  <a:srgbClr val="16213A"/>
                </a:solidFill>
                <a:latin typeface="Arial"/>
                <a:ea typeface="Malgun Gothic"/>
                <a:cs typeface="Malgun Gothic"/>
              </a:rPr>
              <a:t> 224×224개 픽셀 특징을 전부 GPU에 쌓으면 온라인 학습이 안 된다. 그래서 영상을 약한 분할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으로 나누고 세그먼트마다 특징을 평균해 약 100개 embedding </a:t>
            </a:r>
            <a:r>
              <a:rPr sz="1050" b="0" i="1">
                <a:solidFill>
                  <a:srgbClr val="16213A"/>
                </a:solidFill>
                <a:latin typeface="Arial"/>
                <a:ea typeface="Malgun Gothic"/>
                <a:cs typeface="Malgun Gothic"/>
              </a:rPr>
              <a:t>{fₙ}</a:t>
            </a:r>
            <a:r>
              <a:rPr sz="1050" b="0" i="0">
                <a:solidFill>
                  <a:srgbClr val="16213A"/>
                </a:solidFill>
                <a:latin typeface="Arial"/>
                <a:ea typeface="Malgun Gothic"/>
                <a:cs typeface="Malgun Gothic"/>
              </a:rPr>
              <a:t>만 남긴다. SLIC는 빠르지만 질감만 보고 묶는다(배경: superpixel 토글 참고). STEGO는 의미가 같은 픽셀을 묶는다. 원판 STEGO는 데이터셋 전체에서 prototype을 미리 구하지만, 현장에서는 그럴 수 없어 영상마다 KNN 군집으로 고정 개수의 세그먼트를 만든다. 무작위는 특징 100개를 그냥 뽑는다.</a:t>
            </a:r>
          </a:p>
        </p:txBody>
      </p:sp>
      <p:sp>
        <p:nvSpPr>
          <p:cNvPr id="10" name="TextBox 9"/>
          <p:cNvSpPr txBox="1"/>
          <p:nvPr/>
        </p:nvSpPr>
        <p:spPr>
          <a:xfrm>
            <a:off x="609600" y="440432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추론.</a:t>
            </a:r>
            <a:r>
              <a:rPr sz="1050" b="0" i="0">
                <a:solidFill>
                  <a:srgbClr val="16213A"/>
                </a:solidFill>
                <a:latin typeface="Arial"/>
                <a:ea typeface="Malgun Gothic"/>
                <a:cs typeface="Malgun Gothic"/>
              </a:rPr>
              <a:t> 세그먼트별 추론은 세그먼트 하나에 점수 하나를 준다(원판 방식). 픽셀별 추론은 MLP가 가벼우므로 dense 특징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 전체에 돌린다. 픽셀별이 SLIC 경계의 인공물(나무 줄기가 잘못 칠해지는 것)을 없앴다.</a:t>
            </a:r>
          </a:p>
        </p:txBody>
      </p:sp>
      <p:sp>
        <p:nvSpPr>
          <p:cNvPr id="11" name="TextBox 10"/>
          <p:cNvSpPr txBox="1"/>
          <p:nvPr/>
        </p:nvSpPr>
        <p:spPr>
          <a:xfrm>
            <a:off x="609600" y="492621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라벨: 명령한 속도를 얼마나 따라갔나(traction).</a:t>
            </a:r>
            <a:r>
              <a:rPr sz="1050" b="0" i="0">
                <a:solidFill>
                  <a:srgbClr val="16213A"/>
                </a:solidFill>
                <a:latin typeface="Arial"/>
                <a:ea typeface="Malgun Gothic"/>
                <a:cs typeface="Malgun Gothic"/>
              </a:rPr>
              <a:t> 명령 속도 </a:t>
            </a:r>
            <a:r>
              <a:rPr sz="1050" b="0" i="1">
                <a:solidFill>
                  <a:srgbClr val="16213A"/>
                </a:solidFill>
                <a:latin typeface="Arial"/>
                <a:ea typeface="Malgun Gothic"/>
                <a:cs typeface="Malgun Gothic"/>
              </a:rPr>
              <a:t>(v̄ₓ, v̄_y)</a:t>
            </a:r>
            <a:r>
              <a:rPr sz="1050" b="0" i="0">
                <a:solidFill>
                  <a:srgbClr val="16213A"/>
                </a:solidFill>
                <a:latin typeface="Arial"/>
                <a:ea typeface="Malgun Gothic"/>
                <a:cs typeface="Malgun Gothic"/>
              </a:rPr>
              <a:t>와 추정 속도 </a:t>
            </a:r>
            <a:r>
              <a:rPr sz="1050" b="0" i="1">
                <a:solidFill>
                  <a:srgbClr val="16213A"/>
                </a:solidFill>
                <a:latin typeface="Arial"/>
                <a:ea typeface="Malgun Gothic"/>
                <a:cs typeface="Malgun Gothic"/>
              </a:rPr>
              <a:t>(vₓ, v_y)</a:t>
            </a:r>
            <a:r>
              <a:rPr sz="1050" b="0" i="0">
                <a:solidFill>
                  <a:srgbClr val="16213A"/>
                </a:solidFill>
                <a:latin typeface="Arial"/>
                <a:ea typeface="Malgun Gothic"/>
                <a:cs typeface="Malgun Gothic"/>
              </a:rPr>
              <a:t>의 오차를 1차원 칼만 필터로 다듬은 뒤 시그모이드로 </a:t>
            </a:r>
            <a:r>
              <a:rPr sz="1050" b="0" i="1">
                <a:solidFill>
                  <a:srgbClr val="16213A"/>
                </a:solidFill>
                <a:latin typeface="Arial"/>
                <a:ea typeface="Malgun Gothic"/>
                <a:cs typeface="Malgun Gothic"/>
              </a:rPr>
              <a:t>[0, 1]</a:t>
            </a:r>
            <a:r>
              <a:rPr sz="1050" b="0" i="0">
                <a:solidFill>
                  <a:srgbClr val="16213A"/>
                </a:solidFill>
                <a:latin typeface="Arial"/>
                <a:ea typeface="Malgun Gothic"/>
                <a:cs typeface="Malgun Gothic"/>
              </a:rPr>
              <a:t>에 넣는다.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는 시그모이드의 가파름, </a:t>
            </a:r>
            <a:r>
              <a:rPr sz="1050" b="0" i="1">
                <a:solidFill>
                  <a:srgbClr val="16213A"/>
                </a:solidFill>
                <a:latin typeface="Arial"/>
                <a:ea typeface="Malgun Gothic"/>
                <a:cs typeface="Malgun Gothic"/>
              </a:rPr>
              <a:t>vₜₕᵣ</a:t>
            </a:r>
            <a:r>
              <a:rPr sz="1050" b="0" i="0">
                <a:solidFill>
                  <a:srgbClr val="16213A"/>
                </a:solidFill>
                <a:latin typeface="Arial"/>
                <a:ea typeface="Malgun Gothic"/>
                <a:cs typeface="Malgun Gothic"/>
              </a:rPr>
              <a:t>은 </a:t>
            </a:r>
            <a:r>
              <a:rPr sz="1050" b="0" i="1">
                <a:solidFill>
                  <a:srgbClr val="16213A"/>
                </a:solidFill>
                <a:latin typeface="Arial"/>
                <a:ea typeface="Malgun Gothic"/>
                <a:cs typeface="Malgun Gothic"/>
              </a:rPr>
              <a:t>τ = 0.5</a:t>
            </a:r>
            <a:r>
              <a:rPr sz="1050" b="0" i="0">
                <a:solidFill>
                  <a:srgbClr val="16213A"/>
                </a:solidFill>
                <a:latin typeface="Arial"/>
                <a:ea typeface="Malgun Gothic"/>
                <a:cs typeface="Malgun Gothic"/>
              </a:rPr>
              <a:t>가 되는 오차다. 둘 다 플랫폼마다 보정한다.</a:t>
            </a:r>
          </a:p>
        </p:txBody>
      </p:sp>
      <p:pic>
        <p:nvPicPr>
          <p:cNvPr id="12" name="Picture 11" descr="image.png"/>
          <p:cNvPicPr>
            <a:picLocks noChangeAspect="1"/>
          </p:cNvPicPr>
          <p:nvPr/>
        </p:nvPicPr>
        <p:blipFill>
          <a:blip r:embed="rId3"/>
          <a:stretch>
            <a:fillRect/>
          </a:stretch>
        </p:blipFill>
        <p:spPr>
          <a:xfrm>
            <a:off x="609600" y="5448102"/>
            <a:ext cx="4978400" cy="238125"/>
          </a:xfrm>
          <a:prstGeom prst="rect">
            <a:avLst/>
          </a:prstGeom>
        </p:spPr>
      </p:pic>
      <p:sp>
        <p:nvSpPr>
          <p:cNvPr id="13" name="TextBox 12"/>
          <p:cNvSpPr txBox="1"/>
          <p:nvPr/>
        </p:nvSpPr>
        <p:spPr>
          <a:xfrm>
            <a:off x="609600" y="5725616"/>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14개(문단·식·그림)는 대시보드 리서치 탭의 "자세히: Wild Visual Navigation의 방법과 수식" 토글에 있다.</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DINO와 ViT 자기지도 특징 — 라벨 없이 배운 "무엇이 비슷한가"를 고정 백본으로 빌려 쓴다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260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ViT(Vision Transformer)는 영상을 </a:t>
            </a:r>
            <a:r>
              <a:rPr sz="1050" b="0" i="1">
                <a:solidFill>
                  <a:srgbClr val="16213A"/>
                </a:solidFill>
                <a:latin typeface="Arial"/>
                <a:ea typeface="Malgun Gothic"/>
                <a:cs typeface="Malgun Gothic"/>
              </a:rPr>
              <a:t>P × P</a:t>
            </a:r>
            <a:r>
              <a:rPr sz="1050" b="0" i="0">
                <a:solidFill>
                  <a:srgbClr val="16213A"/>
                </a:solidFill>
                <a:latin typeface="Arial"/>
                <a:ea typeface="Malgun Gothic"/>
                <a:cs typeface="Malgun Gothic"/>
              </a:rPr>
              <a:t> 픽셀 패치로 자르고, 패치 하나를 토큰 하나로 본다. 패치 크기가 8이면 224×224 영상은 28×28 = 784개 토큰이 된다. transformer 층을 지나면 토큰마다 </a:t>
            </a:r>
            <a:r>
              <a:rPr sz="1050" b="0" i="1">
                <a:solidFill>
                  <a:srgbClr val="16213A"/>
                </a:solidFill>
                <a:latin typeface="Arial"/>
                <a:ea typeface="Malgun Gothic"/>
                <a:cs typeface="Malgun Gothic"/>
              </a:rPr>
              <a:t>E</a:t>
            </a:r>
            <a:r>
              <a:rPr sz="1050" b="0" i="0">
                <a:solidFill>
                  <a:srgbClr val="16213A"/>
                </a:solidFill>
                <a:latin typeface="Arial"/>
                <a:ea typeface="Malgun Gothic"/>
                <a:cs typeface="Malgun Gothic"/>
              </a:rPr>
              <a:t>차원 벡터(패치 토큰)가 나온다. 이것이 "그 자리의 특징"이다. DINO는 이 ViT를 </a:t>
            </a:r>
            <a:r>
              <a:rPr sz="1050" b="1" i="0">
                <a:solidFill>
                  <a:srgbClr val="16213A"/>
                </a:solidFill>
                <a:latin typeface="Arial"/>
                <a:ea typeface="Malgun Gothic"/>
                <a:cs typeface="Malgun Gothic"/>
              </a:rPr>
              <a:t>라벨 없이</a:t>
            </a:r>
            <a:r>
              <a:rPr sz="1050" b="0" i="0">
                <a:solidFill>
                  <a:srgbClr val="16213A"/>
                </a:solidFill>
                <a:latin typeface="Arial"/>
                <a:ea typeface="Malgun Gothic"/>
                <a:cs typeface="Malgun Gothic"/>
              </a:rPr>
              <a:t> 학습하는 방법이다. DINOv2는 데이터와 모델을 키운 후속판이다.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로봇 현장에서는 "보도·잔디·자갈" 라벨을 매번 만들 수 없다. 그런데 인터넷 규모 영상으로 미리 학습한 특징은 이미 "같은 재질·같은 물체의 패치는 가깝다"는 구조를 담고 있다. 그러면 현장에서는 "이 특징 영역은 갈 수 있다"만 배우면 된다.</a:t>
            </a:r>
          </a:p>
        </p:txBody>
      </p:sp>
      <p:sp>
        <p:nvSpPr>
          <p:cNvPr id="7" name="TextBox 6"/>
          <p:cNvSpPr txBox="1"/>
          <p:nvPr/>
        </p:nvSpPr>
        <p:spPr>
          <a:xfrm>
            <a:off x="609600" y="2288381"/>
            <a:ext cx="10972800" cy="650280"/>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학습하나.</a:t>
            </a:r>
            <a:r>
              <a:rPr sz="1050" b="0" i="0">
                <a:solidFill>
                  <a:srgbClr val="16213A"/>
                </a:solidFill>
                <a:latin typeface="Arial"/>
                <a:ea typeface="Malgun Gothic"/>
                <a:cs typeface="Malgun Gothic"/>
              </a:rPr>
              <a:t> 같은 영상에서 서로 다른 크기·위치로 자른 두 장면을 학생 네트워크와 교사 네트워크에 넣는다. 학생의 출력 분포 </a:t>
            </a:r>
            <a:r>
              <a:rPr sz="1050" b="0" i="1">
                <a:solidFill>
                  <a:srgbClr val="16213A"/>
                </a:solidFill>
                <a:latin typeface="Arial"/>
                <a:ea typeface="Malgun Gothic"/>
                <a:cs typeface="Malgun Gothic"/>
              </a:rPr>
              <a:t>pₛ</a:t>
            </a:r>
            <a:r>
              <a:rPr sz="1050" b="0" i="0">
                <a:solidFill>
                  <a:srgbClr val="16213A"/>
                </a:solidFill>
                <a:latin typeface="Arial"/>
                <a:ea typeface="Malgun Gothic"/>
                <a:cs typeface="Malgun Gothic"/>
              </a:rPr>
              <a:t>가 교사의 출력 분포 </a:t>
            </a:r>
            <a:r>
              <a:rPr sz="1050" b="0" i="1">
                <a:solidFill>
                  <a:srgbClr val="16213A"/>
                </a:solidFill>
                <a:latin typeface="Arial"/>
                <a:ea typeface="Malgun Gothic"/>
                <a:cs typeface="Malgun Gothic"/>
              </a:rPr>
              <a:t>pₜ</a:t>
            </a:r>
            <a:r>
              <a:rPr sz="1050" b="0" i="0">
                <a:solidFill>
                  <a:srgbClr val="16213A"/>
                </a:solidFill>
                <a:latin typeface="Arial"/>
                <a:ea typeface="Malgun Gothic"/>
                <a:cs typeface="Malgun Gothic"/>
              </a:rPr>
              <a:t>를 따라가도록 교차 엔트로피 </a:t>
            </a:r>
            <a:r>
              <a:rPr sz="1050" b="0" i="1">
                <a:solidFill>
                  <a:srgbClr val="16213A"/>
                </a:solidFill>
                <a:latin typeface="Arial"/>
                <a:ea typeface="Malgun Gothic"/>
                <a:cs typeface="Malgun Gothic"/>
              </a:rPr>
              <a:t>H(pₜ, pₛ) = -∑ₖ pₜ^((k)) log pₛ^((k))</a:t>
            </a:r>
            <a:r>
              <a:rPr sz="1050" b="0" i="0">
                <a:solidFill>
                  <a:srgbClr val="16213A"/>
                </a:solidFill>
                <a:latin typeface="Arial"/>
                <a:ea typeface="Malgun Gothic"/>
                <a:cs typeface="Malgun Gothic"/>
              </a:rPr>
              <a:t>를 줄인다. 교사는 따로 학습하지 않고, 학생 가중치의 지수 이동평균 </a:t>
            </a:r>
            <a:r>
              <a:rPr sz="1050" b="0" i="1">
                <a:solidFill>
                  <a:srgbClr val="16213A"/>
                </a:solidFill>
                <a:latin typeface="Arial"/>
                <a:ea typeface="Malgun Gothic"/>
                <a:cs typeface="Malgun Gothic"/>
              </a:rPr>
              <a:t>θₜ ← m θₜ + (1 - m) θₛ</a:t>
            </a:r>
            <a:r>
              <a:rPr sz="1050" b="0" i="0">
                <a:solidFill>
                  <a:srgbClr val="16213A"/>
                </a:solidFill>
                <a:latin typeface="Arial"/>
                <a:ea typeface="Malgun Gothic"/>
                <a:cs typeface="Malgun Gothic"/>
              </a:rPr>
              <a:t>로 천천히 따라온다. 부분만 본 학생이 전체를 본 교사와 같은 답을 내려면 "이 부분이 무엇의 일부인가"를 알아야 한다. 그래서 라벨 없이도 의미가 비슷한 패치끼리 특징이 모인다.</a:t>
            </a:r>
          </a:p>
        </p:txBody>
      </p:sp>
      <p:sp>
        <p:nvSpPr>
          <p:cNvPr id="8" name="TextBox 7"/>
          <p:cNvSpPr txBox="1"/>
          <p:nvPr/>
        </p:nvSpPr>
        <p:spPr>
          <a:xfrm>
            <a:off x="609600" y="302756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고정 백본 + 작은 헤드.</a:t>
            </a:r>
            <a:r>
              <a:rPr sz="1050" b="0" i="0">
                <a:solidFill>
                  <a:srgbClr val="16213A"/>
                </a:solidFill>
                <a:latin typeface="Arial"/>
                <a:ea typeface="Malgun Gothic"/>
                <a:cs typeface="Malgun Gothic"/>
              </a:rPr>
              <a:t> 백본(파라미터 수천만 개)은 얼리고, 그 위에 작은 MLP만 학습한다. 학습할 파라미터가 적어 몇 분의 데이터로 수렴하고, 적은 데이터에 과적합할 위험도 작다. 대신 백본이 구분하지 못하는 차이(같아 보이지만 밟으면 다른 것)는 헤드도 못 배운다.</a:t>
            </a:r>
          </a:p>
        </p:txBody>
      </p:sp>
      <p:sp>
        <p:nvSpPr>
          <p:cNvPr id="9" name="TextBox 8"/>
          <p:cNvSpPr txBox="1"/>
          <p:nvPr/>
        </p:nvSpPr>
        <p:spPr>
          <a:xfrm>
            <a:off x="609600" y="354945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공원 영상의 흙길 패치 특징들은 서로 코사인 유사도가 높고, 나무 줄기 패치와는 낮다. 흙길 몇 곳만 "갈 수 있음"으로 알려 주면, 처음 보는 흙길 패치도 특징이 가까워 같은 답을 받는다.</a:t>
            </a:r>
          </a:p>
        </p:txBody>
      </p:sp>
      <p:sp>
        <p:nvSpPr>
          <p:cNvPr id="10" name="TextBox 9"/>
          <p:cNvSpPr txBox="1"/>
          <p:nvPr/>
        </p:nvSpPr>
        <p:spPr>
          <a:xfrm>
            <a:off x="609600" y="385484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 쓰는 곳.</a:t>
            </a:r>
            <a:r>
              <a:rPr sz="1050" b="0" i="0">
                <a:solidFill>
                  <a:srgbClr val="16213A"/>
                </a:solidFill>
                <a:latin typeface="Arial"/>
                <a:ea typeface="Malgun Gothic"/>
                <a:cs typeface="Malgun Gothic"/>
              </a:rPr>
              <a:t> WVN은 DINO-ViT(384차원)와 STEGO(90차원) 특징 위에 2층 MLP를 현장 학습한다. SALON은 DINOv2 ViT-B(ATV)와 RADIOv2.5(휠체어)를 백본으로 쓰고, 특징을 VLAD식으로 압축해 BEV에 쌓는다. STERLING은 반대로 foundation model을 쓰지 않고 작은 CNN을 처음부터 학습한다.</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superpixel과 SLIC — 비슷한 색의 이웃 픽셀을 묶어 "예측 단위"를 수백 개로 줄인다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261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superpixel은 색과 위치가 비슷한 이웃 픽셀을 묶은 작은 영역이다. 영상 하나를 수십~수백 개 조각으로 나눈다. SLIC(Simple Linear Iterative Clustering)는 가장 널리 쓰는 superpixel 알고리즘이다.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픽셀 5만 개에 각각 예측·라벨을 붙이면 메모리와 계산이 크다. 조각 안의 픽셀은 대개 같은 표면이므로, 조각 단위로 특징을 평균하면 수가 100개 수준으로 줄고 잡음도 평균된다.</a:t>
            </a:r>
          </a:p>
        </p:txBody>
      </p:sp>
      <p:sp>
        <p:nvSpPr>
          <p:cNvPr id="7" name="TextBox 6"/>
          <p:cNvSpPr txBox="1"/>
          <p:nvPr/>
        </p:nvSpPr>
        <p:spPr>
          <a:xfrm>
            <a:off x="609600" y="20718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동작하나.</a:t>
            </a:r>
            <a:r>
              <a:rPr sz="1050" b="0" i="0">
                <a:solidFill>
                  <a:srgbClr val="16213A"/>
                </a:solidFill>
                <a:latin typeface="Arial"/>
                <a:ea typeface="Malgun Gothic"/>
                <a:cs typeface="Malgun Gothic"/>
              </a:rPr>
              <a:t> SLIC는 픽셀을 5차원 벡터 </a:t>
            </a:r>
            <a:r>
              <a:rPr sz="1050" b="0" i="1">
                <a:solidFill>
                  <a:srgbClr val="16213A"/>
                </a:solidFill>
                <a:latin typeface="Arial"/>
                <a:ea typeface="Malgun Gothic"/>
                <a:cs typeface="Malgun Gothic"/>
              </a:rPr>
              <a:t>(l, a, b, x, y)</a:t>
            </a:r>
            <a:r>
              <a:rPr sz="1050" b="0" i="0">
                <a:solidFill>
                  <a:srgbClr val="16213A"/>
                </a:solidFill>
                <a:latin typeface="Arial"/>
                <a:ea typeface="Malgun Gothic"/>
                <a:cs typeface="Malgun Gothic"/>
              </a:rPr>
              <a:t>(CIELAB 색 + 위치)로 보고 k-means를 돈다. 원하는 조각 수가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 픽셀 수가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이면 격자 간격 </a:t>
            </a:r>
            <a:r>
              <a:rPr sz="1050" b="0" i="1">
                <a:solidFill>
                  <a:srgbClr val="16213A"/>
                </a:solidFill>
                <a:latin typeface="Arial"/>
                <a:ea typeface="Malgun Gothic"/>
                <a:cs typeface="Malgun Gothic"/>
              </a:rPr>
              <a:t>S = √(N / K)</a:t>
            </a:r>
            <a:r>
              <a:rPr sz="1050" b="0" i="0">
                <a:solidFill>
                  <a:srgbClr val="16213A"/>
                </a:solidFill>
                <a:latin typeface="Arial"/>
                <a:ea typeface="Malgun Gothic"/>
                <a:cs typeface="Malgun Gothic"/>
              </a:rPr>
              <a:t>마다 중심을 놓는다. 각 픽셀은 주변 </a:t>
            </a:r>
            <a:r>
              <a:rPr sz="1050" b="0" i="1">
                <a:solidFill>
                  <a:srgbClr val="16213A"/>
                </a:solidFill>
                <a:latin typeface="Arial"/>
                <a:ea typeface="Malgun Gothic"/>
                <a:cs typeface="Malgun Gothic"/>
              </a:rPr>
              <a:t>2S × 2S</a:t>
            </a:r>
            <a:r>
              <a:rPr sz="1050" b="0" i="0">
                <a:solidFill>
                  <a:srgbClr val="16213A"/>
                </a:solidFill>
                <a:latin typeface="Arial"/>
                <a:ea typeface="Malgun Gothic"/>
                <a:cs typeface="Malgun Gothic"/>
              </a:rPr>
              <a:t> 창 안의 중심 중에서 아래 거리가 가장 작은 곳에 붙는다.</a:t>
            </a:r>
          </a:p>
        </p:txBody>
      </p:sp>
      <p:pic>
        <p:nvPicPr>
          <p:cNvPr id="8" name="Picture 7" descr="image.png"/>
          <p:cNvPicPr>
            <a:picLocks noChangeAspect="1"/>
          </p:cNvPicPr>
          <p:nvPr/>
        </p:nvPicPr>
        <p:blipFill>
          <a:blip r:embed="rId3"/>
          <a:stretch>
            <a:fillRect/>
          </a:stretch>
        </p:blipFill>
        <p:spPr>
          <a:xfrm>
            <a:off x="609600" y="2593777"/>
            <a:ext cx="1514475" cy="336550"/>
          </a:xfrm>
          <a:prstGeom prst="rect">
            <a:avLst/>
          </a:prstGeom>
        </p:spPr>
      </p:pic>
      <p:sp>
        <p:nvSpPr>
          <p:cNvPr id="9" name="TextBox 8"/>
          <p:cNvSpPr txBox="1"/>
          <p:nvPr/>
        </p:nvSpPr>
        <p:spPr>
          <a:xfrm>
            <a:off x="609600" y="2952552"/>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d_c</a:t>
            </a:r>
            <a:r>
              <a:rPr sz="1050" b="0" i="0">
                <a:solidFill>
                  <a:srgbClr val="16213A"/>
                </a:solidFill>
                <a:latin typeface="Arial"/>
                <a:ea typeface="Malgun Gothic"/>
                <a:cs typeface="Malgun Gothic"/>
              </a:rPr>
              <a:t>는 색 거리, </a:t>
            </a:r>
            <a:r>
              <a:rPr sz="1050" b="0" i="1">
                <a:solidFill>
                  <a:srgbClr val="16213A"/>
                </a:solidFill>
                <a:latin typeface="Arial"/>
                <a:ea typeface="Malgun Gothic"/>
                <a:cs typeface="Malgun Gothic"/>
              </a:rPr>
              <a:t>dₛ</a:t>
            </a:r>
            <a:r>
              <a:rPr sz="1050" b="0" i="0">
                <a:solidFill>
                  <a:srgbClr val="16213A"/>
                </a:solidFill>
                <a:latin typeface="Arial"/>
                <a:ea typeface="Malgun Gothic"/>
                <a:cs typeface="Malgun Gothic"/>
              </a:rPr>
              <a:t>는 픽셀 위치 거리,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은 "모양을 얼마나 반듯하게 유지할지"를 정하는 가중치다. 할당 → 중심 재계산을 10회쯤 반복한다. 탐색 창이 국소적이라 계산량이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와 무관하게 </a:t>
            </a:r>
            <a:r>
              <a:rPr sz="1050" b="0" i="1">
                <a:solidFill>
                  <a:srgbClr val="16213A"/>
                </a:solidFill>
                <a:latin typeface="Arial"/>
                <a:ea typeface="Malgun Gothic"/>
                <a:cs typeface="Malgun Gothic"/>
              </a:rPr>
              <a:t>O(N)</a:t>
            </a:r>
            <a:r>
              <a:rPr sz="1050" b="0" i="0">
                <a:solidFill>
                  <a:srgbClr val="16213A"/>
                </a:solidFill>
                <a:latin typeface="Arial"/>
                <a:ea typeface="Malgun Gothic"/>
                <a:cs typeface="Malgun Gothic"/>
              </a:rPr>
              <a:t>이다.</a:t>
            </a:r>
          </a:p>
        </p:txBody>
      </p:sp>
      <p:sp>
        <p:nvSpPr>
          <p:cNvPr id="10" name="TextBox 9"/>
          <p:cNvSpPr txBox="1"/>
          <p:nvPr/>
        </p:nvSpPr>
        <p:spPr>
          <a:xfrm>
            <a:off x="609600" y="325794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224 × 224</a:t>
            </a:r>
            <a:r>
              <a:rPr sz="1050" b="0" i="0">
                <a:solidFill>
                  <a:srgbClr val="16213A"/>
                </a:solidFill>
                <a:latin typeface="Arial"/>
                <a:ea typeface="Malgun Gothic"/>
                <a:cs typeface="Malgun Gothic"/>
              </a:rPr>
              <a:t> 영상에서 </a:t>
            </a:r>
            <a:r>
              <a:rPr sz="1050" b="0" i="1">
                <a:solidFill>
                  <a:srgbClr val="16213A"/>
                </a:solidFill>
                <a:latin typeface="Arial"/>
                <a:ea typeface="Malgun Gothic"/>
                <a:cs typeface="Malgun Gothic"/>
              </a:rPr>
              <a:t>K = 100</a:t>
            </a:r>
            <a:r>
              <a:rPr sz="1050" b="0" i="0">
                <a:solidFill>
                  <a:srgbClr val="16213A"/>
                </a:solidFill>
                <a:latin typeface="Arial"/>
                <a:ea typeface="Malgun Gothic"/>
                <a:cs typeface="Malgun Gothic"/>
              </a:rPr>
              <a:t>이면 </a:t>
            </a:r>
            <a:r>
              <a:rPr sz="1050" b="0" i="1">
                <a:solidFill>
                  <a:srgbClr val="16213A"/>
                </a:solidFill>
                <a:latin typeface="Arial"/>
                <a:ea typeface="Malgun Gothic"/>
                <a:cs typeface="Malgun Gothic"/>
              </a:rPr>
              <a:t>S ≈ 22</a:t>
            </a:r>
            <a:r>
              <a:rPr sz="1050" b="0" i="0">
                <a:solidFill>
                  <a:srgbClr val="16213A"/>
                </a:solidFill>
                <a:latin typeface="Arial"/>
                <a:ea typeface="Malgun Gothic"/>
                <a:cs typeface="Malgun Gothic"/>
              </a:rPr>
              <a:t> 픽셀이다. 초록 잔디와 회색 보도의 경계에서는 </a:t>
            </a:r>
            <a:r>
              <a:rPr sz="1050" b="0" i="1">
                <a:solidFill>
                  <a:srgbClr val="16213A"/>
                </a:solidFill>
                <a:latin typeface="Arial"/>
                <a:ea typeface="Malgun Gothic"/>
                <a:cs typeface="Malgun Gothic"/>
              </a:rPr>
              <a:t>d_c</a:t>
            </a:r>
            <a:r>
              <a:rPr sz="1050" b="0" i="0">
                <a:solidFill>
                  <a:srgbClr val="16213A"/>
                </a:solidFill>
                <a:latin typeface="Arial"/>
                <a:ea typeface="Malgun Gothic"/>
                <a:cs typeface="Malgun Gothic"/>
              </a:rPr>
              <a:t>가 커서 조각이 경계를 따라 끊긴다.</a:t>
            </a:r>
          </a:p>
        </p:txBody>
      </p:sp>
      <p:sp>
        <p:nvSpPr>
          <p:cNvPr id="11" name="TextBox 10"/>
          <p:cNvSpPr txBox="1"/>
          <p:nvPr/>
        </p:nvSpPr>
        <p:spPr>
          <a:xfrm>
            <a:off x="609600" y="356334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한계.</a:t>
            </a:r>
            <a:r>
              <a:rPr sz="1050" b="0" i="0">
                <a:solidFill>
                  <a:srgbClr val="16213A"/>
                </a:solidFill>
                <a:latin typeface="Arial"/>
                <a:ea typeface="Malgun Gothic"/>
                <a:cs typeface="Malgun Gothic"/>
              </a:rPr>
              <a:t> SLIC는 색·질감만 본다. 색이 비슷한 울타리와 땅을 한 조각으로 묶는 식의 오류가 난다(WVN Fig. 4). 그래서 WVN 확장판은 의미를 보는 STEGO 분할을 더했고, 픽셀별 추론도 넣었다.</a:t>
            </a:r>
          </a:p>
        </p:txBody>
      </p:sp>
      <p:sp>
        <p:nvSpPr>
          <p:cNvPr id="12" name="TextBox 11"/>
          <p:cNvSpPr txBox="1"/>
          <p:nvPr/>
        </p:nvSpPr>
        <p:spPr>
          <a:xfrm>
            <a:off x="609600" y="386873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 쓰는 곳.</a:t>
            </a:r>
            <a:r>
              <a:rPr sz="1050" b="0" i="0">
                <a:solidFill>
                  <a:srgbClr val="16213A"/>
                </a:solidFill>
                <a:latin typeface="Arial"/>
                <a:ea typeface="Malgun Gothic"/>
                <a:cs typeface="Malgun Gothic"/>
              </a:rPr>
              <a:t> WVN 원판은 영상당 약 100개 SLIC 조각에서 DINO 특징을 평균해 학습 샘플로 쓴다. QuadPiPS는 바닥 영상을 superpixel로 나눈 뒤 조각마다 평면을 맞춘다.</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오토인코더 재구성 오차로 낯섦 판정 — 본 적 있는 것만 잘 복원되는 성질을 이상 탐지에 쓴다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262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오토인코더는 입력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를 작은 잠재 벡터 </a:t>
            </a:r>
            <a:r>
              <a:rPr sz="1050" b="0" i="1">
                <a:solidFill>
                  <a:srgbClr val="16213A"/>
                </a:solidFill>
                <a:latin typeface="Arial"/>
                <a:ea typeface="Malgun Gothic"/>
                <a:cs typeface="Malgun Gothic"/>
              </a:rPr>
              <a:t>z = g(x)</a:t>
            </a:r>
            <a:r>
              <a:rPr sz="1050" b="0" i="0">
                <a:solidFill>
                  <a:srgbClr val="16213A"/>
                </a:solidFill>
                <a:latin typeface="Arial"/>
                <a:ea typeface="Malgun Gothic"/>
                <a:cs typeface="Malgun Gothic"/>
              </a:rPr>
              <a:t>로 줄였다가 </a:t>
            </a:r>
            <a:r>
              <a:rPr sz="1050" b="0" i="1">
                <a:solidFill>
                  <a:srgbClr val="16213A"/>
                </a:solidFill>
                <a:latin typeface="Arial"/>
                <a:ea typeface="Malgun Gothic"/>
                <a:cs typeface="Malgun Gothic"/>
              </a:rPr>
              <a:t>x̂ = h(z)</a:t>
            </a:r>
            <a:r>
              <a:rPr sz="1050" b="0" i="0">
                <a:solidFill>
                  <a:srgbClr val="16213A"/>
                </a:solidFill>
                <a:latin typeface="Arial"/>
                <a:ea typeface="Malgun Gothic"/>
                <a:cs typeface="Malgun Gothic"/>
              </a:rPr>
              <a:t>로 되살리는 네트워크다. 가운데가 좁아서(병목) 모든 입력을 완벽히 복원할 수 없다. 그래서 학습 데이터에 자주 나온 패턴을 복원하는 데 용량을 쓴다.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자기지도 traversability에서 라벨은 "지나간 곳 = 양성"뿐이다. 안 가 본 곳이 위험한지 모른다(배경 0.9 PU learning). "안 가 본 곳이 지나간 곳과 얼마나 닮았나"를 재면, 닮은 곳은 판단을 보류하고 낯선 곳만 조심할 수 있다.</a:t>
            </a:r>
          </a:p>
        </p:txBody>
      </p:sp>
      <p:sp>
        <p:nvSpPr>
          <p:cNvPr id="7" name="TextBox 6"/>
          <p:cNvSpPr txBox="1"/>
          <p:nvPr/>
        </p:nvSpPr>
        <p:spPr>
          <a:xfrm>
            <a:off x="609600" y="22883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동작하나.</a:t>
            </a:r>
            <a:r>
              <a:rPr sz="1050" b="0" i="0">
                <a:solidFill>
                  <a:srgbClr val="16213A"/>
                </a:solidFill>
                <a:latin typeface="Arial"/>
                <a:ea typeface="Malgun Gothic"/>
                <a:cs typeface="Malgun Gothic"/>
              </a:rPr>
              <a:t> 양성 샘플만으로 재구성 손실 </a:t>
            </a:r>
            <a:r>
              <a:rPr sz="1050" b="0" i="1">
                <a:solidFill>
                  <a:srgbClr val="16213A"/>
                </a:solidFill>
                <a:latin typeface="Arial"/>
                <a:ea typeface="Malgun Gothic"/>
                <a:cs typeface="Malgun Gothic"/>
              </a:rPr>
              <a:t>ℒ_(reco)(x) = 1/E ‖ h(g(x)) - x ‖²</a:t>
            </a:r>
            <a:r>
              <a:rPr sz="1050" b="0" i="0">
                <a:solidFill>
                  <a:srgbClr val="16213A"/>
                </a:solidFill>
                <a:latin typeface="Arial"/>
                <a:ea typeface="Malgun Gothic"/>
                <a:cs typeface="Malgun Gothic"/>
              </a:rPr>
              <a:t>을 줄인다. 학습 뒤 새 입력의 재구성 오차 </a:t>
            </a:r>
            <a:r>
              <a:rPr sz="1050" b="0" i="1">
                <a:solidFill>
                  <a:srgbClr val="16213A"/>
                </a:solidFill>
                <a:latin typeface="Arial"/>
                <a:ea typeface="Malgun Gothic"/>
                <a:cs typeface="Malgun Gothic"/>
              </a:rPr>
              <a:t>e(x)</a:t>
            </a:r>
            <a:r>
              <a:rPr sz="1050" b="0" i="0">
                <a:solidFill>
                  <a:srgbClr val="16213A"/>
                </a:solidFill>
                <a:latin typeface="Arial"/>
                <a:ea typeface="Malgun Gothic"/>
                <a:cs typeface="Malgun Gothic"/>
              </a:rPr>
              <a:t>가 크면 "학습 분포 밖", 즉 낯설다고 본다. 임계값은 학습 샘플의 오차 분포에서 정한다. 예를 들어 오차의 평균 </a:t>
            </a:r>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와 표준편차 </a:t>
            </a:r>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를 구하고, </a:t>
            </a:r>
            <a:r>
              <a:rPr sz="1050" b="0" i="1">
                <a:solidFill>
                  <a:srgbClr val="16213A"/>
                </a:solidFill>
                <a:latin typeface="Arial"/>
                <a:ea typeface="Malgun Gothic"/>
                <a:cs typeface="Malgun Gothic"/>
              </a:rPr>
              <a:t>e(x)</a:t>
            </a:r>
            <a:r>
              <a:rPr sz="1050" b="0" i="0">
                <a:solidFill>
                  <a:srgbClr val="16213A"/>
                </a:solidFill>
                <a:latin typeface="Arial"/>
                <a:ea typeface="Malgun Gothic"/>
                <a:cs typeface="Malgun Gothic"/>
              </a:rPr>
              <a:t>가 </a:t>
            </a:r>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에서 몇 </a:t>
            </a:r>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 떨어졌는지로 점수를 매긴다.</a:t>
            </a:r>
          </a:p>
        </p:txBody>
      </p:sp>
      <p:sp>
        <p:nvSpPr>
          <p:cNvPr id="8" name="TextBox 7"/>
          <p:cNvSpPr txBox="1"/>
          <p:nvPr/>
        </p:nvSpPr>
        <p:spPr>
          <a:xfrm>
            <a:off x="609600" y="28102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흙길 특징만으로 학습하면 흙길 특징의 오차는 0.01 근처에 모인다. 나무 줄기나 하늘 특징은 복원한 적이 없어 오차가 0.1처럼 크게 나온다. 잔디 특징이 흙길과 절반쯤 닮았다면 오차도 중간이다.</a:t>
            </a:r>
          </a:p>
        </p:txBody>
      </p:sp>
      <p:sp>
        <p:nvSpPr>
          <p:cNvPr id="9" name="TextBox 8"/>
          <p:cNvSpPr txBox="1"/>
          <p:nvPr/>
        </p:nvSpPr>
        <p:spPr>
          <a:xfrm>
            <a:off x="609600" y="33321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주의.</a:t>
            </a:r>
            <a:r>
              <a:rPr sz="1050" b="0" i="0">
                <a:solidFill>
                  <a:srgbClr val="16213A"/>
                </a:solidFill>
                <a:latin typeface="Arial"/>
                <a:ea typeface="Malgun Gothic"/>
                <a:cs typeface="Malgun Gothic"/>
              </a:rPr>
              <a:t> 오토인코더가 너무 강하면 처음 보는 것도 잘 복원해 낯섦을 놓친다. 반대로 양성 데이터가 적으면 정상도 낯설다고 한다. 병목 크기와 학습량이 결과를 좌우한다.</a:t>
            </a:r>
          </a:p>
        </p:txBody>
      </p:sp>
      <p:sp>
        <p:nvSpPr>
          <p:cNvPr id="10" name="TextBox 9"/>
          <p:cNvSpPr txBox="1"/>
          <p:nvPr/>
        </p:nvSpPr>
        <p:spPr>
          <a:xfrm>
            <a:off x="609600" y="363755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 쓰는 곳.</a:t>
            </a:r>
            <a:r>
              <a:rPr sz="1050" b="0" i="0">
                <a:solidFill>
                  <a:srgbClr val="16213A"/>
                </a:solidFill>
                <a:latin typeface="Arial"/>
                <a:ea typeface="Malgun Gothic"/>
                <a:cs typeface="Malgun Gothic"/>
              </a:rPr>
              <a:t> WVN은 traversability 헤드와 은닉층을 공유하는 오토인코더(병목 32채널)를 두고, 재구성 오차로 신뢰도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를 만든다.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는 "안 가 본 곳을 못 감으로 학습하는 힘"을 조절한다. SALON은 반대로 재구성 대신 군집 중심과의 거리로 OOD를 판정한다.</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자세히: SALON의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263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현장 적응형 방법도 사전 데이터가 많이 든다. TerraPN은 학습에 약 25분이 걸린다. WVN은 이상 탐지가 안 가 본 곳을 강하게 벌해서, 로봇이 갈 모든 지형 종류를 사람이 미리 몰아 줘야 한다. SALON은 사람 입력을 </a:t>
            </a:r>
            <a:r>
              <a:rPr sz="1050" b="1" i="0">
                <a:solidFill>
                  <a:srgbClr val="16213A"/>
                </a:solidFill>
                <a:latin typeface="Arial"/>
                <a:ea typeface="Malgun Gothic"/>
                <a:cs typeface="Malgun Gothic"/>
              </a:rPr>
              <a:t>영상 위 클릭 한 번</a:t>
            </a:r>
            <a:r>
              <a:rPr sz="1050" b="0" i="0">
                <a:solidFill>
                  <a:srgbClr val="16213A"/>
                </a:solidFill>
                <a:latin typeface="Arial"/>
                <a:ea typeface="Malgun Gothic"/>
                <a:cs typeface="Malgun Gothic"/>
              </a:rPr>
              <a:t>으로 줄이고, 수 초의 주행 경험으로 적응한다. 주 플랫폼은 전장 크기 ATV다. 휠체어(도시 보도)와 ANYmal(WVN 데이터)에는 기록 데이터로 정성 결과만 보였다.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설계 네 가지.</a:t>
            </a:r>
            <a:r>
              <a:rPr sz="1050" b="0" i="0">
                <a:solidFill>
                  <a:srgbClr val="16213A"/>
                </a:solidFill>
                <a:latin typeface="Arial"/>
                <a:ea typeface="Malgun Gothic"/>
                <a:cs typeface="Malgun Gothic"/>
              </a:rPr>
              <a:t> (1) 영상이 아니라 BEV 지도 공간에서 학습·예측한다. (2) 치명 물체는 한 번의 클릭으로 비용을 준다. (3) 낯선 지형은 명시적 OOD 판정으로 피한다. (4) 비용 지도와 속도 지도를 위험 성향에 맞춰 적응적으로 낸다.</a:t>
            </a:r>
          </a:p>
        </p:txBody>
      </p:sp>
      <p:sp>
        <p:nvSpPr>
          <p:cNvPr id="7" name="TextBox 6"/>
          <p:cNvSpPr txBox="1"/>
          <p:nvPr/>
        </p:nvSpPr>
        <p:spPr>
          <a:xfrm>
            <a:off x="609600" y="25048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입출력.</a:t>
            </a:r>
            <a:r>
              <a:rPr sz="1050" b="0" i="0">
                <a:solidFill>
                  <a:srgbClr val="16213A"/>
                </a:solidFill>
                <a:latin typeface="Arial"/>
                <a:ea typeface="Malgun Gothic"/>
                <a:cs typeface="Malgun Gothic"/>
              </a:rPr>
              <a:t> 입력은 RGB 영상, 깊이 점(ATV·ANYmal은 LiDAR, 휠체어는 스테레오), 가속도 3축, 서스펜션 변위(shock travel), 차량 속도다. 출력은 BEV 칸마다 (a) 주어진 속도에서의 비용(위험 반영 거칠기)과 (b) 속도 상한이다. 제어기는 이 지도 위에서 MPPI로 주행한다.</a:t>
            </a:r>
          </a:p>
        </p:txBody>
      </p:sp>
      <p:sp>
        <p:nvSpPr>
          <p:cNvPr id="8" name="TextBox 7"/>
          <p:cNvSpPr txBox="1"/>
          <p:nvPr/>
        </p:nvSpPr>
        <p:spPr>
          <a:xfrm>
            <a:off x="609600" y="30267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특징과 압축.</a:t>
            </a:r>
            <a:r>
              <a:rPr sz="1050" b="0" i="0">
                <a:solidFill>
                  <a:srgbClr val="16213A"/>
                </a:solidFill>
                <a:latin typeface="Arial"/>
                <a:ea typeface="Malgun Gothic"/>
                <a:cs typeface="Malgun Gothic"/>
              </a:rPr>
              <a:t> 특징 추출기 </a:t>
            </a:r>
            <a:r>
              <a:rPr sz="1050" b="0" i="1">
                <a:solidFill>
                  <a:srgbClr val="16213A"/>
                </a:solidFill>
                <a:latin typeface="Arial"/>
                <a:ea typeface="Malgun Gothic"/>
                <a:cs typeface="Malgun Gothic"/>
              </a:rPr>
              <a:t>f_θ</a:t>
            </a:r>
            <a:r>
              <a:rPr sz="1050" b="0" i="0">
                <a:solidFill>
                  <a:srgbClr val="16213A"/>
                </a:solidFill>
                <a:latin typeface="Arial"/>
                <a:ea typeface="Malgun Gothic"/>
                <a:cs typeface="Malgun Gothic"/>
              </a:rPr>
              <a:t>는 영상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를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채널 특징 영상 </a:t>
            </a:r>
            <a:r>
              <a:rPr sz="1050" b="0" i="1">
                <a:solidFill>
                  <a:srgbClr val="16213A"/>
                </a:solidFill>
                <a:latin typeface="Arial"/>
                <a:ea typeface="Malgun Gothic"/>
                <a:cs typeface="Malgun Gothic"/>
              </a:rPr>
              <a:t>D = f_θ(I) ∈ ℝ^(C × H × W)</a:t>
            </a:r>
            <a:r>
              <a:rPr sz="1050" b="0" i="0">
                <a:solidFill>
                  <a:srgbClr val="16213A"/>
                </a:solidFill>
                <a:latin typeface="Arial"/>
                <a:ea typeface="Malgun Gothic"/>
                <a:cs typeface="Malgun Gothic"/>
              </a:rPr>
              <a:t>로 바꾼다. ATV는 DINOv2 ViT-B, 휠체어는 RADIOv2.5 ViT-B를 쓴다(배경: DINO/ViT 토글 참고). 채널이 수백 개라 BEV에 그대로 쌓기 무겁다. 그래서 학습 영상 일부에서 픽셀 특징을 뽑아 k-means로 중심 </a:t>
            </a:r>
            <a:r>
              <a:rPr sz="1050" b="0" i="1">
                <a:solidFill>
                  <a:srgbClr val="16213A"/>
                </a:solidFill>
                <a:latin typeface="Arial"/>
                <a:ea typeface="Malgun Gothic"/>
                <a:cs typeface="Malgun Gothic"/>
              </a:rPr>
              <a:t>F₁, …, Fₖ</a:t>
            </a:r>
            <a:r>
              <a:rPr sz="1050" b="0" i="0">
                <a:solidFill>
                  <a:srgbClr val="16213A"/>
                </a:solidFill>
                <a:latin typeface="Arial"/>
                <a:ea typeface="Malgun Gothic"/>
                <a:cs typeface="Malgun Gothic"/>
              </a:rPr>
              <a:t>를 미리 구하고, 픽셀마다 각 중심까지의 </a:t>
            </a:r>
            <a:r>
              <a:rPr sz="1050" b="0" i="1">
                <a:solidFill>
                  <a:srgbClr val="16213A"/>
                </a:solidFill>
                <a:latin typeface="Arial"/>
                <a:ea typeface="Malgun Gothic"/>
                <a:cs typeface="Malgun Gothic"/>
              </a:rPr>
              <a:t>L₁</a:t>
            </a:r>
            <a:r>
              <a:rPr sz="1050" b="0" i="0">
                <a:solidFill>
                  <a:srgbClr val="16213A"/>
                </a:solidFill>
                <a:latin typeface="Arial"/>
                <a:ea typeface="Malgun Gothic"/>
                <a:cs typeface="Malgun Gothic"/>
              </a:rPr>
              <a:t> 거리로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차원 기술자를 만든다.</a:t>
            </a:r>
          </a:p>
        </p:txBody>
      </p:sp>
      <p:pic>
        <p:nvPicPr>
          <p:cNvPr id="9" name="Picture 8" descr="image.png"/>
          <p:cNvPicPr>
            <a:picLocks noChangeAspect="1"/>
          </p:cNvPicPr>
          <p:nvPr/>
        </p:nvPicPr>
        <p:blipFill>
          <a:blip r:embed="rId3"/>
          <a:stretch>
            <a:fillRect/>
          </a:stretch>
        </p:blipFill>
        <p:spPr>
          <a:xfrm>
            <a:off x="609600" y="3548658"/>
            <a:ext cx="1587500" cy="241300"/>
          </a:xfrm>
          <a:prstGeom prst="rect">
            <a:avLst/>
          </a:prstGeom>
        </p:spPr>
      </p:pic>
      <p:sp>
        <p:nvSpPr>
          <p:cNvPr id="10" name="TextBox 9"/>
          <p:cNvSpPr txBox="1"/>
          <p:nvPr/>
        </p:nvSpPr>
        <p:spPr>
          <a:xfrm>
            <a:off x="609600" y="3826173"/>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이름은 VLAD에서 따왔지만, 원래 VLAD처럼 잔차 벡터를 모으지 않고 거리 스칼라만 쓴다(배경: VLAD 토글 참고). ATV의 중심은 시험 구역과 다른 지역 영상으로 구했고, ANYmal 데이터에도 같은 ATV 중심을 그대로 썼다.</a:t>
            </a:r>
          </a:p>
        </p:txBody>
      </p:sp>
      <p:sp>
        <p:nvSpPr>
          <p:cNvPr id="11" name="TextBox 10"/>
          <p:cNvSpPr txBox="1"/>
          <p:nvPr/>
        </p:nvSpPr>
        <p:spPr>
          <a:xfrm>
            <a:off x="609600" y="434806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BEV 지도.</a:t>
            </a:r>
            <a:r>
              <a:rPr sz="1050" b="0" i="0">
                <a:solidFill>
                  <a:srgbClr val="16213A"/>
                </a:solidFill>
                <a:latin typeface="Arial"/>
                <a:ea typeface="Malgun Gothic"/>
                <a:cs typeface="Malgun Gothic"/>
              </a:rPr>
              <a:t> Velociraptor와 같은 방식이다. 보정값으로 카메라 특징을 LiDAR 3D 점에 붙이고, 점을 BEV 칸에 투영한 뒤 지수 이동평균으로 시간 누적한다.</a:t>
            </a:r>
          </a:p>
        </p:txBody>
      </p:sp>
      <p:sp>
        <p:nvSpPr>
          <p:cNvPr id="12" name="TextBox 11"/>
          <p:cNvSpPr txBox="1"/>
          <p:nvPr/>
        </p:nvSpPr>
        <p:spPr>
          <a:xfrm>
            <a:off x="609600" y="465345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라벨: 진동의 대역 전력.</a:t>
            </a:r>
            <a:r>
              <a:rPr sz="1050" b="0" i="0">
                <a:solidFill>
                  <a:srgbClr val="16213A"/>
                </a:solidFill>
                <a:latin typeface="Arial"/>
                <a:ea typeface="Malgun Gothic"/>
                <a:cs typeface="Malgun Gothic"/>
              </a:rPr>
              <a:t> 신호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의 주파수 대역 </a:t>
            </a:r>
            <a:r>
              <a:rPr sz="1050" b="0" i="1">
                <a:solidFill>
                  <a:srgbClr val="16213A"/>
                </a:solidFill>
                <a:latin typeface="Arial"/>
                <a:ea typeface="Malgun Gothic"/>
                <a:cs typeface="Malgun Gothic"/>
              </a:rPr>
              <a:t>[f^(min)ᵢ, f^(max)ᵢ]</a:t>
            </a:r>
            <a:r>
              <a:rPr sz="1050" b="0" i="0">
                <a:solidFill>
                  <a:srgbClr val="16213A"/>
                </a:solidFill>
                <a:latin typeface="Arial"/>
                <a:ea typeface="Malgun Gothic"/>
                <a:cs typeface="Malgun Gothic"/>
              </a:rPr>
              <a:t> 전력 </a:t>
            </a:r>
            <a:r>
              <a:rPr sz="1050" b="0" i="1">
                <a:solidFill>
                  <a:srgbClr val="16213A"/>
                </a:solidFill>
                <a:latin typeface="Arial"/>
                <a:ea typeface="Malgun Gothic"/>
                <a:cs typeface="Malgun Gothic"/>
              </a:rPr>
              <a:t>BP</a:t>
            </a:r>
            <a:r>
              <a:rPr sz="1050" b="0" i="0">
                <a:solidFill>
                  <a:srgbClr val="16213A"/>
                </a:solidFill>
                <a:latin typeface="Arial"/>
                <a:ea typeface="Malgun Gothic"/>
                <a:cs typeface="Malgun Gothic"/>
              </a:rPr>
              <a:t>를 가중합해 거칠기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을 만든다. </a:t>
            </a:r>
            <a:r>
              <a:rPr sz="1050" b="0" i="1">
                <a:solidFill>
                  <a:srgbClr val="16213A"/>
                </a:solidFill>
                <a:latin typeface="Arial"/>
                <a:ea typeface="Malgun Gothic"/>
                <a:cs typeface="Malgun Gothic"/>
              </a:rPr>
              <a:t>sᵢ</a:t>
            </a:r>
            <a:r>
              <a:rPr sz="1050" b="0" i="0">
                <a:solidFill>
                  <a:srgbClr val="16213A"/>
                </a:solidFill>
                <a:latin typeface="Arial"/>
                <a:ea typeface="Malgun Gothic"/>
                <a:cs typeface="Malgun Gothic"/>
              </a:rPr>
              <a:t>는 신호를 자르는 창 길이다.</a:t>
            </a:r>
          </a:p>
        </p:txBody>
      </p:sp>
      <p:pic>
        <p:nvPicPr>
          <p:cNvPr id="13" name="Picture 12" descr="image.png"/>
          <p:cNvPicPr>
            <a:picLocks noChangeAspect="1"/>
          </p:cNvPicPr>
          <p:nvPr/>
        </p:nvPicPr>
        <p:blipFill>
          <a:blip r:embed="rId4"/>
          <a:stretch>
            <a:fillRect/>
          </a:stretch>
        </p:blipFill>
        <p:spPr>
          <a:xfrm>
            <a:off x="609600" y="4958854"/>
            <a:ext cx="3101975" cy="463550"/>
          </a:xfrm>
          <a:prstGeom prst="rect">
            <a:avLst/>
          </a:prstGeom>
        </p:spPr>
      </p:pic>
      <p:sp>
        <p:nvSpPr>
          <p:cNvPr id="14" name="TextBox 13"/>
          <p:cNvSpPr txBox="1"/>
          <p:nvPr/>
        </p:nvSpPr>
        <p:spPr>
          <a:xfrm>
            <a:off x="609600" y="5427365"/>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기존 연구는 수직 가속도 </a:t>
            </a:r>
            <a:r>
              <a:rPr sz="1050" b="0" i="1">
                <a:solidFill>
                  <a:srgbClr val="16213A"/>
                </a:solidFill>
                <a:latin typeface="Arial"/>
                <a:ea typeface="Malgun Gothic"/>
                <a:cs typeface="Malgun Gothic"/>
              </a:rPr>
              <a:t>a_z</a:t>
            </a:r>
            <a:r>
              <a:rPr sz="1050" b="0" i="0">
                <a:solidFill>
                  <a:srgbClr val="16213A"/>
                </a:solidFill>
                <a:latin typeface="Arial"/>
                <a:ea typeface="Malgun Gothic"/>
                <a:cs typeface="Malgun Gothic"/>
              </a:rPr>
              <a:t>만 쓰는 일이 많았다. SALON은 다른 축과 서스펜션 변위도 더하는 편이 낫다고 보고한다. 파라미터 </a:t>
            </a:r>
            <a:r>
              <a:rPr sz="1050" b="0" i="1">
                <a:solidFill>
                  <a:srgbClr val="16213A"/>
                </a:solidFill>
                <a:latin typeface="Arial"/>
                <a:ea typeface="Malgun Gothic"/>
                <a:cs typeface="Malgun Gothic"/>
              </a:rPr>
              <a:t>[wᵢ, sᵢ, f^(min)ᵢ, f^(max)ᵢ]</a:t>
            </a:r>
            <a:r>
              <a:rPr sz="1050" b="0" i="0">
                <a:solidFill>
                  <a:srgbClr val="16213A"/>
                </a:solidFill>
                <a:latin typeface="Arial"/>
                <a:ea typeface="Malgun Gothic"/>
                <a:cs typeface="Malgun Gothic"/>
              </a:rPr>
              <a:t>는 한 번만 맞춘다. 동승자가 여러 지형·속도에서 0–1 점수를 매긴 소량 데이터에 대해 누적 </a:t>
            </a:r>
            <a:r>
              <a:rPr sz="1050" b="0" i="1">
                <a:solidFill>
                  <a:srgbClr val="16213A"/>
                </a:solidFill>
                <a:latin typeface="Arial"/>
                <a:ea typeface="Malgun Gothic"/>
                <a:cs typeface="Malgun Gothic"/>
              </a:rPr>
              <a:t>L₁</a:t>
            </a:r>
            <a:r>
              <a:rPr sz="1050" b="0" i="0">
                <a:solidFill>
                  <a:srgbClr val="16213A"/>
                </a:solidFill>
                <a:latin typeface="Arial"/>
                <a:ea typeface="Malgun Gothic"/>
                <a:cs typeface="Malgun Gothic"/>
              </a:rPr>
              <a:t> 오차를 최소화한다.</a:t>
            </a:r>
          </a:p>
        </p:txBody>
      </p:sp>
      <p:sp>
        <p:nvSpPr>
          <p:cNvPr id="15" name="TextBox 14"/>
          <p:cNvSpPr txBox="1"/>
          <p:nvPr/>
        </p:nvSpPr>
        <p:spPr>
          <a:xfrm>
            <a:off x="609600" y="594925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13개(문단·식·그림)는 대시보드 리서치 탭의 "자세히: SALON의 방법과 수식" 토글에 있다.</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VLAD — 특징을 "군집 중심에서 얼마나, 어느 쪽으로 벗어났나"로 압축한다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264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VLAD(Vector of Locally Aggregated Descriptors)는 지역 특징 여러 개를 고정 길이 벡터 하나로 묶는 방법이다. 장소 인식 (같은 장소 사진 찾기)에서 널리 쓰였고, 이를 미분 가능하게 만든 것이 NetVLAD다.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foundation model 특징은 픽셀마다 수백 차원이다. 지도 칸마다 저장하거나 비교하기에 무겁다. 대표 "시각 단어"(군집 중심) 몇 개를 미리 정해 두고, 특징을 그 중심들 기준으로 표현하면 짧고 비교하기 쉬운 벡터가 된다.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동작하나.</a:t>
            </a:r>
            <a:r>
              <a:rPr sz="1050" b="0" i="0">
                <a:solidFill>
                  <a:srgbClr val="16213A"/>
                </a:solidFill>
                <a:latin typeface="Arial"/>
                <a:ea typeface="Malgun Gothic"/>
                <a:cs typeface="Malgun Gothic"/>
              </a:rPr>
              <a:t> 먼저 학습 특징을 k-means로 묶어 중심 </a:t>
            </a:r>
            <a:r>
              <a:rPr sz="1050" b="0" i="1">
                <a:solidFill>
                  <a:srgbClr val="16213A"/>
                </a:solidFill>
                <a:latin typeface="Arial"/>
                <a:ea typeface="Malgun Gothic"/>
                <a:cs typeface="Malgun Gothic"/>
              </a:rPr>
              <a:t>c₁, …, c_K</a:t>
            </a:r>
            <a:r>
              <a:rPr sz="1050" b="0" i="0">
                <a:solidFill>
                  <a:srgbClr val="16213A"/>
                </a:solidFill>
                <a:latin typeface="Arial"/>
                <a:ea typeface="Malgun Gothic"/>
                <a:cs typeface="Malgun Gothic"/>
              </a:rPr>
              <a:t>를 구한다. 새 특징 </a:t>
            </a:r>
            <a:r>
              <a:rPr sz="1050" b="0" i="1">
                <a:solidFill>
                  <a:srgbClr val="16213A"/>
                </a:solidFill>
                <a:latin typeface="Arial"/>
                <a:ea typeface="Malgun Gothic"/>
                <a:cs typeface="Malgun Gothic"/>
              </a:rPr>
              <a:t>xᵢ</a:t>
            </a:r>
            <a:r>
              <a:rPr sz="1050" b="0" i="0">
                <a:solidFill>
                  <a:srgbClr val="16213A"/>
                </a:solidFill>
                <a:latin typeface="Arial"/>
                <a:ea typeface="Malgun Gothic"/>
                <a:cs typeface="Malgun Gothic"/>
              </a:rPr>
              <a:t>들이 들어오면 각각 가장 가까운 중심에 배정하고, 중심별로 잔차를 더한다.</a:t>
            </a:r>
          </a:p>
        </p:txBody>
      </p:sp>
      <p:pic>
        <p:nvPicPr>
          <p:cNvPr id="8" name="Picture 7" descr="image.png"/>
          <p:cNvPicPr>
            <a:picLocks noChangeAspect="1"/>
          </p:cNvPicPr>
          <p:nvPr/>
        </p:nvPicPr>
        <p:blipFill>
          <a:blip r:embed="rId3"/>
          <a:stretch>
            <a:fillRect/>
          </a:stretch>
        </p:blipFill>
        <p:spPr>
          <a:xfrm>
            <a:off x="609600" y="2593777"/>
            <a:ext cx="3286125" cy="460375"/>
          </a:xfrm>
          <a:prstGeom prst="rect">
            <a:avLst/>
          </a:prstGeom>
        </p:spPr>
      </p:pic>
      <p:sp>
        <p:nvSpPr>
          <p:cNvPr id="9" name="TextBox 8"/>
          <p:cNvSpPr txBox="1"/>
          <p:nvPr/>
        </p:nvSpPr>
        <p:spPr>
          <a:xfrm>
            <a:off x="609600" y="3059013"/>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K × D</a:t>
            </a:r>
            <a:r>
              <a:rPr sz="1050" b="0" i="0">
                <a:solidFill>
                  <a:srgbClr val="16213A"/>
                </a:solidFill>
                <a:latin typeface="Arial"/>
                <a:ea typeface="Malgun Gothic"/>
                <a:cs typeface="Malgun Gothic"/>
              </a:rPr>
              <a:t>차원이고, 보통 정규화한 뒤 쓴다. 잔차는 "어느 단어에 가까운가"뿐 아니라 "그 단어에서 어느 방향으로 벗어났나"까지 담는다.</a:t>
            </a:r>
          </a:p>
        </p:txBody>
      </p:sp>
      <p:sp>
        <p:nvSpPr>
          <p:cNvPr id="10" name="TextBox 9"/>
          <p:cNvSpPr txBox="1"/>
          <p:nvPr/>
        </p:nvSpPr>
        <p:spPr>
          <a:xfrm>
            <a:off x="609600" y="3364409"/>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중심이 "잔디", "아스팔트", "나무껍질" 3개라 하자. 한 칸의 특징 5개 중 4개가 잔디 중심에, 1개가 아스팔트 중심에 배정됐다고 하자. </a:t>
            </a:r>
            <a:r>
              <a:rPr sz="1050" b="0" i="1">
                <a:solidFill>
                  <a:srgbClr val="16213A"/>
                </a:solidFill>
                <a:latin typeface="Arial"/>
                <a:ea typeface="Malgun Gothic"/>
                <a:cs typeface="Malgun Gothic"/>
              </a:rPr>
              <a:t>v_(잔디)</a:t>
            </a:r>
            <a:r>
              <a:rPr sz="1050" b="0" i="0">
                <a:solidFill>
                  <a:srgbClr val="16213A"/>
                </a:solidFill>
                <a:latin typeface="Arial"/>
                <a:ea typeface="Malgun Gothic"/>
                <a:cs typeface="Malgun Gothic"/>
              </a:rPr>
              <a:t>는 잔차 4개의 합이고, 특징이 배정되지 않은 </a:t>
            </a:r>
            <a:r>
              <a:rPr sz="1050" b="0" i="1">
                <a:solidFill>
                  <a:srgbClr val="16213A"/>
                </a:solidFill>
                <a:latin typeface="Arial"/>
                <a:ea typeface="Malgun Gothic"/>
                <a:cs typeface="Malgun Gothic"/>
              </a:rPr>
              <a:t>v_(나무껍질)</a:t>
            </a:r>
            <a:r>
              <a:rPr sz="1050" b="0" i="0">
                <a:solidFill>
                  <a:srgbClr val="16213A"/>
                </a:solidFill>
                <a:latin typeface="Arial"/>
                <a:ea typeface="Malgun Gothic"/>
                <a:cs typeface="Malgun Gothic"/>
              </a:rPr>
              <a:t>은 0이다. 잔차 합은 </a:t>
            </a:r>
            <a:r>
              <a:rPr sz="1050" b="0" i="1">
                <a:solidFill>
                  <a:srgbClr val="16213A"/>
                </a:solidFill>
                <a:latin typeface="Arial"/>
                <a:ea typeface="Malgun Gothic"/>
                <a:cs typeface="Malgun Gothic"/>
              </a:rPr>
              <a:t>nₖ(x̄ₖ - cₖ)</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nₖ</a:t>
            </a:r>
            <a:r>
              <a:rPr sz="1050" b="0" i="0">
                <a:solidFill>
                  <a:srgbClr val="16213A"/>
                </a:solidFill>
                <a:latin typeface="Arial"/>
                <a:ea typeface="Malgun Gothic"/>
                <a:cs typeface="Malgun Gothic"/>
              </a:rPr>
              <a:t>는 배정 개수, </a:t>
            </a:r>
            <a:r>
              <a:rPr sz="1050" b="0" i="1">
                <a:solidFill>
                  <a:srgbClr val="16213A"/>
                </a:solidFill>
                <a:latin typeface="Arial"/>
                <a:ea typeface="Malgun Gothic"/>
                <a:cs typeface="Malgun Gothic"/>
              </a:rPr>
              <a:t>x̄ₖ</a:t>
            </a:r>
            <a:r>
              <a:rPr sz="1050" b="0" i="0">
                <a:solidFill>
                  <a:srgbClr val="16213A"/>
                </a:solidFill>
                <a:latin typeface="Arial"/>
                <a:ea typeface="Malgun Gothic"/>
                <a:cs typeface="Malgun Gothic"/>
              </a:rPr>
              <a:t>는 그 특징들의 평균)와 같아서, 네 특징이 잔디 중심 바로 옆에 모여 있으면 개수가 많아도 </a:t>
            </a:r>
            <a:r>
              <a:rPr sz="1050" b="0" i="1">
                <a:solidFill>
                  <a:srgbClr val="16213A"/>
                </a:solidFill>
                <a:latin typeface="Arial"/>
                <a:ea typeface="Malgun Gothic"/>
                <a:cs typeface="Malgun Gothic"/>
              </a:rPr>
              <a:t>v_(잔디)</a:t>
            </a:r>
            <a:r>
              <a:rPr sz="1050" b="0" i="0">
                <a:solidFill>
                  <a:srgbClr val="16213A"/>
                </a:solidFill>
                <a:latin typeface="Arial"/>
                <a:ea typeface="Malgun Gothic"/>
                <a:cs typeface="Malgun Gothic"/>
              </a:rPr>
              <a:t>는 작다. 두 칸의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를 비교하면 구성이 비슷한지 알 수 있다.</a:t>
            </a:r>
          </a:p>
        </p:txBody>
      </p:sp>
      <p:sp>
        <p:nvSpPr>
          <p:cNvPr id="11" name="TextBox 10"/>
          <p:cNvSpPr txBox="1"/>
          <p:nvPr/>
        </p:nvSpPr>
        <p:spPr>
          <a:xfrm>
            <a:off x="609600" y="41027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SALON의 변형.</a:t>
            </a:r>
            <a:r>
              <a:rPr sz="1050" b="0" i="0">
                <a:solidFill>
                  <a:srgbClr val="16213A"/>
                </a:solidFill>
                <a:latin typeface="Arial"/>
                <a:ea typeface="Malgun Gothic"/>
                <a:cs typeface="Malgun Gothic"/>
              </a:rPr>
              <a:t> SALON은 픽셀 하나마다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 중심까지의 </a:t>
            </a:r>
            <a:r>
              <a:rPr sz="1050" b="0" i="1">
                <a:solidFill>
                  <a:srgbClr val="16213A"/>
                </a:solidFill>
                <a:latin typeface="Arial"/>
                <a:ea typeface="Malgun Gothic"/>
                <a:cs typeface="Malgun Gothic"/>
              </a:rPr>
              <a:t>L₁</a:t>
            </a:r>
            <a:r>
              <a:rPr sz="1050" b="0" i="0">
                <a:solidFill>
                  <a:srgbClr val="16213A"/>
                </a:solidFill>
                <a:latin typeface="Arial"/>
                <a:ea typeface="Malgun Gothic"/>
                <a:cs typeface="Malgun Gothic"/>
              </a:rPr>
              <a:t> 거리만 모아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차원 벡터를 만든다. 잔차 방향은 버리고 "각 중심에서 얼마나 먼가"만 남긴다. 차원이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로 작아 BEV 칸마다 쌓기 쉽다. 이 벡터는 곧 OOD 판정에도 쓰인다. 모든 중심에서 멀면 본 적 없는 특징이다.</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가우시안 과정 회귀(GPR) — 예측값과 함께 "얼마나 모르는지"를 닫힌 식으로 준다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265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가우시안 과정(GP)은 함수 </a:t>
            </a:r>
            <a:r>
              <a:rPr sz="1050" b="0" i="1">
                <a:solidFill>
                  <a:srgbClr val="16213A"/>
                </a:solidFill>
                <a:latin typeface="Arial"/>
                <a:ea typeface="Malgun Gothic"/>
                <a:cs typeface="Malgun Gothic"/>
              </a:rPr>
              <a:t>f(x)</a:t>
            </a:r>
            <a:r>
              <a:rPr sz="1050" b="0" i="0">
                <a:solidFill>
                  <a:srgbClr val="16213A"/>
                </a:solidFill>
                <a:latin typeface="Arial"/>
                <a:ea typeface="Malgun Gothic"/>
                <a:cs typeface="Malgun Gothic"/>
              </a:rPr>
              <a:t> 자체에 대한 확률분포다. 어떤 입력 점들을 골라도 그 점들의 함수값이 다변량 정규분포를 따른다고 가정한다. 분포는 평균 함수(보통 0)와 커널 </a:t>
            </a:r>
            <a:r>
              <a:rPr sz="1050" b="0" i="1">
                <a:solidFill>
                  <a:srgbClr val="16213A"/>
                </a:solidFill>
                <a:latin typeface="Arial"/>
                <a:ea typeface="Malgun Gothic"/>
                <a:cs typeface="Malgun Gothic"/>
              </a:rPr>
              <a:t>k(x, x')</a:t>
            </a:r>
            <a:r>
              <a:rPr sz="1050" b="0" i="0">
                <a:solidFill>
                  <a:srgbClr val="16213A"/>
                </a:solidFill>
                <a:latin typeface="Arial"/>
                <a:ea typeface="Malgun Gothic"/>
                <a:cs typeface="Malgun Gothic"/>
              </a:rPr>
              <a:t> 하나로 정해진다. 커널은 "두 입력이 가까우면 출력도 비슷하다"는 믿음을 수로 적은 것이다.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적은 데이터로 빨리 맞추면서 불확실성도 알고 싶을 때 쓴다. 데이터가 있는 곳 근처는 분산이 작고, 먼 곳은 분산이 커진다. 신경망은 분산을 따로 설계해야 하지만(배경 0.8), GPR은 식에서 바로 나온다.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동작하나.</a:t>
            </a:r>
            <a:r>
              <a:rPr sz="1050" b="0" i="0">
                <a:solidFill>
                  <a:srgbClr val="16213A"/>
                </a:solidFill>
                <a:latin typeface="Arial"/>
                <a:ea typeface="Malgun Gothic"/>
                <a:cs typeface="Malgun Gothic"/>
              </a:rPr>
              <a:t> 가장 흔한 커널은 RBF다. </a:t>
            </a:r>
            <a:r>
              <a:rPr sz="1050" b="0" i="1">
                <a:solidFill>
                  <a:srgbClr val="16213A"/>
                </a:solidFill>
                <a:latin typeface="Arial"/>
                <a:ea typeface="Malgun Gothic"/>
                <a:cs typeface="Malgun Gothic"/>
              </a:rPr>
              <a:t>ℓ</a:t>
            </a:r>
            <a:r>
              <a:rPr sz="1050" b="0" i="0">
                <a:solidFill>
                  <a:srgbClr val="16213A"/>
                </a:solidFill>
                <a:latin typeface="Arial"/>
                <a:ea typeface="Malgun Gothic"/>
                <a:cs typeface="Malgun Gothic"/>
              </a:rPr>
              <a:t>은 길이 척도(얼마나 멀면 무관해지나), </a:t>
            </a:r>
            <a:r>
              <a:rPr sz="1050" b="0" i="1">
                <a:solidFill>
                  <a:srgbClr val="16213A"/>
                </a:solidFill>
                <a:latin typeface="Arial"/>
                <a:ea typeface="Malgun Gothic"/>
                <a:cs typeface="Malgun Gothic"/>
              </a:rPr>
              <a:t>σ_f²</a:t>
            </a:r>
            <a:r>
              <a:rPr sz="1050" b="0" i="0">
                <a:solidFill>
                  <a:srgbClr val="16213A"/>
                </a:solidFill>
                <a:latin typeface="Arial"/>
                <a:ea typeface="Malgun Gothic"/>
                <a:cs typeface="Malgun Gothic"/>
              </a:rPr>
              <a:t>는 출력 크기다.</a:t>
            </a:r>
          </a:p>
        </p:txBody>
      </p:sp>
      <p:pic>
        <p:nvPicPr>
          <p:cNvPr id="8" name="Picture 7" descr="image.png"/>
          <p:cNvPicPr>
            <a:picLocks noChangeAspect="1"/>
          </p:cNvPicPr>
          <p:nvPr/>
        </p:nvPicPr>
        <p:blipFill>
          <a:blip r:embed="rId3"/>
          <a:stretch>
            <a:fillRect/>
          </a:stretch>
        </p:blipFill>
        <p:spPr>
          <a:xfrm>
            <a:off x="609600" y="2593777"/>
            <a:ext cx="2371725" cy="393700"/>
          </a:xfrm>
          <a:prstGeom prst="rect">
            <a:avLst/>
          </a:prstGeom>
        </p:spPr>
      </p:pic>
      <p:sp>
        <p:nvSpPr>
          <p:cNvPr id="9" name="TextBox 8"/>
          <p:cNvSpPr txBox="1"/>
          <p:nvPr/>
        </p:nvSpPr>
        <p:spPr>
          <a:xfrm>
            <a:off x="609600" y="300196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학습 입력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 관측 </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(잡음 분산 </a:t>
            </a:r>
            <a:r>
              <a:rPr sz="1050" b="0" i="1">
                <a:solidFill>
                  <a:srgbClr val="16213A"/>
                </a:solidFill>
                <a:latin typeface="Arial"/>
                <a:ea typeface="Malgun Gothic"/>
                <a:cs typeface="Malgun Gothic"/>
              </a:rPr>
              <a:t>σₙ²</a:t>
            </a:r>
            <a:r>
              <a:rPr sz="1050" b="0" i="0">
                <a:solidFill>
                  <a:srgbClr val="16213A"/>
                </a:solidFill>
                <a:latin typeface="Arial"/>
                <a:ea typeface="Malgun Gothic"/>
                <a:cs typeface="Malgun Gothic"/>
              </a:rPr>
              <a:t>), 학습 점끼리의 커널 행렬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 새 점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와 학습 점 사이 커널 벡터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가 있으면, 예측은 이렇다.</a:t>
            </a:r>
          </a:p>
        </p:txBody>
      </p:sp>
      <p:pic>
        <p:nvPicPr>
          <p:cNvPr id="10" name="Picture 9" descr="image.png"/>
          <p:cNvPicPr>
            <a:picLocks noChangeAspect="1"/>
          </p:cNvPicPr>
          <p:nvPr/>
        </p:nvPicPr>
        <p:blipFill>
          <a:blip r:embed="rId4"/>
          <a:stretch>
            <a:fillRect/>
          </a:stretch>
        </p:blipFill>
        <p:spPr>
          <a:xfrm>
            <a:off x="609600" y="3307358"/>
            <a:ext cx="4530725" cy="238125"/>
          </a:xfrm>
          <a:prstGeom prst="rect">
            <a:avLst/>
          </a:prstGeom>
        </p:spPr>
      </p:pic>
      <p:sp>
        <p:nvSpPr>
          <p:cNvPr id="11" name="TextBox 10"/>
          <p:cNvSpPr txBox="1"/>
          <p:nvPr/>
        </p:nvSpPr>
        <p:spPr>
          <a:xfrm>
            <a:off x="609600" y="3584873"/>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평균은 가까운 학습 점의 관측을 커널 가중으로 섞은 값이다. 분산은 사전 분산에서 "데이터가 설명해 준 만큼"을 뺀 값이다. </a:t>
            </a:r>
            <a:r>
              <a:rPr sz="1050" b="0" i="1">
                <a:solidFill>
                  <a:srgbClr val="16213A"/>
                </a:solidFill>
                <a:latin typeface="Arial"/>
                <a:ea typeface="Malgun Gothic"/>
                <a:cs typeface="Malgun Gothic"/>
              </a:rPr>
              <a:t>ℓ</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σ_f</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σₙ</a:t>
            </a:r>
            <a:r>
              <a:rPr sz="1050" b="0" i="0">
                <a:solidFill>
                  <a:srgbClr val="16213A"/>
                </a:solidFill>
                <a:latin typeface="Arial"/>
                <a:ea typeface="Malgun Gothic"/>
                <a:cs typeface="Malgun Gothic"/>
              </a:rPr>
              <a:t>은 주변 우도를 최대화해 정한다. 역행렬 때문에 계산량이 학습 점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개에 대해 </a:t>
            </a:r>
            <a:r>
              <a:rPr sz="1050" b="0" i="1">
                <a:solidFill>
                  <a:srgbClr val="16213A"/>
                </a:solidFill>
                <a:latin typeface="Arial"/>
                <a:ea typeface="Malgun Gothic"/>
                <a:cs typeface="Malgun Gothic"/>
              </a:rPr>
              <a:t>O(N³)</a:t>
            </a:r>
            <a:r>
              <a:rPr sz="1050" b="0" i="0">
                <a:solidFill>
                  <a:srgbClr val="16213A"/>
                </a:solidFill>
                <a:latin typeface="Arial"/>
                <a:ea typeface="Malgun Gothic"/>
                <a:cs typeface="Malgun Gothic"/>
              </a:rPr>
              <a:t>이라, 버퍼 크기를 제한하거나 근사를 쓴다.</a:t>
            </a:r>
          </a:p>
        </p:txBody>
      </p:sp>
      <p:sp>
        <p:nvSpPr>
          <p:cNvPr id="12" name="TextBox 11"/>
          <p:cNvSpPr txBox="1"/>
          <p:nvPr/>
        </p:nvSpPr>
        <p:spPr>
          <a:xfrm>
            <a:off x="609600" y="410676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1차원 입력에서 </a:t>
            </a:r>
            <a:r>
              <a:rPr sz="1050" b="0" i="1">
                <a:solidFill>
                  <a:srgbClr val="16213A"/>
                </a:solidFill>
                <a:latin typeface="Arial"/>
                <a:ea typeface="Malgun Gothic"/>
                <a:cs typeface="Malgun Gothic"/>
              </a:rPr>
              <a:t>x = 0, 1</a:t>
            </a:r>
            <a:r>
              <a:rPr sz="1050" b="0" i="0">
                <a:solidFill>
                  <a:srgbClr val="16213A"/>
                </a:solidFill>
                <a:latin typeface="Arial"/>
                <a:ea typeface="Malgun Gothic"/>
                <a:cs typeface="Malgun Gothic"/>
              </a:rPr>
              <a:t>에 관측이 있다고 하자. </a:t>
            </a:r>
            <a:r>
              <a:rPr sz="1050" b="0" i="1">
                <a:solidFill>
                  <a:srgbClr val="16213A"/>
                </a:solidFill>
                <a:latin typeface="Arial"/>
                <a:ea typeface="Malgun Gothic"/>
                <a:cs typeface="Malgun Gothic"/>
              </a:rPr>
              <a:t>x = 0.5</a:t>
            </a:r>
            <a:r>
              <a:rPr sz="1050" b="0" i="0">
                <a:solidFill>
                  <a:srgbClr val="16213A"/>
                </a:solidFill>
                <a:latin typeface="Arial"/>
                <a:ea typeface="Malgun Gothic"/>
                <a:cs typeface="Malgun Gothic"/>
              </a:rPr>
              <a:t>에서는 두 관측의 중간값에 분산이 작다. </a:t>
            </a:r>
            <a:r>
              <a:rPr sz="1050" b="0" i="1">
                <a:solidFill>
                  <a:srgbClr val="16213A"/>
                </a:solidFill>
                <a:latin typeface="Arial"/>
                <a:ea typeface="Malgun Gothic"/>
                <a:cs typeface="Malgun Gothic"/>
              </a:rPr>
              <a:t>x = 5</a:t>
            </a:r>
            <a:r>
              <a:rPr sz="1050" b="0" i="0">
                <a:solidFill>
                  <a:srgbClr val="16213A"/>
                </a:solidFill>
                <a:latin typeface="Arial"/>
                <a:ea typeface="Malgun Gothic"/>
                <a:cs typeface="Malgun Gothic"/>
              </a:rPr>
              <a:t>에서는 </a:t>
            </a:r>
            <a:r>
              <a:rPr sz="1050" b="0" i="1">
                <a:solidFill>
                  <a:srgbClr val="16213A"/>
                </a:solidFill>
                <a:latin typeface="Arial"/>
                <a:ea typeface="Malgun Gothic"/>
                <a:cs typeface="Malgun Gothic"/>
              </a:rPr>
              <a:t>k* ≈ 0</a:t>
            </a:r>
            <a:r>
              <a:rPr sz="1050" b="0" i="0">
                <a:solidFill>
                  <a:srgbClr val="16213A"/>
                </a:solidFill>
                <a:latin typeface="Arial"/>
                <a:ea typeface="Malgun Gothic"/>
                <a:cs typeface="Malgun Gothic"/>
              </a:rPr>
              <a:t>이라 평균이 사전 평균 0으로 돌아가고 분산은 </a:t>
            </a:r>
            <a:r>
              <a:rPr sz="1050" b="0" i="1">
                <a:solidFill>
                  <a:srgbClr val="16213A"/>
                </a:solidFill>
                <a:latin typeface="Arial"/>
                <a:ea typeface="Malgun Gothic"/>
                <a:cs typeface="Malgun Gothic"/>
              </a:rPr>
              <a:t>σ_f²</a:t>
            </a:r>
            <a:r>
              <a:rPr sz="1050" b="0" i="0">
                <a:solidFill>
                  <a:srgbClr val="16213A"/>
                </a:solidFill>
                <a:latin typeface="Arial"/>
                <a:ea typeface="Malgun Gothic"/>
                <a:cs typeface="Malgun Gothic"/>
              </a:rPr>
              <a:t>에 가깝다. "모른다"를 스스로 말한다.</a:t>
            </a:r>
          </a:p>
        </p:txBody>
      </p:sp>
      <p:sp>
        <p:nvSpPr>
          <p:cNvPr id="13" name="TextBox 12"/>
          <p:cNvSpPr txBox="1"/>
          <p:nvPr/>
        </p:nvSpPr>
        <p:spPr>
          <a:xfrm>
            <a:off x="609600" y="462865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 쓰는 곳.</a:t>
            </a:r>
            <a:r>
              <a:rPr sz="1050" b="0" i="0">
                <a:solidFill>
                  <a:srgbClr val="16213A"/>
                </a:solidFill>
                <a:latin typeface="Arial"/>
                <a:ea typeface="Malgun Gothic"/>
                <a:cs typeface="Malgun Gothic"/>
              </a:rPr>
              <a:t> SALON은 (BEV 특징, 속도) → 거칠기, (BEV 특징, 허용 거칠기) → 속도를 RBF GPR로 예측한다. 평균과 분산이 함께 나오므로 CVaR(배경 0.3)로 바로 위험 반영 비용과 보수적 속도 상한을 만든다. travplan의 잔차 GP(</a:t>
            </a:r>
            <a:r>
              <a:rPr sz="1050" b="0" i="0">
                <a:solidFill>
                  <a:srgbClr val="16213A"/>
                </a:solidFill>
                <a:latin typeface="Consolas"/>
                <a:ea typeface="Malgun Gothic"/>
                <a:cs typeface="Malgun Gothic"/>
              </a:rPr>
              <a:t>control/acados_mpc/gp.py</a:t>
            </a:r>
            <a:r>
              <a:rPr sz="1050" b="0" i="0">
                <a:solidFill>
                  <a:srgbClr val="16213A"/>
                </a:solidFill>
                <a:latin typeface="Arial"/>
                <a:ea typeface="Malgun Gothic"/>
                <a:cs typeface="Malgun Gothic"/>
              </a:rPr>
              <a:t>)도 같은 식을 쓴다.</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자세히: STERLING의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266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지형 인식의 기존 방법은 셋 중 하나에 기댄다. 라벨 데이터셋(GANav는 RUGD로 학습), 사람이 설계한 특징·비용 함수, 전문가 시연이다. 대조 학습(SE-R의 triplet 손실)은 "이 둘은 다른 지형"이라는 음성 쌍이 필요한데, 라벨 없는 데이터에서는 음성을 알 수 없다. STERLING은 </a:t>
            </a:r>
            <a:r>
              <a:rPr sz="1050" b="1" i="0">
                <a:solidFill>
                  <a:srgbClr val="16213A"/>
                </a:solidFill>
                <a:latin typeface="Arial"/>
                <a:ea typeface="Malgun Gothic"/>
                <a:cs typeface="Malgun Gothic"/>
              </a:rPr>
              <a:t>아무 정책으로 모은 무라벨 주행 기록</a:t>
            </a:r>
            <a:r>
              <a:rPr sz="1050" b="0" i="0">
                <a:solidFill>
                  <a:srgbClr val="16213A"/>
                </a:solidFill>
                <a:latin typeface="Arial"/>
                <a:ea typeface="Malgun Gothic"/>
                <a:cs typeface="Malgun Gothic"/>
              </a:rPr>
              <a:t>만으로 지형 표현을 배운다. 목표가 비용이 아니라 표현이라, 선호가 바뀌어도 인코더를 다시 학습하지 않는다.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데이터.</a:t>
            </a:r>
            <a:r>
              <a:rPr sz="1050" b="0" i="0">
                <a:solidFill>
                  <a:srgbClr val="16213A"/>
                </a:solidFill>
                <a:latin typeface="Arial"/>
                <a:ea typeface="Malgun Gothic"/>
                <a:cs typeface="Malgun Gothic"/>
              </a:rPr>
              <a:t> 주 플랫폼은 다리 로봇 Boston Dynamics Spot이다. 캠퍼스의 8개 지형(멀치, 자갈 보도, 시멘트 보도, 잔디, 덤불, 대리석 자갈, 노란 벽돌, 빨간 벽돌)에서 지형마다 5분짜리 궤적 8개를 원격 조종으로 모았다(학습 4, 검증 4). 샘플은 모두 117,604개다. 궤적마다 지형을 하나로 둔 것은 평가용 라벨을 쉽게 붙이려는 것이고, 방법 자체는 이런 제약이 필요 없다.</a:t>
            </a:r>
          </a:p>
        </p:txBody>
      </p:sp>
      <p:sp>
        <p:nvSpPr>
          <p:cNvPr id="7" name="TextBox 6"/>
          <p:cNvSpPr txBox="1"/>
          <p:nvPr/>
        </p:nvSpPr>
        <p:spPr>
          <a:xfrm>
            <a:off x="609600" y="25048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시각 패치: 호모그래피 BEV + 다시점.</a:t>
            </a:r>
            <a:r>
              <a:rPr sz="1050" b="0" i="0">
                <a:solidFill>
                  <a:srgbClr val="16213A"/>
                </a:solidFill>
                <a:latin typeface="Arial"/>
                <a:ea typeface="Malgun Gothic"/>
                <a:cs typeface="Malgun Gothic"/>
              </a:rPr>
              <a:t> Azure Kinect 영상을 "지면은 평면"이라는 가정으로 호모그래피 변환해 BEV로 편다(배경: 호모그래피 BEV 토글 참고). 궤적 위 지점 </a:t>
            </a:r>
            <a:r>
              <a:rPr sz="1050" b="0" i="1">
                <a:solidFill>
                  <a:srgbClr val="16213A"/>
                </a:solidFill>
                <a:latin typeface="Arial"/>
                <a:ea typeface="Malgun Gothic"/>
                <a:cs typeface="Malgun Gothic"/>
              </a:rPr>
              <a:t>sₖ</a:t>
            </a:r>
            <a:r>
              <a:rPr sz="1050" b="0" i="0">
                <a:solidFill>
                  <a:srgbClr val="16213A"/>
                </a:solidFill>
                <a:latin typeface="Arial"/>
                <a:ea typeface="Malgun Gothic"/>
                <a:cs typeface="Malgun Gothic"/>
              </a:rPr>
              <a:t>마다 64×64 픽셀 패치(로봇 발자국 0.5 m × 0.5 m)를 자른다. 로봇이 </a:t>
            </a:r>
            <a:r>
              <a:rPr sz="1050" b="0" i="1">
                <a:solidFill>
                  <a:srgbClr val="16213A"/>
                </a:solidFill>
                <a:latin typeface="Arial"/>
                <a:ea typeface="Malgun Gothic"/>
                <a:cs typeface="Malgun Gothic"/>
              </a:rPr>
              <a:t>sₖ</a:t>
            </a:r>
            <a:r>
              <a:rPr sz="1050" b="0" i="0">
                <a:solidFill>
                  <a:srgbClr val="16213A"/>
                </a:solidFill>
                <a:latin typeface="Arial"/>
                <a:ea typeface="Malgun Gothic"/>
                <a:cs typeface="Malgun Gothic"/>
              </a:rPr>
              <a:t>에 있을 때는 그 땅이 몸 밑이라 안 보인다. 그래서 이전 시점 </a:t>
            </a:r>
            <a:r>
              <a:rPr sz="1050" b="0" i="1">
                <a:solidFill>
                  <a:srgbClr val="16213A"/>
                </a:solidFill>
                <a:latin typeface="Arial"/>
                <a:ea typeface="Malgun Gothic"/>
                <a:cs typeface="Malgun Gothic"/>
              </a:rPr>
              <a:t>sₖ₋₁, sₖ₋₂, …</a:t>
            </a:r>
            <a:r>
              <a:rPr sz="1050" b="0" i="0">
                <a:solidFill>
                  <a:srgbClr val="16213A"/>
                </a:solidFill>
                <a:latin typeface="Arial"/>
                <a:ea typeface="Malgun Gothic"/>
                <a:cs typeface="Malgun Gothic"/>
              </a:rPr>
              <a:t>의 영상에서 잘라 온다. 2 m 이내에서 최대 20개 시점을 모으고, 학습 때는 두 개를 무작위로 뽑는다. 멀리서 본 패치일수록 호모그래피 오차로 뭉개진다. 이 차이를 견디는 것이 "시점 불변성" 목표다.</a:t>
            </a:r>
          </a:p>
        </p:txBody>
      </p:sp>
      <p:sp>
        <p:nvSpPr>
          <p:cNvPr id="8" name="TextBox 7"/>
          <p:cNvSpPr txBox="1"/>
          <p:nvPr/>
        </p:nvSpPr>
        <p:spPr>
          <a:xfrm>
            <a:off x="609600" y="32432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ipt 신호: 주파수 영역.</a:t>
            </a:r>
            <a:r>
              <a:rPr sz="1050" b="0" i="0">
                <a:solidFill>
                  <a:srgbClr val="16213A"/>
                </a:solidFill>
                <a:latin typeface="Arial"/>
                <a:ea typeface="Malgun Gothic"/>
                <a:cs typeface="Malgun Gothic"/>
              </a:rPr>
              <a:t> 관성(inertial), 관절(proprioceptive), 발 접촉(tactile)을 합쳐 ipt라 부른다. Spot에서는 VectorNav IMU의 각속도 x·y와 가속도 z(200 Hz), 관절 각도·속도(25 Hz), 발 접촉 여부와 추정 발 깊이(25 Hz)다. 최근 2초를 FFT해 파워 스펙트럼 밀도 </a:t>
            </a:r>
            <a:r>
              <a:rPr sz="1050" b="0" i="1">
                <a:solidFill>
                  <a:srgbClr val="16213A"/>
                </a:solidFill>
                <a:latin typeface="Arial"/>
                <a:ea typeface="Malgun Gothic"/>
                <a:cs typeface="Malgun Gothic"/>
              </a:rPr>
              <a:t>PSD(ω) = 𝔼[|X(ω)|²]</a:t>
            </a:r>
            <a:r>
              <a:rPr sz="1050" b="0" i="0">
                <a:solidFill>
                  <a:srgbClr val="16213A"/>
                </a:solidFill>
                <a:latin typeface="Arial"/>
                <a:ea typeface="Malgun Gothic"/>
                <a:cs typeface="Malgun Gothic"/>
              </a:rPr>
              <a:t>로 바꾼다. 그러면 신호 길이와 위상이 달라도 같은 표현이 된다.</a:t>
            </a:r>
          </a:p>
        </p:txBody>
      </p:sp>
      <p:sp>
        <p:nvSpPr>
          <p:cNvPr id="9" name="TextBox 8"/>
          <p:cNvSpPr txBox="1"/>
          <p:nvPr/>
        </p:nvSpPr>
        <p:spPr>
          <a:xfrm>
            <a:off x="609600" y="376515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네트워크.</a:t>
            </a:r>
            <a:r>
              <a:rPr sz="1050" b="0" i="0">
                <a:solidFill>
                  <a:srgbClr val="16213A"/>
                </a:solidFill>
                <a:latin typeface="Arial"/>
                <a:ea typeface="Malgun Gothic"/>
                <a:cs typeface="Malgun Gothic"/>
              </a:rPr>
              <a:t> 시각 인코더는 4층 CNN(커널 3, stride 1, 파라미터 약 25만 개)이다. ipt 인코더는 4층 MLP(약 25만 개)다. 두 표현 </a:t>
            </a:r>
            <a:r>
              <a:rPr sz="1050" b="0" i="1">
                <a:solidFill>
                  <a:srgbClr val="16213A"/>
                </a:solidFill>
                <a:latin typeface="Arial"/>
                <a:ea typeface="Malgun Gothic"/>
                <a:cs typeface="Malgun Gothic"/>
              </a:rPr>
              <a:t>φᵥ</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φᵢ</a:t>
            </a:r>
            <a:r>
              <a:rPr sz="1050" b="0" i="0">
                <a:solidFill>
                  <a:srgbClr val="16213A"/>
                </a:solidFill>
                <a:latin typeface="Arial"/>
                <a:ea typeface="Malgun Gothic"/>
                <a:cs typeface="Malgun Gothic"/>
              </a:rPr>
              <a:t>를 2층 MLP projector(약 25만 개)가 더 높은 차원 </a:t>
            </a:r>
            <a:r>
              <a:rPr sz="1050" b="0" i="1">
                <a:solidFill>
                  <a:srgbClr val="16213A"/>
                </a:solidFill>
                <a:latin typeface="Arial"/>
                <a:ea typeface="Malgun Gothic"/>
                <a:cs typeface="Malgun Gothic"/>
              </a:rPr>
              <a:t>ψ</a:t>
            </a:r>
            <a:r>
              <a:rPr sz="1050" b="0" i="0">
                <a:solidFill>
                  <a:srgbClr val="16213A"/>
                </a:solidFill>
                <a:latin typeface="Arial"/>
                <a:ea typeface="Malgun Gothic"/>
                <a:cs typeface="Malgun Gothic"/>
              </a:rPr>
              <a:t>로 올리고, 손실은 이 </a:t>
            </a:r>
            <a:r>
              <a:rPr sz="1050" b="0" i="1">
                <a:solidFill>
                  <a:srgbClr val="16213A"/>
                </a:solidFill>
                <a:latin typeface="Arial"/>
                <a:ea typeface="Malgun Gothic"/>
                <a:cs typeface="Malgun Gothic"/>
              </a:rPr>
              <a:t>ψ</a:t>
            </a:r>
            <a:r>
              <a:rPr sz="1050" b="0" i="0">
                <a:solidFill>
                  <a:srgbClr val="16213A"/>
                </a:solidFill>
                <a:latin typeface="Arial"/>
                <a:ea typeface="Malgun Gothic"/>
                <a:cs typeface="Malgun Gothic"/>
              </a:rPr>
              <a:t> 위에서 계산한다. 특징은 </a:t>
            </a:r>
            <a:r>
              <a:rPr sz="1050" b="0" i="1">
                <a:solidFill>
                  <a:srgbClr val="16213A"/>
                </a:solidFill>
                <a:latin typeface="Arial"/>
                <a:ea typeface="Malgun Gothic"/>
                <a:cs typeface="Malgun Gothic"/>
              </a:rPr>
              <a:t>l²</a:t>
            </a:r>
            <a:r>
              <a:rPr sz="1050" b="0" i="0">
                <a:solidFill>
                  <a:srgbClr val="16213A"/>
                </a:solidFill>
                <a:latin typeface="Arial"/>
                <a:ea typeface="Malgun Gothic"/>
                <a:cs typeface="Malgun Gothic"/>
              </a:rPr>
              <a:t> 정규화해 초구 위에 둔다. 학습은 Adam, 학습률 </a:t>
            </a:r>
            <a:r>
              <a:rPr sz="1050" b="0" i="1">
                <a:solidFill>
                  <a:srgbClr val="16213A"/>
                </a:solidFill>
                <a:latin typeface="Arial"/>
                <a:ea typeface="Malgun Gothic"/>
                <a:cs typeface="Malgun Gothic"/>
              </a:rPr>
              <a:t>3 × 10⁻⁴</a:t>
            </a:r>
            <a:r>
              <a:rPr sz="1050" b="0" i="0">
                <a:solidFill>
                  <a:srgbClr val="16213A"/>
                </a:solidFill>
                <a:latin typeface="Arial"/>
                <a:ea typeface="Malgun Gothic"/>
                <a:cs typeface="Malgun Gothic"/>
              </a:rPr>
              <a:t>, 배치 128, 50 epoch, weight decay </a:t>
            </a:r>
            <a:r>
              <a:rPr sz="1050" b="0" i="1">
                <a:solidFill>
                  <a:srgbClr val="16213A"/>
                </a:solidFill>
                <a:latin typeface="Arial"/>
                <a:ea typeface="Malgun Gothic"/>
                <a:cs typeface="Malgun Gothic"/>
              </a:rPr>
              <a:t>5 × 10⁻⁵</a:t>
            </a:r>
            <a:r>
              <a:rPr sz="1050" b="0" i="0">
                <a:solidFill>
                  <a:srgbClr val="16213A"/>
                </a:solidFill>
                <a:latin typeface="Arial"/>
                <a:ea typeface="Malgun Gothic"/>
                <a:cs typeface="Malgun Gothic"/>
              </a:rPr>
              <a:t>다.</a:t>
            </a:r>
          </a:p>
        </p:txBody>
      </p:sp>
      <p:sp>
        <p:nvSpPr>
          <p:cNvPr id="10" name="TextBox 9"/>
          <p:cNvSpPr txBox="1"/>
          <p:nvPr/>
        </p:nvSpPr>
        <p:spPr>
          <a:xfrm>
            <a:off x="609600" y="428704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목표: 음성 샘플 없이 표현 배우기.</a:t>
            </a:r>
            <a:r>
              <a:rPr sz="1050" b="0" i="0">
                <a:solidFill>
                  <a:srgbClr val="16213A"/>
                </a:solidFill>
                <a:latin typeface="Arial"/>
                <a:ea typeface="Malgun Gothic"/>
                <a:cs typeface="Malgun Gothic"/>
              </a:rPr>
              <a:t> 같은 자리의 두 시점 패치 </a:t>
            </a:r>
            <a:r>
              <a:rPr sz="1050" b="0" i="1">
                <a:solidFill>
                  <a:srgbClr val="16213A"/>
                </a:solidFill>
                <a:latin typeface="Arial"/>
                <a:ea typeface="Malgun Gothic"/>
                <a:cs typeface="Malgun Gothic"/>
              </a:rPr>
              <a:t>v₁, v₂</a:t>
            </a:r>
            <a:r>
              <a:rPr sz="1050" b="0" i="0">
                <a:solidFill>
                  <a:srgbClr val="16213A"/>
                </a:solidFill>
                <a:latin typeface="Arial"/>
                <a:ea typeface="Malgun Gothic"/>
                <a:cs typeface="Malgun Gothic"/>
              </a:rPr>
              <a:t>와 그때의 ipt 신호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가 같은 표현이 되도록 VICReg 손실을 쓴다 (배경: 자기지도 표현 학습과 VICReg 토글 참고). 첫 항이 시점 불변성 </a:t>
            </a:r>
            <a:r>
              <a:rPr sz="1050" b="0" i="1">
                <a:solidFill>
                  <a:srgbClr val="16213A"/>
                </a:solidFill>
                <a:latin typeface="Arial"/>
                <a:ea typeface="Malgun Gothic"/>
                <a:cs typeface="Malgun Gothic"/>
              </a:rPr>
              <a:t>ℒ_(VI)</a:t>
            </a:r>
            <a:r>
              <a:rPr sz="1050" b="0" i="0">
                <a:solidFill>
                  <a:srgbClr val="16213A"/>
                </a:solidFill>
                <a:latin typeface="Arial"/>
                <a:ea typeface="Malgun Gothic"/>
                <a:cs typeface="Malgun Gothic"/>
              </a:rPr>
              <a:t>, 괄호 항이 멀티모달 상관 </a:t>
            </a:r>
            <a:r>
              <a:rPr sz="1050" b="0" i="1">
                <a:solidFill>
                  <a:srgbClr val="16213A"/>
                </a:solidFill>
                <a:latin typeface="Arial"/>
                <a:ea typeface="Malgun Gothic"/>
                <a:cs typeface="Malgun Gothic"/>
              </a:rPr>
              <a:t>ℒ_(MM)</a:t>
            </a:r>
            <a:r>
              <a:rPr sz="1050" b="0" i="0">
                <a:solidFill>
                  <a:srgbClr val="16213A"/>
                </a:solidFill>
                <a:latin typeface="Arial"/>
                <a:ea typeface="Malgun Gothic"/>
                <a:cs typeface="Malgun Gothic"/>
              </a:rPr>
              <a:t>이다.</a:t>
            </a:r>
          </a:p>
        </p:txBody>
      </p:sp>
      <p:pic>
        <p:nvPicPr>
          <p:cNvPr id="11" name="Picture 10" descr="image.png"/>
          <p:cNvPicPr>
            <a:picLocks noChangeAspect="1"/>
          </p:cNvPicPr>
          <p:nvPr/>
        </p:nvPicPr>
        <p:blipFill>
          <a:blip r:embed="rId3"/>
          <a:stretch>
            <a:fillRect/>
          </a:stretch>
        </p:blipFill>
        <p:spPr>
          <a:xfrm>
            <a:off x="609600" y="4808934"/>
            <a:ext cx="4486275" cy="241300"/>
          </a:xfrm>
          <a:prstGeom prst="rect">
            <a:avLst/>
          </a:prstGeom>
        </p:spPr>
      </p:pic>
      <p:pic>
        <p:nvPicPr>
          <p:cNvPr id="12" name="Picture 11" descr="image.png"/>
          <p:cNvPicPr>
            <a:picLocks noChangeAspect="1"/>
          </p:cNvPicPr>
          <p:nvPr/>
        </p:nvPicPr>
        <p:blipFill>
          <a:blip r:embed="rId4"/>
          <a:stretch>
            <a:fillRect/>
          </a:stretch>
        </p:blipFill>
        <p:spPr>
          <a:xfrm>
            <a:off x="609600" y="5086449"/>
            <a:ext cx="4708525" cy="241300"/>
          </a:xfrm>
          <a:prstGeom prst="rect">
            <a:avLst/>
          </a:prstGeom>
        </p:spPr>
      </p:pic>
      <p:sp>
        <p:nvSpPr>
          <p:cNvPr id="13" name="TextBox 12"/>
          <p:cNvSpPr txBox="1"/>
          <p:nvPr/>
        </p:nvSpPr>
        <p:spPr>
          <a:xfrm>
            <a:off x="609600" y="5363964"/>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10개(문단·식·그림)는 대시보드 리서치 탭의 "자세히: STERLING의 방법과 수식" 토글에 있다.</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자기지도 표현 학습과 VICReg — 같은 것의 두 모습을 같게, 대신 모두 한 점으로 무너지지 않게</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267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자기지도 표현 학습은 라벨 없이 데이터 자체에서 학습 신호를 만든다. 가장 흔한 틀은 "같은 대상의 두 모습(view)은 같은 표현을 가져야 한다"다. 두 모습은 보통 같은 영상을 다르게 자르거나 색을 바꾼 것(augmentation)이다. STERLING은 다른 시점의 패치, 다른 센서 신호를 두 모습으로 쓴다.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어려운가: 붕괴.</a:t>
            </a:r>
            <a:r>
              <a:rPr sz="1050" b="0" i="0">
                <a:solidFill>
                  <a:srgbClr val="16213A"/>
                </a:solidFill>
                <a:latin typeface="Arial"/>
                <a:ea typeface="Malgun Gothic"/>
                <a:cs typeface="Malgun Gothic"/>
              </a:rPr>
              <a:t> "두 표현을 같게"만 요구하면 인코더가 모든 입력에 같은 상수 벡터를 내는 것이 최적해다. 손실은 0이지만 아무 정보도 없다. 이것을 표현 붕괴(collapse)라 한다. 막는 방법은 두 갈래다.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대조 학습.</a:t>
            </a:r>
            <a:r>
              <a:rPr sz="1050" b="0" i="0">
                <a:solidFill>
                  <a:srgbClr val="16213A"/>
                </a:solidFill>
                <a:latin typeface="Arial"/>
                <a:ea typeface="Malgun Gothic"/>
                <a:cs typeface="Malgun Gothic"/>
              </a:rPr>
              <a:t> SimCLR 같은 방법은 음성 쌍을 함께 쓴다. 같은 대상 쌍 </a:t>
            </a:r>
            <a:r>
              <a:rPr sz="1050" b="0" i="1">
                <a:solidFill>
                  <a:srgbClr val="16213A"/>
                </a:solidFill>
                <a:latin typeface="Arial"/>
                <a:ea typeface="Malgun Gothic"/>
                <a:cs typeface="Malgun Gothic"/>
              </a:rPr>
              <a:t>(z, z⁺)</a:t>
            </a:r>
            <a:r>
              <a:rPr sz="1050" b="0" i="0">
                <a:solidFill>
                  <a:srgbClr val="16213A"/>
                </a:solidFill>
                <a:latin typeface="Arial"/>
                <a:ea typeface="Malgun Gothic"/>
                <a:cs typeface="Malgun Gothic"/>
              </a:rPr>
              <a:t>는 가깝게, 다른 대상 </a:t>
            </a:r>
            <a:r>
              <a:rPr sz="1050" b="0" i="1">
                <a:solidFill>
                  <a:srgbClr val="16213A"/>
                </a:solidFill>
                <a:latin typeface="Arial"/>
                <a:ea typeface="Malgun Gothic"/>
                <a:cs typeface="Malgun Gothic"/>
              </a:rPr>
              <a:t>z⁻_j</a:t>
            </a:r>
            <a:r>
              <a:rPr sz="1050" b="0" i="0">
                <a:solidFill>
                  <a:srgbClr val="16213A"/>
                </a:solidFill>
                <a:latin typeface="Arial"/>
                <a:ea typeface="Malgun Gothic"/>
                <a:cs typeface="Malgun Gothic"/>
              </a:rPr>
              <a:t>와는 멀게 한다. 대표 손실은 InfoNCE다.</a:t>
            </a:r>
          </a:p>
        </p:txBody>
      </p:sp>
      <p:pic>
        <p:nvPicPr>
          <p:cNvPr id="8" name="Picture 7" descr="image.png"/>
          <p:cNvPicPr>
            <a:picLocks noChangeAspect="1"/>
          </p:cNvPicPr>
          <p:nvPr/>
        </p:nvPicPr>
        <p:blipFill>
          <a:blip r:embed="rId3"/>
          <a:stretch>
            <a:fillRect/>
          </a:stretch>
        </p:blipFill>
        <p:spPr>
          <a:xfrm>
            <a:off x="609600" y="2593777"/>
            <a:ext cx="3949700" cy="463550"/>
          </a:xfrm>
          <a:prstGeom prst="rect">
            <a:avLst/>
          </a:prstGeom>
        </p:spPr>
      </p:pic>
      <p:sp>
        <p:nvSpPr>
          <p:cNvPr id="9" name="TextBox 8"/>
          <p:cNvSpPr txBox="1"/>
          <p:nvPr/>
        </p:nvSpPr>
        <p:spPr>
          <a:xfrm>
            <a:off x="609600" y="3061891"/>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는 온도다. 문제는 배치 안 다른 샘플을 음성으로 가정한다는 점이다. 지형 데이터에서는 배치 안에 같은 잔디 패치가 많아, 같은 지형을 억지로 떼어 놓게 된다.</a:t>
            </a:r>
          </a:p>
        </p:txBody>
      </p:sp>
      <p:sp>
        <p:nvSpPr>
          <p:cNvPr id="10" name="TextBox 9"/>
          <p:cNvSpPr txBox="1"/>
          <p:nvPr/>
        </p:nvSpPr>
        <p:spPr>
          <a:xfrm>
            <a:off x="609600" y="33672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비대조 학습과 VICReg.</a:t>
            </a:r>
            <a:r>
              <a:rPr sz="1050" b="0" i="0">
                <a:solidFill>
                  <a:srgbClr val="16213A"/>
                </a:solidFill>
                <a:latin typeface="Arial"/>
                <a:ea typeface="Malgun Gothic"/>
                <a:cs typeface="Malgun Gothic"/>
              </a:rPr>
              <a:t> VICReg는 음성 없이 배치 통계로 붕괴를 막는다. 배치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 차원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인 표현 행렬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에 세 항을 둔다.</a:t>
            </a:r>
          </a:p>
        </p:txBody>
      </p:sp>
      <p:pic>
        <p:nvPicPr>
          <p:cNvPr id="11" name="Picture 10" descr="image.png"/>
          <p:cNvPicPr>
            <a:picLocks noChangeAspect="1"/>
          </p:cNvPicPr>
          <p:nvPr/>
        </p:nvPicPr>
        <p:blipFill>
          <a:blip r:embed="rId4"/>
          <a:stretch>
            <a:fillRect/>
          </a:stretch>
        </p:blipFill>
        <p:spPr>
          <a:xfrm>
            <a:off x="609600" y="3672681"/>
            <a:ext cx="7331075" cy="577850"/>
          </a:xfrm>
          <a:prstGeom prst="rect">
            <a:avLst/>
          </a:prstGeom>
        </p:spPr>
      </p:pic>
      <p:sp>
        <p:nvSpPr>
          <p:cNvPr id="12" name="TextBox 11"/>
          <p:cNvSpPr txBox="1"/>
          <p:nvPr/>
        </p:nvSpPr>
        <p:spPr>
          <a:xfrm>
            <a:off x="609600" y="4241800"/>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(invariance)는 두 모습을 가깝게 한다.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(variance)는 각 차원의 배치 표준편차가 </a:t>
            </a:r>
            <a:r>
              <a:rPr sz="1050" b="0" i="1">
                <a:solidFill>
                  <a:srgbClr val="16213A"/>
                </a:solidFill>
                <a:latin typeface="Arial"/>
                <a:ea typeface="Malgun Gothic"/>
                <a:cs typeface="Malgun Gothic"/>
              </a:rPr>
              <a:t>γ</a:t>
            </a:r>
            <a:r>
              <a:rPr sz="1050" b="0" i="0">
                <a:solidFill>
                  <a:srgbClr val="16213A"/>
                </a:solidFill>
                <a:latin typeface="Arial"/>
                <a:ea typeface="Malgun Gothic"/>
                <a:cs typeface="Malgun Gothic"/>
              </a:rPr>
              <a:t>(보통 1) 아래로 내려가면 벌한다. 모두 한 점으로 모이면 표준편차가 0이 되므로 붕괴가 막힌다.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(covariance)는 공분산 행렬의 비대각 성분을 줄여, 여러 차원이 같은 정보를 반복하지 않게 한다. STERLING 원문은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를 제곱하지 않은 노름으로 적었지만, VICReg 원판은 제곱 평균이다.</a:t>
            </a:r>
          </a:p>
        </p:txBody>
      </p:sp>
      <p:sp>
        <p:nvSpPr>
          <p:cNvPr id="13" name="TextBox 12"/>
          <p:cNvSpPr txBox="1"/>
          <p:nvPr/>
        </p:nvSpPr>
        <p:spPr>
          <a:xfrm>
            <a:off x="609600" y="47636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배치에 잔디 64개, 보도 64개가 있다고 하자.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만 있으면 128개가 한 점으로 모인다.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가 있으면 적어도 한 방향으로는 퍼져야 하고,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가 같은 자리의 두 시점·진동 신호를 붙잡으므로, 가장 싸게 퍼지는 방법은 잔디와 보도를 서로 다른 쪽에 두는 것이다.</a:t>
            </a:r>
          </a:p>
        </p:txBody>
      </p:sp>
      <p:sp>
        <p:nvSpPr>
          <p:cNvPr id="14" name="TextBox 13"/>
          <p:cNvSpPr txBox="1"/>
          <p:nvPr/>
        </p:nvSpPr>
        <p:spPr>
          <a:xfrm>
            <a:off x="609600" y="52855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 쓰는 곳.</a:t>
            </a:r>
            <a:r>
              <a:rPr sz="1050" b="0" i="0">
                <a:solidFill>
                  <a:srgbClr val="16213A"/>
                </a:solidFill>
                <a:latin typeface="Arial"/>
                <a:ea typeface="Malgun Gothic"/>
                <a:cs typeface="Malgun Gothic"/>
              </a:rPr>
              <a:t> STERLING은 VICReg를 두 시각 시점 사이와 시각–ipt 사이에 건다. 대조 학습 기준선 SE-R보다 지형 구분이 좋았다. DINO(배경: DINO/ViT 토글 참고)도 음성 없이 붕괴를 막는 비대조 방법이지만, VICReg의 분산·공분산 항 대신 학생 가중치의 이동평균인 교사 네트워크와 교사 출력의 centering(배치 평균의 이동평균을 뺀다)·sharpening으로 막는다.</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호모그래피로 영상을 BEV로 펴기 — 지면이 평평하다고 가정하면 픽셀과 땅 좌표가 3×3 행렬 하나로 이어진다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268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호모그래피는 한 평면 위의 점을 다른 평면으로 옮기는 </a:t>
            </a:r>
            <a:r>
              <a:rPr sz="1050" b="0" i="1">
                <a:solidFill>
                  <a:srgbClr val="16213A"/>
                </a:solidFill>
                <a:latin typeface="Arial"/>
                <a:ea typeface="Malgun Gothic"/>
                <a:cs typeface="Malgun Gothic"/>
              </a:rPr>
              <a:t>3 × 3</a:t>
            </a:r>
            <a:r>
              <a:rPr sz="1050" b="0" i="0">
                <a:solidFill>
                  <a:srgbClr val="16213A"/>
                </a:solidFill>
                <a:latin typeface="Arial"/>
                <a:ea typeface="Malgun Gothic"/>
                <a:cs typeface="Malgun Gothic"/>
              </a:rPr>
              <a:t> 사영 변환이다. 카메라 영상의 바닥 부분을 위에서 내려다본 BEV(bird's-eye view) 영상으로 펴는 데 쓴다.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전방 카메라 영상에서는 가까운 땅은 크고 먼 땅은 작게 보인다. 같은 잔디라도 거리마다 크기·모양이 달라 비교가 어렵다. BEV로 펴면 픽셀 하나가 땅의 일정한 면적(예: 몇 cm)에 대응해, 로봇 발자국 크기의 패치를 똑같이 자를 수 있다. 경로도 그 위에 바로 그린다.</a:t>
            </a:r>
          </a:p>
        </p:txBody>
      </p:sp>
      <p:sp>
        <p:nvSpPr>
          <p:cNvPr id="7" name="TextBox 6"/>
          <p:cNvSpPr txBox="1"/>
          <p:nvPr/>
        </p:nvSpPr>
        <p:spPr>
          <a:xfrm>
            <a:off x="609600" y="20718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동작하나.</a:t>
            </a:r>
            <a:r>
              <a:rPr sz="1050" b="0" i="0">
                <a:solidFill>
                  <a:srgbClr val="16213A"/>
                </a:solidFill>
                <a:latin typeface="Arial"/>
                <a:ea typeface="Malgun Gothic"/>
                <a:cs typeface="Malgun Gothic"/>
              </a:rPr>
              <a:t> 카메라 내부 행렬을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 월드→카메라 회전 </a:t>
            </a:r>
            <a:r>
              <a:rPr sz="1050" b="0" i="1">
                <a:solidFill>
                  <a:srgbClr val="16213A"/>
                </a:solidFill>
                <a:latin typeface="Arial"/>
                <a:ea typeface="Malgun Gothic"/>
                <a:cs typeface="Malgun Gothic"/>
              </a:rPr>
              <a:t>R = [r₁ r₂ r₃]</a:t>
            </a:r>
            <a:r>
              <a:rPr sz="1050" b="0" i="0">
                <a:solidFill>
                  <a:srgbClr val="16213A"/>
                </a:solidFill>
                <a:latin typeface="Arial"/>
                <a:ea typeface="Malgun Gothic"/>
                <a:cs typeface="Malgun Gothic"/>
              </a:rPr>
              <a:t>와 이동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라 하자. 땅을 </a:t>
            </a:r>
            <a:r>
              <a:rPr sz="1050" b="0" i="1">
                <a:solidFill>
                  <a:srgbClr val="16213A"/>
                </a:solidFill>
                <a:latin typeface="Arial"/>
                <a:ea typeface="Malgun Gothic"/>
                <a:cs typeface="Malgun Gothic"/>
              </a:rPr>
              <a:t>Z = 0</a:t>
            </a:r>
            <a:r>
              <a:rPr sz="1050" b="0" i="0">
                <a:solidFill>
                  <a:srgbClr val="16213A"/>
                </a:solidFill>
                <a:latin typeface="Arial"/>
                <a:ea typeface="Malgun Gothic"/>
                <a:cs typeface="Malgun Gothic"/>
              </a:rPr>
              <a:t> 평면으로 두면, 땅 위 점 </a:t>
            </a:r>
            <a:r>
              <a:rPr sz="1050" b="0" i="1">
                <a:solidFill>
                  <a:srgbClr val="16213A"/>
                </a:solidFill>
                <a:latin typeface="Arial"/>
                <a:ea typeface="Malgun Gothic"/>
                <a:cs typeface="Malgun Gothic"/>
              </a:rPr>
              <a:t>(X, Y)</a:t>
            </a:r>
            <a:r>
              <a:rPr sz="1050" b="0" i="0">
                <a:solidFill>
                  <a:srgbClr val="16213A"/>
                </a:solidFill>
                <a:latin typeface="Arial"/>
                <a:ea typeface="Malgun Gothic"/>
                <a:cs typeface="Malgun Gothic"/>
              </a:rPr>
              <a:t>는 이렇게 픽셀 </a:t>
            </a:r>
            <a:r>
              <a:rPr sz="1050" b="0" i="1">
                <a:solidFill>
                  <a:srgbClr val="16213A"/>
                </a:solidFill>
                <a:latin typeface="Arial"/>
                <a:ea typeface="Malgun Gothic"/>
                <a:cs typeface="Malgun Gothic"/>
              </a:rPr>
              <a:t>(u, v)</a:t>
            </a:r>
            <a:r>
              <a:rPr sz="1050" b="0" i="0">
                <a:solidFill>
                  <a:srgbClr val="16213A"/>
                </a:solidFill>
                <a:latin typeface="Arial"/>
                <a:ea typeface="Malgun Gothic"/>
                <a:cs typeface="Malgun Gothic"/>
              </a:rPr>
              <a:t>로 간다.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는 동차 좌표의 배율이다.</a:t>
            </a:r>
          </a:p>
        </p:txBody>
      </p:sp>
      <p:pic>
        <p:nvPicPr>
          <p:cNvPr id="8" name="Picture 7" descr="image.png"/>
          <p:cNvPicPr>
            <a:picLocks noChangeAspect="1"/>
          </p:cNvPicPr>
          <p:nvPr/>
        </p:nvPicPr>
        <p:blipFill>
          <a:blip r:embed="rId3"/>
          <a:stretch>
            <a:fillRect/>
          </a:stretch>
        </p:blipFill>
        <p:spPr>
          <a:xfrm>
            <a:off x="609600" y="2377281"/>
            <a:ext cx="2743200" cy="635000"/>
          </a:xfrm>
          <a:prstGeom prst="rect">
            <a:avLst/>
          </a:prstGeom>
        </p:spPr>
      </p:pic>
      <p:sp>
        <p:nvSpPr>
          <p:cNvPr id="9" name="TextBox 8"/>
          <p:cNvSpPr txBox="1"/>
          <p:nvPr/>
        </p:nvSpPr>
        <p:spPr>
          <a:xfrm>
            <a:off x="609600" y="2994223"/>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Z = 0</a:t>
            </a:r>
            <a:r>
              <a:rPr sz="1050" b="0" i="0">
                <a:solidFill>
                  <a:srgbClr val="16213A"/>
                </a:solidFill>
                <a:latin typeface="Arial"/>
                <a:ea typeface="Malgun Gothic"/>
                <a:cs typeface="Malgun Gothic"/>
              </a:rPr>
              <a:t>이라 </a:t>
            </a:r>
            <a:r>
              <a:rPr sz="1050" b="0" i="1">
                <a:solidFill>
                  <a:srgbClr val="16213A"/>
                </a:solidFill>
                <a:latin typeface="Arial"/>
                <a:ea typeface="Malgun Gothic"/>
                <a:cs typeface="Malgun Gothic"/>
              </a:rPr>
              <a:t>r₃</a:t>
            </a:r>
            <a:r>
              <a:rPr sz="1050" b="0" i="0">
                <a:solidFill>
                  <a:srgbClr val="16213A"/>
                </a:solidFill>
                <a:latin typeface="Arial"/>
                <a:ea typeface="Malgun Gothic"/>
                <a:cs typeface="Malgun Gothic"/>
              </a:rPr>
              <a:t> 열이 빠지고 </a:t>
            </a:r>
            <a:r>
              <a:rPr sz="1050" b="0" i="1">
                <a:solidFill>
                  <a:srgbClr val="16213A"/>
                </a:solidFill>
                <a:latin typeface="Arial"/>
                <a:ea typeface="Malgun Gothic"/>
                <a:cs typeface="Malgun Gothic"/>
              </a:rPr>
              <a:t>3 × 3</a:t>
            </a:r>
            <a:r>
              <a:rPr sz="1050" b="0" i="0">
                <a:solidFill>
                  <a:srgbClr val="16213A"/>
                </a:solidFill>
                <a:latin typeface="Arial"/>
                <a:ea typeface="Malgun Gothic"/>
                <a:cs typeface="Malgun Gothic"/>
              </a:rPr>
              <a:t> 행렬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만 남는다. BEV 영상의 각 칸 </a:t>
            </a:r>
            <a:r>
              <a:rPr sz="1050" b="0" i="1">
                <a:solidFill>
                  <a:srgbClr val="16213A"/>
                </a:solidFill>
                <a:latin typeface="Arial"/>
                <a:ea typeface="Malgun Gothic"/>
                <a:cs typeface="Malgun Gothic"/>
              </a:rPr>
              <a:t>(X, Y)</a:t>
            </a:r>
            <a:r>
              <a:rPr sz="1050" b="0" i="0">
                <a:solidFill>
                  <a:srgbClr val="16213A"/>
                </a:solidFill>
                <a:latin typeface="Arial"/>
                <a:ea typeface="Malgun Gothic"/>
                <a:cs typeface="Malgun Gothic"/>
              </a:rPr>
              <a:t>에 대해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로 원본 픽셀을 찾아 색을 가져오면 된다. 거꾸로 픽셀에서 땅으로 가려면 </a:t>
            </a:r>
            <a:r>
              <a:rPr sz="1050" b="0" i="1">
                <a:solidFill>
                  <a:srgbClr val="16213A"/>
                </a:solidFill>
                <a:latin typeface="Arial"/>
                <a:ea typeface="Malgun Gothic"/>
                <a:cs typeface="Malgun Gothic"/>
              </a:rPr>
              <a:t>H⁻¹</a:t>
            </a:r>
            <a:r>
              <a:rPr sz="1050" b="0" i="0">
                <a:solidFill>
                  <a:srgbClr val="16213A"/>
                </a:solidFill>
                <a:latin typeface="Arial"/>
                <a:ea typeface="Malgun Gothic"/>
                <a:cs typeface="Malgun Gothic"/>
              </a:rPr>
              <a:t>을 쓴다.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와 카메라 장착 자세만 알면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가 정해진다.</a:t>
            </a:r>
          </a:p>
        </p:txBody>
      </p:sp>
      <p:sp>
        <p:nvSpPr>
          <p:cNvPr id="10" name="TextBox 9"/>
          <p:cNvSpPr txBox="1"/>
          <p:nvPr/>
        </p:nvSpPr>
        <p:spPr>
          <a:xfrm>
            <a:off x="609600" y="351611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높이 1 m, 30° 아래를 보는 카메라라면, 영상 아래쪽 한 줄은 발 앞 1–2 m, 지평선 근처 한 줄은 수십 m에 대응한다. BEV로 펴면 먼 쪽 칸은 원본 픽셀 몇 개를 늘려 채우므로 흐려진다.</a:t>
            </a:r>
          </a:p>
        </p:txBody>
      </p:sp>
      <p:sp>
        <p:nvSpPr>
          <p:cNvPr id="11" name="TextBox 10"/>
          <p:cNvSpPr txBox="1"/>
          <p:nvPr/>
        </p:nvSpPr>
        <p:spPr>
          <a:xfrm>
            <a:off x="609600" y="382150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한계.</a:t>
            </a:r>
            <a:r>
              <a:rPr sz="1050" b="0" i="0">
                <a:solidFill>
                  <a:srgbClr val="16213A"/>
                </a:solidFill>
                <a:latin typeface="Arial"/>
                <a:ea typeface="Malgun Gothic"/>
                <a:cs typeface="Malgun Gothic"/>
              </a:rPr>
              <a:t> 평면 가정이 깨지면 틀린다. 연석·턱·물체처럼 높이가 있는 것은 땅에 붙은 것처럼 길게 늘어져 보인다. 경사로에서는 거리가 어긋난다. 로봇이 기울면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이 바뀌므로 매 프레임 자세를 반영해야 한다.</a:t>
            </a:r>
          </a:p>
        </p:txBody>
      </p:sp>
      <p:sp>
        <p:nvSpPr>
          <p:cNvPr id="12" name="TextBox 11"/>
          <p:cNvSpPr txBox="1"/>
          <p:nvPr/>
        </p:nvSpPr>
        <p:spPr>
          <a:xfrm>
            <a:off x="609600" y="43434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 쓰는 곳.</a:t>
            </a:r>
            <a:r>
              <a:rPr sz="1050" b="0" i="0">
                <a:solidFill>
                  <a:srgbClr val="16213A"/>
                </a:solidFill>
                <a:latin typeface="Arial"/>
                <a:ea typeface="Malgun Gothic"/>
                <a:cs typeface="Malgun Gothic"/>
              </a:rPr>
              <a:t> STERLING은 Azure Kinect 영상을 호모그래피로 BEV에 펴고 64×64 픽셀(0.5 m 사방) 패치를 자른다. 멀리서 본 패치의 인공물이 Fig. 1에 보인다. SALON과 WVN은 평면 가정 대신 LiDAR 점이나 elevation 지도에 투영해 이 문제를 피한다(배경 0.1 리프팅도 참고).</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269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Jetson에서 실제로 돌린 최신 연구(2026).</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Stop to Decide</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arXiv:2607.11204</a:t>
            </a:r>
            <a:r>
              <a:rPr sz="1050" b="0" i="0">
                <a:solidFill>
                  <a:srgbClr val="16213A"/>
                </a:solidFill>
                <a:latin typeface="Arial"/>
                <a:ea typeface="Malgun Gothic"/>
                <a:cs typeface="Malgun Gothic"/>
              </a:rPr>
              <a:t>)는 Unitree Go2 EDU와 Jetson Orin에서 지도 작성을 아예 빼고, 지연을 고려한(latency-aware) proprioception 기반 내비 동작을 실제로 실행했다. </a:t>
            </a:r>
            <a:r>
              <a:rPr sz="1050" b="0" i="1">
                <a:solidFill>
                  <a:srgbClr val="16213A"/>
                </a:solidFill>
                <a:latin typeface="Arial"/>
                <a:ea typeface="Malgun Gothic"/>
                <a:cs typeface="Malgun Gothic"/>
              </a:rPr>
              <a:t>Efficient Beam Search for Active Perception</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arXiv:2604.23327</a:t>
            </a:r>
            <a:r>
              <a:rPr sz="1050" b="0" i="0">
                <a:solidFill>
                  <a:srgbClr val="16213A"/>
                </a:solidFill>
                <a:latin typeface="Arial"/>
                <a:ea typeface="Malgun Gothic"/>
                <a:cs typeface="Malgun Gothic"/>
              </a:rPr>
              <a:t>)은 ANYmal에서 실제로 돌렸다. 깊이 추정은 Jetson Orin, Voxblox 볼륨 지도와 계획은 Intel Core i7에서 돌았다. QuadPiPS(</a:t>
            </a:r>
            <a:r>
              <a:rPr sz="1050" b="0" i="0">
                <a:solidFill>
                  <a:srgbClr val="1D4ED8"/>
                </a:solidFill>
                <a:latin typeface="Arial"/>
                <a:ea typeface="Malgun Gothic"/>
                <a:cs typeface="Malgun Gothic"/>
                <a:hlinkClick r:id="rId5"/>
              </a:rPr>
              <a:t>arXiv:2501.00112</a:t>
            </a:r>
            <a:r>
              <a:rPr sz="1050" b="0" i="0">
                <a:solidFill>
                  <a:srgbClr val="16213A"/>
                </a:solidFill>
                <a:latin typeface="Arial"/>
                <a:ea typeface="Malgun Gothic"/>
                <a:cs typeface="Malgun Gothic"/>
              </a:rPr>
              <a:t>, 인식 기반 발 디딤 계획)는 ANYmal C 시뮬레이션에서 주로 평가하고 Unitree Go2 실물에서도 시연했다(Fig. 1). 이전 조사에서는 "시뮬레이션만"으로 적었으나 논문 그림으로 바로잡았다.</a:t>
            </a:r>
          </a:p>
        </p:txBody>
      </p:sp>
      <p:pic>
        <p:nvPicPr>
          <p:cNvPr id="6" name="Picture 5" descr="image.jpg"/>
          <p:cNvPicPr>
            <a:picLocks noChangeAspect="1"/>
          </p:cNvPicPr>
          <p:nvPr/>
        </p:nvPicPr>
        <p:blipFill>
          <a:blip r:embed="rId6"/>
          <a:stretch>
            <a:fillRect/>
          </a:stretch>
        </p:blipFill>
        <p:spPr>
          <a:xfrm>
            <a:off x="609600" y="2199481"/>
            <a:ext cx="3556000" cy="1530350"/>
          </a:xfrm>
          <a:prstGeom prst="rect">
            <a:avLst/>
          </a:prstGeom>
        </p:spPr>
      </p:pic>
      <p:sp>
        <p:nvSpPr>
          <p:cNvPr id="7" name="TextBox 6"/>
          <p:cNvSpPr txBox="1"/>
          <p:nvPr/>
        </p:nvSpPr>
        <p:spPr>
          <a:xfrm>
            <a:off x="609600" y="3767931"/>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Stop to Decide (Fig. 1): 실험 코스(선 따라가기·좁은 통로·계단 정상 판정). 지도 없이 proprioception으로 판단한다. 출처: arXiv:2607.11204</a:t>
            </a:r>
          </a:p>
        </p:txBody>
      </p:sp>
      <p:pic>
        <p:nvPicPr>
          <p:cNvPr id="8" name="Picture 7" descr="image.jpg"/>
          <p:cNvPicPr>
            <a:picLocks noChangeAspect="1"/>
          </p:cNvPicPr>
          <p:nvPr/>
        </p:nvPicPr>
        <p:blipFill>
          <a:blip r:embed="rId7"/>
          <a:stretch>
            <a:fillRect/>
          </a:stretch>
        </p:blipFill>
        <p:spPr>
          <a:xfrm>
            <a:off x="4318000" y="2199481"/>
            <a:ext cx="3556000" cy="2127250"/>
          </a:xfrm>
          <a:prstGeom prst="rect">
            <a:avLst/>
          </a:prstGeom>
        </p:spPr>
      </p:pic>
      <p:sp>
        <p:nvSpPr>
          <p:cNvPr id="9" name="TextBox 8"/>
          <p:cNvSpPr txBox="1"/>
          <p:nvPr/>
        </p:nvSpPr>
        <p:spPr>
          <a:xfrm>
            <a:off x="4318000" y="4364831"/>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Efficient Beam Search (Fig. 1): 실제 로봇 주행 순서와 그때 복원된 표면. 어디를 볼지 골라 가며 지도를 채운다. 출처: arXiv:2604.23327</a:t>
            </a:r>
          </a:p>
        </p:txBody>
      </p:sp>
      <p:pic>
        <p:nvPicPr>
          <p:cNvPr id="10" name="Picture 9" descr="image.jpg"/>
          <p:cNvPicPr>
            <a:picLocks noChangeAspect="1"/>
          </p:cNvPicPr>
          <p:nvPr/>
        </p:nvPicPr>
        <p:blipFill>
          <a:blip r:embed="rId8"/>
          <a:stretch>
            <a:fillRect/>
          </a:stretch>
        </p:blipFill>
        <p:spPr>
          <a:xfrm>
            <a:off x="8026400" y="2199481"/>
            <a:ext cx="2667000" cy="2667000"/>
          </a:xfrm>
          <a:prstGeom prst="rect">
            <a:avLst/>
          </a:prstGeom>
        </p:spPr>
      </p:pic>
      <p:sp>
        <p:nvSpPr>
          <p:cNvPr id="11" name="TextBox 10"/>
          <p:cNvSpPr txBox="1"/>
          <p:nvPr/>
        </p:nvSpPr>
        <p:spPr>
          <a:xfrm>
            <a:off x="8026400" y="4904581"/>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QuadPiPS (Fig. 1): 시뮬레이션(ANYmal C)에서는 드문드문 놓인 징검돌 위로, 실물(Go2)에서는 경사로와 계단형 발판 위로 발 디딤을 계획. 출처: arXiv:2501.00112</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자세히: Stop to Decide의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270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고유감각 보행 연구는 "어떻게 계속 걷나"를 다루고, "어디로 가고 언제 행동을 바꾸나"는 LiDAR·SLAM 스택에 맡긴다. 이 논문은 그 내비 층 자체를 지도·학습 없이 만들 수 있는지 묻는다. 대상은 선 따라가기, 좁은 통로 코너, 로봇보다 짧은 정상 발판이 있는 3단 계단이 이어진 점검 코스다. 저자들은 구성 요소의 알고리즘 참신성은 없다고 밝히고, 기여를 셋으로 둔다. ① 제어 루프 지연이 계단 정상 판정을 망치는 메커니즘과 그 처방(climb–settle), ② 좁은 통로 90° 코너의 기하 해석, ③ 전체 스택의 실물 검증이다.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시스템.</a:t>
            </a:r>
            <a:r>
              <a:rPr sz="1050" b="0" i="0">
                <a:solidFill>
                  <a:srgbClr val="16213A"/>
                </a:solidFill>
                <a:latin typeface="Arial"/>
                <a:ea typeface="Malgun Gothic"/>
                <a:cs typeface="Malgun Gothic"/>
              </a:rPr>
              <a:t> Unitree Go2 EDU + Jetson Orin, C++ 상태 기계 하나(unitree_sdk2 DDS, ROS 2 없음)다. 제어에 쓰는 입력은 IMU(피치·롤·요), L1 LiDAR 드라이버가 내는 </a:t>
            </a:r>
            <a:r>
              <a:rPr sz="1050" b="1" i="0">
                <a:solidFill>
                  <a:srgbClr val="16213A"/>
                </a:solidFill>
                <a:latin typeface="Arial"/>
                <a:ea typeface="Malgun Gothic"/>
                <a:cs typeface="Malgun Gothic"/>
              </a:rPr>
              <a:t>1D 거리 값 3개</a:t>
            </a:r>
            <a:r>
              <a:rPr sz="1050" b="0" i="0">
                <a:solidFill>
                  <a:srgbClr val="16213A"/>
                </a:solidFill>
                <a:latin typeface="Arial"/>
                <a:ea typeface="Malgun Gothic"/>
                <a:cs typeface="Malgun Gothic"/>
              </a:rPr>
              <a:t>(전·좌·우, 점군은 안 씀), 선 추적용 단안 카메라뿐이다. 발 힘 4채널은 </a:t>
            </a:r>
            <a:r>
              <a:rPr sz="1050" b="1" i="0">
                <a:solidFill>
                  <a:srgbClr val="16213A"/>
                </a:solidFill>
                <a:latin typeface="Arial"/>
                <a:ea typeface="Malgun Gothic"/>
                <a:cs typeface="Malgun Gothic"/>
              </a:rPr>
              <a:t>기록만 하고 제어 판단에는 쓰지 않는다.</a:t>
            </a:r>
            <a:r>
              <a:rPr sz="1050" b="0" i="0">
                <a:solidFill>
                  <a:srgbClr val="16213A"/>
                </a:solidFill>
                <a:latin typeface="Arial"/>
                <a:ea typeface="Malgun Gothic"/>
                <a:cs typeface="Malgun Gothic"/>
              </a:rPr>
              <a:t> 상위 상태 기계는 LINE_FOLLOW, OBSTACLE_DETECTED, AVOIDANCE, NARROW_CORRIDOR, LINE_REACQUIRE, STAIR_TRAVERSAL, EXIT의 7상태이고, 상태마다 하위 제어기 하나만 움직인다.</a:t>
            </a:r>
          </a:p>
        </p:txBody>
      </p:sp>
      <p:sp>
        <p:nvSpPr>
          <p:cNvPr id="7" name="TextBox 6"/>
          <p:cNvSpPr txBox="1"/>
          <p:nvPr/>
        </p:nvSpPr>
        <p:spPr>
          <a:xfrm>
            <a:off x="609600" y="27213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좁은 통로 코너(기하).</a:t>
            </a:r>
            <a:r>
              <a:rPr sz="1050" b="0" i="0">
                <a:solidFill>
                  <a:srgbClr val="16213A"/>
                </a:solidFill>
                <a:latin typeface="Arial"/>
                <a:ea typeface="Malgun Gothic"/>
                <a:cs typeface="Malgun Gothic"/>
              </a:rPr>
              <a:t> 길이 </a:t>
            </a:r>
            <a:r>
              <a:rPr sz="1050" b="0" i="1">
                <a:solidFill>
                  <a:srgbClr val="16213A"/>
                </a:solidFill>
                <a:latin typeface="Arial"/>
                <a:ea typeface="Malgun Gothic"/>
                <a:cs typeface="Malgun Gothic"/>
              </a:rPr>
              <a:t>L</a:t>
            </a:r>
            <a:r>
              <a:rPr sz="1050" b="0" i="0">
                <a:solidFill>
                  <a:srgbClr val="16213A"/>
                </a:solidFill>
                <a:latin typeface="Arial"/>
                <a:ea typeface="Malgun Gothic"/>
                <a:cs typeface="Malgun Gothic"/>
              </a:rPr>
              <a:t>, 폭 </a:t>
            </a:r>
            <a:r>
              <a:rPr sz="1050" b="0" i="1">
                <a:solidFill>
                  <a:srgbClr val="16213A"/>
                </a:solidFill>
                <a:latin typeface="Arial"/>
                <a:ea typeface="Malgun Gothic"/>
                <a:cs typeface="Malgun Gothic"/>
              </a:rPr>
              <a:t>W</a:t>
            </a:r>
            <a:r>
              <a:rPr sz="1050" b="0" i="0">
                <a:solidFill>
                  <a:srgbClr val="16213A"/>
                </a:solidFill>
                <a:latin typeface="Arial"/>
                <a:ea typeface="Malgun Gothic"/>
                <a:cs typeface="Malgun Gothic"/>
              </a:rPr>
              <a:t>인 몸체가 제자리에서 90° 돌면 지름 </a:t>
            </a:r>
            <a:r>
              <a:rPr sz="1050" b="0" i="1">
                <a:solidFill>
                  <a:srgbClr val="16213A"/>
                </a:solidFill>
                <a:latin typeface="Arial"/>
                <a:ea typeface="Malgun Gothic"/>
                <a:cs typeface="Malgun Gothic"/>
              </a:rPr>
              <a:t>√(L² + W²)</a:t>
            </a:r>
            <a:r>
              <a:rPr sz="1050" b="0" i="0">
                <a:solidFill>
                  <a:srgbClr val="16213A"/>
                </a:solidFill>
                <a:latin typeface="Arial"/>
                <a:ea typeface="Malgun Gothic"/>
                <a:cs typeface="Malgun Gothic"/>
              </a:rPr>
              <a:t>인 원을 쓸고 지나간다. Go2(약 0.75×0.35 m)는 약 0.83 m다. 폭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인 두 통로가 직각으로 만나는 모서리 안에 들어가는 가장 큰 원의 지름은 </a:t>
            </a:r>
            <a:r>
              <a:rPr sz="1050" b="0" i="1">
                <a:solidFill>
                  <a:srgbClr val="16213A"/>
                </a:solidFill>
                <a:latin typeface="Arial"/>
                <a:ea typeface="Malgun Gothic"/>
                <a:cs typeface="Malgun Gothic"/>
              </a:rPr>
              <a:t>2(2 - √2) c ≈ 1.17c</a:t>
            </a:r>
            <a:r>
              <a:rPr sz="1050" b="0" i="0">
                <a:solidFill>
                  <a:srgbClr val="16213A"/>
                </a:solidFill>
                <a:latin typeface="Arial"/>
                <a:ea typeface="Malgun Gothic"/>
                <a:cs typeface="Malgun Gothic"/>
              </a:rPr>
              <a:t>이다. 그래서 모서리를 써도 아래 조건이면 제자리 회전이 기하적으로 막힌다.</a:t>
            </a:r>
          </a:p>
        </p:txBody>
      </p:sp>
      <p:pic>
        <p:nvPicPr>
          <p:cNvPr id="8" name="Picture 7" descr="image.png"/>
          <p:cNvPicPr>
            <a:picLocks noChangeAspect="1"/>
          </p:cNvPicPr>
          <p:nvPr/>
        </p:nvPicPr>
        <p:blipFill>
          <a:blip r:embed="rId3"/>
          <a:stretch>
            <a:fillRect/>
          </a:stretch>
        </p:blipFill>
        <p:spPr>
          <a:xfrm>
            <a:off x="609600" y="3243262"/>
            <a:ext cx="2479675" cy="469900"/>
          </a:xfrm>
          <a:prstGeom prst="rect">
            <a:avLst/>
          </a:prstGeom>
        </p:spPr>
      </p:pic>
      <p:sp>
        <p:nvSpPr>
          <p:cNvPr id="9" name="TextBox 8"/>
          <p:cNvSpPr txBox="1"/>
          <p:nvPr/>
        </p:nvSpPr>
        <p:spPr>
          <a:xfrm>
            <a:off x="609600" y="3719016"/>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Go2에서는 </a:t>
            </a:r>
            <a:r>
              <a:rPr sz="1050" b="0" i="1">
                <a:solidFill>
                  <a:srgbClr val="16213A"/>
                </a:solidFill>
                <a:latin typeface="Arial"/>
                <a:ea typeface="Malgun Gothic"/>
                <a:cs typeface="Malgun Gothic"/>
              </a:rPr>
              <a:t>c &lt; 0.71</a:t>
            </a:r>
            <a:r>
              <a:rPr sz="1050" b="0" i="0">
                <a:solidFill>
                  <a:srgbClr val="16213A"/>
                </a:solidFill>
                <a:latin typeface="Arial"/>
                <a:ea typeface="Malgun Gothic"/>
                <a:cs typeface="Malgun Gothic"/>
              </a:rPr>
              <a:t> m이고, 실험 통로 0.55 m는 0.16 m 모자란다. 대신 45° 회전 → 약 10 cm 전진 → 45° 회전(K-turn)으로 나눈다. 수치 계산으로 통과 한계가 약 0.57 m가 되어 모서리 기준 한계보다 약 20% 좁아진다. 0.55 m에서는 명목 직사각형이 1.6 cm 겹치지만 실제 몸은 모서리가 둥글어 20회 모두 접촉 없이 지났다. 회전 중 SDK가 걸음새를 자동으로 바꾸지 않도록 전진 속도 0.02 m/s를 남긴다.</a:t>
            </a:r>
          </a:p>
        </p:txBody>
      </p:sp>
      <p:sp>
        <p:nvSpPr>
          <p:cNvPr id="10" name="TextBox 9"/>
          <p:cNvSpPr txBox="1"/>
          <p:nvPr/>
        </p:nvSpPr>
        <p:spPr>
          <a:xfrm>
            <a:off x="609600" y="445740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계단 정상 판정(핵심 기여).</a:t>
            </a:r>
            <a:r>
              <a:rPr sz="1050" b="0" i="0">
                <a:solidFill>
                  <a:srgbClr val="16213A"/>
                </a:solidFill>
                <a:latin typeface="Arial"/>
                <a:ea typeface="Malgun Gothic"/>
                <a:cs typeface="Malgun Gothic"/>
              </a:rPr>
              <a:t> 계단은 15 cm 단 3개(발판 90×90, 70×70, 50×50 cm)이고, 정상 발판 50 cm가 로봇 길이(약 75 cm)보다 짧다. 판정이 늦으면 반대편 끝으로 걸어 나가 떨어진다. 판정 규칙은 </a:t>
            </a:r>
            <a:r>
              <a:rPr sz="1050" b="1" i="0">
                <a:solidFill>
                  <a:srgbClr val="16213A"/>
                </a:solidFill>
                <a:latin typeface="Arial"/>
                <a:ea typeface="Malgun Gothic"/>
                <a:cs typeface="Malgun Gothic"/>
              </a:rPr>
              <a:t>상대 피치 히스테리시스</a:t>
            </a:r>
            <a:r>
              <a:rPr sz="1050" b="0" i="0">
                <a:solidFill>
                  <a:srgbClr val="16213A"/>
                </a:solidFill>
                <a:latin typeface="Arial"/>
                <a:ea typeface="Malgun Gothic"/>
                <a:cs typeface="Malgun Gothic"/>
              </a:rPr>
              <a:t>다. 오르는 동안 가장 깊은 코-들림 피치 min_pitch를 기억하고, 최소 2 s 오른 뒤 (i) min_pitch &lt; −24.5°(실제로 깊이 올랐다)이고 (ii) pitch − min_pitch &gt; 12°(다시 수평 쪽으로 돌아왔다)일 때 도착으로 판정한다. 여기에 </a:t>
            </a:r>
            <a:r>
              <a:rPr sz="1050" b="1" i="0">
                <a:solidFill>
                  <a:srgbClr val="16213A"/>
                </a:solidFill>
                <a:latin typeface="Arial"/>
                <a:ea typeface="Malgun Gothic"/>
                <a:cs typeface="Malgun Gothic"/>
              </a:rPr>
              <a:t>climb–settle 박자</a:t>
            </a:r>
            <a:r>
              <a:rPr sz="1050" b="0" i="0">
                <a:solidFill>
                  <a:srgbClr val="16213A"/>
                </a:solidFill>
                <a:latin typeface="Arial"/>
                <a:ea typeface="Malgun Gothic"/>
                <a:cs typeface="Malgun Gothic"/>
              </a:rPr>
              <a:t>를 붙인다. 0.3 m/s로 1.0 s 오르고 2.0 s 멈춘다. 오르는 중의 IMU 피치는 늦고 튀므로, 멈춘 뒤 안정된 피치로 판정한다. 5 cm/1.2 s 정체 감지와 18 s 감시 타이머를 둔다(115회 실험에서 감시 타이머는 한 번도 발동하지 않았다).</a:t>
            </a:r>
          </a:p>
        </p:txBody>
      </p:sp>
      <p:sp>
        <p:nvSpPr>
          <p:cNvPr id="11" name="TextBox 10"/>
          <p:cNvSpPr txBox="1"/>
          <p:nvPr/>
        </p:nvSpPr>
        <p:spPr>
          <a:xfrm>
            <a:off x="609600" y="541228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원인을 찾은 과정.</a:t>
            </a:r>
            <a:r>
              <a:rPr sz="1050" b="0" i="0">
                <a:solidFill>
                  <a:srgbClr val="16213A"/>
                </a:solidFill>
                <a:latin typeface="Arial"/>
                <a:ea typeface="Malgun Gothic"/>
                <a:cs typeface="Malgun Gothic"/>
              </a:rPr>
              <a:t> 실패는 통합 스택에서만 났고 계단 전용 프로그램에서는 나지 않았다. 차이는 IMU가 아니라 </a:t>
            </a:r>
            <a:r>
              <a:rPr sz="1050" b="1" i="0">
                <a:solidFill>
                  <a:srgbClr val="16213A"/>
                </a:solidFill>
                <a:latin typeface="Arial"/>
                <a:ea typeface="Malgun Gothic"/>
                <a:cs typeface="Malgun Gothic"/>
              </a:rPr>
              <a:t>루프 주기</a:t>
            </a:r>
            <a:r>
              <a:rPr sz="1050" b="0" i="0">
                <a:solidFill>
                  <a:srgbClr val="16213A"/>
                </a:solidFill>
                <a:latin typeface="Arial"/>
                <a:ea typeface="Malgun Gothic"/>
                <a:cs typeface="Malgun Gothic"/>
              </a:rPr>
              <a:t>였다. 통합 스택은 Jetson을 비전·거리 처리와 나눠 써서 약 15 Hz로 돌고, 전용 프로그램은 약 50 Hz였다. 그래서 루프 주기를 인위로 늦춰 가며 쟀다.</a:t>
            </a:r>
          </a:p>
        </p:txBody>
      </p:sp>
      <p:sp>
        <p:nvSpPr>
          <p:cNvPr id="12" name="TextBox 11"/>
          <p:cNvSpPr txBox="1"/>
          <p:nvPr/>
        </p:nvSpPr>
        <p:spPr>
          <a:xfrm>
            <a:off x="609600" y="5934174"/>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10개(문단·식·그림)는 대시보드 리서치 탭의 "자세히: Stop to Decide의 방법과 수식" 토글에 있다.</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로지스틱 회귀 — 시그모이드로 "실패할 확률"을 한 변수의 함수로 모델링한다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271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결과가 0/1(성공·실패)인 데이터에서, 입력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에 따라 1이 나올 확률을 추정하는 모델이다.</a:t>
            </a:r>
          </a:p>
        </p:txBody>
      </p:sp>
      <p:pic>
        <p:nvPicPr>
          <p:cNvPr id="6" name="Picture 5" descr="image.png"/>
          <p:cNvPicPr>
            <a:picLocks noChangeAspect="1"/>
          </p:cNvPicPr>
          <p:nvPr/>
        </p:nvPicPr>
        <p:blipFill>
          <a:blip r:embed="rId3"/>
          <a:stretch>
            <a:fillRect/>
          </a:stretch>
        </p:blipFill>
        <p:spPr>
          <a:xfrm>
            <a:off x="609600" y="1549995"/>
            <a:ext cx="2451100" cy="381000"/>
          </a:xfrm>
          <a:prstGeom prst="rect">
            <a:avLst/>
          </a:prstGeom>
        </p:spPr>
      </p:pic>
      <p:sp>
        <p:nvSpPr>
          <p:cNvPr id="7" name="TextBox 6"/>
          <p:cNvSpPr txBox="1"/>
          <p:nvPr/>
        </p:nvSpPr>
        <p:spPr>
          <a:xfrm>
            <a:off x="609600" y="194816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시그모이드 </a:t>
            </a:r>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는 어떤 실수든 0과 1 사이로 누른다. 직선 </a:t>
            </a:r>
            <a:r>
              <a:rPr sz="1050" b="0" i="1">
                <a:solidFill>
                  <a:srgbClr val="16213A"/>
                </a:solidFill>
                <a:latin typeface="Arial"/>
                <a:ea typeface="Malgun Gothic"/>
                <a:cs typeface="Malgun Gothic"/>
              </a:rPr>
              <a:t>α + β x</a:t>
            </a:r>
            <a:r>
              <a:rPr sz="1050" b="0" i="0">
                <a:solidFill>
                  <a:srgbClr val="16213A"/>
                </a:solidFill>
                <a:latin typeface="Arial"/>
                <a:ea typeface="Malgun Gothic"/>
                <a:cs typeface="Malgun Gothic"/>
              </a:rPr>
              <a:t>를 확률로 바꾸는 장치다.</a:t>
            </a:r>
          </a:p>
        </p:txBody>
      </p:sp>
      <p:sp>
        <p:nvSpPr>
          <p:cNvPr id="8" name="TextBox 7"/>
          <p:cNvSpPr txBox="1"/>
          <p:nvPr/>
        </p:nvSpPr>
        <p:spPr>
          <a:xfrm>
            <a:off x="609600" y="225355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확률을 직선 </a:t>
            </a:r>
            <a:r>
              <a:rPr sz="1050" b="0" i="1">
                <a:solidFill>
                  <a:srgbClr val="16213A"/>
                </a:solidFill>
                <a:latin typeface="Arial"/>
                <a:ea typeface="Malgun Gothic"/>
                <a:cs typeface="Malgun Gothic"/>
              </a:rPr>
              <a:t>p = a + bx</a:t>
            </a:r>
            <a:r>
              <a:rPr sz="1050" b="0" i="0">
                <a:solidFill>
                  <a:srgbClr val="16213A"/>
                </a:solidFill>
                <a:latin typeface="Arial"/>
                <a:ea typeface="Malgun Gothic"/>
                <a:cs typeface="Malgun Gothic"/>
              </a:rPr>
              <a:t>로 두면 0 아래나 1 위로 나간다. 실험이 이진이고 표본이 적으면(셀당 15회) 셀별 비율만으로는 사이 값을 예측할 수 없다. 로지스틱은 매개변수 둘로 전 범위의 곡선을 준다.</a:t>
            </a:r>
          </a:p>
        </p:txBody>
      </p:sp>
      <p:sp>
        <p:nvSpPr>
          <p:cNvPr id="9" name="TextBox 8"/>
          <p:cNvSpPr txBox="1"/>
          <p:nvPr/>
        </p:nvSpPr>
        <p:spPr>
          <a:xfrm>
            <a:off x="609600" y="277544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계수 해석.</a:t>
            </a:r>
            <a:r>
              <a:rPr sz="1050" b="0" i="0">
                <a:solidFill>
                  <a:srgbClr val="16213A"/>
                </a:solidFill>
                <a:latin typeface="Arial"/>
                <a:ea typeface="Malgun Gothic"/>
                <a:cs typeface="Malgun Gothic"/>
              </a:rPr>
              <a:t> 양변을 뒤집으면 </a:t>
            </a:r>
            <a:r>
              <a:rPr sz="1050" b="1" i="0">
                <a:solidFill>
                  <a:srgbClr val="16213A"/>
                </a:solidFill>
                <a:latin typeface="Arial"/>
                <a:ea typeface="Malgun Gothic"/>
                <a:cs typeface="Malgun Gothic"/>
              </a:rPr>
              <a:t>로그 오즈</a:t>
            </a:r>
            <a:r>
              <a:rPr sz="1050" b="0" i="0">
                <a:solidFill>
                  <a:srgbClr val="16213A"/>
                </a:solidFill>
                <a:latin typeface="Arial"/>
                <a:ea typeface="Malgun Gothic"/>
                <a:cs typeface="Malgun Gothic"/>
              </a:rPr>
              <a:t>가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에 대해 직선이다.</a:t>
            </a:r>
          </a:p>
        </p:txBody>
      </p:sp>
      <p:pic>
        <p:nvPicPr>
          <p:cNvPr id="10" name="Picture 9" descr="image.png"/>
          <p:cNvPicPr>
            <a:picLocks noChangeAspect="1"/>
          </p:cNvPicPr>
          <p:nvPr/>
        </p:nvPicPr>
        <p:blipFill>
          <a:blip r:embed="rId4"/>
          <a:stretch>
            <a:fillRect/>
          </a:stretch>
        </p:blipFill>
        <p:spPr>
          <a:xfrm>
            <a:off x="609600" y="3080841"/>
            <a:ext cx="1428750" cy="361950"/>
          </a:xfrm>
          <a:prstGeom prst="rect">
            <a:avLst/>
          </a:prstGeom>
        </p:spPr>
      </p:pic>
      <p:sp>
        <p:nvSpPr>
          <p:cNvPr id="11" name="TextBox 10"/>
          <p:cNvSpPr txBox="1"/>
          <p:nvPr/>
        </p:nvSpPr>
        <p:spPr>
          <a:xfrm>
            <a:off x="609600" y="3461345"/>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가 1 늘 때 로그 오즈가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만큼 는다. 오즈는 </a:t>
            </a:r>
            <a:r>
              <a:rPr sz="1050" b="0" i="1">
                <a:solidFill>
                  <a:srgbClr val="16213A"/>
                </a:solidFill>
                <a:latin typeface="Arial"/>
                <a:ea typeface="Malgun Gothic"/>
                <a:cs typeface="Malgun Gothic"/>
              </a:rPr>
              <a:t>e^β</a:t>
            </a:r>
            <a:r>
              <a:rPr sz="1050" b="0" i="0">
                <a:solidFill>
                  <a:srgbClr val="16213A"/>
                </a:solidFill>
                <a:latin typeface="Arial"/>
                <a:ea typeface="Malgun Gothic"/>
                <a:cs typeface="Malgun Gothic"/>
              </a:rPr>
              <a:t>배가 된다(오즈비).</a:t>
            </a:r>
          </a:p>
          <a:p>
            <a:pPr>
              <a:spcBef>
                <a:spcPts val="200"/>
              </a:spcBef>
            </a:pPr>
            <a:r>
              <a:rPr sz="1050" b="0" i="0">
                <a:solidFill>
                  <a:srgbClr val="5A6478"/>
                </a:solidFill>
                <a:latin typeface="Arial"/>
                <a:ea typeface="Malgun Gothic"/>
                <a:cs typeface="Malgun Gothic"/>
              </a:rPr>
              <a:t>•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x = 0</a:t>
            </a:r>
            <a:r>
              <a:rPr sz="1050" b="0" i="0">
                <a:solidFill>
                  <a:srgbClr val="16213A"/>
                </a:solidFill>
                <a:latin typeface="Arial"/>
                <a:ea typeface="Malgun Gothic"/>
                <a:cs typeface="Malgun Gothic"/>
              </a:rPr>
              <a:t>일 때의 로그 오즈다.</a:t>
            </a:r>
          </a:p>
          <a:p>
            <a:pPr>
              <a:spcBef>
                <a:spcPts val="200"/>
              </a:spcBef>
            </a:pPr>
            <a:r>
              <a:rPr sz="1050" b="0" i="0">
                <a:solidFill>
                  <a:srgbClr val="5A6478"/>
                </a:solidFill>
                <a:latin typeface="Arial"/>
                <a:ea typeface="Malgun Gothic"/>
                <a:cs typeface="Malgun Gothic"/>
              </a:rPr>
              <a:t>• </a:t>
            </a:r>
            <a:r>
              <a:rPr sz="1050" b="0" i="1">
                <a:solidFill>
                  <a:srgbClr val="16213A"/>
                </a:solidFill>
                <a:latin typeface="Arial"/>
                <a:ea typeface="Malgun Gothic"/>
                <a:cs typeface="Malgun Gothic"/>
              </a:rPr>
              <a:t>x* = -α/β</a:t>
            </a:r>
            <a:r>
              <a:rPr sz="1050" b="0" i="0">
                <a:solidFill>
                  <a:srgbClr val="16213A"/>
                </a:solidFill>
                <a:latin typeface="Arial"/>
                <a:ea typeface="Malgun Gothic"/>
                <a:cs typeface="Malgun Gothic"/>
              </a:rPr>
              <a:t>: 확률이 정확히 0.5가 되는 점이다. 곡선이 가장 가파른 곳이기도 하다(기울기 </a:t>
            </a:r>
            <a:r>
              <a:rPr sz="1050" b="0" i="1">
                <a:solidFill>
                  <a:srgbClr val="16213A"/>
                </a:solidFill>
                <a:latin typeface="Arial"/>
                <a:ea typeface="Malgun Gothic"/>
                <a:cs typeface="Malgun Gothic"/>
              </a:rPr>
              <a:t>β/4</a:t>
            </a:r>
            <a:r>
              <a:rPr sz="1050" b="0" i="0">
                <a:solidFill>
                  <a:srgbClr val="16213A"/>
                </a:solidFill>
                <a:latin typeface="Arial"/>
                <a:ea typeface="Malgun Gothic"/>
                <a:cs typeface="Malgun Gothic"/>
              </a:rPr>
              <a:t>).</a:t>
            </a:r>
          </a:p>
        </p:txBody>
      </p:sp>
      <p:sp>
        <p:nvSpPr>
          <p:cNvPr id="12" name="TextBox 11"/>
          <p:cNvSpPr txBox="1"/>
          <p:nvPr/>
        </p:nvSpPr>
        <p:spPr>
          <a:xfrm>
            <a:off x="609600" y="425053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맞추나.</a:t>
            </a:r>
            <a:r>
              <a:rPr sz="1050" b="0" i="0">
                <a:solidFill>
                  <a:srgbClr val="16213A"/>
                </a:solidFill>
                <a:latin typeface="Arial"/>
                <a:ea typeface="Malgun Gothic"/>
                <a:cs typeface="Malgun Gothic"/>
              </a:rPr>
              <a:t> 시행 </a:t>
            </a:r>
            <a:r>
              <a:rPr sz="1050" b="0" i="1">
                <a:solidFill>
                  <a:srgbClr val="16213A"/>
                </a:solidFill>
                <a:latin typeface="Arial"/>
                <a:ea typeface="Malgun Gothic"/>
                <a:cs typeface="Malgun Gothic"/>
              </a:rPr>
              <a:t>j</a:t>
            </a:r>
            <a:r>
              <a:rPr sz="1050" b="0" i="0">
                <a:solidFill>
                  <a:srgbClr val="16213A"/>
                </a:solidFill>
                <a:latin typeface="Arial"/>
                <a:ea typeface="Malgun Gothic"/>
                <a:cs typeface="Malgun Gothic"/>
              </a:rPr>
              <a:t>의 입력 </a:t>
            </a:r>
            <a:r>
              <a:rPr sz="1050" b="0" i="1">
                <a:solidFill>
                  <a:srgbClr val="16213A"/>
                </a:solidFill>
                <a:latin typeface="Arial"/>
                <a:ea typeface="Malgun Gothic"/>
                <a:cs typeface="Malgun Gothic"/>
              </a:rPr>
              <a:t>x_j</a:t>
            </a:r>
            <a:r>
              <a:rPr sz="1050" b="0" i="0">
                <a:solidFill>
                  <a:srgbClr val="16213A"/>
                </a:solidFill>
                <a:latin typeface="Arial"/>
                <a:ea typeface="Malgun Gothic"/>
                <a:cs typeface="Malgun Gothic"/>
              </a:rPr>
              <a:t>와 결과 </a:t>
            </a:r>
            <a:r>
              <a:rPr sz="1050" b="0" i="1">
                <a:solidFill>
                  <a:srgbClr val="16213A"/>
                </a:solidFill>
                <a:latin typeface="Arial"/>
                <a:ea typeface="Malgun Gothic"/>
                <a:cs typeface="Malgun Gothic"/>
              </a:rPr>
              <a:t>y_j ∈ {0, 1}</a:t>
            </a:r>
            <a:r>
              <a:rPr sz="1050" b="0" i="0">
                <a:solidFill>
                  <a:srgbClr val="16213A"/>
                </a:solidFill>
                <a:latin typeface="Arial"/>
                <a:ea typeface="Malgun Gothic"/>
                <a:cs typeface="Malgun Gothic"/>
              </a:rPr>
              <a:t>로 로그 가능도를 최대화한다(= 이진 교차 엔트로피 최소화). 닫힌 해는 없고 Newton 법(IRLS)이나 경사 하강으로 푼다.</a:t>
            </a:r>
          </a:p>
        </p:txBody>
      </p:sp>
      <p:pic>
        <p:nvPicPr>
          <p:cNvPr id="13" name="Picture 12" descr="image.png"/>
          <p:cNvPicPr>
            <a:picLocks noChangeAspect="1"/>
          </p:cNvPicPr>
          <p:nvPr/>
        </p:nvPicPr>
        <p:blipFill>
          <a:blip r:embed="rId5"/>
          <a:stretch>
            <a:fillRect/>
          </a:stretch>
        </p:blipFill>
        <p:spPr>
          <a:xfrm>
            <a:off x="609600" y="4555927"/>
            <a:ext cx="3470275" cy="457200"/>
          </a:xfrm>
          <a:prstGeom prst="rect">
            <a:avLst/>
          </a:prstGeom>
        </p:spPr>
      </p:pic>
      <p:sp>
        <p:nvSpPr>
          <p:cNvPr id="14" name="TextBox 13"/>
          <p:cNvSpPr txBox="1"/>
          <p:nvPr/>
        </p:nvSpPr>
        <p:spPr>
          <a:xfrm>
            <a:off x="609600" y="502096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Stop to Decide 최종 적합 </a:t>
            </a:r>
            <a:r>
              <a:rPr sz="1050" b="0" i="1">
                <a:solidFill>
                  <a:srgbClr val="16213A"/>
                </a:solidFill>
                <a:latin typeface="Arial"/>
                <a:ea typeface="Malgun Gothic"/>
                <a:cs typeface="Malgun Gothic"/>
              </a:rPr>
              <a:t>α = -1.03</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β = 64 m⁻¹</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가 1 cm(0.01 m) 늘면 로그 오즈가 0.64 늘고 오즈가 </a:t>
            </a:r>
            <a:r>
              <a:rPr sz="1050" b="0" i="1">
                <a:solidFill>
                  <a:srgbClr val="16213A"/>
                </a:solidFill>
                <a:latin typeface="Arial"/>
                <a:ea typeface="Malgun Gothic"/>
                <a:cs typeface="Malgun Gothic"/>
              </a:rPr>
              <a:t>e^(0.64) ≈ 1.9</a:t>
            </a:r>
            <a:r>
              <a:rPr sz="1050" b="0" i="0">
                <a:solidFill>
                  <a:srgbClr val="16213A"/>
                </a:solidFill>
                <a:latin typeface="Arial"/>
                <a:ea typeface="Malgun Gothic"/>
                <a:cs typeface="Malgun Gothic"/>
              </a:rPr>
              <a:t>배가 된다. 0.30 m/s·30 Hz이면 </a:t>
            </a:r>
            <a:r>
              <a:rPr sz="1050" b="0" i="1">
                <a:solidFill>
                  <a:srgbClr val="16213A"/>
                </a:solidFill>
                <a:latin typeface="Arial"/>
                <a:ea typeface="Malgun Gothic"/>
                <a:cs typeface="Malgun Gothic"/>
              </a:rPr>
              <a:t>x = 0.01</a:t>
            </a:r>
            <a:r>
              <a:rPr sz="1050" b="0" i="0">
                <a:solidFill>
                  <a:srgbClr val="16213A"/>
                </a:solidFill>
                <a:latin typeface="Arial"/>
                <a:ea typeface="Malgun Gothic"/>
                <a:cs typeface="Malgun Gothic"/>
              </a:rPr>
              <a:t> m, </a:t>
            </a:r>
            <a:r>
              <a:rPr sz="1050" b="0" i="1">
                <a:solidFill>
                  <a:srgbClr val="16213A"/>
                </a:solidFill>
                <a:latin typeface="Arial"/>
                <a:ea typeface="Malgun Gothic"/>
                <a:cs typeface="Malgun Gothic"/>
              </a:rPr>
              <a:t>p = σ(-1.03 + 0.64) = σ(-0.39) ≈ 0.40</a:t>
            </a:r>
            <a:r>
              <a:rPr sz="1050" b="0" i="0">
                <a:solidFill>
                  <a:srgbClr val="16213A"/>
                </a:solidFill>
                <a:latin typeface="Arial"/>
                <a:ea typeface="Malgun Gothic"/>
                <a:cs typeface="Malgun Gothic"/>
              </a:rPr>
              <a:t>이다. 관측 40%(6/15)와 맞는다. 15 Hz이면 </a:t>
            </a:r>
            <a:r>
              <a:rPr sz="1050" b="0" i="1">
                <a:solidFill>
                  <a:srgbClr val="16213A"/>
                </a:solidFill>
                <a:latin typeface="Arial"/>
                <a:ea typeface="Malgun Gothic"/>
                <a:cs typeface="Malgun Gothic"/>
              </a:rPr>
              <a:t>x = 0.02</a:t>
            </a:r>
            <a:r>
              <a:rPr sz="1050" b="0" i="0">
                <a:solidFill>
                  <a:srgbClr val="16213A"/>
                </a:solidFill>
                <a:latin typeface="Arial"/>
                <a:ea typeface="Malgun Gothic"/>
                <a:cs typeface="Malgun Gothic"/>
              </a:rPr>
              <a:t> m, </a:t>
            </a:r>
            <a:r>
              <a:rPr sz="1050" b="0" i="1">
                <a:solidFill>
                  <a:srgbClr val="16213A"/>
                </a:solidFill>
                <a:latin typeface="Arial"/>
                <a:ea typeface="Malgun Gothic"/>
                <a:cs typeface="Malgun Gothic"/>
              </a:rPr>
              <a:t>p = σ(0.25) ≈ 0.56</a:t>
            </a:r>
            <a:r>
              <a:rPr sz="1050" b="0" i="0">
                <a:solidFill>
                  <a:srgbClr val="16213A"/>
                </a:solidFill>
                <a:latin typeface="Arial"/>
                <a:ea typeface="Malgun Gothic"/>
                <a:cs typeface="Malgun Gothic"/>
              </a:rPr>
              <a:t>이다.</a:t>
            </a:r>
          </a:p>
        </p:txBody>
      </p:sp>
      <p:sp>
        <p:nvSpPr>
          <p:cNvPr id="15" name="TextBox 14"/>
          <p:cNvSpPr txBox="1"/>
          <p:nvPr/>
        </p:nvSpPr>
        <p:spPr>
          <a:xfrm>
            <a:off x="609600" y="554285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1개(문단·식·그림)는 대시보드 리서치 탭의 "배경: 로지스틱 회귀 — 시그모이드로 "실패할 확률"을 한 변수의 함수로 모델링한다" 토글에 있다.</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자세히: Efficient Beam Search의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272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탐사·표면 복원·물체 수집처럼 "정해진 시간·에너지 안에서 얻는 정보를 최대로" 하는 경로를 짜는 문제(informative path planning, IPP)다. 목표점까지 최단 경로가 아니다. 환경은 처음에 모르고, 움직이며 알게 된다. 이전 방법의 한계는 셋이다. </a:t>
            </a:r>
            <a:r>
              <a:rPr sz="1050" b="1" i="0">
                <a:solidFill>
                  <a:srgbClr val="16213A"/>
                </a:solidFill>
                <a:latin typeface="Arial"/>
                <a:ea typeface="Malgun Gothic"/>
                <a:cs typeface="Malgun Gothic"/>
              </a:rPr>
              <a:t>트리(RRT·RRT*)</a:t>
            </a:r>
            <a:r>
              <a:rPr sz="1050" b="0" i="0">
                <a:solidFill>
                  <a:srgbClr val="16213A"/>
                </a:solidFill>
                <a:latin typeface="Arial"/>
                <a:ea typeface="Malgun Gothic"/>
                <a:cs typeface="Malgun Gothic"/>
              </a:rPr>
              <a:t>는 노드마다 들어오는 경로를 하나만 두고, 로봇이 움직일 때마다 가지치기·재배선이 필요하다. </a:t>
            </a:r>
            <a:r>
              <a:rPr sz="1050" b="1" i="0">
                <a:solidFill>
                  <a:srgbClr val="16213A"/>
                </a:solidFill>
                <a:latin typeface="Arial"/>
                <a:ea typeface="Malgun Gothic"/>
                <a:cs typeface="Malgun Gothic"/>
              </a:rPr>
              <a:t>최단 경로 트리(SPT)</a:t>
            </a:r>
            <a:r>
              <a:rPr sz="1050" b="0" i="0">
                <a:solidFill>
                  <a:srgbClr val="16213A"/>
                </a:solidFill>
                <a:latin typeface="Arial"/>
                <a:ea typeface="Malgun Gothic"/>
                <a:cs typeface="Malgun Gothic"/>
              </a:rPr>
              <a:t>는 탐색 공간을 트리로 좁혀 빠르지만 놓치는 경로가 많다. </a:t>
            </a:r>
            <a:r>
              <a:rPr sz="1050" b="1" i="0">
                <a:solidFill>
                  <a:srgbClr val="16213A"/>
                </a:solidFill>
                <a:latin typeface="Arial"/>
                <a:ea typeface="Malgun Gothic"/>
                <a:cs typeface="Malgun Gothic"/>
              </a:rPr>
              <a:t>TSP 방식</a:t>
            </a:r>
            <a:r>
              <a:rPr sz="1050" b="0" i="0">
                <a:solidFill>
                  <a:srgbClr val="16213A"/>
                </a:solidFill>
                <a:latin typeface="Arial"/>
                <a:ea typeface="Malgun Gothic"/>
                <a:cs typeface="Malgun Gothic"/>
              </a:rPr>
              <a:t>은 노드 선택과 순서를 따로 풀어 최적이 아니고, 노드가 늘면 계산이 폭발한다. 저자들은 그래프 위 beam search를 노드별로 바꾼 NBS, frontier를 반영한 선택 기준 </a:t>
            </a:r>
            <a:r>
              <a:rPr sz="1050" b="0" i="1">
                <a:solidFill>
                  <a:srgbClr val="16213A"/>
                </a:solidFill>
                <a:latin typeface="Arial"/>
                <a:ea typeface="Malgun Gothic"/>
                <a:cs typeface="Malgun Gothic"/>
              </a:rPr>
              <a:t>gₑ</a:t>
            </a:r>
            <a:r>
              <a:rPr sz="1050" b="0" i="0">
                <a:solidFill>
                  <a:srgbClr val="16213A"/>
                </a:solidFill>
                <a:latin typeface="Arial"/>
                <a:ea typeface="Malgun Gothic"/>
                <a:cs typeface="Malgun Gothic"/>
              </a:rPr>
              <a:t>, 그래프를 온라인으로 키우는 RRAG를 낸다(배경: beam search와 frontier 탐사 토글 참고).</a:t>
            </a:r>
          </a:p>
        </p:txBody>
      </p:sp>
      <p:sp>
        <p:nvSpPr>
          <p:cNvPr id="6" name="TextBox 5"/>
          <p:cNvSpPr txBox="1"/>
          <p:nvPr/>
        </p:nvSpPr>
        <p:spPr>
          <a:xfrm>
            <a:off x="609600" y="21994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문제 정식화.</a:t>
            </a:r>
            <a:r>
              <a:rPr sz="1050" b="0" i="0">
                <a:solidFill>
                  <a:srgbClr val="16213A"/>
                </a:solidFill>
                <a:latin typeface="Arial"/>
                <a:ea typeface="Malgun Gothic"/>
                <a:cs typeface="Malgun Gothic"/>
              </a:rPr>
              <a:t> 방향 그래프 </a:t>
            </a:r>
            <a:r>
              <a:rPr sz="1050" b="0" i="1">
                <a:solidFill>
                  <a:srgbClr val="16213A"/>
                </a:solidFill>
                <a:latin typeface="Arial"/>
                <a:ea typeface="Malgun Gothic"/>
                <a:cs typeface="Malgun Gothic"/>
              </a:rPr>
              <a:t>𝒢 = (𝒱, ℰ, g, c)</a:t>
            </a:r>
            <a:r>
              <a:rPr sz="1050" b="0" i="0">
                <a:solidFill>
                  <a:srgbClr val="16213A"/>
                </a:solidFill>
                <a:latin typeface="Arial"/>
                <a:ea typeface="Malgun Gothic"/>
                <a:cs typeface="Malgun Gothic"/>
              </a:rPr>
              <a:t>에서 간선 비용 </a:t>
            </a:r>
            <a:r>
              <a:rPr sz="1050" b="0" i="1">
                <a:solidFill>
                  <a:srgbClr val="16213A"/>
                </a:solidFill>
                <a:latin typeface="Arial"/>
                <a:ea typeface="Malgun Gothic"/>
                <a:cs typeface="Malgun Gothic"/>
              </a:rPr>
              <a:t>c(e) &gt; 0</a:t>
            </a:r>
            <a:r>
              <a:rPr sz="1050" b="0" i="0">
                <a:solidFill>
                  <a:srgbClr val="16213A"/>
                </a:solidFill>
                <a:latin typeface="Arial"/>
                <a:ea typeface="Malgun Gothic"/>
                <a:cs typeface="Malgun Gothic"/>
              </a:rPr>
              <a:t>, 노드 이득 </a:t>
            </a:r>
            <a:r>
              <a:rPr sz="1050" b="0" i="1">
                <a:solidFill>
                  <a:srgbClr val="16213A"/>
                </a:solidFill>
                <a:latin typeface="Arial"/>
                <a:ea typeface="Malgun Gothic"/>
                <a:cs typeface="Malgun Gothic"/>
              </a:rPr>
              <a:t>g(v) ≥ 0</a:t>
            </a:r>
            <a:r>
              <a:rPr sz="1050" b="0" i="0">
                <a:solidFill>
                  <a:srgbClr val="16213A"/>
                </a:solidFill>
                <a:latin typeface="Arial"/>
                <a:ea typeface="Malgun Gothic"/>
                <a:cs typeface="Malgun Gothic"/>
              </a:rPr>
              <a:t>이다. 경로 비용은 간선 비용의 합이고, 경로 이득은 </a:t>
            </a:r>
            <a:r>
              <a:rPr sz="1050" b="1" i="0">
                <a:solidFill>
                  <a:srgbClr val="16213A"/>
                </a:solidFill>
                <a:latin typeface="Arial"/>
                <a:ea typeface="Malgun Gothic"/>
                <a:cs typeface="Malgun Gothic"/>
              </a:rPr>
              <a:t>방문한 노드 집합</a:t>
            </a:r>
            <a:r>
              <a:rPr sz="1050" b="0" i="0">
                <a:solidFill>
                  <a:srgbClr val="16213A"/>
                </a:solidFill>
                <a:latin typeface="Arial"/>
                <a:ea typeface="Malgun Gothic"/>
                <a:cs typeface="Malgun Gothic"/>
              </a:rPr>
              <a:t>의 함수라 같은 노드를 두 번 지나도 한 번만 센다. 시작 노드는 고정, 끝 노드는 자유다.</a:t>
            </a:r>
          </a:p>
        </p:txBody>
      </p:sp>
      <p:pic>
        <p:nvPicPr>
          <p:cNvPr id="7" name="Picture 6" descr="image.png"/>
          <p:cNvPicPr>
            <a:picLocks noChangeAspect="1"/>
          </p:cNvPicPr>
          <p:nvPr/>
        </p:nvPicPr>
        <p:blipFill>
          <a:blip r:embed="rId3"/>
          <a:stretch>
            <a:fillRect/>
          </a:stretch>
        </p:blipFill>
        <p:spPr>
          <a:xfrm>
            <a:off x="609600" y="2721372"/>
            <a:ext cx="2527300" cy="320675"/>
          </a:xfrm>
          <a:prstGeom prst="rect">
            <a:avLst/>
          </a:prstGeom>
        </p:spPr>
      </p:pic>
      <p:sp>
        <p:nvSpPr>
          <p:cNvPr id="8" name="TextBox 7"/>
          <p:cNvSpPr txBox="1"/>
          <p:nvPr/>
        </p:nvSpPr>
        <p:spPr>
          <a:xfrm>
            <a:off x="609600" y="306625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세 단계로 현실에 가까워진다. (1) 그래프를 다 안다. (2) 반경 </a:t>
            </a:r>
            <a:r>
              <a:rPr sz="1050" b="0" i="1">
                <a:solidFill>
                  <a:srgbClr val="16213A"/>
                </a:solidFill>
                <a:latin typeface="Arial"/>
                <a:ea typeface="Malgun Gothic"/>
                <a:cs typeface="Malgun Gothic"/>
              </a:rPr>
              <a:t>ρ</a:t>
            </a:r>
            <a:r>
              <a:rPr sz="1050" b="0" i="0">
                <a:solidFill>
                  <a:srgbClr val="16213A"/>
                </a:solidFill>
                <a:latin typeface="Arial"/>
                <a:ea typeface="Malgun Gothic"/>
                <a:cs typeface="Malgun Gothic"/>
              </a:rPr>
              <a:t> 안의 노드만 보이고 움직이며 드러난다. (3) 그래프 자체가 없어 깊이 카메라로 본 자유 공간에 로봇이 직접 그래프를 키운다. 여기서 "정보 이득"은 엔트로피 감소 같은 정보이론 양이 아니다. 논문은 이를 명시적으로 배제하고, 보이는 미지 복셀 수 같은 </a:t>
            </a:r>
            <a:r>
              <a:rPr sz="1050" b="1" i="0">
                <a:solidFill>
                  <a:srgbClr val="16213A"/>
                </a:solidFill>
                <a:latin typeface="Arial"/>
                <a:ea typeface="Malgun Gothic"/>
                <a:cs typeface="Malgun Gothic"/>
              </a:rPr>
              <a:t>세기 값</a:t>
            </a:r>
            <a:r>
              <a:rPr sz="1050" b="0" i="0">
                <a:solidFill>
                  <a:srgbClr val="16213A"/>
                </a:solidFill>
                <a:latin typeface="Arial"/>
                <a:ea typeface="Malgun Gothic"/>
                <a:cs typeface="Malgun Gothic"/>
              </a:rPr>
              <a:t>을 이득으로 쓴다.</a:t>
            </a:r>
          </a:p>
        </p:txBody>
      </p:sp>
      <p:sp>
        <p:nvSpPr>
          <p:cNvPr id="9" name="TextBox 8"/>
          <p:cNvSpPr txBox="1"/>
          <p:nvPr/>
        </p:nvSpPr>
        <p:spPr>
          <a:xfrm>
            <a:off x="609600" y="358814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선택 기준 셋.</a:t>
            </a:r>
            <a:r>
              <a:rPr sz="1050" b="0" i="0">
                <a:solidFill>
                  <a:srgbClr val="16213A"/>
                </a:solidFill>
                <a:latin typeface="Arial"/>
                <a:ea typeface="Malgun Gothic"/>
                <a:cs typeface="Malgun Gothic"/>
              </a:rPr>
              <a:t> 경로 이득 </a:t>
            </a:r>
            <a:r>
              <a:rPr sz="1050" b="0" i="1">
                <a:solidFill>
                  <a:srgbClr val="16213A"/>
                </a:solidFill>
                <a:latin typeface="Arial"/>
                <a:ea typeface="Malgun Gothic"/>
                <a:cs typeface="Malgun Gothic"/>
              </a:rPr>
              <a:t>g(p)</a:t>
            </a:r>
            <a:r>
              <a:rPr sz="1050" b="0" i="0">
                <a:solidFill>
                  <a:srgbClr val="16213A"/>
                </a:solidFill>
                <a:latin typeface="Arial"/>
                <a:ea typeface="Malgun Gothic"/>
                <a:cs typeface="Malgun Gothic"/>
              </a:rPr>
              <a:t>, 효율 </a:t>
            </a:r>
            <a:r>
              <a:rPr sz="1050" b="0" i="1">
                <a:solidFill>
                  <a:srgbClr val="16213A"/>
                </a:solidFill>
                <a:latin typeface="Arial"/>
                <a:ea typeface="Malgun Gothic"/>
                <a:cs typeface="Malgun Gothic"/>
              </a:rPr>
              <a:t>r(p) = g(p)/c(p)</a:t>
            </a:r>
            <a:r>
              <a:rPr sz="1050" b="0" i="0">
                <a:solidFill>
                  <a:srgbClr val="16213A"/>
                </a:solidFill>
                <a:latin typeface="Arial"/>
                <a:ea typeface="Malgun Gothic"/>
                <a:cs typeface="Malgun Gothic"/>
              </a:rPr>
              <a:t>, 그리고 제안한 기대 이득 </a:t>
            </a:r>
            <a:r>
              <a:rPr sz="1050" b="0" i="1">
                <a:solidFill>
                  <a:srgbClr val="16213A"/>
                </a:solidFill>
                <a:latin typeface="Arial"/>
                <a:ea typeface="Malgun Gothic"/>
                <a:cs typeface="Malgun Gothic"/>
              </a:rPr>
              <a:t>gₑ(p)</a:t>
            </a:r>
            <a:r>
              <a:rPr sz="1050" b="0" i="0">
                <a:solidFill>
                  <a:srgbClr val="16213A"/>
                </a:solidFill>
                <a:latin typeface="Arial"/>
                <a:ea typeface="Malgun Gothic"/>
                <a:cs typeface="Malgun Gothic"/>
              </a:rPr>
              <a:t>다.</a:t>
            </a:r>
          </a:p>
        </p:txBody>
      </p:sp>
      <p:pic>
        <p:nvPicPr>
          <p:cNvPr id="10" name="Picture 9" descr="image.png"/>
          <p:cNvPicPr>
            <a:picLocks noChangeAspect="1"/>
          </p:cNvPicPr>
          <p:nvPr/>
        </p:nvPicPr>
        <p:blipFill>
          <a:blip r:embed="rId4"/>
          <a:stretch>
            <a:fillRect/>
          </a:stretch>
        </p:blipFill>
        <p:spPr>
          <a:xfrm>
            <a:off x="609600" y="3893542"/>
            <a:ext cx="3438525" cy="533400"/>
          </a:xfrm>
          <a:prstGeom prst="rect">
            <a:avLst/>
          </a:prstGeom>
        </p:spPr>
      </p:pic>
      <p:sp>
        <p:nvSpPr>
          <p:cNvPr id="11" name="TextBox 10"/>
          <p:cNvSpPr txBox="1"/>
          <p:nvPr/>
        </p:nvSpPr>
        <p:spPr>
          <a:xfrm>
            <a:off x="609600" y="4422477"/>
            <a:ext cx="10972800" cy="649486"/>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g</a:t>
            </a:r>
            <a:r>
              <a:rPr sz="1050" b="0" i="0">
                <a:solidFill>
                  <a:srgbClr val="16213A"/>
                </a:solidFill>
                <a:latin typeface="Arial"/>
                <a:ea typeface="Malgun Gothic"/>
                <a:cs typeface="Malgun Gothic"/>
              </a:rPr>
              <a:t>만 보면 아는 곳만 판다.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만 보면 효율이 가장 좋은 짧은 경로를 찾은 뒤 더 갈 이유가 없다(더 가면 비율이 떨어진다). </a:t>
            </a:r>
            <a:r>
              <a:rPr sz="1050" b="0" i="1">
                <a:solidFill>
                  <a:srgbClr val="16213A"/>
                </a:solidFill>
                <a:latin typeface="Arial"/>
                <a:ea typeface="Malgun Gothic"/>
                <a:cs typeface="Malgun Gothic"/>
              </a:rPr>
              <a:t>gₑ</a:t>
            </a:r>
            <a:r>
              <a:rPr sz="1050" b="0" i="0">
                <a:solidFill>
                  <a:srgbClr val="16213A"/>
                </a:solidFill>
                <a:latin typeface="Arial"/>
                <a:ea typeface="Malgun Gothic"/>
                <a:cs typeface="Malgun Gothic"/>
              </a:rPr>
              <a:t>는 frontier로 끝나는 경로에 "그 뒤로도 지금 효율로 남은 예산을 다 쓴다"는 외삽을 준다. 정리 1은 경로마다 자기 비율로 외삽하든 frontier 경로 중 최대 비율 </a:t>
            </a:r>
            <a:r>
              <a:rPr sz="1050" b="0" i="1">
                <a:solidFill>
                  <a:srgbClr val="16213A"/>
                </a:solidFill>
                <a:latin typeface="Arial"/>
                <a:ea typeface="Malgun Gothic"/>
                <a:cs typeface="Malgun Gothic"/>
              </a:rPr>
              <a:t>r*_ℱ</a:t>
            </a:r>
            <a:r>
              <a:rPr sz="1050" b="0" i="0">
                <a:solidFill>
                  <a:srgbClr val="16213A"/>
                </a:solidFill>
                <a:latin typeface="Arial"/>
                <a:ea typeface="Malgun Gothic"/>
                <a:cs typeface="Malgun Gothic"/>
              </a:rPr>
              <a:t>로 외삽하든 고르는 경로가 같다는 것이다. 그래서 </a:t>
            </a:r>
            <a:r>
              <a:rPr sz="1050" b="0" i="1">
                <a:solidFill>
                  <a:srgbClr val="16213A"/>
                </a:solidFill>
                <a:latin typeface="Arial"/>
                <a:ea typeface="Malgun Gothic"/>
                <a:cs typeface="Malgun Gothic"/>
              </a:rPr>
              <a:t>r*_ℱ</a:t>
            </a:r>
            <a:r>
              <a:rPr sz="1050" b="0" i="0">
                <a:solidFill>
                  <a:srgbClr val="16213A"/>
                </a:solidFill>
                <a:latin typeface="Arial"/>
                <a:ea typeface="Malgun Gothic"/>
                <a:cs typeface="Malgun Gothic"/>
              </a:rPr>
              <a:t>를 미리 구할 필요가 없다. 세 기준 모두 최대화는 NP-hard다 (최장 경로 문제로 환원된다).</a:t>
            </a:r>
          </a:p>
        </p:txBody>
      </p:sp>
      <p:sp>
        <p:nvSpPr>
          <p:cNvPr id="12" name="TextBox 11"/>
          <p:cNvSpPr txBox="1"/>
          <p:nvPr/>
        </p:nvSpPr>
        <p:spPr>
          <a:xfrm>
            <a:off x="609600" y="516086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탐색 공간 줄이기.</a:t>
            </a:r>
            <a:r>
              <a:rPr sz="1050" b="0" i="0">
                <a:solidFill>
                  <a:srgbClr val="16213A"/>
                </a:solidFill>
                <a:latin typeface="Arial"/>
                <a:ea typeface="Malgun Gothic"/>
                <a:cs typeface="Malgun Gothic"/>
              </a:rPr>
              <a:t> 정리 2: 간선이 양방향이고 비용이 같으면, 같은 간선을 두 번 지나는 경로는 그 사이 구간을 뒤집어 이득은 같고 비용은 엄밀히 작은 경로로 바꿀 수 있다. 그래서 노드 재방문은 허용하되 </a:t>
            </a:r>
            <a:r>
              <a:rPr sz="1050" b="1" i="0">
                <a:solidFill>
                  <a:srgbClr val="16213A"/>
                </a:solidFill>
                <a:latin typeface="Arial"/>
                <a:ea typeface="Malgun Gothic"/>
                <a:cs typeface="Malgun Gothic"/>
              </a:rPr>
              <a:t>간선을 두 번 지나지 않는 경로(trail)</a:t>
            </a:r>
            <a:r>
              <a:rPr sz="1050" b="0" i="0">
                <a:solidFill>
                  <a:srgbClr val="16213A"/>
                </a:solidFill>
                <a:latin typeface="Arial"/>
                <a:ea typeface="Malgun Gothic"/>
                <a:cs typeface="Malgun Gothic"/>
              </a:rPr>
              <a:t>만 찾으면 된다.</a:t>
            </a:r>
          </a:p>
        </p:txBody>
      </p:sp>
      <p:sp>
        <p:nvSpPr>
          <p:cNvPr id="13" name="TextBox 12"/>
          <p:cNvSpPr txBox="1"/>
          <p:nvPr/>
        </p:nvSpPr>
        <p:spPr>
          <a:xfrm>
            <a:off x="609600" y="568275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DBS와 NBS.</a:t>
            </a:r>
            <a:r>
              <a:rPr sz="1050" b="0" i="0">
                <a:solidFill>
                  <a:srgbClr val="16213A"/>
                </a:solidFill>
                <a:latin typeface="Arial"/>
                <a:ea typeface="Malgun Gothic"/>
                <a:cs typeface="Malgun Gothic"/>
              </a:rPr>
              <a:t> 두 방법 모두 깊이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까지 경로를 한 간선씩 늘리고, 예산을 넘는 경로는 버리고, 선택 기준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로 최선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를 갱신한다. 차이는 남기는 단위다. 순위는 비율 → 이득 → 비용 순으로 비교한다.</a:t>
            </a:r>
          </a:p>
        </p:txBody>
      </p:sp>
      <p:sp>
        <p:nvSpPr>
          <p:cNvPr id="14" name="TextBox 13"/>
          <p:cNvSpPr txBox="1"/>
          <p:nvPr/>
        </p:nvSpPr>
        <p:spPr>
          <a:xfrm>
            <a:off x="609600" y="5988149"/>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10개(문단·식·그림)는 대시보드 리서치 탭의 "자세히: Efficient Beam Search의 방법과 수식" 토글에 있다.</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beam search와 frontier 탐사 — 정해진 예산으로 가장 많이 알아내는 경로 찾기(정보 이득, 예산 제약 오리엔티어링)</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273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네 개념이 한 문제를 이룬다. </a:t>
            </a:r>
            <a:r>
              <a:rPr sz="1050" b="1" i="0">
                <a:solidFill>
                  <a:srgbClr val="16213A"/>
                </a:solidFill>
                <a:latin typeface="Arial"/>
                <a:ea typeface="Malgun Gothic"/>
                <a:cs typeface="Malgun Gothic"/>
              </a:rPr>
              <a:t>오리엔티어링 문제</a:t>
            </a:r>
            <a:r>
              <a:rPr sz="1050" b="0" i="0">
                <a:solidFill>
                  <a:srgbClr val="16213A"/>
                </a:solidFill>
                <a:latin typeface="Arial"/>
                <a:ea typeface="Malgun Gothic"/>
                <a:cs typeface="Malgun Gothic"/>
              </a:rPr>
              <a:t>가 목적(예산 안에서 보상 최대)을, </a:t>
            </a:r>
            <a:r>
              <a:rPr sz="1050" b="1" i="0">
                <a:solidFill>
                  <a:srgbClr val="16213A"/>
                </a:solidFill>
                <a:latin typeface="Arial"/>
                <a:ea typeface="Malgun Gothic"/>
                <a:cs typeface="Malgun Gothic"/>
              </a:rPr>
              <a:t>정보 이득</a:t>
            </a:r>
            <a:r>
              <a:rPr sz="1050" b="0" i="0">
                <a:solidFill>
                  <a:srgbClr val="16213A"/>
                </a:solidFill>
                <a:latin typeface="Arial"/>
                <a:ea typeface="Malgun Gothic"/>
                <a:cs typeface="Malgun Gothic"/>
              </a:rPr>
              <a:t>이 보상을, </a:t>
            </a:r>
            <a:r>
              <a:rPr sz="1050" b="1" i="0">
                <a:solidFill>
                  <a:srgbClr val="16213A"/>
                </a:solidFill>
                <a:latin typeface="Arial"/>
                <a:ea typeface="Malgun Gothic"/>
                <a:cs typeface="Malgun Gothic"/>
              </a:rPr>
              <a:t>frontier</a:t>
            </a:r>
            <a:r>
              <a:rPr sz="1050" b="0" i="0">
                <a:solidFill>
                  <a:srgbClr val="16213A"/>
                </a:solidFill>
                <a:latin typeface="Arial"/>
                <a:ea typeface="Malgun Gothic"/>
                <a:cs typeface="Malgun Gothic"/>
              </a:rPr>
              <a:t>가 모르는 곳으로 가는 입구를, </a:t>
            </a:r>
            <a:r>
              <a:rPr sz="1050" b="1" i="0">
                <a:solidFill>
                  <a:srgbClr val="16213A"/>
                </a:solidFill>
                <a:latin typeface="Arial"/>
                <a:ea typeface="Malgun Gothic"/>
                <a:cs typeface="Malgun Gothic"/>
              </a:rPr>
              <a:t>beam search</a:t>
            </a:r>
            <a:r>
              <a:rPr sz="1050" b="0" i="0">
                <a:solidFill>
                  <a:srgbClr val="16213A"/>
                </a:solidFill>
                <a:latin typeface="Arial"/>
                <a:ea typeface="Malgun Gothic"/>
                <a:cs typeface="Malgun Gothic"/>
              </a:rPr>
              <a:t>가 푸는 방법을 준다.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예산 제약 오리엔티어링.</a:t>
            </a:r>
            <a:r>
              <a:rPr sz="1050" b="0" i="0">
                <a:solidFill>
                  <a:srgbClr val="16213A"/>
                </a:solidFill>
                <a:latin typeface="Arial"/>
                <a:ea typeface="Malgun Gothic"/>
                <a:cs typeface="Malgun Gothic"/>
              </a:rPr>
              <a:t> 노드마다 보상 </a:t>
            </a:r>
            <a:r>
              <a:rPr sz="1050" b="0" i="1">
                <a:solidFill>
                  <a:srgbClr val="16213A"/>
                </a:solidFill>
                <a:latin typeface="Arial"/>
                <a:ea typeface="Malgun Gothic"/>
                <a:cs typeface="Malgun Gothic"/>
              </a:rPr>
              <a:t>g(v)</a:t>
            </a:r>
            <a:r>
              <a:rPr sz="1050" b="0" i="0">
                <a:solidFill>
                  <a:srgbClr val="16213A"/>
                </a:solidFill>
                <a:latin typeface="Arial"/>
                <a:ea typeface="Malgun Gothic"/>
                <a:cs typeface="Malgun Gothic"/>
              </a:rPr>
              <a:t>, 간선마다 비용 </a:t>
            </a:r>
            <a:r>
              <a:rPr sz="1050" b="0" i="1">
                <a:solidFill>
                  <a:srgbClr val="16213A"/>
                </a:solidFill>
                <a:latin typeface="Arial"/>
                <a:ea typeface="Malgun Gothic"/>
                <a:cs typeface="Malgun Gothic"/>
              </a:rPr>
              <a:t>c(e)</a:t>
            </a:r>
            <a:r>
              <a:rPr sz="1050" b="0" i="0">
                <a:solidFill>
                  <a:srgbClr val="16213A"/>
                </a:solidFill>
                <a:latin typeface="Arial"/>
                <a:ea typeface="Malgun Gothic"/>
                <a:cs typeface="Malgun Gothic"/>
              </a:rPr>
              <a:t>가 있다. 출발점에서 예산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 안에 방문한 노드의 보상 합을 최대로 한다. 모든 노드를 도는 TSP와 달리 </a:t>
            </a:r>
            <a:r>
              <a:rPr sz="1050" b="1" i="0">
                <a:solidFill>
                  <a:srgbClr val="16213A"/>
                </a:solidFill>
                <a:latin typeface="Arial"/>
                <a:ea typeface="Malgun Gothic"/>
                <a:cs typeface="Malgun Gothic"/>
              </a:rPr>
              <a:t>어느 노드를 갈지</a:t>
            </a:r>
            <a:r>
              <a:rPr sz="1050" b="0" i="0">
                <a:solidFill>
                  <a:srgbClr val="16213A"/>
                </a:solidFill>
                <a:latin typeface="Arial"/>
                <a:ea typeface="Malgun Gothic"/>
                <a:cs typeface="Malgun Gothic"/>
              </a:rPr>
              <a:t>까지 고른다. NP-hard다. 보상이 노드 집합의 함수(겹치면 한 번만 셈)이면 informative path planning이 된다.</a:t>
            </a:r>
          </a:p>
        </p:txBody>
      </p:sp>
      <p:pic>
        <p:nvPicPr>
          <p:cNvPr id="7" name="Picture 6" descr="image.png"/>
          <p:cNvPicPr>
            <a:picLocks noChangeAspect="1"/>
          </p:cNvPicPr>
          <p:nvPr/>
        </p:nvPicPr>
        <p:blipFill>
          <a:blip r:embed="rId3"/>
          <a:stretch>
            <a:fillRect/>
          </a:stretch>
        </p:blipFill>
        <p:spPr>
          <a:xfrm>
            <a:off x="609600" y="2071886"/>
            <a:ext cx="2686050" cy="457200"/>
          </a:xfrm>
          <a:prstGeom prst="rect">
            <a:avLst/>
          </a:prstGeom>
        </p:spPr>
      </p:pic>
      <p:sp>
        <p:nvSpPr>
          <p:cNvPr id="8" name="TextBox 7"/>
          <p:cNvSpPr txBox="1"/>
          <p:nvPr/>
        </p:nvSpPr>
        <p:spPr>
          <a:xfrm>
            <a:off x="609600" y="253712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정보 이득.</a:t>
            </a:r>
            <a:r>
              <a:rPr sz="1050" b="0" i="0">
                <a:solidFill>
                  <a:srgbClr val="16213A"/>
                </a:solidFill>
                <a:latin typeface="Arial"/>
                <a:ea typeface="Malgun Gothic"/>
                <a:cs typeface="Malgun Gothic"/>
              </a:rPr>
              <a:t> 노드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에서 관측 </a:t>
            </a:r>
            <a:r>
              <a:rPr sz="1050" b="0" i="1">
                <a:solidFill>
                  <a:srgbClr val="16213A"/>
                </a:solidFill>
                <a:latin typeface="Arial"/>
                <a:ea typeface="Malgun Gothic"/>
                <a:cs typeface="Malgun Gothic"/>
              </a:rPr>
              <a:t>zᵥ</a:t>
            </a:r>
            <a:r>
              <a:rPr sz="1050" b="0" i="0">
                <a:solidFill>
                  <a:srgbClr val="16213A"/>
                </a:solidFill>
                <a:latin typeface="Arial"/>
                <a:ea typeface="Malgun Gothic"/>
                <a:cs typeface="Malgun Gothic"/>
              </a:rPr>
              <a:t>를 얻으면 지도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의 불확실성이 얼마나 줄어드나를 잰다. 정의는 엔트로피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의 기대 감소량이다.</a:t>
            </a:r>
          </a:p>
        </p:txBody>
      </p:sp>
      <p:pic>
        <p:nvPicPr>
          <p:cNvPr id="9" name="Picture 8" descr="image.png"/>
          <p:cNvPicPr>
            <a:picLocks noChangeAspect="1"/>
          </p:cNvPicPr>
          <p:nvPr/>
        </p:nvPicPr>
        <p:blipFill>
          <a:blip r:embed="rId4"/>
          <a:stretch>
            <a:fillRect/>
          </a:stretch>
        </p:blipFill>
        <p:spPr>
          <a:xfrm>
            <a:off x="609600" y="2842518"/>
            <a:ext cx="2422525" cy="241300"/>
          </a:xfrm>
          <a:prstGeom prst="rect">
            <a:avLst/>
          </a:prstGeom>
        </p:spPr>
      </p:pic>
      <p:sp>
        <p:nvSpPr>
          <p:cNvPr id="10" name="TextBox 9"/>
          <p:cNvSpPr txBox="1"/>
          <p:nvPr/>
        </p:nvSpPr>
        <p:spPr>
          <a:xfrm>
            <a:off x="609600" y="312003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실전에서는 계산이 무거워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에서 보이는 미지 복셀 수"로 근사한다(각 미지 복셀의 점유 확률이 0.5라면 복셀당 엔트로피가 1 bit이므로 비례한다). Efficient Beam Search도 이 세기 근사를 쓴다.</a:t>
            </a:r>
          </a:p>
        </p:txBody>
      </p:sp>
      <p:sp>
        <p:nvSpPr>
          <p:cNvPr id="11" name="TextBox 10"/>
          <p:cNvSpPr txBox="1"/>
          <p:nvPr/>
        </p:nvSpPr>
        <p:spPr>
          <a:xfrm>
            <a:off x="609600" y="342542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frontier 탐사.</a:t>
            </a:r>
            <a:r>
              <a:rPr sz="1050" b="0" i="0">
                <a:solidFill>
                  <a:srgbClr val="16213A"/>
                </a:solidFill>
                <a:latin typeface="Arial"/>
                <a:ea typeface="Malgun Gothic"/>
                <a:cs typeface="Malgun Gothic"/>
              </a:rPr>
              <a:t> Yamauchi(1997)가 정의했다. frontier는 </a:t>
            </a:r>
            <a:r>
              <a:rPr sz="1050" b="1" i="0">
                <a:solidFill>
                  <a:srgbClr val="16213A"/>
                </a:solidFill>
                <a:latin typeface="Arial"/>
                <a:ea typeface="Malgun Gothic"/>
                <a:cs typeface="Malgun Gothic"/>
              </a:rPr>
              <a:t>이미 아는 자유 칸과 미지 칸의 경계</a:t>
            </a:r>
            <a:r>
              <a:rPr sz="1050" b="0" i="0">
                <a:solidFill>
                  <a:srgbClr val="16213A"/>
                </a:solidFill>
                <a:latin typeface="Arial"/>
                <a:ea typeface="Malgun Gothic"/>
                <a:cs typeface="Malgun Gothic"/>
              </a:rPr>
              <a:t>다. 가장 가까운(또는 가장 이득이 큰) frontier로 가서 새로 보고, 지도를 갱신하고, 반복한다. 모든 frontier가 사라지면 탐사가 끝난다. 단순하고 튼튼하지만 탐욕적이라 먼 곳을 왔다 갔다 할 수 있다.</a:t>
            </a:r>
          </a:p>
        </p:txBody>
      </p:sp>
      <p:sp>
        <p:nvSpPr>
          <p:cNvPr id="12" name="TextBox 11"/>
          <p:cNvSpPr txBox="1"/>
          <p:nvPr/>
        </p:nvSpPr>
        <p:spPr>
          <a:xfrm>
            <a:off x="609600" y="3947319"/>
            <a:ext cx="10972800" cy="766762"/>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      ■ 장애물   · 아는 자유   ? 미지</a:t>
            </a:r>
          </a:p>
          <a:p>
            <a:r>
              <a:rPr sz="750" b="0" i="0">
                <a:solidFill>
                  <a:srgbClr val="F4F1EA"/>
                </a:solidFill>
                <a:latin typeface="Consolas"/>
                <a:ea typeface="Malgun Gothic"/>
                <a:cs typeface="Malgun Gothic"/>
              </a:rPr>
              <a:t>■·····F???    F = 아는 자유 칸 중 미지 칸과 맞닿은 칸</a:t>
            </a:r>
          </a:p>
          <a:p>
            <a:r>
              <a:rPr sz="750" b="0" i="0">
                <a:solidFill>
                  <a:srgbClr val="F4F1EA"/>
                </a:solidFill>
                <a:latin typeface="Consolas"/>
                <a:ea typeface="Malgun Gothic"/>
                <a:cs typeface="Malgun Gothic"/>
              </a:rPr>
              <a:t>■··R··F???    로봇 R은 F로 가면 ??? 를 새로 본다</a:t>
            </a:r>
          </a:p>
          <a:p>
            <a:r>
              <a:rPr sz="750" b="0" i="0">
                <a:solidFill>
                  <a:srgbClr val="F4F1EA"/>
                </a:solidFill>
                <a:latin typeface="Consolas"/>
                <a:ea typeface="Malgun Gothic"/>
                <a:cs typeface="Malgun Gothic"/>
              </a:rPr>
              <a:t>■·····F???</a:t>
            </a:r>
          </a:p>
        </p:txBody>
      </p:sp>
      <p:sp>
        <p:nvSpPr>
          <p:cNvPr id="13" name="TextBox 12"/>
          <p:cNvSpPr txBox="1"/>
          <p:nvPr/>
        </p:nvSpPr>
        <p:spPr>
          <a:xfrm>
            <a:off x="609600" y="48029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beam search.</a:t>
            </a:r>
            <a:r>
              <a:rPr sz="1050" b="0" i="0">
                <a:solidFill>
                  <a:srgbClr val="16213A"/>
                </a:solidFill>
                <a:latin typeface="Arial"/>
                <a:ea typeface="Malgun Gothic"/>
                <a:cs typeface="Malgun Gothic"/>
              </a:rPr>
              <a:t> 탐색 트리를 깊이 순으로 펼치되 깊이마다 점수 상위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개(beam 폭)만 남기고 나머지를 버린다. </a:t>
            </a:r>
            <a:r>
              <a:rPr sz="1050" b="0" i="1">
                <a:solidFill>
                  <a:srgbClr val="16213A"/>
                </a:solidFill>
                <a:latin typeface="Arial"/>
                <a:ea typeface="Malgun Gothic"/>
                <a:cs typeface="Malgun Gothic"/>
              </a:rPr>
              <a:t>B = 1</a:t>
            </a:r>
            <a:r>
              <a:rPr sz="1050" b="0" i="0">
                <a:solidFill>
                  <a:srgbClr val="16213A"/>
                </a:solidFill>
                <a:latin typeface="Arial"/>
                <a:ea typeface="Malgun Gothic"/>
                <a:cs typeface="Malgun Gothic"/>
              </a:rPr>
              <a:t>이면 탐욕 탐색, </a:t>
            </a:r>
            <a:r>
              <a:rPr sz="1050" b="0" i="1">
                <a:solidFill>
                  <a:srgbClr val="16213A"/>
                </a:solidFill>
                <a:latin typeface="Arial"/>
                <a:ea typeface="Malgun Gothic"/>
                <a:cs typeface="Malgun Gothic"/>
              </a:rPr>
              <a:t>B = ∞</a:t>
            </a:r>
            <a:r>
              <a:rPr sz="1050" b="0" i="0">
                <a:solidFill>
                  <a:srgbClr val="16213A"/>
                </a:solidFill>
                <a:latin typeface="Arial"/>
                <a:ea typeface="Malgun Gothic"/>
                <a:cs typeface="Malgun Gothic"/>
              </a:rPr>
              <a:t>면 너비 우선 전수 탐색이다. 비용은 대략 </a:t>
            </a:r>
            <a:r>
              <a:rPr sz="1050" b="0" i="1">
                <a:solidFill>
                  <a:srgbClr val="16213A"/>
                </a:solidFill>
                <a:latin typeface="Arial"/>
                <a:ea typeface="Malgun Gothic"/>
                <a:cs typeface="Malgun Gothic"/>
              </a:rPr>
              <a:t>O(D · B · 분기 수)</a:t>
            </a:r>
            <a:r>
              <a:rPr sz="1050" b="0" i="0">
                <a:solidFill>
                  <a:srgbClr val="16213A"/>
                </a:solidFill>
                <a:latin typeface="Arial"/>
                <a:ea typeface="Malgun Gothic"/>
                <a:cs typeface="Malgun Gothic"/>
              </a:rPr>
              <a:t>로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에 선형이다. 언어 모델의 문장 생성에서 흔히 쓴다. 약점은 beam이 한 구역의 좋은 후보로 가득 차면 나머지가 사라진다는 것이다(국소 최적).</a:t>
            </a:r>
          </a:p>
        </p:txBody>
      </p:sp>
      <p:sp>
        <p:nvSpPr>
          <p:cNvPr id="14" name="TextBox 13"/>
          <p:cNvSpPr txBox="1"/>
          <p:nvPr/>
        </p:nvSpPr>
        <p:spPr>
          <a:xfrm>
            <a:off x="609600" y="53248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예산 10, 왼쪽에 이득 5짜리 노드가 비용 2 거리에, 오른쪽 frontier가 비용 3 거리에 있고 그 너머는 모른다. 이득만 보면 왼쪽(5)이다. 효율로 보면 왼쪽(2.5/비용)이다. frontier 경로가 지금까지 이득 4.5(효율 1.5)를 모았다면 </a:t>
            </a:r>
            <a:r>
              <a:rPr sz="1050" b="0" i="1">
                <a:solidFill>
                  <a:srgbClr val="16213A"/>
                </a:solidFill>
                <a:latin typeface="Arial"/>
                <a:ea typeface="Malgun Gothic"/>
                <a:cs typeface="Malgun Gothic"/>
              </a:rPr>
              <a:t>gₑ = 1.5 × 10 = 15</a:t>
            </a:r>
            <a:r>
              <a:rPr sz="1050" b="0" i="0">
                <a:solidFill>
                  <a:srgbClr val="16213A"/>
                </a:solidFill>
                <a:latin typeface="Arial"/>
                <a:ea typeface="Malgun Gothic"/>
                <a:cs typeface="Malgun Gothic"/>
              </a:rPr>
              <a:t>로 외삽해 오른쪽을 고른다. 모르는 곳의 가치를 "지금까지의 효율"로 추정하는 셈이다.</a:t>
            </a:r>
          </a:p>
        </p:txBody>
      </p:sp>
      <p:sp>
        <p:nvSpPr>
          <p:cNvPr id="15" name="TextBox 14"/>
          <p:cNvSpPr txBox="1"/>
          <p:nvPr/>
        </p:nvSpPr>
        <p:spPr>
          <a:xfrm>
            <a:off x="609600" y="5846762"/>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1개(문단·식·그림)는 대시보드 리서치 탭의 "배경: beam search와 frontier 탐사 — 정해진 예산으로 가장 많이 알아내는 경로 찾기(정보 이득, 예산 제약 오리엔티어링)" 토글에 있다.</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자세히: QuadPiPS의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274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인식 기반 발 디딤 계획은 보통 elevation map(2.5D 격자)을 만들고, 평면 조각으로 나눈 뒤, 그 위에 발을 놓는다. 이 과정은 점군 전처리가 무겁고, 격자를 평활하면 작은 발판들이 한 덩어리로 합쳐진다. 또 기존 ALEF(발 디딤을 이산 탐색 + 연속 최적화로 나누는 틀)는 지형을 모두 안다고 가정하고 오프라인에서 수 초~수 분 걸렸다. QuadPiPS는 PiPS("인식 공간에서 계획") 원칙에 따라 센서 영상 형태를 그대로 두고 계획한다. 깊이 카메라 하나로 360° 국소 모델을 유지하고, 발 디딤 탐색을 실시간으로 돌린다.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전체 흐름과 주기.</a:t>
            </a:r>
            <a:r>
              <a:rPr sz="1050" b="0" i="0">
                <a:solidFill>
                  <a:srgbClr val="16213A"/>
                </a:solidFill>
                <a:latin typeface="Arial"/>
                <a:ea typeface="Malgun Gothic"/>
                <a:cs typeface="Malgun Gothic"/>
              </a:rPr>
              <a:t> 깊이 영상 → 표면 법선(30 Hz) + 밟기 가능성 분할(5 Hz) → legged egocan에 삽입, 전진 전파(150 Hz) → 바닥 영상 superpixel 과분할(20 Hz) → 볼록 평면 영역 → 몸통 경로 A*(30 Hz) → 발 디딤 그래프 A*(15 Hz) → 스윙 궤적 최적화(7 Hz) → MPC(50 Hz) → WBC(1 kHz 이상)다.</a:t>
            </a:r>
          </a:p>
        </p:txBody>
      </p:sp>
      <p:sp>
        <p:nvSpPr>
          <p:cNvPr id="7" name="TextBox 6"/>
          <p:cNvSpPr txBox="1"/>
          <p:nvPr/>
        </p:nvSpPr>
        <p:spPr>
          <a:xfrm>
            <a:off x="609600" y="25048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표현: egocan.</a:t>
            </a:r>
            <a:r>
              <a:rPr sz="1050" b="0" i="0">
                <a:solidFill>
                  <a:srgbClr val="16213A"/>
                </a:solidFill>
                <a:latin typeface="Arial"/>
                <a:ea typeface="Malgun Gothic"/>
                <a:cs typeface="Malgun Gothic"/>
              </a:rPr>
              <a:t> egocylinder는 깊이 영상의 점을 로봇을 둘러싼 가상 원기둥에 투영해 파노라마 영상으로 쌓는다. 카메라 좌표 점을 원기둥 좌표 (거리 </a:t>
            </a:r>
            <a:r>
              <a:rPr sz="1050" b="0" i="1">
                <a:solidFill>
                  <a:srgbClr val="16213A"/>
                </a:solidFill>
                <a:latin typeface="Arial"/>
                <a:ea typeface="Malgun Gothic"/>
                <a:cs typeface="Malgun Gothic"/>
              </a:rPr>
              <a:t>ρ</a:t>
            </a:r>
            <a:r>
              <a:rPr sz="1050" b="0" i="0">
                <a:solidFill>
                  <a:srgbClr val="16213A"/>
                </a:solidFill>
                <a:latin typeface="Arial"/>
                <a:ea typeface="Malgun Gothic"/>
                <a:cs typeface="Malgun Gothic"/>
              </a:rPr>
              <a:t>, 방위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 높이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)로 바꾸고, 영상 좌표로 사상한다.</a:t>
            </a:r>
          </a:p>
        </p:txBody>
      </p:sp>
      <p:pic>
        <p:nvPicPr>
          <p:cNvPr id="8" name="Picture 7" descr="image.png"/>
          <p:cNvPicPr>
            <a:picLocks noChangeAspect="1"/>
          </p:cNvPicPr>
          <p:nvPr/>
        </p:nvPicPr>
        <p:blipFill>
          <a:blip r:embed="rId3"/>
          <a:stretch>
            <a:fillRect/>
          </a:stretch>
        </p:blipFill>
        <p:spPr>
          <a:xfrm>
            <a:off x="609600" y="3026767"/>
            <a:ext cx="6546850" cy="244475"/>
          </a:xfrm>
          <a:prstGeom prst="rect">
            <a:avLst/>
          </a:prstGeom>
        </p:spPr>
      </p:pic>
      <p:sp>
        <p:nvSpPr>
          <p:cNvPr id="9" name="TextBox 8"/>
          <p:cNvSpPr txBox="1"/>
          <p:nvPr/>
        </p:nvSpPr>
        <p:spPr>
          <a:xfrm>
            <a:off x="609600" y="3305175"/>
            <a:ext cx="10972800" cy="649486"/>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K_(cyl)</a:t>
            </a:r>
            <a:r>
              <a:rPr sz="1050" b="0" i="0">
                <a:solidFill>
                  <a:srgbClr val="16213A"/>
                </a:solidFill>
                <a:latin typeface="Arial"/>
                <a:ea typeface="Malgun Gothic"/>
                <a:cs typeface="Malgun Gothic"/>
              </a:rPr>
              <a:t>은 원기둥 투영 행렬(초점 </a:t>
            </a:r>
            <a:r>
              <a:rPr sz="1050" b="0" i="1">
                <a:solidFill>
                  <a:srgbClr val="16213A"/>
                </a:solidFill>
                <a:latin typeface="Arial"/>
                <a:ea typeface="Malgun Gothic"/>
                <a:cs typeface="Malgun Gothic"/>
              </a:rPr>
              <a:t>f_(cyl)</a:t>
            </a:r>
            <a:r>
              <a:rPr sz="1050" b="0" i="0">
                <a:solidFill>
                  <a:srgbClr val="16213A"/>
                </a:solidFill>
                <a:latin typeface="Arial"/>
                <a:ea typeface="Malgun Gothic"/>
                <a:cs typeface="Malgun Gothic"/>
              </a:rPr>
              <a:t>, 중심 픽셀)이다. 셋째 식이 전파다. 로봇이 움직이면 기존 점을 직교 좌표로 되돌리고(</a:t>
            </a:r>
            <a:r>
              <a:rPr sz="1050" b="0" i="1">
                <a:solidFill>
                  <a:srgbClr val="16213A"/>
                </a:solidFill>
                <a:latin typeface="Arial"/>
                <a:ea typeface="Malgun Gothic"/>
                <a:cs typeface="Malgun Gothic"/>
              </a:rPr>
              <a:t>T_(e2c)</a:t>
            </a:r>
            <a:r>
              <a:rPr sz="1050" b="0" i="0">
                <a:solidFill>
                  <a:srgbClr val="16213A"/>
                </a:solidFill>
                <a:latin typeface="Arial"/>
                <a:ea typeface="Malgun Gothic"/>
                <a:cs typeface="Malgun Gothic"/>
              </a:rPr>
              <a:t>), 두 시점 사이 이동 </a:t>
            </a:r>
            <a:r>
              <a:rPr sz="1050" b="0" i="1">
                <a:solidFill>
                  <a:srgbClr val="16213A"/>
                </a:solidFill>
                <a:latin typeface="Arial"/>
                <a:ea typeface="Malgun Gothic"/>
                <a:cs typeface="Malgun Gothic"/>
              </a:rPr>
              <a:t>Tₘₒᵥₑ</a:t>
            </a:r>
            <a:r>
              <a:rPr sz="1050" b="0" i="0">
                <a:solidFill>
                  <a:srgbClr val="16213A"/>
                </a:solidFill>
                <a:latin typeface="Arial"/>
                <a:ea typeface="Malgun Gothic"/>
                <a:cs typeface="Malgun Gothic"/>
              </a:rPr>
              <a:t>를 곱하고, 다시 원기둥 좌표로 바꾼다. 원기둥 영상 한 장에 거리 값을 저장하므로 로봇 뒤쪽 정보도 남는다. 원기둥 위아래로 빠져나가는 점은 원래 사라지는데, egocan은 위·아래 뚜껑 영상을 더해 닫힌 면을 만든다. 발밑으로 지나간 지형은 </a:t>
            </a:r>
            <a:r>
              <a:rPr sz="1050" b="1" i="0">
                <a:solidFill>
                  <a:srgbClr val="16213A"/>
                </a:solidFill>
                <a:latin typeface="Arial"/>
                <a:ea typeface="Malgun Gothic"/>
                <a:cs typeface="Malgun Gothic"/>
              </a:rPr>
              <a:t>아래 뚜껑(바닥 영상)</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I_(low)</a:t>
            </a:r>
            <a:r>
              <a:rPr sz="1050" b="0" i="0">
                <a:solidFill>
                  <a:srgbClr val="16213A"/>
                </a:solidFill>
                <a:latin typeface="Arial"/>
                <a:ea typeface="Malgun Gothic"/>
                <a:cs typeface="Malgun Gothic"/>
              </a:rPr>
              <a:t>에 남는다. 바닥 영상은 높이 지도처럼 쓰이지만 점군 처리 없이 영상 연산으로 만든다. 각 픽셀은 깊이 1 + 법선 3 + 밟기 라벨 1의 5채널이다.</a:t>
            </a:r>
          </a:p>
        </p:txBody>
      </p:sp>
      <p:sp>
        <p:nvSpPr>
          <p:cNvPr id="10" name="TextBox 9"/>
          <p:cNvSpPr txBox="1"/>
          <p:nvPr/>
        </p:nvSpPr>
        <p:spPr>
          <a:xfrm>
            <a:off x="609600" y="404356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법선.</a:t>
            </a:r>
            <a:r>
              <a:rPr sz="1050" b="0" i="0">
                <a:solidFill>
                  <a:srgbClr val="16213A"/>
                </a:solidFill>
                <a:latin typeface="Arial"/>
                <a:ea typeface="Malgun Gothic"/>
                <a:cs typeface="Malgun Gothic"/>
              </a:rPr>
              <a:t> 깊이 영상의 이웃 픽셀 차분으로 방향 미분 </a:t>
            </a:r>
            <a:r>
              <a:rPr sz="1050" b="0" i="1">
                <a:solidFill>
                  <a:srgbClr val="16213A"/>
                </a:solidFill>
                <a:latin typeface="Arial"/>
                <a:ea typeface="Malgun Gothic"/>
                <a:cs typeface="Malgun Gothic"/>
              </a:rPr>
              <a:t>pᵤ</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pᵥ</a:t>
            </a:r>
            <a:r>
              <a:rPr sz="1050" b="0" i="0">
                <a:solidFill>
                  <a:srgbClr val="16213A"/>
                </a:solidFill>
                <a:latin typeface="Arial"/>
                <a:ea typeface="Malgun Gothic"/>
                <a:cs typeface="Malgun Gothic"/>
              </a:rPr>
              <a:t>를 구하고, 외적 </a:t>
            </a:r>
            <a:r>
              <a:rPr sz="1050" b="0" i="1">
                <a:solidFill>
                  <a:srgbClr val="16213A"/>
                </a:solidFill>
                <a:latin typeface="Arial"/>
                <a:ea typeface="Malgun Gothic"/>
                <a:cs typeface="Malgun Gothic"/>
              </a:rPr>
              <a:t>n = pᵥ × pᵤ</a:t>
            </a:r>
            <a:r>
              <a:rPr sz="1050" b="0" i="0">
                <a:solidFill>
                  <a:srgbClr val="16213A"/>
                </a:solidFill>
                <a:latin typeface="Arial"/>
                <a:ea typeface="Malgun Gothic"/>
                <a:cs typeface="Malgun Gothic"/>
              </a:rPr>
              <a:t>를 정규화한다.</a:t>
            </a:r>
          </a:p>
        </p:txBody>
      </p:sp>
      <p:sp>
        <p:nvSpPr>
          <p:cNvPr id="11" name="TextBox 10"/>
          <p:cNvSpPr txBox="1"/>
          <p:nvPr/>
        </p:nvSpPr>
        <p:spPr>
          <a:xfrm>
            <a:off x="609600" y="434895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밟기 가능성(semantic affordance).</a:t>
            </a:r>
            <a:r>
              <a:rPr sz="1050" b="0" i="0">
                <a:solidFill>
                  <a:srgbClr val="16213A"/>
                </a:solidFill>
                <a:latin typeface="Arial"/>
                <a:ea typeface="Malgun Gothic"/>
                <a:cs typeface="Malgun Gothic"/>
              </a:rPr>
              <a:t> 라벨은 셋이다. 밟을 수 있음(안정한 발판), 넘어갈 수 있음(발판은 못 되지만 스윙으로 넘김), 못 넘어감이다. 기준은 스윙 최대 높이 </a:t>
            </a:r>
            <a:r>
              <a:rPr sz="1050" b="0" i="1">
                <a:solidFill>
                  <a:srgbClr val="16213A"/>
                </a:solidFill>
                <a:latin typeface="Arial"/>
                <a:ea typeface="Malgun Gothic"/>
                <a:cs typeface="Malgun Gothic"/>
              </a:rPr>
              <a:t>h^(max)_(swing) = 0.15</a:t>
            </a:r>
            <a:r>
              <a:rPr sz="1050" b="0" i="0">
                <a:solidFill>
                  <a:srgbClr val="16213A"/>
                </a:solidFill>
                <a:latin typeface="Arial"/>
                <a:ea typeface="Malgun Gothic"/>
                <a:cs typeface="Malgun Gothic"/>
              </a:rPr>
              <a:t> m다. 학습 데이터는 합성으로 만든다. 직육면체·경사·원기둥·구·반구·기둥·파이프·튜브·바닥 9종의 기본 도형을 흩뿌린 장면을 만들고, 도형마다 면 단위 라벨 규칙을 준다. 시뮬레이션 깊이에는 잡음·경계 손실을 넣고, 실물 깊이에는 RealSense 후처리(decimation, hole-filling)를 걸어 둘을 가깝게 한다. 600장면 × 5프레임, 생성 약 12시간, DeepLabV3+ 학습 65분(T1000 GPU)이다.</a:t>
            </a:r>
          </a:p>
        </p:txBody>
      </p:sp>
      <p:sp>
        <p:nvSpPr>
          <p:cNvPr id="12" name="TextBox 11"/>
          <p:cNvSpPr txBox="1"/>
          <p:nvPr/>
        </p:nvSpPr>
        <p:spPr>
          <a:xfrm>
            <a:off x="609600" y="508734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평면 영역.</a:t>
            </a:r>
            <a:r>
              <a:rPr sz="1050" b="0" i="0">
                <a:solidFill>
                  <a:srgbClr val="16213A"/>
                </a:solidFill>
                <a:latin typeface="Arial"/>
                <a:ea typeface="Malgun Gothic"/>
                <a:cs typeface="Malgun Gothic"/>
              </a:rPr>
              <a:t> 바닥 영상에서 데이터 없음, 기운 법선(법선과 수직축 내적 ≤ 0.5), 밟을 수 없음 픽셀을 지운다. 아직 안 본 곳은 평지로 초기화한다 (평지에서 출발한다고 가정). 그 뒤 superpixel로 과분할하고(배경: superpixel 토글 참고), 각 조각의 점을 조각 평면에 투영해 Graham scan으로 볼록 껍질을 만든다(배경: 평면 분할과 볼록 영역 토글 참고). 큰 평지 하나를 큰 영역 하나로 두지 않고 일부러 잘게 나누는 이유는, 탐색이 "어느 영역에"뿐 아니라 "영역의 어디에" 디딜지도 고르게 하기 위해서다.</a:t>
            </a:r>
          </a:p>
        </p:txBody>
      </p:sp>
      <p:sp>
        <p:nvSpPr>
          <p:cNvPr id="13" name="TextBox 12"/>
          <p:cNvSpPr txBox="1"/>
          <p:nvPr/>
        </p:nvSpPr>
        <p:spPr>
          <a:xfrm>
            <a:off x="609600" y="5825728"/>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15개(문단·식·그림)는 대시보드 리서치 탭의 "자세히: QuadPiPS의 방법과 수식" 토글에 있다.</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A* 탐색과 발 디딤 그래프 — "지금까지 비용 + 남은 비용 추정"으로 최단 경로를 빨리 찾는다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275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A*는 그래프에서 시작점부터 목표까지 비용이 가장 작은 경로를 찾는 알고리즘이다. 노드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마다 아래 점수를 매기고, 점수가 가장 작은 노드부터 펼친다(우선순위 큐).</a:t>
            </a:r>
          </a:p>
        </p:txBody>
      </p:sp>
      <p:pic>
        <p:nvPicPr>
          <p:cNvPr id="6" name="Picture 5" descr="image.png"/>
          <p:cNvPicPr>
            <a:picLocks noChangeAspect="1"/>
          </p:cNvPicPr>
          <p:nvPr/>
        </p:nvPicPr>
        <p:blipFill>
          <a:blip r:embed="rId3"/>
          <a:stretch>
            <a:fillRect/>
          </a:stretch>
        </p:blipFill>
        <p:spPr>
          <a:xfrm>
            <a:off x="609600" y="1549995"/>
            <a:ext cx="1438275" cy="238125"/>
          </a:xfrm>
          <a:prstGeom prst="rect">
            <a:avLst/>
          </a:prstGeom>
        </p:spPr>
      </p:pic>
      <p:sp>
        <p:nvSpPr>
          <p:cNvPr id="7" name="TextBox 6"/>
          <p:cNvSpPr txBox="1"/>
          <p:nvPr/>
        </p:nvSpPr>
        <p:spPr>
          <a:xfrm>
            <a:off x="609600" y="1827510"/>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g(n)</a:t>
            </a:r>
            <a:r>
              <a:rPr sz="1050" b="0" i="0">
                <a:solidFill>
                  <a:srgbClr val="16213A"/>
                </a:solidFill>
                <a:latin typeface="Arial"/>
                <a:ea typeface="Malgun Gothic"/>
                <a:cs typeface="Malgun Gothic"/>
              </a:rPr>
              <a:t>은 시작점에서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까지 실제로 쌓인 비용, </a:t>
            </a:r>
            <a:r>
              <a:rPr sz="1050" b="0" i="1">
                <a:solidFill>
                  <a:srgbClr val="16213A"/>
                </a:solidFill>
                <a:latin typeface="Arial"/>
                <a:ea typeface="Malgun Gothic"/>
                <a:cs typeface="Malgun Gothic"/>
              </a:rPr>
              <a:t>h(n)</a:t>
            </a:r>
            <a:r>
              <a:rPr sz="1050" b="0" i="0">
                <a:solidFill>
                  <a:srgbClr val="16213A"/>
                </a:solidFill>
                <a:latin typeface="Arial"/>
                <a:ea typeface="Malgun Gothic"/>
                <a:cs typeface="Malgun Gothic"/>
              </a:rPr>
              <a:t>은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에서 목표까지 남은 비용의 </a:t>
            </a:r>
            <a:r>
              <a:rPr sz="1050" b="1" i="0">
                <a:solidFill>
                  <a:srgbClr val="16213A"/>
                </a:solidFill>
                <a:latin typeface="Arial"/>
                <a:ea typeface="Malgun Gothic"/>
                <a:cs typeface="Malgun Gothic"/>
              </a:rPr>
              <a:t>추정</a:t>
            </a:r>
            <a:r>
              <a:rPr sz="1050" b="0" i="0">
                <a:solidFill>
                  <a:srgbClr val="16213A"/>
                </a:solidFill>
                <a:latin typeface="Arial"/>
                <a:ea typeface="Malgun Gothic"/>
                <a:cs typeface="Malgun Gothic"/>
              </a:rPr>
              <a:t>(휴리스틱)이다.</a:t>
            </a:r>
          </a:p>
        </p:txBody>
      </p:sp>
      <p:sp>
        <p:nvSpPr>
          <p:cNvPr id="8" name="TextBox 7"/>
          <p:cNvSpPr txBox="1"/>
          <p:nvPr/>
        </p:nvSpPr>
        <p:spPr>
          <a:xfrm>
            <a:off x="609600" y="213290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Dijkstra는 </a:t>
            </a:r>
            <a:r>
              <a:rPr sz="1050" b="0" i="1">
                <a:solidFill>
                  <a:srgbClr val="16213A"/>
                </a:solidFill>
                <a:latin typeface="Arial"/>
                <a:ea typeface="Malgun Gothic"/>
                <a:cs typeface="Malgun Gothic"/>
              </a:rPr>
              <a:t>h = 0</a:t>
            </a:r>
            <a:r>
              <a:rPr sz="1050" b="0" i="0">
                <a:solidFill>
                  <a:srgbClr val="16213A"/>
                </a:solidFill>
                <a:latin typeface="Arial"/>
                <a:ea typeface="Malgun Gothic"/>
                <a:cs typeface="Malgun Gothic"/>
              </a:rPr>
              <a:t>인 A*다. 목표 방향을 모르고 모든 방향으로 고르게 퍼진다. 좋은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를 주면 목표 쪽 노드를 먼저 펼쳐 탐색 노드 수가 크게 준다. 발 디딤처럼 노드(자세 조합)가 폭발하는 문제에서는 이 차이가 실시간 가능 여부를 가른다.</a:t>
            </a:r>
          </a:p>
        </p:txBody>
      </p:sp>
      <p:sp>
        <p:nvSpPr>
          <p:cNvPr id="9" name="TextBox 8"/>
          <p:cNvSpPr txBox="1"/>
          <p:nvPr/>
        </p:nvSpPr>
        <p:spPr>
          <a:xfrm>
            <a:off x="609600" y="265479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허용성과 일관성.</a:t>
            </a:r>
            <a:r>
              <a:rPr sz="1050" b="0" i="0">
                <a:solidFill>
                  <a:srgbClr val="16213A"/>
                </a:solidFill>
                <a:latin typeface="Arial"/>
                <a:ea typeface="Malgun Gothic"/>
                <a:cs typeface="Malgun Gothic"/>
              </a:rPr>
              <a:t> 휴리스틱이 </a:t>
            </a:r>
            <a:r>
              <a:rPr sz="1050" b="1" i="0">
                <a:solidFill>
                  <a:srgbClr val="16213A"/>
                </a:solidFill>
                <a:latin typeface="Arial"/>
                <a:ea typeface="Malgun Gothic"/>
                <a:cs typeface="Malgun Gothic"/>
              </a:rPr>
              <a:t>허용(admissible)</a:t>
            </a:r>
            <a:r>
              <a:rPr sz="1050" b="0" i="0">
                <a:solidFill>
                  <a:srgbClr val="16213A"/>
                </a:solidFill>
                <a:latin typeface="Arial"/>
                <a:ea typeface="Malgun Gothic"/>
                <a:cs typeface="Malgun Gothic"/>
              </a:rPr>
              <a:t>하다는 것은 실제 남은 최소 비용 </a:t>
            </a:r>
            <a:r>
              <a:rPr sz="1050" b="0" i="1">
                <a:solidFill>
                  <a:srgbClr val="16213A"/>
                </a:solidFill>
                <a:latin typeface="Arial"/>
                <a:ea typeface="Malgun Gothic"/>
                <a:cs typeface="Malgun Gothic"/>
              </a:rPr>
              <a:t>h*(n)</a:t>
            </a:r>
            <a:r>
              <a:rPr sz="1050" b="0" i="0">
                <a:solidFill>
                  <a:srgbClr val="16213A"/>
                </a:solidFill>
                <a:latin typeface="Arial"/>
                <a:ea typeface="Malgun Gothic"/>
                <a:cs typeface="Malgun Gothic"/>
              </a:rPr>
              <a:t>을 절대 넘지 않는다는 뜻이다. 그러면 A*가 찾은 경로는 최적이다. </a:t>
            </a:r>
            <a:r>
              <a:rPr sz="1050" b="1" i="0">
                <a:solidFill>
                  <a:srgbClr val="16213A"/>
                </a:solidFill>
                <a:latin typeface="Arial"/>
                <a:ea typeface="Malgun Gothic"/>
                <a:cs typeface="Malgun Gothic"/>
              </a:rPr>
              <a:t>일관(consistent)</a:t>
            </a:r>
            <a:r>
              <a:rPr sz="1050" b="0" i="0">
                <a:solidFill>
                  <a:srgbClr val="16213A"/>
                </a:solidFill>
                <a:latin typeface="Arial"/>
                <a:ea typeface="Malgun Gothic"/>
                <a:cs typeface="Malgun Gothic"/>
              </a:rPr>
              <a:t>하다는 것은 모든 간선 </a:t>
            </a:r>
            <a:r>
              <a:rPr sz="1050" b="0" i="1">
                <a:solidFill>
                  <a:srgbClr val="16213A"/>
                </a:solidFill>
                <a:latin typeface="Arial"/>
                <a:ea typeface="Malgun Gothic"/>
                <a:cs typeface="Malgun Gothic"/>
              </a:rPr>
              <a:t>(n, n')</a:t>
            </a:r>
            <a:r>
              <a:rPr sz="1050" b="0" i="0">
                <a:solidFill>
                  <a:srgbClr val="16213A"/>
                </a:solidFill>
                <a:latin typeface="Arial"/>
                <a:ea typeface="Malgun Gothic"/>
                <a:cs typeface="Malgun Gothic"/>
              </a:rPr>
              <a:t>에서 삼각 부등식이 성립한다는 뜻이다. 일관성이 있으면 허용성도 있고, 한 번 닫은 노드를 다시 열 일이 없다.</a:t>
            </a:r>
          </a:p>
        </p:txBody>
      </p:sp>
      <p:pic>
        <p:nvPicPr>
          <p:cNvPr id="10" name="Picture 9" descr="image.png"/>
          <p:cNvPicPr>
            <a:picLocks noChangeAspect="1"/>
          </p:cNvPicPr>
          <p:nvPr/>
        </p:nvPicPr>
        <p:blipFill>
          <a:blip r:embed="rId4"/>
          <a:stretch>
            <a:fillRect/>
          </a:stretch>
        </p:blipFill>
        <p:spPr>
          <a:xfrm>
            <a:off x="609600" y="3176687"/>
            <a:ext cx="4270375" cy="241300"/>
          </a:xfrm>
          <a:prstGeom prst="rect">
            <a:avLst/>
          </a:prstGeom>
        </p:spPr>
      </p:pic>
      <p:sp>
        <p:nvSpPr>
          <p:cNvPr id="11" name="TextBox 10"/>
          <p:cNvSpPr txBox="1"/>
          <p:nvPr/>
        </p:nvSpPr>
        <p:spPr>
          <a:xfrm>
            <a:off x="609600" y="345420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간선 비용이 유클리드 거리이면 목표까지의 직선거리는 일관된 휴리스틱이다. 어떤 경로도 직선보다 짧을 수 없기 때문이다.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에 1보다 큰 가중치를 곱하면(weighted A*) 더 빨라지지만 최적성은 그 배수 이내로만 보장된다.</a:t>
            </a:r>
          </a:p>
        </p:txBody>
      </p:sp>
      <p:sp>
        <p:nvSpPr>
          <p:cNvPr id="12" name="TextBox 11"/>
          <p:cNvSpPr txBox="1"/>
          <p:nvPr/>
        </p:nvSpPr>
        <p:spPr>
          <a:xfrm>
            <a:off x="609600" y="397609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격자에서 시작 (0,0), 목표 (4,0), 한 칸 비용 1이다. (1,0)은 </a:t>
            </a:r>
            <a:r>
              <a:rPr sz="1050" b="0" i="1">
                <a:solidFill>
                  <a:srgbClr val="16213A"/>
                </a:solidFill>
                <a:latin typeface="Arial"/>
                <a:ea typeface="Malgun Gothic"/>
                <a:cs typeface="Malgun Gothic"/>
              </a:rPr>
              <a:t>g = 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h = 3</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f = 4</a:t>
            </a:r>
            <a:r>
              <a:rPr sz="1050" b="0" i="0">
                <a:solidFill>
                  <a:srgbClr val="16213A"/>
                </a:solidFill>
                <a:latin typeface="Arial"/>
                <a:ea typeface="Malgun Gothic"/>
                <a:cs typeface="Malgun Gothic"/>
              </a:rPr>
              <a:t>이고, 반대쪽 (−1,0)은 </a:t>
            </a:r>
            <a:r>
              <a:rPr sz="1050" b="0" i="1">
                <a:solidFill>
                  <a:srgbClr val="16213A"/>
                </a:solidFill>
                <a:latin typeface="Arial"/>
                <a:ea typeface="Malgun Gothic"/>
                <a:cs typeface="Malgun Gothic"/>
              </a:rPr>
              <a:t>g = 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h = 5</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f = 6</a:t>
            </a:r>
            <a:r>
              <a:rPr sz="1050" b="0" i="0">
                <a:solidFill>
                  <a:srgbClr val="16213A"/>
                </a:solidFill>
                <a:latin typeface="Arial"/>
                <a:ea typeface="Malgun Gothic"/>
                <a:cs typeface="Malgun Gothic"/>
              </a:rPr>
              <a:t>이다. A*는 (1,0)부터 펼친다. Dijkstra는 둘을 같은 순위로 본다.</a:t>
            </a:r>
          </a:p>
        </p:txBody>
      </p:sp>
      <p:sp>
        <p:nvSpPr>
          <p:cNvPr id="13" name="TextBox 12"/>
          <p:cNvSpPr txBox="1"/>
          <p:nvPr/>
        </p:nvSpPr>
        <p:spPr>
          <a:xfrm>
            <a:off x="609600" y="449798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발 디딤 그래프.</a:t>
            </a:r>
            <a:r>
              <a:rPr sz="1050" b="0" i="0">
                <a:solidFill>
                  <a:srgbClr val="16213A"/>
                </a:solidFill>
                <a:latin typeface="Arial"/>
                <a:ea typeface="Malgun Gothic"/>
                <a:cs typeface="Malgun Gothic"/>
              </a:rPr>
              <a:t> 다리 로봇의 계획 노드는 위치 하나가 아니라 </a:t>
            </a:r>
            <a:r>
              <a:rPr sz="1050" b="1" i="0">
                <a:solidFill>
                  <a:srgbClr val="16213A"/>
                </a:solidFill>
                <a:latin typeface="Arial"/>
                <a:ea typeface="Malgun Gothic"/>
                <a:cs typeface="Malgun Gothic"/>
              </a:rPr>
              <a:t>어느 발이 어느 발판에 있나</a:t>
            </a:r>
            <a:r>
              <a:rPr sz="1050" b="0" i="0">
                <a:solidFill>
                  <a:srgbClr val="16213A"/>
                </a:solidFill>
                <a:latin typeface="Arial"/>
                <a:ea typeface="Malgun Gothic"/>
                <a:cs typeface="Malgun Gothic"/>
              </a:rPr>
              <a:t>다. QuadPiPS는 일부 발만 닿은 부분 자세(접촉 모드 족)를 노드로, 모든 발이 닿은 자세를 간선으로 둔다. 노드 후보가 조합적으로 많으므로 그래프를 미리 만들지 않고, A*가 노드를 꺼낼 때만 도달 가능·자세 안정 제약을 통과한 이웃을 만든다(lazy expansion). QuadPiPS의 간선 가중치와 휴리스틱은 모두 명목 몸통 위치 사이 유클리드 거리다. 이 조합은 삼각 부등식으로 일관적이라 몸통 이동 거리 기준 최적 순서를 준다(우리 해석이며, 논문은 "유클리드 휴리스틱만 쓴다"고만 적었다).</a:t>
            </a:r>
          </a:p>
        </p:txBody>
      </p:sp>
      <p:sp>
        <p:nvSpPr>
          <p:cNvPr id="14" name="TextBox 13"/>
          <p:cNvSpPr txBox="1"/>
          <p:nvPr/>
        </p:nvSpPr>
        <p:spPr>
          <a:xfrm>
            <a:off x="609600" y="523636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 쓰는 곳.</a:t>
            </a:r>
            <a:r>
              <a:rPr sz="1050" b="0" i="0">
                <a:solidFill>
                  <a:srgbClr val="16213A"/>
                </a:solidFill>
                <a:latin typeface="Arial"/>
                <a:ea typeface="Malgun Gothic"/>
                <a:cs typeface="Malgun Gothic"/>
              </a:rPr>
              <a:t> QuadPiPS가 몸통 경로와 발 디딤 순서를 A*로 찾는다. travplan의 </a:t>
            </a:r>
            <a:r>
              <a:rPr sz="1050" b="0" i="0">
                <a:solidFill>
                  <a:srgbClr val="16213A"/>
                </a:solidFill>
                <a:latin typeface="Consolas"/>
                <a:ea typeface="Malgun Gothic"/>
                <a:cs typeface="Malgun Gothic"/>
              </a:rPr>
              <a:t>GuidancePlanner</a:t>
            </a:r>
            <a:r>
              <a:rPr sz="1050" b="0" i="0">
                <a:solidFill>
                  <a:srgbClr val="16213A"/>
                </a:solidFill>
                <a:latin typeface="Arial"/>
                <a:ea typeface="Malgun Gothic"/>
                <a:cs typeface="Malgun Gothic"/>
              </a:rPr>
              <a:t>는 목표에서 Dijkstra로 cost-to-go 장을 만든다. 이 cost-to-go는 그대로 Planner D나 다른 탐색의 허용 휴리스틱으로 쓸 수 있다(같은 비용으로 계산했으면 정확한 남은 비용이다).</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평면 분할과 볼록 영역 분해 — 울퉁불퉁한 지형을 "발을 놓을 수 있는 평평한 다각형" 목록으로 바꾼다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276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지형(높이 지도, 점군, 깊이 영상)을 거의 평평한 조각들로 나누고(평면 분할), 각 조각을 볼록 다각형으로 다듬는(볼록 분해) 과정이다. 결과는 "평면 자세 + 경계 꼭짓점 목록"의 집합이다.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발 디딤 최적화는 "발이 이 영역 안에 있다"를 제약으로 넣어야 한다. 영역이 </a:t>
            </a:r>
            <a:r>
              <a:rPr sz="1050" b="1" i="0">
                <a:solidFill>
                  <a:srgbClr val="16213A"/>
                </a:solidFill>
                <a:latin typeface="Arial"/>
                <a:ea typeface="Malgun Gothic"/>
                <a:cs typeface="Malgun Gothic"/>
              </a:rPr>
              <a:t>볼록</a:t>
            </a:r>
            <a:r>
              <a:rPr sz="1050" b="0" i="0">
                <a:solidFill>
                  <a:srgbClr val="16213A"/>
                </a:solidFill>
                <a:latin typeface="Arial"/>
                <a:ea typeface="Malgun Gothic"/>
                <a:cs typeface="Malgun Gothic"/>
              </a:rPr>
              <a:t>이면 이 제약이 선형 부등식 몇 개 </a:t>
            </a:r>
            <a:r>
              <a:rPr sz="1050" b="0" i="1">
                <a:solidFill>
                  <a:srgbClr val="16213A"/>
                </a:solidFill>
                <a:latin typeface="Arial"/>
                <a:ea typeface="Malgun Gothic"/>
                <a:cs typeface="Malgun Gothic"/>
              </a:rPr>
              <a:t>Ap ≤ b</a:t>
            </a:r>
            <a:r>
              <a:rPr sz="1050" b="0" i="0">
                <a:solidFill>
                  <a:srgbClr val="16213A"/>
                </a:solidFill>
                <a:latin typeface="Arial"/>
                <a:ea typeface="Malgun Gothic"/>
                <a:cs typeface="Malgun Gothic"/>
              </a:rPr>
              <a:t> (변마다 반공간 하나)로 쓰여 최적화가 쉽다. 볼록이 아니면 발이 오목한 틈으로 빠지는 해를 막기 어렵다.</a:t>
            </a:r>
          </a:p>
        </p:txBody>
      </p:sp>
      <p:sp>
        <p:nvSpPr>
          <p:cNvPr id="7" name="TextBox 6"/>
          <p:cNvSpPr txBox="1"/>
          <p:nvPr/>
        </p:nvSpPr>
        <p:spPr>
          <a:xfrm>
            <a:off x="609600" y="20718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동작하나.</a:t>
            </a:r>
          </a:p>
        </p:txBody>
      </p:sp>
      <p:sp>
        <p:nvSpPr>
          <p:cNvPr id="8" name="TextBox 7"/>
          <p:cNvSpPr txBox="1"/>
          <p:nvPr/>
        </p:nvSpPr>
        <p:spPr>
          <a:xfrm>
            <a:off x="609600" y="2377281"/>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평면 맞추기.</a:t>
            </a:r>
            <a:r>
              <a:rPr sz="1050" b="0" i="0">
                <a:solidFill>
                  <a:srgbClr val="16213A"/>
                </a:solidFill>
                <a:latin typeface="Arial"/>
                <a:ea typeface="Malgun Gothic"/>
                <a:cs typeface="Malgun Gothic"/>
              </a:rPr>
              <a:t> 점 집합에 평면 </a:t>
            </a:r>
            <a:r>
              <a:rPr sz="1050" b="0" i="1">
                <a:solidFill>
                  <a:srgbClr val="16213A"/>
                </a:solidFill>
                <a:latin typeface="Arial"/>
                <a:ea typeface="Malgun Gothic"/>
                <a:cs typeface="Malgun Gothic"/>
              </a:rPr>
              <a:t>nᵀ p = d</a:t>
            </a:r>
            <a:r>
              <a:rPr sz="1050" b="0" i="0">
                <a:solidFill>
                  <a:srgbClr val="16213A"/>
                </a:solidFill>
                <a:latin typeface="Arial"/>
                <a:ea typeface="Malgun Gothic"/>
                <a:cs typeface="Malgun Gothic"/>
              </a:rPr>
              <a:t>를 맞춘다. 최소제곱 해의 법선은 점들 공분산 행렬의 가장 작은 고유값의 고유벡터다. 이상치가 있으면 RANSAC(점 3개로 평면 가설 → 가까운 점 수 세기 → 반복)을 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분할.</a:t>
            </a:r>
            <a:r>
              <a:rPr sz="1050" b="0" i="0">
                <a:solidFill>
                  <a:srgbClr val="16213A"/>
                </a:solidFill>
                <a:latin typeface="Arial"/>
                <a:ea typeface="Malgun Gothic"/>
                <a:cs typeface="Malgun Gothic"/>
              </a:rPr>
              <a:t> 영역 성장(이웃 셀의 법선 각도·평면 거리가 문턱 안이면 합침), 연결 요소 라벨링, 또는 superpixel 같은 군집화로 조각을 만든다. 점과 평면 사이 거리 </a:t>
            </a:r>
            <a:r>
              <a:rPr sz="1050" b="0" i="1">
                <a:solidFill>
                  <a:srgbClr val="16213A"/>
                </a:solidFill>
                <a:latin typeface="Arial"/>
                <a:ea typeface="Malgun Gothic"/>
                <a:cs typeface="Malgun Gothic"/>
              </a:rPr>
              <a:t>|(p - p₀) · n|</a:t>
            </a:r>
            <a:r>
              <a:rPr sz="1050" b="0" i="0">
                <a:solidFill>
                  <a:srgbClr val="16213A"/>
                </a:solidFill>
                <a:latin typeface="Arial"/>
                <a:ea typeface="Malgun Gothic"/>
                <a:cs typeface="Malgun Gothic"/>
              </a:rPr>
              <a:t>와 법선 차이 </a:t>
            </a:r>
            <a:r>
              <a:rPr sz="1050" b="0" i="1">
                <a:solidFill>
                  <a:srgbClr val="16213A"/>
                </a:solidFill>
                <a:latin typeface="Arial"/>
                <a:ea typeface="Malgun Gothic"/>
                <a:cs typeface="Malgun Gothic"/>
              </a:rPr>
              <a:t>1 - n₁ · n₂</a:t>
            </a:r>
            <a:r>
              <a:rPr sz="1050" b="0" i="0">
                <a:solidFill>
                  <a:srgbClr val="16213A"/>
                </a:solidFill>
                <a:latin typeface="Arial"/>
                <a:ea typeface="Malgun Gothic"/>
                <a:cs typeface="Malgun Gothic"/>
              </a:rPr>
              <a:t>가 흔한 기준이다.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볼록 껍질.</a:t>
            </a:r>
            <a:r>
              <a:rPr sz="1050" b="0" i="0">
                <a:solidFill>
                  <a:srgbClr val="16213A"/>
                </a:solidFill>
                <a:latin typeface="Arial"/>
                <a:ea typeface="Malgun Gothic"/>
                <a:cs typeface="Malgun Gothic"/>
              </a:rPr>
              <a:t> 조각의 점을 평면에 투영해 2D로 만들고 Graham scan(</a:t>
            </a:r>
            <a:r>
              <a:rPr sz="1050" b="0" i="1">
                <a:solidFill>
                  <a:srgbClr val="16213A"/>
                </a:solidFill>
                <a:latin typeface="Arial"/>
                <a:ea typeface="Malgun Gothic"/>
                <a:cs typeface="Malgun Gothic"/>
              </a:rPr>
              <a:t>O(n log n)</a:t>
            </a:r>
            <a:r>
              <a:rPr sz="1050" b="0" i="0">
                <a:solidFill>
                  <a:srgbClr val="16213A"/>
                </a:solidFill>
                <a:latin typeface="Arial"/>
                <a:ea typeface="Malgun Gothic"/>
                <a:cs typeface="Malgun Gothic"/>
              </a:rPr>
              <a:t>)으로 볼록 껍질을 구한다. 오목한 조각은 여러 볼록 조각으로 쪼개거나 안쪽으로 줄인다.</a:t>
            </a:r>
          </a:p>
        </p:txBody>
      </p:sp>
      <p:sp>
        <p:nvSpPr>
          <p:cNvPr id="9" name="TextBox 8"/>
          <p:cNvSpPr txBox="1"/>
          <p:nvPr/>
        </p:nvSpPr>
        <p:spPr>
          <a:xfrm>
            <a:off x="609600" y="359945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폭 20 cm 계단 발판 위 점들은 법선이 거의 수직이고 평면 거리가 1 cm 안이라 한 조각이 된다. 수직 챌면 점들은 법선이 수평이라 떨어져 나간다. 발판 조각을 투영해 볼록 껍질을 구하면 20 cm 폭 직사각형이 되고, 이 네 변이 발 위치의 부등식 4개가 된다.</a:t>
            </a:r>
          </a:p>
        </p:txBody>
      </p:sp>
      <p:sp>
        <p:nvSpPr>
          <p:cNvPr id="10" name="TextBox 9"/>
          <p:cNvSpPr txBox="1"/>
          <p:nvPr/>
        </p:nvSpPr>
        <p:spPr>
          <a:xfrm>
            <a:off x="609600" y="412134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 쓰는 곳.</a:t>
            </a:r>
            <a:r>
              <a:rPr sz="1050" b="0" i="0">
                <a:solidFill>
                  <a:srgbClr val="16213A"/>
                </a:solidFill>
                <a:latin typeface="Arial"/>
                <a:ea typeface="Malgun Gothic"/>
                <a:cs typeface="Malgun Gothic"/>
              </a:rPr>
              <a:t> QuadPiPS는 법선이 기운 픽셀과 밟을 수 없는 픽셀을 먼저 지우고, superpixel 조각을 평면에 투영해 Graham scan으로 볼록하게 만든다. 비교 기준선 EM-MPC는 elevation map에서 연결 요소 라벨링과 윤곽 추출로 평면 영역을 만든다. travplan은 발이 아니라 바퀴라 이 목록이 필요 없고, </a:t>
            </a:r>
            <a:r>
              <a:rPr sz="1050" b="0" i="0">
                <a:solidFill>
                  <a:srgbClr val="16213A"/>
                </a:solidFill>
                <a:latin typeface="Consolas"/>
                <a:ea typeface="Malgun Gothic"/>
                <a:cs typeface="Malgun Gothic"/>
              </a:rPr>
              <a:t>TravMap</a:t>
            </a:r>
            <a:r>
              <a:rPr sz="1050" b="0" i="0">
                <a:solidFill>
                  <a:srgbClr val="16213A"/>
                </a:solidFill>
                <a:latin typeface="Arial"/>
                <a:ea typeface="Malgun Gothic"/>
                <a:cs typeface="Malgun Gothic"/>
              </a:rPr>
              <a:t>의 slope·step 채널이 같은 정보를 격자로 담는다.</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277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바로 가져다 볼 코드.</a:t>
            </a:r>
          </a:p>
        </p:txBody>
      </p:sp>
      <p:sp>
        <p:nvSpPr>
          <p:cNvPr id="6" name="TextBox 5"/>
          <p:cNvSpPr txBox="1"/>
          <p:nvPr/>
        </p:nvSpPr>
        <p:spPr>
          <a:xfrm>
            <a:off x="609600" y="1549995"/>
            <a:ext cx="10972800" cy="15916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D4ED8"/>
                </a:solidFill>
                <a:latin typeface="Consolas"/>
                <a:ea typeface="Malgun Gothic"/>
                <a:cs typeface="Malgun Gothic"/>
                <a:hlinkClick r:id="rId3"/>
              </a:rPr>
              <a:t>leggedrobotics/traversability_estimation</a:t>
            </a:r>
            <a:r>
              <a:rPr sz="1050" b="0" i="0">
                <a:solidFill>
                  <a:srgbClr val="16213A"/>
                </a:solidFill>
                <a:latin typeface="Arial"/>
                <a:ea typeface="Malgun Gothic"/>
                <a:cs typeface="Malgun Gothic"/>
              </a:rPr>
              <a:t> — elevation map(grid_map)을 받아 법선·경사·거칠기·턱 높이 필터만으로 비용 레이어를 만든다. </a:t>
            </a:r>
            <a:r>
              <a:rPr sz="1050" b="0" i="0">
                <a:solidFill>
                  <a:srgbClr val="16213A"/>
                </a:solidFill>
                <a:latin typeface="Consolas"/>
                <a:ea typeface="Malgun Gothic"/>
                <a:cs typeface="Malgun Gothic"/>
              </a:rPr>
              <a:t>elevation_mapping_gpu_ros2</a:t>
            </a:r>
            <a:r>
              <a:rPr sz="1050" b="0" i="0">
                <a:solidFill>
                  <a:srgbClr val="16213A"/>
                </a:solidFill>
                <a:latin typeface="Arial"/>
                <a:ea typeface="Malgun Gothic"/>
                <a:cs typeface="Malgun Gothic"/>
              </a:rPr>
              <a:t>(TP-0008) 다음 단계의 </a:t>
            </a:r>
            <a:r>
              <a:rPr sz="1050" b="1" i="0">
                <a:solidFill>
                  <a:srgbClr val="16213A"/>
                </a:solidFill>
                <a:latin typeface="Arial"/>
                <a:ea typeface="Malgun Gothic"/>
                <a:cs typeface="Malgun Gothic"/>
              </a:rPr>
              <a:t>비학습 기준선</a:t>
            </a:r>
            <a:r>
              <a:rPr sz="1050" b="0" i="0">
                <a:solidFill>
                  <a:srgbClr val="16213A"/>
                </a:solidFill>
                <a:latin typeface="Arial"/>
                <a:ea typeface="Malgun Gothic"/>
                <a:cs typeface="Malgun Gothic"/>
              </a:rPr>
              <a:t>이다.</a:t>
            </a:r>
          </a:p>
          <a:p>
            <a:pPr>
              <a:spcBef>
                <a:spcPts val="200"/>
              </a:spcBef>
            </a:pPr>
            <a:r>
              <a:rPr sz="1050" b="0" i="0">
                <a:solidFill>
                  <a:srgbClr val="5A6478"/>
                </a:solidFill>
                <a:latin typeface="Arial"/>
                <a:ea typeface="Malgun Gothic"/>
                <a:cs typeface="Malgun Gothic"/>
              </a:rPr>
              <a:t>• </a:t>
            </a:r>
            <a:r>
              <a:rPr sz="1050" b="0" i="0">
                <a:solidFill>
                  <a:srgbClr val="1D4ED8"/>
                </a:solidFill>
                <a:latin typeface="Consolas"/>
                <a:ea typeface="Malgun Gothic"/>
                <a:cs typeface="Malgun Gothic"/>
                <a:hlinkClick r:id="rId4"/>
              </a:rPr>
              <a:t>ETH-PBL/elmap-rl-controller</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elevation_mapping_cupy</a:t>
            </a:r>
            <a:r>
              <a:rPr sz="1050" b="0" i="0">
                <a:solidFill>
                  <a:srgbClr val="16213A"/>
                </a:solidFill>
                <a:latin typeface="Arial"/>
                <a:ea typeface="Malgun Gothic"/>
                <a:cs typeface="Malgun Gothic"/>
              </a:rPr>
              <a:t> 위에 지은 Jetson급 RL 보행 제어기. travplan이 검증한 GPU elevation mapping 바로 위 계층의 실사용 예다.</a:t>
            </a:r>
          </a:p>
          <a:p>
            <a:pPr>
              <a:spcBef>
                <a:spcPts val="200"/>
              </a:spcBef>
            </a:pPr>
            <a:r>
              <a:rPr sz="1050" b="0" i="0">
                <a:solidFill>
                  <a:srgbClr val="5A6478"/>
                </a:solidFill>
                <a:latin typeface="Arial"/>
                <a:ea typeface="Malgun Gothic"/>
                <a:cs typeface="Malgun Gothic"/>
              </a:rPr>
              <a:t>• </a:t>
            </a:r>
            <a:r>
              <a:rPr sz="1050" b="0" i="0">
                <a:solidFill>
                  <a:srgbClr val="1D4ED8"/>
                </a:solidFill>
                <a:latin typeface="Consolas"/>
                <a:ea typeface="Malgun Gothic"/>
                <a:cs typeface="Malgun Gothic"/>
                <a:hlinkClick r:id="rId5"/>
              </a:rPr>
              <a:t>jizhang-cmu/autonomy_stack_go2</a:t>
            </a:r>
            <a:r>
              <a:rPr sz="1050" b="0" i="0">
                <a:solidFill>
                  <a:srgbClr val="16213A"/>
                </a:solidFill>
                <a:latin typeface="Arial"/>
                <a:ea typeface="Malgun Gothic"/>
                <a:cs typeface="Malgun Gothic"/>
              </a:rPr>
              <a:t> — Go2 내장 L1 LiDAR와 IMU만으로 Point-LIO SLAM, 지형 traversability 필터, 충돌 회피, waypoint 내비까지 전체 스택을 구현했다(실제 Go2 EDU).</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데이터셋은 </a:t>
            </a:r>
            <a:r>
              <a:rPr sz="1050" b="0" i="0">
                <a:solidFill>
                  <a:srgbClr val="1D4ED8"/>
                </a:solidFill>
                <a:latin typeface="Consolas"/>
                <a:ea typeface="Malgun Gothic"/>
                <a:cs typeface="Malgun Gothic"/>
                <a:hlinkClick r:id="rId6"/>
              </a:rPr>
              <a:t>leggedrobotics/grand_tour_dataset</a:t>
            </a:r>
            <a:r>
              <a:rPr sz="1050" b="0" i="0">
                <a:solidFill>
                  <a:srgbClr val="16213A"/>
                </a:solidFill>
                <a:latin typeface="Arial"/>
                <a:ea typeface="Malgun Gothic"/>
                <a:cs typeface="Malgun Gothic"/>
              </a:rPr>
              <a:t>(ANYmal-D, LiDAR·RGB· 스테레오·RTK-GNSS, 실제 주행 49회, RSS 2025)이 사실상 유일한 원시 멀티모달 데이터다. HuggingFace에 학습된 인식 모델은 거의 없다.</a:t>
            </a:r>
          </a:p>
        </p:txBody>
      </p:sp>
      <p:pic>
        <p:nvPicPr>
          <p:cNvPr id="7" name="Picture 6" descr="image.png"/>
          <p:cNvPicPr>
            <a:picLocks noChangeAspect="1"/>
          </p:cNvPicPr>
          <p:nvPr/>
        </p:nvPicPr>
        <p:blipFill>
          <a:blip r:embed="rId7"/>
          <a:stretch>
            <a:fillRect/>
          </a:stretch>
        </p:blipFill>
        <p:spPr>
          <a:xfrm>
            <a:off x="3657600" y="3230562"/>
            <a:ext cx="4876800" cy="2743200"/>
          </a:xfrm>
          <a:prstGeom prst="rect">
            <a:avLst/>
          </a:prstGeom>
        </p:spPr>
      </p:pic>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278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비교</a:t>
            </a:r>
          </a:p>
        </p:txBody>
      </p:sp>
      <p:graphicFrame>
        <p:nvGraphicFramePr>
          <p:cNvPr id="6" name="Table 5"/>
          <p:cNvGraphicFramePr>
            <a:graphicFrameLocks noGrp="1"/>
          </p:cNvGraphicFramePr>
          <p:nvPr/>
        </p:nvGraphicFramePr>
        <p:xfrm>
          <a:off x="609600" y="1547812"/>
          <a:ext cx="10966450" cy="2454432"/>
        </p:xfrm>
        <a:graphic>
          <a:graphicData uri="http://schemas.openxmlformats.org/drawingml/2006/table">
            <a:tbl>
              <a:tblPr firstRow="1" bandRow="1">
                <a:tableStyleId>{5C22544A-7EE6-4342-B048-85BDC9FD1C3A}</a:tableStyleId>
              </a:tblPr>
              <a:tblGrid>
                <a:gridCol w="1271488"/>
                <a:gridCol w="4355009"/>
                <a:gridCol w="2614414"/>
                <a:gridCol w="1681361"/>
                <a:gridCol w="1044178"/>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센서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실제 하드웨어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blind 보행(Lee 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관절 인코더 + IMU</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관절·IMU 이력으로 지형을 암묵 추론, 미리 보지 못함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ANYmal 진흙·눈·잔해</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KAIST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Boston Dynamics Spot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스테레오 깊이 5쌍 + IMU + 다리 센서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기하 SLAM + 학습 계단 분류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출시 제품(일부는 벤더 발표)</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BD</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ANYbotics ANYmal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360° LiDAR + 깊이 카메라 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융합 후 신경망으로 지도·발 디딤·이상 감지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산업 현장</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ANYbotics</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Unitree Go2/B2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4D LiDAR L1 + D435i(Go2, 지금 공식 페이지는 LiDAR L2와 EDU 판 깊이 카메라), 3D LiDAR + 깊이 2(B2)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온보드 Jetson급 SLAM + 인식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EDU 다수</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스펙</a:t>
                      </a:r>
                      <a:r>
                        <a:rPr sz="800" b="0" i="0">
                          <a:solidFill>
                            <a:srgbClr val="16213A"/>
                          </a:solidFill>
                          <a:latin typeface="Arial"/>
                          <a:ea typeface="Malgun Gothic"/>
                          <a:cs typeface="Malgun Gothic"/>
                        </a:rPr>
                        <a:t> · </a:t>
                      </a:r>
                      <a:r>
                        <a:rPr sz="800" b="0" i="0">
                          <a:solidFill>
                            <a:srgbClr val="1D4ED8"/>
                          </a:solidFill>
                          <a:latin typeface="Arial"/>
                          <a:ea typeface="Malgun Gothic"/>
                          <a:cs typeface="Malgun Gothic"/>
                          <a:hlinkClick r:id="rId7"/>
                        </a:rPr>
                        <a:t>Go2 공식</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Wild Visual Navigation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 + 고유감각(속도 추종 오차)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고정 DINO 특징 + 온라인 자기지도 헤드, 5분 적응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ANYmal 현장</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Springer</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QuadPiPS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전방 깊이 카메라 1대(elevation map 대신 egocan)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시맨틱 affordance로 발 디딤 계획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시뮬(ANYmal C) 위주 + Go2 실물 시연</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arXiv:2501.00112</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Stop to Decide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IMU + 1D 거리 3 + 단안 카메라(선 추적), 발 힘 4채널은 기록만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지도 없이 지연을 고려한(latency-aware) proprioception 내비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실제</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arXiv:2607.11204</a:t>
                      </a:r>
                    </a:p>
                  </a:txBody>
                  <a:tcPr marL="63500" marR="63500" marT="12700" marB="12700">
                    <a:solidFill>
                      <a:srgbClr val="FFFDF8"/>
                    </a:solidFill>
                  </a:tcPr>
                </a:tc>
              </a:tr>
              <a:tr h="317976">
                <a:tc>
                  <a:txBody>
                    <a:bodyPr wrap="square"/>
                    <a:lstStyle/>
                    <a:p>
                      <a:r>
                        <a:rPr sz="800" b="0" i="0">
                          <a:solidFill>
                            <a:srgbClr val="16213A"/>
                          </a:solidFill>
                          <a:latin typeface="Consolas"/>
                          <a:ea typeface="Malgun Gothic"/>
                          <a:cs typeface="Malgun Gothic"/>
                        </a:rPr>
                        <a:t>elmap-rl-controller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elevation_mapping_cupy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GPU elevation map 위 RL 보행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코드 공개</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GitHub</a:t>
                      </a:r>
                    </a:p>
                  </a:txBody>
                  <a:tcPr marL="63500" marR="63500" marT="12700" marB="12700">
                    <a:solidFill>
                      <a:srgbClr val="F3F0E8"/>
                    </a:solidFill>
                  </a:tcPr>
                </a:tc>
              </a:tr>
              <a:tr h="197088">
                <a:tc>
                  <a:txBody>
                    <a:bodyPr wrap="square"/>
                    <a:lstStyle/>
                    <a:p>
                      <a:r>
                        <a:rPr sz="800" b="0" i="0">
                          <a:solidFill>
                            <a:srgbClr val="16213A"/>
                          </a:solidFill>
                          <a:latin typeface="Consolas"/>
                          <a:ea typeface="Malgun Gothic"/>
                          <a:cs typeface="Malgun Gothic"/>
                        </a:rPr>
                        <a:t>autonomy_stack_go2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Go2 L1 LiDAR + IMU</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SLAM → traversability → 충돌 회피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실제 Go2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GitHub</a:t>
                      </a:r>
                    </a:p>
                  </a:txBody>
                  <a:tcPr marL="63500" marR="63500" marT="12700" marB="12700">
                    <a:solidFill>
                      <a:srgbClr val="FFFDF8"/>
                    </a:solidFill>
                  </a:tcPr>
                </a:tc>
              </a:tr>
            </a:tbl>
          </a:graphicData>
        </a:graphic>
      </p:graphicFrame>
      <p:sp>
        <p:nvSpPr>
          <p:cNvPr id="7" name="TextBox 6"/>
          <p:cNvSpPr txBox="1"/>
          <p:nvPr/>
        </p:nvSpPr>
        <p:spPr>
          <a:xfrm>
            <a:off x="717550" y="4711105"/>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A.7.1 인식 기반 보행과 계층형 내비게이션</a:t>
            </a:r>
          </a:p>
        </p:txBody>
      </p:sp>
      <p:sp>
        <p:nvSpPr>
          <p:cNvPr id="8" name="TextBox 7"/>
          <p:cNvSpPr txBox="1"/>
          <p:nvPr/>
        </p:nvSpPr>
        <p:spPr>
          <a:xfrm>
            <a:off x="609600" y="5014317"/>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절의 연구들은 두 질문에 하드웨어로 답한다. </a:t>
            </a:r>
            <a:r>
              <a:rPr sz="1050" b="1" i="0">
                <a:solidFill>
                  <a:srgbClr val="16213A"/>
                </a:solidFill>
                <a:latin typeface="Arial"/>
                <a:ea typeface="Malgun Gothic"/>
                <a:cs typeface="Malgun Gothic"/>
              </a:rPr>
              <a:t>인식을 얼마나 믿을 것인가</a:t>
            </a:r>
            <a:r>
              <a:rPr sz="1050" b="0" i="0">
                <a:solidFill>
                  <a:srgbClr val="16213A"/>
                </a:solidFill>
                <a:latin typeface="Arial"/>
                <a:ea typeface="Malgun Gothic"/>
                <a:cs typeface="Malgun Gothic"/>
              </a:rPr>
              <a:t>, 그리고 </a:t>
            </a:r>
            <a:r>
              <a:rPr sz="1050" b="1" i="0">
                <a:solidFill>
                  <a:srgbClr val="16213A"/>
                </a:solidFill>
                <a:latin typeface="Arial"/>
                <a:ea typeface="Malgun Gothic"/>
                <a:cs typeface="Malgun Gothic"/>
              </a:rPr>
              <a:t>계획과 실행을 어떻게 나눌 것인가</a:t>
            </a:r>
            <a:r>
              <a:rPr sz="1050" b="0" i="0">
                <a:solidFill>
                  <a:srgbClr val="16213A"/>
                </a:solidFill>
                <a:latin typeface="Arial"/>
                <a:ea typeface="Malgun Gothic"/>
                <a:cs typeface="Malgun Gothic"/>
              </a:rPr>
              <a:t>. travplan에서는 첫째가 TravNet의 σ 채널, 둘째가 Planner/Controller 분리에 해당한다.</a:t>
            </a:r>
          </a:p>
        </p:txBody>
      </p:sp>
      <p:sp>
        <p:nvSpPr>
          <p:cNvPr id="9" name="TextBox 8"/>
          <p:cNvSpPr txBox="1"/>
          <p:nvPr/>
        </p:nvSpPr>
        <p:spPr>
          <a:xfrm>
            <a:off x="609600" y="553620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Miki et al., </a:t>
            </a:r>
            <a:r>
              <a:rPr sz="1050" b="1" i="1">
                <a:solidFill>
                  <a:srgbClr val="16213A"/>
                </a:solidFill>
                <a:latin typeface="Arial"/>
                <a:ea typeface="Malgun Gothic"/>
                <a:cs typeface="Malgun Gothic"/>
              </a:rPr>
              <a:t>Learning robust perceptive locomotion for quadrupedal robots in the wild</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13"/>
              </a:rPr>
              <a:t>arXiv:2201.08117</a:t>
            </a:r>
            <a:r>
              <a:rPr sz="1050" b="0" i="0">
                <a:solidFill>
                  <a:srgbClr val="16213A"/>
                </a:solidFill>
                <a:latin typeface="Arial"/>
                <a:ea typeface="Malgun Gothic"/>
                <a:cs typeface="Malgun Gothic"/>
              </a:rPr>
              <a:t>, Science Robotics 2022) — elevation map의 높이 샘플과 proprioception을 </a:t>
            </a:r>
            <a:r>
              <a:rPr sz="1050" b="1" i="0">
                <a:solidFill>
                  <a:srgbClr val="16213A"/>
                </a:solidFill>
                <a:latin typeface="Arial"/>
                <a:ea typeface="Malgun Gothic"/>
                <a:cs typeface="Malgun Gothic"/>
              </a:rPr>
              <a:t>belief encoder</a:t>
            </a:r>
            <a:r>
              <a:rPr sz="1050" b="0" i="0">
                <a:solidFill>
                  <a:srgbClr val="16213A"/>
                </a:solidFill>
                <a:latin typeface="Arial"/>
                <a:ea typeface="Malgun Gothic"/>
                <a:cs typeface="Malgun Gothic"/>
              </a:rPr>
              <a:t>로 합친다. 눈·수풀·물처럼 지도가 틀리는 곳에서는 proprioception을 더 믿도록 학습해서, 지도가 무너져도 걷는다. travplan으로 옮기면 "σ가 높은 곳에서는 지도를 덜 믿는다"는 설계다.</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279 / 359</a:t>
            </a:r>
          </a:p>
        </p:txBody>
      </p:sp>
      <p:pic>
        <p:nvPicPr>
          <p:cNvPr id="5" name="Picture 4" descr="image.jpg"/>
          <p:cNvPicPr>
            <a:picLocks noChangeAspect="1"/>
          </p:cNvPicPr>
          <p:nvPr/>
        </p:nvPicPr>
        <p:blipFill>
          <a:blip r:embed="rId3"/>
          <a:stretch>
            <a:fillRect/>
          </a:stretch>
        </p:blipFill>
        <p:spPr>
          <a:xfrm>
            <a:off x="3324225" y="1244600"/>
            <a:ext cx="5543550" cy="4445000"/>
          </a:xfrm>
          <a:prstGeom prst="rect">
            <a:avLst/>
          </a:prstGeom>
        </p:spPr>
      </p:pic>
      <p:sp>
        <p:nvSpPr>
          <p:cNvPr id="6" name="TextBox 5"/>
          <p:cNvSpPr txBox="1"/>
          <p:nvPr/>
        </p:nvSpPr>
        <p:spPr>
          <a:xfrm>
            <a:off x="3324225" y="5727700"/>
            <a:ext cx="55435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Robust Perceptive Locomotion (Fig. 3): 제어기는 elevation map의 높이 샘플(빨간 점)로 지형을 보지만, 지도가 무너지거나 틀린 곳에서도 proprioception으로 버틴다. 출처: arXiv:2201.08117</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자세히: Robust Perceptive Locomotion의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280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인식 보행은 지형을 밟기 전에 보고 걸음을 미리 바꿀 수 있어 빠르다. 그런데 현장의 elevation map은 자주 틀린다. 눈·풀·물은 밟을 수 없는 장애물처럼 보이거나 반사 때문에 아예 비어 있다. 자세 추정이 미끄러지면 지도 전체가 어긋난다. 2.5D 지도는 나뭇가지 같은 오버행을 벽으로 그린다. 그래서 당시 가장 견고한 보행(Lee 2020)은 proprioception만 썼고, 발로 더듬은 뒤에야 걸음을 바꾸느라 느렸다. 이 논문의 답은 "지도를 얼마나 믿을지"를 규칙으로 정하지 않고 </a:t>
            </a:r>
            <a:r>
              <a:rPr sz="1050" b="1" i="0">
                <a:solidFill>
                  <a:srgbClr val="16213A"/>
                </a:solidFill>
                <a:latin typeface="Arial"/>
                <a:ea typeface="Malgun Gothic"/>
                <a:cs typeface="Malgun Gothic"/>
              </a:rPr>
              <a:t>네트워크가 학습하게 하는 것</a:t>
            </a:r>
            <a:r>
              <a:rPr sz="1050" b="0" i="0">
                <a:solidFill>
                  <a:srgbClr val="16213A"/>
                </a:solidFill>
                <a:latin typeface="Arial"/>
                <a:ea typeface="Malgun Gothic"/>
                <a:cs typeface="Malgun Gothic"/>
              </a:rPr>
              <a:t>이다.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세 단계.</a:t>
            </a:r>
            <a:r>
              <a:rPr sz="1050" b="0" i="0">
                <a:solidFill>
                  <a:srgbClr val="16213A"/>
                </a:solidFill>
                <a:latin typeface="Arial"/>
                <a:ea typeface="Malgun Gothic"/>
                <a:cs typeface="Malgun Gothic"/>
              </a:rPr>
              <a:t> ① teacher를 시뮬레이션의 참값(잡음 없는 높이, 마찰, 접촉 힘)으로 PPO 학습한다. ② student가 실제 로봇에서 얻을 수 있는 입력만 보고 teacher의 행동을 따라 하도록 지도학습한다(배경 0.12). student는 자기 정책으로 굴린 상태에서 표본을 모은다(DAgger식). ③ student를 미세조정 없이 ANYmal C에 올린다. 문제는 부분 관측 MDP(POMDP)로 놓고, 관측 이력에서 belief state를 만들어 푼다 (배경: 강화학습 기본 토글 참고).</a:t>
            </a:r>
          </a:p>
        </p:txBody>
      </p:sp>
      <p:sp>
        <p:nvSpPr>
          <p:cNvPr id="7" name="TextBox 6"/>
          <p:cNvSpPr txBox="1"/>
          <p:nvPr/>
        </p:nvSpPr>
        <p:spPr>
          <a:xfrm>
            <a:off x="609600" y="27213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입력과 출력.</a:t>
            </a:r>
            <a:r>
              <a:rPr sz="1050" b="0" i="0">
                <a:solidFill>
                  <a:srgbClr val="16213A"/>
                </a:solidFill>
                <a:latin typeface="Arial"/>
                <a:ea typeface="Malgun Gothic"/>
                <a:cs typeface="Malgun Gothic"/>
              </a:rPr>
              <a:t> 정책은 50 Hz로 돈다. 입력은 셋이다.</a:t>
            </a:r>
          </a:p>
        </p:txBody>
      </p:sp>
      <p:sp>
        <p:nvSpPr>
          <p:cNvPr id="8" name="TextBox 7"/>
          <p:cNvSpPr txBox="1"/>
          <p:nvPr/>
        </p:nvSpPr>
        <p:spPr>
          <a:xfrm>
            <a:off x="609600" y="3026767"/>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proprioception(133차원): 속도 명령 3, 몸통 자세 3, 몸통 속도 6, 관절 위치·속도 24, 관절 위치·속도·목표의 과거 이력 84, CPG 위상 13.</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높이 샘플(208차원): 발마다 반지름 0.08·0.16·0.26·0.36·0.48 m의 원 위에 6·8·10·12·16점을 찍어 elevation map에서 높이를 읽는다. 지도 전체가 아니라 </a:t>
            </a:r>
            <a:r>
              <a:rPr sz="1050" b="1" i="0">
                <a:solidFill>
                  <a:srgbClr val="16213A"/>
                </a:solidFill>
                <a:latin typeface="Arial"/>
                <a:ea typeface="Malgun Gothic"/>
                <a:cs typeface="Malgun Gothic"/>
              </a:rPr>
              <a:t>발 주변 점</a:t>
            </a:r>
            <a:r>
              <a:rPr sz="1050" b="0" i="0">
                <a:solidFill>
                  <a:srgbClr val="16213A"/>
                </a:solidFill>
                <a:latin typeface="Arial"/>
                <a:ea typeface="Malgun Gothic"/>
                <a:cs typeface="Malgun Gothic"/>
              </a:rPr>
              <a:t>만 본다. 지도가 비어 있는 점에는 임의 값을 넣는다.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특권 정보(teacher만, 50차원): 접촉 상태·힘·법선, 마찰 계수, 허벅지·정강이 접촉, 외력·토크, 공중 시간.</a:t>
            </a:r>
          </a:p>
        </p:txBody>
      </p:sp>
      <p:sp>
        <p:nvSpPr>
          <p:cNvPr id="9" name="TextBox 8"/>
          <p:cNvSpPr txBox="1"/>
          <p:nvPr/>
        </p:nvSpPr>
        <p:spPr>
          <a:xfrm>
            <a:off x="609600" y="403244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출력은 CPG(중앙 패턴 생성기) 위의 잔차다. 다리마다 위상 </a:t>
            </a:r>
            <a:r>
              <a:rPr sz="1050" b="0" i="1">
                <a:solidFill>
                  <a:srgbClr val="16213A"/>
                </a:solidFill>
                <a:latin typeface="Arial"/>
                <a:ea typeface="Malgun Gothic"/>
                <a:cs typeface="Malgun Gothic"/>
              </a:rPr>
              <a:t>φₗ</a:t>
            </a:r>
            <a:r>
              <a:rPr sz="1050" b="0" i="0">
                <a:solidFill>
                  <a:srgbClr val="16213A"/>
                </a:solidFill>
                <a:latin typeface="Arial"/>
                <a:ea typeface="Malgun Gothic"/>
                <a:cs typeface="Malgun Gothic"/>
              </a:rPr>
              <a:t>이 돌며 기준 발끝 궤적 </a:t>
            </a:r>
            <a:r>
              <a:rPr sz="1050" b="0" i="1">
                <a:solidFill>
                  <a:srgbClr val="16213A"/>
                </a:solidFill>
                <a:latin typeface="Arial"/>
                <a:ea typeface="Malgun Gothic"/>
                <a:cs typeface="Malgun Gothic"/>
              </a:rPr>
              <a:t>p(φ)</a:t>
            </a:r>
            <a:r>
              <a:rPr sz="1050" b="0" i="0">
                <a:solidFill>
                  <a:srgbClr val="16213A"/>
                </a:solidFill>
                <a:latin typeface="Arial"/>
                <a:ea typeface="Malgun Gothic"/>
                <a:cs typeface="Malgun Gothic"/>
              </a:rPr>
              <a:t>를 만들고, 정책은 위상 오프셋 </a:t>
            </a:r>
            <a:r>
              <a:rPr sz="1050" b="0" i="1">
                <a:solidFill>
                  <a:srgbClr val="16213A"/>
                </a:solidFill>
                <a:latin typeface="Arial"/>
                <a:ea typeface="Malgun Gothic"/>
                <a:cs typeface="Malgun Gothic"/>
              </a:rPr>
              <a:t>Δφₗ</a:t>
            </a:r>
            <a:r>
              <a:rPr sz="1050" b="0" i="0">
                <a:solidFill>
                  <a:srgbClr val="16213A"/>
                </a:solidFill>
                <a:latin typeface="Arial"/>
                <a:ea typeface="Malgun Gothic"/>
                <a:cs typeface="Malgun Gothic"/>
              </a:rPr>
              <a:t>과 관절 잔차 </a:t>
            </a:r>
            <a:r>
              <a:rPr sz="1050" b="0" i="1">
                <a:solidFill>
                  <a:srgbClr val="16213A"/>
                </a:solidFill>
                <a:latin typeface="Arial"/>
                <a:ea typeface="Malgun Gothic"/>
                <a:cs typeface="Malgun Gothic"/>
              </a:rPr>
              <a:t>Δ qᵢ</a:t>
            </a:r>
            <a:r>
              <a:rPr sz="1050" b="0" i="0">
                <a:solidFill>
                  <a:srgbClr val="16213A"/>
                </a:solidFill>
                <a:latin typeface="Arial"/>
                <a:ea typeface="Malgun Gothic"/>
                <a:cs typeface="Malgun Gothic"/>
              </a:rPr>
              <a:t>를 낸다. 관절 목표는 역기구학(IK)으로 구한다.</a:t>
            </a:r>
          </a:p>
        </p:txBody>
      </p:sp>
      <p:pic>
        <p:nvPicPr>
          <p:cNvPr id="10" name="Picture 9" descr="image.png"/>
          <p:cNvPicPr>
            <a:picLocks noChangeAspect="1"/>
          </p:cNvPicPr>
          <p:nvPr/>
        </p:nvPicPr>
        <p:blipFill>
          <a:blip r:embed="rId3"/>
          <a:stretch>
            <a:fillRect/>
          </a:stretch>
        </p:blipFill>
        <p:spPr>
          <a:xfrm>
            <a:off x="609600" y="4337844"/>
            <a:ext cx="3041650" cy="244475"/>
          </a:xfrm>
          <a:prstGeom prst="rect">
            <a:avLst/>
          </a:prstGeom>
        </p:spPr>
      </p:pic>
      <p:sp>
        <p:nvSpPr>
          <p:cNvPr id="11" name="TextBox 10"/>
          <p:cNvSpPr txBox="1"/>
          <p:nvPr/>
        </p:nvSpPr>
        <p:spPr>
          <a:xfrm>
            <a:off x="609600" y="461575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네트워크.</a:t>
            </a:r>
            <a:r>
              <a:rPr sz="1050" b="0" i="0">
                <a:solidFill>
                  <a:srgbClr val="16213A"/>
                </a:solidFill>
                <a:latin typeface="Arial"/>
                <a:ea typeface="Malgun Gothic"/>
                <a:cs typeface="Malgun Gothic"/>
              </a:rPr>
              <a:t> teacher는 MLP다. 높이 샘플을 발마다 인코더 </a:t>
            </a:r>
            <a:r>
              <a:rPr sz="1050" b="0" i="1">
                <a:solidFill>
                  <a:srgbClr val="16213A"/>
                </a:solidFill>
                <a:latin typeface="Arial"/>
                <a:ea typeface="Malgun Gothic"/>
                <a:cs typeface="Malgun Gothic"/>
              </a:rPr>
              <a:t>gₑ</a:t>
            </a:r>
            <a:r>
              <a:rPr sz="1050" b="0" i="0">
                <a:solidFill>
                  <a:srgbClr val="16213A"/>
                </a:solidFill>
                <a:latin typeface="Arial"/>
                <a:ea typeface="Malgun Gothic"/>
                <a:cs typeface="Malgun Gothic"/>
              </a:rPr>
              <a:t>(은닉 80·60)로 24차원씩 줄여 96차원 </a:t>
            </a:r>
            <a:r>
              <a:rPr sz="1050" b="0" i="1">
                <a:solidFill>
                  <a:srgbClr val="16213A"/>
                </a:solidFill>
                <a:latin typeface="Arial"/>
                <a:ea typeface="Malgun Gothic"/>
                <a:cs typeface="Malgun Gothic"/>
              </a:rPr>
              <a:t>l^eₜ</a:t>
            </a:r>
            <a:r>
              <a:rPr sz="1050" b="0" i="0">
                <a:solidFill>
                  <a:srgbClr val="16213A"/>
                </a:solidFill>
                <a:latin typeface="Arial"/>
                <a:ea typeface="Malgun Gothic"/>
                <a:cs typeface="Malgun Gothic"/>
              </a:rPr>
              <a:t>를 만들고, 특권 정보를 </a:t>
            </a:r>
            <a:r>
              <a:rPr sz="1050" b="0" i="1">
                <a:solidFill>
                  <a:srgbClr val="16213A"/>
                </a:solidFill>
                <a:latin typeface="Arial"/>
                <a:ea typeface="Malgun Gothic"/>
                <a:cs typeface="Malgun Gothic"/>
              </a:rPr>
              <a:t>gₚ</a:t>
            </a:r>
            <a:r>
              <a:rPr sz="1050" b="0" i="0">
                <a:solidFill>
                  <a:srgbClr val="16213A"/>
                </a:solidFill>
                <a:latin typeface="Arial"/>
                <a:ea typeface="Malgun Gothic"/>
                <a:cs typeface="Malgun Gothic"/>
              </a:rPr>
              <a:t>(은닉 64·32)로 24차원 </a:t>
            </a:r>
            <a:r>
              <a:rPr sz="1050" b="0" i="1">
                <a:solidFill>
                  <a:srgbClr val="16213A"/>
                </a:solidFill>
                <a:latin typeface="Arial"/>
                <a:ea typeface="Malgun Gothic"/>
                <a:cs typeface="Malgun Gothic"/>
              </a:rPr>
              <a:t>l^(priv)ₜ</a:t>
            </a:r>
            <a:r>
              <a:rPr sz="1050" b="0" i="0">
                <a:solidFill>
                  <a:srgbClr val="16213A"/>
                </a:solidFill>
                <a:latin typeface="Arial"/>
                <a:ea typeface="Malgun Gothic"/>
                <a:cs typeface="Malgun Gothic"/>
              </a:rPr>
              <a:t>로 줄인다. 이것을 proprioception과 이어 본체 MLP(256·160·128)에 넣는다. student는 본체 MLP 구조를 그대로 두고 teacher 가중치로 초기화한다. 대신 앞단에 </a:t>
            </a:r>
            <a:r>
              <a:rPr sz="1050" b="1" i="0">
                <a:solidFill>
                  <a:srgbClr val="16213A"/>
                </a:solidFill>
                <a:latin typeface="Arial"/>
                <a:ea typeface="Malgun Gothic"/>
                <a:cs typeface="Malgun Gothic"/>
              </a:rPr>
              <a:t>belief encoder</a:t>
            </a:r>
            <a:r>
              <a:rPr sz="1050" b="0" i="0">
                <a:solidFill>
                  <a:srgbClr val="16213A"/>
                </a:solidFill>
                <a:latin typeface="Arial"/>
                <a:ea typeface="Malgun Gothic"/>
                <a:cs typeface="Malgun Gothic"/>
              </a:rPr>
              <a:t>를 둔다. 2층 GRU(층마다 50 유닛)가 proprioception, 잡음 섞인 높이 특징 </a:t>
            </a:r>
            <a:r>
              <a:rPr sz="1050" b="0" i="1">
                <a:solidFill>
                  <a:srgbClr val="16213A"/>
                </a:solidFill>
                <a:latin typeface="Arial"/>
                <a:ea typeface="Malgun Gothic"/>
                <a:cs typeface="Malgun Gothic"/>
              </a:rPr>
              <a:t>l^eₜ = gₑ(õ^eₜ)</a:t>
            </a:r>
            <a:r>
              <a:rPr sz="1050" b="0" i="0">
                <a:solidFill>
                  <a:srgbClr val="16213A"/>
                </a:solidFill>
                <a:latin typeface="Arial"/>
                <a:ea typeface="Malgun Gothic"/>
                <a:cs typeface="Malgun Gothic"/>
              </a:rPr>
              <a:t>, 은닉 상태 </a:t>
            </a:r>
            <a:r>
              <a:rPr sz="1050" b="0" i="1">
                <a:solidFill>
                  <a:srgbClr val="16213A"/>
                </a:solidFill>
                <a:latin typeface="Arial"/>
                <a:ea typeface="Malgun Gothic"/>
                <a:cs typeface="Malgun Gothic"/>
              </a:rPr>
              <a:t>hₜ</a:t>
            </a:r>
            <a:r>
              <a:rPr sz="1050" b="0" i="0">
                <a:solidFill>
                  <a:srgbClr val="16213A"/>
                </a:solidFill>
                <a:latin typeface="Arial"/>
                <a:ea typeface="Malgun Gothic"/>
                <a:cs typeface="Malgun Gothic"/>
              </a:rPr>
              <a:t>를 받아 중간 belief </a:t>
            </a:r>
            <a:r>
              <a:rPr sz="1050" b="0" i="1">
                <a:solidFill>
                  <a:srgbClr val="16213A"/>
                </a:solidFill>
                <a:latin typeface="Arial"/>
                <a:ea typeface="Malgun Gothic"/>
                <a:cs typeface="Malgun Gothic"/>
              </a:rPr>
              <a:t>b'ₜ</a:t>
            </a:r>
            <a:r>
              <a:rPr sz="1050" b="0" i="0">
                <a:solidFill>
                  <a:srgbClr val="16213A"/>
                </a:solidFill>
                <a:latin typeface="Arial"/>
                <a:ea typeface="Malgun Gothic"/>
                <a:cs typeface="Malgun Gothic"/>
              </a:rPr>
              <a:t>를 낸다. 게이트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(96차원)가 높이 특징을 얼마나 통과시킬지 정한다(배경: GRU, 시그모이드 게이트 토글 참고).</a:t>
            </a:r>
          </a:p>
        </p:txBody>
      </p:sp>
      <p:pic>
        <p:nvPicPr>
          <p:cNvPr id="12" name="Picture 11" descr="image.png"/>
          <p:cNvPicPr>
            <a:picLocks noChangeAspect="1"/>
          </p:cNvPicPr>
          <p:nvPr/>
        </p:nvPicPr>
        <p:blipFill>
          <a:blip r:embed="rId4"/>
          <a:stretch>
            <a:fillRect/>
          </a:stretch>
        </p:blipFill>
        <p:spPr>
          <a:xfrm>
            <a:off x="609600" y="5354141"/>
            <a:ext cx="5032375" cy="241300"/>
          </a:xfrm>
          <a:prstGeom prst="rect">
            <a:avLst/>
          </a:prstGeom>
        </p:spPr>
      </p:pic>
      <p:sp>
        <p:nvSpPr>
          <p:cNvPr id="13" name="TextBox 12"/>
          <p:cNvSpPr txBox="1"/>
          <p:nvPr/>
        </p:nvSpPr>
        <p:spPr>
          <a:xfrm>
            <a:off x="609600" y="5631656"/>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14개(문단·식·그림)는 대시보드 리서치 탭의 "자세히: Robust Perceptive Locomotion의 방법과 수식" 토글에 있다.</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강화학습 기본과 PPO — 보상을 최대화하는 정책을 시행착오로 배운다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281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강화학습(RL)은 정답 행동을 주지 않고 </a:t>
            </a:r>
            <a:r>
              <a:rPr sz="1050" b="1" i="0">
                <a:solidFill>
                  <a:srgbClr val="16213A"/>
                </a:solidFill>
                <a:latin typeface="Arial"/>
                <a:ea typeface="Malgun Gothic"/>
                <a:cs typeface="Malgun Gothic"/>
              </a:rPr>
              <a:t>보상</a:t>
            </a:r>
            <a:r>
              <a:rPr sz="1050" b="0" i="0">
                <a:solidFill>
                  <a:srgbClr val="16213A"/>
                </a:solidFill>
                <a:latin typeface="Arial"/>
                <a:ea typeface="Malgun Gothic"/>
                <a:cs typeface="Malgun Gothic"/>
              </a:rPr>
              <a:t>만 주어 정책을 배우는 방법이다. 에이전트가 행동하고, 환경이 다음 상태와 보상을 돌려주고, 에이전트는 누적 보상이 커지도록 정책을 고친다.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MDP.</a:t>
            </a:r>
            <a:r>
              <a:rPr sz="1050" b="0" i="0">
                <a:solidFill>
                  <a:srgbClr val="16213A"/>
                </a:solidFill>
                <a:latin typeface="Arial"/>
                <a:ea typeface="Malgun Gothic"/>
                <a:cs typeface="Malgun Gothic"/>
              </a:rPr>
              <a:t> 문제를 마르코프 결정 과정(MDP)으로 쓴다. 상태 </a:t>
            </a:r>
            <a:r>
              <a:rPr sz="1050" b="0" i="1">
                <a:solidFill>
                  <a:srgbClr val="16213A"/>
                </a:solidFill>
                <a:latin typeface="Arial"/>
                <a:ea typeface="Malgun Gothic"/>
                <a:cs typeface="Malgun Gothic"/>
              </a:rPr>
              <a:t>sₜ</a:t>
            </a:r>
            <a:r>
              <a:rPr sz="1050" b="0" i="0">
                <a:solidFill>
                  <a:srgbClr val="16213A"/>
                </a:solidFill>
                <a:latin typeface="Arial"/>
                <a:ea typeface="Malgun Gothic"/>
                <a:cs typeface="Malgun Gothic"/>
              </a:rPr>
              <a:t>, 행동 </a:t>
            </a:r>
            <a:r>
              <a:rPr sz="1050" b="0" i="1">
                <a:solidFill>
                  <a:srgbClr val="16213A"/>
                </a:solidFill>
                <a:latin typeface="Arial"/>
                <a:ea typeface="Malgun Gothic"/>
                <a:cs typeface="Malgun Gothic"/>
              </a:rPr>
              <a:t>aₜ</a:t>
            </a:r>
            <a:r>
              <a:rPr sz="1050" b="0" i="0">
                <a:solidFill>
                  <a:srgbClr val="16213A"/>
                </a:solidFill>
                <a:latin typeface="Arial"/>
                <a:ea typeface="Malgun Gothic"/>
                <a:cs typeface="Malgun Gothic"/>
              </a:rPr>
              <a:t>, 전이 확률 </a:t>
            </a:r>
            <a:r>
              <a:rPr sz="1050" b="0" i="1">
                <a:solidFill>
                  <a:srgbClr val="16213A"/>
                </a:solidFill>
                <a:latin typeface="Arial"/>
                <a:ea typeface="Malgun Gothic"/>
                <a:cs typeface="Malgun Gothic"/>
              </a:rPr>
              <a:t>P(sₜ₊₁ | sₜ, aₜ)</a:t>
            </a:r>
            <a:r>
              <a:rPr sz="1050" b="0" i="0">
                <a:solidFill>
                  <a:srgbClr val="16213A"/>
                </a:solidFill>
                <a:latin typeface="Arial"/>
                <a:ea typeface="Malgun Gothic"/>
                <a:cs typeface="Malgun Gothic"/>
              </a:rPr>
              <a:t>, 보상 </a:t>
            </a:r>
            <a:r>
              <a:rPr sz="1050" b="0" i="1">
                <a:solidFill>
                  <a:srgbClr val="16213A"/>
                </a:solidFill>
                <a:latin typeface="Arial"/>
                <a:ea typeface="Malgun Gothic"/>
                <a:cs typeface="Malgun Gothic"/>
              </a:rPr>
              <a:t>rₜ</a:t>
            </a:r>
            <a:r>
              <a:rPr sz="1050" b="0" i="0">
                <a:solidFill>
                  <a:srgbClr val="16213A"/>
                </a:solidFill>
                <a:latin typeface="Arial"/>
                <a:ea typeface="Malgun Gothic"/>
                <a:cs typeface="Malgun Gothic"/>
              </a:rPr>
              <a:t>, 할인율 </a:t>
            </a:r>
            <a:r>
              <a:rPr sz="1050" b="0" i="1">
                <a:solidFill>
                  <a:srgbClr val="16213A"/>
                </a:solidFill>
                <a:latin typeface="Arial"/>
                <a:ea typeface="Malgun Gothic"/>
                <a:cs typeface="Malgun Gothic"/>
              </a:rPr>
              <a:t>γ</a:t>
            </a:r>
            <a:r>
              <a:rPr sz="1050" b="0" i="0">
                <a:solidFill>
                  <a:srgbClr val="16213A"/>
                </a:solidFill>
                <a:latin typeface="Arial"/>
                <a:ea typeface="Malgun Gothic"/>
                <a:cs typeface="Malgun Gothic"/>
              </a:rPr>
              <a:t>다. 목표는 할인된 누적 보상의 기댓값을 최대로 하는 정책 </a:t>
            </a:r>
            <a:r>
              <a:rPr sz="1050" b="0" i="1">
                <a:solidFill>
                  <a:srgbClr val="16213A"/>
                </a:solidFill>
                <a:latin typeface="Arial"/>
                <a:ea typeface="Malgun Gothic"/>
                <a:cs typeface="Malgun Gothic"/>
              </a:rPr>
              <a:t>π(a | s)</a:t>
            </a:r>
            <a:r>
              <a:rPr sz="1050" b="0" i="0">
                <a:solidFill>
                  <a:srgbClr val="16213A"/>
                </a:solidFill>
                <a:latin typeface="Arial"/>
                <a:ea typeface="Malgun Gothic"/>
                <a:cs typeface="Malgun Gothic"/>
              </a:rPr>
              <a:t>를 찾는 것이다.</a:t>
            </a:r>
          </a:p>
        </p:txBody>
      </p:sp>
      <p:pic>
        <p:nvPicPr>
          <p:cNvPr id="7" name="Picture 6" descr="image.png"/>
          <p:cNvPicPr>
            <a:picLocks noChangeAspect="1"/>
          </p:cNvPicPr>
          <p:nvPr/>
        </p:nvPicPr>
        <p:blipFill>
          <a:blip r:embed="rId3"/>
          <a:stretch>
            <a:fillRect/>
          </a:stretch>
        </p:blipFill>
        <p:spPr>
          <a:xfrm>
            <a:off x="609600" y="1855391"/>
            <a:ext cx="2003425" cy="517525"/>
          </a:xfrm>
          <a:prstGeom prst="rect">
            <a:avLst/>
          </a:prstGeom>
        </p:spPr>
      </p:pic>
      <p:sp>
        <p:nvSpPr>
          <p:cNvPr id="8" name="TextBox 7"/>
          <p:cNvSpPr txBox="1"/>
          <p:nvPr/>
        </p:nvSpPr>
        <p:spPr>
          <a:xfrm>
            <a:off x="609600" y="237232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상태 일부가 안 보이면(지형 참값, 마찰, 외력) 부분 관측 MDP(POMDP)다. 이때는 관측 이력으로 상태를 추정한 </a:t>
            </a:r>
            <a:r>
              <a:rPr sz="1050" b="1" i="0">
                <a:solidFill>
                  <a:srgbClr val="16213A"/>
                </a:solidFill>
                <a:latin typeface="Arial"/>
                <a:ea typeface="Malgun Gothic"/>
                <a:cs typeface="Malgun Gothic"/>
              </a:rPr>
              <a:t>belief</a:t>
            </a:r>
            <a:r>
              <a:rPr sz="1050" b="0" i="0">
                <a:solidFill>
                  <a:srgbClr val="16213A"/>
                </a:solidFill>
                <a:latin typeface="Arial"/>
                <a:ea typeface="Malgun Gothic"/>
                <a:cs typeface="Malgun Gothic"/>
              </a:rPr>
              <a:t>를 만든다. Miki 2022의 belief encoder가 바로 이것이다.</a:t>
            </a:r>
          </a:p>
        </p:txBody>
      </p:sp>
      <p:sp>
        <p:nvSpPr>
          <p:cNvPr id="9" name="TextBox 8"/>
          <p:cNvSpPr txBox="1"/>
          <p:nvPr/>
        </p:nvSpPr>
        <p:spPr>
          <a:xfrm>
            <a:off x="609600" y="267771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정책과 가치.</a:t>
            </a:r>
            <a:r>
              <a:rPr sz="1050" b="0" i="0">
                <a:solidFill>
                  <a:srgbClr val="16213A"/>
                </a:solidFill>
                <a:latin typeface="Arial"/>
                <a:ea typeface="Malgun Gothic"/>
                <a:cs typeface="Malgun Gothic"/>
              </a:rPr>
              <a:t> 가치 함수 </a:t>
            </a:r>
            <a:r>
              <a:rPr sz="1050" b="0" i="1">
                <a:solidFill>
                  <a:srgbClr val="16213A"/>
                </a:solidFill>
                <a:latin typeface="Arial"/>
                <a:ea typeface="Malgun Gothic"/>
                <a:cs typeface="Malgun Gothic"/>
              </a:rPr>
              <a:t>V^π(s)</a:t>
            </a:r>
            <a:r>
              <a:rPr sz="1050" b="0" i="0">
                <a:solidFill>
                  <a:srgbClr val="16213A"/>
                </a:solidFill>
                <a:latin typeface="Arial"/>
                <a:ea typeface="Malgun Gothic"/>
                <a:cs typeface="Malgun Gothic"/>
              </a:rPr>
              <a:t>는 "상태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에서 정책대로 가면 앞으로 받을 보상의 기댓값"이다. 어떤 행동이 평균보다 얼마나 좋은지를 </a:t>
            </a:r>
            <a:r>
              <a:rPr sz="1050" b="1" i="0">
                <a:solidFill>
                  <a:srgbClr val="16213A"/>
                </a:solidFill>
                <a:latin typeface="Arial"/>
                <a:ea typeface="Malgun Gothic"/>
                <a:cs typeface="Malgun Gothic"/>
              </a:rPr>
              <a:t>advantage</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A(s, a)</a:t>
            </a:r>
            <a:r>
              <a:rPr sz="1050" b="0" i="0">
                <a:solidFill>
                  <a:srgbClr val="16213A"/>
                </a:solidFill>
                <a:latin typeface="Arial"/>
                <a:ea typeface="Malgun Gothic"/>
                <a:cs typeface="Malgun Gothic"/>
              </a:rPr>
              <a:t>라 한다(배경: 이득 추정(advantage·GAE) 토글 참고). </a:t>
            </a:r>
            <a:r>
              <a:rPr sz="1050" b="1" i="0">
                <a:solidFill>
                  <a:srgbClr val="16213A"/>
                </a:solidFill>
                <a:latin typeface="Arial"/>
                <a:ea typeface="Malgun Gothic"/>
                <a:cs typeface="Malgun Gothic"/>
              </a:rPr>
              <a:t>actor-critic</a:t>
            </a:r>
            <a:r>
              <a:rPr sz="1050" b="0" i="0">
                <a:solidFill>
                  <a:srgbClr val="16213A"/>
                </a:solidFill>
                <a:latin typeface="Arial"/>
                <a:ea typeface="Malgun Gothic"/>
                <a:cs typeface="Malgun Gothic"/>
              </a:rPr>
              <a:t>은 두 네트워크를 함께 학습한다. actor는 정책 </a:t>
            </a:r>
            <a:r>
              <a:rPr sz="1050" b="0" i="1">
                <a:solidFill>
                  <a:srgbClr val="16213A"/>
                </a:solidFill>
                <a:latin typeface="Arial"/>
                <a:ea typeface="Malgun Gothic"/>
                <a:cs typeface="Malgun Gothic"/>
              </a:rPr>
              <a:t>π_θ</a:t>
            </a:r>
            <a:r>
              <a:rPr sz="1050" b="0" i="0">
                <a:solidFill>
                  <a:srgbClr val="16213A"/>
                </a:solidFill>
                <a:latin typeface="Arial"/>
                <a:ea typeface="Malgun Gothic"/>
                <a:cs typeface="Malgun Gothic"/>
              </a:rPr>
              <a:t>를, critic은 가치 </a:t>
            </a:r>
            <a:r>
              <a:rPr sz="1050" b="0" i="1">
                <a:solidFill>
                  <a:srgbClr val="16213A"/>
                </a:solidFill>
                <a:latin typeface="Arial"/>
                <a:ea typeface="Malgun Gothic"/>
                <a:cs typeface="Malgun Gothic"/>
              </a:rPr>
              <a:t>V_φ</a:t>
            </a:r>
            <a:r>
              <a:rPr sz="1050" b="0" i="0">
                <a:solidFill>
                  <a:srgbClr val="16213A"/>
                </a:solidFill>
                <a:latin typeface="Arial"/>
                <a:ea typeface="Malgun Gothic"/>
                <a:cs typeface="Malgun Gothic"/>
              </a:rPr>
              <a:t>를 맡는다. critic이 advantage 추정의 기준선이 되어 학습 분산을 줄인다. critic이 actor보다 많은 정보를 보는 변형은 비대칭 actor-critic이다(배경: 비대칭 actor-critic 토글 참고).</a:t>
            </a:r>
          </a:p>
        </p:txBody>
      </p:sp>
      <p:sp>
        <p:nvSpPr>
          <p:cNvPr id="10" name="TextBox 9"/>
          <p:cNvSpPr txBox="1"/>
          <p:nvPr/>
        </p:nvSpPr>
        <p:spPr>
          <a:xfrm>
            <a:off x="609600" y="341610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PPO.</a:t>
            </a:r>
            <a:r>
              <a:rPr sz="1050" b="0" i="0">
                <a:solidFill>
                  <a:srgbClr val="16213A"/>
                </a:solidFill>
                <a:latin typeface="Arial"/>
                <a:ea typeface="Malgun Gothic"/>
                <a:cs typeface="Malgun Gothic"/>
              </a:rPr>
              <a:t> 정책 기울기를 한 번에 크게 밟으면 정책이 무너진다. PPO는 새 정책과 옛 정책의 확률비 </a:t>
            </a:r>
            <a:r>
              <a:rPr sz="1050" b="0" i="1">
                <a:solidFill>
                  <a:srgbClr val="16213A"/>
                </a:solidFill>
                <a:latin typeface="Arial"/>
                <a:ea typeface="Malgun Gothic"/>
                <a:cs typeface="Malgun Gothic"/>
              </a:rPr>
              <a:t>ρₜ</a:t>
            </a:r>
            <a:r>
              <a:rPr sz="1050" b="0" i="0">
                <a:solidFill>
                  <a:srgbClr val="16213A"/>
                </a:solidFill>
                <a:latin typeface="Arial"/>
                <a:ea typeface="Malgun Gothic"/>
                <a:cs typeface="Malgun Gothic"/>
              </a:rPr>
              <a:t>를 </a:t>
            </a:r>
            <a:r>
              <a:rPr sz="1050" b="0" i="1">
                <a:solidFill>
                  <a:srgbClr val="16213A"/>
                </a:solidFill>
                <a:latin typeface="Arial"/>
                <a:ea typeface="Malgun Gothic"/>
                <a:cs typeface="Malgun Gothic"/>
              </a:rPr>
              <a:t>[1-ε, 1+ε]</a:t>
            </a:r>
            <a:r>
              <a:rPr sz="1050" b="0" i="0">
                <a:solidFill>
                  <a:srgbClr val="16213A"/>
                </a:solidFill>
                <a:latin typeface="Arial"/>
                <a:ea typeface="Malgun Gothic"/>
                <a:cs typeface="Malgun Gothic"/>
              </a:rPr>
              <a:t> 밖으로 못 나가게 잘라서 한 번의 갱신 폭을 제한한다.</a:t>
            </a:r>
          </a:p>
        </p:txBody>
      </p:sp>
      <p:pic>
        <p:nvPicPr>
          <p:cNvPr id="11" name="Picture 10" descr="image.png"/>
          <p:cNvPicPr>
            <a:picLocks noChangeAspect="1"/>
          </p:cNvPicPr>
          <p:nvPr/>
        </p:nvPicPr>
        <p:blipFill>
          <a:blip r:embed="rId4"/>
          <a:stretch>
            <a:fillRect/>
          </a:stretch>
        </p:blipFill>
        <p:spPr>
          <a:xfrm>
            <a:off x="609600" y="3721497"/>
            <a:ext cx="6067425" cy="425450"/>
          </a:xfrm>
          <a:prstGeom prst="rect">
            <a:avLst/>
          </a:prstGeom>
        </p:spPr>
      </p:pic>
      <p:sp>
        <p:nvSpPr>
          <p:cNvPr id="12" name="TextBox 11"/>
          <p:cNvSpPr txBox="1"/>
          <p:nvPr/>
        </p:nvSpPr>
        <p:spPr>
          <a:xfrm>
            <a:off x="609600" y="415786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advantage가 양수면 확률을 키우되 </a:t>
            </a:r>
            <a:r>
              <a:rPr sz="1050" b="0" i="1">
                <a:solidFill>
                  <a:srgbClr val="16213A"/>
                </a:solidFill>
                <a:latin typeface="Arial"/>
                <a:ea typeface="Malgun Gothic"/>
                <a:cs typeface="Malgun Gothic"/>
              </a:rPr>
              <a:t>1+ε</a:t>
            </a:r>
            <a:r>
              <a:rPr sz="1050" b="0" i="0">
                <a:solidFill>
                  <a:srgbClr val="16213A"/>
                </a:solidFill>
                <a:latin typeface="Arial"/>
                <a:ea typeface="Malgun Gothic"/>
                <a:cs typeface="Malgun Gothic"/>
              </a:rPr>
              <a:t>배까지만, 음수면 줄이되 </a:t>
            </a:r>
            <a:r>
              <a:rPr sz="1050" b="0" i="1">
                <a:solidFill>
                  <a:srgbClr val="16213A"/>
                </a:solidFill>
                <a:latin typeface="Arial"/>
                <a:ea typeface="Malgun Gothic"/>
                <a:cs typeface="Malgun Gothic"/>
              </a:rPr>
              <a:t>1-ε</a:t>
            </a:r>
            <a:r>
              <a:rPr sz="1050" b="0" i="0">
                <a:solidFill>
                  <a:srgbClr val="16213A"/>
                </a:solidFill>
                <a:latin typeface="Arial"/>
                <a:ea typeface="Malgun Gothic"/>
                <a:cs typeface="Malgun Gothic"/>
              </a:rPr>
              <a:t>배까지만 반영한다. 모은 표본으로 몇 epoch 반복 학습할 수 있어 표본 효율도 괜찮다. 연속 행동은 보통 가우시안 정책 </a:t>
            </a:r>
            <a:r>
              <a:rPr sz="1050" b="0" i="1">
                <a:solidFill>
                  <a:srgbClr val="16213A"/>
                </a:solidFill>
                <a:latin typeface="Arial"/>
                <a:ea typeface="Malgun Gothic"/>
                <a:cs typeface="Malgun Gothic"/>
              </a:rPr>
              <a:t>aₜ ∼ 𝒩(μ_θ(oₜ), σ² I)</a:t>
            </a:r>
            <a:r>
              <a:rPr sz="1050" b="0" i="0">
                <a:solidFill>
                  <a:srgbClr val="16213A"/>
                </a:solidFill>
                <a:latin typeface="Arial"/>
                <a:ea typeface="Malgun Gothic"/>
                <a:cs typeface="Malgun Gothic"/>
              </a:rPr>
              <a:t>로 둔다.</a:t>
            </a:r>
          </a:p>
        </p:txBody>
      </p:sp>
      <p:sp>
        <p:nvSpPr>
          <p:cNvPr id="13" name="TextBox 12"/>
          <p:cNvSpPr txBox="1"/>
          <p:nvPr/>
        </p:nvSpPr>
        <p:spPr>
          <a:xfrm>
            <a:off x="609600" y="467975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ε = 0.2</a:t>
            </a:r>
            <a:r>
              <a:rPr sz="1050" b="0" i="0">
                <a:solidFill>
                  <a:srgbClr val="16213A"/>
                </a:solidFill>
                <a:latin typeface="Arial"/>
                <a:ea typeface="Malgun Gothic"/>
                <a:cs typeface="Malgun Gothic"/>
              </a:rPr>
              <a:t>에서 어떤 행동의 advantage가 +1이고, 갱신 뒤 그 확률이 1.5배가 됐다고 하자. 목적식에는 1.2배까지만 들어가므로 그 이상 키울 유인이 없다.</a:t>
            </a:r>
          </a:p>
        </p:txBody>
      </p:sp>
      <p:sp>
        <p:nvSpPr>
          <p:cNvPr id="14" name="TextBox 13"/>
          <p:cNvSpPr txBox="1"/>
          <p:nvPr/>
        </p:nvSpPr>
        <p:spPr>
          <a:xfrm>
            <a:off x="609600" y="498514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병렬 시뮬레이션.</a:t>
            </a:r>
            <a:r>
              <a:rPr sz="1050" b="0" i="0">
                <a:solidFill>
                  <a:srgbClr val="16213A"/>
                </a:solidFill>
                <a:latin typeface="Arial"/>
                <a:ea typeface="Malgun Gothic"/>
                <a:cs typeface="Malgun Gothic"/>
              </a:rPr>
              <a:t> 보행 RL은 표본이 엄청나게 필요하다. 그래서 시뮬레이터에서 로봇 수백~수천 대를 병렬로 굴린다(Isaac Gym은 GPU에서, RaiSim은 CPU에서). Miki 2022는 RaiSim에서 환경 1000개, ANYmal Parkour는 Isaac Gym에서 4096개, Raibo는 RaiSim에서 300개를 썼다. 환경마다 질량·마찰·외력을 무작위로 바꾸는 </a:t>
            </a:r>
            <a:r>
              <a:rPr sz="1050" b="1" i="0">
                <a:solidFill>
                  <a:srgbClr val="16213A"/>
                </a:solidFill>
                <a:latin typeface="Arial"/>
                <a:ea typeface="Malgun Gothic"/>
                <a:cs typeface="Malgun Gothic"/>
              </a:rPr>
              <a:t>도메인 랜덤화</a:t>
            </a:r>
            <a:r>
              <a:rPr sz="1050" b="0" i="0">
                <a:solidFill>
                  <a:srgbClr val="16213A"/>
                </a:solidFill>
                <a:latin typeface="Arial"/>
                <a:ea typeface="Malgun Gothic"/>
                <a:cs typeface="Malgun Gothic"/>
              </a:rPr>
              <a:t>가 시뮬레이션과 실물의 차이를 메운다.</a:t>
            </a:r>
          </a:p>
        </p:txBody>
      </p:sp>
      <p:sp>
        <p:nvSpPr>
          <p:cNvPr id="15" name="TextBox 14"/>
          <p:cNvSpPr txBox="1"/>
          <p:nvPr/>
        </p:nvSpPr>
        <p:spPr>
          <a:xfrm>
            <a:off x="609600" y="550703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a:t>
            </a:r>
            <a:r>
              <a:rPr sz="1050" b="0" i="0">
                <a:solidFill>
                  <a:srgbClr val="16213A"/>
                </a:solidFill>
                <a:latin typeface="Arial"/>
                <a:ea typeface="Malgun Gothic"/>
                <a:cs typeface="Malgun Gothic"/>
              </a:rPr>
              <a:t> Miki 2022의 teacher, ANYmal Parkour의 기술 정책과 내비게이션 정책, Raibo의 tracker가 모두 PPO로 학습된다. Parkour는 PPO의 actor 출력을 범주형(기술 선택) + 가우시안(명령)으로 섞었다.</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GRU와 순환 신경망 — 은닉 상태에 과거를 요약해 들고 다닌다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282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순환 신경망(RNN)은 입력 </a:t>
            </a:r>
            <a:r>
              <a:rPr sz="1050" b="0" i="1">
                <a:solidFill>
                  <a:srgbClr val="16213A"/>
                </a:solidFill>
                <a:latin typeface="Arial"/>
                <a:ea typeface="Malgun Gothic"/>
                <a:cs typeface="Malgun Gothic"/>
              </a:rPr>
              <a:t>xₜ</a:t>
            </a:r>
            <a:r>
              <a:rPr sz="1050" b="0" i="0">
                <a:solidFill>
                  <a:srgbClr val="16213A"/>
                </a:solidFill>
                <a:latin typeface="Arial"/>
                <a:ea typeface="Malgun Gothic"/>
                <a:cs typeface="Malgun Gothic"/>
              </a:rPr>
              <a:t>와 직전 은닉 상태 </a:t>
            </a:r>
            <a:r>
              <a:rPr sz="1050" b="0" i="1">
                <a:solidFill>
                  <a:srgbClr val="16213A"/>
                </a:solidFill>
                <a:latin typeface="Arial"/>
                <a:ea typeface="Malgun Gothic"/>
                <a:cs typeface="Malgun Gothic"/>
              </a:rPr>
              <a:t>hₜ₋₁</a:t>
            </a:r>
            <a:r>
              <a:rPr sz="1050" b="0" i="0">
                <a:solidFill>
                  <a:srgbClr val="16213A"/>
                </a:solidFill>
                <a:latin typeface="Arial"/>
                <a:ea typeface="Malgun Gothic"/>
                <a:cs typeface="Malgun Gothic"/>
              </a:rPr>
              <a:t>을 받아 새 은닉 상태 </a:t>
            </a:r>
            <a:r>
              <a:rPr sz="1050" b="0" i="1">
                <a:solidFill>
                  <a:srgbClr val="16213A"/>
                </a:solidFill>
                <a:latin typeface="Arial"/>
                <a:ea typeface="Malgun Gothic"/>
                <a:cs typeface="Malgun Gothic"/>
              </a:rPr>
              <a:t>hₜ</a:t>
            </a:r>
            <a:r>
              <a:rPr sz="1050" b="0" i="0">
                <a:solidFill>
                  <a:srgbClr val="16213A"/>
                </a:solidFill>
                <a:latin typeface="Arial"/>
                <a:ea typeface="Malgun Gothic"/>
                <a:cs typeface="Malgun Gothic"/>
              </a:rPr>
              <a:t>를 낸다. 같은 가중치를 매 스텝 다시 쓰므로 길이가 정해지지 않은 시계열을 처리한다.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"기억"이 되나.</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hₜ</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x₁, …, xₜ</a:t>
            </a:r>
            <a:r>
              <a:rPr sz="1050" b="0" i="0">
                <a:solidFill>
                  <a:srgbClr val="16213A"/>
                </a:solidFill>
                <a:latin typeface="Arial"/>
                <a:ea typeface="Malgun Gothic"/>
                <a:cs typeface="Malgun Gothic"/>
              </a:rPr>
              <a:t> 전체의 함수다. 네트워크는 앞으로 쓸모 있는 정보를 </a:t>
            </a:r>
            <a:r>
              <a:rPr sz="1050" b="0" i="1">
                <a:solidFill>
                  <a:srgbClr val="16213A"/>
                </a:solidFill>
                <a:latin typeface="Arial"/>
                <a:ea typeface="Malgun Gothic"/>
                <a:cs typeface="Malgun Gothic"/>
              </a:rPr>
              <a:t>hₜ</a:t>
            </a:r>
            <a:r>
              <a:rPr sz="1050" b="0" i="0">
                <a:solidFill>
                  <a:srgbClr val="16213A"/>
                </a:solidFill>
                <a:latin typeface="Arial"/>
                <a:ea typeface="Malgun Gothic"/>
                <a:cs typeface="Malgun Gothic"/>
              </a:rPr>
              <a:t>에 남기도록 학습된다. 한 번 밟아 본 폼 블록이 무르다는 사실도 발이 떨어진 뒤까지 </a:t>
            </a:r>
            <a:r>
              <a:rPr sz="1050" b="0" i="1">
                <a:solidFill>
                  <a:srgbClr val="16213A"/>
                </a:solidFill>
                <a:latin typeface="Arial"/>
                <a:ea typeface="Malgun Gothic"/>
                <a:cs typeface="Malgun Gothic"/>
              </a:rPr>
              <a:t>hₜ</a:t>
            </a:r>
            <a:r>
              <a:rPr sz="1050" b="0" i="0">
                <a:solidFill>
                  <a:srgbClr val="16213A"/>
                </a:solidFill>
                <a:latin typeface="Arial"/>
                <a:ea typeface="Malgun Gothic"/>
                <a:cs typeface="Malgun Gothic"/>
              </a:rPr>
              <a:t>에 남는다. Miki 2022에서 실제로 본 현상이다.</a:t>
            </a:r>
          </a:p>
        </p:txBody>
      </p:sp>
      <p:sp>
        <p:nvSpPr>
          <p:cNvPr id="7" name="TextBox 6"/>
          <p:cNvSpPr txBox="1"/>
          <p:nvPr/>
        </p:nvSpPr>
        <p:spPr>
          <a:xfrm>
            <a:off x="609600" y="20718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게이트가 필요한가.</a:t>
            </a:r>
            <a:r>
              <a:rPr sz="1050" b="0" i="0">
                <a:solidFill>
                  <a:srgbClr val="16213A"/>
                </a:solidFill>
                <a:latin typeface="Arial"/>
                <a:ea typeface="Malgun Gothic"/>
                <a:cs typeface="Malgun Gothic"/>
              </a:rPr>
              <a:t> 가장 단순한 RNN </a:t>
            </a:r>
            <a:r>
              <a:rPr sz="1050" b="0" i="1">
                <a:solidFill>
                  <a:srgbClr val="16213A"/>
                </a:solidFill>
                <a:latin typeface="Arial"/>
                <a:ea typeface="Malgun Gothic"/>
                <a:cs typeface="Malgun Gothic"/>
              </a:rPr>
              <a:t>hₜ = tanh(W xₜ + U hₜ₋₁)</a:t>
            </a:r>
            <a:r>
              <a:rPr sz="1050" b="0" i="0">
                <a:solidFill>
                  <a:srgbClr val="16213A"/>
                </a:solidFill>
                <a:latin typeface="Arial"/>
                <a:ea typeface="Malgun Gothic"/>
                <a:cs typeface="Malgun Gothic"/>
              </a:rPr>
              <a:t>은 기울기가 시간을 거슬러 가며 곱해져 사라지거나 폭발한다. 그래서 먼 과거를 잘 기억하지 못한다. LSTM과 GRU는 "얼마나 지우고 얼마나 새로 쓸지"를 정하는 게이트로 이 문제를 줄인다.</a:t>
            </a:r>
          </a:p>
        </p:txBody>
      </p:sp>
      <p:sp>
        <p:nvSpPr>
          <p:cNvPr id="8" name="TextBox 7"/>
          <p:cNvSpPr txBox="1"/>
          <p:nvPr/>
        </p:nvSpPr>
        <p:spPr>
          <a:xfrm>
            <a:off x="609600" y="25937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GRU 식.</a:t>
            </a:r>
            <a:r>
              <a:rPr sz="1050" b="0" i="0">
                <a:solidFill>
                  <a:srgbClr val="16213A"/>
                </a:solidFill>
                <a:latin typeface="Arial"/>
                <a:ea typeface="Malgun Gothic"/>
                <a:cs typeface="Malgun Gothic"/>
              </a:rPr>
              <a:t> 갱신 게이트 </a:t>
            </a:r>
            <a:r>
              <a:rPr sz="1050" b="0" i="1">
                <a:solidFill>
                  <a:srgbClr val="16213A"/>
                </a:solidFill>
                <a:latin typeface="Arial"/>
                <a:ea typeface="Malgun Gothic"/>
                <a:cs typeface="Malgun Gothic"/>
              </a:rPr>
              <a:t>zₜ</a:t>
            </a:r>
            <a:r>
              <a:rPr sz="1050" b="0" i="0">
                <a:solidFill>
                  <a:srgbClr val="16213A"/>
                </a:solidFill>
                <a:latin typeface="Arial"/>
                <a:ea typeface="Malgun Gothic"/>
                <a:cs typeface="Malgun Gothic"/>
              </a:rPr>
              <a:t>와 리셋 게이트 </a:t>
            </a:r>
            <a:r>
              <a:rPr sz="1050" b="0" i="1">
                <a:solidFill>
                  <a:srgbClr val="16213A"/>
                </a:solidFill>
                <a:latin typeface="Arial"/>
                <a:ea typeface="Malgun Gothic"/>
                <a:cs typeface="Malgun Gothic"/>
              </a:rPr>
              <a:t>rₜ</a:t>
            </a:r>
            <a:r>
              <a:rPr sz="1050" b="0" i="0">
                <a:solidFill>
                  <a:srgbClr val="16213A"/>
                </a:solidFill>
                <a:latin typeface="Arial"/>
                <a:ea typeface="Malgun Gothic"/>
                <a:cs typeface="Malgun Gothic"/>
              </a:rPr>
              <a:t> 둘을 쓴다. </a:t>
            </a:r>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는 시그모이드, </a:t>
            </a:r>
            <a:r>
              <a:rPr sz="1050" b="0" i="1">
                <a:solidFill>
                  <a:srgbClr val="16213A"/>
                </a:solidFill>
                <a:latin typeface="Arial"/>
                <a:ea typeface="Malgun Gothic"/>
                <a:cs typeface="Malgun Gothic"/>
              </a:rPr>
              <a:t>odot</a:t>
            </a:r>
            <a:r>
              <a:rPr sz="1050" b="0" i="0">
                <a:solidFill>
                  <a:srgbClr val="16213A"/>
                </a:solidFill>
                <a:latin typeface="Arial"/>
                <a:ea typeface="Malgun Gothic"/>
                <a:cs typeface="Malgun Gothic"/>
              </a:rPr>
              <a:t>는 원소별 곱이다.</a:t>
            </a:r>
          </a:p>
        </p:txBody>
      </p:sp>
      <p:pic>
        <p:nvPicPr>
          <p:cNvPr id="9" name="Picture 8" descr="image.png"/>
          <p:cNvPicPr>
            <a:picLocks noChangeAspect="1"/>
          </p:cNvPicPr>
          <p:nvPr/>
        </p:nvPicPr>
        <p:blipFill>
          <a:blip r:embed="rId3"/>
          <a:stretch>
            <a:fillRect/>
          </a:stretch>
        </p:blipFill>
        <p:spPr>
          <a:xfrm>
            <a:off x="609600" y="2899172"/>
            <a:ext cx="3740150" cy="241300"/>
          </a:xfrm>
          <a:prstGeom prst="rect">
            <a:avLst/>
          </a:prstGeom>
        </p:spPr>
      </p:pic>
      <p:pic>
        <p:nvPicPr>
          <p:cNvPr id="10" name="Picture 9" descr="image.png"/>
          <p:cNvPicPr>
            <a:picLocks noChangeAspect="1"/>
          </p:cNvPicPr>
          <p:nvPr/>
        </p:nvPicPr>
        <p:blipFill>
          <a:blip r:embed="rId4"/>
          <a:stretch>
            <a:fillRect/>
          </a:stretch>
        </p:blipFill>
        <p:spPr>
          <a:xfrm>
            <a:off x="609600" y="3176687"/>
            <a:ext cx="4892675" cy="244475"/>
          </a:xfrm>
          <a:prstGeom prst="rect">
            <a:avLst/>
          </a:prstGeom>
        </p:spPr>
      </p:pic>
      <p:sp>
        <p:nvSpPr>
          <p:cNvPr id="11" name="TextBox 10"/>
          <p:cNvSpPr txBox="1"/>
          <p:nvPr/>
        </p:nvSpPr>
        <p:spPr>
          <a:xfrm>
            <a:off x="609600" y="3457476"/>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rₜ</a:t>
            </a:r>
            <a:r>
              <a:rPr sz="1050" b="0" i="0">
                <a:solidFill>
                  <a:srgbClr val="16213A"/>
                </a:solidFill>
                <a:latin typeface="Arial"/>
                <a:ea typeface="Malgun Gothic"/>
                <a:cs typeface="Malgun Gothic"/>
              </a:rPr>
              <a:t>는 후보 </a:t>
            </a:r>
            <a:r>
              <a:rPr sz="1050" b="0" i="1">
                <a:solidFill>
                  <a:srgbClr val="16213A"/>
                </a:solidFill>
                <a:latin typeface="Arial"/>
                <a:ea typeface="Malgun Gothic"/>
                <a:cs typeface="Malgun Gothic"/>
              </a:rPr>
              <a:t>h̃ₜ</a:t>
            </a:r>
            <a:r>
              <a:rPr sz="1050" b="0" i="0">
                <a:solidFill>
                  <a:srgbClr val="16213A"/>
                </a:solidFill>
                <a:latin typeface="Arial"/>
                <a:ea typeface="Malgun Gothic"/>
                <a:cs typeface="Malgun Gothic"/>
              </a:rPr>
              <a:t>를 만들 때 과거를 얼마나 볼지 정한다. </a:t>
            </a:r>
            <a:r>
              <a:rPr sz="1050" b="0" i="1">
                <a:solidFill>
                  <a:srgbClr val="16213A"/>
                </a:solidFill>
                <a:latin typeface="Arial"/>
                <a:ea typeface="Malgun Gothic"/>
                <a:cs typeface="Malgun Gothic"/>
              </a:rPr>
              <a:t>zₜ</a:t>
            </a:r>
            <a:r>
              <a:rPr sz="1050" b="0" i="0">
                <a:solidFill>
                  <a:srgbClr val="16213A"/>
                </a:solidFill>
                <a:latin typeface="Arial"/>
                <a:ea typeface="Malgun Gothic"/>
                <a:cs typeface="Malgun Gothic"/>
              </a:rPr>
              <a:t>는 옛 상태와 후보를 섞는 비율이다. </a:t>
            </a:r>
            <a:r>
              <a:rPr sz="1050" b="0" i="1">
                <a:solidFill>
                  <a:srgbClr val="16213A"/>
                </a:solidFill>
                <a:latin typeface="Arial"/>
                <a:ea typeface="Malgun Gothic"/>
                <a:cs typeface="Malgun Gothic"/>
              </a:rPr>
              <a:t>zₜ ≈ 0</a:t>
            </a:r>
            <a:r>
              <a:rPr sz="1050" b="0" i="0">
                <a:solidFill>
                  <a:srgbClr val="16213A"/>
                </a:solidFill>
                <a:latin typeface="Arial"/>
                <a:ea typeface="Malgun Gothic"/>
                <a:cs typeface="Malgun Gothic"/>
              </a:rPr>
              <a:t>이면 옛 기억을 그대로 넘기므로 기울기도 그 경로로 잘 흐른다. LSTM보다 게이트가 하나 적고 셀 상태가 따로 없어 가볍다.</a:t>
            </a:r>
          </a:p>
        </p:txBody>
      </p:sp>
      <p:sp>
        <p:nvSpPr>
          <p:cNvPr id="12" name="TextBox 11"/>
          <p:cNvSpPr txBox="1"/>
          <p:nvPr/>
        </p:nvSpPr>
        <p:spPr>
          <a:xfrm>
            <a:off x="609600" y="397936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a:t>
            </a:r>
            <a:r>
              <a:rPr sz="1050" b="0" i="0">
                <a:solidFill>
                  <a:srgbClr val="16213A"/>
                </a:solidFill>
                <a:latin typeface="Arial"/>
                <a:ea typeface="Malgun Gothic"/>
                <a:cs typeface="Malgun Gothic"/>
              </a:rPr>
              <a:t> 시간축으로 펼쳐 역전파한다(BPTT). 긴 시퀀스는 일정 길이에서 끊는다(절단 BPTT). Miki 2022는 10스텝에서 끊었다.</a:t>
            </a:r>
          </a:p>
        </p:txBody>
      </p:sp>
      <p:sp>
        <p:nvSpPr>
          <p:cNvPr id="13" name="TextBox 12"/>
          <p:cNvSpPr txBox="1"/>
          <p:nvPr/>
        </p:nvSpPr>
        <p:spPr>
          <a:xfrm>
            <a:off x="609600" y="42847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로봇이 미끄러운 판에 올라섰다. 몇 스텝 동안 발 속도가 예상보다 크게 나온다. GRU는 이 증거를 </a:t>
            </a:r>
            <a:r>
              <a:rPr sz="1050" b="0" i="1">
                <a:solidFill>
                  <a:srgbClr val="16213A"/>
                </a:solidFill>
                <a:latin typeface="Arial"/>
                <a:ea typeface="Malgun Gothic"/>
                <a:cs typeface="Malgun Gothic"/>
              </a:rPr>
              <a:t>hₜ</a:t>
            </a:r>
            <a:r>
              <a:rPr sz="1050" b="0" i="0">
                <a:solidFill>
                  <a:srgbClr val="16213A"/>
                </a:solidFill>
                <a:latin typeface="Arial"/>
                <a:ea typeface="Malgun Gothic"/>
                <a:cs typeface="Malgun Gothic"/>
              </a:rPr>
              <a:t>에 쌓아 "마찰이 낮다"는 belief를 만들고, 판을 벗어날 때까지 유지한다. 한 스텝 입력만 보는 MLP는 이것을 할 수 없다.</a:t>
            </a:r>
          </a:p>
        </p:txBody>
      </p:sp>
      <p:sp>
        <p:nvSpPr>
          <p:cNvPr id="14" name="TextBox 13"/>
          <p:cNvSpPr txBox="1"/>
          <p:nvPr/>
        </p:nvSpPr>
        <p:spPr>
          <a:xfrm>
            <a:off x="609600" y="480665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a:t>
            </a:r>
            <a:r>
              <a:rPr sz="1050" b="0" i="0">
                <a:solidFill>
                  <a:srgbClr val="16213A"/>
                </a:solidFill>
                <a:latin typeface="Arial"/>
                <a:ea typeface="Malgun Gothic"/>
                <a:cs typeface="Malgun Gothic"/>
              </a:rPr>
              <a:t> Miki 2022의 belief encoder는 2층 GRU(50 유닛)다. 원문 ablation에서 GRU는 MLP보다 나았고, MLP는 특권 정보를 복원하지 못했다. Raibo tracker의 상태 추정기(몸통 선속도 추정)도 GRU(128 유닛) + MLP다.</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시그모이드 게이트 — 0과 1 사이 가중치로 정보의 흐름을 연다·닫는다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283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게이트는 네트워크가 스스로 계산한 </a:t>
            </a:r>
            <a:r>
              <a:rPr sz="1050" b="0" i="1">
                <a:solidFill>
                  <a:srgbClr val="16213A"/>
                </a:solidFill>
                <a:latin typeface="Arial"/>
                <a:ea typeface="Malgun Gothic"/>
                <a:cs typeface="Malgun Gothic"/>
              </a:rPr>
              <a:t>[0, 1]</a:t>
            </a:r>
            <a:r>
              <a:rPr sz="1050" b="0" i="0">
                <a:solidFill>
                  <a:srgbClr val="16213A"/>
                </a:solidFill>
                <a:latin typeface="Arial"/>
                <a:ea typeface="Malgun Gothic"/>
                <a:cs typeface="Malgun Gothic"/>
              </a:rPr>
              <a:t> 값 벡터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로 다른 신호를 원소별로 곱하는 장치다. </a:t>
            </a:r>
            <a:r>
              <a:rPr sz="1050" b="0" i="1">
                <a:solidFill>
                  <a:srgbClr val="16213A"/>
                </a:solidFill>
                <a:latin typeface="Arial"/>
                <a:ea typeface="Malgun Gothic"/>
                <a:cs typeface="Malgun Gothic"/>
              </a:rPr>
              <a:t>αᵢ = 1</a:t>
            </a:r>
            <a:r>
              <a:rPr sz="1050" b="0" i="0">
                <a:solidFill>
                  <a:srgbClr val="16213A"/>
                </a:solidFill>
                <a:latin typeface="Arial"/>
                <a:ea typeface="Malgun Gothic"/>
                <a:cs typeface="Malgun Gothic"/>
              </a:rPr>
              <a:t>이면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번째 성분을 그대로 통과시키고, </a:t>
            </a:r>
            <a:r>
              <a:rPr sz="1050" b="0" i="1">
                <a:solidFill>
                  <a:srgbClr val="16213A"/>
                </a:solidFill>
                <a:latin typeface="Arial"/>
                <a:ea typeface="Malgun Gothic"/>
                <a:cs typeface="Malgun Gothic"/>
              </a:rPr>
              <a:t>0</a:t>
            </a:r>
            <a:r>
              <a:rPr sz="1050" b="0" i="0">
                <a:solidFill>
                  <a:srgbClr val="16213A"/>
                </a:solidFill>
                <a:latin typeface="Arial"/>
                <a:ea typeface="Malgun Gothic"/>
                <a:cs typeface="Malgun Gothic"/>
              </a:rPr>
              <a:t>이면 막는다. 이 값을 입력에 따라 매번 새로 계산하므로 "상황에 따라 무엇에 주목할지"를 배우는 attention의 한 형태다.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동작하나.</a:t>
            </a:r>
            <a:r>
              <a:rPr sz="1050" b="0" i="0">
                <a:solidFill>
                  <a:srgbClr val="16213A"/>
                </a:solidFill>
                <a:latin typeface="Arial"/>
                <a:ea typeface="Malgun Gothic"/>
                <a:cs typeface="Malgun Gothic"/>
              </a:rPr>
              <a:t> 게이트를 정할 문맥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(Miki 2022에서는 GRU 출력 </a:t>
            </a:r>
            <a:r>
              <a:rPr sz="1050" b="0" i="1">
                <a:solidFill>
                  <a:srgbClr val="16213A"/>
                </a:solidFill>
                <a:latin typeface="Arial"/>
                <a:ea typeface="Malgun Gothic"/>
                <a:cs typeface="Malgun Gothic"/>
              </a:rPr>
              <a:t>b'ₜ</a:t>
            </a:r>
            <a:r>
              <a:rPr sz="1050" b="0" i="0">
                <a:solidFill>
                  <a:srgbClr val="16213A"/>
                </a:solidFill>
                <a:latin typeface="Arial"/>
                <a:ea typeface="Malgun Gothic"/>
                <a:cs typeface="Malgun Gothic"/>
              </a:rPr>
              <a:t>)에서 작은 MLP </a:t>
            </a:r>
            <a:r>
              <a:rPr sz="1050" b="0" i="1">
                <a:solidFill>
                  <a:srgbClr val="16213A"/>
                </a:solidFill>
                <a:latin typeface="Arial"/>
                <a:ea typeface="Malgun Gothic"/>
                <a:cs typeface="Malgun Gothic"/>
              </a:rPr>
              <a:t>gₐ</a:t>
            </a:r>
            <a:r>
              <a:rPr sz="1050" b="0" i="0">
                <a:solidFill>
                  <a:srgbClr val="16213A"/>
                </a:solidFill>
                <a:latin typeface="Arial"/>
                <a:ea typeface="Malgun Gothic"/>
                <a:cs typeface="Malgun Gothic"/>
              </a:rPr>
              <a:t>를 거쳐 시그모이드를 씌운다.</a:t>
            </a:r>
          </a:p>
        </p:txBody>
      </p:sp>
      <p:pic>
        <p:nvPicPr>
          <p:cNvPr id="7" name="Picture 6" descr="image.png"/>
          <p:cNvPicPr>
            <a:picLocks noChangeAspect="1"/>
          </p:cNvPicPr>
          <p:nvPr/>
        </p:nvPicPr>
        <p:blipFill>
          <a:blip r:embed="rId3"/>
          <a:stretch>
            <a:fillRect/>
          </a:stretch>
        </p:blipFill>
        <p:spPr>
          <a:xfrm>
            <a:off x="609600" y="2071886"/>
            <a:ext cx="4171950" cy="381000"/>
          </a:xfrm>
          <a:prstGeom prst="rect">
            <a:avLst/>
          </a:prstGeom>
        </p:spPr>
      </p:pic>
      <p:sp>
        <p:nvSpPr>
          <p:cNvPr id="8" name="TextBox 7"/>
          <p:cNvSpPr txBox="1"/>
          <p:nvPr/>
        </p:nvSpPr>
        <p:spPr>
          <a:xfrm>
            <a:off x="609600" y="2467471"/>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는 걸러질 신호(높이 특징), </a:t>
            </a:r>
            <a:r>
              <a:rPr sz="1050" b="0" i="1">
                <a:solidFill>
                  <a:srgbClr val="16213A"/>
                </a:solidFill>
                <a:latin typeface="Arial"/>
                <a:ea typeface="Malgun Gothic"/>
                <a:cs typeface="Malgun Gothic"/>
              </a:rPr>
              <a:t>f(c)</a:t>
            </a:r>
            <a:r>
              <a:rPr sz="1050" b="0" i="0">
                <a:solidFill>
                  <a:srgbClr val="16213A"/>
                </a:solidFill>
                <a:latin typeface="Arial"/>
                <a:ea typeface="Malgun Gothic"/>
                <a:cs typeface="Malgun Gothic"/>
              </a:rPr>
              <a:t>는 늘 흐르는 경로다. 곱이 미분 가능하므로 "언제 열지"를 따로 라벨 없이 최종 손실만으로 배운다. softmax attention은 후보들의 가중치 합을 1로 묶어 서로 경쟁시키지만(하나를 키우면 나머지가 줄어든다), 시그모이드 게이트는 성분마다 </a:t>
            </a:r>
            <a:r>
              <a:rPr sz="1050" b="1" i="0">
                <a:solidFill>
                  <a:srgbClr val="16213A"/>
                </a:solidFill>
                <a:latin typeface="Arial"/>
                <a:ea typeface="Malgun Gothic"/>
                <a:cs typeface="Malgun Gothic"/>
              </a:rPr>
              <a:t>독립적으로</a:t>
            </a:r>
            <a:r>
              <a:rPr sz="1050" b="0" i="0">
                <a:solidFill>
                  <a:srgbClr val="16213A"/>
                </a:solidFill>
                <a:latin typeface="Arial"/>
                <a:ea typeface="Malgun Gothic"/>
                <a:cs typeface="Malgun Gothic"/>
              </a:rPr>
              <a:t> 연다. 여러 입력을 동시에 조금씩 통과시킬 수 있다.</a:t>
            </a:r>
          </a:p>
        </p:txBody>
      </p:sp>
      <p:sp>
        <p:nvSpPr>
          <p:cNvPr id="9" name="TextBox 8"/>
          <p:cNvSpPr txBox="1"/>
          <p:nvPr/>
        </p:nvSpPr>
        <p:spPr>
          <a:xfrm>
            <a:off x="609600" y="29893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게이트 없이 </a:t>
            </a:r>
            <a:r>
              <a:rPr sz="1050" b="0" i="1">
                <a:solidFill>
                  <a:srgbClr val="16213A"/>
                </a:solidFill>
                <a:latin typeface="Arial"/>
                <a:ea typeface="Malgun Gothic"/>
                <a:cs typeface="Malgun Gothic"/>
              </a:rPr>
              <a:t>y = f([c, x])</a:t>
            </a:r>
            <a:r>
              <a:rPr sz="1050" b="0" i="0">
                <a:solidFill>
                  <a:srgbClr val="16213A"/>
                </a:solidFill>
                <a:latin typeface="Arial"/>
                <a:ea typeface="Malgun Gothic"/>
                <a:cs typeface="Malgun Gothic"/>
              </a:rPr>
              <a:t>로 이어 붙이기만 해도 이론상 같은 함수를 표현할 수 있다. 하지만 "신호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를 거의 그대로 쓰는 경로"와 "무시하는 경로"를 명시적으로 두면 학습이 쉽다. 지도가 좋을 때는 skip 경로로 높이를 바로 흘리고, 나쁠 때는 proprioception 쪽 </a:t>
            </a:r>
            <a:r>
              <a:rPr sz="1050" b="0" i="1">
                <a:solidFill>
                  <a:srgbClr val="16213A"/>
                </a:solidFill>
                <a:latin typeface="Arial"/>
                <a:ea typeface="Malgun Gothic"/>
                <a:cs typeface="Malgun Gothic"/>
              </a:rPr>
              <a:t>f(c)</a:t>
            </a:r>
            <a:r>
              <a:rPr sz="1050" b="0" i="0">
                <a:solidFill>
                  <a:srgbClr val="16213A"/>
                </a:solidFill>
                <a:latin typeface="Arial"/>
                <a:ea typeface="Malgun Gothic"/>
                <a:cs typeface="Malgun Gothic"/>
              </a:rPr>
              <a:t>에 기대는 식이다. GRU 안의 </a:t>
            </a:r>
            <a:r>
              <a:rPr sz="1050" b="0" i="1">
                <a:solidFill>
                  <a:srgbClr val="16213A"/>
                </a:solidFill>
                <a:latin typeface="Arial"/>
                <a:ea typeface="Malgun Gothic"/>
                <a:cs typeface="Malgun Gothic"/>
              </a:rPr>
              <a:t>zₜ</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rₜ</a:t>
            </a:r>
            <a:r>
              <a:rPr sz="1050" b="0" i="0">
                <a:solidFill>
                  <a:srgbClr val="16213A"/>
                </a:solidFill>
                <a:latin typeface="Arial"/>
                <a:ea typeface="Malgun Gothic"/>
                <a:cs typeface="Malgun Gothic"/>
              </a:rPr>
              <a:t>도 같은 원리의 게이트다(배경: GRU 토글 참고).</a:t>
            </a:r>
          </a:p>
        </p:txBody>
      </p:sp>
      <p:sp>
        <p:nvSpPr>
          <p:cNvPr id="10" name="TextBox 9"/>
          <p:cNvSpPr txBox="1"/>
          <p:nvPr/>
        </p:nvSpPr>
        <p:spPr>
          <a:xfrm>
            <a:off x="609600" y="351125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발 주변 높이 특징 96차원 중 오른쪽 앞발 부분만 이상하게 튄다(반사면). 게이트는 그 발에 해당하는 성분만 0에 가깝게 닫고 나머지 세 발의 높이는 그대로 쓸 수 있다. 스칼라 신뢰도 하나로 지도 전체를 켜고 끄는 방식보다 세밀하다.</a:t>
            </a:r>
          </a:p>
        </p:txBody>
      </p:sp>
      <p:sp>
        <p:nvSpPr>
          <p:cNvPr id="11" name="TextBox 10"/>
          <p:cNvSpPr txBox="1"/>
          <p:nvPr/>
        </p:nvSpPr>
        <p:spPr>
          <a:xfrm>
            <a:off x="609600" y="403314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a:t>
            </a:r>
            <a:r>
              <a:rPr sz="1050" b="0" i="0">
                <a:solidFill>
                  <a:srgbClr val="16213A"/>
                </a:solidFill>
                <a:latin typeface="Arial"/>
                <a:ea typeface="Malgun Gothic"/>
                <a:cs typeface="Malgun Gothic"/>
              </a:rPr>
              <a:t> Miki 2022의 belief encoder와 디코더가 이 게이트를 쓴다. 원문 S9의 ablation에서 게이트는 잡음이 작을 때 행동·복원 오차를 모든 지형에서 줄였고, 잡음이 클 때는 게이트 없는 모델과 비슷해졌다. travplan의 </a:t>
            </a:r>
            <a:r>
              <a:rPr sz="1050" b="0" i="0">
                <a:solidFill>
                  <a:srgbClr val="16213A"/>
                </a:solidFill>
                <a:latin typeface="Consolas"/>
                <a:ea typeface="Malgun Gothic"/>
                <a:cs typeface="Malgun Gothic"/>
              </a:rPr>
              <a:t>SIGMA</a:t>
            </a:r>
            <a:r>
              <a:rPr sz="1050" b="0" i="0">
                <a:solidFill>
                  <a:srgbClr val="16213A"/>
                </a:solidFill>
                <a:latin typeface="Arial"/>
                <a:ea typeface="Malgun Gothic"/>
                <a:cs typeface="Malgun Gothic"/>
              </a:rPr>
              <a:t> 채널은 이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를 사람이 정의해 지도에 붙여 둔 것에 해당한다. 방향은 반대다(</a:t>
            </a:r>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가 클수록 덜 믿는다).</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elevation map — 격자 칸마다 높이 하나와 그 분산을 들고 다니는 2.5D 지도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284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elevation map은 바닥 평면을 격자로 나누고, 칸마다 지면 높이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 하나를 저장하는 지도다. 3D를 다 담지 않고 "평면 위치 → 높이" 함수만 담아서 2.5D라 부른다. 칸마다 높이의 </a:t>
            </a:r>
            <a:r>
              <a:rPr sz="1050" b="1" i="0">
                <a:solidFill>
                  <a:srgbClr val="16213A"/>
                </a:solidFill>
                <a:latin typeface="Arial"/>
                <a:ea typeface="Malgun Gothic"/>
                <a:cs typeface="Malgun Gothic"/>
              </a:rPr>
              <a:t>분산</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σ²</a:t>
            </a:r>
            <a:r>
              <a:rPr sz="1050" b="0" i="0">
                <a:solidFill>
                  <a:srgbClr val="16213A"/>
                </a:solidFill>
                <a:latin typeface="Arial"/>
                <a:ea typeface="Malgun Gothic"/>
                <a:cs typeface="Malgun Gothic"/>
              </a:rPr>
              <a:t>도 함께 둔다. 이 값이 "이 높이를 얼마나 믿을 수 있나"를 말한다.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점군은 크고 매 프레임 가려진다. 제어기와 계획기는 고정 크기의, 시간에 걸쳐 쌓인 지형 표현이 필요하다. 3D voxel보다 메모리가 훨씬 적고, 경사·턱·거칠기 같은 지형 특징을 이미지 연산으로 바로 계산할 수 있다. 대가로 </a:t>
            </a:r>
            <a:r>
              <a:rPr sz="1050" b="1" i="0">
                <a:solidFill>
                  <a:srgbClr val="16213A"/>
                </a:solidFill>
                <a:latin typeface="Arial"/>
                <a:ea typeface="Malgun Gothic"/>
                <a:cs typeface="Malgun Gothic"/>
              </a:rPr>
              <a:t>칸마다 높이가 하나뿐</a:t>
            </a:r>
            <a:r>
              <a:rPr sz="1050" b="0" i="0">
                <a:solidFill>
                  <a:srgbClr val="16213A"/>
                </a:solidFill>
                <a:latin typeface="Arial"/>
                <a:ea typeface="Malgun Gothic"/>
                <a:cs typeface="Malgun Gothic"/>
              </a:rPr>
              <a:t>이다. 다리 밑, 테이블, 나뭇가지 같은 오버행을 표현하지 못하고 벽이나 턱으로 그린다. 딱딱한 땅과 풀·눈도 구별하지 못한다.</a:t>
            </a:r>
          </a:p>
        </p:txBody>
      </p:sp>
      <p:sp>
        <p:nvSpPr>
          <p:cNvPr id="7" name="TextBox 6"/>
          <p:cNvSpPr txBox="1"/>
          <p:nvPr/>
        </p:nvSpPr>
        <p:spPr>
          <a:xfrm>
            <a:off x="609600" y="22883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높이 융합(1차원 칼만 필터).</a:t>
            </a:r>
            <a:r>
              <a:rPr sz="1050" b="0" i="0">
                <a:solidFill>
                  <a:srgbClr val="16213A"/>
                </a:solidFill>
                <a:latin typeface="Arial"/>
                <a:ea typeface="Malgun Gothic"/>
                <a:cs typeface="Malgun Gothic"/>
              </a:rPr>
              <a:t> 새 측정점 높이 </a:t>
            </a:r>
            <a:r>
              <a:rPr sz="1050" b="0" i="1">
                <a:solidFill>
                  <a:srgbClr val="16213A"/>
                </a:solidFill>
                <a:latin typeface="Arial"/>
                <a:ea typeface="Malgun Gothic"/>
                <a:cs typeface="Malgun Gothic"/>
              </a:rPr>
              <a:t>p_z</a:t>
            </a:r>
            <a:r>
              <a:rPr sz="1050" b="0" i="0">
                <a:solidFill>
                  <a:srgbClr val="16213A"/>
                </a:solidFill>
                <a:latin typeface="Arial"/>
                <a:ea typeface="Malgun Gothic"/>
                <a:cs typeface="Malgun Gothic"/>
              </a:rPr>
              <a:t>가 칸에 떨어지면, 칸의 추정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와 분산을 역수로 가중해 섞는다. 측정 분산 </a:t>
            </a:r>
            <a:r>
              <a:rPr sz="1050" b="0" i="1">
                <a:solidFill>
                  <a:srgbClr val="16213A"/>
                </a:solidFill>
                <a:latin typeface="Arial"/>
                <a:ea typeface="Malgun Gothic"/>
                <a:cs typeface="Malgun Gothic"/>
              </a:rPr>
              <a:t>σₚ²</a:t>
            </a:r>
            <a:r>
              <a:rPr sz="1050" b="0" i="0">
                <a:solidFill>
                  <a:srgbClr val="16213A"/>
                </a:solidFill>
                <a:latin typeface="Arial"/>
                <a:ea typeface="Malgun Gothic"/>
                <a:cs typeface="Malgun Gothic"/>
              </a:rPr>
              <a:t>는 센서 거리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의 제곱에 비례하게 둔다(</a:t>
            </a:r>
            <a:r>
              <a:rPr sz="1050" b="0" i="1">
                <a:solidFill>
                  <a:srgbClr val="16213A"/>
                </a:solidFill>
                <a:latin typeface="Arial"/>
                <a:ea typeface="Malgun Gothic"/>
                <a:cs typeface="Malgun Gothic"/>
              </a:rPr>
              <a:t>σₚ² = α_d d²</a:t>
            </a:r>
            <a:r>
              <a:rPr sz="1050" b="0" i="0">
                <a:solidFill>
                  <a:srgbClr val="16213A"/>
                </a:solidFill>
                <a:latin typeface="Arial"/>
                <a:ea typeface="Malgun Gothic"/>
                <a:cs typeface="Malgun Gothic"/>
              </a:rPr>
              <a:t>). 멀리서 본 점일수록 덜 믿는다는 뜻이다.</a:t>
            </a:r>
          </a:p>
        </p:txBody>
      </p:sp>
      <p:pic>
        <p:nvPicPr>
          <p:cNvPr id="8" name="Picture 7" descr="image.png"/>
          <p:cNvPicPr>
            <a:picLocks noChangeAspect="1"/>
          </p:cNvPicPr>
          <p:nvPr/>
        </p:nvPicPr>
        <p:blipFill>
          <a:blip r:embed="rId3"/>
          <a:stretch>
            <a:fillRect/>
          </a:stretch>
        </p:blipFill>
        <p:spPr>
          <a:xfrm>
            <a:off x="609600" y="2810272"/>
            <a:ext cx="2828925" cy="473075"/>
          </a:xfrm>
          <a:prstGeom prst="rect">
            <a:avLst/>
          </a:prstGeom>
        </p:spPr>
      </p:pic>
      <p:sp>
        <p:nvSpPr>
          <p:cNvPr id="9" name="TextBox 8"/>
          <p:cNvSpPr txBox="1"/>
          <p:nvPr/>
        </p:nvSpPr>
        <p:spPr>
          <a:xfrm>
            <a:off x="609600" y="3288804"/>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첫 식은 분산이 작은 쪽에 더 끌리는 가중 평균이다. 둘째 식은 측정을 하나 더 받을 때마다 분산이 줄어든다는 뜻이다. 두 가우시안을 곱한 결과와 같아서 칼만 필터의 갱신 단계를 칸마다 따로 푼 것과 같다.</a:t>
            </a:r>
          </a:p>
        </p:txBody>
      </p:sp>
      <p:sp>
        <p:nvSpPr>
          <p:cNvPr id="10" name="TextBox 9"/>
          <p:cNvSpPr txBox="1"/>
          <p:nvPr/>
        </p:nvSpPr>
        <p:spPr>
          <a:xfrm>
            <a:off x="609600" y="38106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칸 추정이 </a:t>
            </a:r>
            <a:r>
              <a:rPr sz="1050" b="0" i="1">
                <a:solidFill>
                  <a:srgbClr val="16213A"/>
                </a:solidFill>
                <a:latin typeface="Arial"/>
                <a:ea typeface="Malgun Gothic"/>
                <a:cs typeface="Malgun Gothic"/>
              </a:rPr>
              <a:t>h = 0.10</a:t>
            </a:r>
            <a:r>
              <a:rPr sz="1050" b="0" i="0">
                <a:solidFill>
                  <a:srgbClr val="16213A"/>
                </a:solidFill>
                <a:latin typeface="Arial"/>
                <a:ea typeface="Malgun Gothic"/>
                <a:cs typeface="Malgun Gothic"/>
              </a:rPr>
              <a:t> m, </a:t>
            </a:r>
            <a:r>
              <a:rPr sz="1050" b="0" i="1">
                <a:solidFill>
                  <a:srgbClr val="16213A"/>
                </a:solidFill>
                <a:latin typeface="Arial"/>
                <a:ea typeface="Malgun Gothic"/>
                <a:cs typeface="Malgun Gothic"/>
              </a:rPr>
              <a:t>σₘ² = 4×10⁻⁴</a:t>
            </a:r>
            <a:r>
              <a:rPr sz="1050" b="0" i="0">
                <a:solidFill>
                  <a:srgbClr val="16213A"/>
                </a:solidFill>
                <a:latin typeface="Arial"/>
                <a:ea typeface="Malgun Gothic"/>
                <a:cs typeface="Malgun Gothic"/>
              </a:rPr>
              <a:t>(표준편차 2 cm)이다. 같은 정확도의 새 측정 </a:t>
            </a:r>
            <a:r>
              <a:rPr sz="1050" b="0" i="1">
                <a:solidFill>
                  <a:srgbClr val="16213A"/>
                </a:solidFill>
                <a:latin typeface="Arial"/>
                <a:ea typeface="Malgun Gothic"/>
                <a:cs typeface="Malgun Gothic"/>
              </a:rPr>
              <a:t>p_z = 0.14</a:t>
            </a:r>
            <a:r>
              <a:rPr sz="1050" b="0" i="0">
                <a:solidFill>
                  <a:srgbClr val="16213A"/>
                </a:solidFill>
                <a:latin typeface="Arial"/>
                <a:ea typeface="Malgun Gothic"/>
                <a:cs typeface="Malgun Gothic"/>
              </a:rPr>
              <a:t> m가 들어오면 새 높이는 0.12 m, 분산은 </a:t>
            </a:r>
            <a:r>
              <a:rPr sz="1050" b="0" i="1">
                <a:solidFill>
                  <a:srgbClr val="16213A"/>
                </a:solidFill>
                <a:latin typeface="Arial"/>
                <a:ea typeface="Malgun Gothic"/>
                <a:cs typeface="Malgun Gothic"/>
              </a:rPr>
              <a:t>2×10⁻⁴</a:t>
            </a:r>
            <a:r>
              <a:rPr sz="1050" b="0" i="0">
                <a:solidFill>
                  <a:srgbClr val="16213A"/>
                </a:solidFill>
                <a:latin typeface="Arial"/>
                <a:ea typeface="Malgun Gothic"/>
                <a:cs typeface="Malgun Gothic"/>
              </a:rPr>
              <a:t>(약 1.4 cm)이 된다. 측정 분산이 네 배 크면(멀리서 봄) 높이는 0.108 m로 조금만 움직인다.</a:t>
            </a:r>
          </a:p>
        </p:txBody>
      </p:sp>
      <p:sp>
        <p:nvSpPr>
          <p:cNvPr id="11" name="TextBox 10"/>
          <p:cNvSpPr txBox="1"/>
          <p:nvPr/>
        </p:nvSpPr>
        <p:spPr>
          <a:xfrm>
            <a:off x="609600" y="433258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분산이 커지는 경우.</a:t>
            </a:r>
            <a:r>
              <a:rPr sz="1050" b="0" i="0">
                <a:solidFill>
                  <a:srgbClr val="16213A"/>
                </a:solidFill>
                <a:latin typeface="Arial"/>
                <a:ea typeface="Malgun Gothic"/>
                <a:cs typeface="Malgun Gothic"/>
              </a:rPr>
              <a:t> 측정이 없으면 시간에 따라 분산을 조금씩 더한다. 로봇 중심 지도(Fankhauser 2014·2018, A.2b)는 로봇 자세의 불확실성도 지도 분산에 전파한다. 그래서 오래전에, 멀리서 본 칸일수록 분산이 크다. 추정에서 Mahalanobis 거리가 너무 먼 측정은 이상치로 버린다.</a:t>
            </a:r>
          </a:p>
        </p:txBody>
      </p:sp>
      <p:sp>
        <p:nvSpPr>
          <p:cNvPr id="12" name="TextBox 11"/>
          <p:cNvSpPr txBox="1"/>
          <p:nvPr/>
        </p:nvSpPr>
        <p:spPr>
          <a:xfrm>
            <a:off x="609600" y="485447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a:t>
            </a:r>
            <a:r>
              <a:rPr sz="1050" b="0" i="0">
                <a:solidFill>
                  <a:srgbClr val="16213A"/>
                </a:solidFill>
                <a:latin typeface="Arial"/>
                <a:ea typeface="Malgun Gothic"/>
                <a:cs typeface="Malgun Gothic"/>
              </a:rPr>
              <a:t> Miki 2022의 정책은 이 지도에서 발 주변 높이 208개를 읽는다. 오버행·눈·드리프트로 지도가 틀리는 사례(Fig. 3)가 그 논문의 출발점이다. ANYmal Parkour는 elevation map의 한계(오버행·가려진 윗면) 때문에 3D 복원 네트워크를 따로 두고, 기술 정책에만 2 m × 1 m 2.5D 지도를 준다. Raibo의 planner도 2.5D 지도 위에서 발 디딤을 찾는다. 이 계보의 GPU 구현이 A.7.2의 elevation_mapping_cupy이고, travplan L1의 코어다. travplan </a:t>
            </a:r>
            <a:r>
              <a:rPr sz="1050" b="0" i="0">
                <a:solidFill>
                  <a:srgbClr val="16213A"/>
                </a:solidFill>
                <a:latin typeface="Consolas"/>
                <a:ea typeface="Malgun Gothic"/>
                <a:cs typeface="Malgun Gothic"/>
              </a:rPr>
              <a:t>TravMap</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elev</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sigma</a:t>
            </a:r>
            <a:r>
              <a:rPr sz="1050" b="0" i="0">
                <a:solidFill>
                  <a:srgbClr val="16213A"/>
                </a:solidFill>
                <a:latin typeface="Arial"/>
                <a:ea typeface="Malgun Gothic"/>
                <a:cs typeface="Malgun Gothic"/>
              </a:rPr>
              <a:t> 채널이 각각 이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와 신뢰도에 해당한다.</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285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ANYmal Parkour</a:t>
            </a:r>
            <a:r>
              <a:rPr sz="1050" b="0" i="0">
                <a:solidFill>
                  <a:srgbClr val="16213A"/>
                </a:solidFill>
                <a:latin typeface="Arial"/>
                <a:ea typeface="Malgun Gothic"/>
                <a:cs typeface="Malgun Gothic"/>
              </a:rPr>
              <a:t>(Hoeller et al., </a:t>
            </a:r>
            <a:r>
              <a:rPr sz="1050" b="0" i="0">
                <a:solidFill>
                  <a:srgbClr val="1D4ED8"/>
                </a:solidFill>
                <a:latin typeface="Arial"/>
                <a:ea typeface="Malgun Gothic"/>
                <a:cs typeface="Malgun Gothic"/>
                <a:hlinkClick r:id="rId3"/>
              </a:rPr>
              <a:t>arXiv:2306.14874</a:t>
            </a:r>
            <a:r>
              <a:rPr sz="1050" b="0" i="0">
                <a:solidFill>
                  <a:srgbClr val="16213A"/>
                </a:solidFill>
                <a:latin typeface="Arial"/>
                <a:ea typeface="Malgun Gothic"/>
                <a:cs typeface="Malgun Gothic"/>
              </a:rPr>
              <a:t>) — 세 층으로 나눈다. 인식 모듈이 점군으로 주변 지형을 복원하고, 걷기·점프·오르기·웅크리기 같은 기술(skill) 정책이 따로 있으며, 내비게이션 정책이 어떤 기술을 어떤 목표로 쓸지 고른다. travplan의 "Planner가 궤적을 내고 Controller가 실행한다"를 기술 단위로 넓힌 형태다.</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286 / 359</a:t>
            </a:r>
          </a:p>
        </p:txBody>
      </p:sp>
      <p:pic>
        <p:nvPicPr>
          <p:cNvPr id="5" name="Picture 4" descr="image.jpg"/>
          <p:cNvPicPr>
            <a:picLocks noChangeAspect="1"/>
          </p:cNvPicPr>
          <p:nvPr/>
        </p:nvPicPr>
        <p:blipFill>
          <a:blip r:embed="rId3"/>
          <a:stretch>
            <a:fillRect/>
          </a:stretch>
        </p:blipFill>
        <p:spPr>
          <a:xfrm>
            <a:off x="3435350" y="1244600"/>
            <a:ext cx="5321300" cy="4445000"/>
          </a:xfrm>
          <a:prstGeom prst="rect">
            <a:avLst/>
          </a:prstGeom>
        </p:spPr>
      </p:pic>
      <p:sp>
        <p:nvSpPr>
          <p:cNvPr id="6" name="TextBox 5"/>
          <p:cNvSpPr txBox="1"/>
          <p:nvPr/>
        </p:nvSpPr>
        <p:spPr>
          <a:xfrm>
            <a:off x="3435350" y="5727700"/>
            <a:ext cx="53213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ANYmal Parkour (Fig. 2): 인식 모듈(지형 복원) → 내비게이션 정책(기술 선택·목표) → 보행 기술 정책의 3단 구조. 출처: arXiv:2306.14874</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자세히: ANYmal Parkour의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287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파쿠르식 코스에서는 걷기만으로 안 된다. 뛰고, 기어오르고, 무릎을 걸쳐 내려오고, 테이블 밑을 기어야 한다. 이때 네 가지가 동시에 어렵다. 주기적 보행을 가정할 수 없고, 충격 때문에 자세 추정이 크게 흐르고, 팔다리가 센서를 가려 시야가 좁고, 계획기가 하위 제어기의 한계를 알아야 한다. 기존 방법은 샘플링 계획이 느리거나(수 초, 사전 지도 필요), 전문가가 경로와 기술 전환을 손으로 정했다. 이 논문은 </a:t>
            </a:r>
            <a:r>
              <a:rPr sz="1050" b="1" i="0">
                <a:solidFill>
                  <a:srgbClr val="16213A"/>
                </a:solidFill>
                <a:latin typeface="Arial"/>
                <a:ea typeface="Malgun Gothic"/>
                <a:cs typeface="Malgun Gothic"/>
              </a:rPr>
              <a:t>사전 지도·오프라인 계산·전문가 시연 없이</a:t>
            </a:r>
            <a:r>
              <a:rPr sz="1050" b="0" i="0">
                <a:solidFill>
                  <a:srgbClr val="16213A"/>
                </a:solidFill>
                <a:latin typeface="Arial"/>
                <a:ea typeface="Malgun Gothic"/>
                <a:cs typeface="Malgun Gothic"/>
              </a:rPr>
              <a:t> 세 개의 학습 모듈로 이것을 푼다.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구조(Fig. 2).</a:t>
            </a:r>
            <a:r>
              <a:rPr sz="1050" b="0" i="0">
                <a:solidFill>
                  <a:srgbClr val="16213A"/>
                </a:solidFill>
                <a:latin typeface="Arial"/>
                <a:ea typeface="Malgun Gothic"/>
                <a:cs typeface="Malgun Gothic"/>
              </a:rPr>
              <a:t> 인식 → 내비게이션 → 보행 기술의 3단이다. 전부 시뮬레이션에서만 학습하고 실물(ANYmal D, 약 55 kg, 관절 토크 85 N·m)에 그대로 올린다. 센서는 RealSense 깊이 카메라 6대와 Velodyne Puck LiDAR 1대다. 네트워크는 모두 8개다.</a:t>
            </a:r>
          </a:p>
        </p:txBody>
      </p:sp>
      <p:sp>
        <p:nvSpPr>
          <p:cNvPr id="7" name="TextBox 6"/>
          <p:cNvSpPr txBox="1"/>
          <p:nvPr/>
        </p:nvSpPr>
        <p:spPr>
          <a:xfrm>
            <a:off x="609600" y="25048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인식 모듈.</a:t>
            </a:r>
            <a:r>
              <a:rPr sz="1050" b="0" i="0">
                <a:solidFill>
                  <a:srgbClr val="16213A"/>
                </a:solidFill>
                <a:latin typeface="Arial"/>
                <a:ea typeface="Malgun Gothic"/>
                <a:cs typeface="Malgun Gothic"/>
              </a:rPr>
              <a:t> 점군을 받아 가려지고 잡음 섞인 지형을 </a:t>
            </a:r>
            <a:r>
              <a:rPr sz="1050" b="1" i="0">
                <a:solidFill>
                  <a:srgbClr val="16213A"/>
                </a:solidFill>
                <a:latin typeface="Arial"/>
                <a:ea typeface="Malgun Gothic"/>
                <a:cs typeface="Malgun Gothic"/>
              </a:rPr>
              <a:t>3D로</a:t>
            </a:r>
            <a:r>
              <a:rPr sz="1050" b="0" i="0">
                <a:solidFill>
                  <a:srgbClr val="16213A"/>
                </a:solidFill>
                <a:latin typeface="Arial"/>
                <a:ea typeface="Malgun Gothic"/>
                <a:cs typeface="Malgun Gothic"/>
              </a:rPr>
              <a:t> 복원한다. 선행 연구(Hoeller 2022, 신경 장면 표현)의 인코더-디코더를 바탕으로, 해상도가 다른 두 네트워크를 둔다.</a:t>
            </a:r>
          </a:p>
        </p:txBody>
      </p:sp>
      <p:sp>
        <p:nvSpPr>
          <p:cNvPr id="8" name="TextBox 7"/>
          <p:cNvSpPr txBox="1"/>
          <p:nvPr/>
        </p:nvSpPr>
        <p:spPr>
          <a:xfrm>
            <a:off x="609600" y="2810272"/>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저해상도: voxel 12.5 cm, 로봇 둘레 4 m. 이전 출력을 현재 좌표로 옮겨 입력에 이어 붙이는 </a:t>
            </a:r>
            <a:r>
              <a:rPr sz="1050" b="1" i="0">
                <a:solidFill>
                  <a:srgbClr val="16213A"/>
                </a:solidFill>
                <a:latin typeface="Arial"/>
                <a:ea typeface="Malgun Gothic"/>
                <a:cs typeface="Malgun Gothic"/>
              </a:rPr>
              <a:t>자기회귀 되먹임</a:t>
            </a:r>
            <a:r>
              <a:rPr sz="1050" b="0" i="0">
                <a:solidFill>
                  <a:srgbClr val="16213A"/>
                </a:solidFill>
                <a:latin typeface="Arial"/>
                <a:ea typeface="Malgun Gothic"/>
                <a:cs typeface="Malgun Gothic"/>
              </a:rPr>
              <a:t>이 있다. 그래서 지금은 안 보이는 테이블 윗면도 다가오며 본 기억으로 복원한다.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고해상도: voxel 6.25 cm, 로봇 둘레 2 m. 저해상도 네트워크의 마지막 특징과 점군을 받아 가까운 곳을 다듬는다. 되먹임은 없다.</a:t>
            </a:r>
          </a:p>
        </p:txBody>
      </p:sp>
      <p:sp>
        <p:nvSpPr>
          <p:cNvPr id="9" name="TextBox 8"/>
          <p:cNvSpPr txBox="1"/>
          <p:nvPr/>
        </p:nvSpPr>
        <p:spPr>
          <a:xfrm>
            <a:off x="609600" y="3357562"/>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입력은 voxel 격자이고, 점이 들어간 칸의 특징은 점 무게중심의 위치, 빈 칸은 0이다. 선행 연구의 sparse 합성곱 대신 </a:t>
            </a:r>
            <a:r>
              <a:rPr sz="1050" b="1" i="0">
                <a:solidFill>
                  <a:srgbClr val="16213A"/>
                </a:solidFill>
                <a:latin typeface="Arial"/>
                <a:ea typeface="Malgun Gothic"/>
                <a:cs typeface="Malgun Gothic"/>
              </a:rPr>
              <a:t>dense 3D 합성곱</a:t>
            </a:r>
            <a:r>
              <a:rPr sz="1050" b="0" i="0">
                <a:solidFill>
                  <a:srgbClr val="16213A"/>
                </a:solidFill>
                <a:latin typeface="Arial"/>
                <a:ea typeface="Malgun Gothic"/>
                <a:cs typeface="Malgun Gothic"/>
              </a:rPr>
              <a:t>을 썼다. 로봇 4000대를 동시에 굴리는 RL 학습에서 sparse 구현이 확장되지 않았기 때문이다. 대가는 GPU 메모리 약 45 GB다. 디코더는 칸마다 점유 확률과 무게중심 위치를 낸다. 점유는 이진 교차 엔트로피, 무게중심은 참값과의 유클리드 거리로 학습한다. 데이터는 시뮬레이션 궤적 2000개 × 100스텝이다. 점 위치 흔들기, 무작위 덩어리 추가, 영역 지우기, 로봇 위치 흔들기로 증강하고, 이것이 잡음·드리프트 견고성의 핵심이었다. 선행 연구와 달리 skip 연결을 빼서, 인코더의 잠재 텐서가 내비게이션 정책이 바로 쓸 만큼 정보를 담게 했다. 실물에서는 Jetson Orin에서 비동기로 돈다.</a:t>
            </a:r>
          </a:p>
        </p:txBody>
      </p:sp>
      <p:sp>
        <p:nvSpPr>
          <p:cNvPr id="10" name="TextBox 9"/>
          <p:cNvSpPr txBox="1"/>
          <p:nvPr/>
        </p:nvSpPr>
        <p:spPr>
          <a:xfrm>
            <a:off x="609600" y="431244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기술(skill) 정책.</a:t>
            </a:r>
            <a:r>
              <a:rPr sz="1050" b="0" i="0">
                <a:solidFill>
                  <a:srgbClr val="16213A"/>
                </a:solidFill>
                <a:latin typeface="Arial"/>
                <a:ea typeface="Malgun Gothic"/>
                <a:cs typeface="Malgun Gothic"/>
              </a:rPr>
              <a:t> 걷기·점프(갭 최대 1 m)·오르기(최대 1 m)·내려가기(최대 1 m)·웅크리기(통로 최소 0.4 m)를 따로 PPO로 학습한다. 명령은 속도가 아니라 </a:t>
            </a:r>
            <a:r>
              <a:rPr sz="1050" b="1" i="0">
                <a:solidFill>
                  <a:srgbClr val="16213A"/>
                </a:solidFill>
                <a:latin typeface="Arial"/>
                <a:ea typeface="Malgun Gothic"/>
                <a:cs typeface="Malgun Gothic"/>
              </a:rPr>
              <a:t>"주어진 시간 안에 이 위치·방향에 도달하라"</a:t>
            </a:r>
            <a:r>
              <a:rPr sz="1050" b="0" i="0">
                <a:solidFill>
                  <a:srgbClr val="16213A"/>
                </a:solidFill>
                <a:latin typeface="Arial"/>
                <a:ea typeface="Malgun Gothic"/>
                <a:cs typeface="Malgun Gothic"/>
              </a:rPr>
              <a:t>다(위치 기반 명령, Rudin 2022). 그 사이 궤적은 정책이 자유롭게 정한다. 입력은 proprioception, 로봇 둘레 2 m × 1 m의 2.5D 높이 지도, 국소 목표 </a:t>
            </a:r>
            <a:r>
              <a:rPr sz="1050" b="0" i="1">
                <a:solidFill>
                  <a:srgbClr val="16213A"/>
                </a:solidFill>
                <a:latin typeface="Arial"/>
                <a:ea typeface="Malgun Gothic"/>
                <a:cs typeface="Malgun Gothic"/>
              </a:rPr>
              <a:t>(r*, ψ*, t*)</a:t>
            </a:r>
            <a:r>
              <a:rPr sz="1050" b="0" i="0">
                <a:solidFill>
                  <a:srgbClr val="16213A"/>
                </a:solidFill>
                <a:latin typeface="Arial"/>
                <a:ea typeface="Malgun Gothic"/>
                <a:cs typeface="Malgun Gothic"/>
              </a:rPr>
              <a:t>이고, 출력은 관절 위치 목표 50 Hz다. 주 보상은 남은 시간 1초 안에서만 주는 위치 추적이다.</a:t>
            </a:r>
          </a:p>
        </p:txBody>
      </p:sp>
      <p:pic>
        <p:nvPicPr>
          <p:cNvPr id="11" name="Picture 10" descr="image.png"/>
          <p:cNvPicPr>
            <a:picLocks noChangeAspect="1"/>
          </p:cNvPicPr>
          <p:nvPr/>
        </p:nvPicPr>
        <p:blipFill>
          <a:blip r:embed="rId3"/>
          <a:stretch>
            <a:fillRect/>
          </a:stretch>
        </p:blipFill>
        <p:spPr>
          <a:xfrm>
            <a:off x="609600" y="5050830"/>
            <a:ext cx="2374900" cy="241300"/>
          </a:xfrm>
          <a:prstGeom prst="rect">
            <a:avLst/>
          </a:prstGeom>
        </p:spPr>
      </p:pic>
      <p:sp>
        <p:nvSpPr>
          <p:cNvPr id="12" name="TextBox 11"/>
          <p:cNvSpPr txBox="1"/>
          <p:nvPr/>
        </p:nvSpPr>
        <p:spPr>
          <a:xfrm>
            <a:off x="609600" y="5329238"/>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12개(문단·식·그림)는 대시보드 리서치 탭의 "자세히: ANYmal Parkour의 방법과 수식" 토글에 있다.</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288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Kim et al., </a:t>
            </a:r>
            <a:r>
              <a:rPr sz="1050" b="1" i="1">
                <a:solidFill>
                  <a:srgbClr val="16213A"/>
                </a:solidFill>
                <a:latin typeface="Arial"/>
                <a:ea typeface="Malgun Gothic"/>
                <a:cs typeface="Malgun Gothic"/>
              </a:rPr>
              <a:t>High-speed control and navigation for quadrupedal robots on complex and discrete terrain</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arXiv:2506.02835</a:t>
            </a:r>
            <a:r>
              <a:rPr sz="1050" b="0" i="0">
                <a:solidFill>
                  <a:srgbClr val="16213A"/>
                </a:solidFill>
                <a:latin typeface="Arial"/>
                <a:ea typeface="Malgun Gothic"/>
                <a:cs typeface="Malgun Gothic"/>
              </a:rPr>
              <a:t>, KAIST Raibo) — planner와 tracker로 나눈다. planner는 샘플링 최적화와 휴리스틱·신경망 필터로 발 디딤 계획을 만들고, 물리 시뮬레이션 rollout으로 검증한다. tracker는 </a:t>
            </a:r>
            <a:r>
              <a:rPr sz="1050" b="1" i="0">
                <a:solidFill>
                  <a:srgbClr val="16213A"/>
                </a:solidFill>
                <a:latin typeface="Arial"/>
                <a:ea typeface="Malgun Gothic"/>
                <a:cs typeface="Malgun Gothic"/>
              </a:rPr>
              <a:t>발 디딤 목표를 만드는 생성 모델과 경쟁하며 학습</a:t>
            </a:r>
            <a:r>
              <a:rPr sz="1050" b="0" i="0">
                <a:solidFill>
                  <a:srgbClr val="16213A"/>
                </a:solidFill>
                <a:latin typeface="Arial"/>
                <a:ea typeface="Malgun Gothic"/>
                <a:cs typeface="Malgun Gothic"/>
              </a:rPr>
              <a:t>해서, 늘 적당히 어려운 과제로 훈련된다. 벽 달리기, 1.3 m 갭 점프, 징검다리 4 m/s를 보였다. 다만 실물 실험은 미리 얻은 높이 지도와 모션 캡처 자세를 썼고, 인식은 다루지 않았다. "생성 모델로 학습 난이도를 맞춘다"는 발상은 Planner D의 학습 데이터가 지금 경로 주변 상태에만 몰린 문제를 풀 때 참고할 수 있다.</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289 / 359</a:t>
            </a:r>
          </a:p>
        </p:txBody>
      </p:sp>
      <p:pic>
        <p:nvPicPr>
          <p:cNvPr id="5" name="Picture 4" descr="image.jpg"/>
          <p:cNvPicPr>
            <a:picLocks noChangeAspect="1"/>
          </p:cNvPicPr>
          <p:nvPr/>
        </p:nvPicPr>
        <p:blipFill>
          <a:blip r:embed="rId3"/>
          <a:stretch>
            <a:fillRect/>
          </a:stretch>
        </p:blipFill>
        <p:spPr>
          <a:xfrm>
            <a:off x="3667125" y="1244600"/>
            <a:ext cx="4857750" cy="4445000"/>
          </a:xfrm>
          <a:prstGeom prst="rect">
            <a:avLst/>
          </a:prstGeom>
        </p:spPr>
      </p:pic>
      <p:sp>
        <p:nvSpPr>
          <p:cNvPr id="6" name="TextBox 5"/>
          <p:cNvSpPr txBox="1"/>
          <p:nvPr/>
        </p:nvSpPr>
        <p:spPr>
          <a:xfrm>
            <a:off x="3667125" y="5727700"/>
            <a:ext cx="48577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High-speed legged navigation (Fig. 2): 학습 때 tracker와 지도 생성기를 경쟁적으로 훈련하고, 배포 때는 planner가 고른 발 디딤을 tracker가 밟는다. 출처: arXiv:2506.02835</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자세히: High-speed legged navigation(Raibo)의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290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징검다리·갭·벽 같은 불연속 지형을 빠르게 달리려면 세 가지가 필요하다. 비볼록 문제에서 가능한 발 디딤 계획을 빨리 찾아야 하고, 고속에서는 가감속이 길어서 긴 시간 지평과 전체 동역학을 봐야 하며, 목표 발판을 정확히 밟아야 한다. 최적화 제어는 접촉 시점 고정이나 근사 동역학 같은 단순화가 필요하다. RL은 동역학을 잘 다루지만, </a:t>
            </a:r>
            <a:r>
              <a:rPr sz="1050" b="1" i="0">
                <a:solidFill>
                  <a:srgbClr val="16213A"/>
                </a:solidFill>
                <a:latin typeface="Arial"/>
                <a:ea typeface="Malgun Gothic"/>
                <a:cs typeface="Malgun Gothic"/>
              </a:rPr>
              <a:t>환경이 너무 쉽거나 어려우면 보상 차이가 안 보여 학습이 멈춘다.</a:t>
            </a:r>
            <a:r>
              <a:rPr sz="1050" b="0" i="0">
                <a:solidFill>
                  <a:srgbClr val="16213A"/>
                </a:solidFill>
                <a:latin typeface="Arial"/>
                <a:ea typeface="Malgun Gothic"/>
                <a:cs typeface="Malgun Gothic"/>
              </a:rPr>
              <a:t> 파라미터가 많은 지형에서는 기존 커리큘럼이 차원의 저주에 걸린다. 이 논문은 planner와 tracker로 나누고, tracker의 학습 난이도를 </a:t>
            </a:r>
            <a:r>
              <a:rPr sz="1050" b="1" i="0">
                <a:solidFill>
                  <a:srgbClr val="16213A"/>
                </a:solidFill>
                <a:latin typeface="Arial"/>
                <a:ea typeface="Malgun Gothic"/>
                <a:cs typeface="Malgun Gothic"/>
              </a:rPr>
              <a:t>생성 모델(지도 생성기)</a:t>
            </a:r>
            <a:r>
              <a:rPr sz="1050" b="0" i="0">
                <a:solidFill>
                  <a:srgbClr val="16213A"/>
                </a:solidFill>
                <a:latin typeface="Arial"/>
                <a:ea typeface="Malgun Gothic"/>
                <a:cs typeface="Malgun Gothic"/>
              </a:rPr>
              <a:t>로 맞춘다.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먼저 알아 둘 것: 인식을 쓰지 않았다.</a:t>
            </a:r>
            <a:r>
              <a:rPr sz="1050" b="0" i="0">
                <a:solidFill>
                  <a:srgbClr val="16213A"/>
                </a:solidFill>
                <a:latin typeface="Arial"/>
                <a:ea typeface="Malgun Gothic"/>
                <a:cs typeface="Malgun Gothic"/>
              </a:rPr>
              <a:t> 실물 실험에서는 높이 지도를 미리 얻어 두고 로봇 자세를 모션 캡처(Vicon)로 받았다. 저자들은 두 가지 이유를 든다. 4 m/s의 큰 가속에서 상태 추정 드리프트 때문에 제어가 거의 불가능했고, 원하는 발판 상당수가 카메라 시야 밖이거나 가려졌다. 그래서 이 논문의 결과는 </a:t>
            </a:r>
            <a:r>
              <a:rPr sz="1050" b="1" i="0">
                <a:solidFill>
                  <a:srgbClr val="16213A"/>
                </a:solidFill>
                <a:latin typeface="Arial"/>
                <a:ea typeface="Malgun Gothic"/>
                <a:cs typeface="Malgun Gothic"/>
              </a:rPr>
              <a:t>지도가 정확하다는 가정 아래의</a:t>
            </a:r>
            <a:r>
              <a:rPr sz="1050" b="0" i="0">
                <a:solidFill>
                  <a:srgbClr val="16213A"/>
                </a:solidFill>
                <a:latin typeface="Arial"/>
                <a:ea typeface="Malgun Gothic"/>
                <a:cs typeface="Malgun Gothic"/>
              </a:rPr>
              <a:t> 계획·추적 성능이다.</a:t>
            </a:r>
          </a:p>
        </p:txBody>
      </p:sp>
      <p:sp>
        <p:nvSpPr>
          <p:cNvPr id="7" name="TextBox 6"/>
          <p:cNvSpPr txBox="1"/>
          <p:nvPr/>
        </p:nvSpPr>
        <p:spPr>
          <a:xfrm>
            <a:off x="609600" y="25048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탐색 공간 줄이기.</a:t>
            </a:r>
            <a:r>
              <a:rPr sz="1050" b="0" i="0">
                <a:solidFill>
                  <a:srgbClr val="16213A"/>
                </a:solidFill>
                <a:latin typeface="Arial"/>
                <a:ea typeface="Malgun Gothic"/>
                <a:cs typeface="Malgun Gothic"/>
              </a:rPr>
              <a:t> 계획 대상은 발 디딤 위치뿐이다(접촉 순서·몸통 자세는 계획하지 않는다). 앞발 두 개의 목표를 동시에 갱신하고, 뒷발은 앞발이 밟은 곳을 그대로 밟는다. 그래서 걸음 주기마다 발 디딤 하나만 고르면 된다. 목표는 발이 0.06 s 이상 닿아 있으면 다음으로 넘어간다.</a:t>
            </a:r>
          </a:p>
        </p:txBody>
      </p:sp>
      <p:sp>
        <p:nvSpPr>
          <p:cNvPr id="8" name="TextBox 7"/>
          <p:cNvSpPr txBox="1"/>
          <p:nvPr/>
        </p:nvSpPr>
        <p:spPr>
          <a:xfrm>
            <a:off x="609600" y="302676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tracker.</a:t>
            </a:r>
            <a:r>
              <a:rPr sz="1050" b="0" i="0">
                <a:solidFill>
                  <a:srgbClr val="16213A"/>
                </a:solidFill>
                <a:latin typeface="Arial"/>
                <a:ea typeface="Malgun Gothic"/>
                <a:cs typeface="Malgun Gothic"/>
              </a:rPr>
              <a:t> 정책은 100 Hz로 돈다. actor는 MLP(512·128)이고 입력은 167차원이다. proprioception(자세, 각속도, 관절 위치·속도), 0.01·0.02·0.03 s 전의 이력, </a:t>
            </a:r>
            <a:r>
              <a:rPr sz="1050" b="1" i="0">
                <a:solidFill>
                  <a:srgbClr val="16213A"/>
                </a:solidFill>
                <a:latin typeface="Arial"/>
                <a:ea typeface="Malgun Gothic"/>
                <a:cs typeface="Malgun Gothic"/>
              </a:rPr>
              <a:t>발마다 다음 목표 2개</a:t>
            </a:r>
            <a:r>
              <a:rPr sz="1050" b="0" i="0">
                <a:solidFill>
                  <a:srgbClr val="16213A"/>
                </a:solidFill>
                <a:latin typeface="Arial"/>
                <a:ea typeface="Malgun Gothic"/>
                <a:cs typeface="Malgun Gothic"/>
              </a:rPr>
              <a:t>(목표 인덱스가 바뀐 순간 몸통 무게중심에서 본 벡터)와 각 인덱스가 바뀐 뒤 경과 시간, 그리고 상태 추정기가 낸 몸통 선속도 3차원이다. 상태 추정기는 GRU(128) + MLP(64·16)로 지도학습한다(배경: GRU 토글 참고). critic은 추정값 대신 시뮬레이션의 참 선속도를 본다(배경: 비대칭 actor-critic 토글 참고). 출력은 관절 위치 목표 12차원이다. 실물에서는 접촉 추정 MLP가 목표 갱신에 쓸 접촉 상태를 낸다.</a:t>
            </a:r>
          </a:p>
        </p:txBody>
      </p:sp>
      <p:sp>
        <p:nvSpPr>
          <p:cNvPr id="9" name="TextBox 8"/>
          <p:cNvSpPr txBox="1"/>
          <p:nvPr/>
        </p:nvSpPr>
        <p:spPr>
          <a:xfrm>
            <a:off x="609600" y="398164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tracker 학습.</a:t>
            </a:r>
            <a:r>
              <a:rPr sz="1050" b="0" i="0">
                <a:solidFill>
                  <a:srgbClr val="16213A"/>
                </a:solidFill>
                <a:latin typeface="Arial"/>
                <a:ea typeface="Malgun Gothic"/>
                <a:cs typeface="Malgun Gothic"/>
              </a:rPr>
              <a:t> RaiSim에서 환경 300개, 에피소드 4.2 s, 시뮬레이션 2 ms, 제어 10 ms로 PPO 학습한다(할인 0.995, λ 0.95). 환경마다 연속 징검다리 10개가 놓인다. 주 보상은 착지한 발이 목표에 가까울수록 크고, 착지 뒤 오래 머물수록 줄어든다.</a:t>
            </a:r>
          </a:p>
        </p:txBody>
      </p:sp>
      <p:pic>
        <p:nvPicPr>
          <p:cNvPr id="10" name="Picture 9" descr="image.png"/>
          <p:cNvPicPr>
            <a:picLocks noChangeAspect="1"/>
          </p:cNvPicPr>
          <p:nvPr/>
        </p:nvPicPr>
        <p:blipFill>
          <a:blip r:embed="rId3"/>
          <a:stretch>
            <a:fillRect/>
          </a:stretch>
        </p:blipFill>
        <p:spPr>
          <a:xfrm>
            <a:off x="609600" y="4503539"/>
            <a:ext cx="4660900" cy="247650"/>
          </a:xfrm>
          <a:prstGeom prst="rect">
            <a:avLst/>
          </a:prstGeom>
        </p:spPr>
      </p:pic>
      <p:sp>
        <p:nvSpPr>
          <p:cNvPr id="11" name="TextBox 10"/>
          <p:cNvSpPr txBox="1"/>
          <p:nvPr/>
        </p:nvSpPr>
        <p:spPr>
          <a:xfrm>
            <a:off x="609600" y="4785221"/>
            <a:ext cx="10972800" cy="649486"/>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dₗ, dᵣ</a:t>
            </a:r>
            <a:r>
              <a:rPr sz="1050" b="0" i="0">
                <a:solidFill>
                  <a:srgbClr val="16213A"/>
                </a:solidFill>
                <a:latin typeface="Arial"/>
                <a:ea typeface="Malgun Gothic"/>
                <a:cs typeface="Malgun Gothic"/>
              </a:rPr>
              <a:t>은 좌우 발과 목표의 거리, </a:t>
            </a:r>
            <a:r>
              <a:rPr sz="1050" b="0" i="1">
                <a:solidFill>
                  <a:srgbClr val="16213A"/>
                </a:solidFill>
                <a:latin typeface="Arial"/>
                <a:ea typeface="Malgun Gothic"/>
                <a:cs typeface="Malgun Gothic"/>
              </a:rPr>
              <a:t>count</a:t>
            </a:r>
            <a:r>
              <a:rPr sz="1050" b="0" i="0">
                <a:solidFill>
                  <a:srgbClr val="16213A"/>
                </a:solidFill>
                <a:latin typeface="Arial"/>
                <a:ea typeface="Malgun Gothic"/>
                <a:cs typeface="Malgun Gothic"/>
              </a:rPr>
              <a:t>는 착지 뒤 지난 시뮬레이션 스텝 수다. 여기에 목표로 다가가는 보조 보상, 마지막 목표 도달 보상(5), 관절 한계 벌점, 그리고 토크·미끄럼·착지 충격·바운딩 보행 유도 같은 스타일 항이 붙는다. 저자들은 목표·바운드·관절 속도·토크 등 6개 항만으로도 시뮬레이션 학습은 된다고 밝혔다. 나머지는 실물 성능과 자연스러운 동작을 위한 것이다. 예를 들어 마지막 목표 보상 때문에 발을 빨리 내리찍어 실물에서 튕기자, 착지 충격 벌점으로 잡았다. 도메인 랜덤화는 PD 이득, 제어 지연(0–30%), 관측 잡음, 질량·무게중심· 관성, 마찰(0.4–1.0) 등 10종이다.</a:t>
            </a:r>
          </a:p>
        </p:txBody>
      </p:sp>
      <p:sp>
        <p:nvSpPr>
          <p:cNvPr id="12" name="TextBox 11"/>
          <p:cNvSpPr txBox="1"/>
          <p:nvPr/>
        </p:nvSpPr>
        <p:spPr>
          <a:xfrm>
            <a:off x="609600" y="5523607"/>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16개(문단·식·그림)는 대시보드 리서치 탭의 "자세히: High-speed legged navigation(Raibo)의 방법과 수식" 토글에 있다.</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VAE와 CVAE — 데이터를 잠재 변수로 압축했다가 다시 생성하는 확률 모델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291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VAE(변분 오토인코더)는 데이터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가 보이지 않는 잠재 변수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에서 생성됐다고 보고, 그 생성 과정을 학습하는 모델이다. 학습이 끝나면 </a:t>
            </a:r>
            <a:r>
              <a:rPr sz="1050" b="0" i="1">
                <a:solidFill>
                  <a:srgbClr val="16213A"/>
                </a:solidFill>
                <a:latin typeface="Arial"/>
                <a:ea typeface="Malgun Gothic"/>
                <a:cs typeface="Malgun Gothic"/>
              </a:rPr>
              <a:t>z ∼ 𝒩(0, I)</a:t>
            </a:r>
            <a:r>
              <a:rPr sz="1050" b="0" i="0">
                <a:solidFill>
                  <a:srgbClr val="16213A"/>
                </a:solidFill>
                <a:latin typeface="Arial"/>
                <a:ea typeface="Malgun Gothic"/>
                <a:cs typeface="Malgun Gothic"/>
              </a:rPr>
              <a:t>를 뽑아 디코더에 넣어 </a:t>
            </a:r>
            <a:r>
              <a:rPr sz="1050" b="1" i="0">
                <a:solidFill>
                  <a:srgbClr val="16213A"/>
                </a:solidFill>
                <a:latin typeface="Arial"/>
                <a:ea typeface="Malgun Gothic"/>
                <a:cs typeface="Malgun Gothic"/>
              </a:rPr>
              <a:t>새 표본</a:t>
            </a:r>
            <a:r>
              <a:rPr sz="1050" b="0" i="0">
                <a:solidFill>
                  <a:srgbClr val="16213A"/>
                </a:solidFill>
                <a:latin typeface="Arial"/>
                <a:ea typeface="Malgun Gothic"/>
                <a:cs typeface="Malgun Gothic"/>
              </a:rPr>
              <a:t>을 만든다. CVAE(조건부 VAE)는 조건 </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를 붙여 "이 조건에서의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"를 생성한다.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보통 오토인코더는 입력을 잘 복원하지만 잠재 공간이 듬성듬성해서, 아무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나 넣으면 이상한 출력이 나온다. VAE는 잠재 분포를 표준 정규분포 근처로 묶어 두어, 잠재 공간 어디서 뽑아도 그럴듯한 표본이 나오게 한다.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동작하나.</a:t>
            </a:r>
            <a:r>
              <a:rPr sz="1050" b="0" i="0">
                <a:solidFill>
                  <a:srgbClr val="16213A"/>
                </a:solidFill>
                <a:latin typeface="Arial"/>
                <a:ea typeface="Malgun Gothic"/>
                <a:cs typeface="Malgun Gothic"/>
              </a:rPr>
              <a:t> 인코더 </a:t>
            </a:r>
            <a:r>
              <a:rPr sz="1050" b="0" i="1">
                <a:solidFill>
                  <a:srgbClr val="16213A"/>
                </a:solidFill>
                <a:latin typeface="Arial"/>
                <a:ea typeface="Malgun Gothic"/>
                <a:cs typeface="Malgun Gothic"/>
              </a:rPr>
              <a:t>q_φ(z | x)</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마다 가우시안의 평균 </a:t>
            </a:r>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와 표준편차 </a:t>
            </a:r>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를 낸다. 디코더 </a:t>
            </a:r>
            <a:r>
              <a:rPr sz="1050" b="0" i="1">
                <a:solidFill>
                  <a:srgbClr val="16213A"/>
                </a:solidFill>
                <a:latin typeface="Arial"/>
                <a:ea typeface="Malgun Gothic"/>
                <a:cs typeface="Malgun Gothic"/>
              </a:rPr>
              <a:t>p_θ(x | z)</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를 복원한다. 참 로그 우도는 계산할 수 없으므로 그 하한(ELBO)을 최대화한다.</a:t>
            </a:r>
          </a:p>
        </p:txBody>
      </p:sp>
      <p:pic>
        <p:nvPicPr>
          <p:cNvPr id="8" name="Picture 7" descr="image.png"/>
          <p:cNvPicPr>
            <a:picLocks noChangeAspect="1"/>
          </p:cNvPicPr>
          <p:nvPr/>
        </p:nvPicPr>
        <p:blipFill>
          <a:blip r:embed="rId3"/>
          <a:stretch>
            <a:fillRect/>
          </a:stretch>
        </p:blipFill>
        <p:spPr>
          <a:xfrm>
            <a:off x="609600" y="2593777"/>
            <a:ext cx="4137025" cy="241300"/>
          </a:xfrm>
          <a:prstGeom prst="rect">
            <a:avLst/>
          </a:prstGeom>
        </p:spPr>
      </p:pic>
      <p:sp>
        <p:nvSpPr>
          <p:cNvPr id="9" name="TextBox 8"/>
          <p:cNvSpPr txBox="1"/>
          <p:nvPr/>
        </p:nvSpPr>
        <p:spPr>
          <a:xfrm>
            <a:off x="609600" y="2872184"/>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첫 항은 </a:t>
            </a:r>
            <a:r>
              <a:rPr sz="1050" b="1" i="0">
                <a:solidFill>
                  <a:srgbClr val="16213A"/>
                </a:solidFill>
                <a:latin typeface="Arial"/>
                <a:ea typeface="Malgun Gothic"/>
                <a:cs typeface="Malgun Gothic"/>
              </a:rPr>
              <a:t>재구성</a:t>
            </a:r>
            <a:r>
              <a:rPr sz="1050" b="0" i="0">
                <a:solidFill>
                  <a:srgbClr val="16213A"/>
                </a:solidFill>
                <a:latin typeface="Arial"/>
                <a:ea typeface="Malgun Gothic"/>
                <a:cs typeface="Malgun Gothic"/>
              </a:rPr>
              <a:t>(가우시안 디코더면 제곱 오차와 같다)이고, 둘째 항은 인코더 분포가 사전분포 </a:t>
            </a:r>
            <a:r>
              <a:rPr sz="1050" b="0" i="1">
                <a:solidFill>
                  <a:srgbClr val="16213A"/>
                </a:solidFill>
                <a:latin typeface="Arial"/>
                <a:ea typeface="Malgun Gothic"/>
                <a:cs typeface="Malgun Gothic"/>
              </a:rPr>
              <a:t>p(z) = 𝒩(0, I)</a:t>
            </a:r>
            <a:r>
              <a:rPr sz="1050" b="0" i="0">
                <a:solidFill>
                  <a:srgbClr val="16213A"/>
                </a:solidFill>
                <a:latin typeface="Arial"/>
                <a:ea typeface="Malgun Gothic"/>
                <a:cs typeface="Malgun Gothic"/>
              </a:rPr>
              <a:t>에서 멀어지지 않게 하는 </a:t>
            </a:r>
            <a:r>
              <a:rPr sz="1050" b="1" i="0">
                <a:solidFill>
                  <a:srgbClr val="16213A"/>
                </a:solidFill>
                <a:latin typeface="Arial"/>
                <a:ea typeface="Malgun Gothic"/>
                <a:cs typeface="Malgun Gothic"/>
              </a:rPr>
              <a:t>정규화</a:t>
            </a:r>
            <a:r>
              <a:rPr sz="1050" b="0" i="0">
                <a:solidFill>
                  <a:srgbClr val="16213A"/>
                </a:solidFill>
                <a:latin typeface="Arial"/>
                <a:ea typeface="Malgun Gothic"/>
                <a:cs typeface="Malgun Gothic"/>
              </a:rPr>
              <a:t>다. 두 가우시안의 KL은 닫힌 식으로 계산된다. 둘째 항에 가중치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를 붙이는 변형이 β-VAE다(배경: β-VAE 토글 참고).</a:t>
            </a:r>
          </a:p>
        </p:txBody>
      </p:sp>
      <p:sp>
        <p:nvSpPr>
          <p:cNvPr id="10" name="TextBox 9"/>
          <p:cNvSpPr txBox="1"/>
          <p:nvPr/>
        </p:nvSpPr>
        <p:spPr>
          <a:xfrm>
            <a:off x="609600" y="339407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재매개화.</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분포에서 그냥 뽑으면 샘플링 단계에서 기울기가 끊긴다. 그래서 잡음을 밖으로 빼서 쓴다.</a:t>
            </a:r>
          </a:p>
        </p:txBody>
      </p:sp>
      <p:pic>
        <p:nvPicPr>
          <p:cNvPr id="11" name="Picture 10" descr="image.png"/>
          <p:cNvPicPr>
            <a:picLocks noChangeAspect="1"/>
          </p:cNvPicPr>
          <p:nvPr/>
        </p:nvPicPr>
        <p:blipFill>
          <a:blip r:embed="rId4"/>
          <a:stretch>
            <a:fillRect/>
          </a:stretch>
        </p:blipFill>
        <p:spPr>
          <a:xfrm>
            <a:off x="609600" y="3699470"/>
            <a:ext cx="2898775" cy="241300"/>
          </a:xfrm>
          <a:prstGeom prst="rect">
            <a:avLst/>
          </a:prstGeom>
        </p:spPr>
      </p:pic>
      <p:sp>
        <p:nvSpPr>
          <p:cNvPr id="12" name="TextBox 11"/>
          <p:cNvSpPr txBox="1"/>
          <p:nvPr/>
        </p:nvSpPr>
        <p:spPr>
          <a:xfrm>
            <a:off x="609600" y="397698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이제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의 미분 가능한 함수라서 역전파가 인코더까지 닿는다.</a:t>
            </a:r>
          </a:p>
        </p:txBody>
      </p:sp>
      <p:sp>
        <p:nvSpPr>
          <p:cNvPr id="13" name="TextBox 12"/>
          <p:cNvSpPr txBox="1"/>
          <p:nvPr/>
        </p:nvSpPr>
        <p:spPr>
          <a:xfrm>
            <a:off x="609600" y="428238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CVAE.</a:t>
            </a:r>
            <a:r>
              <a:rPr sz="1050" b="0" i="0">
                <a:solidFill>
                  <a:srgbClr val="16213A"/>
                </a:solidFill>
                <a:latin typeface="Arial"/>
                <a:ea typeface="Malgun Gothic"/>
                <a:cs typeface="Malgun Gothic"/>
              </a:rPr>
              <a:t> 인코더와 디코더에 조건 </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를 함께 넣는다. </a:t>
            </a:r>
            <a:r>
              <a:rPr sz="1050" b="0" i="1">
                <a:solidFill>
                  <a:srgbClr val="16213A"/>
                </a:solidFill>
                <a:latin typeface="Arial"/>
                <a:ea typeface="Malgun Gothic"/>
                <a:cs typeface="Malgun Gothic"/>
              </a:rPr>
              <a:t>q_φ(z | x, y)</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p_θ(x | z, y)</a:t>
            </a:r>
            <a:r>
              <a:rPr sz="1050" b="0" i="0">
                <a:solidFill>
                  <a:srgbClr val="16213A"/>
                </a:solidFill>
                <a:latin typeface="Arial"/>
                <a:ea typeface="Malgun Gothic"/>
                <a:cs typeface="Malgun Gothic"/>
              </a:rPr>
              <a:t>다. ELBO도 모든 항에 </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가 붙는다. 생성할 때는 </a:t>
            </a:r>
            <a:r>
              <a:rPr sz="1050" b="0" i="1">
                <a:solidFill>
                  <a:srgbClr val="16213A"/>
                </a:solidFill>
                <a:latin typeface="Arial"/>
                <a:ea typeface="Malgun Gothic"/>
                <a:cs typeface="Malgun Gothic"/>
              </a:rPr>
              <a:t>z ∼ 𝒩(0, I)</a:t>
            </a:r>
            <a:r>
              <a:rPr sz="1050" b="0" i="0">
                <a:solidFill>
                  <a:srgbClr val="16213A"/>
                </a:solidFill>
                <a:latin typeface="Arial"/>
                <a:ea typeface="Malgun Gothic"/>
                <a:cs typeface="Malgun Gothic"/>
              </a:rPr>
              <a:t>와 원하는 </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를 디코더에 넣는다.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뽑는 분포의 폭을 줄이면 학습 데이터의 중심에 가까운 표본이, 넓히면 가장자리의 드문 표본이 나온다.</a:t>
            </a:r>
          </a:p>
        </p:txBody>
      </p:sp>
      <p:sp>
        <p:nvSpPr>
          <p:cNvPr id="14" name="TextBox 13"/>
          <p:cNvSpPr txBox="1"/>
          <p:nvPr/>
        </p:nvSpPr>
        <p:spPr>
          <a:xfrm>
            <a:off x="609600" y="480427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가 "다음 징검다리까지의 거리", </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가 "직전 두 돌의 배치"라 하자. 직전 돌들이 급하게 꺾여 있으면(</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 학습 데이터에서 통과 가능했던 다음 거리는 짧은 쪽에 몰려 있다. CVAE 디코더는 그 조건에서 짧은 거리를 주로 내고,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크게 뽑으면 가끔 긴 거리도 낸다.</a:t>
            </a:r>
          </a:p>
        </p:txBody>
      </p:sp>
      <p:sp>
        <p:nvSpPr>
          <p:cNvPr id="15" name="TextBox 14"/>
          <p:cNvSpPr txBox="1"/>
          <p:nvPr/>
        </p:nvSpPr>
        <p:spPr>
          <a:xfrm>
            <a:off x="609600" y="53261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a:t>
            </a:r>
            <a:r>
              <a:rPr sz="1050" b="0" i="0">
                <a:solidFill>
                  <a:srgbClr val="16213A"/>
                </a:solidFill>
                <a:latin typeface="Arial"/>
                <a:ea typeface="Malgun Gothic"/>
                <a:cs typeface="Malgun Gothic"/>
              </a:rPr>
              <a:t> Raibo의 지도 생성기가 CVAE 디코더다.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는 다음 돌 자세 </a:t>
            </a:r>
            <a:r>
              <a:rPr sz="1050" b="0" i="1">
                <a:solidFill>
                  <a:srgbClr val="16213A"/>
                </a:solidFill>
                <a:latin typeface="Arial"/>
                <a:ea typeface="Malgun Gothic"/>
                <a:cs typeface="Malgun Gothic"/>
              </a:rPr>
              <a:t>ψₙ</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는 직전 두 돌의 </a:t>
            </a:r>
            <a:r>
              <a:rPr sz="1050" b="0" i="1">
                <a:solidFill>
                  <a:srgbClr val="16213A"/>
                </a:solidFill>
                <a:latin typeface="Arial"/>
                <a:ea typeface="Malgun Gothic"/>
                <a:cs typeface="Malgun Gothic"/>
              </a:rPr>
              <a:t>ψ</a:t>
            </a:r>
            <a:r>
              <a:rPr sz="1050" b="0" i="0">
                <a:solidFill>
                  <a:srgbClr val="16213A"/>
                </a:solidFill>
                <a:latin typeface="Arial"/>
                <a:ea typeface="Malgun Gothic"/>
                <a:cs typeface="Malgun Gothic"/>
              </a:rPr>
              <a:t>와 마지막 돌 여부이고, 손실은 MSE + 0.04·KL이다. 잠재를 뽑는 분산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로 난이도를 조절한다. 성공한 </a:t>
            </a:r>
            <a:r>
              <a:rPr sz="1050" b="0" i="1">
                <a:solidFill>
                  <a:srgbClr val="16213A"/>
                </a:solidFill>
                <a:latin typeface="Arial"/>
                <a:ea typeface="Malgun Gothic"/>
                <a:cs typeface="Malgun Gothic"/>
              </a:rPr>
              <a:t>ψ</a:t>
            </a:r>
            <a:r>
              <a:rPr sz="1050" b="0" i="0">
                <a:solidFill>
                  <a:srgbClr val="16213A"/>
                </a:solidFill>
                <a:latin typeface="Arial"/>
                <a:ea typeface="Malgun Gothic"/>
                <a:cs typeface="Malgun Gothic"/>
              </a:rPr>
              <a:t>만으로 다시 맞추므로, 디코더는 "tracker가 통과할 수 있는 지형"의 분포를 배운다.</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커리큘럼 학습과 자동 난이도 조절 — 지금 실력에 맞는 과제를 골라 준다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292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커리큘럼 학습은 쉬운 과제부터 어려운 과제 순으로 학습 분포를 바꿔 가는 방법이다. 사람이 구구단을 미적분보다 먼저 배우는 것과 같다.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RL은 보상의 </a:t>
            </a:r>
            <a:r>
              <a:rPr sz="1050" b="1" i="0">
                <a:solidFill>
                  <a:srgbClr val="16213A"/>
                </a:solidFill>
                <a:latin typeface="Arial"/>
                <a:ea typeface="Malgun Gothic"/>
                <a:cs typeface="Malgun Gothic"/>
              </a:rPr>
              <a:t>차이</a:t>
            </a:r>
            <a:r>
              <a:rPr sz="1050" b="0" i="0">
                <a:solidFill>
                  <a:srgbClr val="16213A"/>
                </a:solidFill>
                <a:latin typeface="Arial"/>
                <a:ea typeface="Malgun Gothic"/>
                <a:cs typeface="Malgun Gothic"/>
              </a:rPr>
              <a:t>로 배운다. 과제가 너무 어려우면 모든 시도가 실패해 보상이 전부 같고, 너무 쉬우면 전부 성공해 역시 같다. 어느 쪽이든 정책 기울기에 쓸 신호가 없다. 그래서 성공률이 중간쯤인 과제를 계속 주는 것이 가장 학습이 빠르다. 로봇 1 m 갭 점프를 처음부터 시키면 한 번도 성공하지 못해 아무것도 배우지 못한다.</a:t>
            </a:r>
          </a:p>
        </p:txBody>
      </p:sp>
      <p:sp>
        <p:nvSpPr>
          <p:cNvPr id="7" name="TextBox 6"/>
          <p:cNvSpPr txBox="1"/>
          <p:nvPr/>
        </p:nvSpPr>
        <p:spPr>
          <a:xfrm>
            <a:off x="609600" y="20718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하나 — 세 갈래.</a:t>
            </a:r>
          </a:p>
        </p:txBody>
      </p:sp>
      <p:sp>
        <p:nvSpPr>
          <p:cNvPr id="8" name="TextBox 7"/>
          <p:cNvSpPr txBox="1"/>
          <p:nvPr/>
        </p:nvSpPr>
        <p:spPr>
          <a:xfrm>
            <a:off x="609600" y="2377281"/>
            <a:ext cx="10972800" cy="15662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고정 일정.</a:t>
            </a:r>
            <a:r>
              <a:rPr sz="1050" b="0" i="0">
                <a:solidFill>
                  <a:srgbClr val="16213A"/>
                </a:solidFill>
                <a:latin typeface="Arial"/>
                <a:ea typeface="Malgun Gothic"/>
                <a:cs typeface="Malgun Gothic"/>
              </a:rPr>
              <a:t> 반복 횟수에 따라 난이도 파라미터를 정해진 속도로 올린다. Miki 2022는 벌점·외란 크기를 </a:t>
            </a:r>
            <a:r>
              <a:rPr sz="1050" b="0" i="1">
                <a:solidFill>
                  <a:srgbClr val="16213A"/>
                </a:solidFill>
                <a:latin typeface="Arial"/>
                <a:ea typeface="Malgun Gothic"/>
                <a:cs typeface="Malgun Gothic"/>
              </a:rPr>
              <a:t>cₖ₊₁ = cₖ^d</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d = 0.98</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0 &lt; cₖ &lt; 1</a:t>
            </a:r>
            <a:r>
              <a:rPr sz="1050" b="0" i="0">
                <a:solidFill>
                  <a:srgbClr val="16213A"/>
                </a:solidFill>
                <a:latin typeface="Arial"/>
                <a:ea typeface="Malgun Gothic"/>
                <a:cs typeface="Malgun Gothic"/>
              </a:rPr>
              <a:t>)로 1에 다가가게 올렸다. 간단하지만 에이전트 실력을 보지 않는다.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성능 기반 적응.</a:t>
            </a:r>
            <a:r>
              <a:rPr sz="1050" b="0" i="0">
                <a:solidFill>
                  <a:srgbClr val="16213A"/>
                </a:solidFill>
                <a:latin typeface="Arial"/>
                <a:ea typeface="Malgun Gothic"/>
                <a:cs typeface="Malgun Gothic"/>
              </a:rPr>
              <a:t> 성공률을 재서 난이도를 올리거나 내린다. 파라미터 공간을 격자로 나눠 칸마다 표본 비율을 조절하거나, 입자 필터로 "적당히 어려운" 파라미터 입자를 유지한다(Lee 2020, Miki 2022의 지형 커리큘럼). 파라미터가 많아지면 칸·입자 수가 지수적으로 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생성 모델 기반(적대적·경쟁적).</a:t>
            </a:r>
            <a:r>
              <a:rPr sz="1050" b="0" i="0">
                <a:solidFill>
                  <a:srgbClr val="16213A"/>
                </a:solidFill>
                <a:latin typeface="Arial"/>
                <a:ea typeface="Malgun Gothic"/>
                <a:cs typeface="Malgun Gothic"/>
              </a:rPr>
              <a:t> 난이도를 정하는 쪽을 학습 가능한 생성기로 둔다. 생성기는 학습자가 "간신히 해내는" 과제를 내도록 갱신되고, 학습자는 그 과제를 푼다. 두 쪽이 서로를 밀어 올린다. 환경과 해법을 함께 진화시키는 POET(Wang 2019)는 목표가 비슷하지만 생성기를 학습하지 않고 환경 파라미터를 변이·선택하는 진화 방식이고, Raibo도 관련 연구로 든다. 조건부 생성 모델은 고차원에서도 메모리를 적게 쓴다.</a:t>
            </a:r>
          </a:p>
        </p:txBody>
      </p:sp>
      <p:sp>
        <p:nvSpPr>
          <p:cNvPr id="9" name="TextBox 8"/>
          <p:cNvSpPr txBox="1"/>
          <p:nvPr/>
        </p:nvSpPr>
        <p:spPr>
          <a:xfrm>
            <a:off x="609600" y="40324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성공률 목표로 쓰면.</a:t>
            </a:r>
            <a:r>
              <a:rPr sz="1050" b="0" i="0">
                <a:solidFill>
                  <a:srgbClr val="16213A"/>
                </a:solidFill>
                <a:latin typeface="Arial"/>
                <a:ea typeface="Malgun Gothic"/>
                <a:cs typeface="Malgun Gothic"/>
              </a:rPr>
              <a:t> 목표 구간을 </a:t>
            </a:r>
            <a:r>
              <a:rPr sz="1050" b="0" i="1">
                <a:solidFill>
                  <a:srgbClr val="16213A"/>
                </a:solidFill>
                <a:latin typeface="Arial"/>
                <a:ea typeface="Malgun Gothic"/>
                <a:cs typeface="Malgun Gothic"/>
              </a:rPr>
              <a:t>[pₗₒ, pₕᵢ]</a:t>
            </a:r>
            <a:r>
              <a:rPr sz="1050" b="0" i="0">
                <a:solidFill>
                  <a:srgbClr val="16213A"/>
                </a:solidFill>
                <a:latin typeface="Arial"/>
                <a:ea typeface="Malgun Gothic"/>
                <a:cs typeface="Malgun Gothic"/>
              </a:rPr>
              <a:t>로 두고, 측정한 성공률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에 따라 난이도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를 갱신하는 규칙이 가장 단순한 적응 커리큘럼이다.</a:t>
            </a:r>
          </a:p>
        </p:txBody>
      </p:sp>
      <p:pic>
        <p:nvPicPr>
          <p:cNvPr id="10" name="Picture 9" descr="image.png"/>
          <p:cNvPicPr>
            <a:picLocks noChangeAspect="1"/>
          </p:cNvPicPr>
          <p:nvPr/>
        </p:nvPicPr>
        <p:blipFill>
          <a:blip r:embed="rId3"/>
          <a:stretch>
            <a:fillRect/>
          </a:stretch>
        </p:blipFill>
        <p:spPr>
          <a:xfrm>
            <a:off x="609600" y="4337844"/>
            <a:ext cx="1914525" cy="755650"/>
          </a:xfrm>
          <a:prstGeom prst="rect">
            <a:avLst/>
          </a:prstGeom>
        </p:spPr>
      </p:pic>
      <p:sp>
        <p:nvSpPr>
          <p:cNvPr id="11" name="TextBox 10"/>
          <p:cNvSpPr txBox="1"/>
          <p:nvPr/>
        </p:nvSpPr>
        <p:spPr>
          <a:xfrm>
            <a:off x="609600" y="506035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Raibo는 이 틀을 생성기에 적용했다. 평균 통과 돌 수가 9.3/10을 넘으면 생성기를 성공 사례로 다시 맞추고, 새 분포에서 9.15에 못 미치면 잠재 분산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를 0.02씩 줄인다. 위 식에서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가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 목표 구간이 9.15–9.3개인 셈이다.</a:t>
            </a:r>
          </a:p>
        </p:txBody>
      </p:sp>
      <p:sp>
        <p:nvSpPr>
          <p:cNvPr id="12" name="TextBox 11"/>
          <p:cNvSpPr txBox="1"/>
          <p:nvPr/>
        </p:nvSpPr>
        <p:spPr>
          <a:xfrm>
            <a:off x="609600" y="558224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1개(문단·식·그림)는 대시보드 리서치 탭의 "배경: 커리큘럼 학습과 자동 난이도 조절 — 지금 실력에 맞는 과제를 골라 준다" 토글에 있다.</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293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KAIST Urban Robotics Lab(명현 교수)의 보행 연구.</a:t>
            </a:r>
          </a:p>
        </p:txBody>
      </p:sp>
      <p:sp>
        <p:nvSpPr>
          <p:cNvPr id="6" name="TextBox 5"/>
          <p:cNvSpPr txBox="1"/>
          <p:nvPr/>
        </p:nvSpPr>
        <p:spPr>
          <a:xfrm>
            <a:off x="609600" y="1549995"/>
            <a:ext cx="10972800" cy="20246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DreamWaQ++</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arXiv:2409.19709</a:t>
            </a:r>
            <a:r>
              <a:rPr sz="1050" b="0" i="0">
                <a:solidFill>
                  <a:srgbClr val="16213A"/>
                </a:solidFill>
                <a:latin typeface="Arial"/>
                <a:ea typeface="Malgun Gothic"/>
                <a:cs typeface="Malgun Gothic"/>
              </a:rPr>
              <a:t>, T-RO 2026,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영상</a:t>
            </a:r>
            <a:r>
              <a:rPr sz="1050" b="0" i="0">
                <a:solidFill>
                  <a:srgbClr val="16213A"/>
                </a:solidFill>
                <a:latin typeface="Arial"/>
                <a:ea typeface="Malgun Gothic"/>
                <a:cs typeface="Malgun Gothic"/>
              </a:rPr>
              <a:t>) — proprioception(관절·IMU, 200 Hz 샘플)과 점군(깊이 카메라 또는 LiDAR, 10 Hz)을 함께 쓰는 장애물 인지 보행 정책이다. 점군은 </a:t>
            </a:r>
            <a:r>
              <a:rPr sz="1050" b="1" i="0">
                <a:solidFill>
                  <a:srgbClr val="16213A"/>
                </a:solidFill>
                <a:latin typeface="Arial"/>
                <a:ea typeface="Malgun Gothic"/>
                <a:cs typeface="Malgun Gothic"/>
              </a:rPr>
              <a:t>신뢰도 필터가 붙은 PointNet</a:t>
            </a:r>
            <a:r>
              <a:rPr sz="1050" b="0" i="0">
                <a:solidFill>
                  <a:srgbClr val="16213A"/>
                </a:solidFill>
                <a:latin typeface="Arial"/>
                <a:ea typeface="Malgun Gothic"/>
                <a:cs typeface="Malgun Gothic"/>
              </a:rPr>
              <a:t>으로, proprioception은 MLP-Mixer 인코더의 확률적 잠재로 바꾼 뒤 둘을 합친다. 깊이 입력이 잡음이 되거나 카메라가 떨어져도 발이 턱에 걸린 뒤 끌어올리거나 무릎으로 버티는 동작이 나온다. </a:t>
            </a:r>
            <a:r>
              <a:rPr sz="1050" b="1" i="0">
                <a:solidFill>
                  <a:srgbClr val="16213A"/>
                </a:solidFill>
                <a:latin typeface="Arial"/>
                <a:ea typeface="Malgun Gothic"/>
                <a:cs typeface="Malgun Gothic"/>
              </a:rPr>
              <a:t>명시적 전환 규칙이 아니라 학습에서 저절로 생긴 반사다.</a:t>
            </a:r>
            <a:r>
              <a:rPr sz="1050" b="0" i="0">
                <a:solidFill>
                  <a:srgbClr val="16213A"/>
                </a:solidFill>
                <a:latin typeface="Arial"/>
                <a:ea typeface="Malgun Gothic"/>
                <a:cs typeface="Malgun Gothic"/>
              </a:rPr>
              <a:t> 시뮬레이션 20 cm 계단에서 97.8% 성공했고, 학습 범위(10°)의 3.5배인 35° 경사를 올랐다. 실기는 Go1이고(A1은 비교용 DreamWaQ), ANYmal-C·Hound는 시뮬레이션에서 학습·평가했다. Miki 2022와 같은 계열의 "인식 신뢰도가 낮으면 proprioception으로 물러난다" 구조로, 인식이 불확실할 때 Controller를 보수적으로 움직이게 하는 설계의 근거다.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DreamRiser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arXiv:2306.12712</a:t>
            </a:r>
            <a:r>
              <a:rPr sz="1050" b="0" i="0">
                <a:solidFill>
                  <a:srgbClr val="16213A"/>
                </a:solidFill>
                <a:latin typeface="Arial"/>
                <a:ea typeface="Malgun Gothic"/>
                <a:cs typeface="Malgun Gothic"/>
              </a:rPr>
              <a:t>) — 넘어진 뒤 지형을 "상상"해 일어서는 복구 제어.</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DreamFLEX</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7"/>
              </a:rPr>
              <a:t>arXiv:2502.05817</a:t>
            </a:r>
            <a:r>
              <a:rPr sz="1050" b="0" i="0">
                <a:solidFill>
                  <a:srgbClr val="16213A"/>
                </a:solidFill>
                <a:latin typeface="Arial"/>
                <a:ea typeface="Malgun Gothic"/>
                <a:cs typeface="Malgun Gothic"/>
              </a:rPr>
              <a:t>, ICRA 2025) — 관절 고장을 스스로 감지해 걸음새를 바꾸는 제어.</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OpenHEART</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8"/>
              </a:rPr>
              <a:t>arXiv:2603.05830</a:t>
            </a:r>
            <a:r>
              <a:rPr sz="1050" b="0" i="0">
                <a:solidFill>
                  <a:srgbClr val="16213A"/>
                </a:solidFill>
                <a:latin typeface="Arial"/>
                <a:ea typeface="Malgun Gothic"/>
                <a:cs typeface="Malgun Gothic"/>
              </a:rPr>
              <a:t>, ICRA 2026, </a:t>
            </a:r>
            <a:r>
              <a:rPr sz="1050" b="0" i="0">
                <a:solidFill>
                  <a:srgbClr val="1D4ED8"/>
                </a:solidFill>
                <a:latin typeface="Arial"/>
                <a:ea typeface="Malgun Gothic"/>
                <a:cs typeface="Malgun Gothic"/>
                <a:hlinkClick r:id="rId9"/>
              </a:rPr>
              <a:t>프로젝트</a:t>
            </a:r>
            <a:r>
              <a:rPr sz="1050" b="0" i="0">
                <a:solidFill>
                  <a:srgbClr val="16213A"/>
                </a:solidFill>
                <a:latin typeface="Arial"/>
                <a:ea typeface="Malgun Gothic"/>
                <a:cs typeface="Malgun Gothic"/>
              </a:rPr>
              <a:t>) — 다리 달린 매니퓰레이터로 문·서랍·캐비닛을 연다. 관절 방향과 가동 범위를 시각과 proprioception을 섞어 추정하고(ArtIEst), 처음 잡기가 불안정하면 다시 잡는다. 조작 과제라 직접 관련은 낮지만, "시각이 모호할 때 몸으로 느낀 신호로 보정한다"는 점은 TravNet 자기지도 라벨과 같은 발상이다.</a:t>
            </a:r>
          </a:p>
        </p:txBody>
      </p:sp>
      <p:sp>
        <p:nvSpPr>
          <p:cNvPr id="7" name="TextBox 6"/>
          <p:cNvSpPr txBox="1"/>
          <p:nvPr/>
        </p:nvSpPr>
        <p:spPr>
          <a:xfrm>
            <a:off x="609600" y="366355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같은 연구실의 traversability·경로 계획 연구(TRIP, TRG-planner, DreamFlow)는 A.10과 B.9에 있다.</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294 / 359</a:t>
            </a:r>
          </a:p>
        </p:txBody>
      </p:sp>
      <p:pic>
        <p:nvPicPr>
          <p:cNvPr id="5" name="Picture 4" descr="image.jpg"/>
          <p:cNvPicPr>
            <a:picLocks noChangeAspect="1"/>
          </p:cNvPicPr>
          <p:nvPr/>
        </p:nvPicPr>
        <p:blipFill>
          <a:blip r:embed="rId3"/>
          <a:stretch>
            <a:fillRect/>
          </a:stretch>
        </p:blipFill>
        <p:spPr>
          <a:xfrm>
            <a:off x="609600" y="1244600"/>
            <a:ext cx="3556000" cy="1625600"/>
          </a:xfrm>
          <a:prstGeom prst="rect">
            <a:avLst/>
          </a:prstGeom>
        </p:spPr>
      </p:pic>
      <p:sp>
        <p:nvSpPr>
          <p:cNvPr id="6" name="TextBox 5"/>
          <p:cNvSpPr txBox="1"/>
          <p:nvPr/>
        </p:nvSpPr>
        <p:spPr>
          <a:xfrm>
            <a:off x="609600" y="29083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DreamWaQ++ (Fig. 2): 센서별 원시 측정 인코더(proprioception·점군) 위에 시공간 믹서를 얹은 계층형 인코더. 출처: arXiv:2409.19709</a:t>
            </a:r>
          </a:p>
        </p:txBody>
      </p:sp>
      <p:pic>
        <p:nvPicPr>
          <p:cNvPr id="7" name="Picture 6" descr="image.jpg"/>
          <p:cNvPicPr>
            <a:picLocks noChangeAspect="1"/>
          </p:cNvPicPr>
          <p:nvPr/>
        </p:nvPicPr>
        <p:blipFill>
          <a:blip r:embed="rId4"/>
          <a:stretch>
            <a:fillRect/>
          </a:stretch>
        </p:blipFill>
        <p:spPr>
          <a:xfrm>
            <a:off x="4318000" y="1244600"/>
            <a:ext cx="3556000" cy="2622550"/>
          </a:xfrm>
          <a:prstGeom prst="rect">
            <a:avLst/>
          </a:prstGeom>
        </p:spPr>
      </p:pic>
      <p:sp>
        <p:nvSpPr>
          <p:cNvPr id="8" name="TextBox 7"/>
          <p:cNvSpPr txBox="1"/>
          <p:nvPr/>
        </p:nvSpPr>
        <p:spPr>
          <a:xfrm>
            <a:off x="4318000" y="390525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DreamRiser (Fig. 3): 학습된 지형 상상으로 넘어진 뒤 적응적으로 일어서는 복구 동작. 출처: arXiv:2306.12712</a:t>
            </a:r>
          </a:p>
        </p:txBody>
      </p:sp>
      <p:pic>
        <p:nvPicPr>
          <p:cNvPr id="9" name="Picture 8" descr="image.jpg"/>
          <p:cNvPicPr>
            <a:picLocks noChangeAspect="1"/>
          </p:cNvPicPr>
          <p:nvPr/>
        </p:nvPicPr>
        <p:blipFill>
          <a:blip r:embed="rId5"/>
          <a:stretch>
            <a:fillRect/>
          </a:stretch>
        </p:blipFill>
        <p:spPr>
          <a:xfrm>
            <a:off x="8026400" y="1244600"/>
            <a:ext cx="3556000" cy="2006600"/>
          </a:xfrm>
          <a:prstGeom prst="rect">
            <a:avLst/>
          </a:prstGeom>
        </p:spPr>
      </p:pic>
      <p:sp>
        <p:nvSpPr>
          <p:cNvPr id="10" name="TextBox 9"/>
          <p:cNvSpPr txBox="1"/>
          <p:nvPr/>
        </p:nvSpPr>
        <p:spPr>
          <a:xfrm>
            <a:off x="8026400" y="32893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DreamFLEX (Fig. 1): 보행 중 관절 고장(빨간 원)을 스스로 감지하고 걸음새를 바꿔 계속 걷는다. 출처: arXiv:2502.05817</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295 / 359</a:t>
            </a:r>
          </a:p>
        </p:txBody>
      </p:sp>
      <p:pic>
        <p:nvPicPr>
          <p:cNvPr id="5" name="Picture 4" descr="image.jpg"/>
          <p:cNvPicPr>
            <a:picLocks noChangeAspect="1"/>
          </p:cNvPicPr>
          <p:nvPr/>
        </p:nvPicPr>
        <p:blipFill>
          <a:blip r:embed="rId3"/>
          <a:stretch>
            <a:fillRect/>
          </a:stretch>
        </p:blipFill>
        <p:spPr>
          <a:xfrm>
            <a:off x="1641475" y="1244600"/>
            <a:ext cx="8909050" cy="2984500"/>
          </a:xfrm>
          <a:prstGeom prst="rect">
            <a:avLst/>
          </a:prstGeom>
        </p:spPr>
      </p:pic>
      <p:sp>
        <p:nvSpPr>
          <p:cNvPr id="6" name="TextBox 5"/>
          <p:cNvSpPr txBox="1"/>
          <p:nvPr/>
        </p:nvSpPr>
        <p:spPr>
          <a:xfrm>
            <a:off x="1641475" y="4267200"/>
            <a:ext cx="890905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OpenHEART (Fig. 2): 상위 planner와 하위 controller의 계층 구조. 물체 형상을 압축 표현(SAFE)하고, 관절 정보를 시각·proprioception 융합으로 추정한다. 출처: arXiv:2603.05830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자세히: DreamWaQ++의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296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전작 DreamWaQ(ICRA 2023)는 proprioception만 쓰는 blind 정책이다. 계단 턱을 알려면 앞발이 먼저 부딪혀야 한다. 반대로 elevation map 기반 정책(Miki 2022 등)은 시간에 걸쳐 정밀하게 쌓은 지도가 있어야 한다. 지도 파이프라인은 무겁고 지연이 생긴다. DreamWaQ++는 이 둘 사이를 노린다. 지도를 만들지 않고 </a:t>
            </a:r>
            <a:r>
              <a:rPr sz="1050" b="1" i="0">
                <a:solidFill>
                  <a:srgbClr val="16213A"/>
                </a:solidFill>
                <a:latin typeface="Arial"/>
                <a:ea typeface="Malgun Gothic"/>
                <a:cs typeface="Malgun Gothic"/>
              </a:rPr>
              <a:t>점군을 그대로</a:t>
            </a:r>
            <a:r>
              <a:rPr sz="1050" b="0" i="0">
                <a:solidFill>
                  <a:srgbClr val="16213A"/>
                </a:solidFill>
                <a:latin typeface="Arial"/>
                <a:ea typeface="Malgun Gothic"/>
                <a:cs typeface="Malgun Gothic"/>
              </a:rPr>
              <a:t> 정책에 넣는다. 센서 종류(깊이 카메라·LiDAR)에 묶이지 않고, 한 단계 학습(teacher–student 없음)으로 끝내는 것이 목표다.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입출력과 주기.</a:t>
            </a:r>
            <a:r>
              <a:rPr sz="1050" b="0" i="0">
                <a:solidFill>
                  <a:srgbClr val="16213A"/>
                </a:solidFill>
                <a:latin typeface="Arial"/>
                <a:ea typeface="Malgun Gothic"/>
                <a:cs typeface="Malgun Gothic"/>
              </a:rPr>
              <a:t> proprioception은 200 Hz로 샘플링하고, 점군은 10 Hz로 받는다. 정책과 인코더는 50 Hz로 돌며 가장 최근 값을 쓴다. 정책 출력은 관절 12개의 목표각이다. 200 Hz PD 제어기(</a:t>
            </a:r>
            <a:r>
              <a:rPr sz="1050" b="0" i="1">
                <a:solidFill>
                  <a:srgbClr val="16213A"/>
                </a:solidFill>
                <a:latin typeface="Arial"/>
                <a:ea typeface="Malgun Gothic"/>
                <a:cs typeface="Malgun Gothic"/>
              </a:rPr>
              <a:t>Kₚ=25</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K_d=0.7</a:t>
            </a:r>
            <a:r>
              <a:rPr sz="1050" b="0" i="0">
                <a:solidFill>
                  <a:srgbClr val="16213A"/>
                </a:solidFill>
                <a:latin typeface="Arial"/>
                <a:ea typeface="Malgun Gothic"/>
                <a:cs typeface="Malgun Gothic"/>
              </a:rPr>
              <a:t>)가 이를 토크로 바꾼다. proprioception 한 프레임의 구성은 DreamWaQ와 같다(몸체 각속도, 몸체 좌표의 중력 벡터, 속도 명령, 관절각, 관절 속도, 직전 행동). ++ 원문은 구성을 따로 적지 않았다. 과거 </a:t>
            </a:r>
            <a:r>
              <a:rPr sz="1050" b="0" i="1">
                <a:solidFill>
                  <a:srgbClr val="16213A"/>
                </a:solidFill>
                <a:latin typeface="Arial"/>
                <a:ea typeface="Malgun Gothic"/>
                <a:cs typeface="Malgun Gothic"/>
              </a:rPr>
              <a:t>H=5</a:t>
            </a:r>
            <a:r>
              <a:rPr sz="1050" b="0" i="0">
                <a:solidFill>
                  <a:srgbClr val="16213A"/>
                </a:solidFill>
                <a:latin typeface="Arial"/>
                <a:ea typeface="Malgun Gothic"/>
                <a:cs typeface="Malgun Gothic"/>
              </a:rPr>
              <a:t> 스텝(50 Hz에서 100 ms)을 쌓아 인코더에 넣는다.</a:t>
            </a:r>
          </a:p>
        </p:txBody>
      </p:sp>
      <p:sp>
        <p:nvSpPr>
          <p:cNvPr id="7" name="TextBox 6"/>
          <p:cNvSpPr txBox="1"/>
          <p:nvPr/>
        </p:nvSpPr>
        <p:spPr>
          <a:xfrm>
            <a:off x="609600" y="2721372"/>
            <a:ext cx="10972800" cy="1061244"/>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o^{p,H}_t (최근 100 ms proprioception) ─ MLP-Mixer 인코더 ─ z^p_t (32차원) ─┬─ 속도 헤드 → v̂_t</a:t>
            </a:r>
          </a:p>
          <a:p>
            <a:r>
              <a:rPr sz="750" b="0" i="0">
                <a:solidFill>
                  <a:srgbClr val="F4F1EA"/>
                </a:solidFill>
                <a:latin typeface="Consolas"/>
                <a:ea typeface="Malgun Gothic"/>
                <a:cs typeface="Malgun Gothic"/>
              </a:rPr>
              <a:t>                                                                          └─ 디코더 → ô_{t+1} (다음 관측 복원)</a:t>
            </a:r>
          </a:p>
          <a:p>
            <a:r>
              <a:rPr sz="750" b="0" i="0">
                <a:solidFill>
                  <a:srgbClr val="F4F1EA"/>
                </a:solidFill>
                <a:latin typeface="Consolas"/>
                <a:ea typeface="Malgun Gothic"/>
                <a:cs typeface="Malgun Gothic"/>
              </a:rPr>
              <a:t>o^{e,K}_t (SE(3)로 옮겨 쌓은 점군) ─ PointNet ─ 신뢰도 필터 ─ max-pool ─ z^e_t (32차원)</a:t>
            </a:r>
          </a:p>
          <a:p>
            <a:r>
              <a:rPr sz="750" b="0" i="0">
                <a:solidFill>
                  <a:srgbClr val="F4F1EA"/>
                </a:solidFill>
                <a:latin typeface="Consolas"/>
                <a:ea typeface="Malgun Gothic"/>
                <a:cs typeface="Malgun Gothic"/>
              </a:rPr>
              <a:t>LN(z^p_t) ⊕ LN(z^e_t) ─ multi-modal mixer ─ z^pe_t ─ 디코더 → ĥ_t (로봇 중심 높이 스캔 복원)</a:t>
            </a:r>
          </a:p>
          <a:p>
            <a:r>
              <a:rPr sz="750" b="0" i="0">
                <a:solidFill>
                  <a:srgbClr val="F4F1EA"/>
                </a:solidFill>
                <a:latin typeface="Consolas"/>
                <a:ea typeface="Malgun Gothic"/>
                <a:cs typeface="Malgun Gothic"/>
              </a:rPr>
              <a:t>actor π(a_t | o^p_t, z^pe_t) → 관절 목표 50 Hz → PD 200 Hz</a:t>
            </a:r>
          </a:p>
          <a:p>
            <a:r>
              <a:rPr sz="750" b="0" i="0">
                <a:solidFill>
                  <a:srgbClr val="F4F1EA"/>
                </a:solidFill>
                <a:latin typeface="Consolas"/>
                <a:ea typeface="Malgun Gothic"/>
                <a:cs typeface="Malgun Gothic"/>
              </a:rPr>
              <a:t>critic V(s_t): 특권 상태 (높이맵 1.1 m × 1.7 m / 5 cm, 마찰·외력·질량중심 등)</a:t>
            </a:r>
          </a:p>
        </p:txBody>
      </p:sp>
      <p:sp>
        <p:nvSpPr>
          <p:cNvPr id="8" name="TextBox 7"/>
          <p:cNvSpPr txBox="1"/>
          <p:nvPr/>
        </p:nvSpPr>
        <p:spPr>
          <a:xfrm>
            <a:off x="609600" y="387151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잠재 차원(각 32)은 Fig. 14의 임베딩 번호(1–32가 </a:t>
            </a:r>
            <a:r>
              <a:rPr sz="1050" b="0" i="1">
                <a:solidFill>
                  <a:srgbClr val="16213A"/>
                </a:solidFill>
                <a:latin typeface="Arial"/>
                <a:ea typeface="Malgun Gothic"/>
                <a:cs typeface="Malgun Gothic"/>
              </a:rPr>
              <a:t>z^p</a:t>
            </a:r>
            <a:r>
              <a:rPr sz="1050" b="0" i="0">
                <a:solidFill>
                  <a:srgbClr val="16213A"/>
                </a:solidFill>
                <a:latin typeface="Arial"/>
                <a:ea typeface="Malgun Gothic"/>
                <a:cs typeface="Malgun Gothic"/>
              </a:rPr>
              <a:t>, 33–64가 </a:t>
            </a:r>
            <a:r>
              <a:rPr sz="1050" b="0" i="1">
                <a:solidFill>
                  <a:srgbClr val="16213A"/>
                </a:solidFill>
                <a:latin typeface="Arial"/>
                <a:ea typeface="Malgun Gothic"/>
                <a:cs typeface="Malgun Gothic"/>
              </a:rPr>
              <a:t>z^e</a:t>
            </a:r>
            <a:r>
              <a:rPr sz="1050" b="0" i="0">
                <a:solidFill>
                  <a:srgbClr val="16213A"/>
                </a:solidFill>
                <a:latin typeface="Arial"/>
                <a:ea typeface="Malgun Gothic"/>
                <a:cs typeface="Malgun Gothic"/>
              </a:rPr>
              <a:t>)에서 읽었다. 두 잠재는 layer normalization을 따로 거친 뒤 합친다. 두 모달리티의 크기를 맞추려는 것이다.</a:t>
            </a:r>
          </a:p>
        </p:txBody>
      </p:sp>
      <p:sp>
        <p:nvSpPr>
          <p:cNvPr id="9" name="TextBox 8"/>
          <p:cNvSpPr txBox="1"/>
          <p:nvPr/>
        </p:nvSpPr>
        <p:spPr>
          <a:xfrm>
            <a:off x="609600" y="417691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점군 메모리.</a:t>
            </a:r>
            <a:r>
              <a:rPr sz="1050" b="0" i="0">
                <a:solidFill>
                  <a:srgbClr val="16213A"/>
                </a:solidFill>
                <a:latin typeface="Arial"/>
                <a:ea typeface="Malgun Gothic"/>
                <a:cs typeface="Malgun Gothic"/>
              </a:rPr>
              <a:t> 깊이 센서는 제어 루프보다 2–5배 느리다. 최근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 측정을 현재 몸체 좌표로 옮겨 이어 붙인다(</a:t>
            </a:r>
            <a:r>
              <a:rPr sz="1050" b="0" i="1">
                <a:solidFill>
                  <a:srgbClr val="16213A"/>
                </a:solidFill>
                <a:latin typeface="Arial"/>
                <a:ea typeface="Malgun Gothic"/>
                <a:cs typeface="Malgun Gothic"/>
              </a:rPr>
              <a:t>⊕</a:t>
            </a:r>
            <a:r>
              <a:rPr sz="1050" b="0" i="0">
                <a:solidFill>
                  <a:srgbClr val="16213A"/>
                </a:solidFill>
                <a:latin typeface="Arial"/>
                <a:ea typeface="Malgun Gothic"/>
                <a:cs typeface="Malgun Gothic"/>
              </a:rPr>
              <a:t>). 옮기는 </a:t>
            </a:r>
            <a:r>
              <a:rPr sz="1050" b="0" i="1">
                <a:solidFill>
                  <a:srgbClr val="16213A"/>
                </a:solidFill>
                <a:latin typeface="Arial"/>
                <a:ea typeface="Malgun Gothic"/>
                <a:cs typeface="Malgun Gothic"/>
              </a:rPr>
              <a:t>SE(3)</a:t>
            </a:r>
            <a:r>
              <a:rPr sz="1050" b="0" i="0">
                <a:solidFill>
                  <a:srgbClr val="16213A"/>
                </a:solidFill>
                <a:latin typeface="Arial"/>
                <a:ea typeface="Malgun Gothic"/>
                <a:cs typeface="Malgun Gothic"/>
              </a:rPr>
              <a:t> 변환은 IMU 자세와, 추정 속도 </a:t>
            </a:r>
            <a:r>
              <a:rPr sz="1050" b="0" i="1">
                <a:solidFill>
                  <a:srgbClr val="16213A"/>
                </a:solidFill>
                <a:latin typeface="Arial"/>
                <a:ea typeface="Malgun Gothic"/>
                <a:cs typeface="Malgun Gothic"/>
              </a:rPr>
              <a:t>v̂ₜ</a:t>
            </a:r>
            <a:r>
              <a:rPr sz="1050" b="0" i="0">
                <a:solidFill>
                  <a:srgbClr val="16213A"/>
                </a:solidFill>
                <a:latin typeface="Arial"/>
                <a:ea typeface="Malgun Gothic"/>
                <a:cs typeface="Malgun Gothic"/>
              </a:rPr>
              <a:t>의 오일러 적분으로 구한다(배경: SE(3) 변환 토글 참고). 장면 전체를 재구성하지 않고 몸체 자세만 추정하므로 가볍다. 새 측정이 오면 적분을 리셋하므로 드리프트가 쌓이지 않는다.</a:t>
            </a:r>
          </a:p>
        </p:txBody>
      </p:sp>
      <p:pic>
        <p:nvPicPr>
          <p:cNvPr id="10" name="Picture 9" descr="image.png"/>
          <p:cNvPicPr>
            <a:picLocks noChangeAspect="1"/>
          </p:cNvPicPr>
          <p:nvPr/>
        </p:nvPicPr>
        <p:blipFill>
          <a:blip r:embed="rId3"/>
          <a:stretch>
            <a:fillRect/>
          </a:stretch>
        </p:blipFill>
        <p:spPr>
          <a:xfrm>
            <a:off x="609600" y="4698802"/>
            <a:ext cx="3927475" cy="250825"/>
          </a:xfrm>
          <a:prstGeom prst="rect">
            <a:avLst/>
          </a:prstGeom>
        </p:spPr>
      </p:pic>
      <p:sp>
        <p:nvSpPr>
          <p:cNvPr id="11" name="TextBox 10"/>
          <p:cNvSpPr txBox="1"/>
          <p:nvPr/>
        </p:nvSpPr>
        <p:spPr>
          <a:xfrm>
            <a:off x="609600" y="4983659"/>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T_(t ← t-k)</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t-k</a:t>
            </a:r>
            <a:r>
              <a:rPr sz="1050" b="0" i="0">
                <a:solidFill>
                  <a:srgbClr val="16213A"/>
                </a:solidFill>
                <a:latin typeface="Arial"/>
                <a:ea typeface="Malgun Gothic"/>
                <a:cs typeface="Malgun Gothic"/>
              </a:rPr>
              <a:t> 시점 몸체 좌표의 점을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 시점 몸체 좌표로 옮기는 변환이다. 원문 식 (3)의 첨자 표기는 헷갈리게 적혀 있어 뜻으로 옮겼다. 원문은 10 Hz 측정에 </a:t>
            </a:r>
            <a:r>
              <a:rPr sz="1050" b="0" i="1">
                <a:solidFill>
                  <a:srgbClr val="16213A"/>
                </a:solidFill>
                <a:latin typeface="Arial"/>
                <a:ea typeface="Malgun Gothic"/>
                <a:cs typeface="Malgun Gothic"/>
              </a:rPr>
              <a:t>K=5</a:t>
            </a:r>
            <a:r>
              <a:rPr sz="1050" b="0" i="0">
                <a:solidFill>
                  <a:srgbClr val="16213A"/>
                </a:solidFill>
                <a:latin typeface="Arial"/>
                <a:ea typeface="Malgun Gothic"/>
                <a:cs typeface="Malgun Gothic"/>
              </a:rPr>
              <a:t>를 쓴다. 이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가 "과거 측정 5개"인지 "제어 5스텝(= 측정 한 주기)"인지는 원문 표기가 모호하다. 10 Hz를 고른 이유는 온보드 처리 지연과, 상용 3D LiDAR가 보통 10 Hz라서 재학습 없이 센서를 바꿀 수 있다는 점이다.</a:t>
            </a:r>
          </a:p>
        </p:txBody>
      </p:sp>
      <p:sp>
        <p:nvSpPr>
          <p:cNvPr id="12" name="TextBox 11"/>
          <p:cNvSpPr txBox="1"/>
          <p:nvPr/>
        </p:nvSpPr>
        <p:spPr>
          <a:xfrm>
            <a:off x="609600" y="550554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신뢰도 필터.</a:t>
            </a:r>
            <a:r>
              <a:rPr sz="1050" b="0" i="0">
                <a:solidFill>
                  <a:srgbClr val="16213A"/>
                </a:solidFill>
                <a:latin typeface="Arial"/>
                <a:ea typeface="Malgun Gothic"/>
                <a:cs typeface="Malgun Gothic"/>
              </a:rPr>
              <a:t> 점군 인코더는 PointNet이다(배경: PointNet 토글 참고). PointNet의 max-pooling은 점 특징을 가리지 않고 모은다. 그래서 이상점과 큰 잡음이 섞이면 전역 특징이 끌려간다(배경: max-pooling 토글 참고). 이를 막으려고 max-pooling 앞에 마스크를 곱한다.</a:t>
            </a:r>
          </a:p>
        </p:txBody>
      </p:sp>
      <p:sp>
        <p:nvSpPr>
          <p:cNvPr id="13" name="TextBox 12"/>
          <p:cNvSpPr txBox="1"/>
          <p:nvPr/>
        </p:nvSpPr>
        <p:spPr>
          <a:xfrm>
            <a:off x="609600" y="602744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22개(문단·식·그림)는 대시보드 리서치 탭의 "자세히: DreamWaQ++의 방법과 수식" 토글에 있다.</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PointNet — 순서가 없는 점 집합을 그대로 받는 신경망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297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PointNet(Qi 외, CVPR 2017)은 점군을 격자나 영상으로 바꾸지 않고 점 목록 그대로 처리하는 신경망이다. 입력은 점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개의 좌표 </a:t>
            </a:r>
            <a:r>
              <a:rPr sz="1050" b="0" i="1">
                <a:solidFill>
                  <a:srgbClr val="16213A"/>
                </a:solidFill>
                <a:latin typeface="Arial"/>
                <a:ea typeface="Malgun Gothic"/>
                <a:cs typeface="Malgun Gothic"/>
              </a:rPr>
              <a:t>{x₁, …, x_N}</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xᵢ ∈ ℝ³</a:t>
            </a:r>
            <a:r>
              <a:rPr sz="1050" b="0" i="0">
                <a:solidFill>
                  <a:srgbClr val="16213A"/>
                </a:solidFill>
                <a:latin typeface="Arial"/>
                <a:ea typeface="Malgun Gothic"/>
                <a:cs typeface="Malgun Gothic"/>
              </a:rPr>
              <a:t>이다(색·세기 같은 채널을 더 붙여도 된다).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점군은 집합이다. 같은 장면이라도 센서가 점을 내놓는 순서는 매번 다르고, 점 개수도 다르다. 보통의 MLP에 점을 한 줄로 이어 넣으면 순서가 바뀔 때 출력이 바뀐다. 복셀 격자로 바꾸면 순서 문제는 사라지지만 해상도와 메모리가 맞바꿈이 된다.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동작하나.</a:t>
            </a:r>
            <a:r>
              <a:rPr sz="1050" b="0" i="0">
                <a:solidFill>
                  <a:srgbClr val="16213A"/>
                </a:solidFill>
                <a:latin typeface="Arial"/>
                <a:ea typeface="Malgun Gothic"/>
                <a:cs typeface="Malgun Gothic"/>
              </a:rPr>
              <a:t> 두 부품으로 순서 불변을 만든다.</a:t>
            </a:r>
          </a:p>
        </p:txBody>
      </p:sp>
      <p:pic>
        <p:nvPicPr>
          <p:cNvPr id="8" name="Picture 7" descr="image.png"/>
          <p:cNvPicPr>
            <a:picLocks noChangeAspect="1"/>
          </p:cNvPicPr>
          <p:nvPr/>
        </p:nvPicPr>
        <p:blipFill>
          <a:blip r:embed="rId3"/>
          <a:stretch>
            <a:fillRect/>
          </a:stretch>
        </p:blipFill>
        <p:spPr>
          <a:xfrm>
            <a:off x="609600" y="2593777"/>
            <a:ext cx="2517775" cy="346075"/>
          </a:xfrm>
          <a:prstGeom prst="rect">
            <a:avLst/>
          </a:prstGeom>
        </p:spPr>
      </p:pic>
      <p:sp>
        <p:nvSpPr>
          <p:cNvPr id="9" name="TextBox 8"/>
          <p:cNvSpPr txBox="1"/>
          <p:nvPr/>
        </p:nvSpPr>
        <p:spPr>
          <a:xfrm>
            <a:off x="609600" y="2960489"/>
            <a:ext cx="10972800" cy="6748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공유 MLP </a:t>
            </a:r>
            <a:r>
              <a:rPr sz="1050" b="1" i="1">
                <a:solidFill>
                  <a:srgbClr val="16213A"/>
                </a:solidFill>
                <a:latin typeface="Arial"/>
                <a:ea typeface="Malgun Gothic"/>
                <a:cs typeface="Malgun Gothic"/>
              </a:rPr>
              <a:t>h</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모든 점에 </a:t>
            </a:r>
            <a:r>
              <a:rPr sz="1050" b="1" i="0">
                <a:solidFill>
                  <a:srgbClr val="16213A"/>
                </a:solidFill>
                <a:latin typeface="Arial"/>
                <a:ea typeface="Malgun Gothic"/>
                <a:cs typeface="Malgun Gothic"/>
              </a:rPr>
              <a:t>같은 가중치의</a:t>
            </a:r>
            <a:r>
              <a:rPr sz="1050" b="0" i="0">
                <a:solidFill>
                  <a:srgbClr val="16213A"/>
                </a:solidFill>
                <a:latin typeface="Arial"/>
                <a:ea typeface="Malgun Gothic"/>
                <a:cs typeface="Malgun Gothic"/>
              </a:rPr>
              <a:t> MLP를 따로 적용해 점마다 특징 </a:t>
            </a:r>
            <a:r>
              <a:rPr sz="1050" b="0" i="1">
                <a:solidFill>
                  <a:srgbClr val="16213A"/>
                </a:solidFill>
                <a:latin typeface="Arial"/>
                <a:ea typeface="Malgun Gothic"/>
                <a:cs typeface="Malgun Gothic"/>
              </a:rPr>
              <a:t>h(xᵢ) ∈ ℝ^D</a:t>
            </a:r>
            <a:r>
              <a:rPr sz="1050" b="0" i="0">
                <a:solidFill>
                  <a:srgbClr val="16213A"/>
                </a:solidFill>
                <a:latin typeface="Arial"/>
                <a:ea typeface="Malgun Gothic"/>
                <a:cs typeface="Malgun Gothic"/>
              </a:rPr>
              <a:t>를 만든다(예: </a:t>
            </a:r>
            <a:r>
              <a:rPr sz="1050" b="0" i="1">
                <a:solidFill>
                  <a:srgbClr val="16213A"/>
                </a:solidFill>
                <a:latin typeface="Arial"/>
                <a:ea typeface="Malgun Gothic"/>
                <a:cs typeface="Malgun Gothic"/>
              </a:rPr>
              <a:t>D=1024</a:t>
            </a:r>
            <a:r>
              <a:rPr sz="1050" b="0" i="0">
                <a:solidFill>
                  <a:srgbClr val="16213A"/>
                </a:solidFill>
                <a:latin typeface="Arial"/>
                <a:ea typeface="Malgun Gothic"/>
                <a:cs typeface="Malgun Gothic"/>
              </a:rPr>
              <a:t>). 점끼리 정보를 섞지 않으므로, 점 순서를 바꾸면 특징 목록의 순서만 바뀐다.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대칭 함수 </a:t>
            </a:r>
            <a:r>
              <a:rPr sz="1050" b="1" i="1">
                <a:solidFill>
                  <a:srgbClr val="16213A"/>
                </a:solidFill>
                <a:latin typeface="Arial"/>
                <a:ea typeface="Malgun Gothic"/>
                <a:cs typeface="Malgun Gothic"/>
              </a:rPr>
              <a:t>max</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채널마다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 점 중 최댓값을 뽑는다. 최댓값은 입력 순서와 무관하다(배경: max-pooling 토글 참고). 결과는 점 개수와 상관없이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차원 전역 특징 하나다. 뒤의 </a:t>
            </a:r>
            <a:r>
              <a:rPr sz="1050" b="0" i="1">
                <a:solidFill>
                  <a:srgbClr val="16213A"/>
                </a:solidFill>
                <a:latin typeface="Arial"/>
                <a:ea typeface="Malgun Gothic"/>
                <a:cs typeface="Malgun Gothic"/>
              </a:rPr>
              <a:t>γ</a:t>
            </a:r>
            <a:r>
              <a:rPr sz="1050" b="0" i="0">
                <a:solidFill>
                  <a:srgbClr val="16213A"/>
                </a:solidFill>
                <a:latin typeface="Arial"/>
                <a:ea typeface="Malgun Gothic"/>
                <a:cs typeface="Malgun Gothic"/>
              </a:rPr>
              <a:t>(MLP)가 이를 분류·회귀 출력으로 바꾼다.</a:t>
            </a:r>
          </a:p>
        </p:txBody>
      </p:sp>
      <p:sp>
        <p:nvSpPr>
          <p:cNvPr id="10" name="TextBox 9"/>
          <p:cNvSpPr txBox="1"/>
          <p:nvPr/>
        </p:nvSpPr>
        <p:spPr>
          <a:xfrm>
            <a:off x="609600" y="3724275"/>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원 논문은 입력과 특징을 정렬하는 작은 변환망(T-Net)도 붙인다. 또 채널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개 각각의 최댓값을 내는 점들(critical points)만 남겨도 출력이 같다는 점을 보였다. 그래서 점을 조금 빼거나 더해도 출력이 크게 흔들리지 않는다.</a:t>
            </a:r>
          </a:p>
        </p:txBody>
      </p:sp>
      <p:sp>
        <p:nvSpPr>
          <p:cNvPr id="11" name="TextBox 10"/>
          <p:cNvSpPr txBox="1"/>
          <p:nvPr/>
        </p:nvSpPr>
        <p:spPr>
          <a:xfrm>
            <a:off x="609600" y="424616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점 3개의 특징이 </a:t>
            </a:r>
            <a:r>
              <a:rPr sz="1050" b="0" i="1">
                <a:solidFill>
                  <a:srgbClr val="16213A"/>
                </a:solidFill>
                <a:latin typeface="Arial"/>
                <a:ea typeface="Malgun Gothic"/>
                <a:cs typeface="Malgun Gothic"/>
              </a:rPr>
              <a:t>[0.2, 0.1]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[0.3, 0.4]</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[0.25, 0.2]</a:t>
            </a:r>
            <a:r>
              <a:rPr sz="1050" b="0" i="0">
                <a:solidFill>
                  <a:srgbClr val="16213A"/>
                </a:solidFill>
                <a:latin typeface="Arial"/>
                <a:ea typeface="Malgun Gothic"/>
                <a:cs typeface="Malgun Gothic"/>
              </a:rPr>
              <a:t>라면 전역 특징은 채널별 최댓값 </a:t>
            </a:r>
            <a:r>
              <a:rPr sz="1050" b="0" i="1">
                <a:solidFill>
                  <a:srgbClr val="16213A"/>
                </a:solidFill>
                <a:latin typeface="Arial"/>
                <a:ea typeface="Malgun Gothic"/>
                <a:cs typeface="Malgun Gothic"/>
              </a:rPr>
              <a:t>[0.3, 0.4]</a:t>
            </a:r>
            <a:r>
              <a:rPr sz="1050" b="0" i="0">
                <a:solidFill>
                  <a:srgbClr val="16213A"/>
                </a:solidFill>
                <a:latin typeface="Arial"/>
                <a:ea typeface="Malgun Gothic"/>
                <a:cs typeface="Malgun Gothic"/>
              </a:rPr>
              <a:t>다. 점 순서를 어떻게 바꿔도 같다.</a:t>
            </a:r>
          </a:p>
        </p:txBody>
      </p:sp>
      <p:sp>
        <p:nvSpPr>
          <p:cNvPr id="12" name="TextBox 11"/>
          <p:cNvSpPr txBox="1"/>
          <p:nvPr/>
        </p:nvSpPr>
        <p:spPr>
          <a:xfrm>
            <a:off x="609600" y="455156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한계.</a:t>
            </a:r>
            <a:r>
              <a:rPr sz="1050" b="0" i="0">
                <a:solidFill>
                  <a:srgbClr val="16213A"/>
                </a:solidFill>
                <a:latin typeface="Arial"/>
                <a:ea typeface="Malgun Gothic"/>
                <a:cs typeface="Malgun Gothic"/>
              </a:rPr>
              <a:t> 각 점을 따로 본 뒤 한 번에 모으므로 </a:t>
            </a:r>
            <a:r>
              <a:rPr sz="1050" b="1" i="0">
                <a:solidFill>
                  <a:srgbClr val="16213A"/>
                </a:solidFill>
                <a:latin typeface="Arial"/>
                <a:ea typeface="Malgun Gothic"/>
                <a:cs typeface="Malgun Gothic"/>
              </a:rPr>
              <a:t>국소 구조</a:t>
            </a:r>
            <a:r>
              <a:rPr sz="1050" b="0" i="0">
                <a:solidFill>
                  <a:srgbClr val="16213A"/>
                </a:solidFill>
                <a:latin typeface="Arial"/>
                <a:ea typeface="Malgun Gothic"/>
                <a:cs typeface="Malgun Gothic"/>
              </a:rPr>
              <a:t>(이웃 점들이 이루는 모서리·평면)를 직접 보지 못한다. PointNet++(Qi 외, NeurIPS 2017)는 점을 영역으로 묶어 영역마다 작은 PointNet을 돌리고, 이를 여러 층으로 쌓아 국소 구조를 잡는다.</a:t>
            </a:r>
          </a:p>
        </p:txBody>
      </p:sp>
      <p:sp>
        <p:nvSpPr>
          <p:cNvPr id="13" name="TextBox 12"/>
          <p:cNvSpPr txBox="1"/>
          <p:nvPr/>
        </p:nvSpPr>
        <p:spPr>
          <a:xfrm>
            <a:off x="609600" y="507345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 쓰는 곳.</a:t>
            </a:r>
            <a:r>
              <a:rPr sz="1050" b="0" i="0">
                <a:solidFill>
                  <a:srgbClr val="16213A"/>
                </a:solidFill>
                <a:latin typeface="Arial"/>
                <a:ea typeface="Malgun Gothic"/>
                <a:cs typeface="Malgun Gothic"/>
              </a:rPr>
              <a:t> DreamWaQ++는 SE(3)로 옮겨 쌓은 점군을 PointNet으로 인코딩한다. 점 개수가 바뀌어도 되므로 깊이 카메라와 LiDAR를 재학습 없이 바꿔 끼울 수 있다. OpenHEART의 비교 기준(점군 정책)도 가벼운 PointNet(은닉층 2개, 64·128)을 쓴다.</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max-pooling — 여럿 중 가장 큰 값 하나만 남기는 모으기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298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여러 값 중 최댓값 하나를 남기는 연산이다. 신경망에서는 특징을 줄이거나 모을 때 쓴다.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CNN의 풀링과 PointNet의 전역 max-pool.</a:t>
            </a:r>
            <a:r>
              <a:rPr sz="1050" b="0" i="0">
                <a:solidFill>
                  <a:srgbClr val="16213A"/>
                </a:solidFill>
                <a:latin typeface="Arial"/>
                <a:ea typeface="Malgun Gothic"/>
                <a:cs typeface="Malgun Gothic"/>
              </a:rPr>
              <a:t> 둘은 같은 연산이지만 범위가 다르다.</a:t>
            </a:r>
          </a:p>
        </p:txBody>
      </p:sp>
      <p:sp>
        <p:nvSpPr>
          <p:cNvPr id="7" name="TextBox 6"/>
          <p:cNvSpPr txBox="1"/>
          <p:nvPr/>
        </p:nvSpPr>
        <p:spPr>
          <a:xfrm>
            <a:off x="609600" y="1855391"/>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CNN: 특징 지도에서 이웃한 작은 창(예: 2×2)마다 최댓값을 뽑는다. 해상도를 줄이고 조금의 평행이동에 둔감해진다. 공간 배치는 남는다.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PointNet: 점 </a:t>
            </a:r>
            <a:r>
              <a:rPr sz="1050" b="1" i="0">
                <a:solidFill>
                  <a:srgbClr val="16213A"/>
                </a:solidFill>
                <a:latin typeface="Arial"/>
                <a:ea typeface="Malgun Gothic"/>
                <a:cs typeface="Malgun Gothic"/>
              </a:rPr>
              <a:t>전체</a:t>
            </a:r>
            <a:r>
              <a:rPr sz="1050" b="0" i="0">
                <a:solidFill>
                  <a:srgbClr val="16213A"/>
                </a:solidFill>
                <a:latin typeface="Arial"/>
                <a:ea typeface="Malgun Gothic"/>
                <a:cs typeface="Malgun Gothic"/>
              </a:rPr>
              <a:t>에 걸쳐 채널마다 최댓값 하나를 뽑는다. 공간 배치는 사라지고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차원 벡터 하나만 남는다.</a:t>
            </a:r>
          </a:p>
        </p:txBody>
      </p:sp>
      <p:pic>
        <p:nvPicPr>
          <p:cNvPr id="8" name="Picture 7" descr="image.png"/>
          <p:cNvPicPr>
            <a:picLocks noChangeAspect="1"/>
          </p:cNvPicPr>
          <p:nvPr/>
        </p:nvPicPr>
        <p:blipFill>
          <a:blip r:embed="rId3"/>
          <a:stretch>
            <a:fillRect/>
          </a:stretch>
        </p:blipFill>
        <p:spPr>
          <a:xfrm>
            <a:off x="609600" y="2402681"/>
            <a:ext cx="2543175" cy="304800"/>
          </a:xfrm>
          <a:prstGeom prst="rect">
            <a:avLst/>
          </a:prstGeom>
        </p:spPr>
      </p:pic>
      <p:sp>
        <p:nvSpPr>
          <p:cNvPr id="9" name="TextBox 8"/>
          <p:cNvSpPr txBox="1"/>
          <p:nvPr/>
        </p:nvSpPr>
        <p:spPr>
          <a:xfrm>
            <a:off x="609600" y="27340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순서 불변인가.</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max(a, b, c) = max(c, a, b)</a:t>
            </a:r>
            <a:r>
              <a:rPr sz="1050" b="0" i="0">
                <a:solidFill>
                  <a:srgbClr val="16213A"/>
                </a:solidFill>
                <a:latin typeface="Arial"/>
                <a:ea typeface="Malgun Gothic"/>
                <a:cs typeface="Malgun Gothic"/>
              </a:rPr>
              <a:t>처럼 최댓값은 인자 순서와 무관한 대칭 함수다. 합과 평균도 대칭 함수다. PointNet은 이 중 max를 쓴다.</a:t>
            </a:r>
          </a:p>
        </p:txBody>
      </p:sp>
      <p:sp>
        <p:nvSpPr>
          <p:cNvPr id="10" name="TextBox 9"/>
          <p:cNvSpPr txBox="1"/>
          <p:nvPr/>
        </p:nvSpPr>
        <p:spPr>
          <a:xfrm>
            <a:off x="609600" y="303946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이상점 하나에 끌리나.</a:t>
            </a:r>
            <a:r>
              <a:rPr sz="1050" b="0" i="0">
                <a:solidFill>
                  <a:srgbClr val="16213A"/>
                </a:solidFill>
                <a:latin typeface="Arial"/>
                <a:ea typeface="Malgun Gothic"/>
                <a:cs typeface="Malgun Gothic"/>
              </a:rPr>
              <a:t> 채널마다 </a:t>
            </a:r>
            <a:r>
              <a:rPr sz="1050" b="1" i="0">
                <a:solidFill>
                  <a:srgbClr val="16213A"/>
                </a:solidFill>
                <a:latin typeface="Arial"/>
                <a:ea typeface="Malgun Gothic"/>
                <a:cs typeface="Malgun Gothic"/>
              </a:rPr>
              <a:t>한 점이 값을 전부 정한다.</a:t>
            </a:r>
            <a:r>
              <a:rPr sz="1050" b="0" i="0">
                <a:solidFill>
                  <a:srgbClr val="16213A"/>
                </a:solidFill>
                <a:latin typeface="Arial"/>
                <a:ea typeface="Malgun Gothic"/>
                <a:cs typeface="Malgun Gothic"/>
              </a:rPr>
              <a:t> 위 PointNet 토글의 예에 이상점 특징 </a:t>
            </a:r>
            <a:r>
              <a:rPr sz="1050" b="0" i="1">
                <a:solidFill>
                  <a:srgbClr val="16213A"/>
                </a:solidFill>
                <a:latin typeface="Arial"/>
                <a:ea typeface="Malgun Gothic"/>
                <a:cs typeface="Malgun Gothic"/>
              </a:rPr>
              <a:t>[5.0, 0.1]</a:t>
            </a:r>
            <a:r>
              <a:rPr sz="1050" b="0" i="0">
                <a:solidFill>
                  <a:srgbClr val="16213A"/>
                </a:solidFill>
                <a:latin typeface="Arial"/>
                <a:ea typeface="Malgun Gothic"/>
                <a:cs typeface="Malgun Gothic"/>
              </a:rPr>
              <a:t>을 더하면 전역 특징은 </a:t>
            </a:r>
            <a:r>
              <a:rPr sz="1050" b="0" i="1">
                <a:solidFill>
                  <a:srgbClr val="16213A"/>
                </a:solidFill>
                <a:latin typeface="Arial"/>
                <a:ea typeface="Malgun Gothic"/>
                <a:cs typeface="Malgun Gothic"/>
              </a:rPr>
              <a:t>[0.3, 0.4]</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[5.0, 0.4]</a:t>
            </a:r>
            <a:r>
              <a:rPr sz="1050" b="0" i="0">
                <a:solidFill>
                  <a:srgbClr val="16213A"/>
                </a:solidFill>
                <a:latin typeface="Arial"/>
                <a:ea typeface="Malgun Gothic"/>
                <a:cs typeface="Malgun Gothic"/>
              </a:rPr>
              <a:t>가 된다. 첫 채널은 나머지 점이 무엇이든 이상점 하나로 결정된다. 평균이었다면 점이 1,000개일 때 이상점의 영향은 1/1,000로 희석된다. 역전파도 채널마다 최댓값을 낸 점으로만 흐르므로, 학습 중에도 이상점이 그 채널을 차지한다. 깊이 카메라의 날아다니는 점(flying pixel), 반사, 센서 장착 오차가 바로 이런 이상점이다.</a:t>
            </a:r>
          </a:p>
        </p:txBody>
      </p:sp>
      <p:sp>
        <p:nvSpPr>
          <p:cNvPr id="11" name="TextBox 10"/>
          <p:cNvSpPr txBox="1"/>
          <p:nvPr/>
        </p:nvSpPr>
        <p:spPr>
          <a:xfrm>
            <a:off x="609600" y="377785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 쓰는 곳.</a:t>
            </a:r>
            <a:r>
              <a:rPr sz="1050" b="0" i="0">
                <a:solidFill>
                  <a:srgbClr val="16213A"/>
                </a:solidFill>
                <a:latin typeface="Arial"/>
                <a:ea typeface="Malgun Gothic"/>
                <a:cs typeface="Malgun Gothic"/>
              </a:rPr>
              <a:t> DreamWaQ++의 신뢰도 필터가 이 문제를 겨냥한다. max-pool 직전에 흩어짐이 큰 특징에 </a:t>
            </a:r>
            <a:r>
              <a:rPr sz="1050" b="0" i="1">
                <a:solidFill>
                  <a:srgbClr val="16213A"/>
                </a:solidFill>
                <a:latin typeface="Arial"/>
                <a:ea typeface="Malgun Gothic"/>
                <a:cs typeface="Malgun Gothic"/>
              </a:rPr>
              <a:t>1 - tanh(σ)</a:t>
            </a:r>
            <a:r>
              <a:rPr sz="1050" b="0" i="0">
                <a:solidFill>
                  <a:srgbClr val="16213A"/>
                </a:solidFill>
                <a:latin typeface="Arial"/>
                <a:ea typeface="Malgun Gothic"/>
                <a:cs typeface="Malgun Gothic"/>
              </a:rPr>
              <a:t>(0에 가까움)를 곱해 값을 작게 만든다. 특징이 음이 아니라면 작아진 값은 최댓값 경쟁에서 빠진다. 평균으로 바꾸는 대신 max를 유지한 채 이상점만 누르는 방식이다.</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CENet — 과거 proprioception으로 몸체 속도와 지형 잠재를 함께 추정하는 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299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CENet(Context-aided Estimator Network)은 DreamWaQ(Nahrendra 외, ICRA 2023, </a:t>
            </a:r>
            <a:r>
              <a:rPr sz="1050" b="0" i="0">
                <a:solidFill>
                  <a:srgbClr val="1D4ED8"/>
                </a:solidFill>
                <a:latin typeface="Arial"/>
                <a:ea typeface="Malgun Gothic"/>
                <a:cs typeface="Malgun Gothic"/>
                <a:hlinkClick r:id="rId3"/>
              </a:rPr>
              <a:t>arXiv:2301.10602</a:t>
            </a:r>
            <a:r>
              <a:rPr sz="1050" b="0" i="0">
                <a:solidFill>
                  <a:srgbClr val="16213A"/>
                </a:solidFill>
                <a:latin typeface="Arial"/>
                <a:ea typeface="Malgun Gothic"/>
                <a:cs typeface="Malgun Gothic"/>
              </a:rPr>
              <a:t>)가 제안한 추정기다. 과거 proprioception </a:t>
            </a:r>
            <a:r>
              <a:rPr sz="1050" b="0" i="1">
                <a:solidFill>
                  <a:srgbClr val="16213A"/>
                </a:solidFill>
                <a:latin typeface="Arial"/>
                <a:ea typeface="Malgun Gothic"/>
                <a:cs typeface="Malgun Gothic"/>
              </a:rPr>
              <a:t>o^Hₜ = [oₜ, oₜ₋₁, …, o_(t-H)]</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H=5</a:t>
            </a:r>
            <a:r>
              <a:rPr sz="1050" b="0" i="0">
                <a:solidFill>
                  <a:srgbClr val="16213A"/>
                </a:solidFill>
                <a:latin typeface="Arial"/>
                <a:ea typeface="Malgun Gothic"/>
                <a:cs typeface="Malgun Gothic"/>
              </a:rPr>
              <a:t>)를 받아, 인코더 하나에서 몸체 선속도 </a:t>
            </a:r>
            <a:r>
              <a:rPr sz="1050" b="0" i="1">
                <a:solidFill>
                  <a:srgbClr val="16213A"/>
                </a:solidFill>
                <a:latin typeface="Arial"/>
                <a:ea typeface="Malgun Gothic"/>
                <a:cs typeface="Malgun Gothic"/>
              </a:rPr>
              <a:t>vₜ</a:t>
            </a:r>
            <a:r>
              <a:rPr sz="1050" b="0" i="0">
                <a:solidFill>
                  <a:srgbClr val="16213A"/>
                </a:solidFill>
                <a:latin typeface="Arial"/>
                <a:ea typeface="Malgun Gothic"/>
                <a:cs typeface="Malgun Gothic"/>
              </a:rPr>
              <a:t>와 잠재 맥락 </a:t>
            </a:r>
            <a:r>
              <a:rPr sz="1050" b="0" i="1">
                <a:solidFill>
                  <a:srgbClr val="16213A"/>
                </a:solidFill>
                <a:latin typeface="Arial"/>
                <a:ea typeface="Malgun Gothic"/>
                <a:cs typeface="Malgun Gothic"/>
              </a:rPr>
              <a:t>zₜ</a:t>
            </a:r>
            <a:r>
              <a:rPr sz="1050" b="0" i="0">
                <a:solidFill>
                  <a:srgbClr val="16213A"/>
                </a:solidFill>
                <a:latin typeface="Arial"/>
                <a:ea typeface="Malgun Gothic"/>
                <a:cs typeface="Malgun Gothic"/>
              </a:rPr>
              <a:t>를 함께 낸다. 관측 </a:t>
            </a:r>
            <a:r>
              <a:rPr sz="1050" b="0" i="1">
                <a:solidFill>
                  <a:srgbClr val="16213A"/>
                </a:solidFill>
                <a:latin typeface="Arial"/>
                <a:ea typeface="Malgun Gothic"/>
                <a:cs typeface="Malgun Gothic"/>
              </a:rPr>
              <a:t>oₜ</a:t>
            </a:r>
            <a:r>
              <a:rPr sz="1050" b="0" i="0">
                <a:solidFill>
                  <a:srgbClr val="16213A"/>
                </a:solidFill>
                <a:latin typeface="Arial"/>
                <a:ea typeface="Malgun Gothic"/>
                <a:cs typeface="Malgun Gothic"/>
              </a:rPr>
              <a:t>는 각속도·중력 벡터·속도 명령·관절각·관절 속도·직전 행동이다. 이력 정의를 글자 그대로 읽으면 6프레임이지만, 비공식 구현 대부분은 5프레임을 쓴다.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blind 정책은 지형을 볼 수 없다. 하지만 발이 닿은 뒤의 관절 움직임에는 지형 정보가 남는다. 몸체 선속도도 IMU 적분만으로는 드리프트가 쌓인다. CENet은 이 둘을 한 인코더로 추정한다. 원문은 지형 추정과 속도 추정이 서로 도와 속도 추정이 더 정확해진다고 본다.</a:t>
            </a:r>
          </a:p>
        </p:txBody>
      </p:sp>
      <p:sp>
        <p:nvSpPr>
          <p:cNvPr id="7" name="TextBox 6"/>
          <p:cNvSpPr txBox="1"/>
          <p:nvPr/>
        </p:nvSpPr>
        <p:spPr>
          <a:xfrm>
            <a:off x="609600" y="25048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동작하나.</a:t>
            </a:r>
            <a:r>
              <a:rPr sz="1050" b="0" i="0">
                <a:solidFill>
                  <a:srgbClr val="16213A"/>
                </a:solidFill>
                <a:latin typeface="Arial"/>
                <a:ea typeface="Malgun Gothic"/>
                <a:cs typeface="Malgun Gothic"/>
              </a:rPr>
              <a:t> 인코더 하나, 헤드 둘이다.</a:t>
            </a:r>
          </a:p>
        </p:txBody>
      </p:sp>
      <p:sp>
        <p:nvSpPr>
          <p:cNvPr id="8" name="TextBox 7"/>
          <p:cNvSpPr txBox="1"/>
          <p:nvPr/>
        </p:nvSpPr>
        <p:spPr>
          <a:xfrm>
            <a:off x="609600" y="2810272"/>
            <a:ext cx="10972800" cy="766762"/>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o^H_t ─ 공유 인코더(128×64×19) ─┬─ ṽ_t (3)                  MSE로 참 속도에 맞춤</a:t>
            </a:r>
          </a:p>
          <a:p>
            <a:r>
              <a:rPr sz="750" b="0" i="0">
                <a:solidFill>
                  <a:srgbClr val="F4F1EA"/>
                </a:solidFill>
                <a:latin typeface="Consolas"/>
                <a:ea typeface="Malgun Gothic"/>
                <a:cs typeface="Malgun Gothic"/>
              </a:rPr>
              <a:t>                                └─ z_t (16) ~ q(z|o^H_t)</a:t>
            </a:r>
          </a:p>
          <a:p>
            <a:r>
              <a:rPr sz="750" b="0" i="0">
                <a:solidFill>
                  <a:srgbClr val="F4F1EA"/>
                </a:solidFill>
                <a:latin typeface="Consolas"/>
                <a:ea typeface="Malgun Gothic"/>
                <a:cs typeface="Malgun Gothic"/>
              </a:rPr>
              <a:t>[ṽ_t, z_t] (19) ─ 디코더(64×128×48) ─→ õ_{t+1}               β-VAE: 다음 관측 복원</a:t>
            </a:r>
          </a:p>
          <a:p>
            <a:r>
              <a:rPr sz="750" b="0" i="0">
                <a:solidFill>
                  <a:srgbClr val="F4F1EA"/>
                </a:solidFill>
                <a:latin typeface="Consolas"/>
                <a:ea typeface="Malgun Gothic"/>
                <a:cs typeface="Malgun Gothic"/>
              </a:rPr>
              <a:t>[o_t, ṽ_t, z_t] ─ 정책 π(512×256×128×12) ─→ a_t</a:t>
            </a:r>
          </a:p>
        </p:txBody>
      </p:sp>
      <p:sp>
        <p:nvSpPr>
          <p:cNvPr id="9" name="TextBox 8"/>
          <p:cNvSpPr txBox="1"/>
          <p:nvPr/>
        </p:nvSpPr>
        <p:spPr>
          <a:xfrm>
            <a:off x="609600" y="3665934"/>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망 크기는 본문에 없고 Fig. 1·2의 라벨에만 있다. 128×64×19는 은닉층 128·64에 출력 19(속도 3 + 맥락 16)라는 뜻이다. Fig. 2의 화살표로 보면 디코더는 </a:t>
            </a:r>
            <a:r>
              <a:rPr sz="1050" b="0" i="1">
                <a:solidFill>
                  <a:srgbClr val="16213A"/>
                </a:solidFill>
                <a:latin typeface="Arial"/>
                <a:ea typeface="Malgun Gothic"/>
                <a:cs typeface="Malgun Gothic"/>
              </a:rPr>
              <a:t>zₜ</a:t>
            </a:r>
            <a:r>
              <a:rPr sz="1050" b="0" i="0">
                <a:solidFill>
                  <a:srgbClr val="16213A"/>
                </a:solidFill>
                <a:latin typeface="Arial"/>
                <a:ea typeface="Malgun Gothic"/>
                <a:cs typeface="Malgun Gothic"/>
              </a:rPr>
              <a:t>만이 아니라 </a:t>
            </a:r>
            <a:r>
              <a:rPr sz="1050" b="0" i="1">
                <a:solidFill>
                  <a:srgbClr val="16213A"/>
                </a:solidFill>
                <a:latin typeface="Arial"/>
                <a:ea typeface="Malgun Gothic"/>
                <a:cs typeface="Malgun Gothic"/>
              </a:rPr>
              <a:t>[ṽₜ, zₜ]</a:t>
            </a:r>
            <a:r>
              <a:rPr sz="1050" b="0" i="0">
                <a:solidFill>
                  <a:srgbClr val="16213A"/>
                </a:solidFill>
                <a:latin typeface="Arial"/>
                <a:ea typeface="Malgun Gothic"/>
                <a:cs typeface="Malgun Gothic"/>
              </a:rPr>
              <a:t> 19차원을 받는다. 디코더 출력 48은 식 (1)의 성분을 센 45(명령을 3차원으로 볼 때)와 3이 다르고, 논문은 </a:t>
            </a:r>
            <a:r>
              <a:rPr sz="1050" b="0" i="1">
                <a:solidFill>
                  <a:srgbClr val="16213A"/>
                </a:solidFill>
                <a:latin typeface="Arial"/>
                <a:ea typeface="Malgun Gothic"/>
                <a:cs typeface="Malgun Gothic"/>
              </a:rPr>
              <a:t>oₜ</a:t>
            </a:r>
            <a:r>
              <a:rPr sz="1050" b="0" i="0">
                <a:solidFill>
                  <a:srgbClr val="16213A"/>
                </a:solidFill>
                <a:latin typeface="Arial"/>
                <a:ea typeface="Malgun Gothic"/>
                <a:cs typeface="Malgun Gothic"/>
              </a:rPr>
              <a:t>의 차원을 적지 않는다.</a:t>
            </a:r>
          </a:p>
        </p:txBody>
      </p:sp>
      <p:pic>
        <p:nvPicPr>
          <p:cNvPr id="10" name="Picture 9" descr="image.png"/>
          <p:cNvPicPr>
            <a:picLocks noChangeAspect="1"/>
          </p:cNvPicPr>
          <p:nvPr/>
        </p:nvPicPr>
        <p:blipFill>
          <a:blip r:embed="rId4"/>
          <a:stretch>
            <a:fillRect/>
          </a:stretch>
        </p:blipFill>
        <p:spPr>
          <a:xfrm>
            <a:off x="609600" y="4187825"/>
            <a:ext cx="4962525" cy="238125"/>
          </a:xfrm>
          <a:prstGeom prst="rect">
            <a:avLst/>
          </a:prstGeom>
        </p:spPr>
      </p:pic>
      <p:sp>
        <p:nvSpPr>
          <p:cNvPr id="11" name="TextBox 10"/>
          <p:cNvSpPr txBox="1"/>
          <p:nvPr/>
        </p:nvSpPr>
        <p:spPr>
          <a:xfrm>
            <a:off x="609600" y="446534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핵심은 복원 대상이 지금 관측이 아니라 </a:t>
            </a:r>
            <a:r>
              <a:rPr sz="1050" b="1" i="0">
                <a:solidFill>
                  <a:srgbClr val="16213A"/>
                </a:solidFill>
                <a:latin typeface="Arial"/>
                <a:ea typeface="Malgun Gothic"/>
                <a:cs typeface="Malgun Gothic"/>
              </a:rPr>
              <a:t>다음 관측</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oₜ₊₁</a:t>
            </a:r>
            <a:r>
              <a:rPr sz="1050" b="0" i="0">
                <a:solidFill>
                  <a:srgbClr val="16213A"/>
                </a:solidFill>
                <a:latin typeface="Arial"/>
                <a:ea typeface="Malgun Gothic"/>
                <a:cs typeface="Malgun Gothic"/>
              </a:rPr>
              <a:t>이라는 점이다. 다음 관측을 맞히려면 지금 발밑이 계단인지, 미끄러운지를 알아야 한다. 그래서 </a:t>
            </a:r>
            <a:r>
              <a:rPr sz="1050" b="0" i="1">
                <a:solidFill>
                  <a:srgbClr val="16213A"/>
                </a:solidFill>
                <a:latin typeface="Arial"/>
                <a:ea typeface="Malgun Gothic"/>
                <a:cs typeface="Malgun Gothic"/>
              </a:rPr>
              <a:t>zₜ</a:t>
            </a:r>
            <a:r>
              <a:rPr sz="1050" b="0" i="0">
                <a:solidFill>
                  <a:srgbClr val="16213A"/>
                </a:solidFill>
                <a:latin typeface="Arial"/>
                <a:ea typeface="Malgun Gothic"/>
                <a:cs typeface="Malgun Gothic"/>
              </a:rPr>
              <a:t>에 지형 성질이 암묵적으로 담긴다. 원문은 이를 "순방향·역방향 동역학을 함께 배운다"고 표현한다. 지형을 직접 라벨로 가르치지 않으므로 "암묵 지형 추정(implicit terrain imagination)"이라 부른다. critic은 참 높이맵 </a:t>
            </a:r>
            <a:r>
              <a:rPr sz="1050" b="0" i="1">
                <a:solidFill>
                  <a:srgbClr val="16213A"/>
                </a:solidFill>
                <a:latin typeface="Arial"/>
                <a:ea typeface="Malgun Gothic"/>
                <a:cs typeface="Malgun Gothic"/>
              </a:rPr>
              <a:t>hₜ</a:t>
            </a:r>
            <a:r>
              <a:rPr sz="1050" b="0" i="0">
                <a:solidFill>
                  <a:srgbClr val="16213A"/>
                </a:solidFill>
                <a:latin typeface="Arial"/>
                <a:ea typeface="Malgun Gothic"/>
                <a:cs typeface="Malgun Gothic"/>
              </a:rPr>
              <a:t>를 보므로, 어떤 잠재가 가치를 높이는지는 강화학습 신호로도 전해진다(배경: 비대칭 actor-critic 토글 참고).</a:t>
            </a:r>
          </a:p>
        </p:txBody>
      </p:sp>
      <p:sp>
        <p:nvSpPr>
          <p:cNvPr id="12" name="TextBox 11"/>
          <p:cNvSpPr txBox="1"/>
          <p:nvPr/>
        </p:nvSpPr>
        <p:spPr>
          <a:xfrm>
            <a:off x="609600" y="520372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AdaBoot.</a:t>
            </a:r>
            <a:r>
              <a:rPr sz="1050" b="0" i="0">
                <a:solidFill>
                  <a:srgbClr val="16213A"/>
                </a:solidFill>
                <a:latin typeface="Arial"/>
                <a:ea typeface="Malgun Gothic"/>
                <a:cs typeface="Malgun Gothic"/>
              </a:rPr>
              <a:t> 정책 학습 때 참 속도 대신 추정 속도를 넣는 부트스트랩의 확률을 </a:t>
            </a:r>
            <a:r>
              <a:rPr sz="1050" b="0" i="1">
                <a:solidFill>
                  <a:srgbClr val="16213A"/>
                </a:solidFill>
                <a:latin typeface="Arial"/>
                <a:ea typeface="Malgun Gothic"/>
                <a:cs typeface="Malgun Gothic"/>
              </a:rPr>
              <a:t>p_(boot) = 1 - tanh(CV(R))</a:t>
            </a:r>
            <a:r>
              <a:rPr sz="1050" b="0" i="0">
                <a:solidFill>
                  <a:srgbClr val="16213A"/>
                </a:solidFill>
                <a:latin typeface="Arial"/>
                <a:ea typeface="Malgun Gothic"/>
                <a:cs typeface="Malgun Gothic"/>
              </a:rPr>
              <a:t>로 정한다. </a:t>
            </a:r>
            <a:r>
              <a:rPr sz="1050" b="0" i="1">
                <a:solidFill>
                  <a:srgbClr val="16213A"/>
                </a:solidFill>
                <a:latin typeface="Arial"/>
                <a:ea typeface="Malgun Gothic"/>
                <a:cs typeface="Malgun Gothic"/>
              </a:rPr>
              <a:t>CV</a:t>
            </a:r>
            <a:r>
              <a:rPr sz="1050" b="0" i="0">
                <a:solidFill>
                  <a:srgbClr val="16213A"/>
                </a:solidFill>
                <a:latin typeface="Arial"/>
                <a:ea typeface="Malgun Gothic"/>
                <a:cs typeface="Malgun Gothic"/>
              </a:rPr>
              <a:t>는 에이전트들 에피소드 보상의 변동계수(표준편차/평균)다. 학습 초기처럼 보상이 들쭉날쭉하면 부트스트랩을 줄인다.</a:t>
            </a:r>
          </a:p>
        </p:txBody>
      </p:sp>
      <p:sp>
        <p:nvSpPr>
          <p:cNvPr id="13" name="TextBox 12"/>
          <p:cNvSpPr txBox="1"/>
          <p:nvPr/>
        </p:nvSpPr>
        <p:spPr>
          <a:xfrm>
            <a:off x="609600" y="5725616"/>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4개(문단·식·그림)는 대시보드 리서치 탭의 "배경: CENet — 과거 proprioception으로 몸체 속도와 지형 잠재를 함께 추정하는 망" 토글에 있다.</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β-VAE — KL 항에 가중치 β를 곱해 잠재의 정보량을 조절하는 VAE</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300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VAE의 구조(인코더 </a:t>
            </a:r>
            <a:r>
              <a:rPr sz="1050" b="0" i="1">
                <a:solidFill>
                  <a:srgbClr val="16213A"/>
                </a:solidFill>
                <a:latin typeface="Arial"/>
                <a:ea typeface="Malgun Gothic"/>
                <a:cs typeface="Malgun Gothic"/>
              </a:rPr>
              <a:t>q(z | x)</a:t>
            </a:r>
            <a:r>
              <a:rPr sz="1050" b="0" i="0">
                <a:solidFill>
                  <a:srgbClr val="16213A"/>
                </a:solidFill>
                <a:latin typeface="Arial"/>
                <a:ea typeface="Malgun Gothic"/>
                <a:cs typeface="Malgun Gothic"/>
              </a:rPr>
              <a:t>, 디코더, 재매개변수화, 가우시안 KL)는 "배경: VAE와 CVAE" 토글을 참고한다. 여기서는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만 다룬다.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β-VAE(Higgins 외, ICLR 2017)는 VAE 손실의 KL 항에 가중치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를 곱한다. </a:t>
            </a:r>
            <a:r>
              <a:rPr sz="1050" b="0" i="1">
                <a:solidFill>
                  <a:srgbClr val="16213A"/>
                </a:solidFill>
                <a:latin typeface="Arial"/>
                <a:ea typeface="Malgun Gothic"/>
                <a:cs typeface="Malgun Gothic"/>
              </a:rPr>
              <a:t>β = 1</a:t>
            </a:r>
            <a:r>
              <a:rPr sz="1050" b="0" i="0">
                <a:solidFill>
                  <a:srgbClr val="16213A"/>
                </a:solidFill>
                <a:latin typeface="Arial"/>
                <a:ea typeface="Malgun Gothic"/>
                <a:cs typeface="Malgun Gothic"/>
              </a:rPr>
              <a:t>이면 보통의 VAE다.</a:t>
            </a:r>
          </a:p>
        </p:txBody>
      </p:sp>
      <p:pic>
        <p:nvPicPr>
          <p:cNvPr id="7" name="Picture 6" descr="image.png"/>
          <p:cNvPicPr>
            <a:picLocks noChangeAspect="1"/>
          </p:cNvPicPr>
          <p:nvPr/>
        </p:nvPicPr>
        <p:blipFill>
          <a:blip r:embed="rId3"/>
          <a:stretch>
            <a:fillRect/>
          </a:stretch>
        </p:blipFill>
        <p:spPr>
          <a:xfrm>
            <a:off x="609600" y="1855391"/>
            <a:ext cx="3975100" cy="241300"/>
          </a:xfrm>
          <a:prstGeom prst="rect">
            <a:avLst/>
          </a:prstGeom>
        </p:spPr>
      </p:pic>
      <p:sp>
        <p:nvSpPr>
          <p:cNvPr id="8" name="TextBox 7"/>
          <p:cNvSpPr txBox="1"/>
          <p:nvPr/>
        </p:nvSpPr>
        <p:spPr>
          <a:xfrm>
            <a:off x="609600" y="2132905"/>
            <a:ext cx="10972800" cy="432991"/>
          </a:xfrm>
          <a:prstGeom prst="rect">
            <a:avLst/>
          </a:prstGeom>
          <a:noFill/>
        </p:spPr>
        <p:txBody>
          <a:bodyPr wrap="square" lIns="0" rIns="0" tIns="0" bIns="0" anchor="t">
            <a:spAutoFit/>
            <a:normAutofit/>
          </a:bodyPr>
          <a:lstStyle/>
          <a:p>
            <a:r>
              <a:rPr sz="1050" b="1" i="1">
                <a:solidFill>
                  <a:srgbClr val="16213A"/>
                </a:solidFill>
                <a:latin typeface="Arial"/>
                <a:ea typeface="Malgun Gothic"/>
                <a:cs typeface="Malgun Gothic"/>
              </a:rPr>
              <a:t>β</a:t>
            </a:r>
            <a:r>
              <a:rPr sz="1050" b="1" i="0">
                <a:solidFill>
                  <a:srgbClr val="16213A"/>
                </a:solidFill>
                <a:latin typeface="Arial"/>
                <a:ea typeface="Malgun Gothic"/>
                <a:cs typeface="Malgun Gothic"/>
              </a:rPr>
              <a:t>의 의미 1: 정보 병목.</a:t>
            </a:r>
            <a:r>
              <a:rPr sz="1050" b="0" i="0">
                <a:solidFill>
                  <a:srgbClr val="16213A"/>
                </a:solidFill>
                <a:latin typeface="Arial"/>
                <a:ea typeface="Malgun Gothic"/>
                <a:cs typeface="Malgun Gothic"/>
              </a:rPr>
              <a:t> KL 항은 잠재가 입력에 대해 얼마나 많은 정보를 싣는지의 상한처럼 작동한다. 모든 입력의 잠재가 </a:t>
            </a:r>
            <a:r>
              <a:rPr sz="1050" b="0" i="1">
                <a:solidFill>
                  <a:srgbClr val="16213A"/>
                </a:solidFill>
                <a:latin typeface="Arial"/>
                <a:ea typeface="Malgun Gothic"/>
                <a:cs typeface="Malgun Gothic"/>
              </a:rPr>
              <a:t>𝒩(0, I)</a:t>
            </a:r>
            <a:r>
              <a:rPr sz="1050" b="0" i="0">
                <a:solidFill>
                  <a:srgbClr val="16213A"/>
                </a:solidFill>
                <a:latin typeface="Arial"/>
                <a:ea typeface="Malgun Gothic"/>
                <a:cs typeface="Malgun Gothic"/>
              </a:rPr>
              <a:t>와 같으면 KL은 0이고, 그 잠재는 입력에 대해 아무것도 말하지 않는다.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를 키우면 잠재가 싣는 정보에 값을 더 비싸게 매기는 셈이다. 그러면 인코더는 </a:t>
            </a:r>
            <a:r>
              <a:rPr sz="1050" b="1" i="0">
                <a:solidFill>
                  <a:srgbClr val="16213A"/>
                </a:solidFill>
                <a:latin typeface="Arial"/>
                <a:ea typeface="Malgun Gothic"/>
                <a:cs typeface="Malgun Gothic"/>
              </a:rPr>
              <a:t>복원에 가장 쓸모 있는 요인만</a:t>
            </a:r>
            <a:r>
              <a:rPr sz="1050" b="0" i="0">
                <a:solidFill>
                  <a:srgbClr val="16213A"/>
                </a:solidFill>
                <a:latin typeface="Arial"/>
                <a:ea typeface="Malgun Gothic"/>
                <a:cs typeface="Malgun Gothic"/>
              </a:rPr>
              <a:t> 남긴다.</a:t>
            </a:r>
          </a:p>
        </p:txBody>
      </p:sp>
      <p:sp>
        <p:nvSpPr>
          <p:cNvPr id="9" name="TextBox 8"/>
          <p:cNvSpPr txBox="1"/>
          <p:nvPr/>
        </p:nvSpPr>
        <p:spPr>
          <a:xfrm>
            <a:off x="609600" y="2654796"/>
            <a:ext cx="10972800" cy="432991"/>
          </a:xfrm>
          <a:prstGeom prst="rect">
            <a:avLst/>
          </a:prstGeom>
          <a:noFill/>
        </p:spPr>
        <p:txBody>
          <a:bodyPr wrap="square" lIns="0" rIns="0" tIns="0" bIns="0" anchor="t">
            <a:spAutoFit/>
            <a:normAutofit/>
          </a:bodyPr>
          <a:lstStyle/>
          <a:p>
            <a:r>
              <a:rPr sz="1050" b="1" i="1">
                <a:solidFill>
                  <a:srgbClr val="16213A"/>
                </a:solidFill>
                <a:latin typeface="Arial"/>
                <a:ea typeface="Malgun Gothic"/>
                <a:cs typeface="Malgun Gothic"/>
              </a:rPr>
              <a:t>β</a:t>
            </a:r>
            <a:r>
              <a:rPr sz="1050" b="1" i="0">
                <a:solidFill>
                  <a:srgbClr val="16213A"/>
                </a:solidFill>
                <a:latin typeface="Arial"/>
                <a:ea typeface="Malgun Gothic"/>
                <a:cs typeface="Malgun Gothic"/>
              </a:rPr>
              <a:t>의 의미 2: 분리된 표현(disentanglement).</a:t>
            </a:r>
            <a:r>
              <a:rPr sz="1050" b="0" i="0">
                <a:solidFill>
                  <a:srgbClr val="16213A"/>
                </a:solidFill>
                <a:latin typeface="Arial"/>
                <a:ea typeface="Malgun Gothic"/>
                <a:cs typeface="Malgun Gothic"/>
              </a:rPr>
              <a:t> 사전분포 </a:t>
            </a:r>
            <a:r>
              <a:rPr sz="1050" b="0" i="1">
                <a:solidFill>
                  <a:srgbClr val="16213A"/>
                </a:solidFill>
                <a:latin typeface="Arial"/>
                <a:ea typeface="Malgun Gothic"/>
                <a:cs typeface="Malgun Gothic"/>
              </a:rPr>
              <a:t>𝒩(0, I)</a:t>
            </a:r>
            <a:r>
              <a:rPr sz="1050" b="0" i="0">
                <a:solidFill>
                  <a:srgbClr val="16213A"/>
                </a:solidFill>
                <a:latin typeface="Arial"/>
                <a:ea typeface="Malgun Gothic"/>
                <a:cs typeface="Malgun Gothic"/>
              </a:rPr>
              <a:t>는 축끼리 독립이다. KL을 세게 걸면 잠재 축들이 서로 독립인 방향으로 밀린다. 그래서 축 하나가 한 요인(예: 계단 높이, 마찰)에 대응하기 쉬워진다. 늘 그렇게 되는 보장은 없다.</a:t>
            </a:r>
          </a:p>
        </p:txBody>
      </p:sp>
      <p:sp>
        <p:nvSpPr>
          <p:cNvPr id="10" name="TextBox 9"/>
          <p:cNvSpPr txBox="1"/>
          <p:nvPr/>
        </p:nvSpPr>
        <p:spPr>
          <a:xfrm>
            <a:off x="609600" y="317668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맞바꿈.</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가 크면 표현은 깔끔하지만 복원이 흐려진다. 너무 크면 </a:t>
            </a:r>
            <a:r>
              <a:rPr sz="1050" b="1" i="0">
                <a:solidFill>
                  <a:srgbClr val="16213A"/>
                </a:solidFill>
                <a:latin typeface="Arial"/>
                <a:ea typeface="Malgun Gothic"/>
                <a:cs typeface="Malgun Gothic"/>
              </a:rPr>
              <a:t>posterior collapse</a:t>
            </a:r>
            <a:r>
              <a:rPr sz="1050" b="0" i="0">
                <a:solidFill>
                  <a:srgbClr val="16213A"/>
                </a:solidFill>
                <a:latin typeface="Arial"/>
                <a:ea typeface="Malgun Gothic"/>
                <a:cs typeface="Malgun Gothic"/>
              </a:rPr>
              <a:t>가 온다. 디코더가 잠재를 무시하고 인코더는 사전분포만 내보낸다. 작은 장애물 같은 세부가 잠재에서 사라진다.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가 작으면 복원은 정확하지만 잠재가 잡음까지 외운다.</a:t>
            </a:r>
          </a:p>
        </p:txBody>
      </p:sp>
      <p:sp>
        <p:nvSpPr>
          <p:cNvPr id="11" name="TextBox 10"/>
          <p:cNvSpPr txBox="1"/>
          <p:nvPr/>
        </p:nvSpPr>
        <p:spPr>
          <a:xfrm>
            <a:off x="609600" y="36985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DreamWaQ++는 복원 오차 </a:t>
            </a:r>
            <a:r>
              <a:rPr sz="1050" b="0" i="1">
                <a:solidFill>
                  <a:srgbClr val="16213A"/>
                </a:solidFill>
                <a:latin typeface="Arial"/>
                <a:ea typeface="Malgun Gothic"/>
                <a:cs typeface="Malgun Gothic"/>
              </a:rPr>
              <a:t>ℒ_(recon)</a:t>
            </a:r>
            <a:r>
              <a:rPr sz="1050" b="0" i="0">
                <a:solidFill>
                  <a:srgbClr val="16213A"/>
                </a:solidFill>
                <a:latin typeface="Arial"/>
                <a:ea typeface="Malgun Gothic"/>
                <a:cs typeface="Malgun Gothic"/>
              </a:rPr>
              <a:t>에 따라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를 자동으로 조절한다. 배율은 </a:t>
            </a:r>
            <a:r>
              <a:rPr sz="1050" b="0" i="1">
                <a:solidFill>
                  <a:srgbClr val="16213A"/>
                </a:solidFill>
                <a:latin typeface="Arial"/>
                <a:ea typeface="Malgun Gothic"/>
                <a:cs typeface="Malgun Gothic"/>
              </a:rPr>
              <a:t>k = exp(δ(τ - ℒ_(recon)))</a:t>
            </a:r>
            <a:r>
              <a:rPr sz="1050" b="0" i="0">
                <a:solidFill>
                  <a:srgbClr val="16213A"/>
                </a:solidFill>
                <a:latin typeface="Arial"/>
                <a:ea typeface="Malgun Gothic"/>
                <a:cs typeface="Malgun Gothic"/>
              </a:rPr>
              <a:t>다. 설명을 위해 </a:t>
            </a:r>
            <a:r>
              <a:rPr sz="1050" b="0" i="1">
                <a:solidFill>
                  <a:srgbClr val="16213A"/>
                </a:solidFill>
                <a:latin typeface="Arial"/>
                <a:ea typeface="Malgun Gothic"/>
                <a:cs typeface="Malgun Gothic"/>
              </a:rPr>
              <a:t>δ = 1</a:t>
            </a:r>
            <a:r>
              <a:rPr sz="1050" b="0" i="0">
                <a:solidFill>
                  <a:srgbClr val="16213A"/>
                </a:solidFill>
                <a:latin typeface="Arial"/>
                <a:ea typeface="Malgun Gothic"/>
                <a:cs typeface="Malgun Gothic"/>
              </a:rPr>
              <a:t>, 허용 오차 </a:t>
            </a:r>
            <a:r>
              <a:rPr sz="1050" b="0" i="1">
                <a:solidFill>
                  <a:srgbClr val="16213A"/>
                </a:solidFill>
                <a:latin typeface="Arial"/>
                <a:ea typeface="Malgun Gothic"/>
                <a:cs typeface="Malgun Gothic"/>
              </a:rPr>
              <a:t>τ = 0.1</a:t>
            </a:r>
            <a:r>
              <a:rPr sz="1050" b="0" i="0">
                <a:solidFill>
                  <a:srgbClr val="16213A"/>
                </a:solidFill>
                <a:latin typeface="Arial"/>
                <a:ea typeface="Malgun Gothic"/>
                <a:cs typeface="Malgun Gothic"/>
              </a:rPr>
              <a:t>로 두자(원문 값은 확인하지 못했다). 복원 오차가 0.2면 </a:t>
            </a:r>
            <a:r>
              <a:rPr sz="1050" b="0" i="1">
                <a:solidFill>
                  <a:srgbClr val="16213A"/>
                </a:solidFill>
                <a:latin typeface="Arial"/>
                <a:ea typeface="Malgun Gothic"/>
                <a:cs typeface="Malgun Gothic"/>
              </a:rPr>
              <a:t>k = e^(-0.1) ≈ 0.90</a:t>
            </a:r>
            <a:r>
              <a:rPr sz="1050" b="0" i="0">
                <a:solidFill>
                  <a:srgbClr val="16213A"/>
                </a:solidFill>
                <a:latin typeface="Arial"/>
                <a:ea typeface="Malgun Gothic"/>
                <a:cs typeface="Malgun Gothic"/>
              </a:rPr>
              <a:t>이다.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가 10% 줄어 복원 쪽에 힘이 실린다. 오차가 0.05면 </a:t>
            </a:r>
            <a:r>
              <a:rPr sz="1050" b="0" i="1">
                <a:solidFill>
                  <a:srgbClr val="16213A"/>
                </a:solidFill>
                <a:latin typeface="Arial"/>
                <a:ea typeface="Malgun Gothic"/>
                <a:cs typeface="Malgun Gothic"/>
              </a:rPr>
              <a:t>k = e^(0.05) ≈ 1.05</a:t>
            </a:r>
            <a:r>
              <a:rPr sz="1050" b="0" i="0">
                <a:solidFill>
                  <a:srgbClr val="16213A"/>
                </a:solidFill>
                <a:latin typeface="Arial"/>
                <a:ea typeface="Malgun Gothic"/>
                <a:cs typeface="Malgun Gothic"/>
              </a:rPr>
              <a:t>로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가 5% 늘어 표현 정리에 힘이 실린다.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[βₘᵢₙ, βₘₐₓ]</a:t>
            </a:r>
            <a:r>
              <a:rPr sz="1050" b="0" i="0">
                <a:solidFill>
                  <a:srgbClr val="16213A"/>
                </a:solidFill>
                <a:latin typeface="Arial"/>
                <a:ea typeface="Malgun Gothic"/>
                <a:cs typeface="Malgun Gothic"/>
              </a:rPr>
              <a:t>로 자른다.</a:t>
            </a:r>
          </a:p>
        </p:txBody>
      </p:sp>
      <p:sp>
        <p:nvSpPr>
          <p:cNvPr id="12" name="TextBox 11"/>
          <p:cNvSpPr txBox="1"/>
          <p:nvPr/>
        </p:nvSpPr>
        <p:spPr>
          <a:xfrm>
            <a:off x="609600" y="422046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 쓰는 곳.</a:t>
            </a:r>
            <a:r>
              <a:rPr sz="1050" b="0" i="0">
                <a:solidFill>
                  <a:srgbClr val="16213A"/>
                </a:solidFill>
                <a:latin typeface="Arial"/>
                <a:ea typeface="Malgun Gothic"/>
                <a:cs typeface="Malgun Gothic"/>
              </a:rPr>
              <a:t> DreamWaQ의 CENet, DreamRiser, DreamFLEX의 FEMNet, OpenHEART의 이력 인코더가 β-VAE로 잠재를 학습한다. DreamWaQ++는 </a:t>
            </a:r>
            <a:r>
              <a:rPr sz="1050" b="0" i="1">
                <a:solidFill>
                  <a:srgbClr val="16213A"/>
                </a:solidFill>
                <a:latin typeface="Arial"/>
                <a:ea typeface="Malgun Gothic"/>
                <a:cs typeface="Malgun Gothic"/>
              </a:rPr>
              <a:t>β = 5</a:t>
            </a:r>
            <a:r>
              <a:rPr sz="1050" b="0" i="0">
                <a:solidFill>
                  <a:srgbClr val="16213A"/>
                </a:solidFill>
                <a:latin typeface="Arial"/>
                <a:ea typeface="Malgun Gothic"/>
                <a:cs typeface="Malgun Gothic"/>
              </a:rPr>
              <a:t>를 쓰고, 외부 인식 쪽은 위의 적응 규칙을 쓴다. 잠재 표준편차를 </a:t>
            </a:r>
            <a:r>
              <a:rPr sz="1050" b="0" i="1">
                <a:solidFill>
                  <a:srgbClr val="16213A"/>
                </a:solidFill>
                <a:latin typeface="Arial"/>
                <a:ea typeface="Malgun Gothic"/>
                <a:cs typeface="Malgun Gothic"/>
              </a:rPr>
              <a:t>[0, 5]</a:t>
            </a:r>
            <a:r>
              <a:rPr sz="1050" b="0" i="0">
                <a:solidFill>
                  <a:srgbClr val="16213A"/>
                </a:solidFill>
                <a:latin typeface="Arial"/>
                <a:ea typeface="Malgun Gothic"/>
                <a:cs typeface="Malgun Gothic"/>
              </a:rPr>
              <a:t>로 자르는 것도 KL 항과의 균형 때문이다. DreamRiser와 DreamWaQ++는 잠재를 t-SNE·PaCMAP으로 그려, 지형별로 뭉치는 것을 분리된 표현의 증거로 든다.</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비대칭 actor-critic — critic만 시뮬레이터의 특권 정보를 본다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301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PPO와 actor-critic의 기본(advantage, 클리핑)은 "배경: 강화학습 기본과 PPO" 토글을 참고한다. 여기서는 actor와 critic의 입력이 다른 이유만 다룬다.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actor(정책)는 실제 로봇이 얻을 수 있는 관측 </a:t>
            </a:r>
            <a:r>
              <a:rPr sz="1050" b="0" i="1">
                <a:solidFill>
                  <a:srgbClr val="16213A"/>
                </a:solidFill>
                <a:latin typeface="Arial"/>
                <a:ea typeface="Malgun Gothic"/>
                <a:cs typeface="Malgun Gothic"/>
              </a:rPr>
              <a:t>oₜ</a:t>
            </a:r>
            <a:r>
              <a:rPr sz="1050" b="0" i="0">
                <a:solidFill>
                  <a:srgbClr val="16213A"/>
                </a:solidFill>
                <a:latin typeface="Arial"/>
                <a:ea typeface="Malgun Gothic"/>
                <a:cs typeface="Malgun Gothic"/>
              </a:rPr>
              <a:t>만 받는다. critic(가치 함수)은 시뮬레이터에서만 얻을 수 있는 특권 상태 </a:t>
            </a:r>
            <a:r>
              <a:rPr sz="1050" b="0" i="1">
                <a:solidFill>
                  <a:srgbClr val="16213A"/>
                </a:solidFill>
                <a:latin typeface="Arial"/>
                <a:ea typeface="Malgun Gothic"/>
                <a:cs typeface="Malgun Gothic"/>
              </a:rPr>
              <a:t>sₜ</a:t>
            </a:r>
            <a:r>
              <a:rPr sz="1050" b="0" i="0">
                <a:solidFill>
                  <a:srgbClr val="16213A"/>
                </a:solidFill>
                <a:latin typeface="Arial"/>
                <a:ea typeface="Malgun Gothic"/>
                <a:cs typeface="Malgun Gothic"/>
              </a:rPr>
              <a:t>(참 높이맵, 마찰, 외력, 참 속도 등)를 받는다. Pinto 외(2018)가 영상 기반 조작에서 제안했다.</a:t>
            </a:r>
          </a:p>
        </p:txBody>
      </p:sp>
      <p:sp>
        <p:nvSpPr>
          <p:cNvPr id="7" name="TextBox 6"/>
          <p:cNvSpPr txBox="1"/>
          <p:nvPr/>
        </p:nvSpPr>
        <p:spPr>
          <a:xfrm>
            <a:off x="609600" y="20718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되는가.</a:t>
            </a:r>
            <a:r>
              <a:rPr sz="1050" b="0" i="0">
                <a:solidFill>
                  <a:srgbClr val="16213A"/>
                </a:solidFill>
                <a:latin typeface="Arial"/>
                <a:ea typeface="Malgun Gothic"/>
                <a:cs typeface="Malgun Gothic"/>
              </a:rPr>
              <a:t> critic은 </a:t>
            </a:r>
            <a:r>
              <a:rPr sz="1050" b="1" i="0">
                <a:solidFill>
                  <a:srgbClr val="16213A"/>
                </a:solidFill>
                <a:latin typeface="Arial"/>
                <a:ea typeface="Malgun Gothic"/>
                <a:cs typeface="Malgun Gothic"/>
              </a:rPr>
              <a:t>학습 때만</a:t>
            </a:r>
            <a:r>
              <a:rPr sz="1050" b="0" i="0">
                <a:solidFill>
                  <a:srgbClr val="16213A"/>
                </a:solidFill>
                <a:latin typeface="Arial"/>
                <a:ea typeface="Malgun Gothic"/>
                <a:cs typeface="Malgun Gothic"/>
              </a:rPr>
              <a:t> 쓴다. 배포 때는 actor만 로봇에 올라가므로 critic 입력은 로봇에 없어도 된다. critic의 역할은 정책 경사의 분산을 줄이는 기준선이다.</a:t>
            </a:r>
          </a:p>
        </p:txBody>
      </p:sp>
      <p:pic>
        <p:nvPicPr>
          <p:cNvPr id="8" name="Picture 7" descr="image.png"/>
          <p:cNvPicPr>
            <a:picLocks noChangeAspect="1"/>
          </p:cNvPicPr>
          <p:nvPr/>
        </p:nvPicPr>
        <p:blipFill>
          <a:blip r:embed="rId3"/>
          <a:stretch>
            <a:fillRect/>
          </a:stretch>
        </p:blipFill>
        <p:spPr>
          <a:xfrm>
            <a:off x="609600" y="2377281"/>
            <a:ext cx="4660900" cy="250825"/>
          </a:xfrm>
          <a:prstGeom prst="rect">
            <a:avLst/>
          </a:prstGeom>
        </p:spPr>
      </p:pic>
      <p:sp>
        <p:nvSpPr>
          <p:cNvPr id="9" name="TextBox 8"/>
          <p:cNvSpPr txBox="1"/>
          <p:nvPr/>
        </p:nvSpPr>
        <p:spPr>
          <a:xfrm>
            <a:off x="609600" y="266035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critic이 참 상태를 보면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가 더 정확해진다. 그러면 advantage </a:t>
            </a:r>
            <a:r>
              <a:rPr sz="1050" b="0" i="1">
                <a:solidFill>
                  <a:srgbClr val="16213A"/>
                </a:solidFill>
                <a:latin typeface="Arial"/>
                <a:ea typeface="Malgun Gothic"/>
                <a:cs typeface="Malgun Gothic"/>
              </a:rPr>
              <a:t>Âₜ</a:t>
            </a:r>
            <a:r>
              <a:rPr sz="1050" b="0" i="0">
                <a:solidFill>
                  <a:srgbClr val="16213A"/>
                </a:solidFill>
                <a:latin typeface="Arial"/>
                <a:ea typeface="Malgun Gothic"/>
                <a:cs typeface="Malgun Gothic"/>
              </a:rPr>
              <a:t>의 잡음이 줄어, actor는 "이 행동이 좋았는지"를 더 또렷하게 배운다. 예를 들어 발밑이 미끄러웠는데 actor가 조심스럽게 걸었다면, 마찰을 아는 critic은 그 행동의 가치를 정확히 매겨 준다. actor는 그 신호를 따라 "관절 반응이 이렇게 보이면 미끄러운 곳이니 조심한다"를 스스로 배운다.</a:t>
            </a:r>
          </a:p>
        </p:txBody>
      </p:sp>
      <p:sp>
        <p:nvSpPr>
          <p:cNvPr id="10" name="TextBox 9"/>
          <p:cNvSpPr txBox="1"/>
          <p:nvPr/>
        </p:nvSpPr>
        <p:spPr>
          <a:xfrm>
            <a:off x="609600" y="318224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teacher–student와의 차이.</a:t>
            </a:r>
            <a:r>
              <a:rPr sz="1050" b="0" i="0">
                <a:solidFill>
                  <a:srgbClr val="16213A"/>
                </a:solidFill>
                <a:latin typeface="Arial"/>
                <a:ea typeface="Malgun Gothic"/>
                <a:cs typeface="Malgun Gothic"/>
              </a:rPr>
              <a:t> teacher–student(배경 0.12)는 특권 정보를 보는 교사를 먼저 학습하고 학생이 모방한다. 두 단계라 비싸고, 학생은 교사보다 나아지기 어렵다. 교사가 좋은 행동만 보여 주므로 학생은 실패 상태를 겪어 보지 못한다. 비대칭 actor-critic은 한 단계로 끝나고, actor가 강화학습으로 직접 탐색한다. 대신 actor가 관측만으로 추정할 수 없는 정보를 critic이 쓰면 가치 추정이 편향될 수 있다는 지적이 있다 (Baisero·Amato 2022).</a:t>
            </a:r>
          </a:p>
        </p:txBody>
      </p:sp>
      <p:sp>
        <p:nvSpPr>
          <p:cNvPr id="11" name="TextBox 10"/>
          <p:cNvSpPr txBox="1"/>
          <p:nvPr/>
        </p:nvSpPr>
        <p:spPr>
          <a:xfrm>
            <a:off x="609600" y="392062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 쓰는 곳.</a:t>
            </a:r>
            <a:r>
              <a:rPr sz="1050" b="0" i="0">
                <a:solidFill>
                  <a:srgbClr val="16213A"/>
                </a:solidFill>
                <a:latin typeface="Arial"/>
                <a:ea typeface="Malgun Gothic"/>
                <a:cs typeface="Malgun Gothic"/>
              </a:rPr>
              <a:t> DreamWaQ의 critic은 </a:t>
            </a:r>
            <a:r>
              <a:rPr sz="1050" b="0" i="1">
                <a:solidFill>
                  <a:srgbClr val="16213A"/>
                </a:solidFill>
                <a:latin typeface="Arial"/>
                <a:ea typeface="Malgun Gothic"/>
                <a:cs typeface="Malgun Gothic"/>
              </a:rPr>
              <a:t>sₜ = [oₜ, vₜ, dₜ, hₜ]</a:t>
            </a:r>
            <a:r>
              <a:rPr sz="1050" b="0" i="0">
                <a:solidFill>
                  <a:srgbClr val="16213A"/>
                </a:solidFill>
                <a:latin typeface="Arial"/>
                <a:ea typeface="Malgun Gothic"/>
                <a:cs typeface="Malgun Gothic"/>
              </a:rPr>
              <a:t>(관측, 참 속도, 외력, 높이맵)를 받는다. DreamRiser와 DreamFLEX도 같고, DreamFLEX는 참 고장 벡터 </a:t>
            </a:r>
            <a:r>
              <a:rPr sz="1050" b="0" i="1">
                <a:solidFill>
                  <a:srgbClr val="16213A"/>
                </a:solidFill>
                <a:latin typeface="Arial"/>
                <a:ea typeface="Malgun Gothic"/>
                <a:cs typeface="Malgun Gothic"/>
              </a:rPr>
              <a:t>fₜ</a:t>
            </a:r>
            <a:r>
              <a:rPr sz="1050" b="0" i="0">
                <a:solidFill>
                  <a:srgbClr val="16213A"/>
                </a:solidFill>
                <a:latin typeface="Arial"/>
                <a:ea typeface="Malgun Gothic"/>
                <a:cs typeface="Malgun Gothic"/>
              </a:rPr>
              <a:t>를 더한다. DreamWaQ++는 한 걸음 더 나간다. 대조 손실로 actor의 잠재를 critic 쪽 높이맵 인코딩에 직접 맞춘다.</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MLP-Mixer — 토큰 방향과 채널 방향으로 번갈아 MLP를 적용하는 구조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302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MLP-Mixer(Tolstikhin 외, NeurIPS 2021)는 합성곱도 attention도 없이 MLP만으로 만든 구조다. 입력을 표 </a:t>
            </a:r>
            <a:r>
              <a:rPr sz="1050" b="0" i="1">
                <a:solidFill>
                  <a:srgbClr val="16213A"/>
                </a:solidFill>
                <a:latin typeface="Arial"/>
                <a:ea typeface="Malgun Gothic"/>
                <a:cs typeface="Malgun Gothic"/>
              </a:rPr>
              <a:t>X ∈ ℝ^(S × C)</a:t>
            </a:r>
            <a:r>
              <a:rPr sz="1050" b="0" i="0">
                <a:solidFill>
                  <a:srgbClr val="16213A"/>
                </a:solidFill>
                <a:latin typeface="Arial"/>
                <a:ea typeface="Malgun Gothic"/>
                <a:cs typeface="Malgun Gothic"/>
              </a:rPr>
              <a:t>로 본다.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는 토큰 수,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는 토큰마다의 채널 수다. 원 논문에서 토큰은 영상 조각(patch), 채널은 조각의 특징이다.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동작하나.</a:t>
            </a:r>
            <a:r>
              <a:rPr sz="1050" b="0" i="0">
                <a:solidFill>
                  <a:srgbClr val="16213A"/>
                </a:solidFill>
                <a:latin typeface="Arial"/>
                <a:ea typeface="Malgun Gothic"/>
                <a:cs typeface="Malgun Gothic"/>
              </a:rPr>
              <a:t> 한 층은 두 MLP를 차례로 적용한다. 둘 다 layer normalization(LN)과 잔차 연결을 갖는다.</a:t>
            </a:r>
          </a:p>
        </p:txBody>
      </p:sp>
      <p:pic>
        <p:nvPicPr>
          <p:cNvPr id="7" name="Picture 6" descr="image.png"/>
          <p:cNvPicPr>
            <a:picLocks noChangeAspect="1"/>
          </p:cNvPicPr>
          <p:nvPr/>
        </p:nvPicPr>
        <p:blipFill>
          <a:blip r:embed="rId3"/>
          <a:stretch>
            <a:fillRect/>
          </a:stretch>
        </p:blipFill>
        <p:spPr>
          <a:xfrm>
            <a:off x="609600" y="2071886"/>
            <a:ext cx="5086350" cy="238125"/>
          </a:xfrm>
          <a:prstGeom prst="rect">
            <a:avLst/>
          </a:prstGeom>
        </p:spPr>
      </p:pic>
      <p:sp>
        <p:nvSpPr>
          <p:cNvPr id="8" name="TextBox 7"/>
          <p:cNvSpPr txBox="1"/>
          <p:nvPr/>
        </p:nvSpPr>
        <p:spPr>
          <a:xfrm>
            <a:off x="609600" y="2349401"/>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토큰 혼합.</a:t>
            </a:r>
            <a:r>
              <a:rPr sz="1050" b="0" i="0">
                <a:solidFill>
                  <a:srgbClr val="16213A"/>
                </a:solidFill>
                <a:latin typeface="Arial"/>
                <a:ea typeface="Malgun Gothic"/>
                <a:cs typeface="Malgun Gothic"/>
              </a:rPr>
              <a:t> 채널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마다 열 벡터(</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개 토큰의 값)에 같은 MLP를 적용한다. 토큰끼리 정보가 섞인다.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채널 혼합.</a:t>
            </a:r>
            <a:r>
              <a:rPr sz="1050" b="0" i="0">
                <a:solidFill>
                  <a:srgbClr val="16213A"/>
                </a:solidFill>
                <a:latin typeface="Arial"/>
                <a:ea typeface="Malgun Gothic"/>
                <a:cs typeface="Malgun Gothic"/>
              </a:rPr>
              <a:t> 토큰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마다 행 벡터(</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개 채널)에 같은 MLP를 적용한다. 한 토큰 안의 채널끼리 섞인다.</a:t>
            </a:r>
          </a:p>
        </p:txBody>
      </p:sp>
      <p:sp>
        <p:nvSpPr>
          <p:cNvPr id="9" name="TextBox 8"/>
          <p:cNvSpPr txBox="1"/>
          <p:nvPr/>
        </p:nvSpPr>
        <p:spPr>
          <a:xfrm>
            <a:off x="609600" y="289669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attention은 입력에 따라 섞는 가중치가 바뀐다. Mixer는 섞는 가중치가 고정이다. 대신 계산이 가볍고 구현이 단순하다.</a:t>
            </a:r>
          </a:p>
        </p:txBody>
      </p:sp>
      <p:sp>
        <p:nvSpPr>
          <p:cNvPr id="10" name="TextBox 9"/>
          <p:cNvSpPr txBox="1"/>
          <p:nvPr/>
        </p:nvSpPr>
        <p:spPr>
          <a:xfrm>
            <a:off x="609600" y="320208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DreamWaQ++에서의 배치.</a:t>
            </a:r>
            <a:r>
              <a:rPr sz="1050" b="0" i="0">
                <a:solidFill>
                  <a:srgbClr val="16213A"/>
                </a:solidFill>
                <a:latin typeface="Arial"/>
                <a:ea typeface="Malgun Gothic"/>
                <a:cs typeface="Malgun Gothic"/>
              </a:rPr>
              <a:t> 원 논문과 반대로 놓는다. proprioception </a:t>
            </a:r>
            <a:r>
              <a:rPr sz="1050" b="1" i="0">
                <a:solidFill>
                  <a:srgbClr val="16213A"/>
                </a:solidFill>
                <a:latin typeface="Arial"/>
                <a:ea typeface="Malgun Gothic"/>
                <a:cs typeface="Malgun Gothic"/>
              </a:rPr>
              <a:t>특징을 토큰</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시간 프레임을 채널</a:t>
            </a:r>
            <a:r>
              <a:rPr sz="1050" b="0" i="0">
                <a:solidFill>
                  <a:srgbClr val="16213A"/>
                </a:solidFill>
                <a:latin typeface="Arial"/>
                <a:ea typeface="Malgun Gothic"/>
                <a:cs typeface="Malgun Gothic"/>
              </a:rPr>
              <a:t>로 둔다. 그러면 토큰 혼합은 같은 채널(같은 시간 프레임) 안에서 관절각·각속도·중력 같은 서로 다른 특징을 섞는다. 채널 혼합은 한 특징의 시간 변화를 섞는다. MLP는 은닉층 2개, 256 유닛, ELU다.</a:t>
            </a:r>
          </a:p>
        </p:txBody>
      </p:sp>
      <p:sp>
        <p:nvSpPr>
          <p:cNvPr id="11" name="TextBox 10"/>
          <p:cNvSpPr txBox="1"/>
          <p:nvPr/>
        </p:nvSpPr>
        <p:spPr>
          <a:xfrm>
            <a:off x="609600" y="37239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이 선택인가.</a:t>
            </a:r>
            <a:r>
              <a:rPr sz="1050" b="0" i="0">
                <a:solidFill>
                  <a:srgbClr val="16213A"/>
                </a:solidFill>
                <a:latin typeface="Arial"/>
                <a:ea typeface="Malgun Gothic"/>
                <a:cs typeface="Malgun Gothic"/>
              </a:rPr>
              <a:t> 원문의 논리는 이렇다. RNN(LSTM·GRU)은 시간 역전파(BPTT)에서 기울기가 사라지기 쉽다. 1D CNN은 가까운 시점끼리 관련이 깊다는 귀납 편향을 강제한다. Transformer는 데이터와 계산이 많이 든다. Mixer는 이웃 편향 없이 모든 시점·특징을 섞으면서 가볍다. 원문 Fig. 18에서 미래 관절각 예측 오차는 Transformer와 비슷했다. 속도 추정 오차는 MLP·RNN보다 작았다(</a:t>
            </a:r>
            <a:r>
              <a:rPr sz="1050" b="0" i="1">
                <a:solidFill>
                  <a:srgbClr val="16213A"/>
                </a:solidFill>
                <a:latin typeface="Arial"/>
                <a:ea typeface="Malgun Gothic"/>
                <a:cs typeface="Malgun Gothic"/>
              </a:rPr>
              <a:t>vₓ</a:t>
            </a:r>
            <a:r>
              <a:rPr sz="1050" b="0" i="0">
                <a:solidFill>
                  <a:srgbClr val="16213A"/>
                </a:solidFill>
                <a:latin typeface="Arial"/>
                <a:ea typeface="Malgun Gothic"/>
                <a:cs typeface="Malgun Gothic"/>
              </a:rPr>
              <a:t> 0.036 m/s, MLP 0.057, RNN 0.050).</a:t>
            </a:r>
          </a:p>
        </p:txBody>
      </p:sp>
      <p:sp>
        <p:nvSpPr>
          <p:cNvPr id="12" name="TextBox 11"/>
          <p:cNvSpPr txBox="1"/>
          <p:nvPr/>
        </p:nvSpPr>
        <p:spPr>
          <a:xfrm>
            <a:off x="609600" y="446236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특징 3개(관절각, 관절 속도, 각속도) × 프레임 2개면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는 3×2다. 토큰 혼합 MLP는 길이 3짜리 열(한 프레임의 세 특징)에 적용된다. 채널 혼합 MLP는 길이 2짜리 행(한 특징의 두 프레임)에 적용된다.</a:t>
            </a:r>
          </a:p>
        </p:txBody>
      </p:sp>
      <p:sp>
        <p:nvSpPr>
          <p:cNvPr id="13" name="TextBox 12"/>
          <p:cNvSpPr txBox="1"/>
          <p:nvPr/>
        </p:nvSpPr>
        <p:spPr>
          <a:xfrm>
            <a:off x="609600" y="498425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 쓰는 곳.</a:t>
            </a:r>
            <a:r>
              <a:rPr sz="1050" b="0" i="0">
                <a:solidFill>
                  <a:srgbClr val="16213A"/>
                </a:solidFill>
                <a:latin typeface="Arial"/>
                <a:ea typeface="Malgun Gothic"/>
                <a:cs typeface="Malgun Gothic"/>
              </a:rPr>
              <a:t> DreamWaQ++의 proprioception 인코더와, 두 잠재를 합치는 multi-modal mixer가 이 구조다.</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SE(3) 변환 — 과거에 잰 점군을 지금 몸체 좌표로 옮기기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303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SE(3)는 3차원 강체 변환(회전 + 평행이동)의 집합이다. 회전 </a:t>
            </a:r>
            <a:r>
              <a:rPr sz="1050" b="0" i="1">
                <a:solidFill>
                  <a:srgbClr val="16213A"/>
                </a:solidFill>
                <a:latin typeface="Arial"/>
                <a:ea typeface="Malgun Gothic"/>
                <a:cs typeface="Malgun Gothic"/>
              </a:rPr>
              <a:t>R ∈ SO(3)</a:t>
            </a:r>
            <a:r>
              <a:rPr sz="1050" b="0" i="0">
                <a:solidFill>
                  <a:srgbClr val="16213A"/>
                </a:solidFill>
                <a:latin typeface="Arial"/>
                <a:ea typeface="Malgun Gothic"/>
                <a:cs typeface="Malgun Gothic"/>
              </a:rPr>
              <a:t>과 평행이동 </a:t>
            </a:r>
            <a:r>
              <a:rPr sz="1050" b="0" i="1">
                <a:solidFill>
                  <a:srgbClr val="16213A"/>
                </a:solidFill>
                <a:latin typeface="Arial"/>
                <a:ea typeface="Malgun Gothic"/>
                <a:cs typeface="Malgun Gothic"/>
              </a:rPr>
              <a:t>p ∈ ℝ³</a:t>
            </a:r>
            <a:r>
              <a:rPr sz="1050" b="0" i="0">
                <a:solidFill>
                  <a:srgbClr val="16213A"/>
                </a:solidFill>
                <a:latin typeface="Arial"/>
                <a:ea typeface="Malgun Gothic"/>
                <a:cs typeface="Malgun Gothic"/>
              </a:rPr>
              <a:t>을 4×4 동차 변환 행렬 하나로 묶는다. 점도 끝에 1을 붙인 동차 좌표 </a:t>
            </a:r>
            <a:r>
              <a:rPr sz="1050" b="0" i="1">
                <a:solidFill>
                  <a:srgbClr val="16213A"/>
                </a:solidFill>
                <a:latin typeface="Arial"/>
                <a:ea typeface="Malgun Gothic"/>
                <a:cs typeface="Malgun Gothic"/>
              </a:rPr>
              <a:t>x̃ = [x; 1]</a:t>
            </a:r>
            <a:r>
              <a:rPr sz="1050" b="0" i="0">
                <a:solidFill>
                  <a:srgbClr val="16213A"/>
                </a:solidFill>
                <a:latin typeface="Arial"/>
                <a:ea typeface="Malgun Gothic"/>
                <a:cs typeface="Malgun Gothic"/>
              </a:rPr>
              <a:t>로 쓴다.</a:t>
            </a:r>
          </a:p>
        </p:txBody>
      </p:sp>
      <p:pic>
        <p:nvPicPr>
          <p:cNvPr id="6" name="Picture 5" descr="image.png"/>
          <p:cNvPicPr>
            <a:picLocks noChangeAspect="1"/>
          </p:cNvPicPr>
          <p:nvPr/>
        </p:nvPicPr>
        <p:blipFill>
          <a:blip r:embed="rId3"/>
          <a:stretch>
            <a:fillRect/>
          </a:stretch>
        </p:blipFill>
        <p:spPr>
          <a:xfrm>
            <a:off x="609600" y="1549995"/>
            <a:ext cx="4638675" cy="434975"/>
          </a:xfrm>
          <a:prstGeom prst="rect">
            <a:avLst/>
          </a:prstGeom>
        </p:spPr>
      </p:pic>
      <p:sp>
        <p:nvSpPr>
          <p:cNvPr id="7" name="TextBox 6"/>
          <p:cNvSpPr txBox="1"/>
          <p:nvPr/>
        </p:nvSpPr>
        <p:spPr>
          <a:xfrm>
            <a:off x="609600" y="199360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행렬 곱이 곧 변환의 합성이라 여러 번 옮기는 계산이 곱셈 한 줄로 끝난다.</a:t>
            </a:r>
          </a:p>
        </p:txBody>
      </p:sp>
      <p:sp>
        <p:nvSpPr>
          <p:cNvPr id="8" name="TextBox 7"/>
          <p:cNvSpPr txBox="1"/>
          <p:nvPr/>
        </p:nvSpPr>
        <p:spPr>
          <a:xfrm>
            <a:off x="609600" y="22989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점은 잰 순간의 몸체 좌표로 저장된다. 로봇이 움직이면 같은 계단 턱도 몸체 좌표에서 위치가 바뀐다. 과거 점군을 그대로 쌓으면 턱이 여러 겹으로 번진다. 과거 점을 </a:t>
            </a:r>
            <a:r>
              <a:rPr sz="1050" b="1" i="0">
                <a:solidFill>
                  <a:srgbClr val="16213A"/>
                </a:solidFill>
                <a:latin typeface="Arial"/>
                <a:ea typeface="Malgun Gothic"/>
                <a:cs typeface="Malgun Gothic"/>
              </a:rPr>
              <a:t>지금 몸체 좌표로 옮겨야</a:t>
            </a:r>
            <a:r>
              <a:rPr sz="1050" b="0" i="0">
                <a:solidFill>
                  <a:srgbClr val="16213A"/>
                </a:solidFill>
                <a:latin typeface="Arial"/>
                <a:ea typeface="Malgun Gothic"/>
                <a:cs typeface="Malgun Gothic"/>
              </a:rPr>
              <a:t> 겹쳐 쌓을 수 있다.</a:t>
            </a:r>
          </a:p>
        </p:txBody>
      </p:sp>
      <p:sp>
        <p:nvSpPr>
          <p:cNvPr id="9" name="TextBox 8"/>
          <p:cNvSpPr txBox="1"/>
          <p:nvPr/>
        </p:nvSpPr>
        <p:spPr>
          <a:xfrm>
            <a:off x="609600" y="282088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동작하나.</a:t>
            </a:r>
            <a:r>
              <a:rPr sz="1050" b="0" i="0">
                <a:solidFill>
                  <a:srgbClr val="16213A"/>
                </a:solidFill>
                <a:latin typeface="Arial"/>
                <a:ea typeface="Malgun Gothic"/>
                <a:cs typeface="Malgun Gothic"/>
              </a:rPr>
              <a:t> 몸체 자세를 세계 좌표 기준 </a:t>
            </a:r>
            <a:r>
              <a:rPr sz="1050" b="0" i="1">
                <a:solidFill>
                  <a:srgbClr val="16213A"/>
                </a:solidFill>
                <a:latin typeface="Arial"/>
                <a:ea typeface="Malgun Gothic"/>
                <a:cs typeface="Malgun Gothic"/>
              </a:rPr>
              <a:t>T_(W ← t)</a:t>
            </a:r>
            <a:r>
              <a:rPr sz="1050" b="0" i="0">
                <a:solidFill>
                  <a:srgbClr val="16213A"/>
                </a:solidFill>
                <a:latin typeface="Arial"/>
                <a:ea typeface="Malgun Gothic"/>
                <a:cs typeface="Malgun Gothic"/>
              </a:rPr>
              <a:t>로 쓰면, </a:t>
            </a:r>
            <a:r>
              <a:rPr sz="1050" b="0" i="1">
                <a:solidFill>
                  <a:srgbClr val="16213A"/>
                </a:solidFill>
                <a:latin typeface="Arial"/>
                <a:ea typeface="Malgun Gothic"/>
                <a:cs typeface="Malgun Gothic"/>
              </a:rPr>
              <a:t>t-k</a:t>
            </a:r>
            <a:r>
              <a:rPr sz="1050" b="0" i="0">
                <a:solidFill>
                  <a:srgbClr val="16213A"/>
                </a:solidFill>
                <a:latin typeface="Arial"/>
                <a:ea typeface="Malgun Gothic"/>
                <a:cs typeface="Malgun Gothic"/>
              </a:rPr>
              <a:t> 시점 몸체 좌표의 점을 지금 몸체 좌표로 옮기는 변환은 다음과 같다.</a:t>
            </a:r>
          </a:p>
        </p:txBody>
      </p:sp>
      <p:pic>
        <p:nvPicPr>
          <p:cNvPr id="10" name="Picture 9" descr="image.png"/>
          <p:cNvPicPr>
            <a:picLocks noChangeAspect="1"/>
          </p:cNvPicPr>
          <p:nvPr/>
        </p:nvPicPr>
        <p:blipFill>
          <a:blip r:embed="rId4"/>
          <a:stretch>
            <a:fillRect/>
          </a:stretch>
        </p:blipFill>
        <p:spPr>
          <a:xfrm>
            <a:off x="609600" y="3126284"/>
            <a:ext cx="3295650" cy="241300"/>
          </a:xfrm>
          <a:prstGeom prst="rect">
            <a:avLst/>
          </a:prstGeom>
        </p:spPr>
      </p:pic>
      <p:sp>
        <p:nvSpPr>
          <p:cNvPr id="11" name="TextBox 10"/>
          <p:cNvSpPr txBox="1"/>
          <p:nvPr/>
        </p:nvSpPr>
        <p:spPr>
          <a:xfrm>
            <a:off x="609600" y="340379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DreamWaQ++는 </a:t>
            </a:r>
            <a:r>
              <a:rPr sz="1050" b="0" i="1">
                <a:solidFill>
                  <a:srgbClr val="16213A"/>
                </a:solidFill>
                <a:latin typeface="Arial"/>
                <a:ea typeface="Malgun Gothic"/>
                <a:cs typeface="Malgun Gothic"/>
              </a:rPr>
              <a:t>T_(W ← t)</a:t>
            </a:r>
            <a:r>
              <a:rPr sz="1050" b="0" i="0">
                <a:solidFill>
                  <a:srgbClr val="16213A"/>
                </a:solidFill>
                <a:latin typeface="Arial"/>
                <a:ea typeface="Malgun Gothic"/>
                <a:cs typeface="Malgun Gothic"/>
              </a:rPr>
              <a:t>를 따로 추정하지 않고 두 조각으로 만든다. 회전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은 IMU 자세에서 얻는다. 위치는 추정 몸체 속도를 오일러 적분한다: </a:t>
            </a:r>
            <a:r>
              <a:rPr sz="1050" b="0" i="1">
                <a:solidFill>
                  <a:srgbClr val="16213A"/>
                </a:solidFill>
                <a:latin typeface="Arial"/>
                <a:ea typeface="Malgun Gothic"/>
                <a:cs typeface="Malgun Gothic"/>
              </a:rPr>
              <a:t>p ← p + R v̂ₜ Δ t</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Δ t = 20</a:t>
            </a:r>
            <a:r>
              <a:rPr sz="1050" b="0" i="0">
                <a:solidFill>
                  <a:srgbClr val="16213A"/>
                </a:solidFill>
                <a:latin typeface="Arial"/>
                <a:ea typeface="Malgun Gothic"/>
                <a:cs typeface="Malgun Gothic"/>
              </a:rPr>
              <a:t> ms). 새 점군이 오면 적분을 0에서 다시 시작한다.</a:t>
            </a:r>
          </a:p>
        </p:txBody>
      </p:sp>
      <p:sp>
        <p:nvSpPr>
          <p:cNvPr id="12" name="TextBox 11"/>
          <p:cNvSpPr txBox="1"/>
          <p:nvPr/>
        </p:nvSpPr>
        <p:spPr>
          <a:xfrm>
            <a:off x="609600" y="392568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로봇이 회전 없이 앞으로 0.5 m/s로 간다. 0.1 s 전에 몸체 앞 1.00 m에서 잰 턱은 지금 몸체 좌표에서 0.95 m에 있어야 한다. </a:t>
            </a:r>
            <a:r>
              <a:rPr sz="1050" b="0" i="1">
                <a:solidFill>
                  <a:srgbClr val="16213A"/>
                </a:solidFill>
                <a:latin typeface="Arial"/>
                <a:ea typeface="Malgun Gothic"/>
                <a:cs typeface="Malgun Gothic"/>
              </a:rPr>
              <a:t>T_(t ← t-k)</a:t>
            </a:r>
            <a:r>
              <a:rPr sz="1050" b="0" i="0">
                <a:solidFill>
                  <a:srgbClr val="16213A"/>
                </a:solidFill>
                <a:latin typeface="Arial"/>
                <a:ea typeface="Malgun Gothic"/>
                <a:cs typeface="Malgun Gothic"/>
              </a:rPr>
              <a:t>의 평행이동이 </a:t>
            </a:r>
            <a:r>
              <a:rPr sz="1050" b="0" i="1">
                <a:solidFill>
                  <a:srgbClr val="16213A"/>
                </a:solidFill>
                <a:latin typeface="Arial"/>
                <a:ea typeface="Malgun Gothic"/>
                <a:cs typeface="Malgun Gothic"/>
              </a:rPr>
              <a:t>[-0.05, 0, 0]</a:t>
            </a:r>
            <a:r>
              <a:rPr sz="1050" b="0" i="0">
                <a:solidFill>
                  <a:srgbClr val="16213A"/>
                </a:solidFill>
                <a:latin typeface="Arial"/>
                <a:ea typeface="Malgun Gothic"/>
                <a:cs typeface="Malgun Gothic"/>
              </a:rPr>
              <a:t>이므로 </a:t>
            </a:r>
            <a:r>
              <a:rPr sz="1050" b="0" i="1">
                <a:solidFill>
                  <a:srgbClr val="16213A"/>
                </a:solidFill>
                <a:latin typeface="Arial"/>
                <a:ea typeface="Malgun Gothic"/>
                <a:cs typeface="Malgun Gothic"/>
              </a:rPr>
              <a:t>x = 1.00 - 0.05 = 0.95</a:t>
            </a:r>
            <a:r>
              <a:rPr sz="1050" b="0" i="0">
                <a:solidFill>
                  <a:srgbClr val="16213A"/>
                </a:solidFill>
                <a:latin typeface="Arial"/>
                <a:ea typeface="Malgun Gothic"/>
                <a:cs typeface="Malgun Gothic"/>
              </a:rPr>
              <a:t> m다. 속도 추정이 0.036 m/s 틀리면 이 0.1 s 동안 위치 오차는 약 3.6 mm다. 5 cm 격자에서는 무시할 만하다. 요 각속도가 있으면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이 단위행렬이 아니므로 점이 옆으로도 돈다.</a:t>
            </a:r>
          </a:p>
        </p:txBody>
      </p:sp>
      <p:sp>
        <p:nvSpPr>
          <p:cNvPr id="13" name="TextBox 12"/>
          <p:cNvSpPr txBox="1"/>
          <p:nvPr/>
        </p:nvSpPr>
        <p:spPr>
          <a:xfrm>
            <a:off x="609600" y="444758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 쓰는 곳.</a:t>
            </a:r>
            <a:r>
              <a:rPr sz="1050" b="0" i="0">
                <a:solidFill>
                  <a:srgbClr val="16213A"/>
                </a:solidFill>
                <a:latin typeface="Arial"/>
                <a:ea typeface="Malgun Gothic"/>
                <a:cs typeface="Malgun Gothic"/>
              </a:rPr>
              <a:t> DreamWaQ++의 점군 메모리 식 </a:t>
            </a:r>
            <a:r>
              <a:rPr sz="1050" b="0" i="1">
                <a:solidFill>
                  <a:srgbClr val="16213A"/>
                </a:solidFill>
                <a:latin typeface="Arial"/>
                <a:ea typeface="Malgun Gothic"/>
                <a:cs typeface="Malgun Gothic"/>
              </a:rPr>
              <a:t>ô^eₜ₋ₖ = T_(t ← t-k) o^eₜ₋ₖ</a:t>
            </a:r>
            <a:r>
              <a:rPr sz="1050" b="0" i="0">
                <a:solidFill>
                  <a:srgbClr val="16213A"/>
                </a:solidFill>
                <a:latin typeface="Arial"/>
                <a:ea typeface="Malgun Gothic"/>
                <a:cs typeface="Malgun Gothic"/>
              </a:rPr>
              <a:t>가 이 계산이다. OpenHEART도 물체 직육면체에서 뽑은 점을 로봇 몸체 좌표로 옮기고, 이 상대 위치를 LiDAR 오도메트리로 10 Hz마다 갱신한다.</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자세히: DreamRiser의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304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네발 로봇은 몸통이 떠 있는 구조라 험지에서 넘어진다. 사람이 일으켜 세울 수 없는 곳이면 임무가 끝난다. 이전 학습 기반 복구 제어기는 두 가지가 아쉬웠다. Lee 외(2019)는 몸 뒤집기와 일어서기를 별도 정책으로 나눈 복잡한 계층 구조였다. Smith 외(2022)는 정책 하나지만 모션 모방으로 학습했다. Lee 외는 통제된 실험실의 평지에서만 시험했다. Smith 외의 제어기도 비교적 평평한 면에서 주로 통한다. DreamRiser는 계단·경사·잔해 위에서도 정책 하나로 일어서는 것을 목표로 한다.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복구의 정의.</a:t>
            </a:r>
            <a:r>
              <a:rPr sz="1050" b="0" i="0">
                <a:solidFill>
                  <a:srgbClr val="16213A"/>
                </a:solidFill>
                <a:latin typeface="Arial"/>
                <a:ea typeface="Malgun Gothic"/>
                <a:cs typeface="Malgun Gothic"/>
              </a:rPr>
              <a:t> 몸통이 똑바로 서는 것만으로는 부족하다. 울퉁불퉁한 지형에서는 똑바로 선 자세가 오히려 불안정할 수 있다. 그래서 </a:t>
            </a:r>
            <a:r>
              <a:rPr sz="1050" b="1" i="0">
                <a:solidFill>
                  <a:srgbClr val="16213A"/>
                </a:solidFill>
                <a:latin typeface="Arial"/>
                <a:ea typeface="Malgun Gothic"/>
                <a:cs typeface="Malgun Gothic"/>
              </a:rPr>
              <a:t>네 발이 모두 땅에 닿고</a:t>
            </a:r>
            <a:r>
              <a:rPr sz="1050" b="0" i="0">
                <a:solidFill>
                  <a:srgbClr val="16213A"/>
                </a:solidFill>
                <a:latin typeface="Arial"/>
                <a:ea typeface="Malgun Gothic"/>
                <a:cs typeface="Malgun Gothic"/>
              </a:rPr>
              <a:t> 몸통이 선 상태를 복구 완료로 본다. 발 접촉 조건이 이전 연구와 가장 다른 점이다.</a:t>
            </a:r>
          </a:p>
        </p:txBody>
      </p:sp>
      <p:sp>
        <p:nvSpPr>
          <p:cNvPr id="7" name="TextBox 6"/>
          <p:cNvSpPr txBox="1"/>
          <p:nvPr/>
        </p:nvSpPr>
        <p:spPr>
          <a:xfrm>
            <a:off x="609600" y="25048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지형 상상.</a:t>
            </a:r>
            <a:r>
              <a:rPr sz="1050" b="0" i="0">
                <a:solidFill>
                  <a:srgbClr val="16213A"/>
                </a:solidFill>
                <a:latin typeface="Arial"/>
                <a:ea typeface="Malgun Gothic"/>
                <a:cs typeface="Malgun Gothic"/>
              </a:rPr>
              <a:t> 넘어진 뒤에는 카메라·LiDAR 지도가 쓸모없다. 센서가 하늘이나 땅을 향하고, 지도 모듈의 전제(몸체가 대략 수평)가 깨진다. 그래서 proprioception만으로 주변 지형의 잠재 특성을 추정한다. DreamWaQ의 CENet을 그대로 쓴다(배경: CENet 토글 참고). 과거 관측 </a:t>
            </a:r>
            <a:r>
              <a:rPr sz="1050" b="0" i="1">
                <a:solidFill>
                  <a:srgbClr val="16213A"/>
                </a:solidFill>
                <a:latin typeface="Arial"/>
                <a:ea typeface="Malgun Gothic"/>
                <a:cs typeface="Malgun Gothic"/>
              </a:rPr>
              <a:t>o^Hₜ</a:t>
            </a:r>
            <a:r>
              <a:rPr sz="1050" b="0" i="0">
                <a:solidFill>
                  <a:srgbClr val="16213A"/>
                </a:solidFill>
                <a:latin typeface="Arial"/>
                <a:ea typeface="Malgun Gothic"/>
                <a:cs typeface="Malgun Gothic"/>
              </a:rPr>
              <a:t>에서 몸체 속도 </a:t>
            </a:r>
            <a:r>
              <a:rPr sz="1050" b="0" i="1">
                <a:solidFill>
                  <a:srgbClr val="16213A"/>
                </a:solidFill>
                <a:latin typeface="Arial"/>
                <a:ea typeface="Malgun Gothic"/>
                <a:cs typeface="Malgun Gothic"/>
              </a:rPr>
              <a:t>vₜ ∈ ℝ³</a:t>
            </a:r>
            <a:r>
              <a:rPr sz="1050" b="0" i="0">
                <a:solidFill>
                  <a:srgbClr val="16213A"/>
                </a:solidFill>
                <a:latin typeface="Arial"/>
                <a:ea typeface="Malgun Gothic"/>
                <a:cs typeface="Malgun Gothic"/>
              </a:rPr>
              <a:t>과 잠재 </a:t>
            </a:r>
            <a:r>
              <a:rPr sz="1050" b="0" i="1">
                <a:solidFill>
                  <a:srgbClr val="16213A"/>
                </a:solidFill>
                <a:latin typeface="Arial"/>
                <a:ea typeface="Malgun Gothic"/>
                <a:cs typeface="Malgun Gothic"/>
              </a:rPr>
              <a:t>zₜ ∈ ℝ³²</a:t>
            </a:r>
            <a:r>
              <a:rPr sz="1050" b="0" i="0">
                <a:solidFill>
                  <a:srgbClr val="16213A"/>
                </a:solidFill>
                <a:latin typeface="Arial"/>
                <a:ea typeface="Malgun Gothic"/>
                <a:cs typeface="Malgun Gothic"/>
              </a:rPr>
              <a:t>를 추정한다. 원문은 관측을 </a:t>
            </a:r>
            <a:r>
              <a:rPr sz="1050" b="0" i="1">
                <a:solidFill>
                  <a:srgbClr val="16213A"/>
                </a:solidFill>
                <a:latin typeface="Arial"/>
                <a:ea typeface="Malgun Gothic"/>
                <a:cs typeface="Malgun Gothic"/>
              </a:rPr>
              <a:t>oₜ ∈ ℝ²⁵²</a:t>
            </a:r>
            <a:r>
              <a:rPr sz="1050" b="0" i="0">
                <a:solidFill>
                  <a:srgbClr val="16213A"/>
                </a:solidFill>
                <a:latin typeface="Arial"/>
                <a:ea typeface="Malgun Gothic"/>
                <a:cs typeface="Malgun Gothic"/>
              </a:rPr>
              <a:t>로 적는다. 정책 </a:t>
            </a:r>
            <a:r>
              <a:rPr sz="1050" b="0" i="1">
                <a:solidFill>
                  <a:srgbClr val="16213A"/>
                </a:solidFill>
                <a:latin typeface="Arial"/>
                <a:ea typeface="Malgun Gothic"/>
                <a:cs typeface="Malgun Gothic"/>
              </a:rPr>
              <a:t>π_φ(aₜ | oₜ, vₜ, zₜ)</a:t>
            </a:r>
            <a:r>
              <a:rPr sz="1050" b="0" i="0">
                <a:solidFill>
                  <a:srgbClr val="16213A"/>
                </a:solidFill>
                <a:latin typeface="Arial"/>
                <a:ea typeface="Malgun Gothic"/>
                <a:cs typeface="Malgun Gothic"/>
              </a:rPr>
              <a:t>가 관절 12개의 목표각을 낸다. critic은 특권 상태 </a:t>
            </a:r>
            <a:r>
              <a:rPr sz="1050" b="0" i="1">
                <a:solidFill>
                  <a:srgbClr val="16213A"/>
                </a:solidFill>
                <a:latin typeface="Arial"/>
                <a:ea typeface="Malgun Gothic"/>
                <a:cs typeface="Malgun Gothic"/>
              </a:rPr>
              <a:t>sₜ = [oₜ, vₜ, dₜ, hₜ]</a:t>
            </a:r>
            <a:r>
              <a:rPr sz="1050" b="0" i="0">
                <a:solidFill>
                  <a:srgbClr val="16213A"/>
                </a:solidFill>
                <a:latin typeface="Arial"/>
                <a:ea typeface="Malgun Gothic"/>
                <a:cs typeface="Malgun Gothic"/>
              </a:rPr>
              <a:t>(외력 </a:t>
            </a:r>
            <a:r>
              <a:rPr sz="1050" b="0" i="1">
                <a:solidFill>
                  <a:srgbClr val="16213A"/>
                </a:solidFill>
                <a:latin typeface="Arial"/>
                <a:ea typeface="Malgun Gothic"/>
                <a:cs typeface="Malgun Gothic"/>
              </a:rPr>
              <a:t>dₜ</a:t>
            </a:r>
            <a:r>
              <a:rPr sz="1050" b="0" i="0">
                <a:solidFill>
                  <a:srgbClr val="16213A"/>
                </a:solidFill>
                <a:latin typeface="Arial"/>
                <a:ea typeface="Malgun Gothic"/>
                <a:cs typeface="Malgun Gothic"/>
              </a:rPr>
              <a:t>, 높이맵 </a:t>
            </a:r>
            <a:r>
              <a:rPr sz="1050" b="0" i="1">
                <a:solidFill>
                  <a:srgbClr val="16213A"/>
                </a:solidFill>
                <a:latin typeface="Arial"/>
                <a:ea typeface="Malgun Gothic"/>
                <a:cs typeface="Malgun Gothic"/>
              </a:rPr>
              <a:t>hₜ</a:t>
            </a:r>
            <a:r>
              <a:rPr sz="1050" b="0" i="0">
                <a:solidFill>
                  <a:srgbClr val="16213A"/>
                </a:solidFill>
                <a:latin typeface="Arial"/>
                <a:ea typeface="Malgun Gothic"/>
                <a:cs typeface="Malgun Gothic"/>
              </a:rPr>
              <a:t>)를 받는다(배경: 비대칭 actor-critic 토글 참고).</a:t>
            </a:r>
          </a:p>
        </p:txBody>
      </p:sp>
      <p:pic>
        <p:nvPicPr>
          <p:cNvPr id="8" name="Picture 7" descr="image.png"/>
          <p:cNvPicPr>
            <a:picLocks noChangeAspect="1"/>
          </p:cNvPicPr>
          <p:nvPr/>
        </p:nvPicPr>
        <p:blipFill>
          <a:blip r:embed="rId3"/>
          <a:stretch>
            <a:fillRect/>
          </a:stretch>
        </p:blipFill>
        <p:spPr>
          <a:xfrm>
            <a:off x="609600" y="3243262"/>
            <a:ext cx="1412875" cy="241300"/>
          </a:xfrm>
          <a:prstGeom prst="rect">
            <a:avLst/>
          </a:prstGeom>
        </p:spPr>
      </p:pic>
      <p:sp>
        <p:nvSpPr>
          <p:cNvPr id="9" name="TextBox 8"/>
          <p:cNvSpPr txBox="1"/>
          <p:nvPr/>
        </p:nvSpPr>
        <p:spPr>
          <a:xfrm>
            <a:off x="609600" y="3520777"/>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행동은 몸을 바로 세운 기본 자세 </a:t>
            </a:r>
            <a:r>
              <a:rPr sz="1050" b="0" i="1">
                <a:solidFill>
                  <a:srgbClr val="16213A"/>
                </a:solidFill>
                <a:latin typeface="Arial"/>
                <a:ea typeface="Malgun Gothic"/>
                <a:cs typeface="Malgun Gothic"/>
              </a:rPr>
              <a:t>θ_(stand)</a:t>
            </a:r>
            <a:r>
              <a:rPr sz="1050" b="0" i="0">
                <a:solidFill>
                  <a:srgbClr val="16213A"/>
                </a:solidFill>
                <a:latin typeface="Arial"/>
                <a:ea typeface="Malgun Gothic"/>
                <a:cs typeface="Malgun Gothic"/>
              </a:rPr>
              <a:t> 둘레의 관절각 변화량이다. PD 제어기가 이를 토크로 바꾼다.</a:t>
            </a:r>
          </a:p>
        </p:txBody>
      </p:sp>
      <p:sp>
        <p:nvSpPr>
          <p:cNvPr id="10" name="TextBox 9"/>
          <p:cNvSpPr txBox="1"/>
          <p:nvPr/>
        </p:nvSpPr>
        <p:spPr>
          <a:xfrm>
            <a:off x="609600" y="382617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보상.</a:t>
            </a:r>
            <a:r>
              <a:rPr sz="1050" b="0" i="0">
                <a:solidFill>
                  <a:srgbClr val="16213A"/>
                </a:solidFill>
                <a:latin typeface="Arial"/>
                <a:ea typeface="Malgun Gothic"/>
                <a:cs typeface="Malgun Gothic"/>
              </a:rPr>
              <a:t> 과제 보상은 둘이고 나머지는 동작을 누그러뜨리는 벌점이다.</a:t>
            </a:r>
          </a:p>
        </p:txBody>
      </p:sp>
      <p:graphicFrame>
        <p:nvGraphicFramePr>
          <p:cNvPr id="11" name="Table 10"/>
          <p:cNvGraphicFramePr>
            <a:graphicFrameLocks noGrp="1"/>
          </p:cNvGraphicFramePr>
          <p:nvPr/>
        </p:nvGraphicFramePr>
        <p:xfrm>
          <a:off x="609600" y="4131568"/>
          <a:ext cx="10966450" cy="1182528"/>
        </p:xfrm>
        <a:graphic>
          <a:graphicData uri="http://schemas.openxmlformats.org/drawingml/2006/table">
            <a:tbl>
              <a:tblPr firstRow="1" bandRow="1">
                <a:tableStyleId>{5C22544A-7EE6-4342-B048-85BDC9FD1C3A}</a:tableStyleId>
              </a:tblPr>
              <a:tblGrid>
                <a:gridCol w="3212207"/>
                <a:gridCol w="5632748"/>
                <a:gridCol w="2121495"/>
              </a:tblGrid>
              <a:tr h="197088">
                <a:tc>
                  <a:txBody>
                    <a:bodyPr wrap="square"/>
                    <a:lstStyle/>
                    <a:p>
                      <a:r>
                        <a:rPr sz="800" b="1" i="0">
                          <a:solidFill>
                            <a:srgbClr val="F4F1EA"/>
                          </a:solidFill>
                          <a:latin typeface="Arial"/>
                          <a:ea typeface="Malgun Gothic"/>
                          <a:cs typeface="Malgun Gothic"/>
                        </a:rPr>
                        <a:t>항</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뜻</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가중치</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몸통 바로 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1 − (몸체 z축 중력 성분)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발 접촉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닿은 발 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관절 가속도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제곱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−1e-6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관절 파워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토크 × 관절 속도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−1e-5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행동 변화율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직전 행동과의 차 제곱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−0.05</a:t>
                      </a:r>
                    </a:p>
                  </a:txBody>
                  <a:tcPr marL="63500" marR="63500" marT="12700" marB="12700">
                    <a:solidFill>
                      <a:srgbClr val="FFFDF8"/>
                    </a:solidFill>
                  </a:tcPr>
                </a:tc>
              </a:tr>
            </a:tbl>
          </a:graphicData>
        </a:graphic>
      </p:graphicFrame>
      <p:sp>
        <p:nvSpPr>
          <p:cNvPr id="12" name="TextBox 11"/>
          <p:cNvSpPr txBox="1"/>
          <p:nvPr/>
        </p:nvSpPr>
        <p:spPr>
          <a:xfrm>
            <a:off x="609600" y="5704979"/>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5개(문단·식·그림)는 대시보드 리서치 탭의 "자세히: DreamRiser의 방법과 수식" 토글에 있다.</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자세히: DreamFLEX의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305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오래 걷거나 험지를 지나면 모터 과열, 충돌로 인한 관절 잠김 같은 하드웨어 고장이 생긴다. 이전 고장 대응 제어기 (Kim 외, FT-Net)는 고장 상태를 </a:t>
            </a:r>
            <a:r>
              <a:rPr sz="1050" b="1" i="0">
                <a:solidFill>
                  <a:srgbClr val="16213A"/>
                </a:solidFill>
                <a:latin typeface="Arial"/>
                <a:ea typeface="Malgun Gothic"/>
                <a:cs typeface="Malgun Gothic"/>
              </a:rPr>
              <a:t>암묵적으로</a:t>
            </a:r>
            <a:r>
              <a:rPr sz="1050" b="0" i="0">
                <a:solidFill>
                  <a:srgbClr val="16213A"/>
                </a:solidFill>
                <a:latin typeface="Arial"/>
                <a:ea typeface="Malgun Gothic"/>
                <a:cs typeface="Malgun Gothic"/>
              </a:rPr>
              <a:t> 추정했고 험지 보행은 약했다. DreamFLEX는 어느 관절이 고장났는지를 </a:t>
            </a:r>
            <a:r>
              <a:rPr sz="1050" b="1" i="0">
                <a:solidFill>
                  <a:srgbClr val="16213A"/>
                </a:solidFill>
                <a:latin typeface="Arial"/>
                <a:ea typeface="Malgun Gothic"/>
                <a:cs typeface="Malgun Gothic"/>
              </a:rPr>
              <a:t>명시적으로</a:t>
            </a:r>
            <a:r>
              <a:rPr sz="1050" b="0" i="0">
                <a:solidFill>
                  <a:srgbClr val="16213A"/>
                </a:solidFill>
                <a:latin typeface="Arial"/>
                <a:ea typeface="Malgun Gothic"/>
                <a:cs typeface="Malgun Gothic"/>
              </a:rPr>
              <a:t> 추정하고, 그 정보로 정책 입력을 바꿔 걸음새를 바꾼다. DreamWaQ 위에 쌓았고 proprioception만 쓴다.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고장 두 종류를 학습 중에 일부러 만든다.</a:t>
            </a:r>
            <a:r>
              <a:rPr sz="1050" b="0" i="0">
                <a:solidFill>
                  <a:srgbClr val="16213A"/>
                </a:solidFill>
                <a:latin typeface="Arial"/>
                <a:ea typeface="Malgun Gothic"/>
                <a:cs typeface="Malgun Gothic"/>
              </a:rPr>
              <a:t> 에이전트마다 정상 또는 고장을 무작위로 주고, 고장 관절은 12개 중 균일하게 뽑는다.</a:t>
            </a:r>
          </a:p>
        </p:txBody>
      </p:sp>
      <p:sp>
        <p:nvSpPr>
          <p:cNvPr id="7" name="TextBox 6"/>
          <p:cNvSpPr txBox="1"/>
          <p:nvPr/>
        </p:nvSpPr>
        <p:spPr>
          <a:xfrm>
            <a:off x="609600" y="2071886"/>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관절 잠김: 목표 관절각을 중심각 </a:t>
            </a:r>
            <a:r>
              <a:rPr sz="1050" b="0" i="1">
                <a:solidFill>
                  <a:srgbClr val="16213A"/>
                </a:solidFill>
                <a:latin typeface="Arial"/>
                <a:ea typeface="Malgun Gothic"/>
                <a:cs typeface="Malgun Gothic"/>
              </a:rPr>
              <a:t>q_(cen) ± qₜₕᵣ</a:t>
            </a:r>
            <a:r>
              <a:rPr sz="1050" b="0" i="0">
                <a:solidFill>
                  <a:srgbClr val="16213A"/>
                </a:solidFill>
                <a:latin typeface="Arial"/>
                <a:ea typeface="Malgun Gothic"/>
                <a:cs typeface="Malgun Gothic"/>
              </a:rPr>
              <a:t>(예: 0.05 rad) 안으로 자른다. 거의 움직이지 않는 관절이 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모터 약화: 토크에 효율 </a:t>
            </a:r>
            <a:r>
              <a:rPr sz="1050" b="0" i="1">
                <a:solidFill>
                  <a:srgbClr val="16213A"/>
                </a:solidFill>
                <a:latin typeface="Arial"/>
                <a:ea typeface="Malgun Gothic"/>
                <a:cs typeface="Malgun Gothic"/>
              </a:rPr>
              <a:t>k_τ</a:t>
            </a:r>
            <a:r>
              <a:rPr sz="1050" b="0" i="0">
                <a:solidFill>
                  <a:srgbClr val="16213A"/>
                </a:solidFill>
                <a:latin typeface="Arial"/>
                <a:ea typeface="Malgun Gothic"/>
                <a:cs typeface="Malgun Gothic"/>
              </a:rPr>
              <a:t>를 곱한다. </a:t>
            </a:r>
            <a:r>
              <a:rPr sz="1050" b="0" i="1">
                <a:solidFill>
                  <a:srgbClr val="16213A"/>
                </a:solidFill>
                <a:latin typeface="Arial"/>
                <a:ea typeface="Malgun Gothic"/>
                <a:cs typeface="Malgun Gothic"/>
              </a:rPr>
              <a:t>k_τ ∼ 𝒰(k_L, 0.25)</a:t>
            </a:r>
            <a:r>
              <a:rPr sz="1050" b="0" i="0">
                <a:solidFill>
                  <a:srgbClr val="16213A"/>
                </a:solidFill>
                <a:latin typeface="Arial"/>
                <a:ea typeface="Malgun Gothic"/>
                <a:cs typeface="Malgun Gothic"/>
              </a:rPr>
              <a:t>라 정상의 25% 이하다. 시험에서는 </a:t>
            </a:r>
            <a:r>
              <a:rPr sz="1050" b="0" i="1">
                <a:solidFill>
                  <a:srgbClr val="16213A"/>
                </a:solidFill>
                <a:latin typeface="Arial"/>
                <a:ea typeface="Malgun Gothic"/>
                <a:cs typeface="Malgun Gothic"/>
              </a:rPr>
              <a:t>k_τ = 0</a:t>
            </a:r>
            <a:r>
              <a:rPr sz="1050" b="0" i="0">
                <a:solidFill>
                  <a:srgbClr val="16213A"/>
                </a:solidFill>
                <a:latin typeface="Arial"/>
                <a:ea typeface="Malgun Gothic"/>
                <a:cs typeface="Malgun Gothic"/>
              </a:rPr>
              <a:t>(완전 무력)을 쓴다.</a:t>
            </a:r>
          </a:p>
        </p:txBody>
      </p:sp>
      <p:pic>
        <p:nvPicPr>
          <p:cNvPr id="8" name="Picture 7" descr="image.png"/>
          <p:cNvPicPr>
            <a:picLocks noChangeAspect="1"/>
          </p:cNvPicPr>
          <p:nvPr/>
        </p:nvPicPr>
        <p:blipFill>
          <a:blip r:embed="rId3"/>
          <a:stretch>
            <a:fillRect/>
          </a:stretch>
        </p:blipFill>
        <p:spPr>
          <a:xfrm>
            <a:off x="609600" y="2619177"/>
            <a:ext cx="2108200" cy="533400"/>
          </a:xfrm>
          <a:prstGeom prst="rect">
            <a:avLst/>
          </a:prstGeom>
        </p:spPr>
      </p:pic>
      <p:sp>
        <p:nvSpPr>
          <p:cNvPr id="9" name="TextBox 8"/>
          <p:cNvSpPr txBox="1"/>
          <p:nvPr/>
        </p:nvSpPr>
        <p:spPr>
          <a:xfrm>
            <a:off x="609600" y="314811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고장 커리큘럼: 과제 보상 합이 임계를 넘으면 </a:t>
            </a:r>
            <a:r>
              <a:rPr sz="1050" b="0" i="1">
                <a:solidFill>
                  <a:srgbClr val="16213A"/>
                </a:solidFill>
                <a:latin typeface="Arial"/>
                <a:ea typeface="Malgun Gothic"/>
                <a:cs typeface="Malgun Gothic"/>
              </a:rPr>
              <a:t>q_(cen)</a:t>
            </a:r>
            <a:r>
              <a:rPr sz="1050" b="0" i="0">
                <a:solidFill>
                  <a:srgbClr val="16213A"/>
                </a:solidFill>
                <a:latin typeface="Arial"/>
                <a:ea typeface="Malgun Gothic"/>
                <a:cs typeface="Malgun Gothic"/>
              </a:rPr>
              <a:t> 범위를 0.05 rad씩, </a:t>
            </a:r>
            <a:r>
              <a:rPr sz="1050" b="0" i="1">
                <a:solidFill>
                  <a:srgbClr val="16213A"/>
                </a:solidFill>
                <a:latin typeface="Arial"/>
                <a:ea typeface="Malgun Gothic"/>
                <a:cs typeface="Malgun Gothic"/>
              </a:rPr>
              <a:t>k_L</a:t>
            </a:r>
            <a:r>
              <a:rPr sz="1050" b="0" i="0">
                <a:solidFill>
                  <a:srgbClr val="16213A"/>
                </a:solidFill>
                <a:latin typeface="Arial"/>
                <a:ea typeface="Malgun Gothic"/>
                <a:cs typeface="Malgun Gothic"/>
              </a:rPr>
              <a:t>을 0.0125씩 넓힌다. 처음부터 넓게 뽑으면 분산이 커서 학습이 발산하기 때문이다.</a:t>
            </a:r>
          </a:p>
        </p:txBody>
      </p:sp>
      <p:sp>
        <p:nvSpPr>
          <p:cNvPr id="10" name="TextBox 9"/>
          <p:cNvSpPr txBox="1"/>
          <p:nvPr/>
        </p:nvSpPr>
        <p:spPr>
          <a:xfrm>
            <a:off x="609600" y="345350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입출력.</a:t>
            </a:r>
            <a:r>
              <a:rPr sz="1050" b="0" i="0">
                <a:solidFill>
                  <a:srgbClr val="16213A"/>
                </a:solidFill>
                <a:latin typeface="Arial"/>
                <a:ea typeface="Malgun Gothic"/>
                <a:cs typeface="Malgun Gothic"/>
              </a:rPr>
              <a:t> 관측 </a:t>
            </a:r>
            <a:r>
              <a:rPr sz="1050" b="0" i="1">
                <a:solidFill>
                  <a:srgbClr val="16213A"/>
                </a:solidFill>
                <a:latin typeface="Arial"/>
                <a:ea typeface="Malgun Gothic"/>
                <a:cs typeface="Malgun Gothic"/>
              </a:rPr>
              <a:t>oₜ</a:t>
            </a:r>
            <a:r>
              <a:rPr sz="1050" b="0" i="0">
                <a:solidFill>
                  <a:srgbClr val="16213A"/>
                </a:solidFill>
                <a:latin typeface="Arial"/>
                <a:ea typeface="Malgun Gothic"/>
                <a:cs typeface="Malgun Gothic"/>
              </a:rPr>
              <a:t>는 몸체 각속도, 중력 벡터, 속도 명령, 관절각, 관절 속도, 직전 행동이다. 정책은 </a:t>
            </a:r>
            <a:r>
              <a:rPr sz="1050" b="0" i="1">
                <a:solidFill>
                  <a:srgbClr val="16213A"/>
                </a:solidFill>
                <a:latin typeface="Arial"/>
                <a:ea typeface="Malgun Gothic"/>
                <a:cs typeface="Malgun Gothic"/>
              </a:rPr>
              <a:t>π_φ(aₜ | oₜ, vₜ, fₜ, z̃ₜ)</a:t>
            </a:r>
            <a:r>
              <a:rPr sz="1050" b="0" i="0">
                <a:solidFill>
                  <a:srgbClr val="16213A"/>
                </a:solidFill>
                <a:latin typeface="Arial"/>
                <a:ea typeface="Malgun Gothic"/>
                <a:cs typeface="Malgun Gothic"/>
              </a:rPr>
              <a:t>이다. 고장 벡터 </a:t>
            </a:r>
            <a:r>
              <a:rPr sz="1050" b="0" i="1">
                <a:solidFill>
                  <a:srgbClr val="16213A"/>
                </a:solidFill>
                <a:latin typeface="Arial"/>
                <a:ea typeface="Malgun Gothic"/>
                <a:cs typeface="Malgun Gothic"/>
              </a:rPr>
              <a:t>fₜ ∈ {0,1}¹²</a:t>
            </a:r>
            <a:r>
              <a:rPr sz="1050" b="0" i="0">
                <a:solidFill>
                  <a:srgbClr val="16213A"/>
                </a:solidFill>
                <a:latin typeface="Arial"/>
                <a:ea typeface="Malgun Gothic"/>
                <a:cs typeface="Malgun Gothic"/>
              </a:rPr>
              <a:t>는 관절마다 고장이면 1이다(순서는 FL·FR·RL·RR 다리의 hip·thigh·calf). critic은 </a:t>
            </a:r>
            <a:r>
              <a:rPr sz="1050" b="0" i="1">
                <a:solidFill>
                  <a:srgbClr val="16213A"/>
                </a:solidFill>
                <a:latin typeface="Arial"/>
                <a:ea typeface="Malgun Gothic"/>
                <a:cs typeface="Malgun Gothic"/>
              </a:rPr>
              <a:t>sₜ = [oₜ, vₜ, fₜ, dₜ, hₜ]</a:t>
            </a:r>
            <a:r>
              <a:rPr sz="1050" b="0" i="0">
                <a:solidFill>
                  <a:srgbClr val="16213A"/>
                </a:solidFill>
                <a:latin typeface="Arial"/>
                <a:ea typeface="Malgun Gothic"/>
                <a:cs typeface="Malgun Gothic"/>
              </a:rPr>
              <a:t>로 참 고장 벡터까지 본다 (배경: 비대칭 actor-critic 토글 참고).</a:t>
            </a:r>
          </a:p>
        </p:txBody>
      </p:sp>
      <p:sp>
        <p:nvSpPr>
          <p:cNvPr id="11" name="TextBox 10"/>
          <p:cNvSpPr txBox="1"/>
          <p:nvPr/>
        </p:nvSpPr>
        <p:spPr>
          <a:xfrm>
            <a:off x="609600" y="39753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FEMNet(고장 추정·변조 망).</a:t>
            </a:r>
            <a:r>
              <a:rPr sz="1050" b="0" i="0">
                <a:solidFill>
                  <a:srgbClr val="16213A"/>
                </a:solidFill>
                <a:latin typeface="Arial"/>
                <a:ea typeface="Malgun Gothic"/>
                <a:cs typeface="Malgun Gothic"/>
              </a:rPr>
              <a:t> CENet(배경: CENet 토글 참고)에 헤드를 하나 더 붙였다. 과거 관측 </a:t>
            </a:r>
            <a:r>
              <a:rPr sz="1050" b="0" i="1">
                <a:solidFill>
                  <a:srgbClr val="16213A"/>
                </a:solidFill>
                <a:latin typeface="Arial"/>
                <a:ea typeface="Malgun Gothic"/>
                <a:cs typeface="Malgun Gothic"/>
              </a:rPr>
              <a:t>N=5</a:t>
            </a:r>
            <a:r>
              <a:rPr sz="1050" b="0" i="0">
                <a:solidFill>
                  <a:srgbClr val="16213A"/>
                </a:solidFill>
                <a:latin typeface="Arial"/>
                <a:ea typeface="Malgun Gothic"/>
                <a:cs typeface="Malgun Gothic"/>
              </a:rPr>
              <a:t> 스텝에서 속도 </a:t>
            </a:r>
            <a:r>
              <a:rPr sz="1050" b="0" i="1">
                <a:solidFill>
                  <a:srgbClr val="16213A"/>
                </a:solidFill>
                <a:latin typeface="Arial"/>
                <a:ea typeface="Malgun Gothic"/>
                <a:cs typeface="Malgun Gothic"/>
              </a:rPr>
              <a:t>vₜ</a:t>
            </a:r>
            <a:r>
              <a:rPr sz="1050" b="0" i="0">
                <a:solidFill>
                  <a:srgbClr val="16213A"/>
                </a:solidFill>
                <a:latin typeface="Arial"/>
                <a:ea typeface="Malgun Gothic"/>
                <a:cs typeface="Malgun Gothic"/>
              </a:rPr>
              <a:t>, 고장 벡터 </a:t>
            </a:r>
            <a:r>
              <a:rPr sz="1050" b="0" i="1">
                <a:solidFill>
                  <a:srgbClr val="16213A"/>
                </a:solidFill>
                <a:latin typeface="Arial"/>
                <a:ea typeface="Malgun Gothic"/>
                <a:cs typeface="Malgun Gothic"/>
              </a:rPr>
              <a:t>fₜ</a:t>
            </a:r>
            <a:r>
              <a:rPr sz="1050" b="0" i="0">
                <a:solidFill>
                  <a:srgbClr val="16213A"/>
                </a:solidFill>
                <a:latin typeface="Arial"/>
                <a:ea typeface="Malgun Gothic"/>
                <a:cs typeface="Malgun Gothic"/>
              </a:rPr>
              <a:t>, 잠재 </a:t>
            </a:r>
            <a:r>
              <a:rPr sz="1050" b="0" i="1">
                <a:solidFill>
                  <a:srgbClr val="16213A"/>
                </a:solidFill>
                <a:latin typeface="Arial"/>
                <a:ea typeface="Malgun Gothic"/>
                <a:cs typeface="Malgun Gothic"/>
              </a:rPr>
              <a:t>zₜ</a:t>
            </a:r>
            <a:r>
              <a:rPr sz="1050" b="0" i="0">
                <a:solidFill>
                  <a:srgbClr val="16213A"/>
                </a:solidFill>
                <a:latin typeface="Arial"/>
                <a:ea typeface="Malgun Gothic"/>
                <a:cs typeface="Malgun Gothic"/>
              </a:rPr>
              <a:t>를 함께 낸다. 디코더는 </a:t>
            </a:r>
            <a:r>
              <a:rPr sz="1050" b="0" i="1">
                <a:solidFill>
                  <a:srgbClr val="16213A"/>
                </a:solidFill>
                <a:latin typeface="Arial"/>
                <a:ea typeface="Malgun Gothic"/>
                <a:cs typeface="Malgun Gothic"/>
              </a:rPr>
              <a:t>zₜ</a:t>
            </a:r>
            <a:r>
              <a:rPr sz="1050" b="0" i="0">
                <a:solidFill>
                  <a:srgbClr val="16213A"/>
                </a:solidFill>
                <a:latin typeface="Arial"/>
                <a:ea typeface="Malgun Gothic"/>
                <a:cs typeface="Malgun Gothic"/>
              </a:rPr>
              <a:t>로 다음 관측 </a:t>
            </a:r>
            <a:r>
              <a:rPr sz="1050" b="0" i="1">
                <a:solidFill>
                  <a:srgbClr val="16213A"/>
                </a:solidFill>
                <a:latin typeface="Arial"/>
                <a:ea typeface="Malgun Gothic"/>
                <a:cs typeface="Malgun Gothic"/>
              </a:rPr>
              <a:t>oₜ₊₁</a:t>
            </a:r>
            <a:r>
              <a:rPr sz="1050" b="0" i="0">
                <a:solidFill>
                  <a:srgbClr val="16213A"/>
                </a:solidFill>
                <a:latin typeface="Arial"/>
                <a:ea typeface="Malgun Gothic"/>
                <a:cs typeface="Malgun Gothic"/>
              </a:rPr>
              <a:t>을 복원한다.</a:t>
            </a:r>
          </a:p>
        </p:txBody>
      </p:sp>
      <p:pic>
        <p:nvPicPr>
          <p:cNvPr id="12" name="Picture 11" descr="image.png"/>
          <p:cNvPicPr>
            <a:picLocks noChangeAspect="1"/>
          </p:cNvPicPr>
          <p:nvPr/>
        </p:nvPicPr>
        <p:blipFill>
          <a:blip r:embed="rId4"/>
          <a:stretch>
            <a:fillRect/>
          </a:stretch>
        </p:blipFill>
        <p:spPr>
          <a:xfrm>
            <a:off x="609600" y="4497288"/>
            <a:ext cx="3098800" cy="225425"/>
          </a:xfrm>
          <a:prstGeom prst="rect">
            <a:avLst/>
          </a:prstGeom>
        </p:spPr>
      </p:pic>
      <p:sp>
        <p:nvSpPr>
          <p:cNvPr id="13" name="TextBox 12"/>
          <p:cNvSpPr txBox="1"/>
          <p:nvPr/>
        </p:nvSpPr>
        <p:spPr>
          <a:xfrm>
            <a:off x="609600" y="4762103"/>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고장 벡터는 관절마다 예/아니오라 BCE로 학습한다(배경: BCE와 다중 레이블 토글 참고). 속도는 MSE, 잠재는 복원 + KL(β-VAE 방식)이다. 그다음 </a:t>
            </a:r>
            <a:r>
              <a:rPr sz="1050" b="1" i="0">
                <a:solidFill>
                  <a:srgbClr val="16213A"/>
                </a:solidFill>
                <a:latin typeface="Arial"/>
                <a:ea typeface="Malgun Gothic"/>
                <a:cs typeface="Malgun Gothic"/>
              </a:rPr>
              <a:t>변조 모델</a:t>
            </a:r>
            <a:r>
              <a:rPr sz="1050" b="0" i="0">
                <a:solidFill>
                  <a:srgbClr val="16213A"/>
                </a:solidFill>
                <a:latin typeface="Arial"/>
                <a:ea typeface="Malgun Gothic"/>
                <a:cs typeface="Malgun Gothic"/>
              </a:rPr>
              <a:t>이 추정한 고장 벡터로 잠재를 아핀 변환한다.</a:t>
            </a:r>
          </a:p>
        </p:txBody>
      </p:sp>
      <p:pic>
        <p:nvPicPr>
          <p:cNvPr id="14" name="Picture 13" descr="image.png"/>
          <p:cNvPicPr>
            <a:picLocks noChangeAspect="1"/>
          </p:cNvPicPr>
          <p:nvPr/>
        </p:nvPicPr>
        <p:blipFill>
          <a:blip r:embed="rId5"/>
          <a:stretch>
            <a:fillRect/>
          </a:stretch>
        </p:blipFill>
        <p:spPr>
          <a:xfrm>
            <a:off x="609600" y="5283994"/>
            <a:ext cx="1647825" cy="241300"/>
          </a:xfrm>
          <a:prstGeom prst="rect">
            <a:avLst/>
          </a:prstGeom>
        </p:spPr>
      </p:pic>
      <p:sp>
        <p:nvSpPr>
          <p:cNvPr id="15" name="TextBox 14"/>
          <p:cNvSpPr txBox="1"/>
          <p:nvPr/>
        </p:nvSpPr>
        <p:spPr>
          <a:xfrm>
            <a:off x="609600" y="5561509"/>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9개(문단·식·그림)는 대시보드 리서치 탭의 "자세히: DreamFLEX의 방법과 수식" 토글에 있다.</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배경: 이진 교차 엔트로피(BCE)와 다중 레이블 추정 — 여러 개의 예/아니오를 동시에 맞히기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306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이진 교차 엔트로피(binary cross-entropy, BCE)는 예/아니오 하나를 확률로 맞히는 문제의 손실이다. 정답 </a:t>
            </a:r>
            <a:r>
              <a:rPr sz="1050" b="0" i="1">
                <a:solidFill>
                  <a:srgbClr val="16213A"/>
                </a:solidFill>
                <a:latin typeface="Arial"/>
                <a:ea typeface="Malgun Gothic"/>
                <a:cs typeface="Malgun Gothic"/>
              </a:rPr>
              <a:t>y ∈ {0, 1}</a:t>
            </a:r>
            <a:r>
              <a:rPr sz="1050" b="0" i="0">
                <a:solidFill>
                  <a:srgbClr val="16213A"/>
                </a:solidFill>
                <a:latin typeface="Arial"/>
                <a:ea typeface="Malgun Gothic"/>
                <a:cs typeface="Malgun Gothic"/>
              </a:rPr>
              <a:t>, 예측 확률 </a:t>
            </a:r>
            <a:r>
              <a:rPr sz="1050" b="0" i="1">
                <a:solidFill>
                  <a:srgbClr val="16213A"/>
                </a:solidFill>
                <a:latin typeface="Arial"/>
                <a:ea typeface="Malgun Gothic"/>
                <a:cs typeface="Malgun Gothic"/>
              </a:rPr>
              <a:t>p = sigmoid(s) = 1/(1 + e^(-s))</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는 망의 출력 로짓)일 때 다음과 같다.</a:t>
            </a:r>
          </a:p>
        </p:txBody>
      </p:sp>
      <p:pic>
        <p:nvPicPr>
          <p:cNvPr id="6" name="Picture 5" descr="image.png"/>
          <p:cNvPicPr>
            <a:picLocks noChangeAspect="1"/>
          </p:cNvPicPr>
          <p:nvPr/>
        </p:nvPicPr>
        <p:blipFill>
          <a:blip r:embed="rId3"/>
          <a:stretch>
            <a:fillRect/>
          </a:stretch>
        </p:blipFill>
        <p:spPr>
          <a:xfrm>
            <a:off x="609600" y="1766491"/>
            <a:ext cx="3235325" cy="241300"/>
          </a:xfrm>
          <a:prstGeom prst="rect">
            <a:avLst/>
          </a:prstGeom>
        </p:spPr>
      </p:pic>
      <p:sp>
        <p:nvSpPr>
          <p:cNvPr id="7" name="TextBox 6"/>
          <p:cNvSpPr txBox="1"/>
          <p:nvPr/>
        </p:nvSpPr>
        <p:spPr>
          <a:xfrm>
            <a:off x="609600" y="2044005"/>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y = 1</a:t>
            </a:r>
            <a:r>
              <a:rPr sz="1050" b="0" i="0">
                <a:solidFill>
                  <a:srgbClr val="16213A"/>
                </a:solidFill>
                <a:latin typeface="Arial"/>
                <a:ea typeface="Malgun Gothic"/>
                <a:cs typeface="Malgun Gothic"/>
              </a:rPr>
              <a:t>이면 </a:t>
            </a:r>
            <a:r>
              <a:rPr sz="1050" b="0" i="1">
                <a:solidFill>
                  <a:srgbClr val="16213A"/>
                </a:solidFill>
                <a:latin typeface="Arial"/>
                <a:ea typeface="Malgun Gothic"/>
                <a:cs typeface="Malgun Gothic"/>
              </a:rPr>
              <a:t>-log p</a:t>
            </a:r>
            <a:r>
              <a:rPr sz="1050" b="0" i="0">
                <a:solidFill>
                  <a:srgbClr val="16213A"/>
                </a:solidFill>
                <a:latin typeface="Arial"/>
                <a:ea typeface="Malgun Gothic"/>
                <a:cs typeface="Malgun Gothic"/>
              </a:rPr>
              <a:t>만 남는다.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가 1에 가까우면 0, 0에 가까우면 커진다. 정답 분포와 예측 분포 사이의 교차 엔트로피이고, 베르누이 분포의 음의 로그우도와 같다.</a:t>
            </a:r>
          </a:p>
        </p:txBody>
      </p:sp>
      <p:sp>
        <p:nvSpPr>
          <p:cNvPr id="8" name="TextBox 7"/>
          <p:cNvSpPr txBox="1"/>
          <p:nvPr/>
        </p:nvSpPr>
        <p:spPr>
          <a:xfrm>
            <a:off x="609600" y="234940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다중 레이블.</a:t>
            </a:r>
            <a:r>
              <a:rPr sz="1050" b="0" i="0">
                <a:solidFill>
                  <a:srgbClr val="16213A"/>
                </a:solidFill>
                <a:latin typeface="Arial"/>
                <a:ea typeface="Malgun Gothic"/>
                <a:cs typeface="Malgun Gothic"/>
              </a:rPr>
              <a:t> 관절 12개 각각이 고장인지 묻는 문제는 답이 12개다. 이때 두 가지 방식이 있다.</a:t>
            </a:r>
          </a:p>
        </p:txBody>
      </p:sp>
      <p:sp>
        <p:nvSpPr>
          <p:cNvPr id="9" name="TextBox 8"/>
          <p:cNvSpPr txBox="1"/>
          <p:nvPr/>
        </p:nvSpPr>
        <p:spPr>
          <a:xfrm>
            <a:off x="609600" y="2654796"/>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다중 클래스(softmax): "12개 중 </a:t>
            </a:r>
            <a:r>
              <a:rPr sz="1050" b="1" i="0">
                <a:solidFill>
                  <a:srgbClr val="16213A"/>
                </a:solidFill>
                <a:latin typeface="Arial"/>
                <a:ea typeface="Malgun Gothic"/>
                <a:cs typeface="Malgun Gothic"/>
              </a:rPr>
              <a:t>어느 하나</a:t>
            </a:r>
            <a:r>
              <a:rPr sz="1050" b="0" i="0">
                <a:solidFill>
                  <a:srgbClr val="16213A"/>
                </a:solidFill>
                <a:latin typeface="Arial"/>
                <a:ea typeface="Malgun Gothic"/>
                <a:cs typeface="Malgun Gothic"/>
              </a:rPr>
              <a:t>가 고장인가". 확률 합이 1이라 동시 고장을 표현할 수 없다.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다중 레이블(sigmoid × 12): 관절마다 따로 sigmoid를 두고 BCE를 더한다. 여러 관절이 동시에 고장이어도 되고, 모두 정상이어도 된다.</a:t>
            </a:r>
          </a:p>
        </p:txBody>
      </p:sp>
      <p:pic>
        <p:nvPicPr>
          <p:cNvPr id="10" name="Picture 9" descr="image.png"/>
          <p:cNvPicPr>
            <a:picLocks noChangeAspect="1"/>
          </p:cNvPicPr>
          <p:nvPr/>
        </p:nvPicPr>
        <p:blipFill>
          <a:blip r:embed="rId4"/>
          <a:stretch>
            <a:fillRect/>
          </a:stretch>
        </p:blipFill>
        <p:spPr>
          <a:xfrm>
            <a:off x="609600" y="3202087"/>
            <a:ext cx="2546350" cy="520700"/>
          </a:xfrm>
          <a:prstGeom prst="rect">
            <a:avLst/>
          </a:prstGeom>
        </p:spPr>
      </p:pic>
      <p:sp>
        <p:nvSpPr>
          <p:cNvPr id="11" name="TextBox 10"/>
          <p:cNvSpPr txBox="1"/>
          <p:nvPr/>
        </p:nvSpPr>
        <p:spPr>
          <a:xfrm>
            <a:off x="609600" y="372060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DreamFLEX의 고장 벡터 </a:t>
            </a:r>
            <a:r>
              <a:rPr sz="1050" b="0" i="1">
                <a:solidFill>
                  <a:srgbClr val="16213A"/>
                </a:solidFill>
                <a:latin typeface="Arial"/>
                <a:ea typeface="Malgun Gothic"/>
                <a:cs typeface="Malgun Gothic"/>
              </a:rPr>
              <a:t>fₜ</a:t>
            </a:r>
            <a:r>
              <a:rPr sz="1050" b="0" i="0">
                <a:solidFill>
                  <a:srgbClr val="16213A"/>
                </a:solidFill>
                <a:latin typeface="Arial"/>
                <a:ea typeface="Malgun Gothic"/>
                <a:cs typeface="Malgun Gothic"/>
              </a:rPr>
              <a:t>가 다중 레이블이다. 정상 에이전트는 12개 모두 0이다.</a:t>
            </a:r>
          </a:p>
        </p:txBody>
      </p:sp>
      <p:sp>
        <p:nvSpPr>
          <p:cNvPr id="12" name="TextBox 11"/>
          <p:cNvSpPr txBox="1"/>
          <p:nvPr/>
        </p:nvSpPr>
        <p:spPr>
          <a:xfrm>
            <a:off x="609600" y="402599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MSE가 아닌가.</a:t>
            </a:r>
            <a:r>
              <a:rPr sz="1050" b="0" i="0">
                <a:solidFill>
                  <a:srgbClr val="16213A"/>
                </a:solidFill>
                <a:latin typeface="Arial"/>
                <a:ea typeface="Malgun Gothic"/>
                <a:cs typeface="Malgun Gothic"/>
              </a:rPr>
              <a:t> sigmoid 출력에 MSE를 쓰면 틀렸는데도 기울기가 사라질 수 있다. 로짓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에 대한 기울기를 비교하면 다음과 같다.</a:t>
            </a:r>
          </a:p>
        </p:txBody>
      </p:sp>
      <p:pic>
        <p:nvPicPr>
          <p:cNvPr id="13" name="Picture 12" descr="image.png"/>
          <p:cNvPicPr>
            <a:picLocks noChangeAspect="1"/>
          </p:cNvPicPr>
          <p:nvPr/>
        </p:nvPicPr>
        <p:blipFill>
          <a:blip r:embed="rId5"/>
          <a:stretch>
            <a:fillRect/>
          </a:stretch>
        </p:blipFill>
        <p:spPr>
          <a:xfrm>
            <a:off x="609600" y="4331395"/>
            <a:ext cx="3784600" cy="393700"/>
          </a:xfrm>
          <a:prstGeom prst="rect">
            <a:avLst/>
          </a:prstGeom>
        </p:spPr>
      </p:pic>
      <p:sp>
        <p:nvSpPr>
          <p:cNvPr id="14" name="TextBox 13"/>
          <p:cNvSpPr txBox="1"/>
          <p:nvPr/>
        </p:nvSpPr>
        <p:spPr>
          <a:xfrm>
            <a:off x="609600" y="473958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정답이 고장(</a:t>
            </a:r>
            <a:r>
              <a:rPr sz="1050" b="0" i="1">
                <a:solidFill>
                  <a:srgbClr val="16213A"/>
                </a:solidFill>
                <a:latin typeface="Arial"/>
                <a:ea typeface="Malgun Gothic"/>
                <a:cs typeface="Malgun Gothic"/>
              </a:rPr>
              <a:t>y = 1</a:t>
            </a:r>
            <a:r>
              <a:rPr sz="1050" b="0" i="0">
                <a:solidFill>
                  <a:srgbClr val="16213A"/>
                </a:solidFill>
                <a:latin typeface="Arial"/>
                <a:ea typeface="Malgun Gothic"/>
                <a:cs typeface="Malgun Gothic"/>
              </a:rPr>
              <a:t>)인데 망이 </a:t>
            </a:r>
            <a:r>
              <a:rPr sz="1050" b="0" i="1">
                <a:solidFill>
                  <a:srgbClr val="16213A"/>
                </a:solidFill>
                <a:latin typeface="Arial"/>
                <a:ea typeface="Malgun Gothic"/>
                <a:cs typeface="Malgun Gothic"/>
              </a:rPr>
              <a:t>p = 0.01</a:t>
            </a:r>
            <a:r>
              <a:rPr sz="1050" b="0" i="0">
                <a:solidFill>
                  <a:srgbClr val="16213A"/>
                </a:solidFill>
                <a:latin typeface="Arial"/>
                <a:ea typeface="Malgun Gothic"/>
                <a:cs typeface="Malgun Gothic"/>
              </a:rPr>
              <a:t>로 크게 틀렸다고 하자. BCE 기울기는 </a:t>
            </a:r>
            <a:r>
              <a:rPr sz="1050" b="0" i="1">
                <a:solidFill>
                  <a:srgbClr val="16213A"/>
                </a:solidFill>
                <a:latin typeface="Arial"/>
                <a:ea typeface="Malgun Gothic"/>
                <a:cs typeface="Malgun Gothic"/>
              </a:rPr>
              <a:t>-0.99</a:t>
            </a:r>
            <a:r>
              <a:rPr sz="1050" b="0" i="0">
                <a:solidFill>
                  <a:srgbClr val="16213A"/>
                </a:solidFill>
                <a:latin typeface="Arial"/>
                <a:ea typeface="Malgun Gothic"/>
                <a:cs typeface="Malgun Gothic"/>
              </a:rPr>
              <a:t>로 크다. MSE 기울기는 </a:t>
            </a:r>
            <a:r>
              <a:rPr sz="1050" b="0" i="1">
                <a:solidFill>
                  <a:srgbClr val="16213A"/>
                </a:solidFill>
                <a:latin typeface="Arial"/>
                <a:ea typeface="Malgun Gothic"/>
                <a:cs typeface="Malgun Gothic"/>
              </a:rPr>
              <a:t>2 × (-0.99) × 0.01 × 0.99 ≈ -0.02</a:t>
            </a:r>
            <a:r>
              <a:rPr sz="1050" b="0" i="0">
                <a:solidFill>
                  <a:srgbClr val="16213A"/>
                </a:solidFill>
                <a:latin typeface="Arial"/>
                <a:ea typeface="Malgun Gothic"/>
                <a:cs typeface="Malgun Gothic"/>
              </a:rPr>
              <a:t>로 50배쯤 작다. sigmoid가 포화된 곳에서 MSE는 거의 배우지 못한다. DreamFLEX 원문도 "BCE는 확률을 직접 최적화해 이진 추정에서 MSE보다 낫다"를 선택 이유로 든다.</a:t>
            </a:r>
          </a:p>
        </p:txBody>
      </p:sp>
      <p:sp>
        <p:nvSpPr>
          <p:cNvPr id="15" name="TextBox 14"/>
          <p:cNvSpPr txBox="1"/>
          <p:nvPr/>
        </p:nvSpPr>
        <p:spPr>
          <a:xfrm>
            <a:off x="609600" y="526147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 쓰는 곳.</a:t>
            </a:r>
            <a:r>
              <a:rPr sz="1050" b="0" i="0">
                <a:solidFill>
                  <a:srgbClr val="16213A"/>
                </a:solidFill>
                <a:latin typeface="Arial"/>
                <a:ea typeface="Malgun Gothic"/>
                <a:cs typeface="Malgun Gothic"/>
              </a:rPr>
              <a:t> DreamFLEX FEMNet의 </a:t>
            </a:r>
            <a:r>
              <a:rPr sz="1050" b="0" i="1">
                <a:solidFill>
                  <a:srgbClr val="16213A"/>
                </a:solidFill>
                <a:latin typeface="Arial"/>
                <a:ea typeface="Malgun Gothic"/>
                <a:cs typeface="Malgun Gothic"/>
              </a:rPr>
              <a:t>ℒ_(est,f)</a:t>
            </a:r>
            <a:r>
              <a:rPr sz="1050" b="0" i="0">
                <a:solidFill>
                  <a:srgbClr val="16213A"/>
                </a:solidFill>
                <a:latin typeface="Arial"/>
                <a:ea typeface="Malgun Gothic"/>
                <a:cs typeface="Malgun Gothic"/>
              </a:rPr>
              <a:t>가 이 손실이다. 추정 확률 </a:t>
            </a:r>
            <a:r>
              <a:rPr sz="1050" b="0" i="1">
                <a:solidFill>
                  <a:srgbClr val="16213A"/>
                </a:solidFill>
                <a:latin typeface="Arial"/>
                <a:ea typeface="Malgun Gothic"/>
                <a:cs typeface="Malgun Gothic"/>
              </a:rPr>
              <a:t>pᵢ</a:t>
            </a:r>
            <a:r>
              <a:rPr sz="1050" b="0" i="0">
                <a:solidFill>
                  <a:srgbClr val="16213A"/>
                </a:solidFill>
                <a:latin typeface="Arial"/>
                <a:ea typeface="Malgun Gothic"/>
                <a:cs typeface="Malgun Gothic"/>
              </a:rPr>
              <a:t>는 정책 입력과 잠재 변조에 그대로 들어가므로, 0/1로 자르지 않은 부드러운 "고장 믿음"으로 쓰인다.</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자세히: OpenHEART의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307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다리 달린 매니퓰레이터(4족 + 로봇팔)로 모양과 여는 방식이 제각각인 물체(문·서랍·캐비닛)를 여는 과제다. 이전 연구(Zhang 외 2025 등)는 한 종류의 문만 다뤘고, 손잡이 중심과 문틀 위치만으로 물체를 표현했다. 여러 종류로 넓히려면 손잡이 모양, 여는 방향을 알아야 한다. 점군·영상을 그대로 넣으면 정보는 많지만, 자유도가 많고 몸통이 떠 있는 로봇에서는 학습 표본이 너무 많이 든다. OpenHEART는 물체를 저차원으로 요약하고(SAFE), 여는 방향을 시각과 proprioception을 섞어 추정한다(ArtIEst).</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계층.</a:t>
            </a:r>
            <a:r>
              <a:rPr sz="1050" b="0" i="0">
                <a:solidFill>
                  <a:srgbClr val="16213A"/>
                </a:solidFill>
                <a:latin typeface="Arial"/>
                <a:ea typeface="Malgun Gothic"/>
                <a:cs typeface="Malgun Gothic"/>
              </a:rPr>
              <a:t> 하위 제어기는 명령 </a:t>
            </a:r>
            <a:r>
              <a:rPr sz="1050" b="0" i="1">
                <a:solidFill>
                  <a:srgbClr val="16213A"/>
                </a:solidFill>
                <a:latin typeface="Arial"/>
                <a:ea typeface="Malgun Gothic"/>
                <a:cs typeface="Malgun Gothic"/>
              </a:rPr>
              <a:t>cₜ</a:t>
            </a:r>
            <a:r>
              <a:rPr sz="1050" b="0" i="0">
                <a:solidFill>
                  <a:srgbClr val="16213A"/>
                </a:solidFill>
                <a:latin typeface="Arial"/>
                <a:ea typeface="Malgun Gothic"/>
                <a:cs typeface="Malgun Gothic"/>
              </a:rPr>
              <a:t>(말단 자세, 몸통 속도, 그리퍼 닫기 여부)를 따라 관절 목표를 낸다. 이력 인코더로 환경 상태를 추정하는 방식으로 RL로 먼저 학습한다. 상위 planner가 문을 열기 위한 </a:t>
            </a:r>
            <a:r>
              <a:rPr sz="1050" b="0" i="1">
                <a:solidFill>
                  <a:srgbClr val="16213A"/>
                </a:solidFill>
                <a:latin typeface="Arial"/>
                <a:ea typeface="Malgun Gothic"/>
                <a:cs typeface="Malgun Gothic"/>
              </a:rPr>
              <a:t>cₜ</a:t>
            </a:r>
            <a:r>
              <a:rPr sz="1050" b="0" i="0">
                <a:solidFill>
                  <a:srgbClr val="16213A"/>
                </a:solidFill>
                <a:latin typeface="Arial"/>
                <a:ea typeface="Malgun Gothic"/>
                <a:cs typeface="Malgun Gothic"/>
              </a:rPr>
              <a:t>를 낸다. 둘 다 50 Hz다.</a:t>
            </a:r>
          </a:p>
        </p:txBody>
      </p:sp>
      <p:sp>
        <p:nvSpPr>
          <p:cNvPr id="7" name="TextBox 6"/>
          <p:cNvSpPr txBox="1"/>
          <p:nvPr/>
        </p:nvSpPr>
        <p:spPr>
          <a:xfrm>
            <a:off x="609600" y="25048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SAFE(표본 기반 추상 특징).</a:t>
            </a:r>
            <a:r>
              <a:rPr sz="1050" b="0" i="0">
                <a:solidFill>
                  <a:srgbClr val="16213A"/>
                </a:solidFill>
                <a:latin typeface="Arial"/>
                <a:ea typeface="Malgun Gothic"/>
                <a:cs typeface="Malgun Gothic"/>
              </a:rPr>
              <a:t> 여는 데 중요한 것은 손잡이와 문판의 각 변의 </a:t>
            </a:r>
            <a:r>
              <a:rPr sz="1050" b="1" i="0">
                <a:solidFill>
                  <a:srgbClr val="16213A"/>
                </a:solidFill>
                <a:latin typeface="Arial"/>
                <a:ea typeface="Malgun Gothic"/>
                <a:cs typeface="Malgun Gothic"/>
              </a:rPr>
              <a:t>상대 길이</a:t>
            </a:r>
            <a:r>
              <a:rPr sz="1050" b="0" i="0">
                <a:solidFill>
                  <a:srgbClr val="16213A"/>
                </a:solidFill>
                <a:latin typeface="Arial"/>
                <a:ea typeface="Malgun Gothic"/>
                <a:cs typeface="Malgun Gothic"/>
              </a:rPr>
              <a:t>다. 손잡이 길이 비는 잡는 방법을, 문판 비는 여는 방향을 암시한다. 그래서 세부 모양을 버리고 손잡이와 문판을 각각 감싸는 직육면체로 줄인다. 학습 때는 데이터셋의 부품 주석에서, 배포 때는 물체 검출기로 직육면체를 얻는다. 그다음이 핵심이다. 직육면체의 꼭짓점 8개를 쓰지 않고, </a:t>
            </a:r>
            <a:r>
              <a:rPr sz="1050" b="1" i="0">
                <a:solidFill>
                  <a:srgbClr val="16213A"/>
                </a:solidFill>
                <a:latin typeface="Arial"/>
                <a:ea typeface="Malgun Gothic"/>
                <a:cs typeface="Malgun Gothic"/>
              </a:rPr>
              <a:t>내부에서 균일하게 뽑은 점들</a:t>
            </a:r>
            <a:r>
              <a:rPr sz="1050" b="0" i="0">
                <a:solidFill>
                  <a:srgbClr val="16213A"/>
                </a:solidFill>
                <a:latin typeface="Arial"/>
                <a:ea typeface="Malgun Gothic"/>
                <a:cs typeface="Malgun Gothic"/>
              </a:rPr>
              <a:t>로 바꾼다. 근거는 데이터 처리 부등식이다.</a:t>
            </a:r>
          </a:p>
        </p:txBody>
      </p:sp>
      <p:pic>
        <p:nvPicPr>
          <p:cNvPr id="8" name="Picture 7" descr="image.png"/>
          <p:cNvPicPr>
            <a:picLocks noChangeAspect="1"/>
          </p:cNvPicPr>
          <p:nvPr/>
        </p:nvPicPr>
        <p:blipFill>
          <a:blip r:embed="rId3"/>
          <a:stretch>
            <a:fillRect/>
          </a:stretch>
        </p:blipFill>
        <p:spPr>
          <a:xfrm>
            <a:off x="609600" y="3243262"/>
            <a:ext cx="2968625" cy="241300"/>
          </a:xfrm>
          <a:prstGeom prst="rect">
            <a:avLst/>
          </a:prstGeom>
        </p:spPr>
      </p:pic>
      <p:sp>
        <p:nvSpPr>
          <p:cNvPr id="9" name="TextBox 8"/>
          <p:cNvSpPr txBox="1"/>
          <p:nvPr/>
        </p:nvSpPr>
        <p:spPr>
          <a:xfrm>
            <a:off x="609600" y="3520777"/>
            <a:ext cx="10972800" cy="649486"/>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P_C</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Q_C</a:t>
            </a:r>
            <a:r>
              <a:rPr sz="1050" b="0" i="0">
                <a:solidFill>
                  <a:srgbClr val="16213A"/>
                </a:solidFill>
                <a:latin typeface="Arial"/>
                <a:ea typeface="Malgun Gothic"/>
                <a:cs typeface="Malgun Gothic"/>
              </a:rPr>
              <a:t>는 학습·시험 물체의 꼭짓점 분포이고 </a:t>
            </a:r>
            <a:r>
              <a:rPr sz="1050" b="0" i="1">
                <a:solidFill>
                  <a:srgbClr val="16213A"/>
                </a:solidFill>
                <a:latin typeface="Arial"/>
                <a:ea typeface="Malgun Gothic"/>
                <a:cs typeface="Malgun Gothic"/>
              </a:rPr>
              <a:t>f_C</a:t>
            </a:r>
            <a:r>
              <a:rPr sz="1050" b="0" i="0">
                <a:solidFill>
                  <a:srgbClr val="16213A"/>
                </a:solidFill>
                <a:latin typeface="Arial"/>
                <a:ea typeface="Malgun Gothic"/>
                <a:cs typeface="Malgun Gothic"/>
              </a:rPr>
              <a:t>는 어떤 후처리다. 후처리는 두 분포의 구별 가능성을 늘릴 수 없다. 무작위 표본 추출은 정보를 일부 버리므로 학습–시험 분포 차가 줄어, 학습 물체에 과적합할 위험이 준다는 논리다. 뽑은 점은 순서가 무작위라 정책이 일관된 대응을 배우기 어렵다. 그래서 직육면체 가로축을 따라 정렬한다. 에피소드 시작 때 한 번 뽑고, 로봇 몸체 좌표로 옮겨 쓴다(배경: SE(3) 변환 토글 참고).</a:t>
            </a:r>
          </a:p>
        </p:txBody>
      </p:sp>
      <p:sp>
        <p:nvSpPr>
          <p:cNvPr id="10" name="TextBox 9"/>
          <p:cNvSpPr txBox="1"/>
          <p:nvPr/>
        </p:nvSpPr>
        <p:spPr>
          <a:xfrm>
            <a:off x="609600" y="4259163"/>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13개(문단·식·그림)는 대시보드 리서치 탭의 "자세히: OpenHEART의 방법과 수식" 토글에 있다.</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308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A.7.2 ETH RSL 계보 — travplan이 쓰는 인식 도구가 거의 다 여기서 나왔다</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travplan의 L1 인식 루프에 들어가는 코드가 대부분 한 연구실 것이다.</a:t>
            </a:r>
            <a:r>
              <a:rPr sz="1050" b="0" i="0">
                <a:solidFill>
                  <a:srgbClr val="16213A"/>
                </a:solidFill>
                <a:latin typeface="Arial"/>
                <a:ea typeface="Malgun Gothic"/>
                <a:cs typeface="Malgun Gothic"/>
              </a:rPr>
              <a:t> ETH Zürich의 Robotic Systems Lab(Marco Hutter)이고, 같은 계보를 Planner 쪽에서 본 것이 Planner 문서 B.14, 하위 제어 쪽에서 본 것이 Controller 문서 F.1이다. 여기서는 </a:t>
            </a:r>
            <a:r>
              <a:rPr sz="1050" b="1" i="0">
                <a:solidFill>
                  <a:srgbClr val="16213A"/>
                </a:solidFill>
                <a:latin typeface="Arial"/>
                <a:ea typeface="Malgun Gothic"/>
                <a:cs typeface="Malgun Gothic"/>
              </a:rPr>
              <a:t>인식 도구만</a:t>
            </a:r>
            <a:r>
              <a:rPr sz="1050" b="0" i="0">
                <a:solidFill>
                  <a:srgbClr val="16213A"/>
                </a:solidFill>
                <a:latin typeface="Arial"/>
                <a:ea typeface="Malgun Gothic"/>
                <a:cs typeface="Malgun Gothic"/>
              </a:rPr>
              <a:t> 시간순으로 모은다.</a:t>
            </a:r>
          </a:p>
        </p:txBody>
      </p:sp>
      <p:graphicFrame>
        <p:nvGraphicFramePr>
          <p:cNvPr id="7" name="Table 6"/>
          <p:cNvGraphicFramePr>
            <a:graphicFrameLocks noGrp="1"/>
          </p:cNvGraphicFramePr>
          <p:nvPr/>
        </p:nvGraphicFramePr>
        <p:xfrm>
          <a:off x="609600" y="2069703"/>
          <a:ext cx="10966450" cy="1863168"/>
        </p:xfrm>
        <a:graphic>
          <a:graphicData uri="http://schemas.openxmlformats.org/drawingml/2006/table">
            <a:tbl>
              <a:tblPr firstRow="1" bandRow="1">
                <a:tableStyleId>{5C22544A-7EE6-4342-B048-85BDC9FD1C3A}</a:tableStyleId>
              </a:tblPr>
              <a:tblGrid>
                <a:gridCol w="481310"/>
                <a:gridCol w="4609902"/>
                <a:gridCol w="3795415"/>
                <a:gridCol w="2079823"/>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도구·논문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하는 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2014–</a:t>
                      </a:r>
                    </a:p>
                  </a:txBody>
                  <a:tcPr marL="63500" marR="63500" marT="12700" marB="12700">
                    <a:solidFill>
                      <a:srgbClr val="FFFDF8"/>
                    </a:solidFill>
                  </a:tcPr>
                </a:tc>
                <a:tc>
                  <a:txBody>
                    <a:bodyPr wrap="square"/>
                    <a:lstStyle/>
                    <a:p>
                      <a:r>
                        <a:rPr sz="800" b="0" i="0">
                          <a:solidFill>
                            <a:srgbClr val="1D4ED8"/>
                          </a:solidFill>
                          <a:latin typeface="Consolas"/>
                          <a:ea typeface="Malgun Gothic"/>
                          <a:cs typeface="Malgun Gothic"/>
                          <a:hlinkClick r:id="rId3"/>
                        </a:rPr>
                        <a:t>ANYbotics/elevation_mapping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로봇 중심 고도 지도. 자세 불확실성을 고도 분산으로 전파한다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계보의 출발점(CPU)</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2014–</a:t>
                      </a:r>
                    </a:p>
                  </a:txBody>
                  <a:tcPr marL="63500" marR="63500" marT="12700" marB="12700">
                    <a:solidFill>
                      <a:srgbClr val="F3F0E8"/>
                    </a:solidFill>
                  </a:tcPr>
                </a:tc>
                <a:tc>
                  <a:txBody>
                    <a:bodyPr wrap="square"/>
                    <a:lstStyle/>
                    <a:p>
                      <a:r>
                        <a:rPr sz="800" b="0" i="0">
                          <a:solidFill>
                            <a:srgbClr val="1D4ED8"/>
                          </a:solidFill>
                          <a:latin typeface="Consolas"/>
                          <a:ea typeface="Malgun Gothic"/>
                          <a:cs typeface="Malgun Gothic"/>
                          <a:hlinkClick r:id="rId4"/>
                        </a:rPr>
                        <a:t>grid_map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다층 격자 지도 자료구조와 ROS 메시지</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GridSpec</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gridmap_bridge.py</a:t>
                      </a:r>
                      <a:r>
                        <a:rPr sz="800" b="0" i="0">
                          <a:solidFill>
                            <a:srgbClr val="16213A"/>
                          </a:solidFill>
                          <a:latin typeface="Arial"/>
                          <a:ea typeface="Malgun Gothic"/>
                          <a:cs typeface="Malgun Gothic"/>
                        </a:rPr>
                        <a:t>가 받는 형식</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2019–</a:t>
                      </a:r>
                    </a:p>
                  </a:txBody>
                  <a:tcPr marL="63500" marR="63500" marT="12700" marB="12700">
                    <a:solidFill>
                      <a:srgbClr val="FFFDF8"/>
                    </a:solidFill>
                  </a:tcPr>
                </a:tc>
                <a:tc>
                  <a:txBody>
                    <a:bodyPr wrap="square"/>
                    <a:lstStyle/>
                    <a:p>
                      <a:r>
                        <a:rPr sz="800" b="0" i="0">
                          <a:solidFill>
                            <a:srgbClr val="1D4ED8"/>
                          </a:solidFill>
                          <a:latin typeface="Consolas"/>
                          <a:ea typeface="Malgun Gothic"/>
                          <a:cs typeface="Malgun Gothic"/>
                          <a:hlinkClick r:id="rId5"/>
                        </a:rPr>
                        <a:t>traversability_estimation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고도 지도에서 법선·경사·거칠기·턱 높이 필터로 비용 레이어</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GeometricTraversability</a:t>
                      </a:r>
                      <a:r>
                        <a:rPr sz="800" b="0" i="0">
                          <a:solidFill>
                            <a:srgbClr val="16213A"/>
                          </a:solidFill>
                          <a:latin typeface="Arial"/>
                          <a:ea typeface="Malgun Gothic"/>
                          <a:cs typeface="Malgun Gothic"/>
                        </a:rPr>
                        <a:t>의 비학습 기준선</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2022</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elevation_mapping_cupy</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6"/>
                        </a:rPr>
                        <a:t>arXiv:2204.12876</a:t>
                      </a:r>
                      <a:r>
                        <a:rPr sz="800" b="0" i="0">
                          <a:solidFill>
                            <a:srgbClr val="16213A"/>
                          </a:solidFill>
                          <a:latin typeface="Arial"/>
                          <a:ea typeface="Malgun Gothic"/>
                          <a:cs typeface="Malgun Gothic"/>
                        </a:rPr>
                        <a:t>, IROS 2022, Miki·Wellhausen·Grandia·Jenelten·Homberger·Hutter)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위를 GPU로. </a:t>
                      </a:r>
                      <a:r>
                        <a:rPr sz="800" b="1" i="0">
                          <a:solidFill>
                            <a:srgbClr val="16213A"/>
                          </a:solidFill>
                          <a:latin typeface="Arial"/>
                          <a:ea typeface="Malgun Gothic"/>
                          <a:cs typeface="Malgun Gothic"/>
                        </a:rPr>
                        <a:t>학습 기반 traversability 필터</a:t>
                      </a:r>
                      <a:r>
                        <a:rPr sz="800" b="0" i="0">
                          <a:solidFill>
                            <a:srgbClr val="16213A"/>
                          </a:solidFill>
                          <a:latin typeface="Arial"/>
                          <a:ea typeface="Malgun Gothic"/>
                          <a:cs typeface="Malgun Gothic"/>
                        </a:rPr>
                        <a:t>, 평면 분할, 평활 필터를 함께 얹었다. DARPA SubT에서 ANYmal 4대에 실렸다</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travplan L1의 코어</a:t>
                      </a:r>
                      <a:r>
                        <a:rPr sz="800" b="0" i="0">
                          <a:solidFill>
                            <a:srgbClr val="16213A"/>
                          </a:solidFill>
                          <a:latin typeface="Arial"/>
                          <a:ea typeface="Malgun Gothic"/>
                          <a:cs typeface="Malgun Gothic"/>
                        </a:rPr>
                        <a:t>(TP-0008·TP-0053)</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Miki 외 (Science Robotics)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고유수용과 외수용을 belief encoder로 합쳐, 지도가 틀리면 고유수용으로 물러난다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A.7.1. Controller F.4의 신뢰도 필터와 같은 발상</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WVN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고정 시각 기반 모델 특징 위에서 현장 자기지도 traversability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A.10, TP-0010(TravNet)</a:t>
                      </a:r>
                    </a:p>
                  </a:txBody>
                  <a:tcPr marL="63500" marR="63500" marT="12700" marB="12700">
                    <a:solidFill>
                      <a:srgbClr val="F3F0E8"/>
                    </a:solidFill>
                  </a:tcPr>
                </a:tc>
              </a:tr>
            </a:tbl>
          </a:graphicData>
        </a:graphic>
      </p:graphicFrame>
      <p:sp>
        <p:nvSpPr>
          <p:cNvPr id="8" name="TextBox 7"/>
          <p:cNvSpPr txBox="1"/>
          <p:nvPr/>
        </p:nvSpPr>
        <p:spPr>
          <a:xfrm>
            <a:off x="609600" y="449391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elevation_mapping_cupy가 travplan에 준 것은 속도만이 아니다.</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이 패키지는 고도 지도 위에 </a:t>
            </a:r>
            <a:r>
              <a:rPr sz="1050" b="1" i="0">
                <a:solidFill>
                  <a:srgbClr val="C2410C"/>
                </a:solidFill>
                <a:latin typeface="Arial"/>
                <a:ea typeface="Malgun Gothic"/>
                <a:cs typeface="Malgun Gothic"/>
              </a:rPr>
              <a:t>학습 기반 traversability 필터</a:t>
            </a:r>
            <a:r>
              <a:rPr sz="1050" b="1" i="0">
                <a:solidFill>
                  <a:srgbClr val="C2410C"/>
                </a:solidFill>
                <a:latin typeface="Arial"/>
                <a:ea typeface="Malgun Gothic"/>
                <a:cs typeface="Malgun Gothic"/>
              </a:rPr>
              <a:t>를 함께 둔다.</a:t>
            </a:r>
            <a:r>
              <a:rPr sz="1050" b="0" i="0">
                <a:solidFill>
                  <a:srgbClr val="16213A"/>
                </a:solidFill>
                <a:latin typeface="Arial"/>
                <a:ea typeface="Malgun Gothic"/>
                <a:cs typeface="Malgun Gothic"/>
              </a:rPr>
              <a:t> travplan은 지금 그 필터를 쓰지 않고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의 기하 비용을 직접 만든다(</a:t>
            </a:r>
            <a:r>
              <a:rPr sz="1050" b="0" i="0">
                <a:solidFill>
                  <a:srgbClr val="16213A"/>
                </a:solidFill>
                <a:latin typeface="Consolas"/>
                <a:ea typeface="Malgun Gothic"/>
                <a:cs typeface="Malgun Gothic"/>
              </a:rPr>
              <a:t>GeometricTraversability</a:t>
            </a:r>
            <a:r>
              <a:rPr sz="1050" b="0" i="0">
                <a:solidFill>
                  <a:srgbClr val="16213A"/>
                </a:solidFill>
                <a:latin typeface="Arial"/>
                <a:ea typeface="Malgun Gothic"/>
                <a:cs typeface="Malgun Gothic"/>
              </a:rPr>
              <a:t>). 둘은 같은 자리를 다투는 구현이고, TravNet(TP-0010·0022)이 들어가려는 자리도 여기다. </a:t>
            </a:r>
            <a:r>
              <a:rPr sz="1050" b="1" i="0">
                <a:solidFill>
                  <a:srgbClr val="16213A"/>
                </a:solidFill>
                <a:latin typeface="Arial"/>
                <a:ea typeface="Malgun Gothic"/>
                <a:cs typeface="Malgun Gothic"/>
              </a:rPr>
              <a:t>비교 기준선이 이미 같은 패키지 안에 들어 있다는 뜻</a:t>
            </a:r>
            <a:r>
              <a:rPr sz="1050" b="0" i="0">
                <a:solidFill>
                  <a:srgbClr val="16213A"/>
                </a:solidFill>
                <a:latin typeface="Arial"/>
                <a:ea typeface="Malgun Gothic"/>
                <a:cs typeface="Malgun Gothic"/>
              </a:rPr>
              <a:t>이라, TP-0022의 평가에서 세 가지를 나란히 둘 수 있다 — 기하 필터, elevation_mapping_cupy의 학습 필터, travplan의 TravNet.</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자세히: elevation_mapping_cupy 논문의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309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기존 로봇 중심 elevation mapping(Fankhauser 2014·2018, CPU)은 점군이 많아지면 실시간을 못 따라갔다. Miki 2022 같은 빠른 보행 제어기에는 부족했다. 현장 배포에서 겪은 문제도 있었다. 자세 추정의 높이 드리프트가 지도에 턱 모양 인공물을 남겼고, 지나간 장애물이 지도에 오래 남았고, 로봇 가까이의 오버행은 벽으로 찍혀 계획기가 그 밑으로 지나가지 못했다. 이 논문은 전체를 </a:t>
            </a:r>
            <a:r>
              <a:rPr sz="1050" b="1" i="0">
                <a:solidFill>
                  <a:srgbClr val="16213A"/>
                </a:solidFill>
                <a:latin typeface="Arial"/>
                <a:ea typeface="Malgun Gothic"/>
                <a:cs typeface="Malgun Gothic"/>
              </a:rPr>
              <a:t>GPU로 옮기고</a:t>
            </a:r>
            <a:r>
              <a:rPr sz="1050" b="0" i="0">
                <a:solidFill>
                  <a:srgbClr val="16213A"/>
                </a:solidFill>
                <a:latin typeface="Arial"/>
                <a:ea typeface="Malgun Gothic"/>
                <a:cs typeface="Malgun Gothic"/>
              </a:rPr>
              <a:t>, 이런 현장 문제에 대응하는 기능을 더했다. 칸마다 높이를 합치는 기본 모델은 그대로다(배경: elevation map 토글 참고).</a:t>
            </a:r>
          </a:p>
        </p:txBody>
      </p:sp>
      <p:sp>
        <p:nvSpPr>
          <p:cNvPr id="6" name="TextBox 5"/>
          <p:cNvSpPr txBox="1"/>
          <p:nvPr/>
        </p:nvSpPr>
        <p:spPr>
          <a:xfrm>
            <a:off x="609600" y="19829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파이프라인(원문 Fig. 2).</a:t>
            </a:r>
            <a:r>
              <a:rPr sz="1050" b="0" i="0">
                <a:solidFill>
                  <a:srgbClr val="16213A"/>
                </a:solidFill>
                <a:latin typeface="Arial"/>
                <a:ea typeface="Malgun Gothic"/>
                <a:cs typeface="Malgun Gothic"/>
              </a:rPr>
              <a:t> 입력은 깊이 센서 점군과 추정 자세(SLAM 또는 오도메트리)다.</a:t>
            </a:r>
          </a:p>
        </p:txBody>
      </p:sp>
      <p:sp>
        <p:nvSpPr>
          <p:cNvPr id="7" name="TextBox 6"/>
          <p:cNvSpPr txBox="1"/>
          <p:nvPr/>
        </p:nvSpPr>
        <p:spPr>
          <a:xfrm>
            <a:off x="609600" y="2288381"/>
            <a:ext cx="10972800" cy="11840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점군을 GPU 메모리로 옮기고 지도 좌표로 변환한다. 동시에 높이 드리프트 오차를 센다.</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그 오차만큼 지도 전체를 옮겨 최신 측정에 맞춘다.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점마다 병렬로 칸 높이를 갱신하고, 같은 반복 안에서 광선 추적으로 뚫린 칸을 지우며 상한 층을 갱신한다.</a:t>
            </a:r>
          </a:p>
          <a:p>
            <a:pPr>
              <a:spcBef>
                <a:spcPts val="200"/>
              </a:spcBef>
            </a:pPr>
            <a:r>
              <a:rPr sz="1050" b="0" i="0">
                <a:solidFill>
                  <a:srgbClr val="5A6478"/>
                </a:solidFill>
                <a:latin typeface="Arial"/>
                <a:ea typeface="Malgun Gothic"/>
                <a:cs typeface="Malgun Gothic"/>
              </a:rPr>
              <a:t>4. </a:t>
            </a:r>
            <a:r>
              <a:rPr sz="1050" b="0" i="0">
                <a:solidFill>
                  <a:srgbClr val="16213A"/>
                </a:solidFill>
                <a:latin typeface="Arial"/>
                <a:ea typeface="Malgun Gothic"/>
                <a:cs typeface="Malgun Gothic"/>
              </a:rPr>
              <a:t>칸마다 도는 연산을 한다. 겹침 정리, traversability 추정, 법선 계산, 필요하면 추가 필터다.</a:t>
            </a:r>
          </a:p>
          <a:p>
            <a:pPr>
              <a:spcBef>
                <a:spcPts val="200"/>
              </a:spcBef>
            </a:pPr>
            <a:r>
              <a:rPr sz="1050" b="0" i="0">
                <a:solidFill>
                  <a:srgbClr val="5A6478"/>
                </a:solidFill>
                <a:latin typeface="Arial"/>
                <a:ea typeface="Malgun Gothic"/>
                <a:cs typeface="Malgun Gothic"/>
              </a:rPr>
              <a:t>5. </a:t>
            </a:r>
            <a:r>
              <a:rPr sz="1050" b="0" i="0">
                <a:solidFill>
                  <a:srgbClr val="16213A"/>
                </a:solidFill>
                <a:latin typeface="Arial"/>
                <a:ea typeface="Malgun Gothic"/>
                <a:cs typeface="Malgun Gothic"/>
              </a:rPr>
              <a:t>사용자가 정한 주기로만 CPU로 옮겨 GridMap 메시지로 내보낸다. GPU↔CPU 전송을 줄이기 위해서다.</a:t>
            </a:r>
          </a:p>
        </p:txBody>
      </p:sp>
      <p:sp>
        <p:nvSpPr>
          <p:cNvPr id="8" name="TextBox 7"/>
          <p:cNvSpPr txBox="1"/>
          <p:nvPr/>
        </p:nvSpPr>
        <p:spPr>
          <a:xfrm>
            <a:off x="609600" y="356135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구현은 Cupy와 직접 짠 CUDA 커널이다. Python 인터페이스라 PyTorch 모델이 </a:t>
            </a:r>
            <a:r>
              <a:rPr sz="1050" b="1" i="0">
                <a:solidFill>
                  <a:srgbClr val="16213A"/>
                </a:solidFill>
                <a:latin typeface="Arial"/>
                <a:ea typeface="Malgun Gothic"/>
                <a:cs typeface="Malgun Gothic"/>
              </a:rPr>
              <a:t>같은 GPU 메모리</a:t>
            </a:r>
            <a:r>
              <a:rPr sz="1050" b="0" i="0">
                <a:solidFill>
                  <a:srgbClr val="16213A"/>
                </a:solidFill>
                <a:latin typeface="Arial"/>
                <a:ea typeface="Malgun Gothic"/>
                <a:cs typeface="Malgun Gothic"/>
              </a:rPr>
              <a:t>를 그대로 읽는다. 학습 필터를 전송 비용 없이 돌릴 수 있는 이유가 이것이다. ROS 노드는 메시지 직렬화가 느린 rospy 대신 roscpp를 쓴다.</a:t>
            </a:r>
          </a:p>
        </p:txBody>
      </p:sp>
      <p:sp>
        <p:nvSpPr>
          <p:cNvPr id="9" name="TextBox 8"/>
          <p:cNvSpPr txBox="1"/>
          <p:nvPr/>
        </p:nvSpPr>
        <p:spPr>
          <a:xfrm>
            <a:off x="609600" y="40832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높이 갱신.</a:t>
            </a:r>
            <a:r>
              <a:rPr sz="1050" b="0" i="0">
                <a:solidFill>
                  <a:srgbClr val="16213A"/>
                </a:solidFill>
                <a:latin typeface="Arial"/>
                <a:ea typeface="Malgun Gothic"/>
                <a:cs typeface="Malgun Gothic"/>
              </a:rPr>
              <a:t> 칸마다 1차원 칼만 필터로 합친다(A.2b의 토글과 같은 식이다). 점 분산은 센서 거리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의 제곱에 비례한다.</a:t>
            </a:r>
          </a:p>
        </p:txBody>
      </p:sp>
      <p:pic>
        <p:nvPicPr>
          <p:cNvPr id="10" name="Picture 9" descr="image.png"/>
          <p:cNvPicPr>
            <a:picLocks noChangeAspect="1"/>
          </p:cNvPicPr>
          <p:nvPr/>
        </p:nvPicPr>
        <p:blipFill>
          <a:blip r:embed="rId3"/>
          <a:stretch>
            <a:fillRect/>
          </a:stretch>
        </p:blipFill>
        <p:spPr>
          <a:xfrm>
            <a:off x="609600" y="4388644"/>
            <a:ext cx="4000500" cy="473075"/>
          </a:xfrm>
          <a:prstGeom prst="rect">
            <a:avLst/>
          </a:prstGeom>
        </p:spPr>
      </p:pic>
      <p:sp>
        <p:nvSpPr>
          <p:cNvPr id="11" name="TextBox 10"/>
          <p:cNvSpPr txBox="1"/>
          <p:nvPr/>
        </p:nvSpPr>
        <p:spPr>
          <a:xfrm>
            <a:off x="609600" y="4867176"/>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σₘ²</a:t>
            </a:r>
            <a:r>
              <a:rPr sz="1050" b="0" i="0">
                <a:solidFill>
                  <a:srgbClr val="16213A"/>
                </a:solidFill>
                <a:latin typeface="Arial"/>
                <a:ea typeface="Malgun Gothic"/>
                <a:cs typeface="Malgun Gothic"/>
              </a:rPr>
              <a:t>는 처음에 큰 값으로 두고, 갱신되지 않는 칸에는 일정 분산 </a:t>
            </a:r>
            <a:r>
              <a:rPr sz="1050" b="0" i="1">
                <a:solidFill>
                  <a:srgbClr val="16213A"/>
                </a:solidFill>
                <a:latin typeface="Arial"/>
                <a:ea typeface="Malgun Gothic"/>
                <a:cs typeface="Malgun Gothic"/>
              </a:rPr>
              <a:t>σₜ²</a:t>
            </a:r>
            <a:r>
              <a:rPr sz="1050" b="0" i="0">
                <a:solidFill>
                  <a:srgbClr val="16213A"/>
                </a:solidFill>
                <a:latin typeface="Arial"/>
                <a:ea typeface="Malgun Gothic"/>
                <a:cs typeface="Malgun Gothic"/>
              </a:rPr>
              <a:t>를 꾸준히 더한다. 추정에서 Mahalanobis 거리가 먼 점은 이상치로 버린다. 여기에 두 가지를 더했다.</a:t>
            </a:r>
          </a:p>
        </p:txBody>
      </p:sp>
      <p:sp>
        <p:nvSpPr>
          <p:cNvPr id="12" name="TextBox 11"/>
          <p:cNvSpPr txBox="1"/>
          <p:nvPr/>
        </p:nvSpPr>
        <p:spPr>
          <a:xfrm>
            <a:off x="609600" y="5172571"/>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제외 영역.</a:t>
            </a:r>
            <a:r>
              <a:rPr sz="1050" b="0" i="0">
                <a:solidFill>
                  <a:srgbClr val="16213A"/>
                </a:solidFill>
                <a:latin typeface="Arial"/>
                <a:ea typeface="Malgun Gothic"/>
                <a:cs typeface="Malgun Gothic"/>
              </a:rPr>
              <a:t> 로봇 앞에 경사선(</a:t>
            </a:r>
            <a:r>
              <a:rPr sz="1050" b="0" i="1">
                <a:solidFill>
                  <a:srgbClr val="16213A"/>
                </a:solidFill>
                <a:latin typeface="Arial"/>
                <a:ea typeface="Malgun Gothic"/>
                <a:cs typeface="Malgun Gothic"/>
              </a:rPr>
              <a:t>θₐ</a:t>
            </a:r>
            <a:r>
              <a:rPr sz="1050" b="0" i="0">
                <a:solidFill>
                  <a:srgbClr val="16213A"/>
                </a:solidFill>
                <a:latin typeface="Arial"/>
                <a:ea typeface="Malgun Gothic"/>
                <a:cs typeface="Malgun Gothic"/>
              </a:rPr>
              <a:t>와 오프셋 </a:t>
            </a:r>
            <a:r>
              <a:rPr sz="1050" b="0" i="1">
                <a:solidFill>
                  <a:srgbClr val="16213A"/>
                </a:solidFill>
                <a:latin typeface="Arial"/>
                <a:ea typeface="Malgun Gothic"/>
                <a:cs typeface="Malgun Gothic"/>
              </a:rPr>
              <a:t>b, c, d</a:t>
            </a:r>
            <a:r>
              <a:rPr sz="1050" b="0" i="0">
                <a:solidFill>
                  <a:srgbClr val="16213A"/>
                </a:solidFill>
                <a:latin typeface="Arial"/>
                <a:ea typeface="Malgun Gothic"/>
                <a:cs typeface="Malgun Gothic"/>
              </a:rPr>
              <a:t>)을 그어 그 위의 점을 버린다. 천장과 가까운 오버행은 지우면서 경사로는 남긴다. 오버행을 </a:t>
            </a:r>
            <a:r>
              <a:rPr sz="1050" b="1" i="0">
                <a:solidFill>
                  <a:srgbClr val="16213A"/>
                </a:solidFill>
                <a:latin typeface="Arial"/>
                <a:ea typeface="Malgun Gothic"/>
                <a:cs typeface="Malgun Gothic"/>
              </a:rPr>
              <a:t>표현하는</a:t>
            </a:r>
            <a:r>
              <a:rPr sz="1050" b="0" i="0">
                <a:solidFill>
                  <a:srgbClr val="16213A"/>
                </a:solidFill>
                <a:latin typeface="Arial"/>
                <a:ea typeface="Malgun Gothic"/>
                <a:cs typeface="Malgun Gothic"/>
              </a:rPr>
              <a:t> 것이 아니라 </a:t>
            </a:r>
            <a:r>
              <a:rPr sz="1050" b="1" i="0">
                <a:solidFill>
                  <a:srgbClr val="16213A"/>
                </a:solidFill>
                <a:latin typeface="Arial"/>
                <a:ea typeface="Malgun Gothic"/>
                <a:cs typeface="Malgun Gothic"/>
              </a:rPr>
              <a:t>버리는</a:t>
            </a:r>
            <a:r>
              <a:rPr sz="1050" b="0" i="0">
                <a:solidFill>
                  <a:srgbClr val="16213A"/>
                </a:solidFill>
                <a:latin typeface="Arial"/>
                <a:ea typeface="Malgun Gothic"/>
                <a:cs typeface="Malgun Gothic"/>
              </a:rPr>
              <a:t> 설계다.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벽 모서리 날카롭게.</a:t>
            </a:r>
            <a:r>
              <a:rPr sz="1050" b="0" i="0">
                <a:solidFill>
                  <a:srgbClr val="16213A"/>
                </a:solidFill>
                <a:latin typeface="Arial"/>
                <a:ea typeface="Malgun Gothic"/>
                <a:cs typeface="Malgun Gothic"/>
              </a:rPr>
              <a:t> 수직 벽의 점이 한 칸에 여러 높이로 떨어지면 평균이 실제보다 낮아진다. 칸에 떨어진 점 수가 문턱을 넘으면 현재 추정보다 낮은 점을 무시한다.</a:t>
            </a:r>
          </a:p>
        </p:txBody>
      </p:sp>
      <p:sp>
        <p:nvSpPr>
          <p:cNvPr id="13" name="TextBox 12"/>
          <p:cNvSpPr txBox="1"/>
          <p:nvPr/>
        </p:nvSpPr>
        <p:spPr>
          <a:xfrm>
            <a:off x="609600" y="57198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높이 드리프트 보정(원문 Fig. 4).</a:t>
            </a:r>
            <a:r>
              <a:rPr sz="1050" b="0" i="0">
                <a:solidFill>
                  <a:srgbClr val="16213A"/>
                </a:solidFill>
                <a:latin typeface="Arial"/>
                <a:ea typeface="Malgun Gothic"/>
                <a:cs typeface="Malgun Gothic"/>
              </a:rPr>
              <a:t> 점마다 측정 높이와 지도 높이의 차 </a:t>
            </a:r>
            <a:r>
              <a:rPr sz="1050" b="0" i="1">
                <a:solidFill>
                  <a:srgbClr val="16213A"/>
                </a:solidFill>
                <a:latin typeface="Arial"/>
                <a:ea typeface="Malgun Gothic"/>
                <a:cs typeface="Malgun Gothic"/>
              </a:rPr>
              <a:t>εᵢ</a:t>
            </a:r>
            <a:r>
              <a:rPr sz="1050" b="0" i="0">
                <a:solidFill>
                  <a:srgbClr val="16213A"/>
                </a:solidFill>
                <a:latin typeface="Arial"/>
                <a:ea typeface="Malgun Gothic"/>
                <a:cs typeface="Malgun Gothic"/>
              </a:rPr>
              <a:t>를 구하고, 그 평균을 elevation 층 전체에 더한다.</a:t>
            </a:r>
          </a:p>
        </p:txBody>
      </p:sp>
      <p:sp>
        <p:nvSpPr>
          <p:cNvPr id="14" name="TextBox 13"/>
          <p:cNvSpPr txBox="1"/>
          <p:nvPr/>
        </p:nvSpPr>
        <p:spPr>
          <a:xfrm>
            <a:off x="609600" y="6025257"/>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13개(문단·식·그림)는 대시보드 리서치 탭의 "자세히: elevation_mapping_cupy 논문의 방법과 수식" 토글에 있다.</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r>
              <a:rPr sz="1050" b="0" i="0">
                <a:solidFill>
                  <a:srgbClr val="5A6478"/>
                </a:solidFill>
                <a:latin typeface="Arial"/>
                <a:ea typeface="Malgun Gothic"/>
                <a:cs typeface="Malgun Gothic"/>
              </a:rPr>
              <a:t>  자세히: 그 학습 필터는 무엇이고, travplan에서 지금 어떤 상태인가 (2026-09-30 소스 확인)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310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TP-0082를 위해 벤더링된 소스를 직접 읽었다. 예상과 달랐던 것이 셋이다.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플러그인이 아니라 코어에 박혀 있다.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elevation_mapping_cupy/traversability_filter.py</a:t>
            </a:r>
            <a:r>
              <a:rPr sz="1050" b="0" i="0">
                <a:solidFill>
                  <a:srgbClr val="16213A"/>
                </a:solidFill>
                <a:latin typeface="Arial"/>
                <a:ea typeface="Malgun Gothic"/>
                <a:cs typeface="Malgun Gothic"/>
              </a:rPr>
              <a:t>가 구현이고, </a:t>
            </a:r>
            <a:r>
              <a:rPr sz="1050" b="0" i="0">
                <a:solidFill>
                  <a:srgbClr val="16213A"/>
                </a:solidFill>
                <a:latin typeface="Consolas"/>
                <a:ea typeface="Malgun Gothic"/>
                <a:cs typeface="Malgun Gothic"/>
              </a:rPr>
              <a:t>ElevationMap.__init__</a:t>
            </a:r>
            <a:r>
              <a:rPr sz="1050" b="0" i="0">
                <a:solidFill>
                  <a:srgbClr val="16213A"/>
                </a:solidFill>
                <a:latin typeface="Arial"/>
                <a:ea typeface="Malgun Gothic"/>
                <a:cs typeface="Malgun Gothic"/>
              </a:rPr>
              <a:t>이 만들어서 </a:t>
            </a:r>
            <a:r>
              <a:rPr sz="1050" b="0" i="0">
                <a:solidFill>
                  <a:srgbClr val="16213A"/>
                </a:solidFill>
                <a:latin typeface="Consolas"/>
                <a:ea typeface="Malgun Gothic"/>
                <a:cs typeface="Malgun Gothic"/>
              </a:rPr>
              <a:t>input_pointcloud()</a:t>
            </a:r>
            <a:r>
              <a:rPr sz="1050" b="0" i="0">
                <a:solidFill>
                  <a:srgbClr val="16213A"/>
                </a:solidFill>
                <a:latin typeface="Arial"/>
                <a:ea typeface="Malgun Gothic"/>
                <a:cs typeface="Malgun Gothic"/>
              </a:rPr>
              <a:t>마다 돌린다. 상류 ROS 노드 경로에는 </a:t>
            </a:r>
            <a:r>
              <a:rPr sz="1050" b="1" i="0">
                <a:solidFill>
                  <a:srgbClr val="16213A"/>
                </a:solidFill>
                <a:latin typeface="Arial"/>
                <a:ea typeface="Malgun Gothic"/>
                <a:cs typeface="Malgun Gothic"/>
              </a:rPr>
              <a:t>켜고 끄는 플래그가 없다.</a:t>
            </a:r>
            <a:r>
              <a:rPr sz="1050" b="0" i="0">
                <a:solidFill>
                  <a:srgbClr val="16213A"/>
                </a:solidFill>
                <a:latin typeface="Arial"/>
                <a:ea typeface="Malgun Gothic"/>
                <a:cs typeface="Malgun Gothic"/>
              </a:rPr>
              <a:t> 상류가 2026-02에 분리한 </a:t>
            </a:r>
            <a:r>
              <a:rPr sz="1050" b="0" i="0">
                <a:solidFill>
                  <a:srgbClr val="16213A"/>
                </a:solidFill>
                <a:latin typeface="Consolas"/>
                <a:ea typeface="Malgun Gothic"/>
                <a:cs typeface="Malgun Gothic"/>
              </a:rPr>
              <a:t>elevation_mapping_cupy_core</a:t>
            </a:r>
            <a:r>
              <a:rPr sz="1050" b="0" i="0">
                <a:solidFill>
                  <a:srgbClr val="16213A"/>
                </a:solidFill>
                <a:latin typeface="Arial"/>
                <a:ea typeface="Malgun Gothic"/>
                <a:cs typeface="Malgun Gothic"/>
              </a:rPr>
              <a:t>는 </a:t>
            </a:r>
            <a:r>
              <a:rPr sz="1050" b="0" i="0">
                <a:solidFill>
                  <a:srgbClr val="16213A"/>
                </a:solidFill>
                <a:latin typeface="Consolas"/>
                <a:ea typeface="Malgun Gothic"/>
                <a:cs typeface="Malgun Gothic"/>
              </a:rPr>
              <a:t>weight_file</a:t>
            </a:r>
            <a:r>
              <a:rPr sz="1050" b="0" i="0">
                <a:solidFill>
                  <a:srgbClr val="16213A"/>
                </a:solidFill>
                <a:latin typeface="Arial"/>
                <a:ea typeface="Malgun Gothic"/>
                <a:cs typeface="Malgun Gothic"/>
              </a:rPr>
              <a:t>이 비어 있으면 필터를 아예 만들지 않도록 바꿨다(A.2b).</a:t>
            </a:r>
          </a:p>
        </p:txBody>
      </p:sp>
      <p:sp>
        <p:nvSpPr>
          <p:cNvPr id="7" name="TextBox 6"/>
          <p:cNvSpPr txBox="1"/>
          <p:nvPr/>
        </p:nvSpPr>
        <p:spPr>
          <a:xfrm>
            <a:off x="609600" y="2071886"/>
            <a:ext cx="10972800" cy="649486"/>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2026-09-30에 이 문단의 전제가 travplan에서는 깨졌다.</a:t>
            </a:r>
            <a:r>
              <a:rPr sz="1050" b="0" i="0">
                <a:solidFill>
                  <a:srgbClr val="16213A"/>
                </a:solidFill>
                <a:latin typeface="Arial"/>
                <a:ea typeface="Malgun Gothic"/>
                <a:cs typeface="Malgun Gothic"/>
              </a:rPr>
              <a:t> TP-0097이 core의 가드를 벤더링 사본으로 backport했다(d88728f). 이제 </a:t>
            </a:r>
            <a:r>
              <a:rPr sz="1050" b="0" i="0">
                <a:solidFill>
                  <a:srgbClr val="16213A"/>
                </a:solidFill>
                <a:latin typeface="Consolas"/>
                <a:ea typeface="Malgun Gothic"/>
                <a:cs typeface="Malgun Gothic"/>
              </a:rPr>
              <a:t>ElevationMap.__init__</a:t>
            </a:r>
            <a:r>
              <a:rPr sz="1050" b="0" i="0">
                <a:solidFill>
                  <a:srgbClr val="16213A"/>
                </a:solidFill>
                <a:latin typeface="Arial"/>
                <a:ea typeface="Malgun Gothic"/>
                <a:cs typeface="Malgun Gothic"/>
              </a:rPr>
              <a:t>은 </a:t>
            </a:r>
            <a:r>
              <a:rPr sz="1050" b="0" i="0">
                <a:solidFill>
                  <a:srgbClr val="16213A"/>
                </a:solidFill>
                <a:latin typeface="Consolas"/>
                <a:ea typeface="Malgun Gothic"/>
                <a:cs typeface="Malgun Gothic"/>
              </a:rPr>
              <a:t>param.weight_file</a:t>
            </a:r>
            <a:r>
              <a:rPr sz="1050" b="0" i="0">
                <a:solidFill>
                  <a:srgbClr val="16213A"/>
                </a:solidFill>
                <a:latin typeface="Arial"/>
                <a:ea typeface="Malgun Gothic"/>
                <a:cs typeface="Malgun Gothic"/>
              </a:rPr>
              <a:t>이 비어 있지 않을 때만 필터를 만들고, </a:t>
            </a:r>
            <a:r>
              <a:rPr sz="1050" b="0" i="0">
                <a:solidFill>
                  <a:srgbClr val="16213A"/>
                </a:solidFill>
                <a:latin typeface="Consolas"/>
                <a:ea typeface="Malgun Gothic"/>
                <a:cs typeface="Malgun Gothic"/>
              </a:rPr>
              <a:t>emap_mapper.py</a:t>
            </a:r>
            <a:r>
              <a:rPr sz="1050" b="0" i="0">
                <a:solidFill>
                  <a:srgbClr val="16213A"/>
                </a:solidFill>
                <a:latin typeface="Arial"/>
                <a:ea typeface="Malgun Gothic"/>
                <a:cs typeface="Malgun Gothic"/>
              </a:rPr>
              <a:t>가 </a:t>
            </a:r>
            <a:r>
              <a:rPr sz="1050" b="0" i="0">
                <a:solidFill>
                  <a:srgbClr val="16213A"/>
                </a:solidFill>
                <a:latin typeface="Consolas"/>
                <a:ea typeface="Malgun Gothic"/>
                <a:cs typeface="Malgun Gothic"/>
              </a:rPr>
              <a:t>""</a:t>
            </a:r>
            <a:r>
              <a:rPr sz="1050" b="0" i="0">
                <a:solidFill>
                  <a:srgbClr val="16213A"/>
                </a:solidFill>
                <a:latin typeface="Arial"/>
                <a:ea typeface="Malgun Gothic"/>
                <a:cs typeface="Malgun Gothic"/>
              </a:rPr>
              <a:t>를 넘긴다. 그래서 </a:t>
            </a:r>
            <a:r>
              <a:rPr sz="1050" b="1" i="0">
                <a:solidFill>
                  <a:srgbClr val="C2410C"/>
                </a:solidFill>
                <a:latin typeface="Arial"/>
                <a:ea typeface="Malgun Gothic"/>
                <a:cs typeface="Malgun Gothic"/>
              </a:rPr>
              <a:t>travplan의 L1 루프에서 이 필터는 더 이상 돌지 않고 CUDA torch도 import되지 않는다.</a:t>
            </a:r>
            <a:r>
              <a:rPr sz="1050" b="0" i="0">
                <a:solidFill>
                  <a:srgbClr val="16213A"/>
                </a:solidFill>
                <a:latin typeface="Arial"/>
                <a:ea typeface="Malgun Gothic"/>
                <a:cs typeface="Malgun Gothic"/>
              </a:rPr>
              <a:t> 아래 ②–③의 구조 분석은 그대로 유효하다 — 필터가 무엇인지에 대한 것이지 언제 도는지에 대한 것이 아니기 때문이다. 작업 기록 A.13.5에 측정이 있다.</a:t>
            </a:r>
          </a:p>
        </p:txBody>
      </p:sp>
      <p:sp>
        <p:nvSpPr>
          <p:cNvPr id="8" name="TextBox 7"/>
          <p:cNvSpPr txBox="1"/>
          <p:nvPr/>
        </p:nvSpPr>
        <p:spPr>
          <a:xfrm>
            <a:off x="609600" y="281027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 이전 기준으로는 </a:t>
            </a:r>
            <a:r>
              <a:rPr sz="1050" b="0" i="0">
                <a:solidFill>
                  <a:srgbClr val="16213A"/>
                </a:solidFill>
                <a:latin typeface="Consolas"/>
                <a:ea typeface="Malgun Gothic"/>
                <a:cs typeface="Malgun Gothic"/>
              </a:rPr>
              <a:t>travplan/perception/emap_no_plugins.yaml</a:t>
            </a:r>
            <a:r>
              <a:rPr sz="1050" b="0" i="0">
                <a:solidFill>
                  <a:srgbClr val="16213A"/>
                </a:solidFill>
                <a:latin typeface="Arial"/>
                <a:ea typeface="Malgun Gothic"/>
                <a:cs typeface="Malgun Gothic"/>
              </a:rPr>
              <a:t>이 </a:t>
            </a:r>
            <a:r>
              <a:rPr sz="1050" b="0" i="0">
                <a:solidFill>
                  <a:srgbClr val="16213A"/>
                </a:solidFill>
                <a:latin typeface="Consolas"/>
                <a:ea typeface="Malgun Gothic"/>
                <a:cs typeface="Malgun Gothic"/>
              </a:rPr>
              <a:t>{}</a:t>
            </a:r>
            <a:r>
              <a:rPr sz="1050" b="0" i="0">
                <a:solidFill>
                  <a:srgbClr val="16213A"/>
                </a:solidFill>
                <a:latin typeface="Arial"/>
                <a:ea typeface="Malgun Gothic"/>
                <a:cs typeface="Malgun Gothic"/>
              </a:rPr>
              <a:t>라 플러그인이 0개인데도 이 필터만은 돌고 있었고, 출력을 아무도 읽지 않았다(</a:t>
            </a:r>
            <a:r>
              <a:rPr sz="1050" b="0" i="0">
                <a:solidFill>
                  <a:srgbClr val="16213A"/>
                </a:solidFill>
                <a:latin typeface="Consolas"/>
                <a:ea typeface="Malgun Gothic"/>
                <a:cs typeface="Malgun Gothic"/>
              </a:rPr>
              <a:t>emap_mapper.py</a:t>
            </a:r>
            <a:r>
              <a:rPr sz="1050" b="0" i="0">
                <a:solidFill>
                  <a:srgbClr val="16213A"/>
                </a:solidFill>
                <a:latin typeface="Arial"/>
                <a:ea typeface="Malgun Gothic"/>
                <a:cs typeface="Malgun Gothic"/>
              </a:rPr>
              <a:t>가 꺼내는 것은 elevation·variance·upper_bound· is_upper_bound 넷이고 </a:t>
            </a:r>
            <a:r>
              <a:rPr sz="1050" b="0" i="0">
                <a:solidFill>
                  <a:srgbClr val="16213A"/>
                </a:solidFill>
                <a:latin typeface="Consolas"/>
                <a:ea typeface="Malgun Gothic"/>
                <a:cs typeface="Malgun Gothic"/>
              </a:rPr>
              <a:t>get_traversability()</a:t>
            </a:r>
            <a:r>
              <a:rPr sz="1050" b="0" i="0">
                <a:solidFill>
                  <a:srgbClr val="16213A"/>
                </a:solidFill>
                <a:latin typeface="Arial"/>
                <a:ea typeface="Malgun Gothic"/>
                <a:cs typeface="Malgun Gothic"/>
              </a:rPr>
              <a:t>는 한 번도 부르지 않는다).</a:t>
            </a:r>
          </a:p>
        </p:txBody>
      </p:sp>
      <p:sp>
        <p:nvSpPr>
          <p:cNvPr id="9" name="TextBox 8"/>
          <p:cNvSpPr txBox="1"/>
          <p:nvPr/>
        </p:nvSpPr>
        <p:spPr>
          <a:xfrm>
            <a:off x="609600" y="33321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모델이 아주 작다.</a:t>
            </a:r>
            <a:r>
              <a:rPr sz="1050" b="0" i="0">
                <a:solidFill>
                  <a:srgbClr val="16213A"/>
                </a:solidFill>
                <a:latin typeface="Arial"/>
                <a:ea typeface="Malgun Gothic"/>
                <a:cs typeface="Malgun Gothic"/>
              </a:rPr>
              <a:t> 가중치가 저장소에 들어 있고(</a:t>
            </a:r>
            <a:r>
              <a:rPr sz="1050" b="0" i="0">
                <a:solidFill>
                  <a:srgbClr val="16213A"/>
                </a:solidFill>
                <a:latin typeface="Consolas"/>
                <a:ea typeface="Malgun Gothic"/>
                <a:cs typeface="Malgun Gothic"/>
              </a:rPr>
              <a:t>config/core/weights.dat</a:t>
            </a:r>
            <a:r>
              <a:rPr sz="1050" b="0" i="0">
                <a:solidFill>
                  <a:srgbClr val="16213A"/>
                </a:solidFill>
                <a:latin typeface="Arial"/>
                <a:ea typeface="Malgun Gothic"/>
                <a:cs typeface="Malgun Gothic"/>
              </a:rPr>
              <a:t>, 1,138 바이트) </a:t>
            </a:r>
            <a:r>
              <a:rPr sz="1050" b="1" i="0">
                <a:solidFill>
                  <a:srgbClr val="16213A"/>
                </a:solidFill>
                <a:latin typeface="Arial"/>
                <a:ea typeface="Malgun Gothic"/>
                <a:cs typeface="Malgun Gothic"/>
              </a:rPr>
              <a:t>파라미터가 120개</a:t>
            </a:r>
            <a:r>
              <a:rPr sz="1050" b="0" i="0">
                <a:solidFill>
                  <a:srgbClr val="16213A"/>
                </a:solidFill>
                <a:latin typeface="Arial"/>
                <a:ea typeface="Malgun Gothic"/>
                <a:cs typeface="Malgun Gothic"/>
              </a:rPr>
              <a:t>다. 구조는 3×3 conv 셋을 dilation 1·2·3으로 </a:t>
            </a:r>
            <a:r>
              <a:rPr sz="1050" b="1" i="0">
                <a:solidFill>
                  <a:srgbClr val="16213A"/>
                </a:solidFill>
                <a:latin typeface="Arial"/>
                <a:ea typeface="Malgun Gothic"/>
                <a:cs typeface="Malgun Gothic"/>
              </a:rPr>
              <a:t>병렬</a:t>
            </a:r>
            <a:r>
              <a:rPr sz="1050" b="0" i="0">
                <a:solidFill>
                  <a:srgbClr val="16213A"/>
                </a:solidFill>
                <a:latin typeface="Arial"/>
                <a:ea typeface="Malgun Gothic"/>
                <a:cs typeface="Malgun Gothic"/>
              </a:rPr>
              <a:t> 적용해 12채널로 잇고, 절댓값을 거쳐 1×1 conv 하나로 줄인 뒤 </a:t>
            </a:r>
            <a:r>
              <a:rPr sz="1050" b="0" i="1">
                <a:solidFill>
                  <a:srgbClr val="16213A"/>
                </a:solidFill>
                <a:latin typeface="Arial"/>
                <a:ea typeface="Malgun Gothic"/>
                <a:cs typeface="Malgun Gothic"/>
              </a:rPr>
              <a:t>exp(-·)</a:t>
            </a:r>
            <a:r>
              <a:rPr sz="1050" b="0" i="0">
                <a:solidFill>
                  <a:srgbClr val="16213A"/>
                </a:solidFill>
                <a:latin typeface="Arial"/>
                <a:ea typeface="Malgun Gothic"/>
                <a:cs typeface="Malgun Gothic"/>
              </a:rPr>
              <a:t>를 씌운다. 편향이 없다.</a:t>
            </a:r>
          </a:p>
        </p:txBody>
      </p:sp>
      <p:pic>
        <p:nvPicPr>
          <p:cNvPr id="10" name="Picture 9" descr="image.png"/>
          <p:cNvPicPr>
            <a:picLocks noChangeAspect="1"/>
          </p:cNvPicPr>
          <p:nvPr/>
        </p:nvPicPr>
        <p:blipFill>
          <a:blip r:embed="rId3"/>
          <a:stretch>
            <a:fillRect/>
          </a:stretch>
        </p:blipFill>
        <p:spPr>
          <a:xfrm>
            <a:off x="609600" y="3854053"/>
            <a:ext cx="5638800" cy="330200"/>
          </a:xfrm>
          <a:prstGeom prst="rect">
            <a:avLst/>
          </a:prstGeom>
        </p:spPr>
      </p:pic>
      <p:sp>
        <p:nvSpPr>
          <p:cNvPr id="11" name="TextBox 10"/>
          <p:cNvSpPr txBox="1"/>
          <p:nvPr/>
        </p:nvSpPr>
        <p:spPr>
          <a:xfrm>
            <a:off x="609600" y="420697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입력이 elevation이 아니라 </a:t>
            </a:r>
            <a:r>
              <a:rPr sz="1050" b="1" i="0">
                <a:solidFill>
                  <a:srgbClr val="16213A"/>
                </a:solidFill>
                <a:latin typeface="Consolas"/>
                <a:ea typeface="Malgun Gothic"/>
                <a:cs typeface="Malgun Gothic"/>
              </a:rPr>
              <a:t>upper_bound</a:t>
            </a:r>
            <a:r>
              <a:rPr sz="1050" b="1" i="0">
                <a:solidFill>
                  <a:srgbClr val="16213A"/>
                </a:solidFill>
                <a:latin typeface="Arial"/>
                <a:ea typeface="Malgun Gothic"/>
                <a:cs typeface="Malgun Gothic"/>
              </a:rPr>
              <a:t>다.</a:t>
            </a:r>
            <a:r>
              <a:rPr sz="1050" b="0" i="0">
                <a:solidFill>
                  <a:srgbClr val="16213A"/>
                </a:solidFill>
                <a:latin typeface="Arial"/>
                <a:ea typeface="Malgun Gothic"/>
                <a:cs typeface="Malgun Gothic"/>
              </a:rPr>
              <a:t> 무효 셀은 dilation으로 최근접 유효 높이를 채워 넣고, 높이는 지도 중심(로봇) 기준 상대값이다. 출력은 </a:t>
            </a:r>
            <a:r>
              <a:rPr sz="1050" b="0" i="1">
                <a:solidFill>
                  <a:srgbClr val="16213A"/>
                </a:solidFill>
                <a:latin typeface="Arial"/>
                <a:ea typeface="Malgun Gothic"/>
                <a:cs typeface="Malgun Gothic"/>
              </a:rPr>
              <a:t>(0, 1]</a:t>
            </a:r>
            <a:r>
              <a:rPr sz="1050" b="0" i="0">
                <a:solidFill>
                  <a:srgbClr val="16213A"/>
                </a:solidFill>
                <a:latin typeface="Arial"/>
                <a:ea typeface="Malgun Gothic"/>
                <a:cs typeface="Malgun Gothic"/>
              </a:rPr>
              <a:t>이고 </a:t>
            </a:r>
            <a:r>
              <a:rPr sz="1050" b="1" i="0">
                <a:solidFill>
                  <a:srgbClr val="16213A"/>
                </a:solidFill>
                <a:latin typeface="Arial"/>
                <a:ea typeface="Malgun Gothic"/>
                <a:cs typeface="Malgun Gothic"/>
              </a:rPr>
              <a:t>클수록 통과하기 쉽다</a:t>
            </a:r>
            <a:r>
              <a:rPr sz="1050" b="0" i="0">
                <a:solidFill>
                  <a:srgbClr val="16213A"/>
                </a:solidFill>
                <a:latin typeface="Arial"/>
                <a:ea typeface="Malgun Gothic"/>
                <a:cs typeface="Malgun Gothic"/>
              </a:rPr>
              <a:t> — travplan </a:t>
            </a:r>
            <a:r>
              <a:rPr sz="1050" b="0" i="0">
                <a:solidFill>
                  <a:srgbClr val="16213A"/>
                </a:solidFill>
                <a:latin typeface="Consolas"/>
                <a:ea typeface="Malgun Gothic"/>
                <a:cs typeface="Malgun Gothic"/>
              </a:rPr>
              <a:t>Ch.COST</a:t>
            </a:r>
            <a:r>
              <a:rPr sz="1050" b="0" i="0">
                <a:solidFill>
                  <a:srgbClr val="16213A"/>
                </a:solidFill>
                <a:latin typeface="Arial"/>
                <a:ea typeface="Malgun Gothic"/>
                <a:cs typeface="Malgun Gothic"/>
              </a:rPr>
              <a:t>(1 = 치명)와 </a:t>
            </a:r>
            <a:r>
              <a:rPr sz="1050" b="1" i="0">
                <a:solidFill>
                  <a:srgbClr val="16213A"/>
                </a:solidFill>
                <a:latin typeface="Arial"/>
                <a:ea typeface="Malgun Gothic"/>
                <a:cs typeface="Malgun Gothic"/>
              </a:rPr>
              <a:t>부호가 반대</a:t>
            </a:r>
            <a:r>
              <a:rPr sz="1050" b="0" i="0">
                <a:solidFill>
                  <a:srgbClr val="16213A"/>
                </a:solidFill>
                <a:latin typeface="Arial"/>
                <a:ea typeface="Malgun Gothic"/>
                <a:cs typeface="Malgun Gothic"/>
              </a:rPr>
              <a:t>다.</a:t>
            </a:r>
          </a:p>
        </p:txBody>
      </p:sp>
      <p:sp>
        <p:nvSpPr>
          <p:cNvPr id="12" name="TextBox 11"/>
          <p:cNvSpPr txBox="1"/>
          <p:nvPr/>
        </p:nvSpPr>
        <p:spPr>
          <a:xfrm>
            <a:off x="609600" y="472886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여기서 travplan에 중요한 한 가지.</a:t>
            </a:r>
            <a:r>
              <a:rPr sz="1050" b="0" i="0">
                <a:solidFill>
                  <a:srgbClr val="16213A"/>
                </a:solidFill>
                <a:latin typeface="Arial"/>
                <a:ea typeface="Malgun Gothic"/>
                <a:cs typeface="Malgun Gothic"/>
              </a:rPr>
              <a:t> dilation 3까지 쓰므로 </a:t>
            </a:r>
            <a:r>
              <a:rPr sz="1050" b="1" i="0">
                <a:solidFill>
                  <a:srgbClr val="16213A"/>
                </a:solidFill>
                <a:latin typeface="Arial"/>
                <a:ea typeface="Malgun Gothic"/>
                <a:cs typeface="Malgun Gothic"/>
              </a:rPr>
              <a:t>수용 영역이 7 × 7 셀</a:t>
            </a:r>
            <a:r>
              <a:rPr sz="1050" b="0" i="0">
                <a:solidFill>
                  <a:srgbClr val="16213A"/>
                </a:solidFill>
                <a:latin typeface="Arial"/>
                <a:ea typeface="Malgun Gothic"/>
                <a:cs typeface="Malgun Gothic"/>
              </a:rPr>
              <a:t>이다. travplan 해상도 0.05 m에서 </a:t>
            </a:r>
            <a:r>
              <a:rPr sz="1050" b="1" i="0">
                <a:solidFill>
                  <a:srgbClr val="16213A"/>
                </a:solidFill>
                <a:latin typeface="Arial"/>
                <a:ea typeface="Malgun Gothic"/>
                <a:cs typeface="Malgun Gothic"/>
              </a:rPr>
              <a:t>0.35 m × 0.35 m</a:t>
            </a:r>
            <a:r>
              <a:rPr sz="1050" b="0" i="0">
                <a:solidFill>
                  <a:srgbClr val="16213A"/>
                </a:solidFill>
                <a:latin typeface="Arial"/>
                <a:ea typeface="Malgun Gothic"/>
                <a:cs typeface="Malgun Gothic"/>
              </a:rPr>
              <a:t>다. </a:t>
            </a:r>
            <a:r>
              <a:rPr sz="1050" b="1" i="0">
                <a:solidFill>
                  <a:srgbClr val="C2410C"/>
                </a:solidFill>
                <a:latin typeface="Arial"/>
                <a:ea typeface="Malgun Gothic"/>
                <a:cs typeface="Malgun Gothic"/>
              </a:rPr>
              <a:t>AntBot의 축거가 0.53 m이니, 이 필터의 창은 </a:t>
            </a:r>
            <a:r>
              <a:rPr sz="1050" b="1" i="0">
                <a:solidFill>
                  <a:srgbClr val="C2410C"/>
                </a:solidFill>
                <a:latin typeface="Arial"/>
                <a:ea typeface="Malgun Gothic"/>
                <a:cs typeface="Malgun Gothic"/>
              </a:rPr>
              <a:t>로봇보다 작다.</a:t>
            </a:r>
            <a:r>
              <a:rPr sz="1050" b="0" i="0">
                <a:solidFill>
                  <a:srgbClr val="16213A"/>
                </a:solidFill>
                <a:latin typeface="Arial"/>
                <a:ea typeface="Malgun Gothic"/>
                <a:cs typeface="Malgun Gothic"/>
              </a:rPr>
              <a:t> 폭 1.1 m 경사로나 길게 이어진 연석 벽은 애초에 한 번에 들어오지 않는다. "다리 로봇 전제"라는 말의 구체적인 형태가 이것이다 — </a:t>
            </a:r>
            <a:r>
              <a:rPr sz="1050" b="1" i="0">
                <a:solidFill>
                  <a:srgbClr val="16213A"/>
                </a:solidFill>
                <a:latin typeface="Arial"/>
                <a:ea typeface="Malgun Gothic"/>
                <a:cs typeface="Malgun Gothic"/>
              </a:rPr>
              <a:t>발 하나 놓을 자리를 보는 창</a:t>
            </a:r>
            <a:r>
              <a:rPr sz="1050" b="0" i="0">
                <a:solidFill>
                  <a:srgbClr val="16213A"/>
                </a:solidFill>
                <a:latin typeface="Arial"/>
                <a:ea typeface="Malgun Gothic"/>
                <a:cs typeface="Malgun Gothic"/>
              </a:rPr>
              <a:t>이지 차체가 통째로 지나갈 면을 보는 창이 아니다.</a:t>
            </a:r>
          </a:p>
        </p:txBody>
      </p:sp>
      <p:sp>
        <p:nvSpPr>
          <p:cNvPr id="13" name="TextBox 12"/>
          <p:cNvSpPr txBox="1"/>
          <p:nvPr/>
        </p:nvSpPr>
        <p:spPr>
          <a:xfrm>
            <a:off x="609600" y="546725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막혀 있는 곳.</a:t>
            </a:r>
            <a:r>
              <a:rPr sz="1050" b="0" i="0">
                <a:solidFill>
                  <a:srgbClr val="16213A"/>
                </a:solidFill>
                <a:latin typeface="Arial"/>
                <a:ea typeface="Malgun Gothic"/>
                <a:cs typeface="Malgun Gothic"/>
              </a:rPr>
              <a:t> 레이어를 꺼내는 것 자체는 </a:t>
            </a:r>
            <a:r>
              <a:rPr sz="1050" b="0" i="0">
                <a:solidFill>
                  <a:srgbClr val="16213A"/>
                </a:solidFill>
                <a:latin typeface="Consolas"/>
                <a:ea typeface="Malgun Gothic"/>
                <a:cs typeface="Malgun Gothic"/>
              </a:rPr>
              <a:t>get_traversability()</a:t>
            </a:r>
            <a:r>
              <a:rPr sz="1050" b="0" i="0">
                <a:solidFill>
                  <a:srgbClr val="16213A"/>
                </a:solidFill>
                <a:latin typeface="Arial"/>
                <a:ea typeface="Malgun Gothic"/>
                <a:cs typeface="Malgun Gothic"/>
              </a:rPr>
              <a:t> 한 줄이고 형상도 그대로 맞는다. 그 뒤가 문제다. </a:t>
            </a:r>
            <a:r>
              <a:rPr sz="1050" b="0" i="0">
                <a:solidFill>
                  <a:srgbClr val="16213A"/>
                </a:solidFill>
                <a:latin typeface="Consolas"/>
                <a:ea typeface="Malgun Gothic"/>
                <a:cs typeface="Malgun Gothic"/>
              </a:rPr>
              <a:t>sim/kinematic_sim.py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HeightMapper</a:t>
            </a:r>
            <a:r>
              <a:rPr sz="1050" b="0" i="0">
                <a:solidFill>
                  <a:srgbClr val="16213A"/>
                </a:solidFill>
                <a:latin typeface="Arial"/>
                <a:ea typeface="Malgun Gothic"/>
                <a:cs typeface="Malgun Gothic"/>
              </a:rPr>
              <a:t> 프로토콜이 </a:t>
            </a:r>
            <a:r>
              <a:rPr sz="1050" b="0" i="0">
                <a:solidFill>
                  <a:srgbClr val="16213A"/>
                </a:solidFill>
                <a:latin typeface="Consolas"/>
                <a:ea typeface="Malgun Gothic"/>
                <a:cs typeface="Malgun Gothic"/>
              </a:rPr>
              <a:t>elev</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upper</a:t>
            </a:r>
            <a:r>
              <a:rPr sz="1050" b="0" i="0">
                <a:solidFill>
                  <a:srgbClr val="16213A"/>
                </a:solidFill>
                <a:latin typeface="Arial"/>
                <a:ea typeface="Malgun Gothic"/>
                <a:cs typeface="Malgun Gothic"/>
              </a:rPr>
              <a:t>만 선언하고, </a:t>
            </a:r>
            <a:r>
              <a:rPr sz="1050" b="0" i="0">
                <a:solidFill>
                  <a:srgbClr val="16213A"/>
                </a:solidFill>
                <a:latin typeface="Consolas"/>
                <a:ea typeface="Malgun Gothic"/>
                <a:cs typeface="Malgun Gothic"/>
              </a:rPr>
              <a:t>TravMapBuilder.build()</a:t>
            </a:r>
            <a:r>
              <a:rPr sz="1050" b="0" i="0">
                <a:solidFill>
                  <a:srgbClr val="16213A"/>
                </a:solidFill>
                <a:latin typeface="Arial"/>
                <a:ea typeface="Malgun Gothic"/>
                <a:cs typeface="Malgun Gothic"/>
              </a:rPr>
              <a:t>는 cost를 </a:t>
            </a:r>
            <a:r>
              <a:rPr sz="1050" b="1" i="0">
                <a:solidFill>
                  <a:srgbClr val="16213A"/>
                </a:solidFill>
                <a:latin typeface="Arial"/>
                <a:ea typeface="Malgun Gothic"/>
                <a:cs typeface="Malgun Gothic"/>
              </a:rPr>
              <a:t>스스로</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TraversabilityEstimator</a:t>
            </a:r>
            <a:r>
              <a:rPr sz="1050" b="0" i="0">
                <a:solidFill>
                  <a:srgbClr val="16213A"/>
                </a:solidFill>
                <a:latin typeface="Arial"/>
                <a:ea typeface="Malgun Gothic"/>
                <a:cs typeface="Malgun Gothic"/>
              </a:rPr>
              <a:t>로 계산한다. </a:t>
            </a:r>
            <a:r>
              <a:rPr sz="1050" b="1" i="0">
                <a:solidFill>
                  <a:srgbClr val="16213A"/>
                </a:solidFill>
                <a:latin typeface="Arial"/>
                <a:ea typeface="Malgun Gothic"/>
                <a:cs typeface="Malgun Gothic"/>
              </a:rPr>
              <a:t>밖에서 계산한 cost 채널을 주입하는 경로가 없다.</a:t>
            </a:r>
          </a:p>
        </p:txBody>
      </p:sp>
      <p:sp>
        <p:nvSpPr>
          <p:cNvPr id="14" name="TextBox 13"/>
          <p:cNvSpPr txBox="1"/>
          <p:nvPr/>
        </p:nvSpPr>
        <p:spPr>
          <a:xfrm>
            <a:off x="609600" y="5989141"/>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2개(문단·식·그림)는 대시보드 리서치 탭의 "자세히: 그 학습 필터는 무엇이고, travplan에서 지금 어떤 상태인가 (2026-09-30 소스 확인)" 토글에 있다.</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A.7 4족 보행 로봇의 인식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311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가지 주의.</a:t>
            </a:r>
            <a:r>
              <a:rPr sz="1050" b="0" i="0">
                <a:solidFill>
                  <a:srgbClr val="16213A"/>
                </a:solidFill>
                <a:latin typeface="Arial"/>
                <a:ea typeface="Malgun Gothic"/>
                <a:cs typeface="Malgun Gothic"/>
              </a:rPr>
              <a:t> 이 계보는 전부 </a:t>
            </a:r>
            <a:r>
              <a:rPr sz="1050" b="1" i="0">
                <a:solidFill>
                  <a:srgbClr val="16213A"/>
                </a:solidFill>
                <a:latin typeface="Arial"/>
                <a:ea typeface="Malgun Gothic"/>
                <a:cs typeface="Malgun Gothic"/>
              </a:rPr>
              <a:t>다리 로봇</a:t>
            </a:r>
            <a:r>
              <a:rPr sz="1050" b="0" i="0">
                <a:solidFill>
                  <a:srgbClr val="16213A"/>
                </a:solidFill>
                <a:latin typeface="Arial"/>
                <a:ea typeface="Malgun Gothic"/>
                <a:cs typeface="Malgun Gothic"/>
              </a:rPr>
              <a:t>을 전제로 만들어졌다. 발이 닿을 곳을 고르는 문제(발 디딤)와 바퀴가 굴러갈 면을 고르는 문제는 다르다. 예컨대 징검다리처럼 드문드문한 지지면은 4족에게는 통과 가능이지만 바퀴에게는 통과 불가다. travplan이 </a:t>
            </a:r>
            <a:r>
              <a:rPr sz="1050" b="0" i="0">
                <a:solidFill>
                  <a:srgbClr val="16213A"/>
                </a:solidFill>
                <a:latin typeface="Consolas"/>
                <a:ea typeface="Malgun Gothic"/>
                <a:cs typeface="Malgun Gothic"/>
              </a:rPr>
              <a:t>max_step_m = 0.08</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representation/traversability.py</a:t>
            </a:r>
            <a:r>
              <a:rPr sz="1050" b="0" i="0">
                <a:solidFill>
                  <a:srgbClr val="16213A"/>
                </a:solidFill>
                <a:latin typeface="Arial"/>
                <a:ea typeface="Malgun Gothic"/>
                <a:cs typeface="Malgun Gothic"/>
              </a:rPr>
              <a:t>) 같은 바퀴 기준을 따로 두는 이유이고, 이 계보의 비용 함수를 그대로 가져오면 안 되는 이유다.</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312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휴머노이드는 travplan과 몸 구조가 가장 멀다. 그래도 </a:t>
            </a:r>
            <a:r>
              <a:rPr sz="1050" b="1" i="0">
                <a:solidFill>
                  <a:srgbClr val="16213A"/>
                </a:solidFill>
                <a:latin typeface="Arial"/>
                <a:ea typeface="Malgun Gothic"/>
                <a:cs typeface="Malgun Gothic"/>
              </a:rPr>
              <a:t>"자기 몸이 센서 시야를 가린다"</a:t>
            </a:r>
            <a:r>
              <a:rPr sz="1050" b="0" i="0">
                <a:solidFill>
                  <a:srgbClr val="16213A"/>
                </a:solidFill>
                <a:latin typeface="Arial"/>
                <a:ea typeface="Malgun Gothic"/>
                <a:cs typeface="Malgun Gothic"/>
              </a:rPr>
              <a:t>는 문제는 스워브 로봇에서도 적재함이나 범퍼가 아래쪽 시야를 가리는 문제와 닮아서 참고할 만하다.</a:t>
            </a:r>
          </a:p>
        </p:txBody>
      </p:sp>
      <p:sp>
        <p:nvSpPr>
          <p:cNvPr id="6" name="TextBox 5"/>
          <p:cNvSpPr txBox="1"/>
          <p:nvPr/>
        </p:nvSpPr>
        <p:spPr>
          <a:xfrm>
            <a:off x="609600" y="1549995"/>
            <a:ext cx="10972800" cy="619522"/>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4족 보행: 4점 지지라 한 발을 헛디뎌도 나머지 세 발이 버틴다.</a:t>
            </a:r>
          </a:p>
          <a:p>
            <a:r>
              <a:rPr sz="750" b="0" i="0">
                <a:solidFill>
                  <a:srgbClr val="F4F1EA"/>
                </a:solidFill>
                <a:latin typeface="Consolas"/>
                <a:ea typeface="Malgun Gothic"/>
                <a:cs typeface="Malgun Gothic"/>
              </a:rPr>
              <a:t>휴머노이드: 2점 지지이고, 스윙하는 다리와 기운 몸통이 바로 지금 딛는 발밑을 가린다.</a:t>
            </a:r>
          </a:p>
          <a:p>
            <a:r>
              <a:rPr sz="750" b="0" i="0">
                <a:solidFill>
                  <a:srgbClr val="F4F1EA"/>
                </a:solidFill>
                <a:latin typeface="Consolas"/>
                <a:ea typeface="Malgun Gothic"/>
                <a:cs typeface="Malgun Gothic"/>
              </a:rPr>
              <a:t>           → 가장 중요한 곳을 직접 볼 수 없다 → 과거 프레임에서 지형을 추론·보간해야 한다.</a:t>
            </a:r>
          </a:p>
        </p:txBody>
      </p:sp>
      <p:sp>
        <p:nvSpPr>
          <p:cNvPr id="7" name="TextBox 6"/>
          <p:cNvSpPr txBox="1"/>
          <p:nvPr/>
        </p:nvSpPr>
        <p:spPr>
          <a:xfrm>
            <a:off x="609600" y="225841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공개 모델과 데이터.</a:t>
            </a:r>
            <a:r>
              <a:rPr sz="1050" b="0" i="0">
                <a:solidFill>
                  <a:srgbClr val="16213A"/>
                </a:solidFill>
                <a:latin typeface="Arial"/>
                <a:ea typeface="Malgun Gothic"/>
                <a:cs typeface="Malgun Gothic"/>
              </a:rPr>
              <a:t> 바로 실행할 수 있는 휴머노이드 occupancy 모델은 아직 없고, 논문과 데이터셋 단계다. </a:t>
            </a:r>
            <a:r>
              <a:rPr sz="1050" b="0" i="0">
                <a:solidFill>
                  <a:srgbClr val="1D4ED8"/>
                </a:solidFill>
                <a:latin typeface="Consolas"/>
                <a:ea typeface="Malgun Gothic"/>
                <a:cs typeface="Malgun Gothic"/>
                <a:hlinkClick r:id="rId3"/>
              </a:rPr>
              <a:t>USC-GVL/humanoid-everyday</a:t>
            </a:r>
            <a:r>
              <a:rPr sz="1050" b="0" i="0">
                <a:solidFill>
                  <a:srgbClr val="16213A"/>
                </a:solidFill>
                <a:latin typeface="Arial"/>
                <a:ea typeface="Malgun Gothic"/>
                <a:cs typeface="Malgun Gothic"/>
              </a:rPr>
              <a:t>는 30 Hz RGB·깊이·LiDAR·촉각·IMU 로그다 (조작 중심이지만 센서 로그는 재활용할 수 있다). </a:t>
            </a:r>
            <a:r>
              <a:rPr sz="1050" b="0" i="0">
                <a:solidFill>
                  <a:srgbClr val="1D4ED8"/>
                </a:solidFill>
                <a:latin typeface="Consolas"/>
                <a:ea typeface="Malgun Gothic"/>
                <a:cs typeface="Malgun Gothic"/>
                <a:hlinkClick r:id="rId4"/>
              </a:rPr>
              <a:t>UniDataPro/egocentric-video</a:t>
            </a:r>
            <a:r>
              <a:rPr sz="1050" b="0" i="0">
                <a:solidFill>
                  <a:srgbClr val="16213A"/>
                </a:solidFill>
                <a:latin typeface="Arial"/>
                <a:ea typeface="Malgun Gothic"/>
                <a:cs typeface="Malgun Gothic"/>
              </a:rPr>
              <a:t>는 사람이 착용한 스테레오 1인칭 영상으로, 휴머노이드 사전학습에 쓰는 추세다.</a:t>
            </a:r>
          </a:p>
        </p:txBody>
      </p:sp>
      <p:sp>
        <p:nvSpPr>
          <p:cNvPr id="8" name="TextBox 7"/>
          <p:cNvSpPr txBox="1"/>
          <p:nvPr/>
        </p:nvSpPr>
        <p:spPr>
          <a:xfrm>
            <a:off x="609600" y="278030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발밑 지형 인식이 4족과 다른 이유.</a:t>
            </a:r>
            <a:r>
              <a:rPr sz="1050" b="0" i="0">
                <a:solidFill>
                  <a:srgbClr val="16213A"/>
                </a:solidFill>
                <a:latin typeface="Arial"/>
                <a:ea typeface="Malgun Gothic"/>
                <a:cs typeface="Malgun Gothic"/>
              </a:rPr>
              <a:t> 4족은 넓게 벌린 네 발로 정적으로 안정하므로, 격자형 elevation map을 만들고 나쁜 칸만 피하면 된다. 휴머노이드는 접점이 둘이고 무게중심이 높으며, 보통 하나뿐인 아래·앞쪽 카메라를 </a:t>
            </a:r>
            <a:r>
              <a:rPr sz="1050" b="1" i="0">
                <a:solidFill>
                  <a:srgbClr val="16213A"/>
                </a:solidFill>
                <a:latin typeface="Arial"/>
                <a:ea typeface="Malgun Gothic"/>
                <a:cs typeface="Malgun Gothic"/>
              </a:rPr>
              <a:t>자기 다리와 몸통이 가린다.</a:t>
            </a:r>
            <a:r>
              <a:rPr sz="1050" b="0" i="0">
                <a:solidFill>
                  <a:srgbClr val="16213A"/>
                </a:solidFill>
                <a:latin typeface="Arial"/>
                <a:ea typeface="Malgun Gothic"/>
                <a:cs typeface="Malgun Gothic"/>
              </a:rPr>
              <a:t> 최근 연구는 세 방향으로 대응한다.</a:t>
            </a:r>
          </a:p>
        </p:txBody>
      </p:sp>
      <p:sp>
        <p:nvSpPr>
          <p:cNvPr id="9" name="TextBox 8"/>
          <p:cNvSpPr txBox="1"/>
          <p:nvPr/>
        </p:nvSpPr>
        <p:spPr>
          <a:xfrm>
            <a:off x="609600" y="3302198"/>
            <a:ext cx="10972800" cy="13497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몸통 밑 지형을 매 프레임 실시간 재구성하고, 걸음 박자도 정책이 함께 정한다.</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Gait-Adaptive Perceptive Humanoid Locomotion</a:t>
            </a:r>
            <a:r>
              <a:rPr sz="1050" b="0" i="0">
                <a:solidFill>
                  <a:srgbClr val="16213A"/>
                </a:solidFill>
                <a:latin typeface="Arial"/>
                <a:ea typeface="Malgun Gothic"/>
                <a:cs typeface="Malgun Gothic"/>
              </a:rPr>
              <a:t>은 31자유도 휴머노이드가 실제로 계단을 오르내리고 46 cm 갭을 건넜다.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못 본 발밑을 과거에서 복원한다.</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6"/>
              </a:rPr>
              <a:t>DPL</a:t>
            </a:r>
            <a:r>
              <a:rPr sz="1050" b="0" i="0">
                <a:solidFill>
                  <a:srgbClr val="16213A"/>
                </a:solidFill>
                <a:latin typeface="Arial"/>
                <a:ea typeface="Malgun Gothic"/>
                <a:cs typeface="Malgun Gothic"/>
              </a:rPr>
              <a:t>(RA-L 2026)은 cross-attention transformer로 노이즈 섞인 깊이 영상에서 발밑 높이 지도를 복원한다. 자기 가림과 센서 잡음을 흉내 낸 깊이 합성으로 복원 오차를 30% 넘게 줄였고, 실제 휴머노이드로 검증했다.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드문 발판 위 발 디딤을 직접 다룬다.</a:t>
            </a:r>
            <a:r>
              <a:rPr sz="1050" b="0" i="0">
                <a:solidFill>
                  <a:srgbClr val="16213A"/>
                </a:solidFill>
                <a:latin typeface="Arial"/>
                <a:ea typeface="Malgun Gothic"/>
                <a:cs typeface="Malgun Gothic"/>
              </a:rPr>
              <a:t> 한 발만 헛디뎌도 넘어지므로, 돌다리·빔 같은 드문 발판 위 발 위치를 학습 목표로 삼는다. MARCH는 모델 기반 발 디딤 계획을 teacher 학습의 기준 궤적으로만 쓰고, BeamDojo는 계획기 없이 발판 보상으로 배운다 (</a:t>
            </a:r>
            <a:r>
              <a:rPr sz="1050" b="0" i="0">
                <a:solidFill>
                  <a:srgbClr val="1D4ED8"/>
                </a:solidFill>
                <a:latin typeface="Arial"/>
                <a:ea typeface="Malgun Gothic"/>
                <a:cs typeface="Malgun Gothic"/>
                <a:hlinkClick r:id="rId7"/>
              </a:rPr>
              <a:t>MARCH</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8"/>
              </a:rPr>
              <a:t>BeamDojo</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9"/>
              </a:rPr>
              <a:t>VB-Com</a:t>
            </a:r>
            <a:r>
              <a:rPr sz="1050" b="0" i="0">
                <a:solidFill>
                  <a:srgbClr val="16213A"/>
                </a:solidFill>
                <a:latin typeface="Arial"/>
                <a:ea typeface="Malgun Gothic"/>
                <a:cs typeface="Malgun Gothic"/>
              </a:rPr>
              <a:t>은 아예 "인식이 끊겨도 안전하게 계속 걷기"를 핵심 실패 모드로 다룬다.</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313 / 359</a:t>
            </a:r>
          </a:p>
        </p:txBody>
      </p:sp>
      <p:pic>
        <p:nvPicPr>
          <p:cNvPr id="5" name="Picture 4" descr="image.jpg"/>
          <p:cNvPicPr>
            <a:picLocks noChangeAspect="1"/>
          </p:cNvPicPr>
          <p:nvPr/>
        </p:nvPicPr>
        <p:blipFill>
          <a:blip r:embed="rId3"/>
          <a:stretch>
            <a:fillRect/>
          </a:stretch>
        </p:blipFill>
        <p:spPr>
          <a:xfrm>
            <a:off x="609600" y="1244600"/>
            <a:ext cx="3524250" cy="2667000"/>
          </a:xfrm>
          <a:prstGeom prst="rect">
            <a:avLst/>
          </a:prstGeom>
        </p:spPr>
      </p:pic>
      <p:sp>
        <p:nvSpPr>
          <p:cNvPr id="6" name="TextBox 5"/>
          <p:cNvSpPr txBox="1"/>
          <p:nvPr/>
        </p:nvSpPr>
        <p:spPr>
          <a:xfrm>
            <a:off x="609600" y="39497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Gait-Adaptive Perceptive Humanoid (Fig. 1): 실물 휴머노이드가 긴 야외 계단과 갭을 오르내리는 모습. 출처: arXiv:2512.07464</a:t>
            </a:r>
          </a:p>
        </p:txBody>
      </p:sp>
      <p:pic>
        <p:nvPicPr>
          <p:cNvPr id="7" name="Picture 6" descr="image.jpg"/>
          <p:cNvPicPr>
            <a:picLocks noChangeAspect="1"/>
          </p:cNvPicPr>
          <p:nvPr/>
        </p:nvPicPr>
        <p:blipFill>
          <a:blip r:embed="rId4"/>
          <a:stretch>
            <a:fillRect/>
          </a:stretch>
        </p:blipFill>
        <p:spPr>
          <a:xfrm>
            <a:off x="4318000" y="1244600"/>
            <a:ext cx="3556000" cy="1841500"/>
          </a:xfrm>
          <a:prstGeom prst="rect">
            <a:avLst/>
          </a:prstGeom>
        </p:spPr>
      </p:pic>
      <p:sp>
        <p:nvSpPr>
          <p:cNvPr id="8" name="TextBox 7"/>
          <p:cNvSpPr txBox="1"/>
          <p:nvPr/>
        </p:nvSpPr>
        <p:spPr>
          <a:xfrm>
            <a:off x="4318000" y="31242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DPL (Fig. 1): teacher-student 증류 구조. 복원 모듈이 노이즈 섞인 깊이와 proprioception 이력으로 지형을 복원하고, 학생 정책은 그 지도를 보며 teacher 행동을 따라 배운다. 출처: arXiv:2510.07152</a:t>
            </a:r>
          </a:p>
        </p:txBody>
      </p:sp>
      <p:pic>
        <p:nvPicPr>
          <p:cNvPr id="9" name="Picture 8" descr="image.jpg"/>
          <p:cNvPicPr>
            <a:picLocks noChangeAspect="1"/>
          </p:cNvPicPr>
          <p:nvPr/>
        </p:nvPicPr>
        <p:blipFill>
          <a:blip r:embed="rId5"/>
          <a:stretch>
            <a:fillRect/>
          </a:stretch>
        </p:blipFill>
        <p:spPr>
          <a:xfrm>
            <a:off x="8026400" y="1244600"/>
            <a:ext cx="3556000" cy="1422400"/>
          </a:xfrm>
          <a:prstGeom prst="rect">
            <a:avLst/>
          </a:prstGeom>
        </p:spPr>
      </p:pic>
      <p:sp>
        <p:nvSpPr>
          <p:cNvPr id="10" name="TextBox 9"/>
          <p:cNvSpPr txBox="1"/>
          <p:nvPr/>
        </p:nvSpPr>
        <p:spPr>
          <a:xfrm>
            <a:off x="8026400" y="27051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BeamDojo (Fig. 3): 시뮬 2단계 학습(인식·보상 분리 → 실제 지형) 후 실물 배포까지의 전체 흐름. 출처: arXiv:2502.10363</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314 / 359</a:t>
            </a:r>
          </a:p>
        </p:txBody>
      </p:sp>
      <p:pic>
        <p:nvPicPr>
          <p:cNvPr id="5" name="Picture 4" descr="image.jpg"/>
          <p:cNvPicPr>
            <a:picLocks noChangeAspect="1"/>
          </p:cNvPicPr>
          <p:nvPr/>
        </p:nvPicPr>
        <p:blipFill>
          <a:blip r:embed="rId3"/>
          <a:stretch>
            <a:fillRect/>
          </a:stretch>
        </p:blipFill>
        <p:spPr>
          <a:xfrm>
            <a:off x="1758950" y="1244600"/>
            <a:ext cx="8674100" cy="2984500"/>
          </a:xfrm>
          <a:prstGeom prst="rect">
            <a:avLst/>
          </a:prstGeom>
        </p:spPr>
      </p:pic>
      <p:sp>
        <p:nvSpPr>
          <p:cNvPr id="6" name="TextBox 5"/>
          <p:cNvSpPr txBox="1"/>
          <p:nvPr/>
        </p:nvSpPr>
        <p:spPr>
          <a:xfrm>
            <a:off x="1758950" y="4267200"/>
            <a:ext cx="86741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VB-Com (Fig. 2): 인식 사용 정책과 인식 미사용 정책을 함께 학습하고, 인식이 틀리면 후자로 전환. 출처: arXiv:2502.14814</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자세히: Gait-Adaptive Perceptive Humanoid의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315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풀사이즈 휴머노이드는 긴 계단이나 갭에서 한 걸음만 잘못 딛거나 박자가 어긋나도 곧 넘어진다. 저자는 기존 방법의 한계를 셋으로 본다. 첫째, 앞을 보는 깊이 카메라 정책(Humanoid Parkour, PIE, DPL)은 짧은 영상 이력으로 발밑을 추정한다. 시야가 앞쪽뿐이라 로봇이 느려지거나 멈추거나 방향을 바꾸면 몸통 밑 지형을 놓친다. 둘째, LiDAR elevation map 방식(PIM, BeamDojo)은 지도 작성과 자세 추정 스택이 따로 있다. 그래서 복잡하고 지연·드리프트가 생기며, 정작 발 근처가 비기 쉽다. 셋째, 걸음 박자를 고정값이나 별도 모듈이 정한다. 지형 인식과 박자와 관절 명령이 함께 최적화되지 않는다.</a:t>
            </a:r>
          </a:p>
        </p:txBody>
      </p:sp>
      <p:sp>
        <p:nvSpPr>
          <p:cNvPr id="6" name="TextBox 5"/>
          <p:cNvSpPr txBox="1"/>
          <p:nvPr/>
        </p:nvSpPr>
        <p:spPr>
          <a:xfrm>
            <a:off x="609600" y="21994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센서와 관측.</a:t>
            </a:r>
            <a:r>
              <a:rPr sz="1050" b="0" i="0">
                <a:solidFill>
                  <a:srgbClr val="16213A"/>
                </a:solidFill>
                <a:latin typeface="Arial"/>
                <a:ea typeface="Malgun Gothic"/>
                <a:cs typeface="Malgun Gothic"/>
              </a:rPr>
              <a:t> 몸통 아래에 수직으로 내려다보는 RealSense D435i 한 대를 단다(60 Hz, 지면 유효 시야 2.0 m × 1.0 m). 정책이 받는 높이 지도는 몸통 중심 1.2 m × 0.8 m, 5 cm 격자로 425칸이다(</a:t>
            </a:r>
            <a:r>
              <a:rPr sz="1050" b="0" i="1">
                <a:solidFill>
                  <a:srgbClr val="16213A"/>
                </a:solidFill>
                <a:latin typeface="Arial"/>
                <a:ea typeface="Malgun Gothic"/>
                <a:cs typeface="Malgun Gothic"/>
              </a:rPr>
              <a:t>hₜ ∈ ℝ⁴²⁵</a:t>
            </a:r>
            <a:r>
              <a:rPr sz="1050" b="0" i="0">
                <a:solidFill>
                  <a:srgbClr val="16213A"/>
                </a:solidFill>
                <a:latin typeface="Arial"/>
                <a:ea typeface="Malgun Gothic"/>
                <a:cs typeface="Malgun Gothic"/>
              </a:rPr>
              <a:t>). proprioception </a:t>
            </a:r>
            <a:r>
              <a:rPr sz="1050" b="0" i="1">
                <a:solidFill>
                  <a:srgbClr val="16213A"/>
                </a:solidFill>
                <a:latin typeface="Arial"/>
                <a:ea typeface="Malgun Gothic"/>
                <a:cs typeface="Malgun Gothic"/>
              </a:rPr>
              <a:t>o^(pro)ₜ</a:t>
            </a:r>
            <a:r>
              <a:rPr sz="1050" b="0" i="0">
                <a:solidFill>
                  <a:srgbClr val="16213A"/>
                </a:solidFill>
                <a:latin typeface="Arial"/>
                <a:ea typeface="Malgun Gothic"/>
                <a:cs typeface="Malgun Gothic"/>
              </a:rPr>
              <a:t>는 속도 명령 </a:t>
            </a:r>
            <a:r>
              <a:rPr sz="1050" b="0" i="1">
                <a:solidFill>
                  <a:srgbClr val="16213A"/>
                </a:solidFill>
                <a:latin typeface="Arial"/>
                <a:ea typeface="Malgun Gothic"/>
                <a:cs typeface="Malgun Gothic"/>
              </a:rPr>
              <a:t>(vₓ, v_y, ω_(yaw))</a:t>
            </a:r>
            <a:r>
              <a:rPr sz="1050" b="0" i="0">
                <a:solidFill>
                  <a:srgbClr val="16213A"/>
                </a:solidFill>
                <a:latin typeface="Arial"/>
                <a:ea typeface="Malgun Gothic"/>
                <a:cs typeface="Malgun Gothic"/>
              </a:rPr>
              <a:t>, 몸통 각속도, 투영 중력, 관절 위치·속도, 이전 행동, 걸음 신호 </a:t>
            </a:r>
            <a:r>
              <a:rPr sz="1050" b="0" i="1">
                <a:solidFill>
                  <a:srgbClr val="16213A"/>
                </a:solidFill>
                <a:latin typeface="Arial"/>
                <a:ea typeface="Malgun Gothic"/>
                <a:cs typeface="Malgun Gothic"/>
              </a:rPr>
              <a:t>{fₜ, sin 2πφₜ, cos 2πφₜ}</a:t>
            </a:r>
            <a:r>
              <a:rPr sz="1050" b="0" i="0">
                <a:solidFill>
                  <a:srgbClr val="16213A"/>
                </a:solidFill>
                <a:latin typeface="Arial"/>
                <a:ea typeface="Malgun Gothic"/>
                <a:cs typeface="Malgun Gothic"/>
              </a:rPr>
              <a:t>다. teacher와 critic만 보는 특권 관측 </a:t>
            </a:r>
            <a:r>
              <a:rPr sz="1050" b="0" i="1">
                <a:solidFill>
                  <a:srgbClr val="16213A"/>
                </a:solidFill>
                <a:latin typeface="Arial"/>
                <a:ea typeface="Malgun Gothic"/>
                <a:cs typeface="Malgun Gothic"/>
              </a:rPr>
              <a:t>o^(pri)ₜ</a:t>
            </a:r>
            <a:r>
              <a:rPr sz="1050" b="0" i="0">
                <a:solidFill>
                  <a:srgbClr val="16213A"/>
                </a:solidFill>
                <a:latin typeface="Arial"/>
                <a:ea typeface="Malgun Gothic"/>
                <a:cs typeface="Malgun Gothic"/>
              </a:rPr>
              <a:t>는 몸통 선속도, 관절 토크·가속도, 발 접촉력, 발 높이, 몸통 높이다.</a:t>
            </a:r>
          </a:p>
        </p:txBody>
      </p:sp>
      <p:sp>
        <p:nvSpPr>
          <p:cNvPr id="7" name="TextBox 6"/>
          <p:cNvSpPr txBox="1"/>
          <p:nvPr/>
        </p:nvSpPr>
        <p:spPr>
          <a:xfrm>
            <a:off x="609600" y="293786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프레임으로 발밑 높이 지도 복원.</a:t>
            </a:r>
            <a:r>
              <a:rPr sz="1050" b="0" i="0">
                <a:solidFill>
                  <a:srgbClr val="16213A"/>
                </a:solidFill>
                <a:latin typeface="Arial"/>
                <a:ea typeface="Malgun Gothic"/>
                <a:cs typeface="Malgun Gothic"/>
              </a:rPr>
              <a:t> 깊이 영상 한 장을 카메라 내·외부 파라미터로 중력 정렬 점군으로 바꾼다. 로봇 주변 창 안의 점을 수평면에 투영하면 원시 높이 지도 </a:t>
            </a:r>
            <a:r>
              <a:rPr sz="1050" b="0" i="1">
                <a:solidFill>
                  <a:srgbClr val="16213A"/>
                </a:solidFill>
                <a:latin typeface="Arial"/>
                <a:ea typeface="Malgun Gothic"/>
                <a:cs typeface="Malgun Gothic"/>
              </a:rPr>
              <a:t>Ĥ^(raw)ₜ</a:t>
            </a:r>
            <a:r>
              <a:rPr sz="1050" b="0" i="0">
                <a:solidFill>
                  <a:srgbClr val="16213A"/>
                </a:solidFill>
                <a:latin typeface="Arial"/>
                <a:ea typeface="Malgun Gothic"/>
                <a:cs typeface="Malgun Gothic"/>
              </a:rPr>
              <a:t>가 된다. 다리가 가린 구멍과 잡티가 있어 그대로는 쓸 수 없다. U-Net 인코더·디코더가 이를 채운다. 공유 잠재에서 머리 둘이 나온다. 높이 머리는 정제된 높이 지도를, 경계 머리는 계단 앞면·연석처럼 높이가 끊기는 곳의 이진 지도를 낸다.</a:t>
            </a:r>
          </a:p>
        </p:txBody>
      </p:sp>
      <p:pic>
        <p:nvPicPr>
          <p:cNvPr id="8" name="Picture 7" descr="image.png"/>
          <p:cNvPicPr>
            <a:picLocks noChangeAspect="1"/>
          </p:cNvPicPr>
          <p:nvPr/>
        </p:nvPicPr>
        <p:blipFill>
          <a:blip r:embed="rId3"/>
          <a:stretch>
            <a:fillRect/>
          </a:stretch>
        </p:blipFill>
        <p:spPr>
          <a:xfrm>
            <a:off x="609600" y="3676253"/>
            <a:ext cx="5133975" cy="250825"/>
          </a:xfrm>
          <a:prstGeom prst="rect">
            <a:avLst/>
          </a:prstGeom>
        </p:spPr>
      </p:pic>
      <p:sp>
        <p:nvSpPr>
          <p:cNvPr id="9" name="TextBox 8"/>
          <p:cNvSpPr txBox="1"/>
          <p:nvPr/>
        </p:nvSpPr>
        <p:spPr>
          <a:xfrm>
            <a:off x="609600" y="3962598"/>
            <a:ext cx="10972800" cy="86598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H^(truth)</a:t>
            </a:r>
            <a:r>
              <a:rPr sz="1050" b="0" i="0">
                <a:solidFill>
                  <a:srgbClr val="16213A"/>
                </a:solidFill>
                <a:latin typeface="Arial"/>
                <a:ea typeface="Malgun Gothic"/>
                <a:cs typeface="Malgun Gothic"/>
              </a:rPr>
              <a:t>는 정답 높이 지도이고, </a:t>
            </a:r>
            <a:r>
              <a:rPr sz="1050" b="0" i="1">
                <a:solidFill>
                  <a:srgbClr val="16213A"/>
                </a:solidFill>
                <a:latin typeface="Arial"/>
                <a:ea typeface="Malgun Gothic"/>
                <a:cs typeface="Malgun Gothic"/>
              </a:rPr>
              <a:t>E^(truth)</a:t>
            </a:r>
            <a:r>
              <a:rPr sz="1050" b="0" i="0">
                <a:solidFill>
                  <a:srgbClr val="16213A"/>
                </a:solidFill>
                <a:latin typeface="Arial"/>
                <a:ea typeface="Malgun Gothic"/>
                <a:cs typeface="Malgun Gothic"/>
              </a:rPr>
              <a:t>는 정답 지도에 경계 검출기를 돌려 만든 이진 경계 지도다. BCE는 픽셀 단위 정확도를, Dice는 경계 픽셀이 드문 클래스 불균형 아래에서 영역 단위 겹침을 맞춘다. 경계 머리는 학습 때만 쓰고 배포 때는 버린다. 높이 회귀만 하면 가려진 모서리가 뭉개지는데, 경계 과제가 날카로운 모서리를 지키게 한다. 시간 누적도 오도메트리도 없어서 Jetson Orin NX에서 프레임당 약 11 ms에 끝나고, 제어 주기와 같은 50 Hz로 정책에 들어간다. 학습 데이터는 학습된 보행 정책을 IsaacLab 환경 100개에서 굴려 10 Hz로 모은 10,000 프레임이다. 원시 지도에는 센서 잡티와 보정 오차를 흉내 낸 잡음을 더한다.</a:t>
            </a:r>
          </a:p>
        </p:txBody>
      </p:sp>
      <p:sp>
        <p:nvSpPr>
          <p:cNvPr id="10" name="TextBox 9"/>
          <p:cNvSpPr txBox="1"/>
          <p:nvPr/>
        </p:nvSpPr>
        <p:spPr>
          <a:xfrm>
            <a:off x="609600" y="491748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11개(문단·식·그림)는 대시보드 리서치 탭의 "자세히: Gait-Adaptive Perceptive Humanoid의 방법과 수식" 토글에 있다.</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배경: 보행 위상(gait phase)과 주기 신호 — 걸음의 "지금 몇 박자째인가"를 숫자로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316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걸음은 같은 동작이 되풀이되는 주기 운동이다. 보행 위상 </a:t>
            </a:r>
            <a:r>
              <a:rPr sz="1050" b="0" i="1">
                <a:solidFill>
                  <a:srgbClr val="16213A"/>
                </a:solidFill>
                <a:latin typeface="Arial"/>
                <a:ea typeface="Malgun Gothic"/>
                <a:cs typeface="Malgun Gothic"/>
              </a:rPr>
              <a:t>φ ∈ [0, 1)</a:t>
            </a:r>
            <a:r>
              <a:rPr sz="1050" b="0" i="0">
                <a:solidFill>
                  <a:srgbClr val="16213A"/>
                </a:solidFill>
                <a:latin typeface="Arial"/>
                <a:ea typeface="Malgun Gothic"/>
                <a:cs typeface="Malgun Gothic"/>
              </a:rPr>
              <a:t>은 한 주기 안에서 지금 어디쯤인지를 나타낸다. 0에서 출발해 1이 되면 다시 0으로 돌아간다. 주파수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(Hz)는 1초에 몇 주기를 도는지다.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RL 정책은 보통 MLP라서 스스로 시간을 세지 못한다. 관측에 박자를 넣어 주면 좌우 교대, 스윙과 지지의 전환을 훨씬 쉽게 배운다. 보상도 위상으로 만들 수 있다. "지금 위상에서는 왼발이 떠 있어야 한다"를 직접 적을 수 있기 때문이다.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동작하나.</a:t>
            </a:r>
            <a:r>
              <a:rPr sz="1050" b="0" i="0">
                <a:solidFill>
                  <a:srgbClr val="16213A"/>
                </a:solidFill>
                <a:latin typeface="Arial"/>
                <a:ea typeface="Malgun Gothic"/>
                <a:cs typeface="Malgun Gothic"/>
              </a:rPr>
              <a:t> 위상은 주파수를 적분해 얻는다. 다리마다 고정 위상차 </a:t>
            </a:r>
            <a:r>
              <a:rPr sz="1050" b="0" i="1">
                <a:solidFill>
                  <a:srgbClr val="16213A"/>
                </a:solidFill>
                <a:latin typeface="Arial"/>
                <a:ea typeface="Malgun Gothic"/>
                <a:cs typeface="Malgun Gothic"/>
              </a:rPr>
              <a:t>γⁱ</a:t>
            </a:r>
            <a:r>
              <a:rPr sz="1050" b="0" i="0">
                <a:solidFill>
                  <a:srgbClr val="16213A"/>
                </a:solidFill>
                <a:latin typeface="Arial"/>
                <a:ea typeface="Malgun Gothic"/>
                <a:cs typeface="Malgun Gothic"/>
              </a:rPr>
              <a:t>를 더한다. 두 다리 교대 보행이면 왼발 0, 오른발 0.5다.</a:t>
            </a:r>
          </a:p>
        </p:txBody>
      </p:sp>
      <p:pic>
        <p:nvPicPr>
          <p:cNvPr id="8" name="Picture 7" descr="image.png"/>
          <p:cNvPicPr>
            <a:picLocks noChangeAspect="1"/>
          </p:cNvPicPr>
          <p:nvPr/>
        </p:nvPicPr>
        <p:blipFill>
          <a:blip r:embed="rId3"/>
          <a:stretch>
            <a:fillRect/>
          </a:stretch>
        </p:blipFill>
        <p:spPr>
          <a:xfrm>
            <a:off x="609600" y="2593777"/>
            <a:ext cx="3975100" cy="241300"/>
          </a:xfrm>
          <a:prstGeom prst="rect">
            <a:avLst/>
          </a:prstGeom>
        </p:spPr>
      </p:pic>
      <p:sp>
        <p:nvSpPr>
          <p:cNvPr id="9" name="TextBox 8"/>
          <p:cNvSpPr txBox="1"/>
          <p:nvPr/>
        </p:nvSpPr>
        <p:spPr>
          <a:xfrm>
            <a:off x="609600" y="287129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관측에는 </a:t>
            </a:r>
            <a:r>
              <a:rPr sz="1050" b="0" i="1">
                <a:solidFill>
                  <a:srgbClr val="16213A"/>
                </a:solidFill>
                <a:latin typeface="Arial"/>
                <a:ea typeface="Malgun Gothic"/>
                <a:cs typeface="Malgun Gothic"/>
              </a:rPr>
              <a:t>φ</a:t>
            </a:r>
            <a:r>
              <a:rPr sz="1050" b="0" i="0">
                <a:solidFill>
                  <a:srgbClr val="16213A"/>
                </a:solidFill>
                <a:latin typeface="Arial"/>
                <a:ea typeface="Malgun Gothic"/>
                <a:cs typeface="Malgun Gothic"/>
              </a:rPr>
              <a:t> 자체가 아니라 </a:t>
            </a:r>
            <a:r>
              <a:rPr sz="1050" b="0" i="1">
                <a:solidFill>
                  <a:srgbClr val="16213A"/>
                </a:solidFill>
                <a:latin typeface="Arial"/>
                <a:ea typeface="Malgun Gothic"/>
                <a:cs typeface="Malgun Gothic"/>
              </a:rPr>
              <a:t>sin 2πφ</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cos 2πφ</a:t>
            </a:r>
            <a:r>
              <a:rPr sz="1050" b="0" i="0">
                <a:solidFill>
                  <a:srgbClr val="16213A"/>
                </a:solidFill>
                <a:latin typeface="Arial"/>
                <a:ea typeface="Malgun Gothic"/>
                <a:cs typeface="Malgun Gothic"/>
              </a:rPr>
              <a:t>를 넣는다. 0.99와 0.01은 실제로 거의 같은 순간인데 숫자로는 멀다. 원 위의 점으로 바꾸면 이 끊김이 사라진다.</a:t>
            </a:r>
          </a:p>
        </p:txBody>
      </p:sp>
      <p:sp>
        <p:nvSpPr>
          <p:cNvPr id="10" name="TextBox 9"/>
          <p:cNvSpPr txBox="1"/>
          <p:nvPr/>
        </p:nvSpPr>
        <p:spPr>
          <a:xfrm>
            <a:off x="609600" y="317668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접촉 스케줄.</a:t>
            </a:r>
            <a:r>
              <a:rPr sz="1050" b="0" i="0">
                <a:solidFill>
                  <a:srgbClr val="16213A"/>
                </a:solidFill>
                <a:latin typeface="Arial"/>
                <a:ea typeface="Malgun Gothic"/>
                <a:cs typeface="Malgun Gothic"/>
              </a:rPr>
              <a:t> 다리 위상이 </a:t>
            </a:r>
            <a:r>
              <a:rPr sz="1050" b="0" i="1">
                <a:solidFill>
                  <a:srgbClr val="16213A"/>
                </a:solidFill>
                <a:latin typeface="Arial"/>
                <a:ea typeface="Malgun Gothic"/>
                <a:cs typeface="Malgun Gothic"/>
              </a:rPr>
              <a:t>[0, d)</a:t>
            </a:r>
            <a:r>
              <a:rPr sz="1050" b="0" i="0">
                <a:solidFill>
                  <a:srgbClr val="16213A"/>
                </a:solidFill>
                <a:latin typeface="Arial"/>
                <a:ea typeface="Malgun Gothic"/>
                <a:cs typeface="Malgun Gothic"/>
              </a:rPr>
              <a:t>면 지지(발이 땅에), </a:t>
            </a:r>
            <a:r>
              <a:rPr sz="1050" b="0" i="1">
                <a:solidFill>
                  <a:srgbClr val="16213A"/>
                </a:solidFill>
                <a:latin typeface="Arial"/>
                <a:ea typeface="Malgun Gothic"/>
                <a:cs typeface="Malgun Gothic"/>
              </a:rPr>
              <a:t>[d, 1)</a:t>
            </a:r>
            <a:r>
              <a:rPr sz="1050" b="0" i="0">
                <a:solidFill>
                  <a:srgbClr val="16213A"/>
                </a:solidFill>
                <a:latin typeface="Arial"/>
                <a:ea typeface="Malgun Gothic"/>
                <a:cs typeface="Malgun Gothic"/>
              </a:rPr>
              <a:t>면 스윙(발이 공중에)이라고 정한다.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는 duty factor다. 이렇게 정한 원하는 접촉 </a:t>
            </a:r>
            <a:r>
              <a:rPr sz="1050" b="0" i="1">
                <a:solidFill>
                  <a:srgbClr val="16213A"/>
                </a:solidFill>
                <a:latin typeface="Arial"/>
                <a:ea typeface="Malgun Gothic"/>
                <a:cs typeface="Malgun Gothic"/>
              </a:rPr>
              <a:t>C^(des)ᵢ(φⁱ)</a:t>
            </a:r>
            <a:r>
              <a:rPr sz="1050" b="0" i="0">
                <a:solidFill>
                  <a:srgbClr val="16213A"/>
                </a:solidFill>
                <a:latin typeface="Arial"/>
                <a:ea typeface="Malgun Gothic"/>
                <a:cs typeface="Malgun Gothic"/>
              </a:rPr>
              <a:t>로 보상을 만든다. 스윙이어야 할 발이 힘을 받으면 벌점, 지지여야 할 발이 미끄러지면 벌점이다. Gait-Adaptive 논문의 접촉-스윙 추종 항이 이 꼴이다.</a:t>
            </a:r>
          </a:p>
        </p:txBody>
      </p:sp>
      <p:sp>
        <p:nvSpPr>
          <p:cNvPr id="11" name="TextBox 10"/>
          <p:cNvSpPr txBox="1"/>
          <p:nvPr/>
        </p:nvSpPr>
        <p:spPr>
          <a:xfrm>
            <a:off x="609600" y="36985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f = 1.25</a:t>
            </a:r>
            <a:r>
              <a:rPr sz="1050" b="0" i="0">
                <a:solidFill>
                  <a:srgbClr val="16213A"/>
                </a:solidFill>
                <a:latin typeface="Arial"/>
                <a:ea typeface="Malgun Gothic"/>
                <a:cs typeface="Malgun Gothic"/>
              </a:rPr>
              <a:t> Hz, </a:t>
            </a:r>
            <a:r>
              <a:rPr sz="1050" b="0" i="1">
                <a:solidFill>
                  <a:srgbClr val="16213A"/>
                </a:solidFill>
                <a:latin typeface="Arial"/>
                <a:ea typeface="Malgun Gothic"/>
                <a:cs typeface="Malgun Gothic"/>
              </a:rPr>
              <a:t>Δ t = 0.02</a:t>
            </a:r>
            <a:r>
              <a:rPr sz="1050" b="0" i="0">
                <a:solidFill>
                  <a:srgbClr val="16213A"/>
                </a:solidFill>
                <a:latin typeface="Arial"/>
                <a:ea typeface="Malgun Gothic"/>
                <a:cs typeface="Malgun Gothic"/>
              </a:rPr>
              <a:t> s(50 Hz)면 한 스텝에 위상이 0.025씩 오른다. 40스텝, 즉 0.8 s에 한 주기를 돈다. 좌우 위상차가 0.5이므로 0.4 s마다 딛는 발이 바뀐다.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를 1.0 Hz로 낮추면 한 주기가 1.0 s로 늘어 한 걸음에 쓸 시간이 길어진다. 계단에서 발을 정확히 놓아야 할 때 유리하다.</a:t>
            </a:r>
          </a:p>
        </p:txBody>
      </p:sp>
      <p:sp>
        <p:nvSpPr>
          <p:cNvPr id="12" name="TextBox 11"/>
          <p:cNvSpPr txBox="1"/>
          <p:nvPr/>
        </p:nvSpPr>
        <p:spPr>
          <a:xfrm>
            <a:off x="609600" y="422046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고정 주파수와 적응 주파수.</a:t>
            </a:r>
            <a:r>
              <a:rPr sz="1050" b="0" i="0">
                <a:solidFill>
                  <a:srgbClr val="16213A"/>
                </a:solidFill>
                <a:latin typeface="Arial"/>
                <a:ea typeface="Malgun Gothic"/>
                <a:cs typeface="Malgun Gothic"/>
              </a:rPr>
              <a:t> 예전 방법은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를 고정하거나 속도 명령의 간단한 함수로 두었다. 평지에서는 안정하지만 지형에 따라 박자를 바꾸기 어렵다. 이 탭의 두 논문은 정책이 박자를 바꾸게 한다. Gait-Adaptive는 </a:t>
            </a:r>
            <a:r>
              <a:rPr sz="1050" b="0" i="1">
                <a:solidFill>
                  <a:srgbClr val="16213A"/>
                </a:solidFill>
                <a:latin typeface="Arial"/>
                <a:ea typeface="Malgun Gothic"/>
                <a:cs typeface="Malgun Gothic"/>
              </a:rPr>
              <a:t>fₜ</a:t>
            </a:r>
            <a:r>
              <a:rPr sz="1050" b="0" i="0">
                <a:solidFill>
                  <a:srgbClr val="16213A"/>
                </a:solidFill>
                <a:latin typeface="Arial"/>
                <a:ea typeface="Malgun Gothic"/>
                <a:cs typeface="Malgun Gothic"/>
              </a:rPr>
              <a:t> 자체를 행동으로 내고, DPL은 위상 증분에 clip된 잔차 </a:t>
            </a:r>
            <a:r>
              <a:rPr sz="1050" b="0" i="1">
                <a:solidFill>
                  <a:srgbClr val="16213A"/>
                </a:solidFill>
                <a:latin typeface="Arial"/>
                <a:ea typeface="Malgun Gothic"/>
                <a:cs typeface="Malgun Gothic"/>
              </a:rPr>
              <a:t>δφₜ</a:t>
            </a:r>
            <a:r>
              <a:rPr sz="1050" b="0" i="0">
                <a:solidFill>
                  <a:srgbClr val="16213A"/>
                </a:solidFill>
                <a:latin typeface="Arial"/>
                <a:ea typeface="Malgun Gothic"/>
                <a:cs typeface="Malgun Gothic"/>
              </a:rPr>
              <a:t>를 더한다.</a:t>
            </a:r>
          </a:p>
        </p:txBody>
      </p:sp>
      <p:sp>
        <p:nvSpPr>
          <p:cNvPr id="13" name="TextBox 12"/>
          <p:cNvSpPr txBox="1"/>
          <p:nvPr/>
        </p:nvSpPr>
        <p:spPr>
          <a:xfrm>
            <a:off x="609600" y="474235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travplan과의 관계.</a:t>
            </a:r>
            <a:r>
              <a:rPr sz="1050" b="0" i="0">
                <a:solidFill>
                  <a:srgbClr val="16213A"/>
                </a:solidFill>
                <a:latin typeface="Arial"/>
                <a:ea typeface="Malgun Gothic"/>
                <a:cs typeface="Malgun Gothic"/>
              </a:rPr>
              <a:t> 바퀴 로봇에는 걸음이 없어서 직접 해당하지는 않는다. 다만 "각도를 </a:t>
            </a:r>
            <a:r>
              <a:rPr sz="1050" b="0" i="1">
                <a:solidFill>
                  <a:srgbClr val="16213A"/>
                </a:solidFill>
                <a:latin typeface="Arial"/>
                <a:ea typeface="Malgun Gothic"/>
                <a:cs typeface="Malgun Gothic"/>
              </a:rPr>
              <a:t>sin</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cos</a:t>
            </a:r>
            <a:r>
              <a:rPr sz="1050" b="0" i="0">
                <a:solidFill>
                  <a:srgbClr val="16213A"/>
                </a:solidFill>
                <a:latin typeface="Arial"/>
                <a:ea typeface="Malgun Gothic"/>
                <a:cs typeface="Malgun Gothic"/>
              </a:rPr>
              <a:t> 쌍으로 넣는다"는 기법은 그대로 쓴다. 학습 플래너의 입력에 헤딩(yaw)이나 스워브 조향각을 넣을 때 </a:t>
            </a:r>
            <a:r>
              <a:rPr sz="1050" b="0" i="1">
                <a:solidFill>
                  <a:srgbClr val="16213A"/>
                </a:solidFill>
                <a:latin typeface="Arial"/>
                <a:ea typeface="Malgun Gothic"/>
                <a:cs typeface="Malgun Gothic"/>
              </a:rPr>
              <a:t>±π</a:t>
            </a:r>
            <a:r>
              <a:rPr sz="1050" b="0" i="0">
                <a:solidFill>
                  <a:srgbClr val="16213A"/>
                </a:solidFill>
                <a:latin typeface="Arial"/>
                <a:ea typeface="Malgun Gothic"/>
                <a:cs typeface="Malgun Gothic"/>
              </a:rPr>
              <a:t> 경계의 끊김을 없애는 같은 방법이다.</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자세히: DPL의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317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지형을 보는 휴머노이드 보행은 두 갈래였다. 깊이 영상에서 바로 행동을 배우는 end-to-end 방식은 학습 효율이 낮고, 시뮬 깊이와 실제 깊이의 차이가 크다. elevation map 방식은 센서 여러 개와 위치 추정이 필요해 지연과 드리프트가 생긴다. 갭 바닥처럼 가려진 곳은 손으로 만든 규칙으로 메워야 한다. 가장 가까운 이전 연구(Duan et al., ICRA 2024)는 합성 깊이로 복원기를 따로 오프라인 학습했다. 그래서 정책은 복원기가 실제로 내는 오차를 본 적이 없다. DPL은 깊이 합성을 RL 루프 안에 넣는다. 정책이 복원된 지도를 직접 보며 미세조정되므로 인식 오차와 지연에 맞춰 행동을 고친다.</a:t>
            </a:r>
          </a:p>
        </p:txBody>
      </p:sp>
      <p:sp>
        <p:nvSpPr>
          <p:cNvPr id="6" name="TextBox 5"/>
          <p:cNvSpPr txBox="1"/>
          <p:nvPr/>
        </p:nvSpPr>
        <p:spPr>
          <a:xfrm>
            <a:off x="609600" y="21994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전체 구조.</a:t>
            </a:r>
            <a:r>
              <a:rPr sz="1050" b="0" i="0">
                <a:solidFill>
                  <a:srgbClr val="16213A"/>
                </a:solidFill>
                <a:latin typeface="Arial"/>
                <a:ea typeface="Malgun Gothic"/>
                <a:cs typeface="Malgun Gothic"/>
              </a:rPr>
              <a:t> 세 부분이다. 깊이 5장과 proprioception으로 발 앞 지형을 복원하는 복원기, 로봇 몸까지 그려 넣는 깊이 합성기, blind 백본 위에 지각 변조기를 얹은 정책이다.</a:t>
            </a:r>
          </a:p>
        </p:txBody>
      </p:sp>
      <p:sp>
        <p:nvSpPr>
          <p:cNvPr id="7" name="TextBox 6"/>
          <p:cNvSpPr txBox="1"/>
          <p:nvPr/>
        </p:nvSpPr>
        <p:spPr>
          <a:xfrm>
            <a:off x="609600" y="2504877"/>
            <a:ext cx="10972800" cy="914003"/>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깊이 5장 ─ CNN ──────────────── K, V ─┐</a:t>
            </a:r>
          </a:p>
          <a:p>
            <a:r>
              <a:rPr sz="750" b="0" i="0">
                <a:solidFill>
                  <a:srgbClr val="F4F1EA"/>
                </a:solidFill>
                <a:latin typeface="Consolas"/>
                <a:ea typeface="Malgun Gothic"/>
                <a:cs typeface="Malgun Gothic"/>
              </a:rPr>
              <a:t>proprio 이력 50스텝 ─ 임베딩 ─── Q ───┴─ cross-attention ─ GRU ─ 디코더 → H_rough</a:t>
            </a:r>
          </a:p>
          <a:p>
            <a:r>
              <a:rPr sz="750" b="0" i="0">
                <a:solidFill>
                  <a:srgbClr val="F4F1EA"/>
                </a:solidFill>
                <a:latin typeface="Consolas"/>
                <a:ea typeface="Malgun Gothic"/>
                <a:cs typeface="Malgun Gothic"/>
              </a:rPr>
              <a:t>                                                     H_rough + 깊이 잠재 ─ 조건부 U-Net → H_refined (1 m × 1 m, 5 cm)</a:t>
            </a:r>
          </a:p>
          <a:p>
            <a:r>
              <a:rPr sz="750" b="0" i="0">
                <a:solidFill>
                  <a:srgbClr val="F4F1EA"/>
                </a:solidFill>
                <a:latin typeface="Consolas"/>
                <a:ea typeface="Malgun Gothic"/>
                <a:cs typeface="Malgun Gothic"/>
              </a:rPr>
              <a:t>proprio ─ blind 정책 ─────────── a_blind ───────────────┐</a:t>
            </a:r>
          </a:p>
          <a:p>
            <a:r>
              <a:rPr sz="750" b="0" i="0">
                <a:solidFill>
                  <a:srgbClr val="F4F1EA"/>
                </a:solidFill>
                <a:latin typeface="Consolas"/>
                <a:ea typeface="Malgun Gothic"/>
                <a:cs typeface="Malgun Gothic"/>
              </a:rPr>
              <a:t>[proprio, H_refined, a_blind] ─ 지각 변조기 ─ a_mod, δφ, δv ─ 볼록 결합·잔차 → 관절 목표 20 + 명령 잔차 2</a:t>
            </a:r>
          </a:p>
        </p:txBody>
      </p:sp>
      <p:sp>
        <p:nvSpPr>
          <p:cNvPr id="8" name="TextBox 7"/>
          <p:cNvSpPr txBox="1"/>
          <p:nvPr/>
        </p:nvSpPr>
        <p:spPr>
          <a:xfrm>
            <a:off x="609600" y="350778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지형 복원: proprioception이 묻고 깊이가 답한다.</a:t>
            </a:r>
            <a:r>
              <a:rPr sz="1050" b="0" i="0">
                <a:solidFill>
                  <a:srgbClr val="16213A"/>
                </a:solidFill>
                <a:latin typeface="Arial"/>
                <a:ea typeface="Malgun Gothic"/>
                <a:cs typeface="Malgun Gothic"/>
              </a:rPr>
              <a:t> 입력은 proprioception 이력 </a:t>
            </a:r>
            <a:r>
              <a:rPr sz="1050" b="0" i="1">
                <a:solidFill>
                  <a:srgbClr val="16213A"/>
                </a:solidFill>
                <a:latin typeface="Arial"/>
                <a:ea typeface="Malgun Gothic"/>
                <a:cs typeface="Malgun Gothic"/>
              </a:rPr>
              <a:t>s_(t-50:t)</a:t>
            </a:r>
            <a:r>
              <a:rPr sz="1050" b="0" i="0">
                <a:solidFill>
                  <a:srgbClr val="16213A"/>
                </a:solidFill>
                <a:latin typeface="Arial"/>
                <a:ea typeface="Malgun Gothic"/>
                <a:cs typeface="Malgun Gothic"/>
              </a:rPr>
              <a:t>와 최근 깊이 </a:t>
            </a:r>
            <a:r>
              <a:rPr sz="1050" b="0" i="1">
                <a:solidFill>
                  <a:srgbClr val="16213A"/>
                </a:solidFill>
                <a:latin typeface="Arial"/>
                <a:ea typeface="Malgun Gothic"/>
                <a:cs typeface="Malgun Gothic"/>
              </a:rPr>
              <a:t>H = 5</a:t>
            </a:r>
            <a:r>
              <a:rPr sz="1050" b="0" i="0">
                <a:solidFill>
                  <a:srgbClr val="16213A"/>
                </a:solidFill>
                <a:latin typeface="Arial"/>
                <a:ea typeface="Malgun Gothic"/>
                <a:cs typeface="Malgun Gothic"/>
              </a:rPr>
              <a:t>장이다. 깊이는 합성곱 인코더로 압축하고, proprioception은 잠재 벡터로 임베딩한다. cross-attention에서 query는 proprioception, key·value는 깊이 특징이다 (배경: attention과 cross-attention 토글 참고).</a:t>
            </a:r>
          </a:p>
        </p:txBody>
      </p:sp>
      <p:pic>
        <p:nvPicPr>
          <p:cNvPr id="9" name="Picture 8" descr="image.png"/>
          <p:cNvPicPr>
            <a:picLocks noChangeAspect="1"/>
          </p:cNvPicPr>
          <p:nvPr/>
        </p:nvPicPr>
        <p:blipFill>
          <a:blip r:embed="rId3"/>
          <a:stretch>
            <a:fillRect/>
          </a:stretch>
        </p:blipFill>
        <p:spPr>
          <a:xfrm>
            <a:off x="609600" y="4029670"/>
            <a:ext cx="3565525" cy="254000"/>
          </a:xfrm>
          <a:prstGeom prst="rect">
            <a:avLst/>
          </a:prstGeom>
        </p:spPr>
      </p:pic>
      <p:sp>
        <p:nvSpPr>
          <p:cNvPr id="10" name="TextBox 9"/>
          <p:cNvSpPr txBox="1"/>
          <p:nvPr/>
        </p:nvSpPr>
        <p:spPr>
          <a:xfrm>
            <a:off x="609600" y="431571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proprioception에는 걸음 위상, 자세, 속도가 담겨 있다. 그래서 "지금 몸 상태에 중요한 깊이 영역"에 가중치가 간다. 융합 특징은 GRU를 거쳐 시간 일관성을 유지하고 못 본 지형을 누적한다(GRU는 배경 GRU 토글 참고). 디코더가 거친 지도 </a:t>
            </a:r>
            <a:r>
              <a:rPr sz="1050" b="0" i="1">
                <a:solidFill>
                  <a:srgbClr val="16213A"/>
                </a:solidFill>
                <a:latin typeface="Arial"/>
                <a:ea typeface="Malgun Gothic"/>
                <a:cs typeface="Malgun Gothic"/>
              </a:rPr>
              <a:t>Ĥ^(rough)ₜ</a:t>
            </a:r>
            <a:r>
              <a:rPr sz="1050" b="0" i="0">
                <a:solidFill>
                  <a:srgbClr val="16213A"/>
                </a:solidFill>
                <a:latin typeface="Arial"/>
                <a:ea typeface="Malgun Gothic"/>
                <a:cs typeface="Malgun Gothic"/>
              </a:rPr>
              <a:t>를 내면, 조건부 U-Net이 그것과 깊이 잠재를 함께 받아 정제한다.</a:t>
            </a:r>
          </a:p>
        </p:txBody>
      </p:sp>
      <p:pic>
        <p:nvPicPr>
          <p:cNvPr id="11" name="Picture 10" descr="image.png"/>
          <p:cNvPicPr>
            <a:picLocks noChangeAspect="1"/>
          </p:cNvPicPr>
          <p:nvPr/>
        </p:nvPicPr>
        <p:blipFill>
          <a:blip r:embed="rId4"/>
          <a:stretch>
            <a:fillRect/>
          </a:stretch>
        </p:blipFill>
        <p:spPr>
          <a:xfrm>
            <a:off x="609600" y="4837609"/>
            <a:ext cx="3006725" cy="269875"/>
          </a:xfrm>
          <a:prstGeom prst="rect">
            <a:avLst/>
          </a:prstGeom>
        </p:spPr>
      </p:pic>
      <p:sp>
        <p:nvSpPr>
          <p:cNvPr id="12" name="TextBox 11"/>
          <p:cNvSpPr txBox="1"/>
          <p:nvPr/>
        </p:nvSpPr>
        <p:spPr>
          <a:xfrm>
            <a:off x="609600" y="513973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거친 지도는 MSE로, 정제 지도는 L1로 배운다. MSE만 쓰면 모서리가 흐려지고 평면이 울퉁불퉁해진다. L1은 큰 오차에 덜 민감해서 모서리를 날카롭게, 평면을 평평하게 남긴다. 출력은 로봇 앞 1 m × 1 m, 5 cm 격자의 높이 지도이고, 값은 몸통 기준 상대 높이다. 그래서 전역 지도와 오도메트리가 필요 없다.</a:t>
            </a:r>
          </a:p>
        </p:txBody>
      </p:sp>
      <p:sp>
        <p:nvSpPr>
          <p:cNvPr id="13" name="TextBox 12"/>
          <p:cNvSpPr txBox="1"/>
          <p:nvPr/>
        </p:nvSpPr>
        <p:spPr>
          <a:xfrm>
            <a:off x="609600" y="566162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14개(문단·식·그림)는 대시보드 리서치 탭의 "자세히: DPL의 방법과 수식" 토글에 있다.</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배경: attention과 cross-attention — 여러 항목 중 지금 필요한 것에 가중치를 주어 섞는다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318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attention은 입력 항목(토큰) 여러 개를 가중 평균하는 연산이다. 가중치는 고정이 아니라 "지금 묻는 것"과 각 항목이 얼마나 맞는지로 매번 새로 정한다.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깊이 영상 특징이 수십 개 있어도 지금 발을 딛는 데 중요한 것은 몇 개뿐이다. 합성곱이나 MLP는 어느 위치를 볼지 가중치에 고정해 두지만, attention은 상황에 따라 보는 곳을 바꾼다.</a:t>
            </a:r>
          </a:p>
        </p:txBody>
      </p:sp>
      <p:sp>
        <p:nvSpPr>
          <p:cNvPr id="7" name="TextBox 6"/>
          <p:cNvSpPr txBox="1"/>
          <p:nvPr/>
        </p:nvSpPr>
        <p:spPr>
          <a:xfrm>
            <a:off x="609600" y="18553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동작하나.</a:t>
            </a:r>
            <a:r>
              <a:rPr sz="1050" b="0" i="0">
                <a:solidFill>
                  <a:srgbClr val="16213A"/>
                </a:solidFill>
                <a:latin typeface="Arial"/>
                <a:ea typeface="Malgun Gothic"/>
                <a:cs typeface="Malgun Gothic"/>
              </a:rPr>
              <a:t> query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n_q × d</a:t>
            </a:r>
            <a:r>
              <a:rPr sz="1050" b="0" i="0">
                <a:solidFill>
                  <a:srgbClr val="16213A"/>
                </a:solidFill>
                <a:latin typeface="Arial"/>
                <a:ea typeface="Malgun Gothic"/>
                <a:cs typeface="Malgun Gothic"/>
              </a:rPr>
              <a:t>), key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nₖ × d</a:t>
            </a:r>
            <a:r>
              <a:rPr sz="1050" b="0" i="0">
                <a:solidFill>
                  <a:srgbClr val="16213A"/>
                </a:solidFill>
                <a:latin typeface="Arial"/>
                <a:ea typeface="Malgun Gothic"/>
                <a:cs typeface="Malgun Gothic"/>
              </a:rPr>
              <a:t>), value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nₖ × dᵥ</a:t>
            </a:r>
            <a:r>
              <a:rPr sz="1050" b="0" i="0">
                <a:solidFill>
                  <a:srgbClr val="16213A"/>
                </a:solidFill>
                <a:latin typeface="Arial"/>
                <a:ea typeface="Malgun Gothic"/>
                <a:cs typeface="Malgun Gothic"/>
              </a:rPr>
              <a:t>)를 받는다.</a:t>
            </a:r>
          </a:p>
        </p:txBody>
      </p:sp>
      <p:pic>
        <p:nvPicPr>
          <p:cNvPr id="8" name="Picture 7" descr="image.png"/>
          <p:cNvPicPr>
            <a:picLocks noChangeAspect="1"/>
          </p:cNvPicPr>
          <p:nvPr/>
        </p:nvPicPr>
        <p:blipFill>
          <a:blip r:embed="rId3"/>
          <a:stretch>
            <a:fillRect/>
          </a:stretch>
        </p:blipFill>
        <p:spPr>
          <a:xfrm>
            <a:off x="609600" y="2160786"/>
            <a:ext cx="2733675" cy="444500"/>
          </a:xfrm>
          <a:prstGeom prst="rect">
            <a:avLst/>
          </a:prstGeom>
        </p:spPr>
      </p:pic>
      <p:sp>
        <p:nvSpPr>
          <p:cNvPr id="9" name="TextBox 8"/>
          <p:cNvSpPr txBox="1"/>
          <p:nvPr/>
        </p:nvSpPr>
        <p:spPr>
          <a:xfrm>
            <a:off x="609600" y="2612827"/>
            <a:ext cx="10972800" cy="649486"/>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QK^⊤</a:t>
            </a:r>
            <a:r>
              <a:rPr sz="1050" b="0" i="0">
                <a:solidFill>
                  <a:srgbClr val="16213A"/>
                </a:solidFill>
                <a:latin typeface="Arial"/>
                <a:ea typeface="Malgun Gothic"/>
                <a:cs typeface="Malgun Gothic"/>
              </a:rPr>
              <a:t>의 </a:t>
            </a:r>
            <a:r>
              <a:rPr sz="1050" b="0" i="1">
                <a:solidFill>
                  <a:srgbClr val="16213A"/>
                </a:solidFill>
                <a:latin typeface="Arial"/>
                <a:ea typeface="Malgun Gothic"/>
                <a:cs typeface="Malgun Gothic"/>
              </a:rPr>
              <a:t>(i, j)</a:t>
            </a:r>
            <a:r>
              <a:rPr sz="1050" b="0" i="0">
                <a:solidFill>
                  <a:srgbClr val="16213A"/>
                </a:solidFill>
                <a:latin typeface="Arial"/>
                <a:ea typeface="Malgun Gothic"/>
                <a:cs typeface="Malgun Gothic"/>
              </a:rPr>
              <a:t> 원소는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번째 query와 </a:t>
            </a:r>
            <a:r>
              <a:rPr sz="1050" b="0" i="1">
                <a:solidFill>
                  <a:srgbClr val="16213A"/>
                </a:solidFill>
                <a:latin typeface="Arial"/>
                <a:ea typeface="Malgun Gothic"/>
                <a:cs typeface="Malgun Gothic"/>
              </a:rPr>
              <a:t>j</a:t>
            </a:r>
            <a:r>
              <a:rPr sz="1050" b="0" i="0">
                <a:solidFill>
                  <a:srgbClr val="16213A"/>
                </a:solidFill>
                <a:latin typeface="Arial"/>
                <a:ea typeface="Malgun Gothic"/>
                <a:cs typeface="Malgun Gothic"/>
              </a:rPr>
              <a:t>번째 key의 내적, 즉 유사도다. softmax는 행마다 적용해 합이 1인 가중치로 바꾼다. 결과는 각 query마다 value들의 가중 평균이다.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로 나누는 이유는 차원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가 크면 내적의 분산이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에 비례해 커지기 때문이다. 그대로 두면 softmax가 한 항목에 쏠려 포화하고 기울기가 사라진다. 실제로는 </a:t>
            </a:r>
            <a:r>
              <a:rPr sz="1050" b="0" i="1">
                <a:solidFill>
                  <a:srgbClr val="16213A"/>
                </a:solidFill>
                <a:latin typeface="Arial"/>
                <a:ea typeface="Malgun Gothic"/>
                <a:cs typeface="Malgun Gothic"/>
              </a:rPr>
              <a:t>Q = XW_Q</a:t>
            </a:r>
            <a:r>
              <a:rPr sz="1050" b="0" i="0">
                <a:solidFill>
                  <a:srgbClr val="16213A"/>
                </a:solidFill>
                <a:latin typeface="Arial"/>
                <a:ea typeface="Malgun Gothic"/>
                <a:cs typeface="Malgun Gothic"/>
              </a:rPr>
              <a:t>처럼 입력에 학습 행렬을 곱해 만들고, 이런 머리를 여러 개 병렬로 두는 multi-head를 쓴다.</a:t>
            </a:r>
          </a:p>
        </p:txBody>
      </p:sp>
      <p:sp>
        <p:nvSpPr>
          <p:cNvPr id="10" name="TextBox 9"/>
          <p:cNvSpPr txBox="1"/>
          <p:nvPr/>
        </p:nvSpPr>
        <p:spPr>
          <a:xfrm>
            <a:off x="609600" y="33512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self-attention과 cross-attention.</a:t>
            </a:r>
            <a:r>
              <a:rPr sz="1050" b="0" i="0">
                <a:solidFill>
                  <a:srgbClr val="16213A"/>
                </a:solidFill>
                <a:latin typeface="Arial"/>
                <a:ea typeface="Malgun Gothic"/>
                <a:cs typeface="Malgun Gothic"/>
              </a:rPr>
              <a:t> self-attention은 </a:t>
            </a:r>
            <a:r>
              <a:rPr sz="1050" b="0" i="1">
                <a:solidFill>
                  <a:srgbClr val="16213A"/>
                </a:solidFill>
                <a:latin typeface="Arial"/>
                <a:ea typeface="Malgun Gothic"/>
                <a:cs typeface="Malgun Gothic"/>
              </a:rPr>
              <a:t>Q, K, V</a:t>
            </a:r>
            <a:r>
              <a:rPr sz="1050" b="0" i="0">
                <a:solidFill>
                  <a:srgbClr val="16213A"/>
                </a:solidFill>
                <a:latin typeface="Arial"/>
                <a:ea typeface="Malgun Gothic"/>
                <a:cs typeface="Malgun Gothic"/>
              </a:rPr>
              <a:t>를 모두 같은 입력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에서 만든다. 한 집합 안의 항목들이 서로를 참고해 문맥을 반영한 표현이 된다. cross-attention은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를 입력 A에서,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를 입력 B에서 만든다. A가 B에게 묻는 꼴이다. 출력 개수는 query 개수 </a:t>
            </a:r>
            <a:r>
              <a:rPr sz="1050" b="0" i="1">
                <a:solidFill>
                  <a:srgbClr val="16213A"/>
                </a:solidFill>
                <a:latin typeface="Arial"/>
                <a:ea typeface="Malgun Gothic"/>
                <a:cs typeface="Malgun Gothic"/>
              </a:rPr>
              <a:t>n_q</a:t>
            </a:r>
            <a:r>
              <a:rPr sz="1050" b="0" i="0">
                <a:solidFill>
                  <a:srgbClr val="16213A"/>
                </a:solidFill>
                <a:latin typeface="Arial"/>
                <a:ea typeface="Malgun Gothic"/>
                <a:cs typeface="Malgun Gothic"/>
              </a:rPr>
              <a:t>를 따르므로, 결과는 "A의 관점에서 골라 낸 B의 정보"다. 비용은 </a:t>
            </a:r>
            <a:r>
              <a:rPr sz="1050" b="0" i="1">
                <a:solidFill>
                  <a:srgbClr val="16213A"/>
                </a:solidFill>
                <a:latin typeface="Arial"/>
                <a:ea typeface="Malgun Gothic"/>
                <a:cs typeface="Malgun Gothic"/>
              </a:rPr>
              <a:t>n_q × nₖ</a:t>
            </a:r>
            <a:r>
              <a:rPr sz="1050" b="0" i="0">
                <a:solidFill>
                  <a:srgbClr val="16213A"/>
                </a:solidFill>
                <a:latin typeface="Arial"/>
                <a:ea typeface="Malgun Gothic"/>
                <a:cs typeface="Malgun Gothic"/>
              </a:rPr>
              <a:t>에 비례한다.</a:t>
            </a:r>
          </a:p>
        </p:txBody>
      </p:sp>
      <p:sp>
        <p:nvSpPr>
          <p:cNvPr id="11" name="TextBox 10"/>
          <p:cNvSpPr txBox="1"/>
          <p:nvPr/>
        </p:nvSpPr>
        <p:spPr>
          <a:xfrm>
            <a:off x="609600" y="387310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깊이 특징 토큰 셋(발 바로 앞, 발 옆, 먼 곳)이 있다. proprioception query가 "왼발 스윙 중, 전진"을 담고 있고, 세 key와의 점수가 </a:t>
            </a:r>
            <a:r>
              <a:rPr sz="1050" b="0" i="1">
                <a:solidFill>
                  <a:srgbClr val="16213A"/>
                </a:solidFill>
                <a:latin typeface="Arial"/>
                <a:ea typeface="Malgun Gothic"/>
                <a:cs typeface="Malgun Gothic"/>
              </a:rPr>
              <a:t>[2, 0, -1]</a:t>
            </a:r>
            <a:r>
              <a:rPr sz="1050" b="0" i="0">
                <a:solidFill>
                  <a:srgbClr val="16213A"/>
                </a:solidFill>
                <a:latin typeface="Arial"/>
                <a:ea typeface="Malgun Gothic"/>
                <a:cs typeface="Malgun Gothic"/>
              </a:rPr>
              <a:t>이라고 하자(</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로 나눈 뒤). softmax를 하면 </a:t>
            </a:r>
            <a:r>
              <a:rPr sz="1050" b="0" i="1">
                <a:solidFill>
                  <a:srgbClr val="16213A"/>
                </a:solidFill>
                <a:latin typeface="Arial"/>
                <a:ea typeface="Malgun Gothic"/>
                <a:cs typeface="Malgun Gothic"/>
              </a:rPr>
              <a:t>e² = 7.39</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e⁰ = 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e⁻¹ = 0.37</a:t>
            </a:r>
            <a:r>
              <a:rPr sz="1050" b="0" i="0">
                <a:solidFill>
                  <a:srgbClr val="16213A"/>
                </a:solidFill>
                <a:latin typeface="Arial"/>
                <a:ea typeface="Malgun Gothic"/>
                <a:cs typeface="Malgun Gothic"/>
              </a:rPr>
              <a:t>이므로 가중치는 약 </a:t>
            </a:r>
            <a:r>
              <a:rPr sz="1050" b="0" i="1">
                <a:solidFill>
                  <a:srgbClr val="16213A"/>
                </a:solidFill>
                <a:latin typeface="Arial"/>
                <a:ea typeface="Malgun Gothic"/>
                <a:cs typeface="Malgun Gothic"/>
              </a:rPr>
              <a:t>[0.84, 0.11, 0.04]</a:t>
            </a:r>
            <a:r>
              <a:rPr sz="1050" b="0" i="0">
                <a:solidFill>
                  <a:srgbClr val="16213A"/>
                </a:solidFill>
                <a:latin typeface="Arial"/>
                <a:ea typeface="Malgun Gothic"/>
                <a:cs typeface="Malgun Gothic"/>
              </a:rPr>
              <a:t>다. 출력은 거의 "발 바로 앞" 토큰의 value가 된다. 다음 순간 오른발이 스윙하면 query가 바뀌어 다른 토큰에 가중치가 간다.</a:t>
            </a:r>
          </a:p>
        </p:txBody>
      </p:sp>
      <p:sp>
        <p:nvSpPr>
          <p:cNvPr id="12" name="TextBox 11"/>
          <p:cNvSpPr txBox="1"/>
          <p:nvPr/>
        </p:nvSpPr>
        <p:spPr>
          <a:xfrm>
            <a:off x="609600" y="439499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탭에서는.</a:t>
            </a:r>
            <a:r>
              <a:rPr sz="1050" b="0" i="0">
                <a:solidFill>
                  <a:srgbClr val="16213A"/>
                </a:solidFill>
                <a:latin typeface="Arial"/>
                <a:ea typeface="Malgun Gothic"/>
                <a:cs typeface="Malgun Gothic"/>
              </a:rPr>
              <a:t> DPL은 query를 proprioception, key·value를 깊이 특징으로 둔 cross-attention이다. 몸 상태가 깊이 영상에서 볼 곳을 고른다. MARCH의 student도 CNN 깊이 임베딩과 proprioception 이력을 트랜스포머로 융합한다. 다만 self·cross 중 어느 방식인지는 원문에서 확인하지 못했다.</a:t>
            </a:r>
          </a:p>
        </p:txBody>
      </p:sp>
      <p:sp>
        <p:nvSpPr>
          <p:cNvPr id="13" name="TextBox 12"/>
          <p:cNvSpPr txBox="1"/>
          <p:nvPr/>
        </p:nvSpPr>
        <p:spPr>
          <a:xfrm>
            <a:off x="609600" y="491688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travplan과의 관계.</a:t>
            </a:r>
            <a:r>
              <a:rPr sz="1050" b="0" i="0">
                <a:solidFill>
                  <a:srgbClr val="16213A"/>
                </a:solidFill>
                <a:latin typeface="Arial"/>
                <a:ea typeface="Malgun Gothic"/>
                <a:cs typeface="Malgun Gothic"/>
              </a:rPr>
              <a:t> 학습 플래너가 TravMap 패치와 로봇 상태(속도, 목표 방향)를 합칠 때 같은 구조를 쓸 수 있다. 로봇 상태를 query로, TravMap 패치 토큰을 key·value로 두면 "지금 속도와 방향에서 중요한 셀"에 가중치가 간다. 가중치 행렬 자체가 어디를 봤는지 보여 주므로 디버깅에도 쓸 만하다.</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배경: 잔차 정책(residual policy)과 볼록 결합 — 안전한 기본 제어기 위에 학습 보정만 얹는다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319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잔차 정책은 이미 쓸 만한 기본 제어기 </a:t>
            </a:r>
            <a:r>
              <a:rPr sz="1050" b="0" i="1">
                <a:solidFill>
                  <a:srgbClr val="16213A"/>
                </a:solidFill>
                <a:latin typeface="Arial"/>
                <a:ea typeface="Malgun Gothic"/>
                <a:cs typeface="Malgun Gothic"/>
              </a:rPr>
              <a:t>π₀</a:t>
            </a:r>
            <a:r>
              <a:rPr sz="1050" b="0" i="0">
                <a:solidFill>
                  <a:srgbClr val="16213A"/>
                </a:solidFill>
                <a:latin typeface="Arial"/>
                <a:ea typeface="Malgun Gothic"/>
                <a:cs typeface="Malgun Gothic"/>
              </a:rPr>
              <a:t>의 출력에 학습 정책이 보정량만 더하는 구조다. 기본형은 </a:t>
            </a:r>
            <a:r>
              <a:rPr sz="1050" b="0" i="1">
                <a:solidFill>
                  <a:srgbClr val="16213A"/>
                </a:solidFill>
                <a:latin typeface="Arial"/>
                <a:ea typeface="Malgun Gothic"/>
                <a:cs typeface="Malgun Gothic"/>
              </a:rPr>
              <a:t>a = a₀ + Δ a</a:t>
            </a:r>
            <a:r>
              <a:rPr sz="1050" b="0" i="0">
                <a:solidFill>
                  <a:srgbClr val="16213A"/>
                </a:solidFill>
                <a:latin typeface="Arial"/>
                <a:ea typeface="Malgun Gothic"/>
                <a:cs typeface="Malgun Gothic"/>
              </a:rPr>
              <a:t>다. 볼록 결합은 두 행동을 비율로 섞는 변형이다.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처음부터 학습하면 넘어지는 탐색이 많고, 보상을 조금만 잘못 짜도 이상한 해(멈춰 서기 같은 보상 해킹)로 간다. 기본 제어기가 평범한 상황을 처리하면 학습은 어려운 부분만 맡는다. 학습이 덜 됐거나 입력이 틀려도 결과가 기본 제어기에서 멀리 벗어나지 않는다.</a:t>
            </a:r>
          </a:p>
        </p:txBody>
      </p:sp>
      <p:sp>
        <p:nvSpPr>
          <p:cNvPr id="7" name="TextBox 6"/>
          <p:cNvSpPr txBox="1"/>
          <p:nvPr/>
        </p:nvSpPr>
        <p:spPr>
          <a:xfrm>
            <a:off x="609600" y="20718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동작하나.</a:t>
            </a:r>
            <a:r>
              <a:rPr sz="1050" b="0" i="0">
                <a:solidFill>
                  <a:srgbClr val="16213A"/>
                </a:solidFill>
                <a:latin typeface="Arial"/>
                <a:ea typeface="Malgun Gothic"/>
                <a:cs typeface="Malgun Gothic"/>
              </a:rPr>
              <a:t> 볼록 결합은 다음과 같다.</a:t>
            </a:r>
          </a:p>
        </p:txBody>
      </p:sp>
      <p:pic>
        <p:nvPicPr>
          <p:cNvPr id="8" name="Picture 7" descr="image.png"/>
          <p:cNvPicPr>
            <a:picLocks noChangeAspect="1"/>
          </p:cNvPicPr>
          <p:nvPr/>
        </p:nvPicPr>
        <p:blipFill>
          <a:blip r:embed="rId3"/>
          <a:stretch>
            <a:fillRect/>
          </a:stretch>
        </p:blipFill>
        <p:spPr>
          <a:xfrm>
            <a:off x="609600" y="2377281"/>
            <a:ext cx="2952750" cy="241300"/>
          </a:xfrm>
          <a:prstGeom prst="rect">
            <a:avLst/>
          </a:prstGeom>
        </p:spPr>
      </p:pic>
      <p:sp>
        <p:nvSpPr>
          <p:cNvPr id="9" name="TextBox 8"/>
          <p:cNvSpPr txBox="1"/>
          <p:nvPr/>
        </p:nvSpPr>
        <p:spPr>
          <a:xfrm>
            <a:off x="609600" y="2654796"/>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α = 1</a:t>
            </a:r>
            <a:r>
              <a:rPr sz="1050" b="0" i="0">
                <a:solidFill>
                  <a:srgbClr val="16213A"/>
                </a:solidFill>
                <a:latin typeface="Arial"/>
                <a:ea typeface="Malgun Gothic"/>
                <a:cs typeface="Malgun Gothic"/>
              </a:rPr>
              <a:t>이면 기본 제어기만, </a:t>
            </a:r>
            <a:r>
              <a:rPr sz="1050" b="0" i="1">
                <a:solidFill>
                  <a:srgbClr val="16213A"/>
                </a:solidFill>
                <a:latin typeface="Arial"/>
                <a:ea typeface="Malgun Gothic"/>
                <a:cs typeface="Malgun Gothic"/>
              </a:rPr>
              <a:t>α = 0</a:t>
            </a:r>
            <a:r>
              <a:rPr sz="1050" b="0" i="0">
                <a:solidFill>
                  <a:srgbClr val="16213A"/>
                </a:solidFill>
                <a:latin typeface="Arial"/>
                <a:ea typeface="Malgun Gothic"/>
                <a:cs typeface="Malgun Gothic"/>
              </a:rPr>
              <a:t>이면 학습 정책만 쓴다. 결과는 두 행동을 잇는 선분 위에 있다. 그래서 성분마다 두 값 사이에 놓인다. 두 행동이 관절 한계 안이면 결과도 한계 안이다. 학습 정책이 결과를 움직일 수 있는 폭은 많아야 </a:t>
            </a:r>
            <a:r>
              <a:rPr sz="1050" b="0" i="1">
                <a:solidFill>
                  <a:srgbClr val="16213A"/>
                </a:solidFill>
                <a:latin typeface="Arial"/>
                <a:ea typeface="Malgun Gothic"/>
                <a:cs typeface="Malgun Gothic"/>
              </a:rPr>
              <a:t>(1-α)</a:t>
            </a:r>
            <a:r>
              <a:rPr sz="1050" b="0" i="0">
                <a:solidFill>
                  <a:srgbClr val="16213A"/>
                </a:solidFill>
                <a:latin typeface="Arial"/>
                <a:ea typeface="Malgun Gothic"/>
                <a:cs typeface="Malgun Gothic"/>
              </a:rPr>
              <a:t>배다. 덧셈 잔차에서는 보정량을 clip해 이탈 폭을 직접 묶는다. </a:t>
            </a:r>
            <a:r>
              <a:rPr sz="1050" b="0" i="1">
                <a:solidFill>
                  <a:srgbClr val="16213A"/>
                </a:solidFill>
                <a:latin typeface="Arial"/>
                <a:ea typeface="Malgun Gothic"/>
                <a:cs typeface="Malgun Gothic"/>
              </a:rPr>
              <a:t>a = a^(base) + clip(δ, δₘᵢₙ, δₘₐₓ)</a:t>
            </a:r>
            <a:r>
              <a:rPr sz="1050" b="0" i="0">
                <a:solidFill>
                  <a:srgbClr val="16213A"/>
                </a:solidFill>
                <a:latin typeface="Arial"/>
                <a:ea typeface="Malgun Gothic"/>
                <a:cs typeface="Malgun Gothic"/>
              </a:rPr>
              <a:t> 꼴이다.</a:t>
            </a:r>
          </a:p>
        </p:txBody>
      </p:sp>
      <p:sp>
        <p:nvSpPr>
          <p:cNvPr id="10" name="TextBox 9"/>
          <p:cNvSpPr txBox="1"/>
          <p:nvPr/>
        </p:nvSpPr>
        <p:spPr>
          <a:xfrm>
            <a:off x="609600" y="317668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무릎 목표가 기본 제어기 0.60 rad, 변조기 1.00 rad이고 </a:t>
            </a:r>
            <a:r>
              <a:rPr sz="1050" b="0" i="1">
                <a:solidFill>
                  <a:srgbClr val="16213A"/>
                </a:solidFill>
                <a:latin typeface="Arial"/>
                <a:ea typeface="Malgun Gothic"/>
                <a:cs typeface="Malgun Gothic"/>
              </a:rPr>
              <a:t>α = 0.7</a:t>
            </a:r>
            <a:r>
              <a:rPr sz="1050" b="0" i="0">
                <a:solidFill>
                  <a:srgbClr val="16213A"/>
                </a:solidFill>
                <a:latin typeface="Arial"/>
                <a:ea typeface="Malgun Gothic"/>
                <a:cs typeface="Malgun Gothic"/>
              </a:rPr>
              <a:t>이면 </a:t>
            </a:r>
            <a:r>
              <a:rPr sz="1050" b="0" i="1">
                <a:solidFill>
                  <a:srgbClr val="16213A"/>
                </a:solidFill>
                <a:latin typeface="Arial"/>
                <a:ea typeface="Malgun Gothic"/>
                <a:cs typeface="Malgun Gothic"/>
              </a:rPr>
              <a:t>0.3 × 1.00 + 0.7 × 0.60 = 0.72</a:t>
            </a:r>
            <a:r>
              <a:rPr sz="1050" b="0" i="0">
                <a:solidFill>
                  <a:srgbClr val="16213A"/>
                </a:solidFill>
                <a:latin typeface="Arial"/>
                <a:ea typeface="Malgun Gothic"/>
                <a:cs typeface="Malgun Gothic"/>
              </a:rPr>
              <a:t> rad다. 변조기가 엉뚱하게 2.00 rad를 내도 결과는 </a:t>
            </a:r>
            <a:r>
              <a:rPr sz="1050" b="0" i="1">
                <a:solidFill>
                  <a:srgbClr val="16213A"/>
                </a:solidFill>
                <a:latin typeface="Arial"/>
                <a:ea typeface="Malgun Gothic"/>
                <a:cs typeface="Malgun Gothic"/>
              </a:rPr>
              <a:t>0.3 × 2.00 + 0.42 = 1.02</a:t>
            </a:r>
            <a:r>
              <a:rPr sz="1050" b="0" i="0">
                <a:solidFill>
                  <a:srgbClr val="16213A"/>
                </a:solidFill>
                <a:latin typeface="Arial"/>
                <a:ea typeface="Malgun Gothic"/>
                <a:cs typeface="Malgun Gothic"/>
              </a:rPr>
              <a:t> rad로, 기본값에서 0.42 rad 이상 벗어나지 못한다.</a:t>
            </a:r>
          </a:p>
        </p:txBody>
      </p:sp>
      <p:sp>
        <p:nvSpPr>
          <p:cNvPr id="11" name="TextBox 10"/>
          <p:cNvSpPr txBox="1"/>
          <p:nvPr/>
        </p:nvSpPr>
        <p:spPr>
          <a:xfrm>
            <a:off x="609600" y="36985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섞기와 전환은 다르다.</a:t>
            </a:r>
            <a:r>
              <a:rPr sz="1050" b="0" i="0">
                <a:solidFill>
                  <a:srgbClr val="16213A"/>
                </a:solidFill>
                <a:latin typeface="Arial"/>
                <a:ea typeface="Malgun Gothic"/>
                <a:cs typeface="Malgun Gothic"/>
              </a:rPr>
              <a:t> 볼록 결합은 매 스텝 두 행동을 섞는다. VB-Com은 두 정책 중 하나를 골라 통째로 쓴다(전환). 섞기는 부드럽지만 두 행동이 서로 다른 전략(예: 왼쪽 회피와 오른쪽 회피)이면 평균이 둘 다 아닌 행동이 된다. 전환은 이 문제가 없지만 바꾸는 순간 행동이 튄다.</a:t>
            </a:r>
          </a:p>
        </p:txBody>
      </p:sp>
      <p:sp>
        <p:nvSpPr>
          <p:cNvPr id="12" name="TextBox 11"/>
          <p:cNvSpPr txBox="1"/>
          <p:nvPr/>
        </p:nvSpPr>
        <p:spPr>
          <a:xfrm>
            <a:off x="609600" y="422046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탭에서는.</a:t>
            </a:r>
            <a:r>
              <a:rPr sz="1050" b="0" i="0">
                <a:solidFill>
                  <a:srgbClr val="16213A"/>
                </a:solidFill>
                <a:latin typeface="Arial"/>
                <a:ea typeface="Malgun Gothic"/>
                <a:cs typeface="Malgun Gothic"/>
              </a:rPr>
              <a:t> DPL은 관절 행동을 blind 백본과 지각 변조기의 볼록 결합으로, 걸음 위상과 전진 속도를 clip된 덧셈 잔차로 낸다.</a:t>
            </a:r>
          </a:p>
        </p:txBody>
      </p:sp>
      <p:sp>
        <p:nvSpPr>
          <p:cNvPr id="13" name="TextBox 12"/>
          <p:cNvSpPr txBox="1"/>
          <p:nvPr/>
        </p:nvSpPr>
        <p:spPr>
          <a:xfrm>
            <a:off x="609600" y="452586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travplan과의 관계.</a:t>
            </a:r>
            <a:r>
              <a:rPr sz="1050" b="0" i="0">
                <a:solidFill>
                  <a:srgbClr val="16213A"/>
                </a:solidFill>
                <a:latin typeface="Arial"/>
                <a:ea typeface="Malgun Gothic"/>
                <a:cs typeface="Malgun Gothic"/>
              </a:rPr>
              <a:t> MPPI는 명목 제어열에 샘플 섭동을 더한 뒤 평균하므로 이미 잔차 꼴이다. Planner D를 GuidancePlanner 경로 위의 잔차로 두면, 학습이 틀려도 결과가 기준 경로 근처에 남는다. clip 폭이 곧 "학습 플래너를 얼마나 믿을지"를 정하는 안전 손잡이다.</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자세히: BeamDojo의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320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징검다리·평균대처럼 디딜 곳이 드문 지형에서 휴머노이드가 발을 정확히 놓게 하는 것이다. 4족 연구는 발을 점으로 보지만 휴머노이드 발은 다각형이다. 모델 기반 방법에서는 다각형 발이 반평면 부등식 제약을 늘려 온라인 계획이 무거워진다. RL에서는 점 발용 발판 보상이 맞지 않는다. RL에는 어려움이 두 가지 더 있다. 발판 보상은 발을 들었다 내린 뒤에야 판정되어 드물고, 신용 할당이 어렵다. 또 한 번 헛디디면 에피소드가 끝나서 성공 표본을 모으기 어렵다.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관측과 행동.</a:t>
            </a:r>
            <a:r>
              <a:rPr sz="1050" b="0" i="0">
                <a:solidFill>
                  <a:srgbClr val="16213A"/>
                </a:solidFill>
                <a:latin typeface="Arial"/>
                <a:ea typeface="Malgun Gothic"/>
                <a:cs typeface="Malgun Gothic"/>
              </a:rPr>
              <a:t> 관측은 </a:t>
            </a:r>
            <a:r>
              <a:rPr sz="1050" b="0" i="1">
                <a:solidFill>
                  <a:srgbClr val="16213A"/>
                </a:solidFill>
                <a:latin typeface="Arial"/>
                <a:ea typeface="Malgun Gothic"/>
                <a:cs typeface="Malgun Gothic"/>
              </a:rPr>
              <a:t>oₜ = [cₜ, o^(proprio)ₜ, o^(percept)ₜ, aₜ₋₁]</a:t>
            </a:r>
            <a:r>
              <a:rPr sz="1050" b="0" i="0">
                <a:solidFill>
                  <a:srgbClr val="16213A"/>
                </a:solidFill>
                <a:latin typeface="Arial"/>
                <a:ea typeface="Malgun Gothic"/>
                <a:cs typeface="Malgun Gothic"/>
              </a:rPr>
              <a:t>이다. 명령 </a:t>
            </a:r>
            <a:r>
              <a:rPr sz="1050" b="0" i="1">
                <a:solidFill>
                  <a:srgbClr val="16213A"/>
                </a:solidFill>
                <a:latin typeface="Arial"/>
                <a:ea typeface="Malgun Gothic"/>
                <a:cs typeface="Malgun Gothic"/>
              </a:rPr>
              <a:t>cₜ</a:t>
            </a:r>
            <a:r>
              <a:rPr sz="1050" b="0" i="0">
                <a:solidFill>
                  <a:srgbClr val="16213A"/>
                </a:solidFill>
                <a:latin typeface="Arial"/>
                <a:ea typeface="Malgun Gothic"/>
                <a:cs typeface="Malgun Gothic"/>
              </a:rPr>
              <a:t>는 전후·좌우 속도와 yaw 각속도 3차원이다. proprioception은 64차원(각속도 3, 중력 방향 3, 관절 위치 29, 관절 속도 29)이다. 인식 입력은 로봇 중심 높이 지도에서 0.1 m 간격으로 뽑은 15×15점이다. 행동은 하체 12관절의 목표 위치이고, 상체는 기본 자세로 둔다. 정책은 50 Hz, PD는 500 Hz로 돈다.</a:t>
            </a:r>
          </a:p>
        </p:txBody>
      </p:sp>
      <p:sp>
        <p:nvSpPr>
          <p:cNvPr id="7" name="TextBox 6"/>
          <p:cNvSpPr txBox="1"/>
          <p:nvPr/>
        </p:nvSpPr>
        <p:spPr>
          <a:xfrm>
            <a:off x="609600" y="25048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발바닥 샘플링 보상.</a:t>
            </a:r>
            <a:r>
              <a:rPr sz="1050" b="0" i="0">
                <a:solidFill>
                  <a:srgbClr val="16213A"/>
                </a:solidFill>
                <a:latin typeface="Arial"/>
                <a:ea typeface="Malgun Gothic"/>
                <a:cs typeface="Malgun Gothic"/>
              </a:rPr>
              <a:t> 발바닥에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 점을 찍는다. 접촉 중인 발의 점 아래 지형 높이 </a:t>
            </a:r>
            <a:r>
              <a:rPr sz="1050" b="0" i="1">
                <a:solidFill>
                  <a:srgbClr val="16213A"/>
                </a:solidFill>
                <a:latin typeface="Arial"/>
                <a:ea typeface="Malgun Gothic"/>
                <a:cs typeface="Malgun Gothic"/>
              </a:rPr>
              <a:t>d_(ij)</a:t>
            </a:r>
            <a:r>
              <a:rPr sz="1050" b="0" i="0">
                <a:solidFill>
                  <a:srgbClr val="16213A"/>
                </a:solidFill>
                <a:latin typeface="Arial"/>
                <a:ea typeface="Malgun Gothic"/>
                <a:cs typeface="Malgun Gothic"/>
              </a:rPr>
              <a:t>가 허용 깊이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보다 낮으면(발판 밖이면) 벌점을 준다.</a:t>
            </a:r>
          </a:p>
        </p:txBody>
      </p:sp>
      <p:pic>
        <p:nvPicPr>
          <p:cNvPr id="8" name="Picture 7" descr="image.png"/>
          <p:cNvPicPr>
            <a:picLocks noChangeAspect="1"/>
          </p:cNvPicPr>
          <p:nvPr/>
        </p:nvPicPr>
        <p:blipFill>
          <a:blip r:embed="rId3"/>
          <a:stretch>
            <a:fillRect/>
          </a:stretch>
        </p:blipFill>
        <p:spPr>
          <a:xfrm>
            <a:off x="609600" y="2810272"/>
            <a:ext cx="2403475" cy="568325"/>
          </a:xfrm>
          <a:prstGeom prst="rect">
            <a:avLst/>
          </a:prstGeom>
        </p:spPr>
      </p:pic>
      <p:sp>
        <p:nvSpPr>
          <p:cNvPr id="9" name="TextBox 8"/>
          <p:cNvSpPr txBox="1"/>
          <p:nvPr/>
        </p:nvSpPr>
        <p:spPr>
          <a:xfrm>
            <a:off x="609600" y="3370659"/>
            <a:ext cx="10972800" cy="649486"/>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ℂᵢ</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번째 발이 지면에 닿았는지, </a:t>
            </a:r>
            <a:r>
              <a:rPr sz="1050" b="0" i="1">
                <a:solidFill>
                  <a:srgbClr val="16213A"/>
                </a:solidFill>
                <a:latin typeface="Arial"/>
                <a:ea typeface="Malgun Gothic"/>
                <a:cs typeface="Malgun Gothic"/>
              </a:rPr>
              <a:t>1{·}</a:t>
            </a:r>
            <a:r>
              <a:rPr sz="1050" b="0" i="0">
                <a:solidFill>
                  <a:srgbClr val="16213A"/>
                </a:solidFill>
                <a:latin typeface="Arial"/>
                <a:ea typeface="Malgun Gothic"/>
                <a:cs typeface="Malgun Gothic"/>
              </a:rPr>
              <a:t>은 조건이 참이면 1이다. 부록 값으로 갭 깊이는 1.0 m, </a:t>
            </a:r>
            <a:r>
              <a:rPr sz="1050" b="0" i="1">
                <a:solidFill>
                  <a:srgbClr val="16213A"/>
                </a:solidFill>
                <a:latin typeface="Arial"/>
                <a:ea typeface="Malgun Gothic"/>
                <a:cs typeface="Malgun Gothic"/>
              </a:rPr>
              <a:t>ε = -0.1</a:t>
            </a:r>
            <a:r>
              <a:rPr sz="1050" b="0" i="0">
                <a:solidFill>
                  <a:srgbClr val="16213A"/>
                </a:solidFill>
                <a:latin typeface="Arial"/>
                <a:ea typeface="Malgun Gothic"/>
                <a:cs typeface="Malgun Gothic"/>
              </a:rPr>
              <a:t> m다. 벌점이 발판 밖 점의 개수에 비례하므로, 발과 발판의 겹침을 조금씩 늘릴수록 보상이 오르는 연속적인 신호가 된다. "발판 밖 점이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 넘으면 전부 벌점"인 이진 보상과 비교하면(Table V), 징검다리 중간 난이도에서 발판 밖 착지 비율이 BeamDojo 7.79%, 이진 보상 10.78–14.35%다.</a:t>
            </a:r>
          </a:p>
        </p:txBody>
      </p:sp>
      <p:sp>
        <p:nvSpPr>
          <p:cNvPr id="10" name="TextBox 9"/>
          <p:cNvSpPr txBox="1"/>
          <p:nvPr/>
        </p:nvSpPr>
        <p:spPr>
          <a:xfrm>
            <a:off x="609600" y="410904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11개(문단·식·그림)는 대시보드 리서치 탭의 "자세히: BeamDojo의 방법과 수식" 토글에 있다.</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배경: 이득 추정(advantage·GAE) — 행동이 평균보다 얼마나 좋았나를 재고, critic이 여럿이면 따로 정규화한다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321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정책 기울기 방법은 "이 상태에서 이 행동이 평소보다 얼마나 좋았나"를 알아야 그 행동의 확률을 올리거나 내린다. 이 양을 이득(advantage) </a:t>
            </a:r>
            <a:r>
              <a:rPr sz="1050" b="0" i="1">
                <a:solidFill>
                  <a:srgbClr val="16213A"/>
                </a:solidFill>
                <a:latin typeface="Arial"/>
                <a:ea typeface="Malgun Gothic"/>
                <a:cs typeface="Malgun Gothic"/>
              </a:rPr>
              <a:t>A(s, a) = Q(s, a) - V(s)</a:t>
            </a:r>
            <a:r>
              <a:rPr sz="1050" b="0" i="0">
                <a:solidFill>
                  <a:srgbClr val="16213A"/>
                </a:solidFill>
                <a:latin typeface="Arial"/>
                <a:ea typeface="Malgun Gothic"/>
                <a:cs typeface="Malgun Gothic"/>
              </a:rPr>
              <a:t>라 한다. </a:t>
            </a:r>
            <a:r>
              <a:rPr sz="1050" b="0" i="1">
                <a:solidFill>
                  <a:srgbClr val="16213A"/>
                </a:solidFill>
                <a:latin typeface="Arial"/>
                <a:ea typeface="Malgun Gothic"/>
                <a:cs typeface="Malgun Gothic"/>
              </a:rPr>
              <a:t>V(s)</a:t>
            </a:r>
            <a:r>
              <a:rPr sz="1050" b="0" i="0">
                <a:solidFill>
                  <a:srgbClr val="16213A"/>
                </a:solidFill>
                <a:latin typeface="Arial"/>
                <a:ea typeface="Malgun Gothic"/>
                <a:cs typeface="Malgun Gothic"/>
              </a:rPr>
              <a:t>는 상태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에서 정책대로 갔을 때 기대 누적 보상, </a:t>
            </a:r>
            <a:r>
              <a:rPr sz="1050" b="0" i="1">
                <a:solidFill>
                  <a:srgbClr val="16213A"/>
                </a:solidFill>
                <a:latin typeface="Arial"/>
                <a:ea typeface="Malgun Gothic"/>
                <a:cs typeface="Malgun Gothic"/>
              </a:rPr>
              <a:t>Q(s, a)</a:t>
            </a:r>
            <a:r>
              <a:rPr sz="1050" b="0" i="0">
                <a:solidFill>
                  <a:srgbClr val="16213A"/>
                </a:solidFill>
                <a:latin typeface="Arial"/>
                <a:ea typeface="Malgun Gothic"/>
                <a:cs typeface="Malgun Gothic"/>
              </a:rPr>
              <a:t>는 먼저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를 하고 그 뒤 정책대로 갔을 때의 기대 누적 보상이다(PPO·actor-critic 기초는 해당 배경 토글 참고).</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추정이 문제인가.</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를 모르므로 실제로 받은 보상으로 이득을 추정한다. 한 스텝만 보면 편향이 크고, 끝까지 보면 분산이 크다. GAE(Generalized Advantage Estimation)는 둘 사이를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 하나로 조절한다.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동작하나.</a:t>
            </a:r>
            <a:r>
              <a:rPr sz="1050" b="0" i="0">
                <a:solidFill>
                  <a:srgbClr val="16213A"/>
                </a:solidFill>
                <a:latin typeface="Arial"/>
                <a:ea typeface="Malgun Gothic"/>
                <a:cs typeface="Malgun Gothic"/>
              </a:rPr>
              <a:t> 먼저 한 스텝 TD 오차를 구한다.</a:t>
            </a:r>
          </a:p>
        </p:txBody>
      </p:sp>
      <p:pic>
        <p:nvPicPr>
          <p:cNvPr id="8" name="Picture 7" descr="image.png"/>
          <p:cNvPicPr>
            <a:picLocks noChangeAspect="1"/>
          </p:cNvPicPr>
          <p:nvPr/>
        </p:nvPicPr>
        <p:blipFill>
          <a:blip r:embed="rId3"/>
          <a:stretch>
            <a:fillRect/>
          </a:stretch>
        </p:blipFill>
        <p:spPr>
          <a:xfrm>
            <a:off x="609600" y="2593777"/>
            <a:ext cx="3660775" cy="523875"/>
          </a:xfrm>
          <a:prstGeom prst="rect">
            <a:avLst/>
          </a:prstGeom>
        </p:spPr>
      </p:pic>
      <p:sp>
        <p:nvSpPr>
          <p:cNvPr id="9" name="TextBox 8"/>
          <p:cNvSpPr txBox="1"/>
          <p:nvPr/>
        </p:nvSpPr>
        <p:spPr>
          <a:xfrm>
            <a:off x="609600" y="3115866"/>
            <a:ext cx="10972800" cy="649486"/>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γ</a:t>
            </a:r>
            <a:r>
              <a:rPr sz="1050" b="0" i="0">
                <a:solidFill>
                  <a:srgbClr val="16213A"/>
                </a:solidFill>
                <a:latin typeface="Arial"/>
                <a:ea typeface="Malgun Gothic"/>
                <a:cs typeface="Malgun Gothic"/>
              </a:rPr>
              <a:t>는 할인율, </a:t>
            </a:r>
            <a:r>
              <a:rPr sz="1050" b="0" i="1">
                <a:solidFill>
                  <a:srgbClr val="16213A"/>
                </a:solidFill>
                <a:latin typeface="Arial"/>
                <a:ea typeface="Malgun Gothic"/>
                <a:cs typeface="Malgun Gothic"/>
              </a:rPr>
              <a:t>λ ∈ [0, 1]</a:t>
            </a:r>
            <a:r>
              <a:rPr sz="1050" b="0" i="0">
                <a:solidFill>
                  <a:srgbClr val="16213A"/>
                </a:solidFill>
                <a:latin typeface="Arial"/>
                <a:ea typeface="Malgun Gothic"/>
                <a:cs typeface="Malgun Gothic"/>
              </a:rPr>
              <a:t>는 얼마나 멀리까지 실제 보상을 믿을지다. </a:t>
            </a:r>
            <a:r>
              <a:rPr sz="1050" b="0" i="1">
                <a:solidFill>
                  <a:srgbClr val="16213A"/>
                </a:solidFill>
                <a:latin typeface="Arial"/>
                <a:ea typeface="Malgun Gothic"/>
                <a:cs typeface="Malgun Gothic"/>
              </a:rPr>
              <a:t>λ = 0</a:t>
            </a:r>
            <a:r>
              <a:rPr sz="1050" b="0" i="0">
                <a:solidFill>
                  <a:srgbClr val="16213A"/>
                </a:solidFill>
                <a:latin typeface="Arial"/>
                <a:ea typeface="Malgun Gothic"/>
                <a:cs typeface="Malgun Gothic"/>
              </a:rPr>
              <a:t>이면 </a:t>
            </a:r>
            <a:r>
              <a:rPr sz="1050" b="0" i="1">
                <a:solidFill>
                  <a:srgbClr val="16213A"/>
                </a:solidFill>
                <a:latin typeface="Arial"/>
                <a:ea typeface="Malgun Gothic"/>
                <a:cs typeface="Malgun Gothic"/>
              </a:rPr>
              <a:t>Âₜ = δₜ</a:t>
            </a:r>
            <a:r>
              <a:rPr sz="1050" b="0" i="0">
                <a:solidFill>
                  <a:srgbClr val="16213A"/>
                </a:solidFill>
                <a:latin typeface="Arial"/>
                <a:ea typeface="Malgun Gothic"/>
                <a:cs typeface="Malgun Gothic"/>
              </a:rPr>
              <a:t>로 critic에 크게 기대는 한 스텝 추정(편향 큼, 분산 작음)이다. </a:t>
            </a:r>
            <a:r>
              <a:rPr sz="1050" b="0" i="1">
                <a:solidFill>
                  <a:srgbClr val="16213A"/>
                </a:solidFill>
                <a:latin typeface="Arial"/>
                <a:ea typeface="Malgun Gothic"/>
                <a:cs typeface="Malgun Gothic"/>
              </a:rPr>
              <a:t>λ = 1</a:t>
            </a:r>
            <a:r>
              <a:rPr sz="1050" b="0" i="0">
                <a:solidFill>
                  <a:srgbClr val="16213A"/>
                </a:solidFill>
                <a:latin typeface="Arial"/>
                <a:ea typeface="Malgun Gothic"/>
                <a:cs typeface="Malgun Gothic"/>
              </a:rPr>
              <a:t>이면 끝까지 받은 할인 보상 합에서 </a:t>
            </a:r>
            <a:r>
              <a:rPr sz="1050" b="0" i="1">
                <a:solidFill>
                  <a:srgbClr val="16213A"/>
                </a:solidFill>
                <a:latin typeface="Arial"/>
                <a:ea typeface="Malgun Gothic"/>
                <a:cs typeface="Malgun Gothic"/>
              </a:rPr>
              <a:t>V(sₜ)</a:t>
            </a:r>
            <a:r>
              <a:rPr sz="1050" b="0" i="0">
                <a:solidFill>
                  <a:srgbClr val="16213A"/>
                </a:solidFill>
                <a:latin typeface="Arial"/>
                <a:ea typeface="Malgun Gothic"/>
                <a:cs typeface="Malgun Gothic"/>
              </a:rPr>
              <a:t>를 뺀 Monte Carlo 추정(편향 없음, 분산 큼)이다. 실제 계산은 궤적 끝에서 거꾸로 </a:t>
            </a:r>
            <a:r>
              <a:rPr sz="1050" b="0" i="1">
                <a:solidFill>
                  <a:srgbClr val="16213A"/>
                </a:solidFill>
                <a:latin typeface="Arial"/>
                <a:ea typeface="Malgun Gothic"/>
                <a:cs typeface="Malgun Gothic"/>
              </a:rPr>
              <a:t>Âₜ = δₜ + γλ Âₜ₊₁</a:t>
            </a:r>
            <a:r>
              <a:rPr sz="1050" b="0" i="0">
                <a:solidFill>
                  <a:srgbClr val="16213A"/>
                </a:solidFill>
                <a:latin typeface="Arial"/>
                <a:ea typeface="Malgun Gothic"/>
                <a:cs typeface="Malgun Gothic"/>
              </a:rPr>
              <a:t>로 한 번에 한다. </a:t>
            </a:r>
            <a:r>
              <a:rPr sz="1050" b="0" i="1">
                <a:solidFill>
                  <a:srgbClr val="16213A"/>
                </a:solidFill>
                <a:latin typeface="Arial"/>
                <a:ea typeface="Malgun Gothic"/>
                <a:cs typeface="Malgun Gothic"/>
              </a:rPr>
              <a:t>Ĝₜ = Âₜ + V(sₜ)</a:t>
            </a:r>
            <a:r>
              <a:rPr sz="1050" b="0" i="0">
                <a:solidFill>
                  <a:srgbClr val="16213A"/>
                </a:solidFill>
                <a:latin typeface="Arial"/>
                <a:ea typeface="Malgun Gothic"/>
                <a:cs typeface="Malgun Gothic"/>
              </a:rPr>
              <a:t>는 critic의 학습 목표(반환값 추정)가 된다. 보행 RL은 보통 </a:t>
            </a:r>
            <a:r>
              <a:rPr sz="1050" b="0" i="1">
                <a:solidFill>
                  <a:srgbClr val="16213A"/>
                </a:solidFill>
                <a:latin typeface="Arial"/>
                <a:ea typeface="Malgun Gothic"/>
                <a:cs typeface="Malgun Gothic"/>
              </a:rPr>
              <a:t>γ = 0.99</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λ = 0.95</a:t>
            </a:r>
            <a:r>
              <a:rPr sz="1050" b="0" i="0">
                <a:solidFill>
                  <a:srgbClr val="16213A"/>
                </a:solidFill>
                <a:latin typeface="Arial"/>
                <a:ea typeface="Malgun Gothic"/>
                <a:cs typeface="Malgun Gothic"/>
              </a:rPr>
              <a:t>를 쓴다. BeamDojo와 MARCH의 값도 이렇다.</a:t>
            </a:r>
          </a:p>
        </p:txBody>
      </p:sp>
      <p:sp>
        <p:nvSpPr>
          <p:cNvPr id="10" name="TextBox 9"/>
          <p:cNvSpPr txBox="1"/>
          <p:nvPr/>
        </p:nvSpPr>
        <p:spPr>
          <a:xfrm>
            <a:off x="609600" y="385425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advantage 정규화.</a:t>
            </a:r>
            <a:r>
              <a:rPr sz="1050" b="0" i="0">
                <a:solidFill>
                  <a:srgbClr val="16213A"/>
                </a:solidFill>
                <a:latin typeface="Arial"/>
                <a:ea typeface="Malgun Gothic"/>
                <a:cs typeface="Malgun Gothic"/>
              </a:rPr>
              <a:t> PPO 구현은 보통 배치 안에서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의 평균을 빼고 표준편차로 나눈다. 보상 크기가 바뀌어도 정책 기울기의 크기가 안정된다. 절반은 올리고 절반은 내리는 꼴이 되어 학습이 덜 흔들린다.</a:t>
            </a:r>
          </a:p>
        </p:txBody>
      </p:sp>
      <p:sp>
        <p:nvSpPr>
          <p:cNvPr id="11" name="TextBox 10"/>
          <p:cNvSpPr txBox="1"/>
          <p:nvPr/>
        </p:nvSpPr>
        <p:spPr>
          <a:xfrm>
            <a:off x="609600" y="437614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multi-critic.</a:t>
            </a:r>
            <a:r>
              <a:rPr sz="1050" b="0" i="0">
                <a:solidFill>
                  <a:srgbClr val="16213A"/>
                </a:solidFill>
                <a:latin typeface="Arial"/>
                <a:ea typeface="Malgun Gothic"/>
                <a:cs typeface="Malgun Gothic"/>
              </a:rPr>
              <a:t> 성격이 다른 보상을 한 critic에 합치면 문제가 생긴다. 매 스텝 나오는 조밀한 보상은 값도 분산도 크고, 가끔 나오는 드문 보상은 그 잡음 속에 묻힌다. multi-critic은 보상 그룹마다 critic을 따로 두고, 그룹별로 GAE를 구하고, </a:t>
            </a:r>
            <a:r>
              <a:rPr sz="1050" b="1" i="0">
                <a:solidFill>
                  <a:srgbClr val="16213A"/>
                </a:solidFill>
                <a:latin typeface="Arial"/>
                <a:ea typeface="Malgun Gothic"/>
                <a:cs typeface="Malgun Gothic"/>
              </a:rPr>
              <a:t>따로 정규화한 뒤</a:t>
            </a:r>
            <a:r>
              <a:rPr sz="1050" b="0" i="0">
                <a:solidFill>
                  <a:srgbClr val="16213A"/>
                </a:solidFill>
                <a:latin typeface="Arial"/>
                <a:ea typeface="Malgun Gothic"/>
                <a:cs typeface="Malgun Gothic"/>
              </a:rPr>
              <a:t> 가중합한다. 정규화 덕분에 가중치 </a:t>
            </a:r>
            <a:r>
              <a:rPr sz="1050" b="0" i="1">
                <a:solidFill>
                  <a:srgbClr val="16213A"/>
                </a:solidFill>
                <a:latin typeface="Arial"/>
                <a:ea typeface="Malgun Gothic"/>
                <a:cs typeface="Malgun Gothic"/>
              </a:rPr>
              <a:t>wᵢ</a:t>
            </a:r>
            <a:r>
              <a:rPr sz="1050" b="0" i="0">
                <a:solidFill>
                  <a:srgbClr val="16213A"/>
                </a:solidFill>
                <a:latin typeface="Arial"/>
                <a:ea typeface="Malgun Gothic"/>
                <a:cs typeface="Malgun Gothic"/>
              </a:rPr>
              <a:t>가 "그룹의 상대 중요도"라는 뜻을 갖는다.</a:t>
            </a:r>
          </a:p>
        </p:txBody>
      </p:sp>
      <p:sp>
        <p:nvSpPr>
          <p:cNvPr id="12" name="TextBox 11"/>
          <p:cNvSpPr txBox="1"/>
          <p:nvPr/>
        </p:nvSpPr>
        <p:spPr>
          <a:xfrm>
            <a:off x="609600" y="489803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한 배치에서 보행 이득의 표준편차가 5.0, 발판 이득의 표준편차가 0.2라고 하자. 그냥 더하면 발판 신호는 전체 변동의 1%도 안 되어 사실상 사라진다. 따로 정규화하면 둘 다 표준편차 1이 되고, </a:t>
            </a:r>
            <a:r>
              <a:rPr sz="1050" b="0" i="1">
                <a:solidFill>
                  <a:srgbClr val="16213A"/>
                </a:solidFill>
                <a:latin typeface="Arial"/>
                <a:ea typeface="Malgun Gothic"/>
                <a:cs typeface="Malgun Gothic"/>
              </a:rPr>
              <a:t>w = (1.0, 0.25)</a:t>
            </a:r>
            <a:r>
              <a:rPr sz="1050" b="0" i="0">
                <a:solidFill>
                  <a:srgbClr val="16213A"/>
                </a:solidFill>
                <a:latin typeface="Arial"/>
                <a:ea typeface="Malgun Gothic"/>
                <a:cs typeface="Malgun Gothic"/>
              </a:rPr>
              <a:t>로 합치면 두 신호의 크기 비가 1 : 0.25가 된다. 발판 신호가 더는 잡음에 묻히지 않는다.</a:t>
            </a:r>
          </a:p>
        </p:txBody>
      </p:sp>
      <p:sp>
        <p:nvSpPr>
          <p:cNvPr id="13" name="TextBox 12"/>
          <p:cNvSpPr txBox="1"/>
          <p:nvPr/>
        </p:nvSpPr>
        <p:spPr>
          <a:xfrm>
            <a:off x="609600" y="541992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탭에서는.</a:t>
            </a:r>
            <a:r>
              <a:rPr sz="1050" b="0" i="0">
                <a:solidFill>
                  <a:srgbClr val="16213A"/>
                </a:solidFill>
                <a:latin typeface="Arial"/>
                <a:ea typeface="Malgun Gothic"/>
                <a:cs typeface="Malgun Gothic"/>
              </a:rPr>
              <a:t> BeamDojo가 보행·발판 두 critic을 쓴다. Gait-Adaptive의 PPO도 이득을 GAE로 구한다. VB-Com은 GAE로 얻은 </a:t>
            </a:r>
            <a:r>
              <a:rPr sz="1050" b="0" i="1">
                <a:solidFill>
                  <a:srgbClr val="16213A"/>
                </a:solidFill>
                <a:latin typeface="Arial"/>
                <a:ea typeface="Malgun Gothic"/>
                <a:cs typeface="Malgun Gothic"/>
              </a:rPr>
              <a:t>Â + V</a:t>
            </a:r>
            <a:r>
              <a:rPr sz="1050" b="0" i="0">
                <a:solidFill>
                  <a:srgbClr val="16213A"/>
                </a:solidFill>
                <a:latin typeface="Arial"/>
                <a:ea typeface="Malgun Gothic"/>
                <a:cs typeface="Malgun Gothic"/>
              </a:rPr>
              <a:t>를 반환값 추정기의 학습 목표로 쓴다.</a:t>
            </a:r>
          </a:p>
        </p:txBody>
      </p:sp>
      <p:sp>
        <p:nvSpPr>
          <p:cNvPr id="14" name="TextBox 13"/>
          <p:cNvSpPr txBox="1"/>
          <p:nvPr/>
        </p:nvSpPr>
        <p:spPr>
          <a:xfrm>
            <a:off x="609600" y="572531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travplan과의 관계.</a:t>
            </a:r>
            <a:r>
              <a:rPr sz="1050" b="0" i="0">
                <a:solidFill>
                  <a:srgbClr val="16213A"/>
                </a:solidFill>
                <a:latin typeface="Arial"/>
                <a:ea typeface="Malgun Gothic"/>
                <a:cs typeface="Malgun Gothic"/>
              </a:rPr>
              <a:t> RL로 Planner를 학습한다면 "목표 도달"(드묾)과 "매 스텝 지형 비용"(조밀)이 정확히 이 구도다. 도달 보상을 별도 critic으로 떼어 내면 도달 신호가 비용 잡음에 묻히지 않는다.</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자세히: MARCH의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322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앞뒤뿐 아니라 좌우로도 제약이 있는 드문 발판(좌우로 엇갈린 징검돌) 위를 깊이 카메라로 걷는 것이다. 모델 기반 방법은 정밀하고 안전 보장도 주지만 모델·지도 가정이 어긋나면 약하다. model-free RL은 강건하지만 작은 오차가 곧 추락인 정밀한 동작을 스스로 찾기 어렵다. 최근 성공한 RPL은 계산량이 크고 짜임새 있는 커리큘럼(평지에서 시작해 징검돌로)이 필요했다. MARCH는 CLF-RL(단순 모델로 만든 기준 궤적을 리아푸노프 함수 보상으로 따라가게 하는 방법)을 좌우 제약이 있는 발판으로 넓힌다.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단순 모델 둘.</a:t>
            </a:r>
            <a:r>
              <a:rPr sz="1050" b="0" i="0">
                <a:solidFill>
                  <a:srgbClr val="16213A"/>
                </a:solidFill>
                <a:latin typeface="Arial"/>
                <a:ea typeface="Malgun Gothic"/>
                <a:cs typeface="Malgun Gothic"/>
              </a:rPr>
              <a:t> 발 위치 계획에는 이산 시간 단일 적분기를 쓴다. 지지발 위치 </a:t>
            </a:r>
            <a:r>
              <a:rPr sz="1050" b="0" i="1">
                <a:solidFill>
                  <a:srgbClr val="16213A"/>
                </a:solidFill>
                <a:latin typeface="Arial"/>
                <a:ea typeface="Malgun Gothic"/>
                <a:cs typeface="Malgun Gothic"/>
              </a:rPr>
              <a:t>p_f ∈ ℝ²</a:t>
            </a:r>
            <a:r>
              <a:rPr sz="1050" b="0" i="0">
                <a:solidFill>
                  <a:srgbClr val="16213A"/>
                </a:solidFill>
                <a:latin typeface="Arial"/>
                <a:ea typeface="Malgun Gothic"/>
                <a:cs typeface="Malgun Gothic"/>
              </a:rPr>
              <a:t>가 걸음마다 보폭 </a:t>
            </a:r>
            <a:r>
              <a:rPr sz="1050" b="0" i="1">
                <a:solidFill>
                  <a:srgbClr val="16213A"/>
                </a:solidFill>
                <a:latin typeface="Arial"/>
                <a:ea typeface="Malgun Gothic"/>
                <a:cs typeface="Malgun Gothic"/>
              </a:rPr>
              <a:t>ℓₖ</a:t>
            </a:r>
            <a:r>
              <a:rPr sz="1050" b="0" i="0">
                <a:solidFill>
                  <a:srgbClr val="16213A"/>
                </a:solidFill>
                <a:latin typeface="Arial"/>
                <a:ea typeface="Malgun Gothic"/>
                <a:cs typeface="Malgun Gothic"/>
              </a:rPr>
              <a:t>만큼 옮겨 간다. 무게중심 계획에는 HLIP(hybrid linear inverted pendulum)를 쓴다. 점 발, 질량 없는 다리, 일정한 무게중심 높이 </a:t>
            </a:r>
            <a:r>
              <a:rPr sz="1050" b="0" i="1">
                <a:solidFill>
                  <a:srgbClr val="16213A"/>
                </a:solidFill>
                <a:latin typeface="Arial"/>
                <a:ea typeface="Malgun Gothic"/>
                <a:cs typeface="Malgun Gothic"/>
              </a:rPr>
              <a:t>z₀</a:t>
            </a:r>
            <a:r>
              <a:rPr sz="1050" b="0" i="0">
                <a:solidFill>
                  <a:srgbClr val="16213A"/>
                </a:solidFill>
                <a:latin typeface="Arial"/>
                <a:ea typeface="Malgun Gothic"/>
                <a:cs typeface="Malgun Gothic"/>
              </a:rPr>
              <a:t>를 가정한 선형 모델이다.</a:t>
            </a:r>
          </a:p>
        </p:txBody>
      </p:sp>
      <p:pic>
        <p:nvPicPr>
          <p:cNvPr id="7" name="Picture 6" descr="image.png"/>
          <p:cNvPicPr>
            <a:picLocks noChangeAspect="1"/>
          </p:cNvPicPr>
          <p:nvPr/>
        </p:nvPicPr>
        <p:blipFill>
          <a:blip r:embed="rId3"/>
          <a:stretch>
            <a:fillRect/>
          </a:stretch>
        </p:blipFill>
        <p:spPr>
          <a:xfrm>
            <a:off x="609600" y="2504877"/>
            <a:ext cx="5473700" cy="431800"/>
          </a:xfrm>
          <a:prstGeom prst="rect">
            <a:avLst/>
          </a:prstGeom>
        </p:spPr>
      </p:pic>
      <p:sp>
        <p:nvSpPr>
          <p:cNvPr id="8" name="TextBox 7"/>
          <p:cNvSpPr txBox="1"/>
          <p:nvPr/>
        </p:nvSpPr>
        <p:spPr>
          <a:xfrm>
            <a:off x="609600" y="2945805"/>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ξₓ = [rₓ, vₓ]^⊤</a:t>
            </a:r>
            <a:r>
              <a:rPr sz="1050" b="0" i="0">
                <a:solidFill>
                  <a:srgbClr val="16213A"/>
                </a:solidFill>
                <a:latin typeface="Arial"/>
                <a:ea typeface="Malgun Gothic"/>
                <a:cs typeface="Malgun Gothic"/>
              </a:rPr>
              <a:t>는 지지발 기준 무게중심 위치와 속도,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는 한 걸음 주기, </a:t>
            </a:r>
            <a:r>
              <a:rPr sz="1050" b="0" i="1">
                <a:solidFill>
                  <a:srgbClr val="16213A"/>
                </a:solidFill>
                <a:latin typeface="Arial"/>
                <a:ea typeface="Malgun Gothic"/>
                <a:cs typeface="Malgun Gothic"/>
              </a:rPr>
              <a:t>B = [0, -1]^⊤</a:t>
            </a:r>
            <a:r>
              <a:rPr sz="1050" b="0" i="0">
                <a:solidFill>
                  <a:srgbClr val="16213A"/>
                </a:solidFill>
                <a:latin typeface="Arial"/>
                <a:ea typeface="Malgun Gothic"/>
                <a:cs typeface="Malgun Gothic"/>
              </a:rPr>
              <a:t>은 발을 디디는 순간 기준점이 보폭만큼 옮겨 가는 효과다. 셋째 식은 "한 걸음 뒤 무게중심 상태"를 보폭의 선형 함수로 준다. </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 방향도 같은 꼴이다.</a:t>
            </a:r>
          </a:p>
        </p:txBody>
      </p:sp>
      <p:sp>
        <p:nvSpPr>
          <p:cNvPr id="9" name="TextBox 8"/>
          <p:cNvSpPr txBox="1"/>
          <p:nvPr/>
        </p:nvSpPr>
        <p:spPr>
          <a:xfrm>
            <a:off x="609600" y="34676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기준 궤적 생성.</a:t>
            </a:r>
            <a:r>
              <a:rPr sz="1050" b="0" i="0">
                <a:solidFill>
                  <a:srgbClr val="16213A"/>
                </a:solidFill>
                <a:latin typeface="Arial"/>
                <a:ea typeface="Malgun Gothic"/>
                <a:cs typeface="Malgun Gothic"/>
              </a:rPr>
              <a:t> 원하는 속도 </a:t>
            </a:r>
            <a:r>
              <a:rPr sz="1050" b="0" i="1">
                <a:solidFill>
                  <a:srgbClr val="16213A"/>
                </a:solidFill>
                <a:latin typeface="Arial"/>
                <a:ea typeface="Malgun Gothic"/>
                <a:cs typeface="Malgun Gothic"/>
              </a:rPr>
              <a:t>v_D</a:t>
            </a:r>
            <a:r>
              <a:rPr sz="1050" b="0" i="0">
                <a:solidFill>
                  <a:srgbClr val="16213A"/>
                </a:solidFill>
                <a:latin typeface="Arial"/>
                <a:ea typeface="Malgun Gothic"/>
                <a:cs typeface="Malgun Gothic"/>
              </a:rPr>
              <a:t>를 안전하게 따라가도록 앞으로 </a:t>
            </a:r>
            <a:r>
              <a:rPr sz="1050" b="0" i="1">
                <a:solidFill>
                  <a:srgbClr val="16213A"/>
                </a:solidFill>
                <a:latin typeface="Arial"/>
                <a:ea typeface="Malgun Gothic"/>
                <a:cs typeface="Malgun Gothic"/>
              </a:rPr>
              <a:t>N = 4</a:t>
            </a:r>
            <a:r>
              <a:rPr sz="1050" b="0" i="0">
                <a:solidFill>
                  <a:srgbClr val="16213A"/>
                </a:solidFill>
                <a:latin typeface="Arial"/>
                <a:ea typeface="Malgun Gothic"/>
                <a:cs typeface="Malgun Gothic"/>
              </a:rPr>
              <a:t>걸음의 발 위치와 걸음 시간을 푼다.</a:t>
            </a:r>
          </a:p>
        </p:txBody>
      </p:sp>
      <p:pic>
        <p:nvPicPr>
          <p:cNvPr id="10" name="Picture 9" descr="image.png"/>
          <p:cNvPicPr>
            <a:picLocks noChangeAspect="1"/>
          </p:cNvPicPr>
          <p:nvPr/>
        </p:nvPicPr>
        <p:blipFill>
          <a:blip r:embed="rId4"/>
          <a:stretch>
            <a:fillRect/>
          </a:stretch>
        </p:blipFill>
        <p:spPr>
          <a:xfrm>
            <a:off x="609600" y="3773091"/>
            <a:ext cx="7340600" cy="549275"/>
          </a:xfrm>
          <a:prstGeom prst="rect">
            <a:avLst/>
          </a:prstGeom>
        </p:spPr>
      </p:pic>
      <p:sp>
        <p:nvSpPr>
          <p:cNvPr id="11" name="TextBox 10"/>
          <p:cNvSpPr txBox="1"/>
          <p:nvPr/>
        </p:nvSpPr>
        <p:spPr>
          <a:xfrm>
            <a:off x="609600" y="4317504"/>
            <a:ext cx="10972800" cy="649486"/>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c_(edge)</a:t>
            </a:r>
            <a:r>
              <a:rPr sz="1050" b="0" i="0">
                <a:solidFill>
                  <a:srgbClr val="16213A"/>
                </a:solidFill>
                <a:latin typeface="Arial"/>
                <a:ea typeface="Malgun Gothic"/>
                <a:cs typeface="Malgun Gothic"/>
              </a:rPr>
              <a:t>는 발판 가장자리 근처를 디디면 주는 비용, </a:t>
            </a:r>
            <a:r>
              <a:rPr sz="1050" b="0" i="1">
                <a:solidFill>
                  <a:srgbClr val="16213A"/>
                </a:solidFill>
                <a:latin typeface="Arial"/>
                <a:ea typeface="Malgun Gothic"/>
                <a:cs typeface="Malgun Gothic"/>
              </a:rPr>
              <a:t>ℒ_(step feas.)</a:t>
            </a:r>
            <a:r>
              <a:rPr sz="1050" b="0" i="0">
                <a:solidFill>
                  <a:srgbClr val="16213A"/>
                </a:solidFill>
                <a:latin typeface="Arial"/>
                <a:ea typeface="Malgun Gothic"/>
                <a:cs typeface="Malgun Gothic"/>
              </a:rPr>
              <a:t>는 안전한 발판 영역, </a:t>
            </a:r>
            <a:r>
              <a:rPr sz="1050" b="0" i="1">
                <a:solidFill>
                  <a:srgbClr val="16213A"/>
                </a:solidFill>
                <a:latin typeface="Arial"/>
                <a:ea typeface="Malgun Gothic"/>
                <a:cs typeface="Malgun Gothic"/>
              </a:rPr>
              <a:t>ℒ_(step bound)</a:t>
            </a:r>
            <a:r>
              <a:rPr sz="1050" b="0" i="0">
                <a:solidFill>
                  <a:srgbClr val="16213A"/>
                </a:solidFill>
                <a:latin typeface="Arial"/>
                <a:ea typeface="Malgun Gothic"/>
                <a:cs typeface="Malgun Gothic"/>
              </a:rPr>
              <a:t>는 보폭 한계다. 가장자리 비용과 발판 제약이 심하게 비볼록이라 해석적으로 풀지 않는다. 시간과 안전 발판을 이산화하고 탐욕 롤아웃 16개로 random shooting해 근사한다. 결과로 스윙 발의 3차원 Bezier 궤적, HLIP로 보간한 무게중심 궤적, 골반·스윙 발 자세, 상체 자세를 묶은 기준 출력 </a:t>
            </a:r>
            <a:r>
              <a:rPr sz="1050" b="0" i="1">
                <a:solidFill>
                  <a:srgbClr val="16213A"/>
                </a:solidFill>
                <a:latin typeface="Arial"/>
                <a:ea typeface="Malgun Gothic"/>
                <a:cs typeface="Malgun Gothic"/>
              </a:rPr>
              <a:t>y_(ref)(t)</a:t>
            </a:r>
            <a:r>
              <a:rPr sz="1050" b="0" i="0">
                <a:solidFill>
                  <a:srgbClr val="16213A"/>
                </a:solidFill>
                <a:latin typeface="Arial"/>
                <a:ea typeface="Malgun Gothic"/>
                <a:cs typeface="Malgun Gothic"/>
              </a:rPr>
              <a:t>를 만든다. 새 발이 닿을 때마다 다시 계산한다.</a:t>
            </a:r>
          </a:p>
        </p:txBody>
      </p:sp>
      <p:sp>
        <p:nvSpPr>
          <p:cNvPr id="12" name="TextBox 11"/>
          <p:cNvSpPr txBox="1"/>
          <p:nvPr/>
        </p:nvSpPr>
        <p:spPr>
          <a:xfrm>
            <a:off x="609600" y="505589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CLF 보상으로 teacher 학습.</a:t>
            </a:r>
            <a:r>
              <a:rPr sz="1050" b="0" i="0">
                <a:solidFill>
                  <a:srgbClr val="16213A"/>
                </a:solidFill>
                <a:latin typeface="Arial"/>
                <a:ea typeface="Malgun Gothic"/>
                <a:cs typeface="Malgun Gothic"/>
              </a:rPr>
              <a:t> 시뮬 출력과 기준의 오차 </a:t>
            </a:r>
            <a:r>
              <a:rPr sz="1050" b="0" i="1">
                <a:solidFill>
                  <a:srgbClr val="16213A"/>
                </a:solidFill>
                <a:latin typeface="Arial"/>
                <a:ea typeface="Malgun Gothic"/>
                <a:cs typeface="Malgun Gothic"/>
              </a:rPr>
              <a:t>η = yₛᵢₘ - y_(ref)</a:t>
            </a:r>
            <a:r>
              <a:rPr sz="1050" b="0" i="0">
                <a:solidFill>
                  <a:srgbClr val="16213A"/>
                </a:solidFill>
                <a:latin typeface="Arial"/>
                <a:ea typeface="Malgun Gothic"/>
                <a:cs typeface="Malgun Gothic"/>
              </a:rPr>
              <a:t>로 에너지 같은 함수를 만든다.</a:t>
            </a:r>
          </a:p>
        </p:txBody>
      </p:sp>
      <p:pic>
        <p:nvPicPr>
          <p:cNvPr id="13" name="Picture 12" descr="image.png"/>
          <p:cNvPicPr>
            <a:picLocks noChangeAspect="1"/>
          </p:cNvPicPr>
          <p:nvPr/>
        </p:nvPicPr>
        <p:blipFill>
          <a:blip r:embed="rId5"/>
          <a:stretch>
            <a:fillRect/>
          </a:stretch>
        </p:blipFill>
        <p:spPr>
          <a:xfrm>
            <a:off x="609600" y="5361285"/>
            <a:ext cx="6159500" cy="533400"/>
          </a:xfrm>
          <a:prstGeom prst="rect">
            <a:avLst/>
          </a:prstGeom>
        </p:spPr>
      </p:pic>
      <p:sp>
        <p:nvSpPr>
          <p:cNvPr id="14" name="TextBox 13"/>
          <p:cNvSpPr txBox="1"/>
          <p:nvPr/>
        </p:nvSpPr>
        <p:spPr>
          <a:xfrm>
            <a:off x="609600" y="589022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9개(문단·식·그림)는 대시보드 리서치 탭의 "자세히: MARCH의 방법과 수식" 토글에 있다.</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배경: 제어 리아푸노프 함수(CLF)와 리카티 방정식 — "오차 에너지가 줄어드는가"로 수렴을 판정한다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323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리아푸노프 함수 </a:t>
            </a:r>
            <a:r>
              <a:rPr sz="1050" b="0" i="1">
                <a:solidFill>
                  <a:srgbClr val="16213A"/>
                </a:solidFill>
                <a:latin typeface="Arial"/>
                <a:ea typeface="Malgun Gothic"/>
                <a:cs typeface="Malgun Gothic"/>
              </a:rPr>
              <a:t>V(x)</a:t>
            </a:r>
            <a:r>
              <a:rPr sz="1050" b="0" i="0">
                <a:solidFill>
                  <a:srgbClr val="16213A"/>
                </a:solidFill>
                <a:latin typeface="Arial"/>
                <a:ea typeface="Malgun Gothic"/>
                <a:cs typeface="Malgun Gothic"/>
              </a:rPr>
              <a:t>는 에너지처럼 생긴 함수다. 원점(목표 상태)에서만 0이고 다른 곳에서는 양수다. 궤적을 따라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가 계속 줄어들면(</a:t>
            </a:r>
            <a:r>
              <a:rPr sz="1050" b="0" i="1">
                <a:solidFill>
                  <a:srgbClr val="16213A"/>
                </a:solidFill>
                <a:latin typeface="Arial"/>
                <a:ea typeface="Malgun Gothic"/>
                <a:cs typeface="Malgun Gothic"/>
              </a:rPr>
              <a:t>V̇ &lt; 0</a:t>
            </a:r>
            <a:r>
              <a:rPr sz="1050" b="0" i="0">
                <a:solidFill>
                  <a:srgbClr val="16213A"/>
                </a:solidFill>
                <a:latin typeface="Arial"/>
                <a:ea typeface="Malgun Gothic"/>
                <a:cs typeface="Malgun Gothic"/>
              </a:rPr>
              <a:t>) 상태는 원점으로 간다. 궤적을 직접 풀지 않고도 수렴을 판정하는 도구다. 제어 리아푸노프 함수(CLF)는 입력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가 있는 계통에서 "어떤 상태에서든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를 줄이는 입력이 존재하는"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다.</a:t>
            </a:r>
          </a:p>
        </p:txBody>
      </p:sp>
      <p:pic>
        <p:nvPicPr>
          <p:cNvPr id="6" name="Picture 5" descr="image.png"/>
          <p:cNvPicPr>
            <a:picLocks noChangeAspect="1"/>
          </p:cNvPicPr>
          <p:nvPr/>
        </p:nvPicPr>
        <p:blipFill>
          <a:blip r:embed="rId3"/>
          <a:stretch>
            <a:fillRect/>
          </a:stretch>
        </p:blipFill>
        <p:spPr>
          <a:xfrm>
            <a:off x="609600" y="1766491"/>
            <a:ext cx="3959225" cy="298450"/>
          </a:xfrm>
          <a:prstGeom prst="rect">
            <a:avLst/>
          </a:prstGeom>
        </p:spPr>
      </p:pic>
      <p:sp>
        <p:nvSpPr>
          <p:cNvPr id="7" name="TextBox 6"/>
          <p:cNvSpPr txBox="1"/>
          <p:nvPr/>
        </p:nvSpPr>
        <p:spPr>
          <a:xfrm>
            <a:off x="609600" y="2093020"/>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c &gt; 0</a:t>
            </a:r>
            <a:r>
              <a:rPr sz="1050" b="0" i="0">
                <a:solidFill>
                  <a:srgbClr val="16213A"/>
                </a:solidFill>
                <a:latin typeface="Arial"/>
                <a:ea typeface="Malgun Gothic"/>
                <a:cs typeface="Malgun Gothic"/>
              </a:rPr>
              <a:t>이면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가 지수적으로 줄어든다. 고전 제어에서는 매 순간 이 부등식을 만족하는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를 QP로 골라 제어기를 만든다. CBF(배경 0.4)가 "안전 집합 밖으로 나가지 않기"를 보장한다면, CLF는 "목표로 수렴하기"를 보장한다.</a:t>
            </a:r>
          </a:p>
        </p:txBody>
      </p:sp>
      <p:sp>
        <p:nvSpPr>
          <p:cNvPr id="8" name="TextBox 7"/>
          <p:cNvSpPr txBox="1"/>
          <p:nvPr/>
        </p:nvSpPr>
        <p:spPr>
          <a:xfrm>
            <a:off x="609600" y="261491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리카티 방정식이 나오나.</a:t>
            </a:r>
            <a:r>
              <a:rPr sz="1050" b="0" i="0">
                <a:solidFill>
                  <a:srgbClr val="16213A"/>
                </a:solidFill>
                <a:latin typeface="Arial"/>
                <a:ea typeface="Malgun Gothic"/>
                <a:cs typeface="Malgun Gothic"/>
              </a:rPr>
              <a:t> CLF의 어려운 점은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를 어떻게 고르느냐다. 오차 동역학이 선형 </a:t>
            </a:r>
            <a:r>
              <a:rPr sz="1050" b="0" i="1">
                <a:solidFill>
                  <a:srgbClr val="16213A"/>
                </a:solidFill>
                <a:latin typeface="Arial"/>
                <a:ea typeface="Malgun Gothic"/>
                <a:cs typeface="Malgun Gothic"/>
              </a:rPr>
              <a:t>η̇ = Aη + Bu</a:t>
            </a:r>
            <a:r>
              <a:rPr sz="1050" b="0" i="0">
                <a:solidFill>
                  <a:srgbClr val="16213A"/>
                </a:solidFill>
                <a:latin typeface="Arial"/>
                <a:ea typeface="Malgun Gothic"/>
                <a:cs typeface="Malgun Gothic"/>
              </a:rPr>
              <a:t>로 근사되면 LQR이 답을 준다. LQR은 비용 </a:t>
            </a:r>
            <a:r>
              <a:rPr sz="1050" b="0" i="1">
                <a:solidFill>
                  <a:srgbClr val="16213A"/>
                </a:solidFill>
                <a:latin typeface="Arial"/>
                <a:ea typeface="Malgun Gothic"/>
                <a:cs typeface="Malgun Gothic"/>
              </a:rPr>
              <a:t>J = ∫ (η^⊤ Q η + u^⊤ R u) dt</a:t>
            </a:r>
            <a:r>
              <a:rPr sz="1050" b="0" i="0">
                <a:solidFill>
                  <a:srgbClr val="16213A"/>
                </a:solidFill>
                <a:latin typeface="Arial"/>
                <a:ea typeface="Malgun Gothic"/>
                <a:cs typeface="Malgun Gothic"/>
              </a:rPr>
              <a:t>를 최소화한다. 이때 최적 비용은 </a:t>
            </a:r>
            <a:r>
              <a:rPr sz="1050" b="0" i="1">
                <a:solidFill>
                  <a:srgbClr val="16213A"/>
                </a:solidFill>
                <a:latin typeface="Arial"/>
                <a:ea typeface="Malgun Gothic"/>
                <a:cs typeface="Malgun Gothic"/>
              </a:rPr>
              <a:t>η^⊤ P η</a:t>
            </a:r>
            <a:r>
              <a:rPr sz="1050" b="0" i="0">
                <a:solidFill>
                  <a:srgbClr val="16213A"/>
                </a:solidFill>
                <a:latin typeface="Arial"/>
                <a:ea typeface="Malgun Gothic"/>
                <a:cs typeface="Malgun Gothic"/>
              </a:rPr>
              <a:t> 꼴이고,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는 연속 시간 대수 리카티 방정식(CARE)의 양정치 해다.</a:t>
            </a:r>
          </a:p>
        </p:txBody>
      </p:sp>
      <p:pic>
        <p:nvPicPr>
          <p:cNvPr id="9" name="Picture 8" descr="image.png"/>
          <p:cNvPicPr>
            <a:picLocks noChangeAspect="1"/>
          </p:cNvPicPr>
          <p:nvPr/>
        </p:nvPicPr>
        <p:blipFill>
          <a:blip r:embed="rId4"/>
          <a:stretch>
            <a:fillRect/>
          </a:stretch>
        </p:blipFill>
        <p:spPr>
          <a:xfrm>
            <a:off x="609600" y="3136801"/>
            <a:ext cx="4349750" cy="241300"/>
          </a:xfrm>
          <a:prstGeom prst="rect">
            <a:avLst/>
          </a:prstGeom>
        </p:spPr>
      </p:pic>
      <p:sp>
        <p:nvSpPr>
          <p:cNvPr id="10" name="TextBox 9"/>
          <p:cNvSpPr txBox="1"/>
          <p:nvPr/>
        </p:nvSpPr>
        <p:spPr>
          <a:xfrm>
            <a:off x="609600" y="341431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입력을 쓰면 </a:t>
            </a:r>
            <a:r>
              <a:rPr sz="1050" b="0" i="1">
                <a:solidFill>
                  <a:srgbClr val="16213A"/>
                </a:solidFill>
                <a:latin typeface="Arial"/>
                <a:ea typeface="Malgun Gothic"/>
                <a:cs typeface="Malgun Gothic"/>
              </a:rPr>
              <a:t>V̇ = -η^⊤ (Q + P B R⁻¹ B^⊤ P) η &lt; 0</a:t>
            </a:r>
            <a:r>
              <a:rPr sz="1050" b="0" i="0">
                <a:solidFill>
                  <a:srgbClr val="16213A"/>
                </a:solidFill>
                <a:latin typeface="Arial"/>
                <a:ea typeface="Malgun Gothic"/>
                <a:cs typeface="Malgun Gothic"/>
              </a:rPr>
              <a:t>이다. 그래서 </a:t>
            </a:r>
            <a:r>
              <a:rPr sz="1050" b="0" i="1">
                <a:solidFill>
                  <a:srgbClr val="16213A"/>
                </a:solidFill>
                <a:latin typeface="Arial"/>
                <a:ea typeface="Malgun Gothic"/>
                <a:cs typeface="Malgun Gothic"/>
              </a:rPr>
              <a:t>V = η^⊤ P η</a:t>
            </a:r>
            <a:r>
              <a:rPr sz="1050" b="0" i="0">
                <a:solidFill>
                  <a:srgbClr val="16213A"/>
                </a:solidFill>
                <a:latin typeface="Arial"/>
                <a:ea typeface="Malgun Gothic"/>
                <a:cs typeface="Malgun Gothic"/>
              </a:rPr>
              <a:t>는 자동으로 CLF가 된다. "남은 최적 비용"이 그대로 에너지 함수 역할을 하는 셈이다.</a:t>
            </a:r>
          </a:p>
        </p:txBody>
      </p:sp>
      <p:sp>
        <p:nvSpPr>
          <p:cNvPr id="11" name="TextBox 10"/>
          <p:cNvSpPr txBox="1"/>
          <p:nvPr/>
        </p:nvSpPr>
        <p:spPr>
          <a:xfrm>
            <a:off x="609600" y="3719711"/>
            <a:ext cx="10972800" cy="588169"/>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위치 오차 </a:t>
            </a:r>
            <a:r>
              <a:rPr sz="1050" b="0" i="1">
                <a:solidFill>
                  <a:srgbClr val="16213A"/>
                </a:solidFill>
                <a:latin typeface="Arial"/>
                <a:ea typeface="Malgun Gothic"/>
                <a:cs typeface="Malgun Gothic"/>
              </a:rPr>
              <a:t>e</a:t>
            </a:r>
            <a:r>
              <a:rPr sz="1050" b="0" i="0">
                <a:solidFill>
                  <a:srgbClr val="16213A"/>
                </a:solidFill>
                <a:latin typeface="Arial"/>
                <a:ea typeface="Malgun Gothic"/>
                <a:cs typeface="Malgun Gothic"/>
              </a:rPr>
              <a:t>와 속도 오차 </a:t>
            </a:r>
            <a:r>
              <a:rPr sz="1050" b="0" i="1">
                <a:solidFill>
                  <a:srgbClr val="16213A"/>
                </a:solidFill>
                <a:latin typeface="Arial"/>
                <a:ea typeface="Malgun Gothic"/>
                <a:cs typeface="Malgun Gothic"/>
              </a:rPr>
              <a:t>ė</a:t>
            </a:r>
            <a:r>
              <a:rPr sz="1050" b="0" i="0">
                <a:solidFill>
                  <a:srgbClr val="16213A"/>
                </a:solidFill>
                <a:latin typeface="Arial"/>
                <a:ea typeface="Malgun Gothic"/>
                <a:cs typeface="Malgun Gothic"/>
              </a:rPr>
              <a:t>를 가진 2차 적분기(</a:t>
            </a:r>
            <a:r>
              <a:rPr sz="1050" b="0" i="1">
                <a:solidFill>
                  <a:srgbClr val="16213A"/>
                </a:solidFill>
                <a:latin typeface="Arial"/>
                <a:ea typeface="Malgun Gothic"/>
                <a:cs typeface="Malgun Gothic"/>
              </a:rPr>
              <a:t>ë = u</a:t>
            </a:r>
            <a:r>
              <a:rPr sz="1050" b="0" i="0">
                <a:solidFill>
                  <a:srgbClr val="16213A"/>
                </a:solidFill>
                <a:latin typeface="Arial"/>
                <a:ea typeface="Malgun Gothic"/>
                <a:cs typeface="Malgun Gothic"/>
              </a:rPr>
              <a:t>)를 보자. </a:t>
            </a:r>
            <a:r>
              <a:rPr sz="1050" b="0" i="1">
                <a:solidFill>
                  <a:srgbClr val="16213A"/>
                </a:solidFill>
                <a:latin typeface="Arial"/>
                <a:ea typeface="Malgun Gothic"/>
                <a:cs typeface="Malgun Gothic"/>
              </a:rPr>
              <a:t>A = beginbmatrix 0 &amp; 1 \ 0 &amp; 0 endbmatrix</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B = [0, 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Q = I</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R = 1</a:t>
            </a:r>
            <a:r>
              <a:rPr sz="1050" b="0" i="0">
                <a:solidFill>
                  <a:srgbClr val="16213A"/>
                </a:solidFill>
                <a:latin typeface="Arial"/>
                <a:ea typeface="Malgun Gothic"/>
                <a:cs typeface="Malgun Gothic"/>
              </a:rPr>
              <a:t>이면 CARE의 해는 </a:t>
            </a:r>
            <a:r>
              <a:rPr sz="1050" b="0" i="1">
                <a:solidFill>
                  <a:srgbClr val="16213A"/>
                </a:solidFill>
                <a:latin typeface="Arial"/>
                <a:ea typeface="Malgun Gothic"/>
                <a:cs typeface="Malgun Gothic"/>
              </a:rPr>
              <a:t>P = beginbmatrix √3 &amp; 1 \ 1 &amp; √3 endbmatrix</a:t>
            </a:r>
            <a:r>
              <a:rPr sz="1050" b="0" i="0">
                <a:solidFill>
                  <a:srgbClr val="16213A"/>
                </a:solidFill>
                <a:latin typeface="Arial"/>
                <a:ea typeface="Malgun Gothic"/>
                <a:cs typeface="Malgun Gothic"/>
              </a:rPr>
              <a:t>이다. 최적 입력은 </a:t>
            </a:r>
            <a:r>
              <a:rPr sz="1050" b="0" i="1">
                <a:solidFill>
                  <a:srgbClr val="16213A"/>
                </a:solidFill>
                <a:latin typeface="Arial"/>
                <a:ea typeface="Malgun Gothic"/>
                <a:cs typeface="Malgun Gothic"/>
              </a:rPr>
              <a:t>u = -e - √3 ė</a:t>
            </a:r>
            <a:r>
              <a:rPr sz="1050" b="0" i="0">
                <a:solidFill>
                  <a:srgbClr val="16213A"/>
                </a:solidFill>
                <a:latin typeface="Arial"/>
                <a:ea typeface="Malgun Gothic"/>
                <a:cs typeface="Malgun Gothic"/>
              </a:rPr>
              <a:t>로 익숙한 PD 제어기다. </a:t>
            </a:r>
            <a:r>
              <a:rPr sz="1050" b="0" i="1">
                <a:solidFill>
                  <a:srgbClr val="16213A"/>
                </a:solidFill>
                <a:latin typeface="Arial"/>
                <a:ea typeface="Malgun Gothic"/>
                <a:cs typeface="Malgun Gothic"/>
              </a:rPr>
              <a:t>V = √3 e² + 2eė + √3 ė²</a:t>
            </a:r>
            <a:r>
              <a:rPr sz="1050" b="0" i="0">
                <a:solidFill>
                  <a:srgbClr val="16213A"/>
                </a:solidFill>
                <a:latin typeface="Arial"/>
                <a:ea typeface="Malgun Gothic"/>
                <a:cs typeface="Malgun Gothic"/>
              </a:rPr>
              <a:t>는 위치 오차와 속도 오차를 함께 재는 "오차 에너지"다. 교차항 </a:t>
            </a:r>
            <a:r>
              <a:rPr sz="1050" b="0" i="1">
                <a:solidFill>
                  <a:srgbClr val="16213A"/>
                </a:solidFill>
                <a:latin typeface="Arial"/>
                <a:ea typeface="Malgun Gothic"/>
                <a:cs typeface="Malgun Gothic"/>
              </a:rPr>
              <a:t>2eė</a:t>
            </a:r>
            <a:r>
              <a:rPr sz="1050" b="0" i="0">
                <a:solidFill>
                  <a:srgbClr val="16213A"/>
                </a:solidFill>
                <a:latin typeface="Arial"/>
                <a:ea typeface="Malgun Gothic"/>
                <a:cs typeface="Malgun Gothic"/>
              </a:rPr>
              <a:t> 덕분에 목표로 다가가는 중(오차와 속도 오차의 부호가 반대)이면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가 더 작게 잡힌다.</a:t>
            </a:r>
          </a:p>
        </p:txBody>
      </p:sp>
      <p:sp>
        <p:nvSpPr>
          <p:cNvPr id="12" name="TextBox 11"/>
          <p:cNvSpPr txBox="1"/>
          <p:nvPr/>
        </p:nvSpPr>
        <p:spPr>
          <a:xfrm>
            <a:off x="609600" y="439678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RL에서는 보상이 된다(CLF-RL).</a:t>
            </a:r>
            <a:r>
              <a:rPr sz="1050" b="0" i="0">
                <a:solidFill>
                  <a:srgbClr val="16213A"/>
                </a:solidFill>
                <a:latin typeface="Arial"/>
                <a:ea typeface="Malgun Gothic"/>
                <a:cs typeface="Malgun Gothic"/>
              </a:rPr>
              <a:t> 로봇 전체 동역학은 모르므로 CLF 부등식을 제어기로 강제할 수 없다. 대신 기준 궤적과의 오차로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를 계산하고 두 보상을 준다. 하나는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가 작을수록 큰 보상, 다른 하나는 </a:t>
            </a:r>
            <a:r>
              <a:rPr sz="1050" b="0" i="1">
                <a:solidFill>
                  <a:srgbClr val="16213A"/>
                </a:solidFill>
                <a:latin typeface="Arial"/>
                <a:ea typeface="Malgun Gothic"/>
                <a:cs typeface="Malgun Gothic"/>
              </a:rPr>
              <a:t>V̇ ≤ -α V</a:t>
            </a:r>
            <a:r>
              <a:rPr sz="1050" b="0" i="0">
                <a:solidFill>
                  <a:srgbClr val="16213A"/>
                </a:solidFill>
                <a:latin typeface="Arial"/>
                <a:ea typeface="Malgun Gothic"/>
                <a:cs typeface="Malgun Gothic"/>
              </a:rPr>
              <a:t>를 어기면 주는 벌점이다. 딱딱한 제약이 부드러운 유도 신호로 바뀐다. 모델이 틀려도 정책이 알아서 보정할 여지가 남는다.</a:t>
            </a:r>
          </a:p>
        </p:txBody>
      </p:sp>
      <p:sp>
        <p:nvSpPr>
          <p:cNvPr id="13" name="TextBox 12"/>
          <p:cNvSpPr txBox="1"/>
          <p:nvPr/>
        </p:nvSpPr>
        <p:spPr>
          <a:xfrm>
            <a:off x="609600" y="491867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탭에서는.</a:t>
            </a:r>
            <a:r>
              <a:rPr sz="1050" b="0" i="0">
                <a:solidFill>
                  <a:srgbClr val="16213A"/>
                </a:solidFill>
                <a:latin typeface="Arial"/>
                <a:ea typeface="Malgun Gothic"/>
                <a:cs typeface="Malgun Gothic"/>
              </a:rPr>
              <a:t> MARCH가 기준 궤적 오차 </a:t>
            </a:r>
            <a:r>
              <a:rPr sz="1050" b="0" i="1">
                <a:solidFill>
                  <a:srgbClr val="16213A"/>
                </a:solidFill>
                <a:latin typeface="Arial"/>
                <a:ea typeface="Malgun Gothic"/>
                <a:cs typeface="Malgun Gothic"/>
              </a:rPr>
              <a:t>η</a:t>
            </a:r>
            <a:r>
              <a:rPr sz="1050" b="0" i="0">
                <a:solidFill>
                  <a:srgbClr val="16213A"/>
                </a:solidFill>
                <a:latin typeface="Arial"/>
                <a:ea typeface="Malgun Gothic"/>
                <a:cs typeface="Malgun Gothic"/>
              </a:rPr>
              <a:t>에 </a:t>
            </a:r>
            <a:r>
              <a:rPr sz="1050" b="0" i="1">
                <a:solidFill>
                  <a:srgbClr val="16213A"/>
                </a:solidFill>
                <a:latin typeface="Arial"/>
                <a:ea typeface="Malgun Gothic"/>
                <a:cs typeface="Malgun Gothic"/>
              </a:rPr>
              <a:t>V = 1/2 η^⊤ P η</a:t>
            </a:r>
            <a:r>
              <a:rPr sz="1050" b="0" i="0">
                <a:solidFill>
                  <a:srgbClr val="16213A"/>
                </a:solidFill>
                <a:latin typeface="Arial"/>
                <a:ea typeface="Malgun Gothic"/>
                <a:cs typeface="Malgun Gothic"/>
              </a:rPr>
              <a:t>를 쓰고,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를 CARE로 미리 구한다.</a:t>
            </a:r>
          </a:p>
        </p:txBody>
      </p:sp>
      <p:sp>
        <p:nvSpPr>
          <p:cNvPr id="14" name="TextBox 13"/>
          <p:cNvSpPr txBox="1"/>
          <p:nvPr/>
        </p:nvSpPr>
        <p:spPr>
          <a:xfrm>
            <a:off x="609600" y="522406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travplan과의 관계.</a:t>
            </a:r>
            <a:r>
              <a:rPr sz="1050" b="0" i="0">
                <a:solidFill>
                  <a:srgbClr val="16213A"/>
                </a:solidFill>
                <a:latin typeface="Arial"/>
                <a:ea typeface="Malgun Gothic"/>
                <a:cs typeface="Malgun Gothic"/>
              </a:rPr>
              <a:t> 같은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가 NMPC 말단 비용으로 쓰인다. 짧은 예측 구간 뒤의 비용을 LQR 해로 근사하면 수렴성이 좋아진다. 학습 Controller를 만든다면 "Planner 경로와의 추종 오차로 만든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"를 보상 항으로 넣어 추종을 유도할 수 있다.</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자세히: VB-Com의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324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proprioception만 쓰는 blind 정책은 입력이 믿을 만해 강건하다. 하지만 지형에 부딪혀야 반응하므로 느리고 충돌이 잦다. 지각 정책은 미리 보고 계획하지만 인식이 틀리면 속는다. 실제 잡음, 센서 고장, 시뮬이 그리지 못하는 동적·변형 지형이 그 원인이다. 휴머노이드는 한 번 속으면 넘어진다. 잡음을 넣어 지각 정책 하나를 학습하는 방법도 있지만, 인식을 믿을지 말지의 절충에 갇혀 학습이 더디다. VB-Com은 두 정책을 따로 두고 "지금 어느 쪽을 믿을지"를 고른다.</a:t>
            </a:r>
          </a:p>
        </p:txBody>
      </p:sp>
      <p:sp>
        <p:nvSpPr>
          <p:cNvPr id="6" name="TextBox 5"/>
          <p:cNvSpPr txBox="1"/>
          <p:nvPr/>
        </p:nvSpPr>
        <p:spPr>
          <a:xfrm>
            <a:off x="609600" y="1982986"/>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두 정책.</a:t>
            </a:r>
            <a:r>
              <a:rPr sz="1050" b="0" i="0">
                <a:solidFill>
                  <a:srgbClr val="16213A"/>
                </a:solidFill>
                <a:latin typeface="Arial"/>
                <a:ea typeface="Malgun Gothic"/>
                <a:cs typeface="Malgun Gothic"/>
              </a:rPr>
              <a:t> 지각 정책 </a:t>
            </a:r>
            <a:r>
              <a:rPr sz="1050" b="0" i="1">
                <a:solidFill>
                  <a:srgbClr val="16213A"/>
                </a:solidFill>
                <a:latin typeface="Arial"/>
                <a:ea typeface="Malgun Gothic"/>
                <a:cs typeface="Malgun Gothic"/>
              </a:rPr>
              <a:t>πᵥ</a:t>
            </a:r>
            <a:r>
              <a:rPr sz="1050" b="0" i="0">
                <a:solidFill>
                  <a:srgbClr val="16213A"/>
                </a:solidFill>
                <a:latin typeface="Arial"/>
                <a:ea typeface="Malgun Gothic"/>
                <a:cs typeface="Malgun Gothic"/>
              </a:rPr>
              <a:t>와 blind 정책 </a:t>
            </a:r>
            <a:r>
              <a:rPr sz="1050" b="0" i="1">
                <a:solidFill>
                  <a:srgbClr val="16213A"/>
                </a:solidFill>
                <a:latin typeface="Arial"/>
                <a:ea typeface="Malgun Gothic"/>
                <a:cs typeface="Malgun Gothic"/>
              </a:rPr>
              <a:t>π_b</a:t>
            </a:r>
            <a:r>
              <a:rPr sz="1050" b="0" i="0">
                <a:solidFill>
                  <a:srgbClr val="16213A"/>
                </a:solidFill>
                <a:latin typeface="Arial"/>
                <a:ea typeface="Malgun Gothic"/>
                <a:cs typeface="Malgun Gothic"/>
              </a:rPr>
              <a:t>는 같은 보상·행동 공간으로 학습한다. 과제는 속도 추종이 아니라 목표 도달이다. 명령 </a:t>
            </a:r>
            <a:r>
              <a:rPr sz="1050" b="0" i="1">
                <a:solidFill>
                  <a:srgbClr val="16213A"/>
                </a:solidFill>
                <a:latin typeface="Arial"/>
                <a:ea typeface="Malgun Gothic"/>
                <a:cs typeface="Malgun Gothic"/>
              </a:rPr>
              <a:t>cₜ = [d₁, d₂, v_c]</a:t>
            </a:r>
            <a:r>
              <a:rPr sz="1050" b="0" i="0">
                <a:solidFill>
                  <a:srgbClr val="16213A"/>
                </a:solidFill>
                <a:latin typeface="Arial"/>
                <a:ea typeface="Malgun Gothic"/>
                <a:cs typeface="Malgun Gothic"/>
              </a:rPr>
              <a:t>는 다음 두 웨이포인트로의 방향과 속도 명령이다. proprioception은 관절 위치·속도, 몸통 각속도, 중력 방향이다. 지각 입력은 머리 LiDAR로 만든 로봇 중심 높이 지도다(앞 −0.35–0.85 m, 좌우 ±0.35 m). critic은 특권으로 정확한 선속도, 잡음 없는 관측, 더 넓은 높이 지도(1.6 m × 1.0 m, actor는 1.2 m × 0.7 m)를 받는다. 넓은 지도가 커리큘럼 상승을 빠르게 했다고 한다. 과거 관측으로 다음 속도를 회귀하는 상태 추정기를 함께 학습해 한 단계 학습으로 끝낸다. 학습 때 인식에는 기본 잡음(10% 가우시안, 0.5 s 이내 무작위 지연)을 넣는다. 보상은 목표 속도·방향 추종, 활성 충돌 링크의 충돌 벌점(−15), 정규화, 동작 스타일 항이다. 반환값을 정확히 추정하려고 보상을 환경 상호작용보다 로봇 자기 상태 위주로 둔다. 로봇은 Unitree G1(행동 20)과 H1(행동 19)이다. G1은 손 충돌을 켜서, blind 정책이 손을 뻗어 장애물을 더듬고 피하는 법을 배운다.</a:t>
            </a:r>
          </a:p>
        </p:txBody>
      </p:sp>
      <p:sp>
        <p:nvSpPr>
          <p:cNvPr id="7" name="TextBox 6"/>
          <p:cNvSpPr txBox="1"/>
          <p:nvPr/>
        </p:nvSpPr>
        <p:spPr>
          <a:xfrm>
            <a:off x="609600" y="3370858"/>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반환값 추정기.</a:t>
            </a:r>
            <a:r>
              <a:rPr sz="1050" b="0" i="0">
                <a:solidFill>
                  <a:srgbClr val="16213A"/>
                </a:solidFill>
                <a:latin typeface="Arial"/>
                <a:ea typeface="Malgun Gothic"/>
                <a:cs typeface="Malgun Gothic"/>
              </a:rPr>
              <a:t> 각 정책 옆에 "지금부터 이 정책을 쓰면 얻을 누적 보상"을 예측하는 네트워크 </a:t>
            </a:r>
            <a:r>
              <a:rPr sz="1050" b="0" i="1">
                <a:solidFill>
                  <a:srgbClr val="16213A"/>
                </a:solidFill>
                <a:latin typeface="Arial"/>
                <a:ea typeface="Malgun Gothic"/>
                <a:cs typeface="Malgun Gothic"/>
              </a:rPr>
              <a:t>π^eᵥ</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π^e_b</a:t>
            </a:r>
            <a:r>
              <a:rPr sz="1050" b="0" i="0">
                <a:solidFill>
                  <a:srgbClr val="16213A"/>
                </a:solidFill>
                <a:latin typeface="Arial"/>
                <a:ea typeface="Malgun Gothic"/>
                <a:cs typeface="Malgun Gothic"/>
              </a:rPr>
              <a:t>를 함께 학습한다 (배경: 소프트맥스 선택과 반환값 추정기 토글 참고). 입력은 </a:t>
            </a:r>
            <a:r>
              <a:rPr sz="1050" b="1" i="0">
                <a:solidFill>
                  <a:srgbClr val="16213A"/>
                </a:solidFill>
                <a:latin typeface="Arial"/>
                <a:ea typeface="Malgun Gothic"/>
                <a:cs typeface="Malgun Gothic"/>
              </a:rPr>
              <a:t>proprioception 이력뿐</a:t>
            </a:r>
            <a:r>
              <a:rPr sz="1050" b="0" i="0">
                <a:solidFill>
                  <a:srgbClr val="16213A"/>
                </a:solidFill>
                <a:latin typeface="Arial"/>
                <a:ea typeface="Malgun Gothic"/>
                <a:cs typeface="Malgun Gothic"/>
              </a:rPr>
              <a:t>이다. 인식이 틀린 상황을 잡아야 하므로 인식 입력이나 특권 정보를 넣지 않는다. 학습 목표는 전환 주기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 동안의 반환값을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로 가중 평균한 값이다. 한 스텝 반환값은 GAE의 결과 </a:t>
            </a:r>
            <a:r>
              <a:rPr sz="1050" b="0" i="1">
                <a:solidFill>
                  <a:srgbClr val="16213A"/>
                </a:solidFill>
                <a:latin typeface="Arial"/>
                <a:ea typeface="Malgun Gothic"/>
                <a:cs typeface="Malgun Gothic"/>
              </a:rPr>
              <a:t>G_(πᵢ)(sₜ) = Â(sₜ) + V(sₜ)</a:t>
            </a:r>
            <a:r>
              <a:rPr sz="1050" b="0" i="0">
                <a:solidFill>
                  <a:srgbClr val="16213A"/>
                </a:solidFill>
                <a:latin typeface="Arial"/>
                <a:ea typeface="Malgun Gothic"/>
                <a:cs typeface="Malgun Gothic"/>
              </a:rPr>
              <a:t>로 계산한다(GAE는 BeamDojo 뒤 이득 추정 토글 참고). 한 스텝 보상의 큰 분산을 누르고 최근 배치에 과적합하지 않게 하려는 것이다. 주기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는 한 번 전환하면 적어도 그만큼 그 정책을 쓴다는 단위다. 보이지 않는 갭에 빠질 때처럼 blind 행동이 여러 스텝 이어져야 회복되는 경우를 위한 것이다.</a:t>
            </a:r>
          </a:p>
        </p:txBody>
      </p:sp>
      <p:sp>
        <p:nvSpPr>
          <p:cNvPr id="8" name="TextBox 7"/>
          <p:cNvSpPr txBox="1"/>
          <p:nvPr/>
        </p:nvSpPr>
        <p:spPr>
          <a:xfrm>
            <a:off x="609600" y="432573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이론: 반환값으로 소프트맥스 선택.</a:t>
            </a:r>
            <a:r>
              <a:rPr sz="1050" b="0" i="0">
                <a:solidFill>
                  <a:srgbClr val="16213A"/>
                </a:solidFill>
                <a:latin typeface="Arial"/>
                <a:ea typeface="Malgun Gothic"/>
                <a:cs typeface="Malgun Gothic"/>
              </a:rPr>
              <a:t> 같은 상태·행동·보상을 공유하는 정책 집합에서, 각 후보 행동의 Q값이 가장 큰 쪽을 고르면 합성 정책의 기대 반환이 가장 크다는 결과가 근거다. 이를 확률로 풀면 다음과 같다.</a:t>
            </a:r>
          </a:p>
        </p:txBody>
      </p:sp>
      <p:pic>
        <p:nvPicPr>
          <p:cNvPr id="9" name="Picture 8" descr="image.png"/>
          <p:cNvPicPr>
            <a:picLocks noChangeAspect="1"/>
          </p:cNvPicPr>
          <p:nvPr/>
        </p:nvPicPr>
        <p:blipFill>
          <a:blip r:embed="rId3"/>
          <a:stretch>
            <a:fillRect/>
          </a:stretch>
        </p:blipFill>
        <p:spPr>
          <a:xfrm>
            <a:off x="609600" y="4847630"/>
            <a:ext cx="2225675" cy="492125"/>
          </a:xfrm>
          <a:prstGeom prst="rect">
            <a:avLst/>
          </a:prstGeom>
        </p:spPr>
      </p:pic>
      <p:sp>
        <p:nvSpPr>
          <p:cNvPr id="10" name="TextBox 9"/>
          <p:cNvSpPr txBox="1"/>
          <p:nvPr/>
        </p:nvSpPr>
        <p:spPr>
          <a:xfrm>
            <a:off x="609600" y="5342136"/>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aᵢ</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번째 정책의 후보 행동, </a:t>
            </a:r>
            <a:r>
              <a:rPr sz="1050" b="0" i="1">
                <a:solidFill>
                  <a:srgbClr val="16213A"/>
                </a:solidFill>
                <a:latin typeface="Arial"/>
                <a:ea typeface="Malgun Gothic"/>
                <a:cs typeface="Malgun Gothic"/>
              </a:rPr>
              <a:t>Qᵢ</a:t>
            </a:r>
            <a:r>
              <a:rPr sz="1050" b="0" i="0">
                <a:solidFill>
                  <a:srgbClr val="16213A"/>
                </a:solidFill>
                <a:latin typeface="Arial"/>
                <a:ea typeface="Malgun Gothic"/>
                <a:cs typeface="Malgun Gothic"/>
              </a:rPr>
              <a:t>는 그 반환값 추정,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는 온도다.</a:t>
            </a:r>
          </a:p>
        </p:txBody>
      </p:sp>
      <p:sp>
        <p:nvSpPr>
          <p:cNvPr id="11" name="TextBox 10"/>
          <p:cNvSpPr txBox="1"/>
          <p:nvPr/>
        </p:nvSpPr>
        <p:spPr>
          <a:xfrm>
            <a:off x="609600" y="5647531"/>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11개(문단·식·그림)는 대시보드 리서치 탭의 "자세히: VB-Com의 방법과 수식" 토글에 있다.</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배경: 소프트맥스 선택과 반환값 추정기 — 온도 α로 후보를 섞고, 추정한 누적 보상으로 정책을 바꾼다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325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소프트맥스(볼츠만) 선택은 후보마다 점수 </a:t>
            </a:r>
            <a:r>
              <a:rPr sz="1050" b="0" i="1">
                <a:solidFill>
                  <a:srgbClr val="16213A"/>
                </a:solidFill>
                <a:latin typeface="Arial"/>
                <a:ea typeface="Malgun Gothic"/>
                <a:cs typeface="Malgun Gothic"/>
              </a:rPr>
              <a:t>Qᵢ</a:t>
            </a:r>
            <a:r>
              <a:rPr sz="1050" b="0" i="0">
                <a:solidFill>
                  <a:srgbClr val="16213A"/>
                </a:solidFill>
                <a:latin typeface="Arial"/>
                <a:ea typeface="Malgun Gothic"/>
                <a:cs typeface="Malgun Gothic"/>
              </a:rPr>
              <a:t>가 있을 때, 점수가 높을수록 자주 고르는 확률 분포를 만드는 방법이다.</a:t>
            </a:r>
          </a:p>
        </p:txBody>
      </p:sp>
      <p:pic>
        <p:nvPicPr>
          <p:cNvPr id="6" name="Picture 5" descr="image.png"/>
          <p:cNvPicPr>
            <a:picLocks noChangeAspect="1"/>
          </p:cNvPicPr>
          <p:nvPr/>
        </p:nvPicPr>
        <p:blipFill>
          <a:blip r:embed="rId3"/>
          <a:stretch>
            <a:fillRect/>
          </a:stretch>
        </p:blipFill>
        <p:spPr>
          <a:xfrm>
            <a:off x="609600" y="1549995"/>
            <a:ext cx="1663700" cy="457200"/>
          </a:xfrm>
          <a:prstGeom prst="rect">
            <a:avLst/>
          </a:prstGeom>
        </p:spPr>
      </p:pic>
      <p:sp>
        <p:nvSpPr>
          <p:cNvPr id="7" name="TextBox 6"/>
          <p:cNvSpPr txBox="1"/>
          <p:nvPr/>
        </p:nvSpPr>
        <p:spPr>
          <a:xfrm>
            <a:off x="609600" y="201275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통계역학의 볼츠만 분포(에너지가 낮은 상태일수록 확률이 높다)와 같은 꼴이라 이 이름이 붙었다. 에너지 대신 점수를 쓰므로 부호만 다르다.</a:t>
            </a:r>
          </a:p>
        </p:txBody>
      </p:sp>
      <p:sp>
        <p:nvSpPr>
          <p:cNvPr id="8" name="TextBox 7"/>
          <p:cNvSpPr txBox="1"/>
          <p:nvPr/>
        </p:nvSpPr>
        <p:spPr>
          <a:xfrm>
            <a:off x="609600" y="231814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온도 </a:t>
            </a:r>
            <a:r>
              <a:rPr sz="1050" b="1" i="1">
                <a:solidFill>
                  <a:srgbClr val="16213A"/>
                </a:solidFill>
                <a:latin typeface="Arial"/>
                <a:ea typeface="Malgun Gothic"/>
                <a:cs typeface="Malgun Gothic"/>
              </a:rPr>
              <a:t>α</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는 점수 차를 얼마나 크게 볼지 정한다. </a:t>
            </a:r>
            <a:r>
              <a:rPr sz="1050" b="0" i="1">
                <a:solidFill>
                  <a:srgbClr val="16213A"/>
                </a:solidFill>
                <a:latin typeface="Arial"/>
                <a:ea typeface="Malgun Gothic"/>
                <a:cs typeface="Malgun Gothic"/>
              </a:rPr>
              <a:t>α → 0</a:t>
            </a:r>
            <a:r>
              <a:rPr sz="1050" b="0" i="0">
                <a:solidFill>
                  <a:srgbClr val="16213A"/>
                </a:solidFill>
                <a:latin typeface="Arial"/>
                <a:ea typeface="Malgun Gothic"/>
                <a:cs typeface="Malgun Gothic"/>
              </a:rPr>
              <a:t>이면 가장 높은 점수만 고르는 argmax가 되고, </a:t>
            </a:r>
            <a:r>
              <a:rPr sz="1050" b="0" i="1">
                <a:solidFill>
                  <a:srgbClr val="16213A"/>
                </a:solidFill>
                <a:latin typeface="Arial"/>
                <a:ea typeface="Malgun Gothic"/>
                <a:cs typeface="Malgun Gothic"/>
              </a:rPr>
              <a:t>α → ∞</a:t>
            </a:r>
            <a:r>
              <a:rPr sz="1050" b="0" i="0">
                <a:solidFill>
                  <a:srgbClr val="16213A"/>
                </a:solidFill>
                <a:latin typeface="Arial"/>
                <a:ea typeface="Malgun Gothic"/>
                <a:cs typeface="Malgun Gothic"/>
              </a:rPr>
              <a:t>면 균등하게 고른다. 점수 차가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보다 훨씬 크면 사실상 결정적이다. 점수를 추정한 값에 오차가 있으면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를 키워 선택을 부드럽게 한다.</a:t>
            </a:r>
          </a:p>
        </p:txBody>
      </p:sp>
      <p:sp>
        <p:nvSpPr>
          <p:cNvPr id="9" name="TextBox 8"/>
          <p:cNvSpPr txBox="1"/>
          <p:nvPr/>
        </p:nvSpPr>
        <p:spPr>
          <a:xfrm>
            <a:off x="609600" y="284003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두 정책의 추정 반환이 </a:t>
            </a:r>
            <a:r>
              <a:rPr sz="1050" b="0" i="1">
                <a:solidFill>
                  <a:srgbClr val="16213A"/>
                </a:solidFill>
                <a:latin typeface="Arial"/>
                <a:ea typeface="Malgun Gothic"/>
                <a:cs typeface="Malgun Gothic"/>
              </a:rPr>
              <a:t>Qᵥ = 10</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Q_b = 8</a:t>
            </a:r>
            <a:r>
              <a:rPr sz="1050" b="0" i="0">
                <a:solidFill>
                  <a:srgbClr val="16213A"/>
                </a:solidFill>
                <a:latin typeface="Arial"/>
                <a:ea typeface="Malgun Gothic"/>
                <a:cs typeface="Malgun Gothic"/>
              </a:rPr>
              <a:t>이라 하자. 지각 정책을 고를 확률은 </a:t>
            </a:r>
            <a:r>
              <a:rPr sz="1050" b="0" i="1">
                <a:solidFill>
                  <a:srgbClr val="16213A"/>
                </a:solidFill>
                <a:latin typeface="Arial"/>
                <a:ea typeface="Malgun Gothic"/>
                <a:cs typeface="Malgun Gothic"/>
              </a:rPr>
              <a:t>1 / (1 + e^(-2/α))</a:t>
            </a:r>
            <a:r>
              <a:rPr sz="1050" b="0" i="0">
                <a:solidFill>
                  <a:srgbClr val="16213A"/>
                </a:solidFill>
                <a:latin typeface="Arial"/>
                <a:ea typeface="Malgun Gothic"/>
                <a:cs typeface="Malgun Gothic"/>
              </a:rPr>
              <a:t>다. </a:t>
            </a:r>
            <a:r>
              <a:rPr sz="1050" b="0" i="1">
                <a:solidFill>
                  <a:srgbClr val="16213A"/>
                </a:solidFill>
                <a:latin typeface="Arial"/>
                <a:ea typeface="Malgun Gothic"/>
                <a:cs typeface="Malgun Gothic"/>
              </a:rPr>
              <a:t>α = 0.5</a:t>
            </a:r>
            <a:r>
              <a:rPr sz="1050" b="0" i="0">
                <a:solidFill>
                  <a:srgbClr val="16213A"/>
                </a:solidFill>
                <a:latin typeface="Arial"/>
                <a:ea typeface="Malgun Gothic"/>
                <a:cs typeface="Malgun Gothic"/>
              </a:rPr>
              <a:t>면 0.98, </a:t>
            </a:r>
            <a:r>
              <a:rPr sz="1050" b="0" i="1">
                <a:solidFill>
                  <a:srgbClr val="16213A"/>
                </a:solidFill>
                <a:latin typeface="Arial"/>
                <a:ea typeface="Malgun Gothic"/>
                <a:cs typeface="Malgun Gothic"/>
              </a:rPr>
              <a:t>α = 1</a:t>
            </a:r>
            <a:r>
              <a:rPr sz="1050" b="0" i="0">
                <a:solidFill>
                  <a:srgbClr val="16213A"/>
                </a:solidFill>
                <a:latin typeface="Arial"/>
                <a:ea typeface="Malgun Gothic"/>
                <a:cs typeface="Malgun Gothic"/>
              </a:rPr>
              <a:t>이면 0.88, </a:t>
            </a:r>
            <a:r>
              <a:rPr sz="1050" b="0" i="1">
                <a:solidFill>
                  <a:srgbClr val="16213A"/>
                </a:solidFill>
                <a:latin typeface="Arial"/>
                <a:ea typeface="Malgun Gothic"/>
                <a:cs typeface="Malgun Gothic"/>
              </a:rPr>
              <a:t>α = 5</a:t>
            </a:r>
            <a:r>
              <a:rPr sz="1050" b="0" i="0">
                <a:solidFill>
                  <a:srgbClr val="16213A"/>
                </a:solidFill>
                <a:latin typeface="Arial"/>
                <a:ea typeface="Malgun Gothic"/>
                <a:cs typeface="Malgun Gothic"/>
              </a:rPr>
              <a:t>면 0.60이다. 같은 점수 차라도 온도에 따라 "거의 항상"에서 "반을 조금 넘게"까지 바뀐다.</a:t>
            </a:r>
          </a:p>
        </p:txBody>
      </p:sp>
      <p:sp>
        <p:nvSpPr>
          <p:cNvPr id="10" name="TextBox 9"/>
          <p:cNvSpPr txBox="1"/>
          <p:nvPr/>
        </p:nvSpPr>
        <p:spPr>
          <a:xfrm>
            <a:off x="609600" y="336192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반환값 추정기란.</a:t>
            </a:r>
            <a:r>
              <a:rPr sz="1050" b="0" i="0">
                <a:solidFill>
                  <a:srgbClr val="16213A"/>
                </a:solidFill>
                <a:latin typeface="Arial"/>
                <a:ea typeface="Malgun Gothic"/>
                <a:cs typeface="Malgun Gothic"/>
              </a:rPr>
              <a:t> "지금 상태에서 이 정책을 계속 쓰면 앞으로 받을 누적 보상"을 예측하는 네트워크다. critic의 가치 함수 </a:t>
            </a:r>
            <a:r>
              <a:rPr sz="1050" b="0" i="1">
                <a:solidFill>
                  <a:srgbClr val="16213A"/>
                </a:solidFill>
                <a:latin typeface="Arial"/>
                <a:ea typeface="Malgun Gothic"/>
                <a:cs typeface="Malgun Gothic"/>
              </a:rPr>
              <a:t>V(s)</a:t>
            </a:r>
            <a:r>
              <a:rPr sz="1050" b="0" i="0">
                <a:solidFill>
                  <a:srgbClr val="16213A"/>
                </a:solidFill>
                <a:latin typeface="Arial"/>
                <a:ea typeface="Malgun Gothic"/>
                <a:cs typeface="Malgun Gothic"/>
              </a:rPr>
              <a:t>와 같은 양을 배우지만 두 가지가 다르다. 첫째, 입력을 배포 때 실제로 믿을 수 있는 관측으로 제한한다. VB-Com은 proprioception 이력만 쓴다. 둘째, 정책마다 따로 둬서 "어느 정책을 쓰면 더 나을까"를 비교한다. 학습 목표는 Monte Carlo 보상 합보다 GAE에서 나온 </a:t>
            </a:r>
            <a:r>
              <a:rPr sz="1050" b="0" i="1">
                <a:solidFill>
                  <a:srgbClr val="16213A"/>
                </a:solidFill>
                <a:latin typeface="Arial"/>
                <a:ea typeface="Malgun Gothic"/>
                <a:cs typeface="Malgun Gothic"/>
              </a:rPr>
              <a:t>Â + V</a:t>
            </a:r>
            <a:r>
              <a:rPr sz="1050" b="0" i="0">
                <a:solidFill>
                  <a:srgbClr val="16213A"/>
                </a:solidFill>
                <a:latin typeface="Arial"/>
                <a:ea typeface="Malgun Gothic"/>
                <a:cs typeface="Malgun Gothic"/>
              </a:rPr>
              <a:t>가 낫다. 분산이 작아 잘 수렴한다(배경: 이득 추정 토글 참고).</a:t>
            </a:r>
          </a:p>
        </p:txBody>
      </p:sp>
      <p:sp>
        <p:nvSpPr>
          <p:cNvPr id="11" name="TextBox 10"/>
          <p:cNvSpPr txBox="1"/>
          <p:nvPr/>
        </p:nvSpPr>
        <p:spPr>
          <a:xfrm>
            <a:off x="609600" y="410031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전환을 실제로 쓸 때.</a:t>
            </a:r>
            <a:r>
              <a:rPr sz="1050" b="0" i="0">
                <a:solidFill>
                  <a:srgbClr val="16213A"/>
                </a:solidFill>
                <a:latin typeface="Arial"/>
                <a:ea typeface="Malgun Gothic"/>
                <a:cs typeface="Malgun Gothic"/>
              </a:rPr>
              <a:t> 추정치는 흔들린다. 그래서 실무 규칙은 소프트맥스 샘플링보다 결정적 규칙에 안전 장치를 붙인 형태가 된다. 최근 몇 스텝의 창 평균, "평소 수준보다 여유만큼 떨어지면"이라는 상대 문턱, 한 번 바꾸면 일정 시간 유지(히스테리시스), 격한 동작 중 전환 금지가 대표적이다. VB-Com이 이 넷을 모두 쓴다.</a:t>
            </a:r>
          </a:p>
        </p:txBody>
      </p:sp>
      <p:sp>
        <p:nvSpPr>
          <p:cNvPr id="12" name="TextBox 11"/>
          <p:cNvSpPr txBox="1"/>
          <p:nvPr/>
        </p:nvSpPr>
        <p:spPr>
          <a:xfrm>
            <a:off x="609600" y="462220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섞기와 고르기.</a:t>
            </a:r>
            <a:r>
              <a:rPr sz="1050" b="0" i="0">
                <a:solidFill>
                  <a:srgbClr val="16213A"/>
                </a:solidFill>
                <a:latin typeface="Arial"/>
                <a:ea typeface="Malgun Gothic"/>
                <a:cs typeface="Malgun Gothic"/>
              </a:rPr>
              <a:t> 같은 볼츠만 가중치를 평균에 쓰면 섞기가 된다. MPPI가 샘플 궤적의 비용 </a:t>
            </a:r>
            <a:r>
              <a:rPr sz="1050" b="0" i="1">
                <a:solidFill>
                  <a:srgbClr val="16213A"/>
                </a:solidFill>
                <a:latin typeface="Arial"/>
                <a:ea typeface="Malgun Gothic"/>
                <a:cs typeface="Malgun Gothic"/>
              </a:rPr>
              <a:t>Sₖ</a:t>
            </a:r>
            <a:r>
              <a:rPr sz="1050" b="0" i="0">
                <a:solidFill>
                  <a:srgbClr val="16213A"/>
                </a:solidFill>
                <a:latin typeface="Arial"/>
                <a:ea typeface="Malgun Gothic"/>
                <a:cs typeface="Malgun Gothic"/>
              </a:rPr>
              <a:t>로 </a:t>
            </a:r>
            <a:r>
              <a:rPr sz="1050" b="0" i="1">
                <a:solidFill>
                  <a:srgbClr val="16213A"/>
                </a:solidFill>
                <a:latin typeface="Arial"/>
                <a:ea typeface="Malgun Gothic"/>
                <a:cs typeface="Malgun Gothic"/>
              </a:rPr>
              <a:t>wₖ ∝ exp(-Sₖ/λ)</a:t>
            </a:r>
            <a:r>
              <a:rPr sz="1050" b="0" i="0">
                <a:solidFill>
                  <a:srgbClr val="16213A"/>
                </a:solidFill>
                <a:latin typeface="Arial"/>
                <a:ea typeface="Malgun Gothic"/>
                <a:cs typeface="Malgun Gothic"/>
              </a:rPr>
              <a:t>를 만들어 가중 평균하는 것이 그 예다(배경 0.2). VB-Com은 같은 식을 선택 확률로 써서 하나를 고른다. 후보가 서로 다른 전략이면 고르기가 맞고, 비슷한 행동의 변형이면 섞기가 매끄럽다.</a:t>
            </a:r>
          </a:p>
        </p:txBody>
      </p:sp>
      <p:sp>
        <p:nvSpPr>
          <p:cNvPr id="13" name="TextBox 12"/>
          <p:cNvSpPr txBox="1"/>
          <p:nvPr/>
        </p:nvSpPr>
        <p:spPr>
          <a:xfrm>
            <a:off x="609600" y="51440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travplan과의 관계.</a:t>
            </a:r>
            <a:r>
              <a:rPr sz="1050" b="0" i="0">
                <a:solidFill>
                  <a:srgbClr val="16213A"/>
                </a:solidFill>
                <a:latin typeface="Arial"/>
                <a:ea typeface="Malgun Gothic"/>
                <a:cs typeface="Malgun Gothic"/>
              </a:rPr>
              <a:t> MPPI의 온도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 조정 감각이 그대로 통한다. Planner 폴백(학습 플래너 ↔ GuidancePlanner) 규칙을 만들 때는 추종 오차나 비용 추정치 같은 믿을 만한 신호에 창 평균, 상대 문턱, 최소 유지 시간을 붙이는 VB-Com의 구성을 쓸 수 있다.</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326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몸 전체의 부피로 생각하기.</a:t>
            </a:r>
            <a:r>
              <a:rPr sz="1050" b="0" i="0">
                <a:solidFill>
                  <a:srgbClr val="16213A"/>
                </a:solidFill>
                <a:latin typeface="Arial"/>
                <a:ea typeface="Malgun Gothic"/>
                <a:cs typeface="Malgun Gothic"/>
              </a:rPr>
              <a:t> 휴머노이드는 팔과 몸통이 커서, 로봇을 점이나 작은 원이 아니라 </a:t>
            </a:r>
            <a:r>
              <a:rPr sz="1050" b="1" i="0">
                <a:solidFill>
                  <a:srgbClr val="16213A"/>
                </a:solidFill>
                <a:latin typeface="Arial"/>
                <a:ea typeface="Malgun Gothic"/>
                <a:cs typeface="Malgun Gothic"/>
              </a:rPr>
              <a:t>자기 몸 전체의 부피로</a:t>
            </a:r>
            <a:r>
              <a:rPr sz="1050" b="0" i="0">
                <a:solidFill>
                  <a:srgbClr val="16213A"/>
                </a:solidFill>
                <a:latin typeface="Arial"/>
                <a:ea typeface="Malgun Gothic"/>
                <a:cs typeface="Malgun Gothic"/>
              </a:rPr>
              <a:t> 점유 지도와 비교해야 한다. </a:t>
            </a:r>
            <a:r>
              <a:rPr sz="1050" b="0" i="0">
                <a:solidFill>
                  <a:srgbClr val="1D4ED8"/>
                </a:solidFill>
                <a:latin typeface="Arial"/>
                <a:ea typeface="Malgun Gothic"/>
                <a:cs typeface="Malgun Gothic"/>
                <a:hlinkClick r:id="rId3"/>
              </a:rPr>
              <a:t>TANGO</a:t>
            </a:r>
            <a:r>
              <a:rPr sz="1050" b="0" i="0">
                <a:solidFill>
                  <a:srgbClr val="16213A"/>
                </a:solidFill>
                <a:latin typeface="Arial"/>
                <a:ea typeface="Malgun Gothic"/>
                <a:cs typeface="Malgun Gothic"/>
              </a:rPr>
              <a:t>(전신 VLA 내비게이션)는 경로 계획을 팔 배치·몸통 비틀기·보행 조절을 함께 바꾸는 전신 적응으로 정의한다. 시뮬레이션에서만 학습했지만 </a:t>
            </a:r>
            <a:r>
              <a:rPr sz="1050" b="1" i="0">
                <a:solidFill>
                  <a:srgbClr val="16213A"/>
                </a:solidFill>
                <a:latin typeface="Arial"/>
                <a:ea typeface="Malgun Gothic"/>
                <a:cs typeface="Malgun Gothic"/>
              </a:rPr>
              <a:t>실제 Unitree G1에 추가 학습 없이 배포</a:t>
            </a:r>
            <a:r>
              <a:rPr sz="1050" b="0" i="0">
                <a:solidFill>
                  <a:srgbClr val="16213A"/>
                </a:solidFill>
                <a:latin typeface="Arial"/>
                <a:ea typeface="Malgun Gothic"/>
                <a:cs typeface="Malgun Gothic"/>
              </a:rPr>
              <a:t>해 언어 지시로 혼잡한 공간을 통과했다. 실내 3가지 설정(짧은 2D 내비, 긴 2D 내비, 장애물 있는 3D 내비)에서 15회씩 12/15·8/15·10/15로, 같은 조건의 InternVLA-N1 + Unitree WBC 기준선(11/15·6/15·6/15)보다 높았다. 실외 실험은 없다.</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327 / 359</a:t>
            </a:r>
          </a:p>
        </p:txBody>
      </p:sp>
      <p:pic>
        <p:nvPicPr>
          <p:cNvPr id="5" name="Picture 4" descr="image.jpg"/>
          <p:cNvPicPr>
            <a:picLocks noChangeAspect="1"/>
          </p:cNvPicPr>
          <p:nvPr/>
        </p:nvPicPr>
        <p:blipFill>
          <a:blip r:embed="rId3"/>
          <a:stretch>
            <a:fillRect/>
          </a:stretch>
        </p:blipFill>
        <p:spPr>
          <a:xfrm>
            <a:off x="2911475" y="1244600"/>
            <a:ext cx="6369050" cy="4445000"/>
          </a:xfrm>
          <a:prstGeom prst="rect">
            <a:avLst/>
          </a:prstGeom>
        </p:spPr>
      </p:pic>
      <p:sp>
        <p:nvSpPr>
          <p:cNvPr id="6" name="TextBox 5"/>
          <p:cNvSpPr txBox="1"/>
          <p:nvPr/>
        </p:nvSpPr>
        <p:spPr>
          <a:xfrm>
            <a:off x="2911475" y="5727700"/>
            <a:ext cx="636905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TANGO (Fig. 1): 휴머노이드가 팔·몸통·보행을 함께 조절해 좁은 실내를 통과하는 전신 내비게이션. 출처: arXiv:2609.09158</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자세히: TANGO의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328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기존 언어 내비게이션(VLN)은 2D 웨이포인트나 이산 행동(전진, 회전)을 낸다. 휴머노이드는 걷는 동안 팔·몸통·다리의 모양이 계속 바뀐다. 그래서 경로는 맞아도 팔이나 몸통이 부딪힐 수 있다. GR00T-N1.6, WholeBodyVLA 같은 전신 VLA는 상체만 직접 내고 하체는 속도 명령으로 트래커에 넘긴다. 이 구조로는 "몸이 이 틈을 지나갈 수 있는가"를 따질 수 없다. RL로 충돌 없는 통과를 배운 HumanoidPF는 과제별 사전 지식에 묶여, 긴 언어 지시 내비게이션으로 넓히기 어렵다. TANGO는 언어와 RGB 영상에서 29자유도 관절 행동을 바로 내서 이 틈을 메운다.</a:t>
            </a:r>
          </a:p>
        </p:txBody>
      </p:sp>
      <p:sp>
        <p:nvSpPr>
          <p:cNvPr id="6" name="TextBox 5"/>
          <p:cNvSpPr txBox="1"/>
          <p:nvPr/>
        </p:nvSpPr>
        <p:spPr>
          <a:xfrm>
            <a:off x="609600" y="19829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문제 정의.</a:t>
            </a:r>
            <a:r>
              <a:rPr sz="1050" b="0" i="0">
                <a:solidFill>
                  <a:srgbClr val="16213A"/>
                </a:solidFill>
                <a:latin typeface="Arial"/>
                <a:ea typeface="Malgun Gothic"/>
                <a:cs typeface="Malgun Gothic"/>
              </a:rPr>
              <a:t> 입력은 언어 지시 </a:t>
            </a:r>
            <a:r>
              <a:rPr sz="1050" b="0" i="1">
                <a:solidFill>
                  <a:srgbClr val="16213A"/>
                </a:solidFill>
                <a:latin typeface="Arial"/>
                <a:ea typeface="Malgun Gothic"/>
                <a:cs typeface="Malgun Gothic"/>
              </a:rPr>
              <a:t>ℓ</a:t>
            </a:r>
            <a:r>
              <a:rPr sz="1050" b="0" i="0">
                <a:solidFill>
                  <a:srgbClr val="16213A"/>
                </a:solidFill>
                <a:latin typeface="Arial"/>
                <a:ea typeface="Malgun Gothic"/>
                <a:cs typeface="Malgun Gothic"/>
              </a:rPr>
              <a:t>, 정면·아래 카메라 RGB 이력 </a:t>
            </a:r>
            <a:r>
              <a:rPr sz="1050" b="0" i="1">
                <a:solidFill>
                  <a:srgbClr val="16213A"/>
                </a:solidFill>
                <a:latin typeface="Arial"/>
                <a:ea typeface="Malgun Gothic"/>
                <a:cs typeface="Malgun Gothic"/>
              </a:rPr>
              <a:t>I^(fr,dn)_(1:t)</a:t>
            </a:r>
            <a:r>
              <a:rPr sz="1050" b="0" i="0">
                <a:solidFill>
                  <a:srgbClr val="16213A"/>
                </a:solidFill>
                <a:latin typeface="Arial"/>
                <a:ea typeface="Malgun Gothic"/>
                <a:cs typeface="Malgun Gothic"/>
              </a:rPr>
              <a:t>, 전신 관절각 </a:t>
            </a:r>
            <a:r>
              <a:rPr sz="1050" b="0" i="1">
                <a:solidFill>
                  <a:srgbClr val="16213A"/>
                </a:solidFill>
                <a:latin typeface="Arial"/>
                <a:ea typeface="Malgun Gothic"/>
                <a:cs typeface="Malgun Gothic"/>
              </a:rPr>
              <a:t>qₜ</a:t>
            </a:r>
            <a:r>
              <a:rPr sz="1050" b="0" i="0">
                <a:solidFill>
                  <a:srgbClr val="16213A"/>
                </a:solidFill>
                <a:latin typeface="Arial"/>
                <a:ea typeface="Malgun Gothic"/>
                <a:cs typeface="Malgun Gothic"/>
              </a:rPr>
              <a:t>다. 출력은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스텝의 행동 묶음(action chunk)이다. 각 스텝은 관절 목표 29개와 몸통 방향(6D 회전 표현)이다.</a:t>
            </a:r>
          </a:p>
        </p:txBody>
      </p:sp>
      <p:pic>
        <p:nvPicPr>
          <p:cNvPr id="7" name="Picture 6" descr="image.png"/>
          <p:cNvPicPr>
            <a:picLocks noChangeAspect="1"/>
          </p:cNvPicPr>
          <p:nvPr/>
        </p:nvPicPr>
        <p:blipFill>
          <a:blip r:embed="rId3"/>
          <a:stretch>
            <a:fillRect/>
          </a:stretch>
        </p:blipFill>
        <p:spPr>
          <a:xfrm>
            <a:off x="609600" y="2288381"/>
            <a:ext cx="3746500" cy="234950"/>
          </a:xfrm>
          <a:prstGeom prst="rect">
            <a:avLst/>
          </a:prstGeom>
        </p:spPr>
      </p:pic>
      <p:sp>
        <p:nvSpPr>
          <p:cNvPr id="8" name="TextBox 7"/>
          <p:cNvSpPr txBox="1"/>
          <p:nvPr/>
        </p:nvSpPr>
        <p:spPr>
          <a:xfrm>
            <a:off x="609600" y="256589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학습 목표는 회귀가 쉽도록 조금 바꾼다. 몸통 yaw를 묶음 첫 프레임 기준 상대값으로 쓰고, 평면 이동량과 방향 변화를 보조 출력으로 붙인다.</a:t>
            </a:r>
          </a:p>
        </p:txBody>
      </p:sp>
      <p:pic>
        <p:nvPicPr>
          <p:cNvPr id="9" name="Picture 8" descr="image.png"/>
          <p:cNvPicPr>
            <a:picLocks noChangeAspect="1"/>
          </p:cNvPicPr>
          <p:nvPr/>
        </p:nvPicPr>
        <p:blipFill>
          <a:blip r:embed="rId4"/>
          <a:stretch>
            <a:fillRect/>
          </a:stretch>
        </p:blipFill>
        <p:spPr>
          <a:xfrm>
            <a:off x="609600" y="2871291"/>
            <a:ext cx="2352675" cy="241300"/>
          </a:xfrm>
          <a:prstGeom prst="rect">
            <a:avLst/>
          </a:prstGeom>
        </p:spPr>
      </p:pic>
      <p:sp>
        <p:nvSpPr>
          <p:cNvPr id="10" name="TextBox 9"/>
          <p:cNvSpPr txBox="1"/>
          <p:nvPr/>
        </p:nvSpPr>
        <p:spPr>
          <a:xfrm>
            <a:off x="609600" y="3148806"/>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Δ xᵢ, Δ yᵢ, Δψᵢ</a:t>
            </a:r>
            <a:r>
              <a:rPr sz="1050" b="0" i="0">
                <a:solidFill>
                  <a:srgbClr val="16213A"/>
                </a:solidFill>
                <a:latin typeface="Arial"/>
                <a:ea typeface="Malgun Gothic"/>
                <a:cs typeface="Malgun Gothic"/>
              </a:rPr>
              <a:t>는 묶음 안의 평면 궤적이다. 아래 ablation의 "Ours-2D"는 이 보조 출력만 쓴 변형이다.</a:t>
            </a:r>
          </a:p>
        </p:txBody>
      </p:sp>
      <p:sp>
        <p:nvSpPr>
          <p:cNvPr id="11" name="TextBox 10"/>
          <p:cNvSpPr txBox="1"/>
          <p:nvPr/>
        </p:nvSpPr>
        <p:spPr>
          <a:xfrm>
            <a:off x="609600" y="345420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세 층 구조.</a:t>
            </a:r>
            <a:r>
              <a:rPr sz="1050" b="0" i="0">
                <a:solidFill>
                  <a:srgbClr val="16213A"/>
                </a:solidFill>
                <a:latin typeface="Arial"/>
                <a:ea typeface="Malgun Gothic"/>
                <a:cs typeface="Malgun Gothic"/>
              </a:rPr>
              <a:t> 느린 이해 층과 빠른 실행 층을 나눈다(배경: VLM·VLA와 system-2/system-1 토글 참고).</a:t>
            </a:r>
          </a:p>
        </p:txBody>
      </p:sp>
      <p:sp>
        <p:nvSpPr>
          <p:cNvPr id="12" name="TextBox 11"/>
          <p:cNvSpPr txBox="1"/>
          <p:nvPr/>
        </p:nvSpPr>
        <p:spPr>
          <a:xfrm>
            <a:off x="609600" y="3759597"/>
            <a:ext cx="10972800" cy="1061244"/>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언어 ℓ + 정면·아래 RGB 이력 ─► system-2: Qwen2.5-VL-7B (InternVLA-N1 가중치로 시작)</a:t>
            </a:r>
          </a:p>
          <a:p>
            <a:r>
              <a:rPr sz="750" b="0" i="0">
                <a:solidFill>
                  <a:srgbClr val="F4F1EA"/>
                </a:solidFill>
                <a:latin typeface="Consolas"/>
                <a:ea typeface="Malgun Gothic"/>
                <a:cs typeface="Malgun Gothic"/>
              </a:rPr>
              <a:t>                                  │ 잠재 문맥 z</a:t>
            </a:r>
          </a:p>
          <a:p>
            <a:r>
              <a:rPr sz="750" b="0" i="0">
                <a:solidFill>
                  <a:srgbClr val="F4F1EA"/>
                </a:solidFill>
                <a:latin typeface="Consolas"/>
                <a:ea typeface="Malgun Gothic"/>
                <a:cs typeface="Malgun Gothic"/>
              </a:rPr>
              <a:t>관절 상태 q_t ──────────────────► system-1: MM-DiT 행동 전문가 (flow matching + RTC)</a:t>
            </a:r>
          </a:p>
          <a:p>
            <a:r>
              <a:rPr sz="750" b="0" i="0">
                <a:solidFill>
                  <a:srgbClr val="F4F1EA"/>
                </a:solidFill>
                <a:latin typeface="Consolas"/>
                <a:ea typeface="Malgun Gothic"/>
                <a:cs typeface="Malgun Gothic"/>
              </a:rPr>
              <a:t>                                  │ 행동 묶음 (0.5 s마다 추론, 30 Hz 행동 15개 실행)</a:t>
            </a:r>
          </a:p>
          <a:p>
            <a:r>
              <a:rPr sz="750" b="0" i="0">
                <a:solidFill>
                  <a:srgbClr val="F4F1EA"/>
                </a:solidFill>
                <a:latin typeface="Consolas"/>
                <a:ea typeface="Malgun Gothic"/>
                <a:cs typeface="Malgun Gothic"/>
              </a:rPr>
              <a:t>                                  ▼</a:t>
            </a:r>
          </a:p>
          <a:p>
            <a:r>
              <a:rPr sz="750" b="0" i="0">
                <a:solidFill>
                  <a:srgbClr val="F4F1EA"/>
                </a:solidFill>
                <a:latin typeface="Consolas"/>
                <a:ea typeface="Malgun Gothic"/>
                <a:cs typeface="Malgun Gothic"/>
              </a:rPr>
              <a:t>                            system-0: SONIC 모션 트래커 (50 Hz로 재표본, 약 200 Hz 제어)</a:t>
            </a:r>
          </a:p>
        </p:txBody>
      </p:sp>
      <p:sp>
        <p:nvSpPr>
          <p:cNvPr id="13" name="TextBox 12"/>
          <p:cNvSpPr txBox="1"/>
          <p:nvPr/>
        </p:nvSpPr>
        <p:spPr>
          <a:xfrm>
            <a:off x="609600" y="490974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system-2는 정면·아래 영상을 위아래로 이어 붙여 한 프레임으로 본다. 긴 영상 이력은 BATS(budget-aware token sampling)로 줄인다. 현재가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일 때 과거 프레임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를 뽑을 확률은 다음과 같다.</a:t>
            </a:r>
          </a:p>
        </p:txBody>
      </p:sp>
      <p:pic>
        <p:nvPicPr>
          <p:cNvPr id="14" name="Picture 13" descr="image.png"/>
          <p:cNvPicPr>
            <a:picLocks noChangeAspect="1"/>
          </p:cNvPicPr>
          <p:nvPr/>
        </p:nvPicPr>
        <p:blipFill>
          <a:blip r:embed="rId5"/>
          <a:stretch>
            <a:fillRect/>
          </a:stretch>
        </p:blipFill>
        <p:spPr>
          <a:xfrm>
            <a:off x="609600" y="5215136"/>
            <a:ext cx="3035300" cy="247650"/>
          </a:xfrm>
          <a:prstGeom prst="rect">
            <a:avLst/>
          </a:prstGeom>
        </p:spPr>
      </p:pic>
      <p:sp>
        <p:nvSpPr>
          <p:cNvPr id="15" name="TextBox 14"/>
          <p:cNvSpPr txBox="1"/>
          <p:nvPr/>
        </p:nvSpPr>
        <p:spPr>
          <a:xfrm>
            <a:off x="609600" y="5496917"/>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최근 프레임일수록 뽑힐 확률이 1에 가깝다. 오래된 프레임도 최소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의 확률로 남는다.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는 확률이 줄어드는 빠르기다. 뽑힌 프레임의 시각 특징은 격자 풀링으로 줄이는데, 최근 프레임은 촘촘한 격자, 과거 프레임은 성긴 격자를 쓴다.</a:t>
            </a:r>
          </a:p>
        </p:txBody>
      </p:sp>
      <p:sp>
        <p:nvSpPr>
          <p:cNvPr id="16" name="TextBox 15"/>
          <p:cNvSpPr txBox="1"/>
          <p:nvPr/>
        </p:nvSpPr>
        <p:spPr>
          <a:xfrm>
            <a:off x="609600" y="6018808"/>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20개(문단·식·그림)는 대시보드 리서치 탭의 "자세히: TANGO의 방법과 수식" 토글에 있다.</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배경: VLM·VLA와 system-2/system-1 — 큰 언어 모델에 눈과 손을 붙이고, 느린 판단과 빠른 반응을 나눈다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329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VLM(vision-language model)은 영상과 글을 함께 받아 글을 내는 모델이다. VLA(vision-language-action model)는 같은 구조에서 글 대신 로봇 행동을 낸다. system-2/system-1은 이런 큰 모델을 느린 "판단" 층으로, 작은 정책을 빠른 "반응" 층으로 나누는 구성이다.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로봇 데이터는 적다. 반면 인터넷의 영상·글 데이터로 사전학습한 VLM은 "주방 식탁", "소파 옆 문" 같은 의미와 상식을 이미 안다. VLA는 이 지식을 로봇 제어로 옮기려는 시도다. 문제는 속도다. 수십억 파라미터 모델은 초당 몇 번밖에 추론하지 못하는데, 보행과 균형은 수백 Hz 제어가 필요하다. 그래서 층을 나눈다.</a:t>
            </a:r>
          </a:p>
        </p:txBody>
      </p:sp>
      <p:sp>
        <p:nvSpPr>
          <p:cNvPr id="7" name="TextBox 6"/>
          <p:cNvSpPr txBox="1"/>
          <p:nvPr/>
        </p:nvSpPr>
        <p:spPr>
          <a:xfrm>
            <a:off x="609600" y="22883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VLM의 동작.</a:t>
            </a:r>
            <a:r>
              <a:rPr sz="1050" b="0" i="0">
                <a:solidFill>
                  <a:srgbClr val="16213A"/>
                </a:solidFill>
                <a:latin typeface="Arial"/>
                <a:ea typeface="Malgun Gothic"/>
                <a:cs typeface="Malgun Gothic"/>
              </a:rPr>
              <a:t> 영상은 비전 인코더(보통 ViT)가 패치 단위 토큰으로 바꾼다. 이 토큰을 선형층으로 언어 모델의 토큰 공간에 맞춘 뒤, 글 토큰과 한 줄로 이어 트랜스포머에 넣는다(배경: attention 토글 참고). 출력은 다음 토큰을 하나씩 예측하는 자기회귀 방식이다.</a:t>
            </a:r>
          </a:p>
        </p:txBody>
      </p:sp>
      <p:pic>
        <p:nvPicPr>
          <p:cNvPr id="8" name="Picture 7" descr="image.png"/>
          <p:cNvPicPr>
            <a:picLocks noChangeAspect="1"/>
          </p:cNvPicPr>
          <p:nvPr/>
        </p:nvPicPr>
        <p:blipFill>
          <a:blip r:embed="rId3"/>
          <a:stretch>
            <a:fillRect/>
          </a:stretch>
        </p:blipFill>
        <p:spPr>
          <a:xfrm>
            <a:off x="609600" y="2810272"/>
            <a:ext cx="2400300" cy="571500"/>
          </a:xfrm>
          <a:prstGeom prst="rect">
            <a:avLst/>
          </a:prstGeom>
        </p:spPr>
      </p:pic>
      <p:sp>
        <p:nvSpPr>
          <p:cNvPr id="9" name="TextBox 8"/>
          <p:cNvSpPr txBox="1"/>
          <p:nvPr/>
        </p:nvSpPr>
        <p:spPr>
          <a:xfrm>
            <a:off x="609600" y="3374727"/>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는 영상, </a:t>
            </a:r>
            <a:r>
              <a:rPr sz="1050" b="0" i="1">
                <a:solidFill>
                  <a:srgbClr val="16213A"/>
                </a:solidFill>
                <a:latin typeface="Arial"/>
                <a:ea typeface="Malgun Gothic"/>
                <a:cs typeface="Malgun Gothic"/>
              </a:rPr>
              <a:t>ℓ</a:t>
            </a:r>
            <a:r>
              <a:rPr sz="1050" b="0" i="0">
                <a:solidFill>
                  <a:srgbClr val="16213A"/>
                </a:solidFill>
                <a:latin typeface="Arial"/>
                <a:ea typeface="Malgun Gothic"/>
                <a:cs typeface="Malgun Gothic"/>
              </a:rPr>
              <a:t>은 지시문, </a:t>
            </a:r>
            <a:r>
              <a:rPr sz="1050" b="0" i="1">
                <a:solidFill>
                  <a:srgbClr val="16213A"/>
                </a:solidFill>
                <a:latin typeface="Arial"/>
                <a:ea typeface="Malgun Gothic"/>
                <a:cs typeface="Malgun Gothic"/>
              </a:rPr>
              <a:t>y_j</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j</a:t>
            </a:r>
            <a:r>
              <a:rPr sz="1050" b="0" i="0">
                <a:solidFill>
                  <a:srgbClr val="16213A"/>
                </a:solidFill>
                <a:latin typeface="Arial"/>
                <a:ea typeface="Malgun Gothic"/>
                <a:cs typeface="Malgun Gothic"/>
              </a:rPr>
              <a:t>번째 출력 토큰이다.</a:t>
            </a:r>
          </a:p>
        </p:txBody>
      </p:sp>
      <p:sp>
        <p:nvSpPr>
          <p:cNvPr id="10" name="TextBox 9"/>
          <p:cNvSpPr txBox="1"/>
          <p:nvPr/>
        </p:nvSpPr>
        <p:spPr>
          <a:xfrm>
            <a:off x="609600" y="368012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VLA가 행동을 내는 두 방법.</a:t>
            </a:r>
          </a:p>
        </p:txBody>
      </p:sp>
      <p:sp>
        <p:nvSpPr>
          <p:cNvPr id="11" name="TextBox 10"/>
          <p:cNvSpPr txBox="1"/>
          <p:nvPr/>
        </p:nvSpPr>
        <p:spPr>
          <a:xfrm>
            <a:off x="609600" y="3985518"/>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행동을 토큰으로.</a:t>
            </a:r>
            <a:r>
              <a:rPr sz="1050" b="0" i="0">
                <a:solidFill>
                  <a:srgbClr val="16213A"/>
                </a:solidFill>
                <a:latin typeface="Arial"/>
                <a:ea typeface="Malgun Gothic"/>
                <a:cs typeface="Malgun Gothic"/>
              </a:rPr>
              <a:t> 각 행동 차원을 구간(예: 256칸)으로 나눠 단어처럼 다룬다. 위 식을 그대로 쓴다. 구조가 단순하지만 연속 행동의 정밀도와 속도가 떨어진다.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행동 전문가를 붙인다.</a:t>
            </a:r>
            <a:r>
              <a:rPr sz="1050" b="0" i="0">
                <a:solidFill>
                  <a:srgbClr val="16213A"/>
                </a:solidFill>
                <a:latin typeface="Arial"/>
                <a:ea typeface="Malgun Gothic"/>
                <a:cs typeface="Malgun Gothic"/>
              </a:rPr>
              <a:t> VLM의 은닉 상태를 조건으로 받는 별도 네트워크가 연속 행동을 만든다. 보통 diffusion이나 flow matching으로 학습한다(배경 0.5, 0.6). TANGO가 이 방식이다.</a:t>
            </a:r>
          </a:p>
        </p:txBody>
      </p:sp>
      <p:sp>
        <p:nvSpPr>
          <p:cNvPr id="12" name="TextBox 11"/>
          <p:cNvSpPr txBox="1"/>
          <p:nvPr/>
        </p:nvSpPr>
        <p:spPr>
          <a:xfrm>
            <a:off x="609600" y="453280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system-2 / system-1.</a:t>
            </a:r>
            <a:r>
              <a:rPr sz="1050" b="0" i="0">
                <a:solidFill>
                  <a:srgbClr val="16213A"/>
                </a:solidFill>
                <a:latin typeface="Arial"/>
                <a:ea typeface="Malgun Gothic"/>
                <a:cs typeface="Malgun Gothic"/>
              </a:rPr>
              <a:t> 이름은 사람의 "느리고 숙고하는 사고(system 2)"와 "빠르고 자동적인 반응(system 1)"에서 왔다.</a:t>
            </a:r>
          </a:p>
        </p:txBody>
      </p:sp>
      <p:sp>
        <p:nvSpPr>
          <p:cNvPr id="13" name="TextBox 12"/>
          <p:cNvSpPr txBox="1"/>
          <p:nvPr/>
        </p:nvSpPr>
        <p:spPr>
          <a:xfrm>
            <a:off x="609600" y="4838204"/>
            <a:ext cx="10972800" cy="619522"/>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system-2  큰 VLM      ~ 수 Hz     장면·지시 이해, 목표·의도 결정   → 잠재 벡터 z 또는 짧은 계획</a:t>
            </a:r>
          </a:p>
          <a:p>
            <a:r>
              <a:rPr sz="750" b="0" i="0">
                <a:solidFill>
                  <a:srgbClr val="F4F1EA"/>
                </a:solidFill>
                <a:latin typeface="Consolas"/>
                <a:ea typeface="Malgun Gothic"/>
                <a:cs typeface="Malgun Gothic"/>
              </a:rPr>
              <a:t>system-1  작은 정책   수십 Hz     z와 현재 상태로 연속 행동 생성    → 관절 목표·속도</a:t>
            </a:r>
          </a:p>
          <a:p>
            <a:r>
              <a:rPr sz="750" b="0" i="0">
                <a:solidFill>
                  <a:srgbClr val="F4F1EA"/>
                </a:solidFill>
                <a:latin typeface="Consolas"/>
                <a:ea typeface="Malgun Gothic"/>
                <a:cs typeface="Malgun Gothic"/>
              </a:rPr>
              <a:t>(system-0 저수준 제어 수백 Hz     목표 추종, 균형)</a:t>
            </a:r>
          </a:p>
        </p:txBody>
      </p:sp>
      <p:sp>
        <p:nvSpPr>
          <p:cNvPr id="14" name="TextBox 13"/>
          <p:cNvSpPr txBox="1"/>
          <p:nvPr/>
        </p:nvSpPr>
        <p:spPr>
          <a:xfrm>
            <a:off x="609600" y="554662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두 층 사이의 약속(인터페이스)이 설계의 핵심이다. 글로 넘기면 해석하기 쉽지만 정보가 거칠다. 잠재 벡터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로 넘기면 풍부하지만 두 층을 함께 학습해야 한다.</a:t>
            </a:r>
          </a:p>
        </p:txBody>
      </p:sp>
      <p:sp>
        <p:nvSpPr>
          <p:cNvPr id="15" name="TextBox 14"/>
          <p:cNvSpPr txBox="1"/>
          <p:nvPr/>
        </p:nvSpPr>
        <p:spPr>
          <a:xfrm>
            <a:off x="609600" y="5852021"/>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2개(문단·식·그림)는 대시보드 리서치 탭의 "배경: VLM·VLA와 system-2/system-1 — 큰 언어 모델에 눈과 손을 붙이고, 느린 판단과 빠른 반응을 나눈다" 토글에 있다.</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배경: action chunking과 DiT 행동 전문가 — 행동을 한 번에 여러 스텝씩, 잡음에서 깎아 만든다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330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action chunking은 정책이 다음 행동 하나가 아니라 앞으로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스텝의 행동 묶음을 한 번에 내는 방식이다. DiT(diffusion transformer) 행동 전문가는 이 묶음을 diffusion 또는 flow matching으로 생성하는 트랜스포머다.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한 스텝씩 내는 모방학습 정책은 작은 오차가 쌓여 시연 분포 밖으로 벗어나기 쉽다. 묶음으로 내면 결정 횟수가 </a:t>
            </a:r>
            <a:r>
              <a:rPr sz="1050" b="0" i="1">
                <a:solidFill>
                  <a:srgbClr val="16213A"/>
                </a:solidFill>
                <a:latin typeface="Arial"/>
                <a:ea typeface="Malgun Gothic"/>
                <a:cs typeface="Malgun Gothic"/>
              </a:rPr>
              <a:t>1/H</a:t>
            </a:r>
            <a:r>
              <a:rPr sz="1050" b="0" i="0">
                <a:solidFill>
                  <a:srgbClr val="16213A"/>
                </a:solidFill>
                <a:latin typeface="Arial"/>
                <a:ea typeface="Malgun Gothic"/>
                <a:cs typeface="Malgun Gothic"/>
              </a:rPr>
              <a:t>로 줄고, 묶음 안의 동작이 매끄럽게 이어진다. 느린 모델도 한 번 추론으로 긴 시간을 채울 수 있다. 사람 시연은 같은 상황에서 왼쪽·오른쪽처럼 여러 답을 갖는다(다봉 분포). 평균을 회귀하면 두 답의 중간(장애물 정면)이 나온다. 생성 모델은 한 답을 골라 낸다.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묶음 실행.</a:t>
            </a:r>
            <a:r>
              <a:rPr sz="1050" b="0" i="0">
                <a:solidFill>
                  <a:srgbClr val="16213A"/>
                </a:solidFill>
                <a:latin typeface="Arial"/>
                <a:ea typeface="Malgun Gothic"/>
                <a:cs typeface="Malgun Gothic"/>
              </a:rPr>
              <a:t> 보통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개 중 앞의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개만 실행하고 다시 추론한다. MPC의 receding horizon과 같다.</a:t>
            </a:r>
          </a:p>
        </p:txBody>
      </p:sp>
      <p:sp>
        <p:nvSpPr>
          <p:cNvPr id="8" name="TextBox 7"/>
          <p:cNvSpPr txBox="1"/>
          <p:nvPr/>
        </p:nvSpPr>
        <p:spPr>
          <a:xfrm>
            <a:off x="609600" y="2593777"/>
            <a:ext cx="10972800" cy="619522"/>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추론 1: [a1 a2 ... a15 | a16 ... aH]   ← 앞 15개 실행</a:t>
            </a:r>
          </a:p>
          <a:p>
            <a:r>
              <a:rPr sz="750" b="0" i="0">
                <a:solidFill>
                  <a:srgbClr val="F4F1EA"/>
                </a:solidFill>
                <a:latin typeface="Consolas"/>
                <a:ea typeface="Malgun Gothic"/>
                <a:cs typeface="Malgun Gothic"/>
              </a:rPr>
              <a:t>추론 2:                [b1 b2 ... b15 | ...]</a:t>
            </a:r>
          </a:p>
          <a:p>
            <a:r>
              <a:rPr sz="750" b="0" i="0">
                <a:solidFill>
                  <a:srgbClr val="F4F1EA"/>
                </a:solidFill>
                <a:latin typeface="Consolas"/>
                <a:ea typeface="Malgun Gothic"/>
                <a:cs typeface="Malgun Gothic"/>
              </a:rPr>
              <a:t>             경계에서 a15 → b1이 튈 수 있다</a:t>
            </a:r>
          </a:p>
        </p:txBody>
      </p:sp>
      <p:sp>
        <p:nvSpPr>
          <p:cNvPr id="9" name="TextBox 8"/>
          <p:cNvSpPr txBox="1"/>
          <p:nvPr/>
        </p:nvSpPr>
        <p:spPr>
          <a:xfrm>
            <a:off x="609600" y="330219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두 번째 묶음이 첫 번째와 다른 답(예: 반대쪽으로 피하기)을 고르면 경계에서 행동이 튄다. 또 추론에 시간이 걸리면 그동안 로봇은 옛 묶음을 계속 실행한다.</a:t>
            </a:r>
          </a:p>
        </p:txBody>
      </p:sp>
      <p:sp>
        <p:nvSpPr>
          <p:cNvPr id="10" name="TextBox 9"/>
          <p:cNvSpPr txBox="1"/>
          <p:nvPr/>
        </p:nvSpPr>
        <p:spPr>
          <a:xfrm>
            <a:off x="609600" y="360759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RTC(real-time chunking).</a:t>
            </a:r>
            <a:r>
              <a:rPr sz="1050" b="0" i="0">
                <a:solidFill>
                  <a:srgbClr val="16213A"/>
                </a:solidFill>
                <a:latin typeface="Arial"/>
                <a:ea typeface="Malgun Gothic"/>
                <a:cs typeface="Malgun Gothic"/>
              </a:rPr>
              <a:t> 다음 묶음을 만들 때, 추론 지연 동안 어차피 실행될 앞부분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개를 "이미 확정된 행동"으로 주고 나머지만 채우게 한다. 영상 인페인팅과 같은 구조다. training-time RTC는 학습 중에 무작위 길이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의 정답 접두부를 조건으로 주고 나머지를 복원하게 학습한다. 그러면 배포 때 별도 보정 없이 경계가 이어진다. TANGO에서는 RTC를 빼자 성공률이 43.75%에서 10.94%로 떨어졌다.</a:t>
            </a:r>
          </a:p>
        </p:txBody>
      </p:sp>
      <p:sp>
        <p:nvSpPr>
          <p:cNvPr id="11" name="TextBox 10"/>
          <p:cNvSpPr txBox="1"/>
          <p:nvPr/>
        </p:nvSpPr>
        <p:spPr>
          <a:xfrm>
            <a:off x="609600" y="434598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DiT 행동 전문가.</a:t>
            </a:r>
            <a:r>
              <a:rPr sz="1050" b="0" i="0">
                <a:solidFill>
                  <a:srgbClr val="16213A"/>
                </a:solidFill>
                <a:latin typeface="Arial"/>
                <a:ea typeface="Malgun Gothic"/>
                <a:cs typeface="Malgun Gothic"/>
              </a:rPr>
              <a:t> diffusion과 flow matching의 원리는 배경 0.5, 0.6에 있다. 요약하면, 잡음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에서 시작해 네트워크가 여러 번 조금씩 고쳐 행동 묶음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를 만든다. DiT는 이 "고치는 네트워크"로 U-Net 대신 트랜스포머를 쓴다. 묶음의 각 시간 스텝이 토큰 하나가 되고, 조건(VLM의 잠재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 관절 상태)은 별도 토큰이나 정규화 층의 조절 값으로 들어간다. MM-DiT(multimodal DiT)는 행동 토큰과 조건 토큰이 서로 다른 가중치를 쓰되, attention은 한 번에 함께 계산하는 변형이다(배경: attention 토글 참고).</a:t>
            </a:r>
          </a:p>
        </p:txBody>
      </p:sp>
      <p:sp>
        <p:nvSpPr>
          <p:cNvPr id="12" name="TextBox 11"/>
          <p:cNvSpPr txBox="1"/>
          <p:nvPr/>
        </p:nvSpPr>
        <p:spPr>
          <a:xfrm>
            <a:off x="609600" y="508436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로봇 앞에 기둥이 있고 시연의 절반은 왼쪽, 절반은 오른쪽으로 돌았다. 평균 회귀 정책은 기둥으로 곧장 간다. 생성형 전문가는 잡음의 초기값에 따라 왼쪽 또는 오른쪽 묶음 하나를 낸다. RTC가 없으면 0.5 s마다 왼쪽과 오른쪽을 오갈 수 있다. RTC가 있으면 이미 왼쪽으로 틀기 시작한 접두부에 맞춰 계속 왼쪽을 고른다.</a:t>
            </a:r>
          </a:p>
        </p:txBody>
      </p:sp>
      <p:sp>
        <p:nvSpPr>
          <p:cNvPr id="13" name="TextBox 12"/>
          <p:cNvSpPr txBox="1"/>
          <p:nvPr/>
        </p:nvSpPr>
        <p:spPr>
          <a:xfrm>
            <a:off x="609600" y="5606256"/>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1개(문단·식·그림)는 대시보드 리서치 탭의 "배경: action chunking과 DiT 행동 전문가 — 행동을 한 번에 여러 스텝씩, 잡음에서 깎아 만든다" 토글에 있다.</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331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휴머노이드 전용 occupancy.</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Humanoid Occupancy</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)는 자기 몸 가림과 관절 운동에 따른 간섭(kinematic interference)을 다루는 멀티카메라(+LiDAR) occupancy 파이프라인으로, 첫 휴머노이드 파노라마 occupancy 데이터셋을 구축했다(공개 여부는 확인하지 못했다). </a:t>
            </a:r>
            <a:r>
              <a:rPr sz="1050" b="0" i="0">
                <a:solidFill>
                  <a:srgbClr val="1D4ED8"/>
                </a:solidFill>
                <a:latin typeface="Arial"/>
                <a:ea typeface="Malgun Gothic"/>
                <a:cs typeface="Malgun Gothic"/>
                <a:hlinkClick r:id="rId5"/>
              </a:rPr>
              <a:t>Humanoid-OmniOcc</a:t>
            </a:r>
            <a:r>
              <a:rPr sz="1050" b="0" i="0">
                <a:solidFill>
                  <a:srgbClr val="16213A"/>
                </a:solidFill>
                <a:latin typeface="Arial"/>
                <a:ea typeface="Malgun Gothic"/>
                <a:cs typeface="Malgun Gothic"/>
              </a:rPr>
              <a:t>는 LiDAR 없이 스테레오만으로 파노라마 occupancy를 Real2Sim2Real 루프로 학습한다(15만 개 이상 샘플, 시뮬 장면 15개와 실제 장면 5개).</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332 / 359</a:t>
            </a:r>
          </a:p>
        </p:txBody>
      </p:sp>
      <p:pic>
        <p:nvPicPr>
          <p:cNvPr id="5" name="Picture 4" descr="image.jpg"/>
          <p:cNvPicPr>
            <a:picLocks noChangeAspect="1"/>
          </p:cNvPicPr>
          <p:nvPr/>
        </p:nvPicPr>
        <p:blipFill>
          <a:blip r:embed="rId3"/>
          <a:stretch>
            <a:fillRect/>
          </a:stretch>
        </p:blipFill>
        <p:spPr>
          <a:xfrm>
            <a:off x="4095750" y="1244600"/>
            <a:ext cx="4000500" cy="4445000"/>
          </a:xfrm>
          <a:prstGeom prst="rect">
            <a:avLst/>
          </a:prstGeom>
        </p:spPr>
      </p:pic>
      <p:sp>
        <p:nvSpPr>
          <p:cNvPr id="6" name="TextBox 5"/>
          <p:cNvSpPr txBox="1"/>
          <p:nvPr/>
        </p:nvSpPr>
        <p:spPr>
          <a:xfrm>
            <a:off x="4095750" y="5727700"/>
            <a:ext cx="40005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Humanoid-OmniOcc (Fig. 2): 단안·다중 센서 융합·스테레오(제안) 3가지 인식 구조 비교. 출처: arXiv:2606.22971</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자세히: Humanoid-OmniOcc의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333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기존 occupancy 데이터셋은 대부분 자율주행용이다. 앞을 보는 카메라, 먼 거리, 정적인 도로를 가정한다. 휴머노이드는 실내에서 가까운 곳을 모든 방향으로 봐야 하고, 가림과 사람이 많다. 휴머노이드용 데이터셋(Humanoid Occupancy 등)은 단안 카메라나 LiDAR에 기댄다. 단안은 깊이가 모호해 도메인이 바뀌면 약하다. LiDAR는 정확하지만 머리에 달기에 비싸고 번거롭다. 이 논문은 그 중간으로 스테레오를 고른다. 팔 닿는 거리에서 미터 단위 깊이를 싸게 얻을 수 있기 때문이다(배경: 스테레오 깊이 토글 참고). 저자들은 360° 스테레오 occupancy 데이터셋이 없었다고 밝힌다.</a:t>
            </a:r>
          </a:p>
        </p:txBody>
      </p:sp>
      <p:sp>
        <p:nvSpPr>
          <p:cNvPr id="6" name="TextBox 5"/>
          <p:cNvSpPr txBox="1"/>
          <p:nvPr/>
        </p:nvSpPr>
        <p:spPr>
          <a:xfrm>
            <a:off x="609600" y="21994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센서.</a:t>
            </a:r>
            <a:r>
              <a:rPr sz="1050" b="0" i="0">
                <a:solidFill>
                  <a:srgbClr val="16213A"/>
                </a:solidFill>
                <a:latin typeface="Arial"/>
                <a:ea typeface="Malgun Gothic"/>
                <a:cs typeface="Malgun Gothic"/>
              </a:rPr>
              <a:t> G1 머리에 앞·뒤·좌·우 스테레오 쌍 4개를 단다. 해상도 1280×1080, 기선 6 cm, 초점거리 596.81 px다. 시야는 원본이 수평 106°·수직 86°이고, 정렬(rectification) 뒤 93°·83°다(±3°).</a:t>
            </a:r>
          </a:p>
        </p:txBody>
      </p:sp>
      <p:pic>
        <p:nvPicPr>
          <p:cNvPr id="7" name="Picture 6" descr="image.jpg"/>
          <p:cNvPicPr>
            <a:picLocks noChangeAspect="1"/>
          </p:cNvPicPr>
          <p:nvPr/>
        </p:nvPicPr>
        <p:blipFill>
          <a:blip r:embed="rId3"/>
          <a:stretch>
            <a:fillRect/>
          </a:stretch>
        </p:blipFill>
        <p:spPr>
          <a:xfrm>
            <a:off x="3044825" y="2504877"/>
            <a:ext cx="6102350" cy="2984500"/>
          </a:xfrm>
          <a:prstGeom prst="rect">
            <a:avLst/>
          </a:prstGeom>
        </p:spPr>
      </p:pic>
      <p:sp>
        <p:nvSpPr>
          <p:cNvPr id="8" name="TextBox 7"/>
          <p:cNvSpPr txBox="1"/>
          <p:nvPr/>
        </p:nvSpPr>
        <p:spPr>
          <a:xfrm>
            <a:off x="3044825" y="5527477"/>
            <a:ext cx="610235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Humanoid-OmniOcc (Fig. 3): 스테레오 머리의 CAD 모델(왼쪽)과 실제 휴머노이드에 단 모습(오른쪽). 출처: arXiv:2606.22971</a:t>
            </a:r>
          </a:p>
        </p:txBody>
      </p:sp>
      <p:sp>
        <p:nvSpPr>
          <p:cNvPr id="9" name="TextBox 8"/>
          <p:cNvSpPr txBox="1"/>
          <p:nvPr/>
        </p:nvSpPr>
        <p:spPr>
          <a:xfrm>
            <a:off x="609600" y="5758557"/>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22개(문단·식·그림)는 대시보드 리서치 탭의 "자세히: Humanoid-OmniOcc의 방법과 수식" 토글에 있다.</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배경: 스테레오 깊이 — 두 눈의 어긋남(disparity)에서 거리를 재고, 비용 볼륨과 soft-argmin으로 학습한다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334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좌우로 조금 떨어진 두 카메라가 같은 점을 보면, 두 영상에서 그 점의 가로 위치가 다르다. 이 차이를 disparity라 한다. 가까운 물체일수록 disparity가 크다. 스테레오 깊이는 픽셀마다 disparity를 찾아 거리로 바꾸는 일이다.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단안 카메라는 크기와 거리를 구분하지 못한다. 작은 물체가 가까이 있는지, 큰 물체가 멀리 있는지 모른다. 학습한 단안 깊이는 장면이 바뀌면 척도가 틀리기 쉽다. 스테레오는 기하에서 척도가 나오므로 미터 단위가 보장된다. LiDAR보다 싸고 가볍고 해상도가 높다.</a:t>
            </a:r>
          </a:p>
        </p:txBody>
      </p:sp>
      <p:sp>
        <p:nvSpPr>
          <p:cNvPr id="7" name="TextBox 6"/>
          <p:cNvSpPr txBox="1"/>
          <p:nvPr/>
        </p:nvSpPr>
        <p:spPr>
          <a:xfrm>
            <a:off x="609600" y="22883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기하.</a:t>
            </a:r>
            <a:r>
              <a:rPr sz="1050" b="0" i="0">
                <a:solidFill>
                  <a:srgbClr val="16213A"/>
                </a:solidFill>
                <a:latin typeface="Arial"/>
                <a:ea typeface="Malgun Gothic"/>
                <a:cs typeface="Malgun Gothic"/>
              </a:rPr>
              <a:t> 두 영상을 정렬(rectification)하면 같은 점이 같은 행에 놓인다. 그러면 대응점 탐색이 가로 방향 1차원으로 줄어든다. 초점거리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(픽셀), 기선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(두 카메라 사이 거리, m), disparity </a:t>
            </a:r>
            <a:r>
              <a:rPr sz="1050" b="0" i="1">
                <a:solidFill>
                  <a:srgbClr val="16213A"/>
                </a:solidFill>
                <a:latin typeface="Arial"/>
                <a:ea typeface="Malgun Gothic"/>
                <a:cs typeface="Malgun Gothic"/>
              </a:rPr>
              <a:t>d = uₗ - uᵣ</a:t>
            </a:r>
            <a:r>
              <a:rPr sz="1050" b="0" i="0">
                <a:solidFill>
                  <a:srgbClr val="16213A"/>
                </a:solidFill>
                <a:latin typeface="Arial"/>
                <a:ea typeface="Malgun Gothic"/>
                <a:cs typeface="Malgun Gothic"/>
              </a:rPr>
              <a:t>(픽셀)일 때 깊이는 다음과 같다.</a:t>
            </a:r>
          </a:p>
        </p:txBody>
      </p:sp>
      <p:pic>
        <p:nvPicPr>
          <p:cNvPr id="8" name="Picture 7" descr="image.png"/>
          <p:cNvPicPr>
            <a:picLocks noChangeAspect="1"/>
          </p:cNvPicPr>
          <p:nvPr/>
        </p:nvPicPr>
        <p:blipFill>
          <a:blip r:embed="rId3"/>
          <a:stretch>
            <a:fillRect/>
          </a:stretch>
        </p:blipFill>
        <p:spPr>
          <a:xfrm>
            <a:off x="609600" y="2810272"/>
            <a:ext cx="654050" cy="374650"/>
          </a:xfrm>
          <a:prstGeom prst="rect">
            <a:avLst/>
          </a:prstGeom>
        </p:spPr>
      </p:pic>
      <p:sp>
        <p:nvSpPr>
          <p:cNvPr id="9" name="TextBox 8"/>
          <p:cNvSpPr txBox="1"/>
          <p:nvPr/>
        </p:nvSpPr>
        <p:spPr>
          <a:xfrm>
            <a:off x="609600" y="320089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닮은 삼각형에서 나온다. 기선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를 밑변으로, 깊이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높이로 하는 삼각형과, 영상면에서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를 밑변으로,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를 높이로 하는 삼각형이 닮았다. disparity를 </a:t>
            </a:r>
            <a:r>
              <a:rPr sz="1050" b="0" i="1">
                <a:solidFill>
                  <a:srgbClr val="16213A"/>
                </a:solidFill>
                <a:latin typeface="Arial"/>
                <a:ea typeface="Malgun Gothic"/>
                <a:cs typeface="Malgun Gothic"/>
              </a:rPr>
              <a:t>δ d</a:t>
            </a:r>
            <a:r>
              <a:rPr sz="1050" b="0" i="0">
                <a:solidFill>
                  <a:srgbClr val="16213A"/>
                </a:solidFill>
                <a:latin typeface="Arial"/>
                <a:ea typeface="Malgun Gothic"/>
                <a:cs typeface="Malgun Gothic"/>
              </a:rPr>
              <a:t>만큼 틀리면 깊이 오차는 다음과 같다.</a:t>
            </a:r>
          </a:p>
        </p:txBody>
      </p:sp>
      <p:pic>
        <p:nvPicPr>
          <p:cNvPr id="10" name="Picture 9" descr="image.png"/>
          <p:cNvPicPr>
            <a:picLocks noChangeAspect="1"/>
          </p:cNvPicPr>
          <p:nvPr/>
        </p:nvPicPr>
        <p:blipFill>
          <a:blip r:embed="rId4"/>
          <a:stretch>
            <a:fillRect/>
          </a:stretch>
        </p:blipFill>
        <p:spPr>
          <a:xfrm>
            <a:off x="609600" y="3506291"/>
            <a:ext cx="933450" cy="425450"/>
          </a:xfrm>
          <a:prstGeom prst="rect">
            <a:avLst/>
          </a:prstGeom>
        </p:spPr>
      </p:pic>
      <p:sp>
        <p:nvSpPr>
          <p:cNvPr id="11" name="TextBox 10"/>
          <p:cNvSpPr txBox="1"/>
          <p:nvPr/>
        </p:nvSpPr>
        <p:spPr>
          <a:xfrm>
            <a:off x="609600" y="394305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오차가 거리의 </a:t>
            </a:r>
            <a:r>
              <a:rPr sz="1050" b="1" i="0">
                <a:solidFill>
                  <a:srgbClr val="16213A"/>
                </a:solidFill>
                <a:latin typeface="Arial"/>
                <a:ea typeface="Malgun Gothic"/>
                <a:cs typeface="Malgun Gothic"/>
              </a:rPr>
              <a:t>제곱</a:t>
            </a:r>
            <a:r>
              <a:rPr sz="1050" b="0" i="0">
                <a:solidFill>
                  <a:srgbClr val="16213A"/>
                </a:solidFill>
                <a:latin typeface="Arial"/>
                <a:ea typeface="Malgun Gothic"/>
                <a:cs typeface="Malgun Gothic"/>
              </a:rPr>
              <a:t>으로 커진다. 스테레오의 가장 중요한 성질이다.</a:t>
            </a:r>
          </a:p>
        </p:txBody>
      </p:sp>
      <p:sp>
        <p:nvSpPr>
          <p:cNvPr id="12" name="TextBox 11"/>
          <p:cNvSpPr txBox="1"/>
          <p:nvPr/>
        </p:nvSpPr>
        <p:spPr>
          <a:xfrm>
            <a:off x="609600" y="424844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예(Humanoid-OmniOcc의 수치).</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f = 596.81</a:t>
            </a:r>
            <a:r>
              <a:rPr sz="1050" b="0" i="0">
                <a:solidFill>
                  <a:srgbClr val="16213A"/>
                </a:solidFill>
                <a:latin typeface="Arial"/>
                <a:ea typeface="Malgun Gothic"/>
                <a:cs typeface="Malgun Gothic"/>
              </a:rPr>
              <a:t> px, </a:t>
            </a:r>
            <a:r>
              <a:rPr sz="1050" b="0" i="1">
                <a:solidFill>
                  <a:srgbClr val="16213A"/>
                </a:solidFill>
                <a:latin typeface="Arial"/>
                <a:ea typeface="Malgun Gothic"/>
                <a:cs typeface="Malgun Gothic"/>
              </a:rPr>
              <a:t>B = 0.06</a:t>
            </a:r>
            <a:r>
              <a:rPr sz="1050" b="0" i="0">
                <a:solidFill>
                  <a:srgbClr val="16213A"/>
                </a:solidFill>
                <a:latin typeface="Arial"/>
                <a:ea typeface="Malgun Gothic"/>
                <a:cs typeface="Malgun Gothic"/>
              </a:rPr>
              <a:t> m이면 </a:t>
            </a:r>
            <a:r>
              <a:rPr sz="1050" b="0" i="1">
                <a:solidFill>
                  <a:srgbClr val="16213A"/>
                </a:solidFill>
                <a:latin typeface="Arial"/>
                <a:ea typeface="Malgun Gothic"/>
                <a:cs typeface="Malgun Gothic"/>
              </a:rPr>
              <a:t>fB ≈ 35.8</a:t>
            </a:r>
            <a:r>
              <a:rPr sz="1050" b="0" i="0">
                <a:solidFill>
                  <a:srgbClr val="16213A"/>
                </a:solidFill>
                <a:latin typeface="Arial"/>
                <a:ea typeface="Malgun Gothic"/>
                <a:cs typeface="Malgun Gothic"/>
              </a:rPr>
              <a:t> px·m다. 2 m 앞 물체는 </a:t>
            </a:r>
            <a:r>
              <a:rPr sz="1050" b="0" i="1">
                <a:solidFill>
                  <a:srgbClr val="16213A"/>
                </a:solidFill>
                <a:latin typeface="Arial"/>
                <a:ea typeface="Malgun Gothic"/>
                <a:cs typeface="Malgun Gothic"/>
              </a:rPr>
              <a:t>d ≈ 17.9</a:t>
            </a:r>
            <a:r>
              <a:rPr sz="1050" b="0" i="0">
                <a:solidFill>
                  <a:srgbClr val="16213A"/>
                </a:solidFill>
                <a:latin typeface="Arial"/>
                <a:ea typeface="Malgun Gothic"/>
                <a:cs typeface="Malgun Gothic"/>
              </a:rPr>
              <a:t> px, 5 m 앞은 </a:t>
            </a:r>
            <a:r>
              <a:rPr sz="1050" b="0" i="1">
                <a:solidFill>
                  <a:srgbClr val="16213A"/>
                </a:solidFill>
                <a:latin typeface="Arial"/>
                <a:ea typeface="Malgun Gothic"/>
                <a:cs typeface="Malgun Gothic"/>
              </a:rPr>
              <a:t>d ≈ 7.2</a:t>
            </a:r>
            <a:r>
              <a:rPr sz="1050" b="0" i="0">
                <a:solidFill>
                  <a:srgbClr val="16213A"/>
                </a:solidFill>
                <a:latin typeface="Arial"/>
                <a:ea typeface="Malgun Gothic"/>
                <a:cs typeface="Malgun Gothic"/>
              </a:rPr>
              <a:t> px다. 대응점을 0.5 px 틀리면 2 m에서 깊이 오차는 약 0.06 m, 5 m에서는 약 0.35 m다. 짧은 기선은 가까운 곳에만 강하다.</a:t>
            </a:r>
          </a:p>
        </p:txBody>
      </p:sp>
      <p:sp>
        <p:nvSpPr>
          <p:cNvPr id="13" name="TextBox 12"/>
          <p:cNvSpPr txBox="1"/>
          <p:nvPr/>
        </p:nvSpPr>
        <p:spPr>
          <a:xfrm>
            <a:off x="609600" y="477033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 기반 스테레오의 네 단계.</a:t>
            </a:r>
          </a:p>
        </p:txBody>
      </p:sp>
      <p:sp>
        <p:nvSpPr>
          <p:cNvPr id="14" name="TextBox 13"/>
          <p:cNvSpPr txBox="1"/>
          <p:nvPr/>
        </p:nvSpPr>
        <p:spPr>
          <a:xfrm>
            <a:off x="609600" y="5075734"/>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4개(문단·식·그림)는 대시보드 리서치 탭의 "배경: 스테레오 깊이 — 두 눈의 어긋남(disparity)에서 거리를 재고, 비용 볼륨과 soft-argmin으로 학습한다" 토글에 있다.</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배경: occupancy 격자와 semantic occupancy 평가(IoU/mIoU) — 공간을 칸으로 나눠 "차 있나, 무엇이 차 있나"를 맞힌다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335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occupancy 격자는 공간을 같은 크기의 칸(2D는 셀, 3D는 voxel)으로 나누고, 칸마다 비었는지(free), 차 있는지(occupied)를 적는 지도다. 관측하지 못한 칸은 미지(unknown)로 둔다. semantic occupancy는 차 있는 칸에 클래스(바닥, 의자, 사람 등)까지 붙인다.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점군은 점이 흩어져 있어 "여기 지나갈 수 있나"를 바로 묻기 어렵다. 격자는 칸 단위로 바로 조회할 수 있어 충돌 검사와 경로 계획에 곧장 쓰인다. 여러 센서의 정보를 같은 칸에 모으기도 쉽다. 높이 지도(2.5D)는 칸마다 높이 하나만 저장하므로 책상 밑, 머리 위 물체처럼 한 칸에 여러 층이 있는 구조를 표현하지 못한다. 3D occupancy는 이를 표현한다.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확률 격자.</a:t>
            </a:r>
            <a:r>
              <a:rPr sz="1050" b="0" i="0">
                <a:solidFill>
                  <a:srgbClr val="16213A"/>
                </a:solidFill>
                <a:latin typeface="Arial"/>
                <a:ea typeface="Malgun Gothic"/>
                <a:cs typeface="Malgun Gothic"/>
              </a:rPr>
              <a:t> 고전 occupancy 격자(Elfes)는 칸마다 점유 확률을 로그 오즈로 누적한다.</a:t>
            </a:r>
          </a:p>
        </p:txBody>
      </p:sp>
      <p:pic>
        <p:nvPicPr>
          <p:cNvPr id="8" name="Picture 7" descr="image.png"/>
          <p:cNvPicPr>
            <a:picLocks noChangeAspect="1"/>
          </p:cNvPicPr>
          <p:nvPr/>
        </p:nvPicPr>
        <p:blipFill>
          <a:blip r:embed="rId3"/>
          <a:stretch>
            <a:fillRect/>
          </a:stretch>
        </p:blipFill>
        <p:spPr>
          <a:xfrm>
            <a:off x="609600" y="2593777"/>
            <a:ext cx="2549525" cy="425450"/>
          </a:xfrm>
          <a:prstGeom prst="rect">
            <a:avLst/>
          </a:prstGeom>
        </p:spPr>
      </p:pic>
      <p:sp>
        <p:nvSpPr>
          <p:cNvPr id="9" name="TextBox 8"/>
          <p:cNvSpPr txBox="1"/>
          <p:nvPr/>
        </p:nvSpPr>
        <p:spPr>
          <a:xfrm>
            <a:off x="609600" y="302924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광선이 통과한 칸은 값이 내려가고, 광선이 끝난 칸은 올라간다. 학습 기반 occupancy 네트워크(이 탭의 논문들)는 이 누적 대신 영상·점군에서 칸마다 클래스 확률을 한 번에 예측한다.</a:t>
            </a:r>
          </a:p>
        </p:txBody>
      </p:sp>
      <p:sp>
        <p:nvSpPr>
          <p:cNvPr id="10" name="TextBox 9"/>
          <p:cNvSpPr txBox="1"/>
          <p:nvPr/>
        </p:nvSpPr>
        <p:spPr>
          <a:xfrm>
            <a:off x="609600" y="333464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평가: IoU.</a:t>
            </a:r>
            <a:r>
              <a:rPr sz="1050" b="0" i="0">
                <a:solidFill>
                  <a:srgbClr val="16213A"/>
                </a:solidFill>
                <a:latin typeface="Arial"/>
                <a:ea typeface="Malgun Gothic"/>
                <a:cs typeface="Malgun Gothic"/>
              </a:rPr>
              <a:t> 예측과 정답에서 "차 있음"으로 표시된 칸 집합을 비교한다. TP는 둘 다 차 있음, FP는 예측만 차 있음, FN은 정답만 차 있음이다.</a:t>
            </a:r>
          </a:p>
        </p:txBody>
      </p:sp>
      <p:pic>
        <p:nvPicPr>
          <p:cNvPr id="11" name="Picture 10" descr="image.png"/>
          <p:cNvPicPr>
            <a:picLocks noChangeAspect="1"/>
          </p:cNvPicPr>
          <p:nvPr/>
        </p:nvPicPr>
        <p:blipFill>
          <a:blip r:embed="rId4"/>
          <a:stretch>
            <a:fillRect/>
          </a:stretch>
        </p:blipFill>
        <p:spPr>
          <a:xfrm>
            <a:off x="609600" y="3640038"/>
            <a:ext cx="1673225" cy="384175"/>
          </a:xfrm>
          <a:prstGeom prst="rect">
            <a:avLst/>
          </a:prstGeom>
        </p:spPr>
      </p:pic>
      <p:sp>
        <p:nvSpPr>
          <p:cNvPr id="12" name="TextBox 11"/>
          <p:cNvSpPr txBox="1"/>
          <p:nvPr/>
        </p:nvSpPr>
        <p:spPr>
          <a:xfrm>
            <a:off x="609600" y="4041279"/>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빈 칸끼리 맞힌 것(TN)은 세지 않는다. 대부분의 칸이 비어 있어서, TN을 세면 "전부 비었다"고만 해도 점수가 높아지기 때문이다. 이 IoU를 기하 IoU라고도 한다.</a:t>
            </a:r>
          </a:p>
        </p:txBody>
      </p:sp>
      <p:sp>
        <p:nvSpPr>
          <p:cNvPr id="13" name="TextBox 12"/>
          <p:cNvSpPr txBox="1"/>
          <p:nvPr/>
        </p:nvSpPr>
        <p:spPr>
          <a:xfrm>
            <a:off x="609600" y="434667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평가: mIoU.</a:t>
            </a:r>
            <a:r>
              <a:rPr sz="1050" b="0" i="0">
                <a:solidFill>
                  <a:srgbClr val="16213A"/>
                </a:solidFill>
                <a:latin typeface="Arial"/>
                <a:ea typeface="Malgun Gothic"/>
                <a:cs typeface="Malgun Gothic"/>
              </a:rPr>
              <a:t> 클래스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마다 위와 같은 IoU를 따로 구하고 평균한다.</a:t>
            </a:r>
          </a:p>
        </p:txBody>
      </p:sp>
      <p:pic>
        <p:nvPicPr>
          <p:cNvPr id="14" name="Picture 13" descr="image.png"/>
          <p:cNvPicPr>
            <a:picLocks noChangeAspect="1"/>
          </p:cNvPicPr>
          <p:nvPr/>
        </p:nvPicPr>
        <p:blipFill>
          <a:blip r:embed="rId5"/>
          <a:stretch>
            <a:fillRect/>
          </a:stretch>
        </p:blipFill>
        <p:spPr>
          <a:xfrm>
            <a:off x="609600" y="4652070"/>
            <a:ext cx="2527300" cy="479425"/>
          </a:xfrm>
          <a:prstGeom prst="rect">
            <a:avLst/>
          </a:prstGeom>
        </p:spPr>
      </p:pic>
      <p:sp>
        <p:nvSpPr>
          <p:cNvPr id="15" name="TextBox 14"/>
          <p:cNvSpPr txBox="1"/>
          <p:nvPr/>
        </p:nvSpPr>
        <p:spPr>
          <a:xfrm>
            <a:off x="609600" y="513437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클래스마다 가중치가 같으므로 바닥처럼 칸이 많은 클래스가 잘 맞아도, 작고 드문 클래스를 놓치면 mIoU가 낮다. 보통 카메라에서 보이는 칸만 평가하도록 가시성 마스크를 쓴다.</a:t>
            </a:r>
          </a:p>
        </p:txBody>
      </p:sp>
      <p:sp>
        <p:nvSpPr>
          <p:cNvPr id="16" name="TextBox 15"/>
          <p:cNvSpPr txBox="1"/>
          <p:nvPr/>
        </p:nvSpPr>
        <p:spPr>
          <a:xfrm>
            <a:off x="609600" y="5439767"/>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3개(문단·식·그림)는 대시보드 리서치 탭의 "배경: occupancy 격자와 semantic occupancy 평가(IoU/mIoU) — 공간을 칸으로 나눠 "차 있나, 무엇이 차 있나"를 맞힌다" 토글에 있다.</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336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벤더 인식 스택(공식 자료 기준, 홍보성 주의).</a:t>
            </a:r>
            <a:r>
              <a:rPr sz="1050" b="0" i="0">
                <a:solidFill>
                  <a:srgbClr val="16213A"/>
                </a:solidFill>
                <a:latin typeface="Arial"/>
                <a:ea typeface="Malgun Gothic"/>
                <a:cs typeface="Malgun Gothic"/>
              </a:rPr>
              <a:t> Tesla Optimus는 카메라 8대(FSD 비전 스택 재사용, LiDAR 없음)를 쓰지만 자율성 주장은 벤더 발표뿐이다. Figure 03/Helix는 카메라 6대와 손바닥 카메라를 쓴다(</a:t>
            </a:r>
            <a:r>
              <a:rPr sz="1050" b="0" i="0">
                <a:solidFill>
                  <a:srgbClr val="1D4ED8"/>
                </a:solidFill>
                <a:latin typeface="Arial"/>
                <a:ea typeface="Malgun Gothic"/>
                <a:cs typeface="Malgun Gothic"/>
                <a:hlinkClick r:id="rId3"/>
              </a:rPr>
              <a:t>공식 발표</a:t>
            </a:r>
            <a:r>
              <a:rPr sz="1050" b="0" i="0">
                <a:solidFill>
                  <a:srgbClr val="16213A"/>
                </a:solidFill>
                <a:latin typeface="Arial"/>
                <a:ea typeface="Malgun Gothic"/>
                <a:cs typeface="Malgun Gothic"/>
              </a:rPr>
              <a:t>). 1X NEO는 스테레오 어안 2대(8.85 MP, 90 Hz)와 Jetson Thor를 쓴다(벤더 스펙). </a:t>
            </a:r>
            <a:r>
              <a:rPr sz="1050" b="1" i="0">
                <a:solidFill>
                  <a:srgbClr val="16213A"/>
                </a:solidFill>
                <a:latin typeface="Arial"/>
                <a:ea typeface="Malgun Gothic"/>
                <a:cs typeface="Malgun Gothic"/>
              </a:rPr>
              <a:t>외부에서 가장 검증하기 쉬운 것은 Unitree G1/H1</a:t>
            </a:r>
            <a:r>
              <a:rPr sz="1050" b="0" i="0">
                <a:solidFill>
                  <a:srgbClr val="16213A"/>
                </a:solidFill>
                <a:latin typeface="Arial"/>
                <a:ea typeface="Malgun Gothic"/>
                <a:cs typeface="Malgun Gothic"/>
              </a:rPr>
              <a:t>이다. Livox MID-360 LiDAR와 RealSense D435i를 공개 SDK·ROS 2로 열어 두어, TANGO 같은 제3자 논문이 그 위에서 결과를 낸다. Boston Dynamics Atlas는 </a:t>
            </a:r>
            <a:r>
              <a:rPr sz="1050" b="0" i="0">
                <a:solidFill>
                  <a:srgbClr val="1D4ED8"/>
                </a:solidFill>
                <a:latin typeface="Arial"/>
                <a:ea typeface="Malgun Gothic"/>
                <a:cs typeface="Malgun Gothic"/>
                <a:hlinkClick r:id="rId4"/>
              </a:rPr>
              <a:t>공식 블로그</a:t>
            </a:r>
            <a:r>
              <a:rPr sz="1050" b="0" i="0">
                <a:solidFill>
                  <a:srgbClr val="16213A"/>
                </a:solidFill>
                <a:latin typeface="Arial"/>
                <a:ea typeface="Malgun Gothic"/>
                <a:cs typeface="Malgun Gothic"/>
              </a:rPr>
              <a:t> 기준 ToF 깊이 카메라(15 fps), 스테레오, 1 kHz IMU, 4 kHz 인코더로 여러 평면을 분할해 지도를 만든다. 여러 해의 실제 영상으로 볼 때 가장 성숙하다.</a:t>
            </a:r>
          </a:p>
        </p:txBody>
      </p:sp>
      <p:sp>
        <p:nvSpPr>
          <p:cNvPr id="6" name="TextBox 5"/>
          <p:cNvSpPr txBox="1"/>
          <p:nvPr/>
        </p:nvSpPr>
        <p:spPr>
          <a:xfrm>
            <a:off x="609600" y="21994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코드.</a:t>
            </a:r>
          </a:p>
        </p:txBody>
      </p:sp>
      <p:sp>
        <p:nvSpPr>
          <p:cNvPr id="7" name="TextBox 6"/>
          <p:cNvSpPr txBox="1"/>
          <p:nvPr/>
        </p:nvSpPr>
        <p:spPr>
          <a:xfrm>
            <a:off x="609600" y="2504877"/>
            <a:ext cx="10972800" cy="15662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D4ED8"/>
                </a:solidFill>
                <a:latin typeface="Consolas"/>
                <a:ea typeface="Malgun Gothic"/>
                <a:cs typeface="Malgun Gothic"/>
                <a:hlinkClick r:id="rId5"/>
              </a:rPr>
              <a:t>smoggy-P/elevation_mapping_humanoid</a:t>
            </a:r>
            <a:r>
              <a:rPr sz="1050" b="0" i="0">
                <a:solidFill>
                  <a:srgbClr val="16213A"/>
                </a:solidFill>
                <a:latin typeface="Arial"/>
                <a:ea typeface="Malgun Gothic"/>
                <a:cs typeface="Malgun Gothic"/>
              </a:rPr>
              <a:t>(104★, BeamDojo 등에서 재사용) — MID-360 LiDAR 한 대로 로봇 중심 elevation map을 만든다. travplan의 </a:t>
            </a:r>
            <a:r>
              <a:rPr sz="1050" b="0" i="0">
                <a:solidFill>
                  <a:srgbClr val="16213A"/>
                </a:solidFill>
                <a:latin typeface="Consolas"/>
                <a:ea typeface="Malgun Gothic"/>
                <a:cs typeface="Malgun Gothic"/>
              </a:rPr>
              <a:t>elevation_mapping_gpu_ros2</a:t>
            </a:r>
            <a:r>
              <a:rPr sz="1050" b="0" i="0">
                <a:solidFill>
                  <a:srgbClr val="16213A"/>
                </a:solidFill>
                <a:latin typeface="Arial"/>
                <a:ea typeface="Malgun Gothic"/>
                <a:cs typeface="Malgun Gothic"/>
              </a:rPr>
              <a:t>와 같은 계열이 휴머노이드에도 쓰인다는 사례다.</a:t>
            </a:r>
          </a:p>
          <a:p>
            <a:pPr>
              <a:spcBef>
                <a:spcPts val="200"/>
              </a:spcBef>
            </a:pPr>
            <a:r>
              <a:rPr sz="1050" b="0" i="0">
                <a:solidFill>
                  <a:srgbClr val="5A6478"/>
                </a:solidFill>
                <a:latin typeface="Arial"/>
                <a:ea typeface="Malgun Gothic"/>
                <a:cs typeface="Malgun Gothic"/>
              </a:rPr>
              <a:t>• </a:t>
            </a:r>
            <a:r>
              <a:rPr sz="1050" b="0" i="0">
                <a:solidFill>
                  <a:srgbClr val="1D4ED8"/>
                </a:solidFill>
                <a:latin typeface="Consolas"/>
                <a:ea typeface="Malgun Gothic"/>
                <a:cs typeface="Malgun Gothic"/>
                <a:hlinkClick r:id="rId6"/>
              </a:rPr>
              <a:t>wdc3iii/height_mapping</a:t>
            </a:r>
            <a:r>
              <a:rPr sz="1050" b="0" i="0">
                <a:solidFill>
                  <a:srgbClr val="16213A"/>
                </a:solidFill>
                <a:latin typeface="Arial"/>
                <a:ea typeface="Malgun Gothic"/>
                <a:cs typeface="Malgun Gothic"/>
              </a:rPr>
              <a:t>(Caltech AMBER Lab, Unitree G1 + MID-360) — FAST-LIO 포크로 odom을 z-up으로 맞춘다. </a:t>
            </a:r>
            <a:r>
              <a:rPr sz="1050" b="1" i="0">
                <a:solidFill>
                  <a:srgbClr val="16213A"/>
                </a:solidFill>
                <a:latin typeface="Arial"/>
                <a:ea typeface="Malgun Gothic"/>
                <a:cs typeface="Malgun Gothic"/>
              </a:rPr>
              <a:t>축 정렬된 큰 높이 지도를 한 스레드에서 계속 갱신하고, 다른 스레드에서 임의의 SE(2) 자세로 잘라 조회</a:t>
            </a:r>
            <a:r>
              <a:rPr sz="1050" b="0" i="0">
                <a:solidFill>
                  <a:srgbClr val="16213A"/>
                </a:solidFill>
                <a:latin typeface="Arial"/>
                <a:ea typeface="Malgun Gothic"/>
                <a:cs typeface="Malgun Gothic"/>
              </a:rPr>
              <a:t>한다. 지도를 로봇 따라 자주 옮기거나 회전하지 않아도 되는 구조라, travplan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가 로봇 중심 지도를 다룰 때 참고할 만하다. MuJoCo 레이캐스팅으로 높이 지도를 흉내 내는 시뮬 모드도 있다. 같은 저자의 RoM-Nav(B.9)가 이 스택 위에서 돈다.</a:t>
            </a:r>
          </a:p>
          <a:p>
            <a:pPr>
              <a:spcBef>
                <a:spcPts val="200"/>
              </a:spcBef>
            </a:pPr>
            <a:r>
              <a:rPr sz="1050" b="0" i="0">
                <a:solidFill>
                  <a:srgbClr val="5A6478"/>
                </a:solidFill>
                <a:latin typeface="Arial"/>
                <a:ea typeface="Malgun Gothic"/>
                <a:cs typeface="Malgun Gothic"/>
              </a:rPr>
              <a:t>• </a:t>
            </a:r>
            <a:r>
              <a:rPr sz="1050" b="0" i="0">
                <a:solidFill>
                  <a:srgbClr val="1D4ED8"/>
                </a:solidFill>
                <a:latin typeface="Consolas"/>
                <a:ea typeface="Malgun Gothic"/>
                <a:cs typeface="Malgun Gothic"/>
                <a:hlinkClick r:id="rId7"/>
              </a:rPr>
              <a:t>leggedrobotics/elevation_mapping_cupy</a:t>
            </a:r>
            <a:r>
              <a:rPr sz="1050" b="0" i="0">
                <a:solidFill>
                  <a:srgbClr val="16213A"/>
                </a:solidFill>
                <a:latin typeface="Arial"/>
                <a:ea typeface="Malgun Gothic"/>
                <a:cs typeface="Malgun Gothic"/>
              </a:rPr>
              <a:t>(1,107★, 2026-09까지 활발) — 4족과 휴머노이드에서 두루 쓰는 GPU 멀티모달(기하·시맨틱·RGB) elevation mapping. travplan이 검증한 리포(TP-0008)의 상위 리포다.</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337 / 359</a:t>
            </a:r>
          </a:p>
        </p:txBody>
      </p:sp>
      <p:pic>
        <p:nvPicPr>
          <p:cNvPr id="5" name="Picture 4" descr="image.png"/>
          <p:cNvPicPr>
            <a:picLocks noChangeAspect="1"/>
          </p:cNvPicPr>
          <p:nvPr/>
        </p:nvPicPr>
        <p:blipFill>
          <a:blip r:embed="rId3"/>
          <a:stretch>
            <a:fillRect/>
          </a:stretch>
        </p:blipFill>
        <p:spPr>
          <a:xfrm>
            <a:off x="3657600" y="1244600"/>
            <a:ext cx="4876800" cy="2743200"/>
          </a:xfrm>
          <a:prstGeom prst="rect">
            <a:avLst/>
          </a:prstGeom>
        </p:spPr>
      </p:pic>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338 / 359</a:t>
            </a:r>
          </a:p>
        </p:txBody>
      </p:sp>
      <p:pic>
        <p:nvPicPr>
          <p:cNvPr id="5" name="Picture 4" descr="image.jpg"/>
          <p:cNvPicPr>
            <a:picLocks noChangeAspect="1"/>
          </p:cNvPicPr>
          <p:nvPr/>
        </p:nvPicPr>
        <p:blipFill>
          <a:blip r:embed="rId3"/>
          <a:stretch>
            <a:fillRect/>
          </a:stretch>
        </p:blipFill>
        <p:spPr>
          <a:xfrm>
            <a:off x="1016000" y="1244600"/>
            <a:ext cx="10160000" cy="4305300"/>
          </a:xfrm>
          <a:prstGeom prst="rect">
            <a:avLst/>
          </a:prstGeom>
        </p:spPr>
      </p:pic>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자세히: Humanoid Occupancy의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339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휴머노이드는 조작, 보행, 내비게이션을 모두 한다. 조작은 가까운 질감·형상, 보행은 발밑 지형, 내비게이션은 넓은 의미·기하가 필요하다. 한 센서 배치로 셋을 만족시키기 어렵다. 자율주행 occupancy 데이터셋은 50–200 m 범위와 m 단위 해상도라, 10 m 안에서 dm 단위가 필요한 휴머노이드에 맞지 않는다. 휴머노이드로 직접 데이터를 모으기도 비싸다. 이 논문은 센서 배치, 데이터 수집·라벨링, 융합 네트워크를 한 시스템으로 묶는다. 로봇은 X-Humanoid의 Tienkung이다.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센서 배치의 절충.</a:t>
            </a:r>
            <a:r>
              <a:rPr sz="1050" b="0" i="0">
                <a:solidFill>
                  <a:srgbClr val="16213A"/>
                </a:solidFill>
                <a:latin typeface="Arial"/>
                <a:ea typeface="Malgun Gothic"/>
                <a:cs typeface="Malgun Gothic"/>
              </a:rPr>
              <a:t> 가슴에 달면 이동에는 좋지만 조작할 때 팔과 물건이 가린다. LiDAR는 정밀한 IMU가 없으면 움직이는 관절에 달기 어렵다. 결론은 머리다. 카메라 6대(앞 1, 뒤 1, 양옆 각 2, 수평 FOV 118°, 수직 92°)와 40채널 360° LiDAR(수직 FOV 59°)를 머리에 단다. 조작과 발밑 지형용으로 pitch·yaw 2자유도로 움직이는 RGB-D 카메라를 따로 둔다.</a:t>
            </a:r>
          </a:p>
        </p:txBody>
      </p:sp>
      <p:sp>
        <p:nvSpPr>
          <p:cNvPr id="7" name="TextBox 6"/>
          <p:cNvSpPr txBox="1"/>
          <p:nvPr/>
        </p:nvSpPr>
        <p:spPr>
          <a:xfrm>
            <a:off x="609600" y="25048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데이터 수집.</a:t>
            </a:r>
            <a:r>
              <a:rPr sz="1050" b="0" i="0">
                <a:solidFill>
                  <a:srgbClr val="16213A"/>
                </a:solidFill>
                <a:latin typeface="Arial"/>
                <a:ea typeface="Malgun Gothic"/>
                <a:cs typeface="Malgun Gothic"/>
              </a:rPr>
              <a:t> 같은 센서 구성을 </a:t>
            </a:r>
            <a:r>
              <a:rPr sz="1050" b="1" i="0">
                <a:solidFill>
                  <a:srgbClr val="16213A"/>
                </a:solidFill>
                <a:latin typeface="Arial"/>
                <a:ea typeface="Malgun Gothic"/>
                <a:cs typeface="Malgun Gothic"/>
              </a:rPr>
              <a:t>사람이 머리에 쓰는 장치</a:t>
            </a:r>
            <a:r>
              <a:rPr sz="1050" b="0" i="0">
                <a:solidFill>
                  <a:srgbClr val="16213A"/>
                </a:solidFill>
                <a:latin typeface="Arial"/>
                <a:ea typeface="Malgun Gothic"/>
                <a:cs typeface="Malgun Gothic"/>
              </a:rPr>
              <a:t>로 만들었다. 센서 높이를 로봇과 맞추려고 키 약 160 cm인 수집자를 쓰고, 머리 흔들림을 줄이려고 목 안정대를 달았다. 장면은 가정, 산업, 실외 세 가지이고 장면마다 라벨 클래스가 다르다(가정 13개, 산업 8개, 실외 12개).</a:t>
            </a:r>
          </a:p>
        </p:txBody>
      </p:sp>
      <p:sp>
        <p:nvSpPr>
          <p:cNvPr id="8" name="TextBox 7"/>
          <p:cNvSpPr txBox="1"/>
          <p:nvPr/>
        </p:nvSpPr>
        <p:spPr>
          <a:xfrm>
            <a:off x="609600" y="3026767"/>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18개(문단·식·그림)는 대시보드 리서치 탭의 "자세히: Humanoid Occupancy의 방법과 수식" 토글에 있다.</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배경: BEV 융합과 중력 정렬 좌표계 — 카메라와 LiDAR를 위에서 내려다본 격자에서 합치고, 그 격자를 중력에 맞춘다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340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BEV(bird's-eye view)는 로봇 주변을 위에서 내려다본 2D 격자다. 칸마다 숫자 하나가 아니라 특징 벡터(예: 256차원)를 둔다. BEV 융합은 카메라와 LiDAR의 특징을 모두 이 격자로 옮겨 합치는 방법이다. 중력 정렬 좌표계는 z축이 중력 반대 방향이고 원점과 yaw는 로봇을 따르는 좌표계다. BEV 격자를 이 좌표계에 둔다.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카메라는 원근 영상이고, LiDAR는 3D 점이다. 좌표계가 다른 두 신호를 그대로는 합칠 수 없다. BEV는 둘 다 옮길 수 있는 공통 좌표이고, 경로 계획도 같은 평면에서 일어난다. 3D voxel보다 계산이 가볍다. 높이 정보는 채널에 담는다.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각 센서를 BEV로 옮기기.</a:t>
            </a:r>
          </a:p>
        </p:txBody>
      </p:sp>
      <p:sp>
        <p:nvSpPr>
          <p:cNvPr id="8" name="TextBox 7"/>
          <p:cNvSpPr txBox="1"/>
          <p:nvPr/>
        </p:nvSpPr>
        <p:spPr>
          <a:xfrm>
            <a:off x="609600" y="2593777"/>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카메라.</a:t>
            </a:r>
            <a:r>
              <a:rPr sz="1050" b="0" i="0">
                <a:solidFill>
                  <a:srgbClr val="16213A"/>
                </a:solidFill>
                <a:latin typeface="Arial"/>
                <a:ea typeface="Malgun Gothic"/>
                <a:cs typeface="Malgun Gothic"/>
              </a:rPr>
              <a:t> 픽셀마다 깊이 분포를 예측해 3D로 올린 뒤 BEV 칸으로 모은다(리프팅, 배경 0.1). 또는 BEV 칸에서 query를 두고 영상으로 투영해 특징을 뽑아 온다(BEVFormer류).</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LiDAR.</a:t>
            </a:r>
            <a:r>
              <a:rPr sz="1050" b="0" i="0">
                <a:solidFill>
                  <a:srgbClr val="16213A"/>
                </a:solidFill>
                <a:latin typeface="Arial"/>
                <a:ea typeface="Malgun Gothic"/>
                <a:cs typeface="Malgun Gothic"/>
              </a:rPr>
              <a:t> 점을 칸이나 기둥(pillar)으로 묶고, 칸 안의 점들을 작은 네트워크로 요약해 특징 하나로 만든다(PointPillars, 배경: PointNet 토글 참고). 그 뒤 2D CNN이 이웃 칸 문맥을 섞는다.</a:t>
            </a:r>
          </a:p>
        </p:txBody>
      </p:sp>
      <p:sp>
        <p:nvSpPr>
          <p:cNvPr id="9" name="TextBox 8"/>
          <p:cNvSpPr txBox="1"/>
          <p:nvPr/>
        </p:nvSpPr>
        <p:spPr>
          <a:xfrm>
            <a:off x="609600" y="31410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합치는 두 방식.</a:t>
            </a:r>
          </a:p>
        </p:txBody>
      </p:sp>
      <p:sp>
        <p:nvSpPr>
          <p:cNvPr id="10" name="TextBox 9"/>
          <p:cNvSpPr txBox="1"/>
          <p:nvPr/>
        </p:nvSpPr>
        <p:spPr>
          <a:xfrm>
            <a:off x="609600" y="3446462"/>
            <a:ext cx="10972800" cy="6748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이어 붙이기(BEVFusion).</a:t>
            </a:r>
            <a:r>
              <a:rPr sz="1050" b="0" i="0">
                <a:solidFill>
                  <a:srgbClr val="16213A"/>
                </a:solidFill>
                <a:latin typeface="Arial"/>
                <a:ea typeface="Malgun Gothic"/>
                <a:cs typeface="Malgun Gothic"/>
              </a:rPr>
              <a:t> 두 BEV 특징을 같은 격자에서 채널로 이어 붙이고 합성곱으로 섞는다. 단순하고 빠르다. 카메라 깊이 예측이 틀리면 카메라 특징이 엉뚱한 칸에 놓인다.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교차 attention(DeepFusion, Humanoid Occupancy).</a:t>
            </a:r>
            <a:r>
              <a:rPr sz="1050" b="0" i="0">
                <a:solidFill>
                  <a:srgbClr val="16213A"/>
                </a:solidFill>
                <a:latin typeface="Arial"/>
                <a:ea typeface="Malgun Gothic"/>
                <a:cs typeface="Malgun Gothic"/>
              </a:rPr>
              <a:t> LiDAR BEV 칸을 query로 둔다. 그 칸의 3D 기준점을 카메라 영상에 투영하고, 그 근처 카메라 특징을 attention 가중치로 가져온다. deformable attention은 모든 픽셀 대신 학습한 오프셋의 몇 점만 본다(배경: attention 토글 참고). LiDAR가 위치를, 카메라가 의미를 맡는다.</a:t>
            </a:r>
          </a:p>
        </p:txBody>
      </p:sp>
      <p:sp>
        <p:nvSpPr>
          <p:cNvPr id="11" name="TextBox 10"/>
          <p:cNvSpPr txBox="1"/>
          <p:nvPr/>
        </p:nvSpPr>
        <p:spPr>
          <a:xfrm>
            <a:off x="609600" y="42102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중력 정렬이 왜 중요한가.</a:t>
            </a:r>
            <a:r>
              <a:rPr sz="1050" b="0" i="0">
                <a:solidFill>
                  <a:srgbClr val="16213A"/>
                </a:solidFill>
                <a:latin typeface="Arial"/>
                <a:ea typeface="Malgun Gothic"/>
                <a:cs typeface="Malgun Gothic"/>
              </a:rPr>
              <a:t> BEV는 격자 평면이 수평이고 z가 위라고 가정한다. 센서가 pitch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만큼 앞으로 기울었는데 이를 무시하면, 거리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에 있는 바닥 점의 높이가 약 </a:t>
            </a:r>
            <a:r>
              <a:rPr sz="1050" b="0" i="1">
                <a:solidFill>
                  <a:srgbClr val="16213A"/>
                </a:solidFill>
                <a:latin typeface="Arial"/>
                <a:ea typeface="Malgun Gothic"/>
                <a:cs typeface="Malgun Gothic"/>
              </a:rPr>
              <a:t>r sinθ</a:t>
            </a:r>
            <a:r>
              <a:rPr sz="1050" b="0" i="0">
                <a:solidFill>
                  <a:srgbClr val="16213A"/>
                </a:solidFill>
                <a:latin typeface="Arial"/>
                <a:ea typeface="Malgun Gothic"/>
                <a:cs typeface="Malgun Gothic"/>
              </a:rPr>
              <a:t>만큼 틀린다.</a:t>
            </a:r>
          </a:p>
        </p:txBody>
      </p:sp>
      <p:sp>
        <p:nvSpPr>
          <p:cNvPr id="12" name="TextBox 11"/>
          <p:cNvSpPr txBox="1"/>
          <p:nvPr/>
        </p:nvSpPr>
        <p:spPr>
          <a:xfrm>
            <a:off x="609600" y="451564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작은 예.</a:t>
            </a:r>
            <a:r>
              <a:rPr sz="1050" b="0" i="0">
                <a:solidFill>
                  <a:srgbClr val="16213A"/>
                </a:solidFill>
                <a:latin typeface="Arial"/>
                <a:ea typeface="Malgun Gothic"/>
                <a:cs typeface="Malgun Gothic"/>
              </a:rPr>
              <a:t> 계단을 오르는 휴머노이드의 머리가 5° 숙여졌다. 5 m 앞 바닥의 높이는 </a:t>
            </a:r>
            <a:r>
              <a:rPr sz="1050" b="0" i="1">
                <a:solidFill>
                  <a:srgbClr val="16213A"/>
                </a:solidFill>
                <a:latin typeface="Arial"/>
                <a:ea typeface="Malgun Gothic"/>
                <a:cs typeface="Malgun Gothic"/>
              </a:rPr>
              <a:t>5 × sin 5° ≈ 0.44</a:t>
            </a:r>
            <a:r>
              <a:rPr sz="1050" b="0" i="0">
                <a:solidFill>
                  <a:srgbClr val="16213A"/>
                </a:solidFill>
                <a:latin typeface="Arial"/>
                <a:ea typeface="Malgun Gothic"/>
                <a:cs typeface="Malgun Gothic"/>
              </a:rPr>
              <a:t> m만큼 틀린다. 보도의 연석(약 0.15 m) 보다 세 배 큰 오차다. 바닥 전체가 앞쪽으로 기운 경사로처럼 보이게 된다.</a:t>
            </a:r>
          </a:p>
        </p:txBody>
      </p:sp>
      <p:sp>
        <p:nvSpPr>
          <p:cNvPr id="13" name="TextBox 12"/>
          <p:cNvSpPr txBox="1"/>
          <p:nvPr/>
        </p:nvSpPr>
        <p:spPr>
          <a:xfrm>
            <a:off x="609600" y="503753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만드는 법.</a:t>
            </a:r>
            <a:r>
              <a:rPr sz="1050" b="0" i="0">
                <a:solidFill>
                  <a:srgbClr val="16213A"/>
                </a:solidFill>
                <a:latin typeface="Arial"/>
                <a:ea typeface="Malgun Gothic"/>
                <a:cs typeface="Malgun Gothic"/>
              </a:rPr>
              <a:t> IMU가 주는 roll </a:t>
            </a:r>
            <a:r>
              <a:rPr sz="1050" b="0" i="1">
                <a:solidFill>
                  <a:srgbClr val="16213A"/>
                </a:solidFill>
                <a:latin typeface="Arial"/>
                <a:ea typeface="Malgun Gothic"/>
                <a:cs typeface="Malgun Gothic"/>
              </a:rPr>
              <a:t>φ</a:t>
            </a:r>
            <a:r>
              <a:rPr sz="1050" b="0" i="0">
                <a:solidFill>
                  <a:srgbClr val="16213A"/>
                </a:solidFill>
                <a:latin typeface="Arial"/>
                <a:ea typeface="Malgun Gothic"/>
                <a:cs typeface="Malgun Gothic"/>
              </a:rPr>
              <a:t>, pitch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로 센서 점을 수평으로 돌린다. yaw는 그대로 둔다.</a:t>
            </a:r>
          </a:p>
        </p:txBody>
      </p:sp>
      <p:pic>
        <p:nvPicPr>
          <p:cNvPr id="14" name="Picture 13" descr="image.png"/>
          <p:cNvPicPr>
            <a:picLocks noChangeAspect="1"/>
          </p:cNvPicPr>
          <p:nvPr/>
        </p:nvPicPr>
        <p:blipFill>
          <a:blip r:embed="rId3"/>
          <a:stretch>
            <a:fillRect/>
          </a:stretch>
        </p:blipFill>
        <p:spPr>
          <a:xfrm>
            <a:off x="609600" y="5342930"/>
            <a:ext cx="3146425" cy="241300"/>
          </a:xfrm>
          <a:prstGeom prst="rect">
            <a:avLst/>
          </a:prstGeom>
        </p:spPr>
      </p:pic>
      <p:sp>
        <p:nvSpPr>
          <p:cNvPr id="15" name="TextBox 14"/>
          <p:cNvSpPr txBox="1"/>
          <p:nvPr/>
        </p:nvSpPr>
        <p:spPr>
          <a:xfrm>
            <a:off x="609600" y="562044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2개(문단·식·그림)는 대시보드 리서치 탭의 "배경: BEV 융합과 중력 정렬 좌표계 — 카메라와 LiDAR를 위에서 내려다본 격자에서 합치고, 그 격자를 중력에 맞춘다" 토글에 있다.</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1/6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341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비교</a:t>
            </a:r>
          </a:p>
        </p:txBody>
      </p:sp>
      <p:graphicFrame>
        <p:nvGraphicFramePr>
          <p:cNvPr id="6" name="Table 5"/>
          <p:cNvGraphicFramePr>
            <a:graphicFrameLocks noGrp="1"/>
          </p:cNvGraphicFramePr>
          <p:nvPr/>
        </p:nvGraphicFramePr>
        <p:xfrm>
          <a:off x="609600" y="1547812"/>
          <a:ext cx="10966451" cy="2956320"/>
        </p:xfrm>
        <a:graphic>
          <a:graphicData uri="http://schemas.openxmlformats.org/drawingml/2006/table">
            <a:tbl>
              <a:tblPr firstRow="1" bandRow="1">
                <a:tableStyleId>{5C22544A-7EE6-4342-B048-85BDC9FD1C3A}</a:tableStyleId>
              </a:tblPr>
              <a:tblGrid>
                <a:gridCol w="1734245"/>
                <a:gridCol w="1625898"/>
                <a:gridCol w="3238302"/>
                <a:gridCol w="2306538"/>
                <a:gridCol w="2061468"/>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센서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실제 하드웨어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링크</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Tesla Optimus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 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차량 FSD 비전 스택 재사용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시연만, 인식 벤치마크 미공개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벤더 발표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Figure 03/Helix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카메라 6 + 손바닥 카메라 + 촉각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사람 1인칭 영상으로 영상 → SE(2) 속도(Go-Big), 고fps 시각 + 촉각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벤더 시연(30가구 조작 56%)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3"/>
                        </a:rPr>
                        <a:t>figure.ai</a:t>
                      </a:r>
                      <a:r>
                        <a:rPr sz="800" b="0" i="0">
                          <a:solidFill>
                            <a:srgbClr val="16213A"/>
                          </a:solidFill>
                          <a:latin typeface="Arial"/>
                          <a:ea typeface="Malgun Gothic"/>
                          <a:cs typeface="Malgun Gothic"/>
                        </a:rPr>
                        <a:t>, A.8.1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Flexion Reflect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1인칭 카메라 + 의미 지도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VLM 임무 → VLA·RL 기술 → 전신 제어, 3DGS 현장 복제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벤더 시연(16단계 임무 90%)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4"/>
                        </a:rPr>
                        <a:t>flexion.ai</a:t>
                      </a:r>
                      <a:r>
                        <a:rPr sz="800" b="0" i="0">
                          <a:solidFill>
                            <a:srgbClr val="16213A"/>
                          </a:solidFill>
                          <a:latin typeface="Arial"/>
                          <a:ea typeface="Malgun Gothic"/>
                          <a:cs typeface="Malgun Gothic"/>
                        </a:rPr>
                        <a:t>, A.8.1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LimX + RealSense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RealSense 깊이 + IMU</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깊이 + cuVSLAM + Isaac Lab 학습 정책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벤더 시연(GTC 2026)</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RealSense</a:t>
                      </a:r>
                      <a:r>
                        <a:rPr sz="800" b="0" i="0">
                          <a:solidFill>
                            <a:srgbClr val="16213A"/>
                          </a:solidFill>
                          <a:latin typeface="Arial"/>
                          <a:ea typeface="Malgun Gothic"/>
                          <a:cs typeface="Malgun Gothic"/>
                        </a:rPr>
                        <a:t>, A.8.1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1X NEO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스테레오 어안 2 + Jetson Thor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온보드 스테레오 + VLA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벤더 스펙·시연</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1x.tech</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Unitree G1/H1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MID-360 + D435i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공개 SDK·ROS 2</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제3자 논문 다수</a:t>
                      </a:r>
                      <a:r>
                        <a:rPr sz="800" b="0" i="0">
                          <a:solidFill>
                            <a:srgbClr val="16213A"/>
                          </a:solidFill>
                          <a:latin typeface="Arial"/>
                          <a:ea typeface="Malgun Gothic"/>
                          <a:cs typeface="Malgun Gothic"/>
                        </a:rPr>
                        <a:t>(가장 강함)</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SDK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Boston Dynamics Atlas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ToF + 스테레오 + 1 kHz IMU</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점군 → 다중 평면 분할 지도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다년간 영상</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BD 블로그</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Humanoid Occupancy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멀티카메라(+LiDAR)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자기 가림 대응 파노라마 occupancy, 데이터셋</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프로젝트 영상</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arXiv:2507.20217</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Humanoid-OmniOcc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스테레오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Real2Sim2Real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실제 장면 5개</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arXiv:2606.22971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TANGO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1인칭 RGB + 언어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전신 기하 인지 내비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G1 추가 학습 없이 배포(실내 3설정 × 15회)</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arXiv:2609.09158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DPL / Gait-Adaptive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깊이 카메라 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발밑 지형 정제·복원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계단·갭</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arXiv:2510.07152</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3"/>
                        </a:rPr>
                        <a:t>arXiv:2512.07464</a:t>
                      </a:r>
                    </a:p>
                  </a:txBody>
                  <a:tcPr marL="63500" marR="63500" marT="12700" marB="12700">
                    <a:solidFill>
                      <a:srgbClr val="FFFDF8"/>
                    </a:solidFill>
                  </a:tcPr>
                </a:tc>
              </a:tr>
              <a:tr h="197088">
                <a:tc>
                  <a:txBody>
                    <a:bodyPr wrap="square"/>
                    <a:lstStyle/>
                    <a:p>
                      <a:r>
                        <a:rPr sz="800" b="0" i="0">
                          <a:solidFill>
                            <a:srgbClr val="16213A"/>
                          </a:solidFill>
                          <a:latin typeface="Consolas"/>
                          <a:ea typeface="Malgun Gothic"/>
                          <a:cs typeface="Malgun Gothic"/>
                        </a:rPr>
                        <a:t>elevation_mapping_humanoid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MID-360 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로봇 중심 elevation map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코드 공개, 재사용됨</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GitHub</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전방향 계단 보행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Mid-360 1(G1 머리)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신뢰도 감쇠 누적 점군 + EGAU 높이 지도 정제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실내외 계단, 실외 장거리</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arXiv:2603.07928</a:t>
                      </a:r>
                      <a:r>
                        <a:rPr sz="800" b="0" i="0">
                          <a:solidFill>
                            <a:srgbClr val="16213A"/>
                          </a:solidFill>
                          <a:latin typeface="Arial"/>
                          <a:ea typeface="Malgun Gothic"/>
                          <a:cs typeface="Malgun Gothic"/>
                        </a:rPr>
                        <a:t>, A.8.2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PolygMap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LiDAR + RGB-D + IMU</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계단 다각형 평면 지도 위 발 디딤 계획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실내외 계단</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arXiv:2510.12346</a:t>
                      </a:r>
                      <a:r>
                        <a:rPr sz="800" b="0" i="0">
                          <a:solidFill>
                            <a:srgbClr val="16213A"/>
                          </a:solidFill>
                          <a:latin typeface="Arial"/>
                          <a:ea typeface="Malgun Gothic"/>
                          <a:cs typeface="Malgun Gothic"/>
                        </a:rPr>
                        <a:t>, A.8.2</a:t>
                      </a:r>
                    </a:p>
                  </a:txBody>
                  <a:tcPr marL="63500" marR="63500" marT="12700" marB="12700">
                    <a:solidFill>
                      <a:srgbClr val="F3F0E8"/>
                    </a:solidFill>
                  </a:tcPr>
                </a:tc>
              </a:tr>
            </a:tbl>
          </a:graphicData>
        </a:graphic>
      </p:graphicFrame>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2/6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342 / 359</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A.8.1 산업 스택(2025–2026): 영상에서 바로 배우는 쪽과 기하를 먼저 만드는 쪽</a:t>
            </a:r>
          </a:p>
        </p:txBody>
      </p:sp>
      <p:sp>
        <p:nvSpPr>
          <p:cNvPr id="6" name="TextBox 5"/>
          <p:cNvSpPr txBox="1"/>
          <p:nvPr/>
        </p:nvSpPr>
        <p:spPr>
          <a:xfrm>
            <a:off x="609600" y="154781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2025–2026년 휴머노이드와 가정용 로봇의 인식·내비게이션 스택은 두 갈래로 나뉜다.</a:t>
            </a:r>
            <a:r>
              <a:rPr sz="1050" b="0" i="0">
                <a:solidFill>
                  <a:srgbClr val="16213A"/>
                </a:solidFill>
                <a:latin typeface="Arial"/>
                <a:ea typeface="Malgun Gothic"/>
                <a:cs typeface="Malgun Gothic"/>
              </a:rPr>
              <a:t> Figure와 Sunday는 사람의 1인칭 영상이나 장갑 시연으로, 영상에서 이동과 조작 명령까지 한 모델로 배운다. LimX와 RealSense는 깊이 센서와 visual SLAM으로 기하를 먼저 만든 뒤 학습한 보행 정책에 넘긴다. Flexion은 둘을 층으로 쌓는다. 아래는 모두 벤더 발표이고, 독립 검증이나 내비게이션 안전 지표(충돌, 여유 거리)는 공개되지 않았다.</a:t>
            </a:r>
          </a:p>
        </p:txBody>
      </p:sp>
      <p:sp>
        <p:nvSpPr>
          <p:cNvPr id="7" name="TextBox 6"/>
          <p:cNvSpPr txBox="1"/>
          <p:nvPr/>
        </p:nvSpPr>
        <p:spPr>
          <a:xfrm>
            <a:off x="609600" y="2286198"/>
            <a:ext cx="10972800" cy="1208484"/>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영상에서 바로 배우는 쪽                                기하를 먼저 만드는 쪽</a:t>
            </a:r>
          </a:p>
          <a:p>
            <a:r>
              <a:rPr sz="750" b="0" i="0">
                <a:solidFill>
                  <a:srgbClr val="F4F1EA"/>
                </a:solidFill>
                <a:latin typeface="Consolas"/>
                <a:ea typeface="Malgun Gothic"/>
                <a:cs typeface="Malgun Gothic"/>
              </a:rPr>
              <a:t>  사람 1인칭 영상 / 장갑 시연                            깊이 카메라·LiDAR + IMU</a:t>
            </a:r>
          </a:p>
          <a:p>
            <a:r>
              <a:rPr sz="750" b="0" i="0">
                <a:solidFill>
                  <a:srgbClr val="F4F1EA"/>
                </a:solidFill>
                <a:latin typeface="Consolas"/>
                <a:ea typeface="Malgun Gothic"/>
                <a:cs typeface="Malgun Gothic"/>
              </a:rPr>
              <a:t>          ▼                                                   ▼</a:t>
            </a:r>
          </a:p>
          <a:p>
            <a:r>
              <a:rPr sz="750" b="0" i="0">
                <a:solidFill>
                  <a:srgbClr val="F4F1EA"/>
                </a:solidFill>
                <a:latin typeface="Consolas"/>
                <a:ea typeface="Malgun Gothic"/>
                <a:cs typeface="Malgun Gothic"/>
              </a:rPr>
              <a:t>  영상 + 언어 (+ 3D 지도) → 한 모델 → SE(2) 속도·손 동작     VIO·SLAM → 지도·높이 → 학습 보행 정책</a:t>
            </a:r>
          </a:p>
          <a:p>
            <a:r>
              <a:rPr sz="750" b="0" i="0">
                <a:solidFill>
                  <a:srgbClr val="F4F1EA"/>
                </a:solidFill>
                <a:latin typeface="Consolas"/>
                <a:ea typeface="Malgun Gothic"/>
                <a:cs typeface="Malgun Gothic"/>
              </a:rPr>
              <a:t>  Figure Helix, Sunday ACT-1                                LimX + RealSense, 연구(A.8.2)</a:t>
            </a:r>
          </a:p>
          <a:p>
            <a:r>
              <a:rPr sz="750" b="0" i="0">
                <a:solidFill>
                  <a:srgbClr val="F4F1EA"/>
                </a:solidFill>
                <a:latin typeface="Consolas"/>
                <a:ea typeface="Malgun Gothic"/>
                <a:cs typeface="Malgun Gothic"/>
              </a:rPr>
              <a:t> </a:t>
            </a:r>
          </a:p>
          <a:p>
            <a:r>
              <a:rPr sz="750" b="0" i="0">
                <a:solidFill>
                  <a:srgbClr val="F4F1EA"/>
                </a:solidFill>
                <a:latin typeface="Consolas"/>
                <a:ea typeface="Malgun Gothic"/>
                <a:cs typeface="Malgun Gothic"/>
              </a:rPr>
              <a:t>  Flexion Reflect: VLM 임무 제어 → VLA·RL 기술 → 전신 제어(Reflex), 의미 지도 도구</a:t>
            </a:r>
          </a:p>
        </p:txBody>
      </p:sp>
      <p:graphicFrame>
        <p:nvGraphicFramePr>
          <p:cNvPr id="8" name="Table 7"/>
          <p:cNvGraphicFramePr>
            <a:graphicFrameLocks noGrp="1"/>
          </p:cNvGraphicFramePr>
          <p:nvPr/>
        </p:nvGraphicFramePr>
        <p:xfrm>
          <a:off x="609600" y="3583583"/>
          <a:ext cx="10966450" cy="1666080"/>
        </p:xfrm>
        <a:graphic>
          <a:graphicData uri="http://schemas.openxmlformats.org/drawingml/2006/table">
            <a:tbl>
              <a:tblPr firstRow="1" bandRow="1">
                <a:tableStyleId>{5C22544A-7EE6-4342-B048-85BDC9FD1C3A}</a:tableStyleId>
              </a:tblPr>
              <a:tblGrid>
                <a:gridCol w="1373684"/>
                <a:gridCol w="1989534"/>
                <a:gridCol w="1539081"/>
                <a:gridCol w="2960787"/>
                <a:gridCol w="3103364"/>
              </a:tblGrid>
              <a:tr h="197088">
                <a:tc>
                  <a:txBody>
                    <a:bodyPr wrap="square"/>
                    <a:lstStyle/>
                    <a:p>
                      <a:r>
                        <a:rPr sz="800" b="1" i="0">
                          <a:solidFill>
                            <a:srgbClr val="F4F1EA"/>
                          </a:solidFill>
                          <a:latin typeface="Arial"/>
                          <a:ea typeface="Malgun Gothic"/>
                          <a:cs typeface="Malgun Gothic"/>
                        </a:rPr>
                        <a:t>회사·스택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인식 입력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내비게이션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공개 수치</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Figure (Helix, Go-Big, Helix 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Figure 02·03 휴머노이드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머리 카메라, 손바닥 카메라, 촉각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영상 + 언어 → SE(2) 속도, 사람 1인칭 영상만으로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처음 보는 30가구 조작 56%(사전학습 없이 9%), 내비 수치 없음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Sunday (Memo, ACT-1)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바퀴 몸통 + 두 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공개 안 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집의 3D 지도를 조건으로 받는 한 모델이 이동과 조작을 함께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없음(Airbnb 시연)</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Flexion (Reflect v1.0, Reflex)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공개 안 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1인칭 카메라, 언어로 조회하는 의미 지도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전역 경로 + 국소 적응, RL 기술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16단계 임무 SFT 38% → SFT+RL 90%, 계단 100회 연속</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Dyna Robotics (DYNA-2.1)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Taku: 사람 모양 상체, 접히는 하체, </a:t>
                      </a:r>
                      <a:r>
                        <a:rPr sz="800" b="1" i="0">
                          <a:solidFill>
                            <a:srgbClr val="16213A"/>
                          </a:solidFill>
                          <a:latin typeface="Arial"/>
                          <a:ea typeface="Malgun Gothic"/>
                          <a:cs typeface="Malgun Gothic"/>
                        </a:rPr>
                        <a:t>조향 바퀴 네 개</a:t>
                      </a:r>
                      <a:r>
                        <a:rPr sz="800" b="0" i="0">
                          <a:solidFill>
                            <a:srgbClr val="16213A"/>
                          </a:solidFill>
                          <a:latin typeface="Arial"/>
                          <a:ea typeface="Malgun Gothic"/>
                          <a:cs typeface="Malgun Gothic"/>
                        </a:rPr>
                        <a:t>의 바닥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공개 안 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VL 오케스트레이터 → DYNA-2 정책(~5 Hz) → RL 전신 제어기(100 Hz), 공통 표현 URR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호텔 세탁 작업 1시간 연속, 고정형 로봇의 새 현장 인수 시험 zero-shot 87 %(DYNA-1 46 %)</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LimX + RealSense (GTC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LimX 휴머노이드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RealSense 깊이 + IMU</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깊이 + cuVSLAM 오도메트리 + 지도, Isaac Lab 학습 정책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r>
            </a:tbl>
          </a:graphicData>
        </a:graphic>
      </p:graphicFrame>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3/6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343 / 359</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Figure — 사람 1인칭 영상만으로 이동을 배운다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Project Go-Big</a:t>
            </a:r>
            <a:r>
              <a:rPr sz="1050" b="0" i="0">
                <a:solidFill>
                  <a:srgbClr val="16213A"/>
                </a:solidFill>
                <a:latin typeface="Arial"/>
                <a:ea typeface="Malgun Gothic"/>
                <a:cs typeface="Malgun Gothic"/>
              </a:rPr>
              <a:t>, 2025-09; </a:t>
            </a:r>
            <a:r>
              <a:rPr sz="1050" b="0" i="0">
                <a:solidFill>
                  <a:srgbClr val="1D4ED8"/>
                </a:solidFill>
                <a:latin typeface="Arial"/>
                <a:ea typeface="Malgun Gothic"/>
                <a:cs typeface="Malgun Gothic"/>
                <a:hlinkClick r:id="rId4"/>
              </a:rPr>
              <a:t>Helix 2.5</a:t>
            </a:r>
            <a:r>
              <a:rPr sz="1050" b="0" i="0">
                <a:solidFill>
                  <a:srgbClr val="16213A"/>
                </a:solidFill>
                <a:latin typeface="Arial"/>
                <a:ea typeface="Malgun Gothic"/>
                <a:cs typeface="Malgun Gothic"/>
              </a:rPr>
              <a:t>, 2026-09; </a:t>
            </a:r>
            <a:r>
              <a:rPr sz="1050" b="0" i="0">
                <a:solidFill>
                  <a:srgbClr val="1D4ED8"/>
                </a:solidFill>
                <a:latin typeface="Arial"/>
                <a:ea typeface="Malgun Gothic"/>
                <a:cs typeface="Malgun Gothic"/>
                <a:hlinkClick r:id="rId5"/>
              </a:rPr>
              <a:t>Figure 03</a:t>
            </a:r>
            <a:r>
              <a:rPr sz="1050" b="0" i="0">
                <a:solidFill>
                  <a:srgbClr val="16213A"/>
                </a:solidFill>
                <a:latin typeface="Arial"/>
                <a:ea typeface="Malgun Gothic"/>
                <a:cs typeface="Malgun Gothic"/>
              </a:rPr>
              <a:t>, 2025-10). Go-Big은 Brookfield가 가진 주거 10만 가구 이상과 사무·물류 공간에서, 사람이 평소처럼 생활하는 1인칭 영상을 모은다. Figure는 이 영상만으로 Helix를 학습해, 영상과 언어 지시에서 SE(2) 속도 명령까지 한 네트워크로 냈다고 밝혔다. "주방 식탁으로 가" 같은 지시로 어지러운 집 안을 걸었고, 로봇 데이터 없이 사람 영상만으로 학습한 첫 휴머노이드 내비게이션이라고 주장한다. 지도, 깊이, LiDAR를 쓰는지는 밝히지 않았다. Helix 2.5는 사람 행동 데이터셋(Index)으로 사전학습한 뒤, 처음 보는 30가구에서 거실 정리, 수건 개기, 침대 정리를 환경별 데이터 없이 56% 성공했다(사전학습 없이 9%). Figure 03은 Figure 02보다 카메라 프레임률을 2배로, 지연을 1/4로 줄이고 카메라마다 시야를 60% 넓혔다. 손바닥 카메라는 팔이 머리 카메라를 가릴 때 가까운 시야를 채우고, 손끝 촉각 센서는 3 g의 힘을 느낀다.</a:t>
            </a:r>
          </a:p>
        </p:txBody>
      </p:sp>
      <p:sp>
        <p:nvSpPr>
          <p:cNvPr id="6" name="TextBox 5"/>
          <p:cNvSpPr txBox="1"/>
          <p:nvPr/>
        </p:nvSpPr>
        <p:spPr>
          <a:xfrm>
            <a:off x="609600" y="241597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Sunday — 3D 지도를 조건으로 받는 한 모델</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ACT-1</a:t>
            </a:r>
            <a:r>
              <a:rPr sz="1050" b="0" i="0">
                <a:solidFill>
                  <a:srgbClr val="16213A"/>
                </a:solidFill>
                <a:latin typeface="Arial"/>
                <a:ea typeface="Malgun Gothic"/>
                <a:cs typeface="Malgun Gothic"/>
              </a:rPr>
              <a:t>, 2025-11). Memo는 바퀴 달린 몸통에 두 팔을 얹은 가정용 로봇이다. 사람이 로봇 손과 기하·센서 배치가 똑같은 Skill Capture Glove를 끼고 집안일을 하면, 그 동작이 그대로 로봇 학습 데이터가 된다. 파운데이션 모델 ACT-1은 원격조종 로봇 데이터 없이 이 장갑 데이터로 학습했다고 밝혔다. ACT-1은 학습 때 집의 3D 지도를 조건으로 받는다. 여러 집 배치에서 배우므로 특정 집을 외우지 않고 지도를 읽는 법을 배우고, 새 집에서도 주어진 3D 지도로 식탁이나 식기세척기까지 간다. 긴 조작과 지도 조건 내비게이션을 한 end-to-end 모델로 합친 첫 사례라고 주장한다. 지도 형식, 센서, 성공률은 공개하지 않았다.</a:t>
            </a:r>
          </a:p>
        </p:txBody>
      </p:sp>
      <p:sp>
        <p:nvSpPr>
          <p:cNvPr id="7" name="TextBox 6"/>
          <p:cNvSpPr txBox="1"/>
          <p:nvPr/>
        </p:nvSpPr>
        <p:spPr>
          <a:xfrm>
            <a:off x="609600" y="3370858"/>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Flexion — 층을 나누고, 층마다 RL로 다듬는다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7"/>
              </a:rPr>
              <a:t>Reflect v1.0</a:t>
            </a:r>
            <a:r>
              <a:rPr sz="1050" b="0" i="0">
                <a:solidFill>
                  <a:srgbClr val="16213A"/>
                </a:solidFill>
                <a:latin typeface="Arial"/>
                <a:ea typeface="Malgun Gothic"/>
                <a:cs typeface="Malgun Gothic"/>
              </a:rPr>
              <a:t>, 2026-06; </a:t>
            </a:r>
            <a:r>
              <a:rPr sz="1050" b="0" i="0">
                <a:solidFill>
                  <a:srgbClr val="1D4ED8"/>
                </a:solidFill>
                <a:latin typeface="Arial"/>
                <a:ea typeface="Malgun Gothic"/>
                <a:cs typeface="Malgun Gothic"/>
                <a:hlinkClick r:id="rId8"/>
              </a:rPr>
              <a:t>Series A</a:t>
            </a:r>
            <a:r>
              <a:rPr sz="1050" b="0" i="0">
                <a:solidFill>
                  <a:srgbClr val="16213A"/>
                </a:solidFill>
                <a:latin typeface="Arial"/>
                <a:ea typeface="Malgun Gothic"/>
                <a:cs typeface="Malgun Gothic"/>
              </a:rPr>
              <a:t>, 2025-11). 취리히의 휴머노이드 소프트웨어 회사로, 5,000만 달러 Series A에 NVIDIA의 투자 조직(NVentures)이 참여했다. 맨 위 임무 제어기(자체 VLM)가 관측을 보며 계속 재계획한다. 가운데 층은 실제 데이터로 학습한 VLA와, 내비게이션·장면 상호작용·조작 RL 기술을 섞는다. 아래 층 Reflex는 힘을 아는 전신 제어기로, 적은 수고로 다른 로봇 형태에 옮긴다. 인식은 1인칭 카메라와, 언어로 조회하는 의미 지도 도구다. VLM이 지도에 장소를 물어 경로를 짠다. 지시 한 번으로 택배 상자를 찾아 계단과 엘리베이터로 층을 오가고, 상자를 열어 정리했다. 16단계 임무 평가에서 SFT만 쓰면 끝까지 38%, SFT+RL이면 90%였고, 계단을 100번 넘게 연속으로 넘어지지 않고 오르내렸다. 기술은 대부분 Isaac Lab에서 학습하고, 3DGS로 만든 사진 같은 시뮬에서 배포 전에 시험한다.</a:t>
            </a:r>
          </a:p>
        </p:txBody>
      </p:sp>
      <p:sp>
        <p:nvSpPr>
          <p:cNvPr id="8" name="TextBox 7"/>
          <p:cNvSpPr txBox="1"/>
          <p:nvPr/>
        </p:nvSpPr>
        <p:spPr>
          <a:xfrm>
            <a:off x="609600" y="4542234"/>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Dyna Robotics — 스워브 바닥의 반휴머노이드가 한 시간짜리 작업을 끝까지 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9"/>
              </a:rPr>
              <a:t>DYNA-2.1</a:t>
            </a:r>
            <a:r>
              <a:rPr sz="1050" b="0" i="0">
                <a:solidFill>
                  <a:srgbClr val="16213A"/>
                </a:solidFill>
                <a:latin typeface="Arial"/>
                <a:ea typeface="Malgun Gothic"/>
                <a:cs typeface="Malgun Gothic"/>
              </a:rPr>
              <a:t>, 2026-09, 기술 블로그, 논문 없음). Taku는 허리 위가 사람 모양이고, 낮은 곳과 높은 곳에 닿도록 접히는 하체에, </a:t>
            </a:r>
            <a:r>
              <a:rPr sz="1050" b="1" i="0">
                <a:solidFill>
                  <a:srgbClr val="C2410C"/>
                </a:solidFill>
                <a:latin typeface="Arial"/>
                <a:ea typeface="Malgun Gothic"/>
                <a:cs typeface="Malgun Gothic"/>
              </a:rPr>
              <a:t>조향 바퀴 네 개로 된 바닥</a:t>
            </a:r>
            <a:r>
              <a:rPr sz="1050" b="0" i="0">
                <a:solidFill>
                  <a:srgbClr val="16213A"/>
                </a:solidFill>
                <a:latin typeface="Arial"/>
                <a:ea typeface="Malgun Gothic"/>
                <a:cs typeface="Malgun Gothic"/>
              </a:rPr>
              <a:t>과 7자유도 팔 둘을 얹었다. travplan 로봇과 바닥 구성이 같다. 층은 셋이다. 맨 위 VL 오케스트레이터가 작업 흐름을 정하고 기억하며, 가운데 DYNA-2 정책(world-action 모델, 약 5 Hz)이 작업 공간 궤적을 내고, 맨 아래 전신 제어기(시뮬에서 강화학습, 100 Hz)가 그 궤적을 따라간다. 세 층은 URR(Unified Robot Representation)로 이어진다. URR은 손목·팔꿈치·가슴·발자국의 자세로 몸을 적는 표현이라, 사람 영상과 로봇 데이터가 같은 형식이 된다.</a:t>
            </a:r>
          </a:p>
        </p:txBody>
      </p:sp>
      <p:sp>
        <p:nvSpPr>
          <p:cNvPr id="9" name="TextBox 8"/>
          <p:cNvSpPr txBox="1"/>
          <p:nvPr/>
        </p:nvSpPr>
        <p:spPr>
          <a:xfrm>
            <a:off x="609600" y="5497116"/>
            <a:ext cx="10972800" cy="6748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학습.</a:t>
            </a:r>
            <a:r>
              <a:rPr sz="1050" b="0" i="0">
                <a:solidFill>
                  <a:srgbClr val="16213A"/>
                </a:solidFill>
                <a:latin typeface="Arial"/>
                <a:ea typeface="Malgun Gothic"/>
                <a:cs typeface="Malgun Gothic"/>
              </a:rPr>
              <a:t> 행동 모델은 사람 영상 100만 시간과 자기 로봇 무리의 데이터로 사전학습했다. 전신 제어기는 URR로 바꾼 사람 모션 캡처로 시작한다.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수치(회사 발표).</a:t>
            </a:r>
            <a:r>
              <a:rPr sz="1050" b="0" i="0">
                <a:solidFill>
                  <a:srgbClr val="16213A"/>
                </a:solidFill>
                <a:latin typeface="Arial"/>
                <a:ea typeface="Malgun Gothic"/>
                <a:cs typeface="Malgun Gothic"/>
              </a:rPr>
              <a:t> 사람 영상만으로 사전학습한 DYNA-2는 데이터를 본 적 없는 현장에서, 고정형 로봇으로 고객 인수 시험을 zero-shot 87 % 통과했다(DYNA-1 46 %). 고정형 접기 배포에서는 새 현장이 이르면 3일 만에 생산 기준에 닿았다. DYNA-2.1은 호텔 세탁 작업 한 시간을 끊지 않고 해냈다고 밝혔다.</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4/6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344 / 359</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신뢰도 계산.</a:t>
            </a:r>
            <a:r>
              <a:rPr sz="1050" b="0" i="0">
                <a:solidFill>
                  <a:srgbClr val="16213A"/>
                </a:solidFill>
                <a:latin typeface="Arial"/>
                <a:ea typeface="Malgun Gothic"/>
                <a:cs typeface="Malgun Gothic"/>
              </a:rPr>
              <a:t> 세탁 한 바퀴는 약 79단계다. 단계마다 95 %만 믿을 만하면 한 바퀴를 도움 없이 끝낼 확률이 1.7 %라서, 긴 작업에는 단계 신뢰도가 거의 1이어야 한다는 것이 이 발표의 논지다.</a:t>
            </a:r>
          </a:p>
        </p:txBody>
      </p:sp>
      <p:sp>
        <p:nvSpPr>
          <p:cNvPr id="6" name="TextBox 5"/>
          <p:cNvSpPr txBox="1"/>
          <p:nvPr/>
        </p:nvSpPr>
        <p:spPr>
          <a:xfrm>
            <a:off x="609600" y="1549995"/>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3DGS 현장 복제 — 카메라 정책이 깊이 정책을 따라잡는다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Niantic Spatial·Flexion·NVIDIA</a:t>
            </a:r>
            <a:r>
              <a:rPr sz="1050" b="0" i="0">
                <a:solidFill>
                  <a:srgbClr val="16213A"/>
                </a:solidFill>
                <a:latin typeface="Arial"/>
                <a:ea typeface="Malgun Gothic"/>
                <a:cs typeface="Malgun Gothic"/>
              </a:rPr>
              <a:t>, 2026-07; </a:t>
            </a:r>
            <a:r>
              <a:rPr sz="1050" b="0" i="0">
                <a:solidFill>
                  <a:srgbClr val="1D4ED8"/>
                </a:solidFill>
                <a:latin typeface="Arial"/>
                <a:ea typeface="Malgun Gothic"/>
                <a:cs typeface="Malgun Gothic"/>
                <a:hlinkClick r:id="rId4"/>
              </a:rPr>
              <a:t>영상</a:t>
            </a:r>
            <a:r>
              <a:rPr sz="1050" b="0" i="0">
                <a:solidFill>
                  <a:srgbClr val="16213A"/>
                </a:solidFill>
                <a:latin typeface="Arial"/>
                <a:ea typeface="Malgun Gothic"/>
                <a:cs typeface="Malgun Gothic"/>
              </a:rPr>
              <a:t>, NVIDIA Omniverse). 360° 카메라를 들고 현장을 몇 분 걸으며 찍는다. 3D Gaussian splat으로 사진 같은 장면을 복원하고, 같은 복원에서 MVSAnywhere 깊이로 충돌 메시를 뽑으므로 두 층이 저절로 맞는다. 둘을 중력 정렬·실측 척도의 NuRec USDZ 파일 하나로 묶으면 Isaac Sim과 Isaac Lab이 바로 읽는다. splat은 RTX로 그리는 보이는 장면이고, 메시는 보이지 않는 물리 대리다. 과제는 로컬 내비게이션이다. 카메라 영상, proprioception, 로봇 좌표의 목표를 받아, 미리 학습한 보행 정책에 속도 명령을 낸다. 복원 장면 안에서 GPU 한 장으로 대규모 병렬 학습했다. 정책마다 1,024회 시뮬 평가에서, 복원 장면으로 학습한 RGB 정책이 두 사무실에서 97.8%, 75.0%로 깊이 정책(93.8%, 70.9%)보다 높았다. 합성 메시 장면으로 학습한 RGB 정책은 두 곳 모두 깊이 정책보다 낮았다. 실제 사무실에서도 RGB 정책이 깊이 정책만큼 목표에 갔고, 가구 배치가 바뀌어도 동작했다.</a:t>
            </a:r>
          </a:p>
        </p:txBody>
      </p:sp>
      <p:sp>
        <p:nvSpPr>
          <p:cNvPr id="7" name="TextBox 6"/>
          <p:cNvSpPr txBox="1"/>
          <p:nvPr/>
        </p:nvSpPr>
        <p:spPr>
          <a:xfrm>
            <a:off x="609600" y="293786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LimX + RealSense — 깊이, visual SLAM, 학습 보행을 모듈로</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RealSense 발표</a:t>
            </a:r>
            <a:r>
              <a:rPr sz="1050" b="0" i="0">
                <a:solidFill>
                  <a:srgbClr val="16213A"/>
                </a:solidFill>
                <a:latin typeface="Arial"/>
                <a:ea typeface="Malgun Gothic"/>
                <a:cs typeface="Malgun Gothic"/>
              </a:rPr>
              <a:t>, 2026-03 GTC; </a:t>
            </a:r>
            <a:r>
              <a:rPr sz="1050" b="0" i="0">
                <a:solidFill>
                  <a:srgbClr val="1D4ED8"/>
                </a:solidFill>
                <a:latin typeface="Arial"/>
                <a:ea typeface="Malgun Gothic"/>
                <a:cs typeface="Malgun Gothic"/>
                <a:hlinkClick r:id="rId6"/>
              </a:rPr>
              <a:t>기술 글</a:t>
            </a:r>
            <a:r>
              <a:rPr sz="1050" b="0" i="0">
                <a:solidFill>
                  <a:srgbClr val="16213A"/>
                </a:solidFill>
                <a:latin typeface="Arial"/>
                <a:ea typeface="Malgun Gothic"/>
                <a:cs typeface="Malgun Gothic"/>
              </a:rPr>
              <a:t>). LimX Dynamics 휴머노이드에 RealSense 깊이 카메라를 달고, 깊이와 NVIDIA cuVSLAM 시각 오도메트리, IMU를 융합해 위치 추정, 지도, 내비게이션을 했다. 보행과 내비게이션 정책은 Isaac Lab에서 강화학습으로 만들었다. 계단, 연석과 높이 변화, 고르지 않은 지형, 사람과 카트 같은 움직이는 장애물을 다룬다고 밝혔다. 같은 발표에서 새 D436 카메라를 소개했다. 카메라 개수와 배치, 지도 표현, 지연, 성공률은 공개하지 않았다.</a:t>
            </a:r>
          </a:p>
        </p:txBody>
      </p:sp>
      <p:sp>
        <p:nvSpPr>
          <p:cNvPr id="8" name="TextBox 7"/>
          <p:cNvSpPr txBox="1"/>
          <p:nvPr/>
        </p:nvSpPr>
        <p:spPr>
          <a:xfrm>
            <a:off x="609600" y="3676253"/>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현장을 3DGS로 복제해 학습하면 카메라 정책이 깊이 정책과 대등해지고, 합성 자산으로는 그렇지 않았다.</a:t>
            </a:r>
            <a:r>
              <a:rPr sz="1050" b="0" i="0">
                <a:solidFill>
                  <a:srgbClr val="16213A"/>
                </a:solidFill>
                <a:latin typeface="Arial"/>
                <a:ea typeface="Malgun Gothic"/>
                <a:cs typeface="Malgun Gothic"/>
              </a:rPr>
              <a:t> 시뮬레이션 문서 S.4.2(NuRec, GaussGym)가 제안한 "실제 보도를 찍어 Isaac Sim에 넣는" 경로의 첫 정량 근거다. 카메라 기반 TravNet이나 보행자 인식을 학습할 때 이 경로를 먼저 쓴다. 두 갈래 가운데 travplan은 기하를 먼저 만드는 쪽(elevation mapping + TravMap)에 있고, LimX + RealSense 구성이 가장 닮았다. 연석과 높이 변화 감지를 앞세운 점도 보도 배달과 같은 과제다. 영상에서 바로 배우는 쪽의 "사람 1인칭 영상 → SE(2) 속도"(Figure)와 "지도를 조건으로 받는 학습 정책"(Sunday)은, Planner D가 TravMap 크롭을 조건으로 받고 시연으로 학습하는 구조와 같다. 다만 공개된 수치가 조작 성공률뿐이라, 실패 비용이 큰 보도에 그대로 옮길 근거는 아직 없다. Dyna의 Taku는 바닥이 travplan과 같은 네 바퀴 조향이고, 위층 정책(5 Hz)과 아래층 제어기(100 Hz)를 나눈 것도 Planner·Controller 분리와 같다. 단계 신뢰도 계산(95 %씩 79단계면 1.7 %)은 보도 배달에도 그대로 들어맞는다. 교차로와 연석을 수십 번 지나는 배달 한 건이 끝까지 가려면, 에피소드 성공률이 아니라 구간마다의 실패율을 재야 한다.</a:t>
            </a:r>
          </a:p>
        </p:txBody>
      </p:sp>
      <p:sp>
        <p:nvSpPr>
          <p:cNvPr id="9" name="TextBox 8"/>
          <p:cNvSpPr txBox="1"/>
          <p:nvPr/>
        </p:nvSpPr>
        <p:spPr>
          <a:xfrm>
            <a:off x="717550" y="5064125"/>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A.8.2 성긴 LiDAR 높이 지도로 걷는 휴머노이드 (2025–2026)</a:t>
            </a:r>
          </a:p>
        </p:txBody>
      </p:sp>
      <p:sp>
        <p:nvSpPr>
          <p:cNvPr id="10" name="TextBox 9"/>
          <p:cNvSpPr txBox="1"/>
          <p:nvPr/>
        </p:nvSpPr>
        <p:spPr>
          <a:xfrm>
            <a:off x="609600" y="536733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머리에 단 LiDAR 한 대로 계단과 실외를 걷는 연구가 늘었다. 공통 과제는 성긴 LiDAR 점에서 믿을 만한 발밑 높이 지도를 만드는 것이다.</a:t>
            </a:r>
            <a:r>
              <a:rPr sz="1050" b="0" i="0">
                <a:solidFill>
                  <a:srgbClr val="16213A"/>
                </a:solidFill>
                <a:latin typeface="Arial"/>
                <a:ea typeface="Malgun Gothic"/>
                <a:cs typeface="Malgun Gothic"/>
              </a:rPr>
              <a:t> A.8 앞부분의 연구가 아래를 보는 깊이 카메라로 발밑을 복원했다면, 전방향 계단 보행은 누적한 LiDAR 점군의 빈 곳을 학습(EGAU)으로 채우고, HPC는 LiDAR 높이 지도의 잡음을 학습한 world model로 거른다. PolygMap은 Mid-360 LiDAR를 위치 추정에만 쓰고, 지도는 아래를 보는 깊이 카메라(L515)로 학습 없이 만든다.</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5/6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345 / 359</a:t>
            </a:r>
          </a:p>
        </p:txBody>
      </p:sp>
      <p:graphicFrame>
        <p:nvGraphicFramePr>
          <p:cNvPr id="5" name="Table 4"/>
          <p:cNvGraphicFramePr>
            <a:graphicFrameLocks noGrp="1"/>
          </p:cNvGraphicFramePr>
          <p:nvPr/>
        </p:nvGraphicFramePr>
        <p:xfrm>
          <a:off x="609600" y="1244600"/>
          <a:ext cx="10966449" cy="788352"/>
        </p:xfrm>
        <a:graphic>
          <a:graphicData uri="http://schemas.openxmlformats.org/drawingml/2006/table">
            <a:tbl>
              <a:tblPr firstRow="1" bandRow="1">
                <a:tableStyleId>{5C22544A-7EE6-4342-B048-85BDC9FD1C3A}</a:tableStyleId>
              </a:tblPr>
              <a:tblGrid>
                <a:gridCol w="1436489"/>
                <a:gridCol w="1636613"/>
                <a:gridCol w="3221831"/>
                <a:gridCol w="2328664"/>
                <a:gridCol w="2342852"/>
              </a:tblGrid>
              <a:tr h="197088">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로봇·센서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정책</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결과</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전방향 계단 보행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Unitree G1 + 머리 Mid-360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신뢰도가 시간·공간으로 줄어드는 누적 점군 지도, EGAU로 정제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단일 단계 RL, 조밀한 "위험 디딤" 벌점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시뮬 안전 디딤 거의 100%, 실외 장거리 보행</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PolygMap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LiDAR + RGB-D + IMU, Orin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계단 평면을 다각형 의미 지도로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다각형 위 발 디딤 계획, 전신 계획 20–30 Hz</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실내외 계단</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지각 보행 + world model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높이 지도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변분 정보 병목 world model이 센서 잡음 제거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teacher-student 행동 모방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도시·오프로드 2 km 무개입</a:t>
                      </a:r>
                    </a:p>
                  </a:txBody>
                  <a:tcPr marL="63500" marR="63500" marT="12700" marB="12700">
                    <a:solidFill>
                      <a:srgbClr val="FFFDF8"/>
                    </a:solidFill>
                  </a:tcPr>
                </a:tc>
              </a:tr>
            </a:tbl>
          </a:graphicData>
        </a:graphic>
      </p:graphicFrame>
      <p:sp>
        <p:nvSpPr>
          <p:cNvPr id="6" name="TextBox 5"/>
          <p:cNvSpPr txBox="1"/>
          <p:nvPr/>
        </p:nvSpPr>
        <p:spPr>
          <a:xfrm>
            <a:off x="609600" y="232529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전방향 계단 보행 — 성긴 LiDAR 높이 지도를 U-Net으로 다듬는다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arXiv:2603.07928</a:t>
            </a:r>
            <a:r>
              <a:rPr sz="1050" b="0" i="0">
                <a:solidFill>
                  <a:srgbClr val="16213A"/>
                </a:solidFill>
                <a:latin typeface="Arial"/>
                <a:ea typeface="Malgun Gothic"/>
                <a:cs typeface="Malgun Gothic"/>
              </a:rPr>
              <a:t>, 2026-03). Unitree G1 머리에 Livox Mid-360을 달았다. 로봇 중심 전역 점군 지도를 10 Hz로 누적하되, 점마다 시간과 거리에 따라 신뢰도를 줄이고 로봇 바로 주변은 보호 영역으로 지킨다. 그보다 빠른 제어 주기에 맞춰 국소 점군 지도를 따로 만든다. 계단 챌면에는 LiDAR 점이 드물게 떨어져 높이 지도가 일그러지는데, 가장자리를 안내 신호로 쓰는 비대칭 U-Net(EGAU)이 이를 바로잡는다. 정책은 발이 위험한 디딤에 가까워질수록 커지는 조밀한 벌점으로 학습해, 드문 벌점보다 빨리 배운다. 시뮬에서 계단 안전 디딤률이 거의 100%였고, 실제로도 높았으며 복잡한 실외 지형을 오래 걸었다.</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6/6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346 / 359</a:t>
            </a:r>
          </a:p>
        </p:txBody>
      </p:sp>
      <p:pic>
        <p:nvPicPr>
          <p:cNvPr id="5" name="Picture 4" descr="image.jpg"/>
          <p:cNvPicPr>
            <a:picLocks noChangeAspect="1"/>
          </p:cNvPicPr>
          <p:nvPr/>
        </p:nvPicPr>
        <p:blipFill>
          <a:blip r:embed="rId3"/>
          <a:stretch>
            <a:fillRect/>
          </a:stretch>
        </p:blipFill>
        <p:spPr>
          <a:xfrm>
            <a:off x="1016000" y="1244600"/>
            <a:ext cx="10160000" cy="4267200"/>
          </a:xfrm>
          <a:prstGeom prst="rect">
            <a:avLst/>
          </a:prstGeom>
        </p:spPr>
      </p:pic>
      <p:sp>
        <p:nvSpPr>
          <p:cNvPr id="6" name="TextBox 5"/>
          <p:cNvSpPr txBox="1"/>
          <p:nvPr/>
        </p:nvSpPr>
        <p:spPr>
          <a:xfrm>
            <a:off x="1016000" y="55499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전방향 계단 보행 (Fig. 2): (A) 시뮬 학습에서 MLP와 CNN이 proprioception과 지각 특징을 뽑고, 위험 디딤 벌점이 안전한 계단 걸음을 가르친다. (B) 실제 배포에서는 학습한 정책을 그대로 옮기고, 점군 지도와 가장자리 안내 높이 지도 모듈이 안정된 높이 지도를 준다. 출처: arXiv:2603.07928</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자세히: 전방향 계단 보행의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347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계단 보행 연구는 대개 머리의 정면 깊이 카메라를 쓴다. 옆과 뒤가 사각지대라 옆걸음이나 뒷걸음으로 계단을 넘을 수 없고, 깊이 영상은 조명과 흔들림에 약하다. 보상도 문제다. 기존 위험 디딤 벌점은 발이 챌면에 부딪히거나 모서리에 이미 올라선 </a:t>
            </a:r>
            <a:r>
              <a:rPr sz="1050" b="1" i="0">
                <a:solidFill>
                  <a:srgbClr val="16213A"/>
                </a:solidFill>
                <a:latin typeface="Arial"/>
                <a:ea typeface="Malgun Gothic"/>
                <a:cs typeface="Malgun Gothic"/>
              </a:rPr>
              <a:t>뒤에만</a:t>
            </a:r>
            <a:r>
              <a:rPr sz="1050" b="0" i="0">
                <a:solidFill>
                  <a:srgbClr val="16213A"/>
                </a:solidFill>
                <a:latin typeface="Arial"/>
                <a:ea typeface="Malgun Gothic"/>
                <a:cs typeface="Malgun Gothic"/>
              </a:rPr>
              <a:t> 주어진다. 늦은 신호라 학습이 느리고, 정책이 지나치게 조심스러워진다. 지도 쪽에서는, 고전 확률 지도(Fankhauser 등)가 성긴 LiDAR 점에서 오래된 관측을 붙들고 계단 모서리가 녹아내린 듯 뭉개진다. 가장 가까운 선행 연구인 Gait-Adaptive(A.8 앞부분, arXiv:2512.07464)의 multi-task U-Net은 가지를 늦게 나눠, 빈 곳을 채울 때 모서리를 잃는다고 저자는 지적한다.</a:t>
            </a:r>
          </a:p>
        </p:txBody>
      </p:sp>
      <p:sp>
        <p:nvSpPr>
          <p:cNvPr id="6" name="TextBox 5"/>
          <p:cNvSpPr txBox="1"/>
          <p:nvPr/>
        </p:nvSpPr>
        <p:spPr>
          <a:xfrm>
            <a:off x="609600" y="21994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정책 입출력.</a:t>
            </a:r>
            <a:r>
              <a:rPr sz="1050" b="0" i="0">
                <a:solidFill>
                  <a:srgbClr val="16213A"/>
                </a:solidFill>
                <a:latin typeface="Arial"/>
                <a:ea typeface="Malgun Gothic"/>
                <a:cs typeface="Malgun Gothic"/>
              </a:rPr>
              <a:t> 문제를 POMDP로 두고 PPO로 </a:t>
            </a:r>
            <a:r>
              <a:rPr sz="1050" b="1" i="0">
                <a:solidFill>
                  <a:srgbClr val="16213A"/>
                </a:solidFill>
                <a:latin typeface="Arial"/>
                <a:ea typeface="Malgun Gothic"/>
                <a:cs typeface="Malgun Gothic"/>
              </a:rPr>
              <a:t>한 단계에서</a:t>
            </a:r>
            <a:r>
              <a:rPr sz="1050" b="0" i="0">
                <a:solidFill>
                  <a:srgbClr val="16213A"/>
                </a:solidFill>
                <a:latin typeface="Arial"/>
                <a:ea typeface="Malgun Gothic"/>
                <a:cs typeface="Malgun Gothic"/>
              </a:rPr>
              <a:t> 학습한다(teacher-student 증류 없음). actor 입력은 proprioception과 높이 지도 이력이다.</a:t>
            </a:r>
          </a:p>
        </p:txBody>
      </p:sp>
      <p:pic>
        <p:nvPicPr>
          <p:cNvPr id="7" name="Picture 6" descr="image.png"/>
          <p:cNvPicPr>
            <a:picLocks noChangeAspect="1"/>
          </p:cNvPicPr>
          <p:nvPr/>
        </p:nvPicPr>
        <p:blipFill>
          <a:blip r:embed="rId3"/>
          <a:stretch>
            <a:fillRect/>
          </a:stretch>
        </p:blipFill>
        <p:spPr>
          <a:xfrm>
            <a:off x="609600" y="2504877"/>
            <a:ext cx="2143125" cy="244475"/>
          </a:xfrm>
          <a:prstGeom prst="rect">
            <a:avLst/>
          </a:prstGeom>
        </p:spPr>
      </p:pic>
      <p:sp>
        <p:nvSpPr>
          <p:cNvPr id="8" name="TextBox 7"/>
          <p:cNvSpPr txBox="1"/>
          <p:nvPr/>
        </p:nvSpPr>
        <p:spPr>
          <a:xfrm>
            <a:off x="609600" y="2785666"/>
            <a:ext cx="10972800" cy="649486"/>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ωₜ</a:t>
            </a:r>
            <a:r>
              <a:rPr sz="1050" b="0" i="0">
                <a:solidFill>
                  <a:srgbClr val="16213A"/>
                </a:solidFill>
                <a:latin typeface="Arial"/>
                <a:ea typeface="Malgun Gothic"/>
                <a:cs typeface="Malgun Gothic"/>
              </a:rPr>
              <a:t>는 몸통 각속도, </a:t>
            </a:r>
            <a:r>
              <a:rPr sz="1050" b="0" i="1">
                <a:solidFill>
                  <a:srgbClr val="16213A"/>
                </a:solidFill>
                <a:latin typeface="Arial"/>
                <a:ea typeface="Malgun Gothic"/>
                <a:cs typeface="Malgun Gothic"/>
              </a:rPr>
              <a:t>gₜ</a:t>
            </a:r>
            <a:r>
              <a:rPr sz="1050" b="0" i="0">
                <a:solidFill>
                  <a:srgbClr val="16213A"/>
                </a:solidFill>
                <a:latin typeface="Arial"/>
                <a:ea typeface="Malgun Gothic"/>
                <a:cs typeface="Malgun Gothic"/>
              </a:rPr>
              <a:t>는 몸체 좌표의 중력 방향, </a:t>
            </a:r>
            <a:r>
              <a:rPr sz="1050" b="0" i="1">
                <a:solidFill>
                  <a:srgbClr val="16213A"/>
                </a:solidFill>
                <a:latin typeface="Arial"/>
                <a:ea typeface="Malgun Gothic"/>
                <a:cs typeface="Malgun Gothic"/>
              </a:rPr>
              <a:t>cₜ</a:t>
            </a:r>
            <a:r>
              <a:rPr sz="1050" b="0" i="0">
                <a:solidFill>
                  <a:srgbClr val="16213A"/>
                </a:solidFill>
                <a:latin typeface="Arial"/>
                <a:ea typeface="Malgun Gothic"/>
                <a:cs typeface="Malgun Gothic"/>
              </a:rPr>
              <a:t>는 속도 명령, </a:t>
            </a:r>
            <a:r>
              <a:rPr sz="1050" b="0" i="1">
                <a:solidFill>
                  <a:srgbClr val="16213A"/>
                </a:solidFill>
                <a:latin typeface="Arial"/>
                <a:ea typeface="Malgun Gothic"/>
                <a:cs typeface="Malgun Gothic"/>
              </a:rPr>
              <a:t>θₜ, θ̇ₜ</a:t>
            </a:r>
            <a:r>
              <a:rPr sz="1050" b="0" i="0">
                <a:solidFill>
                  <a:srgbClr val="16213A"/>
                </a:solidFill>
                <a:latin typeface="Arial"/>
                <a:ea typeface="Malgun Gothic"/>
                <a:cs typeface="Malgun Gothic"/>
              </a:rPr>
              <a:t>는 관절 위치·속도, </a:t>
            </a:r>
            <a:r>
              <a:rPr sz="1050" b="0" i="1">
                <a:solidFill>
                  <a:srgbClr val="16213A"/>
                </a:solidFill>
                <a:latin typeface="Arial"/>
                <a:ea typeface="Malgun Gothic"/>
                <a:cs typeface="Malgun Gothic"/>
              </a:rPr>
              <a:t>aₜ₋₁</a:t>
            </a:r>
            <a:r>
              <a:rPr sz="1050" b="0" i="0">
                <a:solidFill>
                  <a:srgbClr val="16213A"/>
                </a:solidFill>
                <a:latin typeface="Arial"/>
                <a:ea typeface="Malgun Gothic"/>
                <a:cs typeface="Malgun Gothic"/>
              </a:rPr>
              <a:t>은 직전 행동이다. 높이 지도는 로봇 중심 1.4 m × 1.0 m, 0.05 m 해상도(28 × 20칸)이고, 최근 </a:t>
            </a:r>
            <a:r>
              <a:rPr sz="1050" b="0" i="1">
                <a:solidFill>
                  <a:srgbClr val="16213A"/>
                </a:solidFill>
                <a:latin typeface="Arial"/>
                <a:ea typeface="Malgun Gothic"/>
                <a:cs typeface="Malgun Gothic"/>
              </a:rPr>
              <a:t>h = 5</a:t>
            </a:r>
            <a:r>
              <a:rPr sz="1050" b="0" i="0">
                <a:solidFill>
                  <a:srgbClr val="16213A"/>
                </a:solidFill>
                <a:latin typeface="Arial"/>
                <a:ea typeface="Malgun Gothic"/>
                <a:cs typeface="Malgun Gothic"/>
              </a:rPr>
              <a:t> 프레임을 쌓는다. proprioception은 MLP, 높이 지도는 CNN이 처리해 이어 붙인다. critic은 같은 구조에 참 몸통 선속도와 잡음 없는 높이 지도를 더 받는다(비대칭 actor-critic). 행동은 기본 자세에서의 관절 목표 변화량이고, PD 제어기가 토크로 바꾼다.</a:t>
            </a:r>
          </a:p>
        </p:txBody>
      </p:sp>
      <p:pic>
        <p:nvPicPr>
          <p:cNvPr id="9" name="Picture 8" descr="image.png"/>
          <p:cNvPicPr>
            <a:picLocks noChangeAspect="1"/>
          </p:cNvPicPr>
          <p:nvPr/>
        </p:nvPicPr>
        <p:blipFill>
          <a:blip r:embed="rId4"/>
          <a:stretch>
            <a:fillRect/>
          </a:stretch>
        </p:blipFill>
        <p:spPr>
          <a:xfrm>
            <a:off x="609600" y="3524052"/>
            <a:ext cx="2676525" cy="247650"/>
          </a:xfrm>
          <a:prstGeom prst="rect">
            <a:avLst/>
          </a:prstGeom>
        </p:spPr>
      </p:pic>
      <p:sp>
        <p:nvSpPr>
          <p:cNvPr id="10" name="TextBox 9"/>
          <p:cNvSpPr txBox="1"/>
          <p:nvPr/>
        </p:nvSpPr>
        <p:spPr>
          <a:xfrm>
            <a:off x="609600" y="380484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보상.</a:t>
            </a:r>
            <a:r>
              <a:rPr sz="1050" b="0" i="0">
                <a:solidFill>
                  <a:srgbClr val="16213A"/>
                </a:solidFill>
                <a:latin typeface="Arial"/>
                <a:ea typeface="Malgun Gothic"/>
                <a:cs typeface="Malgun Gothic"/>
              </a:rPr>
              <a:t> 주요 항과 가중치는 다음과 같다. 선속도 추종 5.0, 각속도 추종 5.0, 발 공중 시간 7.0, 몸통 높이 1.0, 몸통 기울기 −6.0, 관절 토크 −0.2, 발 미끄러짐 −0.1, 관절 기본 자세 이탈 −0.5, 넘어짐 종료 −250, 그리고 제안한 위험 디딤 항 1.0이다.</a:t>
            </a:r>
          </a:p>
        </p:txBody>
      </p:sp>
      <p:sp>
        <p:nvSpPr>
          <p:cNvPr id="11" name="TextBox 10"/>
          <p:cNvSpPr txBox="1"/>
          <p:nvPr/>
        </p:nvSpPr>
        <p:spPr>
          <a:xfrm>
            <a:off x="609600" y="432673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조밀한 위험 디딤 벌점.</a:t>
            </a:r>
            <a:r>
              <a:rPr sz="1050" b="0" i="0">
                <a:solidFill>
                  <a:srgbClr val="16213A"/>
                </a:solidFill>
                <a:latin typeface="Arial"/>
                <a:ea typeface="Malgun Gothic"/>
                <a:cs typeface="Malgun Gothic"/>
              </a:rPr>
              <a:t> 위험한 디딤은 두 가지다. 발이 챌면에 부딪히는 것, 그리고 발바닥의 50% 넘게 허공에 걸친 채 모서리에 딛는 것이다. 두 벌점 모두 </a:t>
            </a:r>
            <a:r>
              <a:rPr sz="1050" b="1" i="0">
                <a:solidFill>
                  <a:srgbClr val="16213A"/>
                </a:solidFill>
                <a:latin typeface="Arial"/>
                <a:ea typeface="Malgun Gothic"/>
                <a:cs typeface="Malgun Gothic"/>
              </a:rPr>
              <a:t>닿기 전부터</a:t>
            </a:r>
            <a:r>
              <a:rPr sz="1050" b="0" i="0">
                <a:solidFill>
                  <a:srgbClr val="16213A"/>
                </a:solidFill>
                <a:latin typeface="Arial"/>
                <a:ea typeface="Malgun Gothic"/>
                <a:cs typeface="Malgun Gothic"/>
              </a:rPr>
              <a:t> 가까워질수록 커진다.</a:t>
            </a:r>
          </a:p>
        </p:txBody>
      </p:sp>
      <p:sp>
        <p:nvSpPr>
          <p:cNvPr id="12" name="TextBox 11"/>
          <p:cNvSpPr txBox="1"/>
          <p:nvPr/>
        </p:nvSpPr>
        <p:spPr>
          <a:xfrm>
            <a:off x="609600" y="4632127"/>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충돌 항.</a:t>
            </a:r>
            <a:r>
              <a:rPr sz="1050" b="0" i="0">
                <a:solidFill>
                  <a:srgbClr val="16213A"/>
                </a:solidFill>
                <a:latin typeface="Arial"/>
                <a:ea typeface="Malgun Gothic"/>
                <a:cs typeface="Malgun Gothic"/>
              </a:rPr>
              <a:t> 발의 수평 속도 </a:t>
            </a:r>
            <a:r>
              <a:rPr sz="1050" b="0" i="1">
                <a:solidFill>
                  <a:srgbClr val="16213A"/>
                </a:solidFill>
                <a:latin typeface="Arial"/>
                <a:ea typeface="Malgun Gothic"/>
                <a:cs typeface="Malgun Gothic"/>
              </a:rPr>
              <a:t>v_(xy)</a:t>
            </a:r>
            <a:r>
              <a:rPr sz="1050" b="0" i="0">
                <a:solidFill>
                  <a:srgbClr val="16213A"/>
                </a:solidFill>
                <a:latin typeface="Arial"/>
                <a:ea typeface="Malgun Gothic"/>
                <a:cs typeface="Malgun Gothic"/>
              </a:rPr>
              <a:t> 방향 30° 원뿔 안에서 가장 가까운 장애물 벡터 </a:t>
            </a:r>
            <a:r>
              <a:rPr sz="1050" b="0" i="1">
                <a:solidFill>
                  <a:srgbClr val="16213A"/>
                </a:solidFill>
                <a:latin typeface="Arial"/>
                <a:ea typeface="Malgun Gothic"/>
                <a:cs typeface="Malgun Gothic"/>
              </a:rPr>
              <a:t>d_(xy)</a:t>
            </a:r>
            <a:r>
              <a:rPr sz="1050" b="0" i="0">
                <a:solidFill>
                  <a:srgbClr val="16213A"/>
                </a:solidFill>
                <a:latin typeface="Arial"/>
                <a:ea typeface="Malgun Gothic"/>
                <a:cs typeface="Malgun Gothic"/>
              </a:rPr>
              <a:t>를 찾는다.</a:t>
            </a:r>
          </a:p>
        </p:txBody>
      </p:sp>
      <p:pic>
        <p:nvPicPr>
          <p:cNvPr id="13" name="Picture 12" descr="image.png"/>
          <p:cNvPicPr>
            <a:picLocks noChangeAspect="1"/>
          </p:cNvPicPr>
          <p:nvPr/>
        </p:nvPicPr>
        <p:blipFill>
          <a:blip r:embed="rId5"/>
          <a:stretch>
            <a:fillRect/>
          </a:stretch>
        </p:blipFill>
        <p:spPr>
          <a:xfrm>
            <a:off x="609600" y="4937522"/>
            <a:ext cx="6924675" cy="428625"/>
          </a:xfrm>
          <a:prstGeom prst="rect">
            <a:avLst/>
          </a:prstGeom>
        </p:spPr>
      </p:pic>
      <p:sp>
        <p:nvSpPr>
          <p:cNvPr id="14" name="TextBox 13"/>
          <p:cNvSpPr txBox="1"/>
          <p:nvPr/>
        </p:nvSpPr>
        <p:spPr>
          <a:xfrm>
            <a:off x="609600" y="5378351"/>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p_(colli)</a:t>
            </a:r>
            <a:r>
              <a:rPr sz="1050" b="0" i="0">
                <a:solidFill>
                  <a:srgbClr val="16213A"/>
                </a:solidFill>
                <a:latin typeface="Arial"/>
                <a:ea typeface="Malgun Gothic"/>
                <a:cs typeface="Malgun Gothic"/>
              </a:rPr>
              <a:t>는 장애물 쪽으로 다가가는 속도 성분이다. </a:t>
            </a:r>
            <a:r>
              <a:rPr sz="1050" b="0" i="1">
                <a:solidFill>
                  <a:srgbClr val="16213A"/>
                </a:solidFill>
                <a:latin typeface="Arial"/>
                <a:ea typeface="Malgun Gothic"/>
                <a:cs typeface="Malgun Gothic"/>
              </a:rPr>
              <a:t>d_(colli)</a:t>
            </a:r>
            <a:r>
              <a:rPr sz="1050" b="0" i="0">
                <a:solidFill>
                  <a:srgbClr val="16213A"/>
                </a:solidFill>
                <a:latin typeface="Arial"/>
                <a:ea typeface="Malgun Gothic"/>
                <a:cs typeface="Malgun Gothic"/>
              </a:rPr>
              <a:t>는 거리가 </a:t>
            </a:r>
            <a:r>
              <a:rPr sz="1050" b="0" i="1">
                <a:solidFill>
                  <a:srgbClr val="16213A"/>
                </a:solidFill>
                <a:latin typeface="Arial"/>
                <a:ea typeface="Malgun Gothic"/>
                <a:cs typeface="Malgun Gothic"/>
              </a:rPr>
              <a:t>d_(unsafe)</a:t>
            </a:r>
            <a:r>
              <a:rPr sz="1050" b="0" i="0">
                <a:solidFill>
                  <a:srgbClr val="16213A"/>
                </a:solidFill>
                <a:latin typeface="Arial"/>
                <a:ea typeface="Malgun Gothic"/>
                <a:cs typeface="Malgun Gothic"/>
              </a:rPr>
              <a:t>보다 가까워질수록 0에서 1로 커진다. 장애물 끝의 경사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가 문턱 </a:t>
            </a:r>
            <a:r>
              <a:rPr sz="1050" b="0" i="1">
                <a:solidFill>
                  <a:srgbClr val="16213A"/>
                </a:solidFill>
                <a:latin typeface="Arial"/>
                <a:ea typeface="Malgun Gothic"/>
                <a:cs typeface="Malgun Gothic"/>
              </a:rPr>
              <a:t>εₛₗₒₚₑ</a:t>
            </a:r>
            <a:r>
              <a:rPr sz="1050" b="0" i="0">
                <a:solidFill>
                  <a:srgbClr val="16213A"/>
                </a:solidFill>
                <a:latin typeface="Arial"/>
                <a:ea typeface="Malgun Gothic"/>
                <a:cs typeface="Malgun Gothic"/>
              </a:rPr>
              <a:t>보다 작으면 경사로로 보고 벌점을 주지 않는다.</a:t>
            </a:r>
          </a:p>
        </p:txBody>
      </p:sp>
      <p:sp>
        <p:nvSpPr>
          <p:cNvPr id="15" name="TextBox 14"/>
          <p:cNvSpPr txBox="1"/>
          <p:nvPr/>
        </p:nvSpPr>
        <p:spPr>
          <a:xfrm>
            <a:off x="609600" y="5683746"/>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모서리 항.</a:t>
            </a:r>
            <a:r>
              <a:rPr sz="1050" b="0" i="0">
                <a:solidFill>
                  <a:srgbClr val="16213A"/>
                </a:solidFill>
                <a:latin typeface="Arial"/>
                <a:ea typeface="Malgun Gothic"/>
                <a:cs typeface="Malgun Gothic"/>
              </a:rPr>
              <a:t> 발 밑 국소 높이 지도에 Sobel 필터를 씌워 기울기가 큰 점을 모서리로 표시한다. 모서리 점들의 중심 </a:t>
            </a:r>
            <a:r>
              <a:rPr sz="1050" b="0" i="1">
                <a:solidFill>
                  <a:srgbClr val="16213A"/>
                </a:solidFill>
                <a:latin typeface="Arial"/>
                <a:ea typeface="Malgun Gothic"/>
                <a:cs typeface="Malgun Gothic"/>
              </a:rPr>
              <a:t>e_c</a:t>
            </a:r>
            <a:r>
              <a:rPr sz="1050" b="0" i="0">
                <a:solidFill>
                  <a:srgbClr val="16213A"/>
                </a:solidFill>
                <a:latin typeface="Arial"/>
                <a:ea typeface="Malgun Gothic"/>
                <a:cs typeface="Malgun Gothic"/>
              </a:rPr>
              <a:t>와 발 중심을 잇는 벡터가 </a:t>
            </a:r>
            <a:r>
              <a:rPr sz="1050" b="0" i="1">
                <a:solidFill>
                  <a:srgbClr val="16213A"/>
                </a:solidFill>
                <a:latin typeface="Arial"/>
                <a:ea typeface="Malgun Gothic"/>
                <a:cs typeface="Malgun Gothic"/>
              </a:rPr>
              <a:t>e_(xy)</a:t>
            </a:r>
            <a:r>
              <a:rPr sz="1050" b="0" i="0">
                <a:solidFill>
                  <a:srgbClr val="16213A"/>
                </a:solidFill>
                <a:latin typeface="Arial"/>
                <a:ea typeface="Malgun Gothic"/>
                <a:cs typeface="Malgun Gothic"/>
              </a:rPr>
              <a:t>다.</a:t>
            </a:r>
          </a:p>
        </p:txBody>
      </p:sp>
      <p:sp>
        <p:nvSpPr>
          <p:cNvPr id="16" name="TextBox 15"/>
          <p:cNvSpPr txBox="1"/>
          <p:nvPr/>
        </p:nvSpPr>
        <p:spPr>
          <a:xfrm>
            <a:off x="609600" y="5989141"/>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20개(문단·식·그림)는 대시보드 리서치 탭의 "자세히: 전방향 계단 보행의 방법과 수식" 토글에 있다.</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배경: U-Net과 높이 지도 인페인팅 — 줄였다 키우는 네트워크에 지름길을 달아, 빈 칸을 모서리를 살리며 채운다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348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U-Net은 인코더–디코더 구조의 합성곱 네트워크다. 인코더가 해상도를 줄이며 넓은 문맥을 모으고, 디코더가 해상도를 되살린다. 같은 해상도의 인코더 특징을 디코더로 바로 넘기는 skip 연결이 있다. 그림으로 그리면 U자 모양이라 이름이 붙었다. 높이 지도 인페인팅은 빈 칸이 있는 높이 격자를 받아 빈 칸을 채운 완전한 격자를 내는 일이다. U-Net이 이 일에 가장 흔히 쓰인다.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머리에 단 LiDAR의 점은 성기다. 발밑과 몸통 밑은 사각지대이고, 계단 챌면처럼 광선과 거의 나란한 면에는 점이 거의 안 떨어진다. 빈 칸을 이웃 값으로 선형 보간하면 계단이 경사로가 된다. 정책은 경사로라 믿고 발을 끌다가 챌면에 발끝을 찧는다. 학습 네트워크는 "계단은 평평한 판이 계단식으로 이어진다" 같은 사전 지식을 데이터에서 배워, 모서리를 살리며 채울 수 있다.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구조.</a:t>
            </a:r>
          </a:p>
        </p:txBody>
      </p:sp>
      <p:sp>
        <p:nvSpPr>
          <p:cNvPr id="8" name="TextBox 7"/>
          <p:cNvSpPr txBox="1"/>
          <p:nvPr/>
        </p:nvSpPr>
        <p:spPr>
          <a:xfrm>
            <a:off x="609600" y="2593777"/>
            <a:ext cx="10972800" cy="1650206"/>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입력 (높이 + 빈 칸 마스크, 28×20)                              출력 (완전한 높이, 28×20)</a:t>
            </a:r>
          </a:p>
          <a:p>
            <a:r>
              <a:rPr sz="750" b="0" i="0">
                <a:solidFill>
                  <a:srgbClr val="F4F1EA"/>
                </a:solidFill>
                <a:latin typeface="Consolas"/>
                <a:ea typeface="Malgun Gothic"/>
                <a:cs typeface="Malgun Gothic"/>
              </a:rPr>
              <a:t>   │ conv                                                        ▲ conv</a:t>
            </a:r>
          </a:p>
          <a:p>
            <a:r>
              <a:rPr sz="750" b="0" i="0">
                <a:solidFill>
                  <a:srgbClr val="F4F1EA"/>
                </a:solidFill>
                <a:latin typeface="Consolas"/>
                <a:ea typeface="Malgun Gothic"/>
                <a:cs typeface="Malgun Gothic"/>
              </a:rPr>
              <a:t>   ▼                          skip ────────────────────────────► │</a:t>
            </a:r>
          </a:p>
          <a:p>
            <a:r>
              <a:rPr sz="750" b="0" i="0">
                <a:solidFill>
                  <a:srgbClr val="F4F1EA"/>
                </a:solidFill>
                <a:latin typeface="Consolas"/>
                <a:ea typeface="Malgun Gothic"/>
                <a:cs typeface="Malgun Gothic"/>
              </a:rPr>
              <a:t> enc1 (28×20) ─────────────────────────────────────────────────► dec4</a:t>
            </a:r>
          </a:p>
          <a:p>
            <a:r>
              <a:rPr sz="750" b="0" i="0">
                <a:solidFill>
                  <a:srgbClr val="F4F1EA"/>
                </a:solidFill>
                <a:latin typeface="Consolas"/>
                <a:ea typeface="Malgun Gothic"/>
                <a:cs typeface="Malgun Gothic"/>
              </a:rPr>
              <a:t>   │ 다운샘플                                                   ▲ 업샘플</a:t>
            </a:r>
          </a:p>
          <a:p>
            <a:r>
              <a:rPr sz="750" b="0" i="0">
                <a:solidFill>
                  <a:srgbClr val="F4F1EA"/>
                </a:solidFill>
                <a:latin typeface="Consolas"/>
                <a:ea typeface="Malgun Gothic"/>
                <a:cs typeface="Malgun Gothic"/>
              </a:rPr>
              <a:t> enc2 (14×10) ─────────────────────────────────────────► dec3</a:t>
            </a:r>
          </a:p>
          <a:p>
            <a:r>
              <a:rPr sz="750" b="0" i="0">
                <a:solidFill>
                  <a:srgbClr val="F4F1EA"/>
                </a:solidFill>
                <a:latin typeface="Consolas"/>
                <a:ea typeface="Malgun Gothic"/>
                <a:cs typeface="Malgun Gothic"/>
              </a:rPr>
              <a:t>   │                                                     ▲</a:t>
            </a:r>
          </a:p>
          <a:p>
            <a:r>
              <a:rPr sz="750" b="0" i="0">
                <a:solidFill>
                  <a:srgbClr val="F4F1EA"/>
                </a:solidFill>
                <a:latin typeface="Consolas"/>
                <a:ea typeface="Malgun Gothic"/>
                <a:cs typeface="Malgun Gothic"/>
              </a:rPr>
              <a:t> enc3 (7×5)   ────────────────────────────────► dec2</a:t>
            </a:r>
          </a:p>
          <a:p>
            <a:r>
              <a:rPr sz="750" b="0" i="0">
                <a:solidFill>
                  <a:srgbClr val="F4F1EA"/>
                </a:solidFill>
                <a:latin typeface="Consolas"/>
                <a:ea typeface="Malgun Gothic"/>
                <a:cs typeface="Malgun Gothic"/>
              </a:rPr>
              <a:t>   │                                           ▲</a:t>
            </a:r>
          </a:p>
          <a:p>
            <a:r>
              <a:rPr sz="750" b="0" i="0">
                <a:solidFill>
                  <a:srgbClr val="F4F1EA"/>
                </a:solidFill>
                <a:latin typeface="Consolas"/>
                <a:ea typeface="Malgun Gothic"/>
                <a:cs typeface="Malgun Gothic"/>
              </a:rPr>
              <a:t>   └──────────────► bottleneck ────────────────┘</a:t>
            </a:r>
          </a:p>
        </p:txBody>
      </p:sp>
      <p:sp>
        <p:nvSpPr>
          <p:cNvPr id="9" name="TextBox 8"/>
          <p:cNvSpPr txBox="1"/>
          <p:nvPr/>
        </p:nvSpPr>
        <p:spPr>
          <a:xfrm>
            <a:off x="609600" y="433288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디코더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단은 아래 단의 결과를 업샘플한 것과 같은 해상도의 인코더 특징을 이어 붙여 처리한다.</a:t>
            </a:r>
          </a:p>
        </p:txBody>
      </p:sp>
      <p:pic>
        <p:nvPicPr>
          <p:cNvPr id="10" name="Picture 9" descr="image.png"/>
          <p:cNvPicPr>
            <a:picLocks noChangeAspect="1"/>
          </p:cNvPicPr>
          <p:nvPr/>
        </p:nvPicPr>
        <p:blipFill>
          <a:blip r:embed="rId3"/>
          <a:stretch>
            <a:fillRect/>
          </a:stretch>
        </p:blipFill>
        <p:spPr>
          <a:xfrm>
            <a:off x="609600" y="4638278"/>
            <a:ext cx="2257425" cy="330200"/>
          </a:xfrm>
          <a:prstGeom prst="rect">
            <a:avLst/>
          </a:prstGeom>
        </p:spPr>
      </p:pic>
      <p:sp>
        <p:nvSpPr>
          <p:cNvPr id="11" name="TextBox 10"/>
          <p:cNvSpPr txBox="1"/>
          <p:nvPr/>
        </p:nvSpPr>
        <p:spPr>
          <a:xfrm>
            <a:off x="609600" y="4991199"/>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bottleneck은 "여기는 계단이다" 같은 넓은 문맥을 안다. 하지만 해상도가 낮아 모서리 위치가 흐리다. skip 연결로 온 인코더 특징은 모서리가 정확히 어느 칸인지 안다. 둘을 합쳐야 문맥과 위치를 함께 맞춘다.</a:t>
            </a:r>
          </a:p>
        </p:txBody>
      </p:sp>
      <p:sp>
        <p:nvSpPr>
          <p:cNvPr id="12" name="TextBox 11"/>
          <p:cNvSpPr txBox="1"/>
          <p:nvPr/>
        </p:nvSpPr>
        <p:spPr>
          <a:xfrm>
            <a:off x="609600" y="551309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a:t>
            </a:r>
            <a:r>
              <a:rPr sz="1050" b="0" i="0">
                <a:solidFill>
                  <a:srgbClr val="16213A"/>
                </a:solidFill>
                <a:latin typeface="Arial"/>
                <a:ea typeface="Malgun Gothic"/>
                <a:cs typeface="Malgun Gothic"/>
              </a:rPr>
              <a:t> 시뮬에서는 참 높이 지도 </a:t>
            </a:r>
            <a:r>
              <a:rPr sz="1050" b="0" i="1">
                <a:solidFill>
                  <a:srgbClr val="16213A"/>
                </a:solidFill>
                <a:latin typeface="Arial"/>
                <a:ea typeface="Malgun Gothic"/>
                <a:cs typeface="Malgun Gothic"/>
              </a:rPr>
              <a:t>H_(gt)</a:t>
            </a:r>
            <a:r>
              <a:rPr sz="1050" b="0" i="0">
                <a:solidFill>
                  <a:srgbClr val="16213A"/>
                </a:solidFill>
                <a:latin typeface="Arial"/>
                <a:ea typeface="Malgun Gothic"/>
                <a:cs typeface="Malgun Gothic"/>
              </a:rPr>
              <a:t>를 얻을 수 있다. 여기에 실제 센서처럼 빈 칸과 잡음을 넣어 입력을 만들고, 네트워크가 참 지도를 복원하게 한다.</a:t>
            </a:r>
          </a:p>
        </p:txBody>
      </p:sp>
      <p:sp>
        <p:nvSpPr>
          <p:cNvPr id="13" name="TextBox 12"/>
          <p:cNvSpPr txBox="1"/>
          <p:nvPr/>
        </p:nvSpPr>
        <p:spPr>
          <a:xfrm>
            <a:off x="609600" y="581848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5개(문단·식·그림)는 대시보드 리서치 탭의 "배경: U-Net과 높이 지도 인페인팅 — 줄였다 키우는 네트워크에 지름길을 달아, 빈 칸을 모서리를 살리며 채운다" 토글에 있다.</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349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PolygMap — 계단을 다각형 평면으로 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arXiv:2510.12346</a:t>
            </a:r>
            <a:r>
              <a:rPr sz="1050" b="0" i="0">
                <a:solidFill>
                  <a:srgbClr val="16213A"/>
                </a:solidFill>
                <a:latin typeface="Arial"/>
                <a:ea typeface="Malgun Gothic"/>
                <a:cs typeface="Malgun Gothic"/>
              </a:rPr>
              <a:t>, ICRA 2026). LiDAR, RGB-D 카메라, IMU를 Orin NX에서 융합한다(로봇 KUAVO, 깊이는 아래를 보는 RealSense L515). 로봇 자세는 순기구학과 LiDAR-관성 오도메트리를 합쳐 얻고, 깊이 영상으로 계단 평면의 다각형 의미 지도를 실시간으로 만든다. 발 디딤은 이 다각형 위에서 고르고, 전신 동작을 20–30 Hz로 계획한다. 정해진 걸음 대신 보이는 곳에 정확히 딛는다.</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자세히: PolygMap의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350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많은 휴머노이드는 지형을 보지 않고, 빠른 균형 제어로 계단의 요철을 "힘으로" 버틴다. 이렇게 하면 걸음이 지나치게 조심스럽고 발이 어디 떨어질지 불확실해, 긴 계단이나 어두운 곳에서 계속 오르기 어렵다. 보고 걷는 쪽에도 어려움이 있다. 디딤판은 작고 모서리가 날카롭다. 검은 흡광 재질이나 무늬 없는 면에서 깊이가 흔들린다. 보행 진동과 rolling shutter가 잡음을 키운다. 오도메트리 드리프트가 여러 프레임을 합칠 때 모서리를 어긋나게 한다. 이 논문은 학습 없이, 깊이 영상에서 계단 평면을 다각형으로 뽑고 그 위에서 발 디딤을 고르는 고전 파이프라인이다. 코드를 공개했다. 초록에는 "PolyMap"으로 적혀 있지만 제목은 PolygMap이다.</a:t>
            </a:r>
          </a:p>
        </p:txBody>
      </p:sp>
      <p:sp>
        <p:nvSpPr>
          <p:cNvPr id="6" name="TextBox 5"/>
          <p:cNvSpPr txBox="1"/>
          <p:nvPr/>
        </p:nvSpPr>
        <p:spPr>
          <a:xfrm>
            <a:off x="609600" y="21994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하드웨어.</a:t>
            </a:r>
            <a:r>
              <a:rPr sz="1050" b="0" i="0">
                <a:solidFill>
                  <a:srgbClr val="16213A"/>
                </a:solidFill>
                <a:latin typeface="Arial"/>
                <a:ea typeface="Malgun Gothic"/>
                <a:cs typeface="Malgun Gothic"/>
              </a:rPr>
              <a:t> 로봇은 KUAVO(키 166 cm, 55 kg, 28자유도, 발 26 × 9.6 cm)다. 아래를 보는 RealSense L515가 깊이를 준다. LiDAR 방식이라 어두운 곳에서도 동작하지만 흡광 표면에서는 약해진다. Livox Mid-360과 IMU는 Point-LIO로 오도메트리를 낸다. </a:t>
            </a:r>
            <a:r>
              <a:rPr sz="1050" b="1" i="0">
                <a:solidFill>
                  <a:srgbClr val="16213A"/>
                </a:solidFill>
                <a:latin typeface="Arial"/>
                <a:ea typeface="Malgun Gothic"/>
                <a:cs typeface="Malgun Gothic"/>
              </a:rPr>
              <a:t>지도는 깊이 카메라로, 위치는 LiDAR로</a:t>
            </a:r>
            <a:r>
              <a:rPr sz="1050" b="0" i="0">
                <a:solidFill>
                  <a:srgbClr val="16213A"/>
                </a:solidFill>
                <a:latin typeface="Arial"/>
                <a:ea typeface="Malgun Gothic"/>
                <a:cs typeface="Malgun Gothic"/>
              </a:rPr>
              <a:t> 만드는 분업이다. 계산은 NVIDIA Orin NX 한 대에서 한다.</a:t>
            </a:r>
          </a:p>
        </p:txBody>
      </p:sp>
      <p:sp>
        <p:nvSpPr>
          <p:cNvPr id="7" name="TextBox 6"/>
          <p:cNvSpPr txBox="1"/>
          <p:nvPr/>
        </p:nvSpPr>
        <p:spPr>
          <a:xfrm>
            <a:off x="609600" y="2721372"/>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26개(문단·식·그림)는 대시보드 리서치 탭의 "자세히: PolygMap의 방법과 수식" 토글에 있다.</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351 / 359</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지각 보행 + world model(HPC) — 지도가 틀릴 때를 대비한다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arXiv:2503.00692</a:t>
            </a:r>
            <a:r>
              <a:rPr sz="1050" b="0" i="0">
                <a:solidFill>
                  <a:srgbClr val="16213A"/>
                </a:solidFill>
                <a:latin typeface="Arial"/>
                <a:ea typeface="Malgun Gothic"/>
                <a:cs typeface="Malgun Gothic"/>
              </a:rPr>
              <a:t>, 2025-03, </a:t>
            </a:r>
            <a:r>
              <a:rPr sz="1050" b="0" i="1">
                <a:solidFill>
                  <a:srgbClr val="16213A"/>
                </a:solidFill>
                <a:latin typeface="Arial"/>
                <a:ea typeface="Malgun Gothic"/>
                <a:cs typeface="Malgun Gothic"/>
              </a:rPr>
              <a:t>Learning Perceptive Humanoid Locomotion over Challenging Terrain</a:t>
            </a:r>
            <a:r>
              <a:rPr sz="1050" b="0" i="0">
                <a:solidFill>
                  <a:srgbClr val="16213A"/>
                </a:solidFill>
                <a:latin typeface="Arial"/>
                <a:ea typeface="Malgun Gothic"/>
                <a:cs typeface="Malgun Gothic"/>
              </a:rPr>
              <a:t>). 잡음 없는 지도를 보는 teacher 정책을 student가 행동 모방으로 배운다. 변분 정보 병목을 둔 world model이 센서 잡음을 걸러 내고 상태를 추정한다. 지형 추정이 믿을 만하지 않은 장면에서 성능이 크게 올랐고, 도시와 오프로드 2 km를 사람 개입 없이 걸었다.</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자세히: 지각 보행 + world model의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352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논문과 이름.</a:t>
            </a:r>
            <a:r>
              <a:rPr sz="1050" b="0" i="0">
                <a:solidFill>
                  <a:srgbClr val="16213A"/>
                </a:solidFill>
                <a:latin typeface="Arial"/>
                <a:ea typeface="Malgun Gothic"/>
                <a:cs typeface="Malgun Gothic"/>
              </a:rPr>
              <a:t> 제목은 "Learning Perceptive Humanoid Locomotion over Challenging Terrain"이고, 제안 모델 이름은 HPC(Humanoid Perception Controller)다. IROS 2025에 실렸다(</a:t>
            </a:r>
            <a:r>
              <a:rPr sz="1050" b="0" i="0">
                <a:solidFill>
                  <a:srgbClr val="1D4ED8"/>
                </a:solidFill>
                <a:latin typeface="Arial"/>
                <a:ea typeface="Malgun Gothic"/>
                <a:cs typeface="Malgun Gothic"/>
                <a:hlinkClick r:id="rId3"/>
              </a:rPr>
              <a:t>DOI</a:t>
            </a:r>
            <a:r>
              <a:rPr sz="1050" b="0" i="0">
                <a:solidFill>
                  <a:srgbClr val="16213A"/>
                </a:solidFill>
                <a:latin typeface="Arial"/>
                <a:ea typeface="Malgun Gothic"/>
                <a:cs typeface="Malgun Gothic"/>
              </a:rPr>
              <a:t>, pp. 6571–6578). 로봇 기종은 원문에서 확인하지 못했다.</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가장 믿을 만한 휴머노이드 제어기는 아직 proprioception만 쓰는 blind 정책이다. 높이 지도를 넣으면 미리 걸음을 계획할 수 있지만, 실제 지도에는 잡음이 많다. 시뮬의 도메인 랜덤화로도 모든 인식 실패(무성한 풀, 깊은 눈)를 재현하기 어렵다. 사람은 눈 위에 발을 디디면 발바닥 감각으로 "생각보다 낮다"를 바로 고친다. 이 논문은 관측 이력에서 참 상태를 복원하는 world model을 두어, 틀린 지형 정보를 걸러 내게 한다.</a:t>
            </a:r>
          </a:p>
        </p:txBody>
      </p:sp>
      <p:sp>
        <p:nvSpPr>
          <p:cNvPr id="7" name="TextBox 6"/>
          <p:cNvSpPr txBox="1"/>
          <p:nvPr/>
        </p:nvSpPr>
        <p:spPr>
          <a:xfrm>
            <a:off x="609600" y="2504877"/>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27개(문단·식·그림)는 대시보드 리서치 탭의 "자세히: 지각 보행 + world model의 방법과 수식" 토글에 있다.</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배경: 변분 정보 병목(VIB) — 목표를 맞히는 데 필요한 정보만 잠재에 남기고 나머지(잡음)는 버리게 한다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353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무엇인가.</a:t>
            </a:r>
            <a:r>
              <a:rPr sz="1050" b="0" i="0">
                <a:solidFill>
                  <a:srgbClr val="16213A"/>
                </a:solidFill>
                <a:latin typeface="Arial"/>
                <a:ea typeface="Malgun Gothic"/>
                <a:cs typeface="Malgun Gothic"/>
              </a:rPr>
              <a:t> 정보 병목(information bottleneck)은 입력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에서 표현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만들 때, 목표 </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에 대한 정보는 많이 남기고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에 대한 정보는 적게 남기라는 원칙이다. 변분 정보 병목(VIB)은 이 원칙을 신경망으로 학습할 수 있게 근사한 손실이다.</a:t>
            </a:r>
          </a:p>
        </p:txBody>
      </p:sp>
      <p:pic>
        <p:nvPicPr>
          <p:cNvPr id="6" name="Picture 5" descr="image.png"/>
          <p:cNvPicPr>
            <a:picLocks noChangeAspect="1"/>
          </p:cNvPicPr>
          <p:nvPr/>
        </p:nvPicPr>
        <p:blipFill>
          <a:blip r:embed="rId3"/>
          <a:stretch>
            <a:fillRect/>
          </a:stretch>
        </p:blipFill>
        <p:spPr>
          <a:xfrm>
            <a:off x="609600" y="1766491"/>
            <a:ext cx="1879600" cy="304800"/>
          </a:xfrm>
          <a:prstGeom prst="rect">
            <a:avLst/>
          </a:prstGeom>
        </p:spPr>
      </p:pic>
      <p:sp>
        <p:nvSpPr>
          <p:cNvPr id="7" name="TextBox 6"/>
          <p:cNvSpPr txBox="1"/>
          <p:nvPr/>
        </p:nvSpPr>
        <p:spPr>
          <a:xfrm>
            <a:off x="609600" y="2097881"/>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는 상호정보량이다.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가 크면 더 강하게 압축한다.</a:t>
            </a:r>
          </a:p>
        </p:txBody>
      </p:sp>
      <p:sp>
        <p:nvSpPr>
          <p:cNvPr id="8" name="TextBox 7"/>
          <p:cNvSpPr txBox="1"/>
          <p:nvPr/>
        </p:nvSpPr>
        <p:spPr>
          <a:xfrm>
            <a:off x="609600" y="24032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필요한가.</a:t>
            </a:r>
            <a:r>
              <a:rPr sz="1050" b="0" i="0">
                <a:solidFill>
                  <a:srgbClr val="16213A"/>
                </a:solidFill>
                <a:latin typeface="Arial"/>
                <a:ea typeface="Malgun Gothic"/>
                <a:cs typeface="Malgun Gothic"/>
              </a:rPr>
              <a:t> 로봇 관측에는 잡음, 센서 결함, 과제와 무관한 세부가 섞여 있다. 네트워크가 이 모두를 외우면 시뮬에서만 잘 되고 실제에서 무너진다. 목표를 맞히는 데 도움이 안 되는 정보에 "비용"을 매기면, 네트워크는 쓸모없는 정보(잡음)를 잠재에서 뺀다.</a:t>
            </a:r>
          </a:p>
        </p:txBody>
      </p:sp>
      <p:sp>
        <p:nvSpPr>
          <p:cNvPr id="9" name="TextBox 8"/>
          <p:cNvSpPr txBox="1"/>
          <p:nvPr/>
        </p:nvSpPr>
        <p:spPr>
          <a:xfrm>
            <a:off x="609600" y="29251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어떻게 학습하나.</a:t>
            </a:r>
            <a:r>
              <a:rPr sz="1050" b="0" i="0">
                <a:solidFill>
                  <a:srgbClr val="16213A"/>
                </a:solidFill>
                <a:latin typeface="Arial"/>
                <a:ea typeface="Malgun Gothic"/>
                <a:cs typeface="Malgun Gothic"/>
              </a:rPr>
              <a:t> 상호정보량은 직접 계산하기 어렵다. 그래서 세 부품으로 근사한다.</a:t>
            </a:r>
          </a:p>
        </p:txBody>
      </p:sp>
      <p:sp>
        <p:nvSpPr>
          <p:cNvPr id="10" name="TextBox 9"/>
          <p:cNvSpPr txBox="1"/>
          <p:nvPr/>
        </p:nvSpPr>
        <p:spPr>
          <a:xfrm>
            <a:off x="609600" y="3230562"/>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인코더 </a:t>
            </a:r>
            <a:r>
              <a:rPr sz="1050" b="0" i="1">
                <a:solidFill>
                  <a:srgbClr val="16213A"/>
                </a:solidFill>
                <a:latin typeface="Arial"/>
                <a:ea typeface="Malgun Gothic"/>
                <a:cs typeface="Malgun Gothic"/>
              </a:rPr>
              <a:t>q(z | x) = 𝒩(μ(x), diagσ²(x))</a:t>
            </a:r>
            <a:r>
              <a:rPr sz="1050" b="0" i="0">
                <a:solidFill>
                  <a:srgbClr val="16213A"/>
                </a:solidFill>
                <a:latin typeface="Arial"/>
                <a:ea typeface="Malgun Gothic"/>
                <a:cs typeface="Malgun Gothic"/>
              </a:rPr>
              <a:t>: 입력을 가우시안 분포로 보낸다.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디코더 </a:t>
            </a:r>
            <a:r>
              <a:rPr sz="1050" b="0" i="1">
                <a:solidFill>
                  <a:srgbClr val="16213A"/>
                </a:solidFill>
                <a:latin typeface="Arial"/>
                <a:ea typeface="Malgun Gothic"/>
                <a:cs typeface="Malgun Gothic"/>
              </a:rPr>
              <a:t>p(y | z)</a:t>
            </a:r>
            <a:r>
              <a:rPr sz="1050" b="0" i="0">
                <a:solidFill>
                  <a:srgbClr val="16213A"/>
                </a:solidFill>
                <a:latin typeface="Arial"/>
                <a:ea typeface="Malgun Gothic"/>
                <a:cs typeface="Malgun Gothic"/>
              </a:rPr>
              <a:t>: 잠재에서 목표를 예측한다.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사전분포 </a:t>
            </a:r>
            <a:r>
              <a:rPr sz="1050" b="0" i="1">
                <a:solidFill>
                  <a:srgbClr val="16213A"/>
                </a:solidFill>
                <a:latin typeface="Arial"/>
                <a:ea typeface="Malgun Gothic"/>
                <a:cs typeface="Malgun Gothic"/>
              </a:rPr>
              <a:t>p(z) = 𝒩(0, I)</a:t>
            </a:r>
            <a:r>
              <a:rPr sz="1050" b="0" i="0">
                <a:solidFill>
                  <a:srgbClr val="16213A"/>
                </a:solidFill>
                <a:latin typeface="Arial"/>
                <a:ea typeface="Malgun Gothic"/>
                <a:cs typeface="Malgun Gothic"/>
              </a:rPr>
              <a:t>: 정보가 전혀 없는 기준 분포다.</a:t>
            </a:r>
          </a:p>
        </p:txBody>
      </p:sp>
      <p:sp>
        <p:nvSpPr>
          <p:cNvPr id="11" name="TextBox 10"/>
          <p:cNvSpPr txBox="1"/>
          <p:nvPr/>
        </p:nvSpPr>
        <p:spPr>
          <a:xfrm>
            <a:off x="609600" y="401974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그러면 최소화할 손실은 다음과 같다.</a:t>
            </a:r>
          </a:p>
        </p:txBody>
      </p:sp>
      <p:pic>
        <p:nvPicPr>
          <p:cNvPr id="12" name="Picture 11" descr="image.png"/>
          <p:cNvPicPr>
            <a:picLocks noChangeAspect="1"/>
          </p:cNvPicPr>
          <p:nvPr/>
        </p:nvPicPr>
        <p:blipFill>
          <a:blip r:embed="rId4"/>
          <a:stretch>
            <a:fillRect/>
          </a:stretch>
        </p:blipFill>
        <p:spPr>
          <a:xfrm>
            <a:off x="609600" y="4325144"/>
            <a:ext cx="4060825" cy="241300"/>
          </a:xfrm>
          <a:prstGeom prst="rect">
            <a:avLst/>
          </a:prstGeom>
        </p:spPr>
      </p:pic>
      <p:sp>
        <p:nvSpPr>
          <p:cNvPr id="13" name="TextBox 12"/>
          <p:cNvSpPr txBox="1"/>
          <p:nvPr/>
        </p:nvSpPr>
        <p:spPr>
          <a:xfrm>
            <a:off x="609600" y="4602659"/>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첫 항은 </a:t>
            </a:r>
            <a:r>
              <a:rPr sz="1050" b="0" i="1">
                <a:solidFill>
                  <a:srgbClr val="16213A"/>
                </a:solidFill>
                <a:latin typeface="Arial"/>
                <a:ea typeface="Malgun Gothic"/>
                <a:cs typeface="Malgun Gothic"/>
              </a:rPr>
              <a:t>I(Z;Y)</a:t>
            </a:r>
            <a:r>
              <a:rPr sz="1050" b="0" i="0">
                <a:solidFill>
                  <a:srgbClr val="16213A"/>
                </a:solidFill>
                <a:latin typeface="Arial"/>
                <a:ea typeface="Malgun Gothic"/>
                <a:cs typeface="Malgun Gothic"/>
              </a:rPr>
              <a:t>를 키우는 쪽, 둘째 항은 </a:t>
            </a:r>
            <a:r>
              <a:rPr sz="1050" b="0" i="1">
                <a:solidFill>
                  <a:srgbClr val="16213A"/>
                </a:solidFill>
                <a:latin typeface="Arial"/>
                <a:ea typeface="Malgun Gothic"/>
                <a:cs typeface="Malgun Gothic"/>
              </a:rPr>
              <a:t>I(Z;X)</a:t>
            </a:r>
            <a:r>
              <a:rPr sz="1050" b="0" i="0">
                <a:solidFill>
                  <a:srgbClr val="16213A"/>
                </a:solidFill>
                <a:latin typeface="Arial"/>
                <a:ea typeface="Malgun Gothic"/>
                <a:cs typeface="Malgun Gothic"/>
              </a:rPr>
              <a:t>의 상한을 줄이는 쪽이다. 가우시안끼리의 KL은 닫힌 식이다.</a:t>
            </a:r>
          </a:p>
        </p:txBody>
      </p:sp>
      <p:pic>
        <p:nvPicPr>
          <p:cNvPr id="14" name="Picture 13" descr="image.png"/>
          <p:cNvPicPr>
            <a:picLocks noChangeAspect="1"/>
          </p:cNvPicPr>
          <p:nvPr/>
        </p:nvPicPr>
        <p:blipFill>
          <a:blip r:embed="rId5"/>
          <a:stretch>
            <a:fillRect/>
          </a:stretch>
        </p:blipFill>
        <p:spPr>
          <a:xfrm>
            <a:off x="609600" y="4908054"/>
            <a:ext cx="2603500" cy="485775"/>
          </a:xfrm>
          <a:prstGeom prst="rect">
            <a:avLst/>
          </a:prstGeom>
        </p:spPr>
      </p:pic>
      <p:sp>
        <p:nvSpPr>
          <p:cNvPr id="15" name="TextBox 14"/>
          <p:cNvSpPr txBox="1"/>
          <p:nvPr/>
        </p:nvSpPr>
        <p:spPr>
          <a:xfrm>
            <a:off x="609600" y="5398095"/>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μ_j = 0, σ_j = 1</a:t>
            </a:r>
            <a:r>
              <a:rPr sz="1050" b="0" i="0">
                <a:solidFill>
                  <a:srgbClr val="16213A"/>
                </a:solidFill>
                <a:latin typeface="Arial"/>
                <a:ea typeface="Malgun Gothic"/>
                <a:cs typeface="Malgun Gothic"/>
              </a:rPr>
              <a:t>이면 0이다. 즉 잠재가 입력에 대해 아무것도 말하지 않으면 비용이 없다. 잠재 차원 </a:t>
            </a:r>
            <a:r>
              <a:rPr sz="1050" b="0" i="1">
                <a:solidFill>
                  <a:srgbClr val="16213A"/>
                </a:solidFill>
                <a:latin typeface="Arial"/>
                <a:ea typeface="Malgun Gothic"/>
                <a:cs typeface="Malgun Gothic"/>
              </a:rPr>
              <a:t>j</a:t>
            </a:r>
            <a:r>
              <a:rPr sz="1050" b="0" i="0">
                <a:solidFill>
                  <a:srgbClr val="16213A"/>
                </a:solidFill>
                <a:latin typeface="Arial"/>
                <a:ea typeface="Malgun Gothic"/>
                <a:cs typeface="Malgun Gothic"/>
              </a:rPr>
              <a:t>에 정보를 싣고 싶으면(</a:t>
            </a:r>
            <a:r>
              <a:rPr sz="1050" b="0" i="1">
                <a:solidFill>
                  <a:srgbClr val="16213A"/>
                </a:solidFill>
                <a:latin typeface="Arial"/>
                <a:ea typeface="Malgun Gothic"/>
                <a:cs typeface="Malgun Gothic"/>
              </a:rPr>
              <a:t>σ_j</a:t>
            </a:r>
            <a:r>
              <a:rPr sz="1050" b="0" i="0">
                <a:solidFill>
                  <a:srgbClr val="16213A"/>
                </a:solidFill>
                <a:latin typeface="Arial"/>
                <a:ea typeface="Malgun Gothic"/>
                <a:cs typeface="Malgun Gothic"/>
              </a:rPr>
              <a:t>를 줄이고 </a:t>
            </a:r>
            <a:r>
              <a:rPr sz="1050" b="0" i="1">
                <a:solidFill>
                  <a:srgbClr val="16213A"/>
                </a:solidFill>
                <a:latin typeface="Arial"/>
                <a:ea typeface="Malgun Gothic"/>
                <a:cs typeface="Malgun Gothic"/>
              </a:rPr>
              <a:t>μ_j</a:t>
            </a:r>
            <a:r>
              <a:rPr sz="1050" b="0" i="0">
                <a:solidFill>
                  <a:srgbClr val="16213A"/>
                </a:solidFill>
                <a:latin typeface="Arial"/>
                <a:ea typeface="Malgun Gothic"/>
                <a:cs typeface="Malgun Gothic"/>
              </a:rPr>
              <a:t>를 입력마다 다르게) KL 비용을 내야 한다. 샘플링은 </a:t>
            </a:r>
            <a:r>
              <a:rPr sz="1050" b="0" i="1">
                <a:solidFill>
                  <a:srgbClr val="16213A"/>
                </a:solidFill>
                <a:latin typeface="Arial"/>
                <a:ea typeface="Malgun Gothic"/>
                <a:cs typeface="Malgun Gothic"/>
              </a:rPr>
              <a:t>z = μ + σ odot ε, ε ∼ 𝒩(0, I)</a:t>
            </a:r>
            <a:r>
              <a:rPr sz="1050" b="0" i="0">
                <a:solidFill>
                  <a:srgbClr val="16213A"/>
                </a:solidFill>
                <a:latin typeface="Arial"/>
                <a:ea typeface="Malgun Gothic"/>
                <a:cs typeface="Malgun Gothic"/>
              </a:rPr>
              <a:t>로 해서 기울기가 인코더까지 흐르게 한다(reparameterization).</a:t>
            </a:r>
          </a:p>
        </p:txBody>
      </p:sp>
      <p:sp>
        <p:nvSpPr>
          <p:cNvPr id="16" name="TextBox 15"/>
          <p:cNvSpPr txBox="1"/>
          <p:nvPr/>
        </p:nvSpPr>
        <p:spPr>
          <a:xfrm>
            <a:off x="609600" y="5919986"/>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4개(문단·식·그림)는 대시보드 리서치 탭의 "배경: 변분 정보 병목(VIB) — 목표를 맞히는 데 필요한 정보만 잠재에 남기고 나머지(잡음)는 버리게 한다" 토글에 있다.</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354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성긴 LiDAR 문제는 travplan의 L1 인식 루프(TP-0053)에서 잰 것과 같다. 합성 LiDAR와 elevation mapping에서 로봇 주변 3 m 안의 미관측이 10–12%였고, 치명 셀 재현율이 L0보다 낮았다. EGAU처럼 누적 점군 위에 학습한 높이 보정 층을 두는 것이 대응책이고, TravNet(TP-0022)의 입력단에 둘 수 있다.</a:t>
            </a:r>
          </a:p>
        </p:txBody>
      </p:sp>
      <p:sp>
        <p:nvSpPr>
          <p:cNvPr id="6" name="TextBox 5"/>
          <p:cNvSpPr txBox="1"/>
          <p:nvPr/>
        </p:nvSpPr>
        <p:spPr>
          <a:xfrm>
            <a:off x="717550" y="176649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A.8.3 사람이 험지를 넘는 1인칭 4D 시연: EgoHTR (2026)</a:t>
            </a:r>
          </a:p>
        </p:txBody>
      </p:sp>
      <p:sp>
        <p:nvSpPr>
          <p:cNvPr id="7" name="TextBox 6"/>
          <p:cNvSpPr txBox="1"/>
          <p:nvPr/>
        </p:nvSpPr>
        <p:spPr>
          <a:xfrm>
            <a:off x="609600" y="206970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EgoHTR — 사람이 험지를 지나는 모습을 장면과 함께 4D로 모은다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arXiv:2607.13472</a:t>
            </a:r>
            <a:r>
              <a:rPr sz="1050" b="0" i="0">
                <a:solidFill>
                  <a:srgbClr val="16213A"/>
                </a:solidFill>
                <a:latin typeface="Arial"/>
                <a:ea typeface="Malgun Gothic"/>
                <a:cs typeface="Malgun Gothic"/>
              </a:rPr>
              <a:t>, CoRL 2026, ETH Zurich(Marco Hutter·Marc Pollefeys·Christian Holz)·TU Munich·Stanford·UC Berkeley,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데이터</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휴머노이드가 험지를 걷게 하려면 "어떤 지형에서 사람이 어떻게 움직이는가"를 장면과 함께 담은 자료가 필요한데, 기존 데이터셋은 쉬운 실내가 대부분이다.</a:t>
            </a:r>
            <a:r>
              <a:rPr sz="1050" b="0" i="0">
                <a:solidFill>
                  <a:srgbClr val="16213A"/>
                </a:solidFill>
                <a:latin typeface="Arial"/>
                <a:ea typeface="Malgun Gothic"/>
                <a:cs typeface="Malgun Gothic"/>
              </a:rPr>
              <a:t> EgoHTR은 사람이 쓰고 입는 장비로 그런 자료를 모으는 파이프라인과 데이터셋이다.</a:t>
            </a:r>
          </a:p>
        </p:txBody>
      </p:sp>
      <p:sp>
        <p:nvSpPr>
          <p:cNvPr id="8" name="TextBox 7"/>
          <p:cNvSpPr txBox="1"/>
          <p:nvPr/>
        </p:nvSpPr>
        <p:spPr>
          <a:xfrm>
            <a:off x="609600" y="2808089"/>
            <a:ext cx="10972800" cy="20754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장비.</a:t>
            </a:r>
            <a:r>
              <a:rPr sz="1050" b="0" i="0">
                <a:solidFill>
                  <a:srgbClr val="16213A"/>
                </a:solidFill>
                <a:latin typeface="Arial"/>
                <a:ea typeface="Malgun Gothic"/>
                <a:cs typeface="Malgun Gothic"/>
              </a:rPr>
              <a:t> Project Aria 안경(1인칭 카메라·SLAM), Rokoko IMU 모션 캡처 옷, Leica BLK2GO 3D 스캐너를 쓴다. 고정 카메라와 두 번째 Aria는 선택이다.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복원.</a:t>
            </a:r>
            <a:r>
              <a:rPr sz="1050" b="0" i="0">
                <a:solidFill>
                  <a:srgbClr val="16213A"/>
                </a:solidFill>
                <a:latin typeface="Arial"/>
                <a:ea typeface="Malgun Gothic"/>
                <a:cs typeface="Malgun Gothic"/>
              </a:rPr>
              <a:t> IMU 자세를 SMPL-X 몸 모델로 옮기고, 손뼉으로 시간을 맞춘 뒤(센서 사이 60 ms 이내), 몸의 궤적을 Aria SLAM에 고정한다. Aria 점구름과 스캐너 메시는 VGGT로 초기화한 ICP로 맞춘다.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데이터.</a:t>
            </a:r>
            <a:r>
              <a:rPr sz="1050" b="0" i="0">
                <a:solidFill>
                  <a:srgbClr val="16213A"/>
                </a:solidFill>
                <a:latin typeface="Arial"/>
                <a:ea typeface="Malgun Gothic"/>
                <a:cs typeface="Malgun Gothic"/>
              </a:rPr>
              <a:t> 8명(여 4, 남 4)이 실내외 7개 장면에서 55개 시퀀스를 남겼다. 15만 프레임(30 fps, 1.37시간)이고, 파쿠르, 오르기, 좁은 길, 잔해 위 걷기를 담는다. 0.7시간은 마커 모션 캡처 정답이 있어 벤치마크로 쓴다. 정답 대비 MPJPE 73.2 mm, PA-MPJPE 54.3 mm로, 가장 강한 기준(SLOPER4D)보다 6.2 %, 2.0 % 낮다.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보행 정책.</a:t>
            </a:r>
            <a:r>
              <a:rPr sz="1050" b="0" i="0">
                <a:solidFill>
                  <a:srgbClr val="16213A"/>
                </a:solidFill>
                <a:latin typeface="Arial"/>
                <a:ea typeface="Malgun Gothic"/>
                <a:cs typeface="Malgun Gothic"/>
              </a:rPr>
              <a:t> 복원한 사람 동작을 Unitree G1로 옮기고(회전 기반 리타기팅 + IK), 기준 동작과 고유감각과 지형 높이 표본을 받는 정책을 PPO로 학습했다. 상자 오르기와 평균대를 실물 G1에서 보였다. 징검돌에서는 발 접촉 보상을 넣어 성공률이 67 %에서 72 %가 됐다.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복원 정확도 요구치.</a:t>
            </a:r>
            <a:r>
              <a:rPr sz="1050" b="0" i="0">
                <a:solidFill>
                  <a:srgbClr val="16213A"/>
                </a:solidFill>
                <a:latin typeface="Arial"/>
                <a:ea typeface="Malgun Gothic"/>
                <a:cs typeface="Malgun Gothic"/>
              </a:rPr>
              <a:t> 기준 동작의 몸통 위치에 가우시안 잡음을 넣으면, 학습은 σ 약 0.05 m까지 견디고 0.1 m를 넘으면 무너진다.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한계와 라이선스.</a:t>
            </a:r>
            <a:r>
              <a:rPr sz="1050" b="0" i="0">
                <a:solidFill>
                  <a:srgbClr val="16213A"/>
                </a:solidFill>
                <a:latin typeface="Arial"/>
                <a:ea typeface="Malgun Gothic"/>
                <a:cs typeface="Malgun Gothic"/>
              </a:rPr>
              <a:t> 규모가 아직 작아 대규모 사전학습보다는 벤치마크와 미세조정용이다. 움직이는 물체와 손은 복원하지 않는다. 데이터는 CC BY-NC 4.0(비상업)이고, 코드는 공개 예정이다.</a:t>
            </a:r>
          </a:p>
        </p:txBody>
      </p:sp>
      <p:sp>
        <p:nvSpPr>
          <p:cNvPr id="9" name="TextBox 8"/>
          <p:cNvSpPr txBox="1"/>
          <p:nvPr/>
        </p:nvSpPr>
        <p:spPr>
          <a:xfrm>
            <a:off x="609600" y="497244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travplan은 바퀴 로봇이라 보행 정책을 그대로 쓰지는 않는다. 쓸 만한 것은 두 가지다. 하나는 수집 방식이다. 1인칭 장비와 휴대 스캐너로 "사람이 고른 길 + 그 장면의 지형"을 함께 남기면, 보도에서 사람이 연석·경사로를 어떻게 피하는지를 Planner 학습 자료나 평가 장면으로 쓸 수 있다(B.6b의 CityWalker와 같은 방향이지만 지형이 정확하다). 다른 하나는 정확도 요구치다. 기준 동작이 5 cm 안이어야 학습이 된다는 결과는, 사람 시연으로 지형 정책을 배울 때 복원에 요구할 정밀도의 기준이 된다. 라이선스가 비상업이라 연구용으로만 쓴다.</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A.8 휴머노이드의 인식</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355 / 359</a:t>
            </a:r>
          </a:p>
        </p:txBody>
      </p:sp>
      <p:pic>
        <p:nvPicPr>
          <p:cNvPr id="5" name="Picture 4" descr="image.jpg"/>
          <p:cNvPicPr>
            <a:picLocks noChangeAspect="1"/>
          </p:cNvPicPr>
          <p:nvPr/>
        </p:nvPicPr>
        <p:blipFill>
          <a:blip r:embed="rId3"/>
          <a:stretch>
            <a:fillRect/>
          </a:stretch>
        </p:blipFill>
        <p:spPr>
          <a:xfrm>
            <a:off x="1016000" y="1244600"/>
            <a:ext cx="10160000" cy="3333750"/>
          </a:xfrm>
          <a:prstGeom prst="rect">
            <a:avLst/>
          </a:prstGeom>
        </p:spPr>
      </p:pic>
      <p:sp>
        <p:nvSpPr>
          <p:cNvPr id="6" name="TextBox 5"/>
          <p:cNvSpPr txBox="1"/>
          <p:nvPr/>
        </p:nvSpPr>
        <p:spPr>
          <a:xfrm>
            <a:off x="1016000" y="461645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EgoHTR (Fig. 1): 왼쪽은 장비(Aria 안경 둘, 모션 캡처 옷, 3D 스캐너, 고정 카메라)와 실내외 장면 복원, 좁은 길·험지·파쿠르·오르기 시연이다. 오른쪽은 응용으로, 시연에서 배운 G1의 지형 보행과 사람 동작 벤치마크다. 출처: arXiv:2607.13472</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A.9 폼팩터 비교: travplan에 무엇이 쓰이나</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356 / 359</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네 도메인을 나란히 놓으면 한 가지가 보인다. </a:t>
            </a:r>
            <a:r>
              <a:rPr sz="1050" b="1" i="0">
                <a:solidFill>
                  <a:srgbClr val="16213A"/>
                </a:solidFill>
                <a:latin typeface="Arial"/>
                <a:ea typeface="Malgun Gothic"/>
                <a:cs typeface="Malgun Gothic"/>
              </a:rPr>
              <a:t>몸이 지형과 어떻게 닿는지가 인식 설계를 정한다.</a:t>
            </a:r>
            <a:r>
              <a:rPr sz="1050" b="0" i="0">
                <a:solidFill>
                  <a:srgbClr val="16213A"/>
                </a:solidFill>
                <a:latin typeface="Arial"/>
                <a:ea typeface="Malgun Gothic"/>
                <a:cs typeface="Malgun Gothic"/>
              </a:rPr>
              <a:t> 바퀴형인 travplan은 접지가 넓고 낮아 전복 위험이 적고, 휴머노이드의 전신 가림 문제와는 무관하다. 하지만 적재함 뒤·옆의 사각지대와 동적 장애물 예측은 세 도메인 모두와 공유한다.</a:t>
            </a:r>
          </a:p>
        </p:txBody>
      </p:sp>
      <p:graphicFrame>
        <p:nvGraphicFramePr>
          <p:cNvPr id="6" name="Table 5"/>
          <p:cNvGraphicFramePr>
            <a:graphicFrameLocks noGrp="1"/>
          </p:cNvGraphicFramePr>
          <p:nvPr/>
        </p:nvGraphicFramePr>
        <p:xfrm>
          <a:off x="609600" y="1766491"/>
          <a:ext cx="10966450" cy="1666080"/>
        </p:xfrm>
        <a:graphic>
          <a:graphicData uri="http://schemas.openxmlformats.org/drawingml/2006/table">
            <a:tbl>
              <a:tblPr firstRow="1" bandRow="1">
                <a:tableStyleId>{5C22544A-7EE6-4342-B048-85BDC9FD1C3A}</a:tableStyleId>
              </a:tblPr>
              <a:tblGrid>
                <a:gridCol w="1209774"/>
                <a:gridCol w="1949252"/>
                <a:gridCol w="2898676"/>
                <a:gridCol w="1739007"/>
                <a:gridCol w="3169741"/>
              </a:tblGrid>
              <a:tr h="197088">
                <a:tc>
                  <a:txBody>
                    <a:bodyPr wrap="square"/>
                    <a:lstStyle/>
                    <a:p>
                      <a:r>
                        <a:rPr sz="800" b="1" i="0">
                          <a:solidFill>
                            <a:srgbClr val="F4F1EA"/>
                          </a:solidFill>
                          <a:latin typeface="Arial"/>
                          <a:ea typeface="Malgun Gothic"/>
                          <a:cs typeface="Malgun Gothic"/>
                        </a:rPr>
                        <a:t>도메인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지배적 제약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 접근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하드웨어 성숙도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적용</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자동차(정적 occupancy)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멀티카메라 리그, 클래스 완전성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MonoScene, SurroundOcc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데스크톱 GPU만(❌ Orin)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채택 안 함(A.2)</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자동차(flow·world model)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위와 같음 + 시간 예측</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OccWorld, RiskWorld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Orin 미검증, RTX 4090 11.5 fps가 최선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문제 설정만 참고(§C)</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4족 보행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전복은 드물지만 미리 보지 않으면 큰 장애물을 못 피함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elevation map + WVN 자기지도</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 실배포 다수</a:t>
                      </a:r>
                      <a:r>
                        <a:rPr sz="800" b="0" i="0">
                          <a:solidFill>
                            <a:srgbClr val="16213A"/>
                          </a:solidFill>
                          <a:latin typeface="Arial"/>
                          <a:ea typeface="Malgun Gothic"/>
                          <a:cs typeface="Malgun Gothic"/>
                        </a:rPr>
                        <a:t>(Spot, ANYmal, Go2)</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직접 채택한 계보</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elevation_mapping_gpu_ros2</a:t>
                      </a:r>
                      <a:r>
                        <a:rPr sz="800" b="0" i="0">
                          <a:solidFill>
                            <a:srgbClr val="16213A"/>
                          </a:solidFill>
                          <a:latin typeface="Arial"/>
                          <a:ea typeface="Malgun Gothic"/>
                          <a:cs typeface="Malgun Gothic"/>
                        </a:rPr>
                        <a:t>(TP-0008)가 여기서 왔다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휴머노이드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2점 지지, 자기 몸 가림, 넘어지면 곧 실패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아래쪽 카메라 + 발밑 복원, 전신 occupancy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부분적(대부분 2025–2026 신규)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직접 적용은 적음</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travplan(스워브)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낮은 무게중심, 적재함 사각지대, 근거리 동적 장애물</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elevation_mapping_gpu_ros2</a:t>
                      </a:r>
                      <a:r>
                        <a:rPr sz="800" b="0" i="0">
                          <a:solidFill>
                            <a:srgbClr val="16213A"/>
                          </a:solidFill>
                          <a:latin typeface="Arial"/>
                          <a:ea typeface="Malgun Gothic"/>
                          <a:cs typeface="Malgun Gothic"/>
                        </a:rPr>
                        <a:t> + </a:t>
                      </a:r>
                      <a:r>
                        <a:rPr sz="800" b="0" i="0">
                          <a:solidFill>
                            <a:srgbClr val="16213A"/>
                          </a:solidFill>
                          <a:latin typeface="Consolas"/>
                          <a:ea typeface="Malgun Gothic"/>
                          <a:cs typeface="Malgun Gothic"/>
                        </a:rPr>
                        <a:t>TravMap.SIGMA</a:t>
                      </a:r>
                      <a:r>
                        <a:rPr sz="800" b="0" i="0">
                          <a:solidFill>
                            <a:srgbClr val="16213A"/>
                          </a:solidFill>
                          <a:latin typeface="Arial"/>
                          <a:ea typeface="Malgun Gothic"/>
                          <a:cs typeface="Malgun Gothic"/>
                        </a:rPr>
                        <a:t> + 시간가변 비용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TP-0008 검증, P2.4 구현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bl>
          </a:graphicData>
        </a:graphic>
      </p:graphicFrame>
      <p:sp>
        <p:nvSpPr>
          <p:cNvPr id="7" name="TextBox 6"/>
          <p:cNvSpPr txBox="1"/>
          <p:nvPr/>
        </p:nvSpPr>
        <p:spPr>
          <a:xfrm>
            <a:off x="609600" y="394434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결론.</a:t>
            </a:r>
            <a:r>
              <a:rPr sz="1050" b="0" i="0">
                <a:solidFill>
                  <a:srgbClr val="16213A"/>
                </a:solidFill>
                <a:latin typeface="Arial"/>
                <a:ea typeface="Malgun Gothic"/>
                <a:cs typeface="Malgun Gothic"/>
              </a:rPr>
              <a:t> 채택 후보는 바뀌지 않았다. P2.1의 </a:t>
            </a:r>
            <a:r>
              <a:rPr sz="1050" b="0" i="0">
                <a:solidFill>
                  <a:srgbClr val="16213A"/>
                </a:solidFill>
                <a:latin typeface="Consolas"/>
                <a:ea typeface="Malgun Gothic"/>
                <a:cs typeface="Malgun Gothic"/>
              </a:rPr>
              <a:t>elevation_mapping_gpu_ros2</a:t>
            </a:r>
            <a:r>
              <a:rPr sz="1050" b="0" i="0">
                <a:solidFill>
                  <a:srgbClr val="16213A"/>
                </a:solidFill>
                <a:latin typeface="Arial"/>
                <a:ea typeface="Malgun Gothic"/>
                <a:cs typeface="Malgun Gothic"/>
              </a:rPr>
              <a:t>는 </a:t>
            </a:r>
            <a:r>
              <a:rPr sz="1050" b="1" i="0">
                <a:solidFill>
                  <a:srgbClr val="C2410C"/>
                </a:solidFill>
                <a:latin typeface="Arial"/>
                <a:ea typeface="Malgun Gothic"/>
                <a:cs typeface="Malgun Gothic"/>
              </a:rPr>
              <a:t>자동차보다 </a:t>
            </a:r>
            <a:r>
              <a:rPr sz="1050" b="1" i="0">
                <a:solidFill>
                  <a:srgbClr val="C2410C"/>
                </a:solidFill>
                <a:latin typeface="Arial"/>
                <a:ea typeface="Malgun Gothic"/>
                <a:cs typeface="Malgun Gothic"/>
              </a:rPr>
              <a:t>4족 보행 계보</a:t>
            </a:r>
            <a:r>
              <a:rPr sz="1050" b="1" i="0">
                <a:solidFill>
                  <a:srgbClr val="C2410C"/>
                </a:solidFill>
                <a:latin typeface="Arial"/>
                <a:ea typeface="Malgun Gothic"/>
                <a:cs typeface="Malgun Gothic"/>
              </a:rPr>
              <a:t>가 가장 강하게 뒷받침한다.</a:t>
            </a:r>
            <a:r>
              <a:rPr sz="1050" b="0" i="0">
                <a:solidFill>
                  <a:srgbClr val="16213A"/>
                </a:solidFill>
                <a:latin typeface="Arial"/>
                <a:ea typeface="Malgun Gothic"/>
                <a:cs typeface="Malgun Gothic"/>
              </a:rPr>
              <a:t> 같은 GPU elevation mapping 스택이 4족과 휴머노이드 양쪽에서 재사용되고 있기 때문이다. 휴머노이드의 "자기 몸이 시야를 가린다"는 문제의식은 적재함 뒤 사각지대 처리에 참고한다. 자동차 world model 가운데 RiskWorld의 "미래 점유 예측 + 위험할 때만 재계획"은 Planner D 재계획 설계에서 다시 본다. 2025–2026 산업 스택(A.8.1) 가운데서는 깊이 + visual SLAM + 학습 보행의 모듈 구성(LimX + RealSense)이 travplan과 가장 닮았고, 3DGS 현장 복제는 카메라 정책 학습의 근거가 된다. 바퀴형 공개 기준으로는 CMU 자율 스택의 지형 분석(A.9.1)을 둔다.</a:t>
            </a:r>
          </a:p>
        </p:txBody>
      </p:sp>
      <p:sp>
        <p:nvSpPr>
          <p:cNvPr id="8" name="TextBox 7"/>
          <p:cNvSpPr txBox="1"/>
          <p:nvPr/>
        </p:nvSpPr>
        <p:spPr>
          <a:xfrm>
            <a:off x="717550" y="4899223"/>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A.9.1 바퀴형 비교 기준: CMU 자율 스택의 지형 분석</a:t>
            </a:r>
          </a:p>
        </p:txBody>
      </p:sp>
      <p:sp>
        <p:nvSpPr>
          <p:cNvPr id="9" name="TextBox 8"/>
          <p:cNvSpPr txBox="1"/>
          <p:nvPr/>
        </p:nvSpPr>
        <p:spPr>
          <a:xfrm>
            <a:off x="609600" y="520243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CMU 자율 스택은 LiDAR 점마다 "지면 위 높이"를 붙이는 규칙만으로 지형을 판단한다. 학습도 격자 비용도 없이, NUC 한 대에서 돈다.</a:t>
            </a:r>
            <a:r>
              <a:rPr sz="1050" b="0" i="0">
                <a:solidFill>
                  <a:srgbClr val="16213A"/>
                </a:solidFill>
                <a:latin typeface="Arial"/>
                <a:ea typeface="Malgun Gothic"/>
                <a:cs typeface="Malgun Gothic"/>
              </a:rPr>
              <a:t> travplan과 같은 바퀴형이고 ROS 2 Jazzy를 쓰므로, TravMap 설계를 비교할 가장 가까운 공개 기준이다.</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A.9 폼팩터 비교: travplan에 무엇이 쓰이나</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357 / 359</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autonomy_stack_mecanum_wheel_platform — 메카넘 바퀴 플랫폼용 전체 스택</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GitHub</a:t>
            </a:r>
            <a:r>
              <a:rPr sz="1050" b="0" i="0">
                <a:solidFill>
                  <a:srgbClr val="16213A"/>
                </a:solidFill>
                <a:latin typeface="Arial"/>
                <a:ea typeface="Malgun Gothic"/>
                <a:cs typeface="Malgun Gothic"/>
              </a:rPr>
              <a:t> ★330, 2026-06 갱신, 라이선스 표기 없음). T-Bot 플랫폼에 Livox Mid-360 한 대와 Intel NUC i7을 싣고, Jetson AGX Orin이나 노트북을 더 얹을 자리를 남겼다. SLAM(arise_slam), 경로 계획(FAR), 탐사(TARE), 기본 자율(지형 분석, 충돌 회피, waypoint 추종)로 나뉘고, Unity 시뮬과 실제 로봇 설정을 함께 준다. 경로·탐사 층과 Unitree Go2판(autonomy_stack_go2)은 Planner 문서의 CMU 스택 절에서 다뤘다. 여기서는 인식에 해당하는 지형 분석(</a:t>
            </a:r>
            <a:r>
              <a:rPr sz="1050" b="0" i="0">
                <a:solidFill>
                  <a:srgbClr val="16213A"/>
                </a:solidFill>
                <a:latin typeface="Consolas"/>
                <a:ea typeface="Malgun Gothic"/>
                <a:cs typeface="Malgun Gothic"/>
              </a:rPr>
              <a:t>terrain_analysis</a:t>
            </a:r>
            <a:r>
              <a:rPr sz="1050" b="0" i="0">
                <a:solidFill>
                  <a:srgbClr val="16213A"/>
                </a:solidFill>
                <a:latin typeface="Arial"/>
                <a:ea typeface="Malgun Gothic"/>
                <a:cs typeface="Malgun Gothic"/>
              </a:rPr>
              <a:t>)과, 그 출력을 쓰는 로컬 Planner를 소스 기준으로 본다.</a:t>
            </a:r>
          </a:p>
        </p:txBody>
      </p:sp>
      <p:sp>
        <p:nvSpPr>
          <p:cNvPr id="6" name="TextBox 5"/>
          <p:cNvSpPr txBox="1"/>
          <p:nvPr/>
        </p:nvSpPr>
        <p:spPr>
          <a:xfrm>
            <a:off x="609600" y="2199481"/>
            <a:ext cx="10972800" cy="1797447"/>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스캔 누적 (1 s가 지나면 지우고, 차량 1.75 m 안은 유지)</a:t>
            </a:r>
          </a:p>
          <a:p>
            <a:r>
              <a:rPr sz="750" b="0" i="0">
                <a:solidFill>
                  <a:srgbClr val="F4F1EA"/>
                </a:solidFill>
                <a:latin typeface="Consolas"/>
                <a:ea typeface="Malgun Gothic"/>
                <a:cs typeface="Malgun Gothic"/>
              </a:rPr>
              <a:t>   ▼</a:t>
            </a:r>
          </a:p>
          <a:p>
            <a:r>
              <a:rPr sz="750" b="0" i="0">
                <a:solidFill>
                  <a:srgbClr val="F4F1EA"/>
                </a:solidFill>
                <a:latin typeface="Consolas"/>
                <a:ea typeface="Malgun Gothic"/>
                <a:cs typeface="Malgun Gothic"/>
              </a:rPr>
              <a:t>0.2 m 평면 칸마다 (51 x 51, 약 10 m 사방) 이웃 칸 점들의 높이 25% 분위수 = 지면</a:t>
            </a:r>
          </a:p>
          <a:p>
            <a:r>
              <a:rPr sz="750" b="0" i="0">
                <a:solidFill>
                  <a:srgbClr val="F4F1EA"/>
                </a:solidFill>
                <a:latin typeface="Consolas"/>
                <a:ea typeface="Malgun Gothic"/>
                <a:cs typeface="Malgun Gothic"/>
              </a:rPr>
              <a:t>   ▼</a:t>
            </a:r>
          </a:p>
          <a:p>
            <a:r>
              <a:rPr sz="750" b="0" i="0">
                <a:solidFill>
                  <a:srgbClr val="F4F1EA"/>
                </a:solidFill>
                <a:latin typeface="Consolas"/>
                <a:ea typeface="Malgun Gothic"/>
                <a:cs typeface="Malgun Gothic"/>
              </a:rPr>
              <a:t>점마다 intensity = 지면 위 높이        ─▶ 동적 장애물 정리: 지금 센서 시야 안인데 최근 스캔에서</a:t>
            </a:r>
          </a:p>
          <a:p>
            <a:r>
              <a:rPr sz="750" b="0" i="0">
                <a:solidFill>
                  <a:srgbClr val="F4F1EA"/>
                </a:solidFill>
                <a:latin typeface="Consolas"/>
                <a:ea typeface="Malgun Gothic"/>
                <a:cs typeface="Malgun Gothic"/>
              </a:rPr>
              <a:t>   ▼                                     사라진 장애물 점은 떠난 물체로 보고 지운다</a:t>
            </a:r>
          </a:p>
          <a:p>
            <a:r>
              <a:rPr sz="750" b="0" i="0">
                <a:solidFill>
                  <a:srgbClr val="F4F1EA"/>
                </a:solidFill>
                <a:latin typeface="Consolas"/>
                <a:ea typeface="Malgun Gothic"/>
                <a:cs typeface="Malgun Gothic"/>
              </a:rPr>
              <a:t>[옵션] 지면보다 0.2 m 아래 점 = 음의 장애물 / 점이 10개 미만인 칸 = 장애물 (둘 다 기본 끔)</a:t>
            </a:r>
          </a:p>
          <a:p>
            <a:r>
              <a:rPr sz="750" b="0" i="0">
                <a:solidFill>
                  <a:srgbClr val="F4F1EA"/>
                </a:solidFill>
                <a:latin typeface="Consolas"/>
                <a:ea typeface="Malgun Gothic"/>
                <a:cs typeface="Malgun Gothic"/>
              </a:rPr>
              <a:t>   ▼</a:t>
            </a:r>
          </a:p>
          <a:p>
            <a:r>
              <a:rPr sz="750" b="0" i="0">
                <a:solidFill>
                  <a:srgbClr val="F4F1EA"/>
                </a:solidFill>
                <a:latin typeface="Consolas"/>
                <a:ea typeface="Malgun Gothic"/>
                <a:cs typeface="Malgun Gothic"/>
              </a:rPr>
              <a:t>로컬 Planner: 경로 343개(7묶음) x 36방향 = 후보 12,348개</a:t>
            </a:r>
          </a:p>
          <a:p>
            <a:r>
              <a:rPr sz="750" b="0" i="0">
                <a:solidFill>
                  <a:srgbClr val="F4F1EA"/>
                </a:solidFill>
                <a:latin typeface="Consolas"/>
                <a:ea typeface="Malgun Gothic"/>
                <a:cs typeface="Malgun Gothic"/>
              </a:rPr>
              <a:t>             차체 폭 안에 intensity &gt; 문턱(0.05 m)인 점이 있으면 그 경로를 버리고,</a:t>
            </a:r>
          </a:p>
          <a:p>
            <a:r>
              <a:rPr sz="750" b="0" i="0">
                <a:solidFill>
                  <a:srgbClr val="F4F1EA"/>
                </a:solidFill>
                <a:latin typeface="Consolas"/>
                <a:ea typeface="Malgun Gothic"/>
                <a:cs typeface="Malgun Gothic"/>
              </a:rPr>
              <a:t>             남은 묶음 가운데 목표 방향에 가까운 것을 고른다 (칸→경로 대응표를 미리 계산)</a:t>
            </a:r>
          </a:p>
        </p:txBody>
      </p:sp>
      <p:sp>
        <p:nvSpPr>
          <p:cNvPr id="7" name="TextBox 6"/>
          <p:cNvSpPr txBox="1"/>
          <p:nvPr/>
        </p:nvSpPr>
        <p:spPr>
          <a:xfrm>
            <a:off x="609600" y="408582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지면은 가장 낮은 점이 아니라 25% 분위수다.</a:t>
            </a:r>
            <a:r>
              <a:rPr sz="1050" b="0" i="0">
                <a:solidFill>
                  <a:srgbClr val="16213A"/>
                </a:solidFill>
                <a:latin typeface="Arial"/>
                <a:ea typeface="Malgun Gothic"/>
                <a:cs typeface="Malgun Gothic"/>
              </a:rPr>
              <a:t> 가장 낮은 점 하나는 잡음이나 틈 사이로 떨어진 반사에 흔들린다. 칸의 점 높이를 정렬해 아래에서 25% 되는 값을 지면으로 쓰면, 풀이나 작은 돌이 있어도 지면이 덜 흔들린다. 지면이 급히 솟는 것을 막는 상한(</a:t>
            </a:r>
            <a:r>
              <a:rPr sz="1050" b="0" i="0">
                <a:solidFill>
                  <a:srgbClr val="16213A"/>
                </a:solidFill>
                <a:latin typeface="Consolas"/>
                <a:ea typeface="Malgun Gothic"/>
                <a:cs typeface="Malgun Gothic"/>
              </a:rPr>
              <a:t>limitGroundLift</a:t>
            </a:r>
            <a:r>
              <a:rPr sz="1050" b="0" i="0">
                <a:solidFill>
                  <a:srgbClr val="16213A"/>
                </a:solidFill>
                <a:latin typeface="Arial"/>
                <a:ea typeface="Malgun Gothic"/>
                <a:cs typeface="Malgun Gothic"/>
              </a:rPr>
              <a:t>)도 선택할 수 있다.</a:t>
            </a:r>
          </a:p>
        </p:txBody>
      </p:sp>
      <p:sp>
        <p:nvSpPr>
          <p:cNvPr id="8" name="TextBox 7"/>
          <p:cNvSpPr txBox="1"/>
          <p:nvPr/>
        </p:nvSpPr>
        <p:spPr>
          <a:xfrm>
            <a:off x="609600" y="460771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동적 장애물은 "보였어야 하는데 안 보이면" 지운다.</a:t>
            </a:r>
            <a:r>
              <a:rPr sz="1050" b="0" i="0">
                <a:solidFill>
                  <a:srgbClr val="16213A"/>
                </a:solidFill>
                <a:latin typeface="Arial"/>
                <a:ea typeface="Malgun Gothic"/>
                <a:cs typeface="Malgun Gothic"/>
              </a:rPr>
              <a:t> 누적 지도는 지나간 사람을 벽처럼 남긴다. 스택은 누적된 장애물 점을 차량 자세와 센서 기울기로 센서 좌표에 옮긴 뒤, 수직 시야 안에 드는지 본다. 시야 안인데 최근 스캔의 같은 칸에 장애물 점이 없으면, 이미 떠난 물체로 보고 지운다. A.12.4의 가림 원리(M-detector, Dynablox)를 평면 칸 단위로 단순하게 한 것이다.</a:t>
            </a:r>
          </a:p>
        </p:txBody>
      </p:sp>
      <p:sp>
        <p:nvSpPr>
          <p:cNvPr id="9" name="TextBox 8"/>
          <p:cNvSpPr txBox="1"/>
          <p:nvPr/>
        </p:nvSpPr>
        <p:spPr>
          <a:xfrm>
            <a:off x="609600" y="512960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로컬 Planner는 경로 라이브러리와 충돌 대응표로 빠르다.</a:t>
            </a:r>
            <a:r>
              <a:rPr sz="1050" b="0" i="0">
                <a:solidFill>
                  <a:srgbClr val="16213A"/>
                </a:solidFill>
                <a:latin typeface="Arial"/>
                <a:ea typeface="Malgun Gothic"/>
                <a:cs typeface="Malgun Gothic"/>
              </a:rPr>
              <a:t> 미리 만든 경로를 10° 간격 36방향으로 돌려 후보 12,348개를 만든다. 어떤 칸의 점이 어떤 경로를 막는지는 미리 계산한 대응표에서 바로 찾는다. 막힌 경로가 많으면 경로 길이와 축척을 줄여 좁은 곳을 빠져나간다. MPPI처럼 연속 최적화를 하지 않으므로 CPU에서 가볍다.</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A.9 폼팩터 비교: travplan에 무엇이 쓰이나</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358 / 359</a:t>
            </a:r>
          </a:p>
        </p:txBody>
      </p:sp>
      <p:graphicFrame>
        <p:nvGraphicFramePr>
          <p:cNvPr id="5" name="Table 4"/>
          <p:cNvGraphicFramePr>
            <a:graphicFrameLocks noGrp="1"/>
          </p:cNvGraphicFramePr>
          <p:nvPr/>
        </p:nvGraphicFramePr>
        <p:xfrm>
          <a:off x="609600" y="1244600"/>
          <a:ext cx="10966450" cy="1576704"/>
        </p:xfrm>
        <a:graphic>
          <a:graphicData uri="http://schemas.openxmlformats.org/drawingml/2006/table">
            <a:tbl>
              <a:tblPr firstRow="1" bandRow="1">
                <a:tableStyleId>{5C22544A-7EE6-4342-B048-85BDC9FD1C3A}</a:tableStyleId>
              </a:tblPr>
              <a:tblGrid>
                <a:gridCol w="1409799"/>
                <a:gridCol w="4225727"/>
                <a:gridCol w="5330924"/>
              </a:tblGrid>
              <a:tr h="197088">
                <a:tc>
                  <a:txBody>
                    <a:bodyPr wrap="square"/>
                    <a:lstStyle/>
                    <a:p>
                      <a:r>
                        <a:rPr sz="800" b="1" i="0">
                          <a:solidFill>
                            <a:srgbClr val="F4F1EA"/>
                          </a:solidFill>
                          <a:latin typeface="Arial"/>
                          <a:ea typeface="Malgun Gothic"/>
                          <a:cs typeface="Malgun Gothic"/>
                        </a:rPr>
                        <a:t>항목</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CMU 지형 분석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TravMap</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표현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점마다 지면 위 높이(점군)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격자 8채널(높이, 기울기 x·y, 경사, 턱, 거칠기, 비용, σ)</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지면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0.2 m 칸의 25% 분위수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elevation mapping 높이 지도, 미관측은 확산 보간</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위험 판단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높이 문턱 하나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경사·턱·거칠기 램프의 최댓값, 로봇 반경만큼 팽창</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불확실성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없음(데이터 없는 칸을 장애물로 보는 옵션)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σ 채널, 미관측은 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음의 장애물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지면 아래 점 문턱, 데이터 없는 칸 옵션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그림자 상한 + 깊이 prior(TP-0044, TP-0047)</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동적 장애물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시야 안에서 사라진 점 정리</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DynamicObstacles</a:t>
                      </a:r>
                      <a:r>
                        <a:rPr sz="800" b="0" i="0">
                          <a:solidFill>
                            <a:srgbClr val="16213A"/>
                          </a:solidFill>
                          <a:latin typeface="Arial"/>
                          <a:ea typeface="Malgun Gothic"/>
                          <a:cs typeface="Malgun Gothic"/>
                        </a:rPr>
                        <a:t> 층(TP-0012)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경로 라이브러리 + 충돌 대응표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 Controller, Planner D(학습)</a:t>
                      </a:r>
                    </a:p>
                  </a:txBody>
                  <a:tcPr marL="63500" marR="63500" marT="12700" marB="12700">
                    <a:solidFill>
                      <a:srgbClr val="FFFDF8"/>
                    </a:solidFill>
                  </a:tcPr>
                </a:tc>
              </a:tr>
            </a:tbl>
          </a:graphicData>
        </a:graphic>
      </p:graphicFrame>
      <p:sp>
        <p:nvSpPr>
          <p:cNvPr id="6" name="TextBox 5"/>
          <p:cNvSpPr txBox="1"/>
          <p:nvPr/>
        </p:nvSpPr>
        <p:spPr>
          <a:xfrm>
            <a:off x="609600" y="3310731"/>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"데이터 없는 칸을 장애물로"는 TP-0047 깊이 prior의 가장 보수적인 판이다. travplan은 그림자의 상한과 주변 관측 높이로 낙차일 때만 치명으로 보므로, 멀쩡한 미관측 칸까지 막지는 않는다. 25% 분위수 지면과 "보였어야 하는데 안 보이면 지운다"는 규칙은 높이 지도가 잡음에 덜 흔들리고 지나간 보행자를 벽으로 남기지 않게 하는 싼 방법이다. 다만 TP-0053의 L1 루프에서는 합성 LiDAR 광선이 지형에만 맞아 보행자가 지도에 들어가지 않고, emap 가시성 정리(</a:t>
            </a:r>
            <a:r>
              <a:rPr sz="1050" b="0" i="0">
                <a:solidFill>
                  <a:srgbClr val="16213A"/>
                </a:solidFill>
                <a:latin typeface="Consolas"/>
                <a:ea typeface="Malgun Gothic"/>
                <a:cs typeface="Malgun Gothic"/>
              </a:rPr>
              <a:t>enable_visibility_cleanup=True</a:t>
            </a:r>
            <a:r>
              <a:rPr sz="1050" b="0" i="0">
                <a:solidFill>
                  <a:srgbClr val="16213A"/>
                </a:solidFill>
                <a:latin typeface="Arial"/>
                <a:ea typeface="Malgun Gothic"/>
                <a:cs typeface="Malgun Gothic"/>
              </a:rPr>
              <a:t>)도 이미 켜져 있다. 그래서 보행자가 점군에 들어오는 Isaac·실물 단계에서 emap 가시성 정리와 견줄 규칙이다. 경로 라이브러리 + 충돌 대응표는 학습 없는 빠른 로컬 기준선이라, GuidancePlanner와 함께 Planner D·MPPI 비교의 하한으로 둘 만하다. 라이선스가 표기되지 않았으므로(Planner 문서와 같은 판단) 코드는 가져오지 않고 설계만 참고한다.</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인식 · 보행 로봇</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A.9 폼팩터 비교: travplan에 무엇이 쓰이나</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인식 (docs/research-perception.md)    359 / 359</a:t>
            </a:r>
          </a:p>
        </p:txBody>
      </p:sp>
      <p:pic>
        <p:nvPicPr>
          <p:cNvPr id="5" name="Picture 4" descr="image.jpg"/>
          <p:cNvPicPr>
            <a:picLocks noChangeAspect="1"/>
          </p:cNvPicPr>
          <p:nvPr/>
        </p:nvPicPr>
        <p:blipFill>
          <a:blip r:embed="rId3"/>
          <a:stretch>
            <a:fillRect/>
          </a:stretch>
        </p:blipFill>
        <p:spPr>
          <a:xfrm>
            <a:off x="2190750" y="1244600"/>
            <a:ext cx="7810500" cy="4445000"/>
          </a:xfrm>
          <a:prstGeom prst="rect">
            <a:avLst/>
          </a:prstGeom>
        </p:spPr>
      </p:pic>
      <p:sp>
        <p:nvSpPr>
          <p:cNvPr id="6" name="TextBox 5"/>
          <p:cNvSpPr txBox="1"/>
          <p:nvPr/>
        </p:nvSpPr>
        <p:spPr>
          <a:xfrm>
            <a:off x="2190750" y="5727700"/>
            <a:ext cx="78105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CMU 메카넘 바퀴 스택: 기본 자율(smart joystick, waypoint, 수동 모드)을 RViz에서 본 화면. 출처: autonomy_stack_mecanum_wheel_platform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리서치 — 인식</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