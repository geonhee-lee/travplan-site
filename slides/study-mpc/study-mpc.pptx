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비선형 MPC를 직접 만들어 보려는 사람을 위한 개념 덱이다. 제어 기초 덱이 MPC가 무엇인지를 다뤘다면, 이 덱은 그것을 어떻게 세우고 어떻게 시간 안에 푸는지에 집중한다. 그림은 작은 문제를 실제로 계산해 그렸고, 논문 그림에는 출처를 달았다.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NMPC를 실제로 돌리려면 세 가지를 해야 한다. 문제를 풀 수 있는 꼴로 세우고, 제어 주기 안에 풀고, 모델이 틀린 만큼을 다룬다. 이 덱은 그 순서를 따른다. 4장은 최근 연구가 이 세 단계 중 어디를 고치는지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덱이다. 제어 덱 2장에서 개념으로 본 MPC를 실제로 세우고 푸는 덱이다. 제어 덱의 LQR과 receding horizon, 그리고 잔차와 GP를 알고 있으면 바로 들어갈 수 있다. 최적화 배경은 이 덱 0장에서 정리한다. 여기서 본 제약과 튜브는 다리 로봇 덱의 투영과 안전으로 다시 나오고, 모델 기반 계획은 강화학습 덱의 모델 기반 RL과 비교해 볼 만하다. 일곱 덱 전체의 순서와 10주 계획은 로드맵 덱에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NMPC는 매 주기 비선형 제약 최적화를 푼다. 그래서 최적화 교과서의 몇 가지 개념이 필요하다. 볼록성은 문제가 쉬운지 어려운지를 가른다. KKT 조건은 제약이 있는 최적해의 모양이고, 그 승수는 뒤의 soft 제약 가중치를 고를 때 쓰인다. 뉴턴법은 SQP의 바탕이고, 이산화는 연속 모델을 컴퓨터가 다룰 수 있게 바꾼다.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방법은 경쟁 관계라기보다 강점이 갈린다. MPPI는 미분이 없어 계단 같은 비용을 그대로 다루고, NMPC는 제약을 명시적으로 두므로 불확실성에 따라 조일 자리가 있다. 같은 문제에 둘을 모두 세워 같은 조건에서 비교하는 것이 가장 확실하다. 이 덱은 NMPC 쪽을 직접 만드는 데 집중한다.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OCP를 세운다는 것은 이 여섯 부품을 고르는 일이다. 상태와 입력의 선택이 어떤 제약을 쉽게 걸 수 있는지를 정하고, 모델과 적분기가 예측의 정확도를 정한다. horizon은 MPC가 얼마나 멀리 보는지를, 비용과 제약은 무엇을 원하고 무엇을 금지하는지를 정한다. 종단 비용과 종단 집합은 짧은 horizon의 근시안을 메운다. 다음 장부터 하나씩 다룬다.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장은 문제를 세우는 법이다. 모델과 상태 선택, 적분기, 추종 비용, 제약을 어떻게 거는지, 특히 장애물 같은 비볼록 제약을 노드마다 선형화하는 법과, 풀리지 않는 문제를 피하는 soft 제약을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고를 때 가장 먼저 정할 것은 무엇을 상태로, 무엇을 입력으로 두느냐다. 속도를 입력으로 두면 가속 한계를 걸려면 이웃 스텝의 차이를 제약해야 하지만, 속도를 상태로 두고 그 변화율을 입력으로 두면 가속 한계가 단순한 box 제약이 된다. 바퀴 하나하나의 역기구학처럼 미분이 불연속인 식은 SQP를 망가뜨리므로 넣지 않고, 그 효과를 차체 수준의 보수적 제약이나 학습 잔차로 흡수한다.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OCP의 모델 제약은 적분기로 이산화한 식이다. 적분기의 오차는 예측 오차가 되고, 예측 오차는 제약 위반이 된다. Euler는 싸지만 1차라 간격을 줄여도 오차가 천천히 준다. RK4는 모델을 네 번 평가하지만 4차라 같은 정확도를 훨씬 긴 간격으로 얻는다. horizon 길이가 정해져 있다면 간격을 키워 노드 수를 줄이는 편이 전체 계산에 유리한 경우가 많다. acados 같은 도구는 explicit RK 적분기와 그 민감도를 자동으로 만들어 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NMPC의 비용은 대부분 참조와의 차이를 페널티를 주는 이차식이다. 출력 y가 상태와 입력의 선형 함수이면 선형 최소제곱 꼴이 되어, Gauss-Newton 근사가 정확한 Hessian을 준다. 그래서 풀이가 빠르고 안정적이다. 가중치는 단위가 다른 항을 섞으므로 크기를 맞춰야 하며, 종단 비용은 짧은 horizon의 끝에서 목표 쪽으로 진행하게 하는 역할을 한다. 장애물처럼 계단 같은 항은 비용에 넣지 않고 다음 장의 제약으로 보낸다.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격자 지도의 장애물은 계단 함수라 미분이 없고, 기호 계산 도구는 격자를 기호 위치로 읽지 못한다. 실무 해법은 장애물을 매 주기 수치로 처리해 단순한 제약으로 넘기는 것이다. 노드마다 가장 가까운 장애물 점을 거리 변환으로 찾고, 그 점에서 장애물 바깥을 향하는 법선으로 반평면을 만든다. 제약은 선형이고 값만 파라미터로 바뀌므로 코드를 다시 생성할 필요가 없다. 다만 접평면은 지금의 해에 의존하므로, 해가 움직이면 다시 계산해야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바퀴 로봇이 아니라 다리 로봇이지만 원리는 같다. 영상에서는 로봇이 틈과 징검다리에서 발을 놓을 수 있는 영역을 고르며 건너는 것을 본다. 지형의 발 놓기 조건은 비볼록하지만, 예측 노드마다 국소 볼록 부등식으로 근사해 OCP에 넣으면 온라인으로 풀린다. 앞 장에서 격자 지도의 치명 셀을 접평면으로 바꾼 것과 같은 전략이다.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 제약은 반드시 지켜지지만, 지킬 수 없는 상황에서는 해가 없다. 실제 로봇에서는 외란이나 나쁜 초기해 때문에 그런 순간이 온다. 그래서 제약마다 slack 변수를 두고 그 크기에 비용으로 페널티를 준다. 페널티의 꼴이 중요하다. L1 페널티는 가중치가 그 제약의 라그랑주 승수보다 크기만 하면 hard 제약과 똑같은 해를 준다. 이를 exact penalty라 부른다. 이차 페널티는 매끄럽지만 가중치를 아무리 키워도 조금씩 넘는다. 실무에서는 둘을 함께 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샘플 기반 MPC에서 비용 항 하나로 처리하던 것들을 gradient 기반 MPC로 옮기면 세 갈래로 나뉜다. 매끄러운 것은 비용으로 남고, 계단 같은 것은 제약으로 가고, 목표 쪽은 종단 비용이 된다. 특히 안전에 관한 것을 제약으로 두는 것이 중요하다. 그래야 3장에서 볼 튜브나 확률 제약이 그 제약의 여유를 조일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한꺼번에 모든 것을 정교하게 만들면 무엇이 효과였는지 알 수 없다. 가장 단순한 버전으로 시작해 폐루프 실험에서 문제가 드러나는 곳만 바꾸는 것이 좋다. 예를 들어 지연 때문에 출렁이면 모델에 지연을 넣고, 좁은 틈에서 실패하면 장애물 제약을 고친다.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세운 문제를 제어 주기 안에 푸는 법이다. 순차 이차 계획법(SQP)의 원리, 주기마다 한 스텝만 가는 실시간 반복(RTI), 대표 솔버, 그리고 국소해와 초기값 문제를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SQP는 뉴턴법을 제약 최적화로 넓힌 것이다. 지금의 추정 해에서 모델과 제약을 선형화하고 비용을 이차로 근사하면 QP가 된다. 그 QP의 해만큼 추정 해를 옮기고 다시 반복한다. MPC의 QP는 특별한 구조를 가진다. 시간 단계마다 이웃 단계와만 연결되어 있어서, 이 banded 구조를 쓰는 솔버는 horizon 길이에 선형인 시간으로 푼다. 비용이 최소제곱이면 Gauss-Newton 근사로 Hessian을 2차 미분 없이 얻는다.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SQP의 Gauss-Newton 근사가 왜 안정적인지를 저자에게 직접 듣는 강연이다. 영상에서는 비용이 볼록 함수와 비선형 함수의 합성일 때 바깥 볼록 함수의 곡률만으로 Hessian을 만드는 뉴턴형 방법의 계보를 본다. 앞 장의 JᵀWJ는 그 가장 단순한 경우다. 56분이라 전체를 보기보다 앞부분의 동기와 Gauss-Newton 일반화 부분을 먼저 보면 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 주기 SQP를 끝까지 수렴시키면 시간이 모자란다. RTI는 이 문제를 두 가지 관찰로 푼다. 첫째, 주기가 짧으면 이웃한 두 주기의 문제는 거의 같으므로, 이전 해를 한 스텝 밀어 시작하면 한 스텝만으로도 충분히 가깝다. 둘째, 선형화와 행렬 준비는 측정과 무관하므로 측정이 오기 전에 해 두고, 측정이 오면 QP 하나만 푼다. 이렇게 하면 측정에서 명령까지의 지연이 크게 준다. 다만 해가 크게 바뀌는 순간에는 반복을 늘려야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MPC를 만들 때 쓰는 도구는 층이 다르다. CasADi는 모델과 비용을 기호로 적고 미분을 자동으로 만드는 모델링 도구다. IPOPT는 일반 비선형 문제를 견고하게 풀지만 실시간 MPC에는 무겁다. acados는 MPC 전용으로, 적분기와 그 민감도, SQP-RTI, 구조를 쓰는 QP 솔버를 합쳐 C 코드로 생성한다. QP 솔버는 문제의 크기와 warm start 여부에 따라 고른다. 파라미터로 바뀌는 값(참조, 장애물 접평면)은 코드 재생성 없이 매 주기 넘길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acados 공식 채널의 시연이다. 영상에서는 곡률이 급히 바뀌는 트랙과 원형·사각 장애물이 있는 창고 구간에서 삼륜 AGV가 MPC로 궤적을 따라가는 것을 본다. 도구 표의 조합, 즉 acados가 생성한 SQP-RTI와 QP 솔버 코드가 실물에서 어떻게 쓰이는지 감을 잡는 용도다.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gradient 기반 최적화는 시작점 근처의 국소해를 찾는다. 장애물 왼쪽으로 갈지 오른쪽으로 갈지 같은 위상 선택은 gradient가 할 수 없는 일이다. 그래서 MPC의 초기값을 무엇으로 주느냐가 결과를 크게 바꾼다. 가장 흔한 방법은 이전 주기의 해를 한 스텝 밀어 쓰는 것이지만, 새 장애물이 나타나면 이전 위상에 갇힌다. 최근 연구는 학습한 Planner나 RL 정책이 초기값을 주고 MPC가 제약을 지키며 다듬는 분업을 많이 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MPC에서 가장 중요한 것은 풀이 시간의 최댓값이다. 평균이 빨라도 가끔 주기를 넘기면 그 순간 제어가 끊긴다. 그래서 반복 수에 상한을 두고, 풀이가 실패하거나 최대 반복에 걸린 횟수를 함께 기록한다. 실패 시 무엇을 낼지(이전 해의 다음 입력, 감속)도 미리 정해 둬야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모델 오차를 다루는 법이다. 명목 모델에 학습 잔차를 더하는 법, 가우시안 프로세스를 실시간에 쓰기 위한 희소 근사, 그리고 불확실성만큼 제약을 조이는 튜브 MPC와 확률 제약을 다룬다. 마지막으로 예측 모델을 층으로 쌓는 아이디어와, 검증용 시뮬레이터의 원칙을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오차를 다루는 가장 실용적인 방법은 명목 모델을 그대로 두고, 남는 오차만 배워 더하는 것이다. 잔차를 학습 모델의 기호식으로 넣으면 미분까지 계산해야 해서 무겁다. 대신 이전 해의 예측 노드에서 잔차를 계산해 상수 파라미터로 넘기면, 솔버는 그것을 상수로 보고 미분은 명목 모델로만 한다. 이것이 0차 근사이며, 계산은 거의 늘지 않는다. 주의할 점은 학습 잔차가 데이터 분포 밖에서 엉뚱한 값을 낼 때다. 최적화는 그 오류를 찾아가 이용한다.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0차 근사를 실제 소프트웨어로 구현한 것이 L4acados다. 영상에서는 Python 잔차 모델을 acados에 붙이는 구조와 GP 기반 MPC의 적용 예를 본다. 명목 모델과 솔버를 그대로 두고 예측만 고친다는 앞 장의 장점이 도구 수준에서 어떻게 실현되는지 보면 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가우시안 프로세스를 제어 루프에서 쓰려면 계산이 걸림돌이다. 정확 GP는 데이터 수의 세제곱이라 데이터가 수천 개면 갱신 한 번이 제어 주기를 넘긴다. 희소 GP는 데이터를 소수의 inducing point로 요약해 계산을 크게 줄인다. random feature 근사는 더 빠르지만, 데이터에서 먼 곳에서 prior로 돌아가지 않고 튀는 값을 낼 수 있다. MPC는 그런 값을 이용하므로, 근사를 고를 때는 정확도와 속도뿐 아니라 데이터 분포 밖에서의 거동과 불확실성 보정도 함께 재야 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희소 GP가 실제로 어디까지 가는지 보여 주는 예다. 영상에서는 공력 잔차를 GP로 배운 MPC가 쿼드로터를 고속으로 추종시키는 것을 본다. 400점에서 뽑은 inducing point 20개로 실시간에 들었고, 15–25개가 성능과 계산의 최적 구간이었다. 앞 표의 m이 작으면 굴곡을 놓친다는 말과 m이 크면 주기를 넘긴다는 말 사이의 균형이 실제 문제에서는 이렇게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튜브 MPC는 실제 궤적이 명목 궤적 주변의 관(튜브) 안에 머문다는 것을 이용한다. 명목 궤적은 MPC가 계획하고, 실제 상태와의 오차는 보조 피드백이 줄인다. 외란이 유계라면 오차가 커질 수 있는 최대 폭을 시간마다 계산할 수 있고, 그만큼 명목 궤적의 제약을 조이면 실제 궤적은 원래 제약을 지킨다. 핵심은 조임 폭 ρ_k 하나다. 이 폭을 외란 상한에서 정하면 튜브 MPC, 확률 분포의 분위수에서 정하면 확률 제약이 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확률 제약은 "위반 확률이 ε 이하"를 요구한다. 상태 분포가 가우시안이면 이 조건은 평균에 대한 결정적 제약으로 바뀌고, 조임 폭은 표준 정규 분위수와 예측 표준편차의 곱이다. 이 조임 폭이 튜브의 ρ_k와 같은 자리에 들어간다. 확률 제약의 약점은 분산 추정에 기댄다는 것이다. 분산이 실제 오차를 명목 비율만큼 덮지 못하면 보장도 깨진다. 그래서 분산을 제약에 쓰기 전에 보정을 재야 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확률 제약을 실제 차에 쓴 원조 격의 시연이다. 영상에서는 부정확한 모델의 MPCC로 충돌하던 소형 경주차가 주행 데이터로 GP를 배운 뒤 더 빠르고 안전하게 도는 것을 본다. 잔차 평균이 예측을 고치고 분산이 제약의 여유를 정한다는 두 역할이 한 화면에서 드러난다. 참고문헌 ★5가 이 논문이다.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한 번에 정교하게 만들 필요는 없다. 기구학 모델에서 시작해, 폐루프 실험에서 문제가 되는 효과를 동역학 층에 식으로 넣고, 그래도 남는 오차를 학습 층이 맡는다. 특히 액추에이터 지연은 동역학 층에서 간단히 넣을 수 있는데 효과가 크다. 학습 층은 식으로 쓰기 어려운 접촉과 지형 효과를 담는다. 층마다 같은 인터페이스로 맞춰 두면 MPC와 샘플 기반 MPC가 같은 예측 모델을 공유할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선례를 영상으로 본다. 영상에서는 학습한 forward 모델로 예측한 궤적 샘플 가운데 안전한 것을 골라 사족 로봇이 장애물 사이를 지나는 것을 본다. 세 층 가운데 학습 층이 모델 전체를 맡는 경우이고, 샘플 기반 MPC라 비평활 모델도 그대로 rollout할 수 있다. gradient 기반 NMPC에 같은 모델을 넣으려면 미분이 매끄러워야 한다는 점이 차이다.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오차를 다루는 기법을 시험하려면 모델과 다른 plant가 있어야 한다. 시뮬레이터가 MPC의 모델과 같은 식을 쓰면 예측이 늘 맞으므로, 잔차 학습이나 튜브가 효과가 있는지 알 수 없다. 실물만큼 정확할 필요는 없다. 지연, 슬립, 하위 제어기, 조향 한계처럼 명목 모델에 없는 것이 들어 있기만 하면 된다. 그 위에서 통계를 낸 뒤, 더 높은 충실도의 시뮬레이터와 실물로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조임 장치를 켜면 안전 여유는 늘지만 보수적이 되어 성공률이 떨어질 수 있다. 그래서 효과가 실제로 있는지를 같은 조건의 짝 비교로 확인한 뒤에만 기본값으로 켜는 것이 좋다. 분산의 보정이 맞아도 조임이 성공률을 올리지 못하는 경우가 있고, 그 반대도 있다. 가장 효과가 큰 것은 대개 지연처럼 큰 체계적 오차를 모델에 넣는 첫 단계다.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장은 최근 MPC 연구의 흐름을 한 장씩 정리한다. 개별 논문보다 무엇을 함께 하고 어느 축에서 갈리는지를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연구들을 고친 곳으로 묶었다. 초기해 쪽은 학습한 생성 모델이나 RL 정책이 출발점을 주고 OCP가 제약을 지키며 다듬는다. diffusion 초기해 연구에서는 OCP 단독 성공률이 10 % 아래였다가 초기해를 받자 80 % 안팎이 됐다. 제약 쪽은 GP 오차나 기록된 외란으로 튜브를 만든다. 모델 쪽은 지형의 기울기를 입력으로 넣거나, 학습 잔차가 물리적으로 말이 안 되는 가속을 내지 않게 페널티를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‘에너지 정규화 NN 잔차’ 행이다. 영상에서는 잔차 신경망의 보정이 만드는 상대 에너지 변화에 페널티를 주어 학습한 neural MPC가 전방향 비행 로봇을 모는 것을 본다. 3장에서 본 학습 잔차의 함정, 즉 분포 밖에서 튀는 값을 MPC가 이용한다는 문제를 손실 함수의 구조로 막는 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공통점은 넷이다. 처음 둘은 3장에서 본 구조이고, 셋째는 2장의 국소해 문제를 학습으로 푸는 것이고, 넷째는 1장의 "끊기는 것은 제약으로"를 지형까지 넓힌 것이다. 차이는 네 축으로 정리된다. 논문을 읽을 때 각 축에서 어느 쪽을 골랐는지 확인하면 비교가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복습용이다. NMPC를 만드는 선택을 한 표에 모으고, 처음 만들 때 자주 빠지는 함정과 공부 순서를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표다. 기본 선택 열은 처음 만들 때 권하는 출발점이고, 바꿀 때 열은 그 선택의 약점이 실제로 문제가 될 때 갈 곳이다. 처음부터 모든 것을 정교하게 하지 않는 것이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NMPC를 만들면 알고리즘보다 이런 기본 항목에서 대부분의 문제가 나온다. 특히 명령 경로를 확인하는 습관이 중요하다. MPC가 계획한 가속과 로봇에 실제로 들어간 명령을 같은 그래프에 그려 보면, 단위 변환이나 적분 방식 차이로 계획의 일부만 실행되고 있는 경우를 찾을 수 있다. 이런 버그는 성공률만 봐서는 드러나지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 교과서는 문제 설정과 이론을, 수치 최적화 교과서는 그것을 푸는 기계를 준다. 둘을 함께 읽는 것이 좋다. 그리고 작은 OCP를 CasADi와 IPOPT로 먼저 풀어 보고, 같은 문제를 acados의 RTI로 옮기면 실시간 풀이의 감각이 생긴다. 마지막으로 명목 모델과 다른 plant를 하나 만들어 잔차를 더해 보면 3장의 내용이 손에 잡힌다.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본 것을 여섯 상자로 줄였다. NMPC의 실력은 알고리즘보다 문제를 얼마나 잘 세우느냐에서 나온다. 매끄러운 것과 끊기는 것을 나누고, 제약을 늘 풀리게 두고, 모델 오차는 큰 것부터 식으로 넣는다. 그리고 그 모든 효과는 명목과 다른 plant에서, 같은 조건의 비교로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참고문헌을 두 장으로 나눴다. 이 장은 처음 공부할 때 먼저 읽을 다섯 가지이고, 위에서부터 차례로 읽으면 된다. 교과서는 표에 적은 장만 먼저 읽는다. 논문은 서론과 방법 절을 읽고 이 덱의 그림과 대조한다. 다음 장은 덱의 각 장에 나온 원 논문 전체다. 2109.11978처럼 점이 든 숫자는 arXiv 번호다.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덱의 각 장에 나온 문헌을 주제별로 모았다. 숫자만 있는 항목은 arXiv 번호이고, 학회지나 책은 저자와 연도를 적었다. 처음부터 모두 읽을 필요는 없다. 앞 장의 다섯 가지를 먼저 읽고, 이 덱의 장단점 표에서 궁금해진 방법의 원 논문만 골라 읽기를 권한다. Diehl의 RTI 논문과 acados 논문은 실습 전에 읽어 두면 솔버 옵션이 왜 그런지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www.youtube.com/watch?v=v6MhPl2ICsc"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www.youtube.com/watch?v=kneSZOz8Xus"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hyperlink" Target="https://www.youtube.com/watch?v=NDta6AD5WCA"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jp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6tnhRnJSwW4"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hyperlink" Target="https://www.youtube.com/watch?v=FHvDghUUQtc"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cdXw1MyTUA" TargetMode="Externa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hyperlink" Target="https://www.youtube.com/watch?v=-UTEL6zHNv4" TargetMode="Externa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hyperlink" Target="https://www.youtube.com/watch?v=E3XG979NXHk"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비선형 MPC 구축 기초 · 개념 공부 덱</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최적 제어 문제를 세우고</a:t>
            </a:r>
          </a:p>
          <a:p>
            <a:pPr>
              <a:lnSpc>
                <a:spcPct val="105800"/>
              </a:lnSpc>
            </a:pPr>
            <a:r>
              <a:rPr sz="4600" b="1" i="0">
                <a:solidFill>
                  <a:srgbClr val="F4F1EA"/>
                </a:solidFill>
                <a:latin typeface="Arial"/>
                <a:ea typeface="Malgun Gothic"/>
                <a:cs typeface="Malgun Gothic"/>
              </a:rPr>
              <a:t>제어 주기 안에 푼다</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모델·비용·제약으로 OCP를 세우는 법, SQP·RTI로 실시간에 푸는 법, 학습 잔차·튜브로 모델 오차를 다루는 법 — 그림과 배경지식과 장단점으로</a:t>
            </a:r>
          </a:p>
        </p:txBody>
      </p:sp>
      <p:sp>
        <p:nvSpPr>
          <p:cNvPr id="5" name="Rounded Rectangle 4"/>
          <p:cNvSpPr/>
          <p:nvPr/>
        </p:nvSpPr>
        <p:spPr>
          <a:xfrm>
            <a:off x="812800" y="5765800"/>
            <a:ext cx="574377"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32922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OCP</a:t>
            </a:r>
          </a:p>
        </p:txBody>
      </p:sp>
      <p:sp>
        <p:nvSpPr>
          <p:cNvPr id="7" name="Rounded Rectangle 6"/>
          <p:cNvSpPr/>
          <p:nvPr/>
        </p:nvSpPr>
        <p:spPr>
          <a:xfrm>
            <a:off x="1488777" y="5765800"/>
            <a:ext cx="1463873"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1628477" y="5816600"/>
            <a:ext cx="124540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적분기 · 제약 · soft</a:t>
            </a:r>
          </a:p>
        </p:txBody>
      </p:sp>
      <p:sp>
        <p:nvSpPr>
          <p:cNvPr id="9" name="Rounded Rectangle 8"/>
          <p:cNvSpPr/>
          <p:nvPr/>
        </p:nvSpPr>
        <p:spPr>
          <a:xfrm>
            <a:off x="3054251" y="5765800"/>
            <a:ext cx="1324273"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193951" y="5816600"/>
            <a:ext cx="1101619"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SQP · RTI · 솔버</a:t>
            </a:r>
          </a:p>
        </p:txBody>
      </p:sp>
      <p:sp>
        <p:nvSpPr>
          <p:cNvPr id="11" name="Rounded Rectangle 10"/>
          <p:cNvSpPr/>
          <p:nvPr/>
        </p:nvSpPr>
        <p:spPr>
          <a:xfrm>
            <a:off x="4480123" y="5765800"/>
            <a:ext cx="1413272"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619823" y="5816600"/>
            <a:ext cx="119328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GP 잔차 · 희소 GP</a:t>
            </a:r>
          </a:p>
        </p:txBody>
      </p:sp>
      <p:sp>
        <p:nvSpPr>
          <p:cNvPr id="13" name="Rounded Rectangle 12"/>
          <p:cNvSpPr/>
          <p:nvPr/>
        </p:nvSpPr>
        <p:spPr>
          <a:xfrm>
            <a:off x="5994995" y="5765800"/>
            <a:ext cx="1252637"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6134695" y="5816600"/>
            <a:ext cx="1027834"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튜브 · 확률 제약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문제 세우기, 풀기, 모델 오차 다루기의 세 단계로 간다</a:t>
            </a:r>
          </a:p>
        </p:txBody>
      </p:sp>
      <p:graphicFrame>
        <p:nvGraphicFramePr>
          <p:cNvPr id="4" name="Table 3"/>
          <p:cNvGraphicFramePr>
            <a:graphicFrameLocks noGrp="1"/>
          </p:cNvGraphicFramePr>
          <p:nvPr/>
        </p:nvGraphicFramePr>
        <p:xfrm>
          <a:off x="711200" y="1361678"/>
          <a:ext cx="10769600" cy="2253455"/>
        </p:xfrm>
        <a:graphic>
          <a:graphicData uri="http://schemas.openxmlformats.org/drawingml/2006/table">
            <a:tbl>
              <a:tblPr firstRow="0" bandRow="0">
                <a:tableStyleId>{5C22544A-7EE6-4342-B048-85BDC9FD1C3A}</a:tableStyleId>
              </a:tblPr>
              <a:tblGrid>
                <a:gridCol w="535484"/>
                <a:gridCol w="2767211"/>
                <a:gridCol w="7466905"/>
              </a:tblGrid>
              <a:tr h="329248">
                <a:tc>
                  <a:txBody>
                    <a:bodyPr wrap="square"/>
                    <a:lstStyle/>
                    <a:p>
                      <a:r>
                        <a:rPr sz="14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답하는 질문</a:t>
                      </a:r>
                    </a:p>
                  </a:txBody>
                  <a:tcPr marL="76200" marR="76200" marT="25400" marB="25400">
                    <a:solidFill>
                      <a:srgbClr val="16213A"/>
                    </a:solidFill>
                  </a:tcPr>
                </a:tc>
              </a:tr>
              <a:tr h="321151">
                <a:tc>
                  <a:txBody>
                    <a:bodyPr wrap="square"/>
                    <a:lstStyle/>
                    <a:p>
                      <a:r>
                        <a:rPr sz="145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시작</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어떤 최적화 배경이 필요하고, 언제 NMPC를 쓰나?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1</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OCP 세우기</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모델·적분기·비용·제약을 어떻게 고르나? 매끄럽지 않은 것은?</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2</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실시간으로 풀기</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SQP·RTI는 무엇이고, 어떤 솔버를 쓰나? 국소해는?</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3</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모델 오차와 불확실성</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학습 잔차는 어떻게 넣고, 제약은 얼마나 조이나?</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4</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최근 흐름</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2025–2026 연구는 무엇을 함께 하고 어디서 갈리나?</a:t>
                      </a:r>
                    </a:p>
                  </a:txBody>
                  <a:tcPr marL="76200" marR="76200" marT="25400" marB="25400">
                    <a:solidFill>
                      <a:srgbClr val="F1EDE4"/>
                    </a:solidFill>
                  </a:tcPr>
                </a:tc>
              </a:tr>
              <a:tr h="318452">
                <a:tc>
                  <a:txBody>
                    <a:bodyPr wrap="square"/>
                    <a:lstStyle/>
                    <a:p>
                      <a:r>
                        <a:rPr sz="1450" b="0" i="0">
                          <a:solidFill>
                            <a:srgbClr val="16213A"/>
                          </a:solidFill>
                          <a:latin typeface="Arial"/>
                          <a:ea typeface="Malgun Gothic"/>
                          <a:cs typeface="Malgun Gothic"/>
                        </a:rPr>
                        <a:t>5</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정리</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장단점 표, 흔한 함정, 공부 순서</a:t>
                      </a:r>
                    </a:p>
                  </a:txBody>
                  <a:tcPr marL="76200" marR="76200" marT="25400" marB="25400">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커리큘럼 4/7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제어 덱의 MPC를 직접 세우고 실시간으로 푼다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16528" y="1361678"/>
            <a:ext cx="5958944" cy="2540000"/>
          </a:xfrm>
          <a:prstGeom prst="rect">
            <a:avLst/>
          </a:prstGeom>
        </p:spPr>
      </p:pic>
      <p:sp>
        <p:nvSpPr>
          <p:cNvPr id="6" name="Rounded Rectangle 5"/>
          <p:cNvSpPr/>
          <p:nvPr/>
        </p:nvSpPr>
        <p:spPr>
          <a:xfrm>
            <a:off x="711200" y="4079478"/>
            <a:ext cx="3488234" cy="1272480"/>
          </a:xfrm>
          <a:prstGeom prst="roundRect">
            <a:avLst>
              <a:gd name="adj" fmla="val 5988"/>
            </a:avLst>
          </a:prstGeom>
          <a:solidFill>
            <a:srgbClr val="FFFDF8"/>
          </a:solidFill>
          <a:ln>
            <a:noFill/>
          </a:ln>
        </p:spPr>
        <p:txBody>
          <a:bodyPr rtlCol="0" anchor="ctr"/>
          <a:lstStyle/>
          <a:p>
            <a:pPr algn="ctr"/>
          </a:p>
        </p:txBody>
      </p:sp>
      <p:sp>
        <p:nvSpPr>
          <p:cNvPr id="7" name="Rectangle 6"/>
          <p:cNvSpPr/>
          <p:nvPr/>
        </p:nvSpPr>
        <p:spPr>
          <a:xfrm>
            <a:off x="711200" y="4079478"/>
            <a:ext cx="3488234" cy="6350"/>
          </a:xfrm>
          <a:prstGeom prst="rect">
            <a:avLst/>
          </a:prstGeom>
          <a:solidFill>
            <a:srgbClr val="D9D4C7"/>
          </a:solidFill>
          <a:ln>
            <a:noFill/>
          </a:ln>
        </p:spPr>
        <p:txBody>
          <a:bodyPr rtlCol="0" anchor="ctr"/>
          <a:lstStyle/>
          <a:p>
            <a:pPr algn="ctr"/>
          </a:p>
        </p:txBody>
      </p:sp>
      <p:sp>
        <p:nvSpPr>
          <p:cNvPr id="8" name="Rectangle 7"/>
          <p:cNvSpPr/>
          <p:nvPr/>
        </p:nvSpPr>
        <p:spPr>
          <a:xfrm>
            <a:off x="4193084" y="4079478"/>
            <a:ext cx="6350" cy="1272480"/>
          </a:xfrm>
          <a:prstGeom prst="rect">
            <a:avLst/>
          </a:prstGeom>
          <a:solidFill>
            <a:srgbClr val="D9D4C7"/>
          </a:solidFill>
          <a:ln>
            <a:noFill/>
          </a:ln>
        </p:spPr>
        <p:txBody>
          <a:bodyPr rtlCol="0" anchor="ctr"/>
          <a:lstStyle/>
          <a:p>
            <a:pPr algn="ctr"/>
          </a:p>
        </p:txBody>
      </p:sp>
      <p:sp>
        <p:nvSpPr>
          <p:cNvPr id="9" name="Rectangle 8"/>
          <p:cNvSpPr/>
          <p:nvPr/>
        </p:nvSpPr>
        <p:spPr>
          <a:xfrm>
            <a:off x="711200" y="5345609"/>
            <a:ext cx="3488234"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4079478"/>
            <a:ext cx="50800" cy="1272480"/>
          </a:xfrm>
          <a:prstGeom prst="roundRect">
            <a:avLst>
              <a:gd name="adj" fmla="val 50000"/>
            </a:avLst>
          </a:prstGeom>
          <a:solidFill>
            <a:srgbClr val="15803D"/>
          </a:solidFill>
          <a:ln>
            <a:noFill/>
          </a:ln>
        </p:spPr>
        <p:txBody>
          <a:bodyPr rtlCol="0" anchor="ctr"/>
          <a:lstStyle/>
          <a:p>
            <a:pPr algn="ctr"/>
          </a:p>
        </p:txBody>
      </p:sp>
      <p:sp>
        <p:nvSpPr>
          <p:cNvPr id="11" name="Rounded Rectangle 10"/>
          <p:cNvSpPr/>
          <p:nvPr/>
        </p:nvSpPr>
        <p:spPr>
          <a:xfrm>
            <a:off x="927100" y="4225528"/>
            <a:ext cx="1030784" cy="241300"/>
          </a:xfrm>
          <a:prstGeom prst="roundRect">
            <a:avLst>
              <a:gd name="adj" fmla="val 50000"/>
            </a:avLst>
          </a:prstGeom>
          <a:solidFill>
            <a:srgbClr val="D7EFDD"/>
          </a:solidFill>
          <a:ln>
            <a:noFill/>
          </a:ln>
        </p:spPr>
        <p:txBody>
          <a:bodyPr rtlCol="0" anchor="ctr"/>
          <a:lstStyle/>
          <a:p>
            <a:pPr algn="ctr"/>
          </a:p>
        </p:txBody>
      </p:sp>
      <p:sp>
        <p:nvSpPr>
          <p:cNvPr id="12" name="TextBox 11"/>
          <p:cNvSpPr txBox="1"/>
          <p:nvPr/>
        </p:nvSpPr>
        <p:spPr>
          <a:xfrm>
            <a:off x="1016000" y="42509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앞에서 가져올 것</a:t>
            </a:r>
          </a:p>
        </p:txBody>
      </p:sp>
      <p:sp>
        <p:nvSpPr>
          <p:cNvPr id="13" name="TextBox 12"/>
          <p:cNvSpPr txBox="1"/>
          <p:nvPr/>
        </p:nvSpPr>
        <p:spPr>
          <a:xfrm>
            <a:off x="927100"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3 제어의 2장(LQR, receding horizon)과 4장(잔차·GP). 볼록성·KKT·뉴턴법(0장에서 정리).</a:t>
            </a:r>
          </a:p>
        </p:txBody>
      </p:sp>
      <p:sp>
        <p:nvSpPr>
          <p:cNvPr id="14" name="Rounded Rectangle 13"/>
          <p:cNvSpPr/>
          <p:nvPr/>
        </p:nvSpPr>
        <p:spPr>
          <a:xfrm>
            <a:off x="4351834" y="4079478"/>
            <a:ext cx="3488234" cy="1272480"/>
          </a:xfrm>
          <a:prstGeom prst="roundRect">
            <a:avLst>
              <a:gd name="adj" fmla="val 5988"/>
            </a:avLst>
          </a:prstGeom>
          <a:solidFill>
            <a:srgbClr val="FFFDF8"/>
          </a:solidFill>
          <a:ln>
            <a:noFill/>
          </a:ln>
        </p:spPr>
        <p:txBody>
          <a:bodyPr rtlCol="0" anchor="ctr"/>
          <a:lstStyle/>
          <a:p>
            <a:pPr algn="ctr"/>
          </a:p>
        </p:txBody>
      </p:sp>
      <p:sp>
        <p:nvSpPr>
          <p:cNvPr id="15" name="Rectangle 14"/>
          <p:cNvSpPr/>
          <p:nvPr/>
        </p:nvSpPr>
        <p:spPr>
          <a:xfrm>
            <a:off x="4351834" y="40794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079478"/>
            <a:ext cx="6350" cy="1272480"/>
          </a:xfrm>
          <a:prstGeom prst="rect">
            <a:avLst/>
          </a:prstGeom>
          <a:solidFill>
            <a:srgbClr val="D9D4C7"/>
          </a:solidFill>
          <a:ln>
            <a:noFill/>
          </a:ln>
        </p:spPr>
        <p:txBody>
          <a:bodyPr rtlCol="0" anchor="ctr"/>
          <a:lstStyle/>
          <a:p>
            <a:pPr algn="ctr"/>
          </a:p>
        </p:txBody>
      </p:sp>
      <p:sp>
        <p:nvSpPr>
          <p:cNvPr id="17" name="Rectangle 16"/>
          <p:cNvSpPr/>
          <p:nvPr/>
        </p:nvSpPr>
        <p:spPr>
          <a:xfrm>
            <a:off x="4351834" y="534560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079478"/>
            <a:ext cx="50800" cy="1272480"/>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4225528"/>
            <a:ext cx="917476"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42509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뒤로 넘기는 것</a:t>
            </a:r>
          </a:p>
        </p:txBody>
      </p:sp>
      <p:sp>
        <p:nvSpPr>
          <p:cNvPr id="21" name="TextBox 20"/>
          <p:cNvSpPr txBox="1"/>
          <p:nvPr/>
        </p:nvSpPr>
        <p:spPr>
          <a:xfrm>
            <a:off x="4567734"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제약과 튜브 → 7 다리 로봇의 투영·안전. 모델 기반 계획 → 5 강화학습 4장과 비교.</a:t>
            </a:r>
          </a:p>
        </p:txBody>
      </p:sp>
      <p:sp>
        <p:nvSpPr>
          <p:cNvPr id="22" name="Rounded Rectangle 21"/>
          <p:cNvSpPr/>
          <p:nvPr/>
        </p:nvSpPr>
        <p:spPr>
          <a:xfrm>
            <a:off x="7992467" y="4079478"/>
            <a:ext cx="3488234" cy="1272480"/>
          </a:xfrm>
          <a:prstGeom prst="roundRect">
            <a:avLst>
              <a:gd name="adj" fmla="val 5988"/>
            </a:avLst>
          </a:prstGeom>
          <a:solidFill>
            <a:srgbClr val="FFFDF8"/>
          </a:solidFill>
          <a:ln>
            <a:noFill/>
          </a:ln>
        </p:spPr>
        <p:txBody>
          <a:bodyPr rtlCol="0" anchor="ctr"/>
          <a:lstStyle/>
          <a:p>
            <a:pPr algn="ctr"/>
          </a:p>
        </p:txBody>
      </p:sp>
      <p:sp>
        <p:nvSpPr>
          <p:cNvPr id="23" name="Rectangle 22"/>
          <p:cNvSpPr/>
          <p:nvPr/>
        </p:nvSpPr>
        <p:spPr>
          <a:xfrm>
            <a:off x="7992467" y="40794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4079478"/>
            <a:ext cx="6350" cy="1272480"/>
          </a:xfrm>
          <a:prstGeom prst="rect">
            <a:avLst/>
          </a:prstGeom>
          <a:solidFill>
            <a:srgbClr val="D9D4C7"/>
          </a:solidFill>
          <a:ln>
            <a:noFill/>
          </a:ln>
        </p:spPr>
        <p:txBody>
          <a:bodyPr rtlCol="0" anchor="ctr"/>
          <a:lstStyle/>
          <a:p>
            <a:pPr algn="ctr"/>
          </a:p>
        </p:txBody>
      </p:sp>
      <p:sp>
        <p:nvSpPr>
          <p:cNvPr id="25" name="Rectangle 24"/>
          <p:cNvSpPr/>
          <p:nvPr/>
        </p:nvSpPr>
        <p:spPr>
          <a:xfrm>
            <a:off x="7992467" y="534560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4079478"/>
            <a:ext cx="50800" cy="127248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4225528"/>
            <a:ext cx="1060748"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4250928"/>
            <a:ext cx="9348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함께 보면 좋은 것</a:t>
            </a:r>
          </a:p>
        </p:txBody>
      </p:sp>
      <p:sp>
        <p:nvSpPr>
          <p:cNvPr id="29" name="TextBox 28"/>
          <p:cNvSpPr txBox="1"/>
          <p:nvPr/>
        </p:nvSpPr>
        <p:spPr>
          <a:xfrm>
            <a:off x="8208367" y="4543028"/>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 경로 계획의 궤적 최적화(CHOMP·TEB)는 같은 최적화를 계획 쪽에서 본 것이다. 적분기 → 6 시뮬레이션 1장.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 최적화 배경지식이면 이 덱을 따라올 수 있다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517723"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볼록성</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볼록이면 국소해 = 전역해</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선형 모델 + 이차 비용 + 볼록 제약은 QP라 빠르고 유일하다. 비선형 모델이나 장애물은 비볼록이라 국소해가 여럿이다.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677168"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53974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KKT 조건</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제약 최적해의 필요조건</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 f + ∑ λᵢ ∇ gᵢ = 0, λᵢ ≥ 0, λᵢ gᵢ = 0</a:t>
            </a:r>
            <a:r>
              <a:rPr sz="1150" b="0" i="0">
                <a:solidFill>
                  <a:srgbClr val="16213A"/>
                </a:solidFill>
                <a:latin typeface="Arial"/>
                <a:ea typeface="Malgun Gothic"/>
                <a:cs typeface="Malgun Gothic"/>
              </a:rPr>
              <a:t>. 승수 λ는 "제약을 조금 풀면 비용이 얼마나 주나"다.</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18929"/>
            <a:ext cx="517723"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4329"/>
            <a:ext cx="37552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뉴턴법</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국소 이차 근사를 반복해 푼다</a:t>
            </a:r>
          </a:p>
        </p:txBody>
      </p:sp>
      <p:sp>
        <p:nvSpPr>
          <p:cNvPr id="30" name="TextBox 29"/>
          <p:cNvSpPr txBox="1"/>
          <p:nvPr/>
        </p:nvSpPr>
        <p:spPr>
          <a:xfrm>
            <a:off x="927100" y="3643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 근처에서 매우 빠르게(이차 수렴) 수렴한다. 초기값이 멀면 엉뚱한 곳으로 간다.</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517723"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37552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이산화</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연속 시간 모델을 스텝으로</a:t>
            </a:r>
          </a:p>
        </p:txBody>
      </p:sp>
      <p:sp>
        <p:nvSpPr>
          <p:cNvPr id="39" name="TextBox 38"/>
          <p:cNvSpPr txBox="1"/>
          <p:nvPr/>
        </p:nvSpPr>
        <p:spPr>
          <a:xfrm>
            <a:off x="6388100" y="3643709"/>
            <a:ext cx="5094288"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ẋ = f(x,u)</a:t>
            </a:r>
            <a:r>
              <a:rPr sz="1150" b="0" i="0">
                <a:solidFill>
                  <a:srgbClr val="16213A"/>
                </a:solidFill>
                <a:latin typeface="Arial"/>
                <a:ea typeface="Malgun Gothic"/>
                <a:cs typeface="Malgun Gothic"/>
              </a:rPr>
              <a:t>를 적분기로 </a:t>
            </a:r>
            <a:r>
              <a:rPr sz="1150" b="0" i="1">
                <a:solidFill>
                  <a:srgbClr val="16213A"/>
                </a:solidFill>
                <a:latin typeface="Arial"/>
                <a:ea typeface="Malgun Gothic"/>
                <a:cs typeface="Malgun Gothic"/>
              </a:rPr>
              <a:t>xₖ₊₁ = F(xₖ, uₖ)</a:t>
            </a:r>
            <a:r>
              <a:rPr sz="1150" b="0" i="0">
                <a:solidFill>
                  <a:srgbClr val="16213A"/>
                </a:solidFill>
                <a:latin typeface="Arial"/>
                <a:ea typeface="Malgun Gothic"/>
                <a:cs typeface="Malgun Gothic"/>
              </a:rPr>
              <a:t>로 바꾼다. 적분기 선택이 정확도와 계산을 정한다.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언제 NMPC인가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샘플 기반 MPC는 non-smooth 비용을, NMPC는 제약을 잘 다룬다</a:t>
            </a:r>
          </a:p>
        </p:txBody>
      </p:sp>
      <p:sp>
        <p:nvSpPr>
          <p:cNvPr id="4" name="Rounded Rectangle 3"/>
          <p:cNvSpPr/>
          <p:nvPr/>
        </p:nvSpPr>
        <p:spPr>
          <a:xfrm>
            <a:off x="711200" y="1361678"/>
            <a:ext cx="5257800" cy="1706761"/>
          </a:xfrm>
          <a:prstGeom prst="roundRect">
            <a:avLst>
              <a:gd name="adj" fmla="val 4464"/>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706761"/>
          </a:xfrm>
          <a:prstGeom prst="rect">
            <a:avLst/>
          </a:prstGeom>
          <a:solidFill>
            <a:srgbClr val="D9D4C7"/>
          </a:solidFill>
          <a:ln>
            <a:noFill/>
          </a:ln>
        </p:spPr>
        <p:txBody>
          <a:bodyPr rtlCol="0" anchor="ctr"/>
          <a:lstStyle/>
          <a:p>
            <a:pPr algn="ctr"/>
          </a:p>
        </p:txBody>
      </p:sp>
      <p:sp>
        <p:nvSpPr>
          <p:cNvPr id="7" name="Rectangle 6"/>
          <p:cNvSpPr/>
          <p:nvPr/>
        </p:nvSpPr>
        <p:spPr>
          <a:xfrm>
            <a:off x="711200" y="306208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706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09666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97183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샘플 기반 (MPPI)</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샘플로 절벽 같은 비용을 넘는다</a:t>
            </a:r>
          </a:p>
        </p:txBody>
      </p:sp>
      <p:sp>
        <p:nvSpPr>
          <p:cNvPr id="12" name="TextBox 11"/>
          <p:cNvSpPr txBox="1"/>
          <p:nvPr/>
        </p:nvSpPr>
        <p:spPr>
          <a:xfrm>
            <a:off x="965200" y="21325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격자 장애물·이진 충돌을 그대로</a:t>
            </a:r>
          </a:p>
        </p:txBody>
      </p:sp>
      <p:sp>
        <p:nvSpPr>
          <p:cNvPr id="13" name="TextBox 12"/>
          <p:cNvSpPr txBox="1"/>
          <p:nvPr/>
        </p:nvSpPr>
        <p:spPr>
          <a:xfrm>
            <a:off x="965200" y="241696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Jacobian 불필요, GPU 병렬</a:t>
            </a:r>
          </a:p>
        </p:txBody>
      </p:sp>
      <p:sp>
        <p:nvSpPr>
          <p:cNvPr id="14" name="TextBox 13"/>
          <p:cNvSpPr txBox="1"/>
          <p:nvPr/>
        </p:nvSpPr>
        <p:spPr>
          <a:xfrm>
            <a:off x="965200" y="270142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제약은 페널티·확률로 근사</a:t>
            </a:r>
          </a:p>
        </p:txBody>
      </p:sp>
      <p:sp>
        <p:nvSpPr>
          <p:cNvPr id="15" name="Rounded Rectangle 14"/>
          <p:cNvSpPr/>
          <p:nvPr/>
        </p:nvSpPr>
        <p:spPr>
          <a:xfrm>
            <a:off x="6223000" y="1361678"/>
            <a:ext cx="5257800" cy="1706761"/>
          </a:xfrm>
          <a:prstGeom prst="roundRect">
            <a:avLst>
              <a:gd name="adj" fmla="val 4464"/>
            </a:avLst>
          </a:prstGeom>
          <a:solidFill>
            <a:srgbClr val="FFFDF8"/>
          </a:solidFill>
          <a:ln>
            <a:noFill/>
          </a:ln>
        </p:spPr>
        <p:txBody>
          <a:bodyPr rtlCol="0" anchor="ctr"/>
          <a:lstStyle/>
          <a:p>
            <a:pPr algn="ctr"/>
          </a:p>
        </p:txBody>
      </p:sp>
      <p:sp>
        <p:nvSpPr>
          <p:cNvPr id="16" name="Rectangle 15"/>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1361678"/>
            <a:ext cx="6350" cy="1706761"/>
          </a:xfrm>
          <a:prstGeom prst="rect">
            <a:avLst/>
          </a:prstGeom>
          <a:solidFill>
            <a:srgbClr val="D9D4C7"/>
          </a:solidFill>
          <a:ln>
            <a:noFill/>
          </a:ln>
        </p:spPr>
        <p:txBody>
          <a:bodyPr rtlCol="0" anchor="ctr"/>
          <a:lstStyle/>
          <a:p>
            <a:pPr algn="ctr"/>
          </a:p>
        </p:txBody>
      </p:sp>
      <p:sp>
        <p:nvSpPr>
          <p:cNvPr id="18" name="Rectangle 17"/>
          <p:cNvSpPr/>
          <p:nvPr/>
        </p:nvSpPr>
        <p:spPr>
          <a:xfrm>
            <a:off x="6223000" y="3062089"/>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1361678"/>
            <a:ext cx="50800" cy="170676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438900" y="1507728"/>
            <a:ext cx="1400870"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527800" y="1533128"/>
            <a:ext cx="128516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gradient 기반 (NMPC)</a:t>
            </a:r>
          </a:p>
        </p:txBody>
      </p:sp>
      <p:sp>
        <p:nvSpPr>
          <p:cNvPr id="22" name="TextBox 21"/>
          <p:cNvSpPr txBox="1"/>
          <p:nvPr/>
        </p:nvSpPr>
        <p:spPr>
          <a:xfrm>
            <a:off x="64389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제약을 조일 자리가 있다</a:t>
            </a:r>
          </a:p>
        </p:txBody>
      </p:sp>
      <p:sp>
        <p:nvSpPr>
          <p:cNvPr id="23" name="TextBox 22"/>
          <p:cNvSpPr txBox="1"/>
          <p:nvPr/>
        </p:nvSpPr>
        <p:spPr>
          <a:xfrm>
            <a:off x="6477000" y="21325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hard 제약과 slack을 명시적으로</a:t>
            </a:r>
          </a:p>
        </p:txBody>
      </p:sp>
      <p:sp>
        <p:nvSpPr>
          <p:cNvPr id="24" name="TextBox 23"/>
          <p:cNvSpPr txBox="1"/>
          <p:nvPr/>
        </p:nvSpPr>
        <p:spPr>
          <a:xfrm>
            <a:off x="6477000" y="241696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튜브·확률 제약으로 제약을 조인다</a:t>
            </a:r>
          </a:p>
        </p:txBody>
      </p:sp>
      <p:sp>
        <p:nvSpPr>
          <p:cNvPr id="25" name="TextBox 24"/>
          <p:cNvSpPr txBox="1"/>
          <p:nvPr/>
        </p:nvSpPr>
        <p:spPr>
          <a:xfrm>
            <a:off x="6477000" y="270142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학습 잔차를 모델에 넣는다</a:t>
            </a:r>
          </a:p>
        </p:txBody>
      </p:sp>
      <p:graphicFrame>
        <p:nvGraphicFramePr>
          <p:cNvPr id="26" name="Table 25"/>
          <p:cNvGraphicFramePr>
            <a:graphicFrameLocks noGrp="1"/>
          </p:cNvGraphicFramePr>
          <p:nvPr/>
        </p:nvGraphicFramePr>
        <p:xfrm>
          <a:off x="711200" y="3246239"/>
          <a:ext cx="10769600" cy="1428987"/>
        </p:xfrm>
        <a:graphic>
          <a:graphicData uri="http://schemas.openxmlformats.org/drawingml/2006/table">
            <a:tbl>
              <a:tblPr firstRow="0" bandRow="0">
                <a:tableStyleId>{5C22544A-7EE6-4342-B048-85BDC9FD1C3A}</a:tableStyleId>
              </a:tblPr>
              <a:tblGrid>
                <a:gridCol w="6092527"/>
                <a:gridCol w="4677073"/>
              </a:tblGrid>
              <a:tr h="292814">
                <a:tc>
                  <a:txBody>
                    <a:bodyPr wrap="square"/>
                    <a:lstStyle/>
                    <a:p>
                      <a:r>
                        <a:rPr sz="1200" b="1" i="0">
                          <a:solidFill>
                            <a:srgbClr val="F4F1EA"/>
                          </a:solidFill>
                          <a:latin typeface="Arial"/>
                          <a:ea typeface="Malgun Gothic"/>
                          <a:cs typeface="Malgun Gothic"/>
                        </a:rPr>
                        <a:t>상황</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더 맞는 쪽</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비용이 격자·충돌 판정처럼 계단이다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MPPI</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속도·가속·자세 한계를 반드시 지켜야 한다</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NMPC</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모델 불확실성으로 제약을 조이고 싶다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NMPC(튜브), MPPI(확률 제약)</a:t>
                      </a:r>
                    </a:p>
                  </a:txBody>
                  <a:tcPr marL="76200" marR="76200" marT="25400" marB="25400">
                    <a:solidFill>
                      <a:srgbClr val="F1EDE4"/>
                    </a:solidFill>
                  </a:tcPr>
                </a:tc>
              </a:tr>
              <a:tr h="282019">
                <a:tc>
                  <a:txBody>
                    <a:bodyPr wrap="square"/>
                    <a:lstStyle/>
                    <a:p>
                      <a:r>
                        <a:rPr sz="1200" b="0" i="0">
                          <a:solidFill>
                            <a:srgbClr val="16213A"/>
                          </a:solidFill>
                          <a:latin typeface="Arial"/>
                          <a:ea typeface="Malgun Gothic"/>
                          <a:cs typeface="Malgun Gothic"/>
                        </a:rPr>
                        <a:t>CPU만 있고 상태·입력 차원이 작다</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NMPC</a:t>
                      </a:r>
                    </a:p>
                  </a:txBody>
                  <a:tcPr marL="76200" marR="76200" marT="25400" marB="25400">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OCP의 구성</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최적 제어 문제는 여섯 부품으로 이루어진다</a:t>
            </a:r>
          </a:p>
        </p:txBody>
      </p:sp>
      <p:sp>
        <p:nvSpPr>
          <p:cNvPr id="4" name="Rounded Rectangle 3"/>
          <p:cNvSpPr/>
          <p:nvPr/>
        </p:nvSpPr>
        <p:spPr>
          <a:xfrm>
            <a:off x="711200" y="1361678"/>
            <a:ext cx="10769600" cy="803870"/>
          </a:xfrm>
          <a:prstGeom prst="roundRect">
            <a:avLst>
              <a:gd name="adj" fmla="val 6319"/>
            </a:avLst>
          </a:prstGeom>
          <a:solidFill>
            <a:srgbClr val="FFFDF8"/>
          </a:solidFill>
          <a:ln>
            <a:noFill/>
          </a:ln>
        </p:spPr>
        <p:txBody>
          <a:bodyPr rtlCol="0" anchor="ctr"/>
          <a:lstStyle/>
          <a:p>
            <a:pPr algn="ctr"/>
          </a:p>
        </p:txBody>
      </p:sp>
      <p:sp>
        <p:nvSpPr>
          <p:cNvPr id="5" name="Rounded Rectangle 4"/>
          <p:cNvSpPr/>
          <p:nvPr/>
        </p:nvSpPr>
        <p:spPr>
          <a:xfrm>
            <a:off x="711200" y="1361678"/>
            <a:ext cx="38100" cy="80387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632420"/>
          </a:xfrm>
          <a:prstGeom prst="rect">
            <a:avLst/>
          </a:prstGeom>
        </p:spPr>
      </p:pic>
      <p:sp>
        <p:nvSpPr>
          <p:cNvPr id="7" name="Rounded Rectangle 6"/>
          <p:cNvSpPr/>
          <p:nvPr/>
        </p:nvSpPr>
        <p:spPr>
          <a:xfrm>
            <a:off x="711200" y="234334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234334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234334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338851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34334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489398"/>
            <a:ext cx="856059"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514798"/>
            <a:ext cx="72400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1 · 상태·입력</a:t>
            </a:r>
          </a:p>
        </p:txBody>
      </p:sp>
      <p:sp>
        <p:nvSpPr>
          <p:cNvPr id="14" name="TextBox 13"/>
          <p:cNvSpPr txBox="1"/>
          <p:nvPr/>
        </p:nvSpPr>
        <p:spPr>
          <a:xfrm>
            <a:off x="927100" y="280689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무엇을 예측하고 무엇을 고르나. 입력을 변화율로 두면 가속 한계가 box 제약이 된다.</a:t>
            </a:r>
          </a:p>
        </p:txBody>
      </p:sp>
      <p:sp>
        <p:nvSpPr>
          <p:cNvPr id="15" name="Rounded Rectangle 14"/>
          <p:cNvSpPr/>
          <p:nvPr/>
        </p:nvSpPr>
        <p:spPr>
          <a:xfrm>
            <a:off x="4351834" y="234334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234334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234334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338851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2343348"/>
            <a:ext cx="50800" cy="105152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2489398"/>
            <a:ext cx="969268"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2514798"/>
            <a:ext cx="84061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모델·적분기</a:t>
            </a:r>
          </a:p>
        </p:txBody>
      </p:sp>
      <p:sp>
        <p:nvSpPr>
          <p:cNvPr id="22" name="TextBox 21"/>
          <p:cNvSpPr txBox="1"/>
          <p:nvPr/>
        </p:nvSpPr>
        <p:spPr>
          <a:xfrm>
            <a:off x="4567734" y="2806898"/>
            <a:ext cx="3219310" cy="3270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F</a:t>
            </a:r>
            <a:r>
              <a:rPr sz="1150" b="0" i="0">
                <a:solidFill>
                  <a:srgbClr val="16213A"/>
                </a:solidFill>
                <a:latin typeface="Arial"/>
                <a:ea typeface="Malgun Gothic"/>
                <a:cs typeface="Malgun Gothic"/>
              </a:rPr>
              <a:t>: 연속 모델 + 적분기(Euler, RK4).</a:t>
            </a:r>
          </a:p>
        </p:txBody>
      </p:sp>
      <p:sp>
        <p:nvSpPr>
          <p:cNvPr id="23" name="Rounded Rectangle 22"/>
          <p:cNvSpPr/>
          <p:nvPr/>
        </p:nvSpPr>
        <p:spPr>
          <a:xfrm>
            <a:off x="7992467" y="234334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234334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234334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3388519"/>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2343348"/>
            <a:ext cx="50800" cy="1051520"/>
          </a:xfrm>
          <a:prstGeom prst="roundRect">
            <a:avLst>
              <a:gd name="adj" fmla="val 50000"/>
            </a:avLst>
          </a:prstGeom>
          <a:solidFill>
            <a:srgbClr val="1D4ED8"/>
          </a:solidFill>
          <a:ln>
            <a:noFill/>
          </a:ln>
        </p:spPr>
        <p:txBody>
          <a:bodyPr rtlCol="0" anchor="ctr"/>
          <a:lstStyle/>
          <a:p>
            <a:pPr algn="ctr"/>
          </a:p>
        </p:txBody>
      </p:sp>
      <p:sp>
        <p:nvSpPr>
          <p:cNvPr id="28" name="Rounded Rectangle 27"/>
          <p:cNvSpPr/>
          <p:nvPr/>
        </p:nvSpPr>
        <p:spPr>
          <a:xfrm>
            <a:off x="8208367" y="2489398"/>
            <a:ext cx="1069181" cy="241300"/>
          </a:xfrm>
          <a:prstGeom prst="roundRect">
            <a:avLst>
              <a:gd name="adj" fmla="val 50000"/>
            </a:avLst>
          </a:prstGeom>
          <a:solidFill>
            <a:srgbClr val="DBE5FB"/>
          </a:solidFill>
          <a:ln>
            <a:noFill/>
          </a:ln>
        </p:spPr>
        <p:txBody>
          <a:bodyPr rtlCol="0" anchor="ctr"/>
          <a:lstStyle/>
          <a:p>
            <a:pPr algn="ctr"/>
          </a:p>
        </p:txBody>
      </p:sp>
      <p:sp>
        <p:nvSpPr>
          <p:cNvPr id="29" name="TextBox 28"/>
          <p:cNvSpPr txBox="1"/>
          <p:nvPr/>
        </p:nvSpPr>
        <p:spPr>
          <a:xfrm>
            <a:off x="8297267" y="2514798"/>
            <a:ext cx="94352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3 · horizon·간격</a:t>
            </a:r>
          </a:p>
        </p:txBody>
      </p:sp>
      <p:sp>
        <p:nvSpPr>
          <p:cNvPr id="30" name="TextBox 29"/>
          <p:cNvSpPr txBox="1"/>
          <p:nvPr/>
        </p:nvSpPr>
        <p:spPr>
          <a:xfrm>
            <a:off x="8208367" y="280689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N × Δt. 길면 멀리 보지만 무겁다.</a:t>
            </a:r>
          </a:p>
        </p:txBody>
      </p:sp>
      <p:sp>
        <p:nvSpPr>
          <p:cNvPr id="31" name="Rounded Rectangle 30"/>
          <p:cNvSpPr/>
          <p:nvPr/>
        </p:nvSpPr>
        <p:spPr>
          <a:xfrm>
            <a:off x="711200" y="3547269"/>
            <a:ext cx="3488234" cy="830560"/>
          </a:xfrm>
          <a:prstGeom prst="roundRect">
            <a:avLst>
              <a:gd name="adj" fmla="val 9174"/>
            </a:avLst>
          </a:prstGeom>
          <a:solidFill>
            <a:srgbClr val="FFFDF8"/>
          </a:solidFill>
          <a:ln>
            <a:noFill/>
          </a:ln>
        </p:spPr>
        <p:txBody>
          <a:bodyPr rtlCol="0" anchor="ctr"/>
          <a:lstStyle/>
          <a:p>
            <a:pPr algn="ctr"/>
          </a:p>
        </p:txBody>
      </p:sp>
      <p:sp>
        <p:nvSpPr>
          <p:cNvPr id="32" name="Rectangle 31"/>
          <p:cNvSpPr/>
          <p:nvPr/>
        </p:nvSpPr>
        <p:spPr>
          <a:xfrm>
            <a:off x="711200" y="3547269"/>
            <a:ext cx="3488234" cy="6350"/>
          </a:xfrm>
          <a:prstGeom prst="rect">
            <a:avLst/>
          </a:prstGeom>
          <a:solidFill>
            <a:srgbClr val="D9D4C7"/>
          </a:solidFill>
          <a:ln>
            <a:noFill/>
          </a:ln>
        </p:spPr>
        <p:txBody>
          <a:bodyPr rtlCol="0" anchor="ctr"/>
          <a:lstStyle/>
          <a:p>
            <a:pPr algn="ctr"/>
          </a:p>
        </p:txBody>
      </p:sp>
      <p:sp>
        <p:nvSpPr>
          <p:cNvPr id="33" name="Rectangle 32"/>
          <p:cNvSpPr/>
          <p:nvPr/>
        </p:nvSpPr>
        <p:spPr>
          <a:xfrm>
            <a:off x="4193084" y="3547269"/>
            <a:ext cx="6350" cy="830560"/>
          </a:xfrm>
          <a:prstGeom prst="rect">
            <a:avLst/>
          </a:prstGeom>
          <a:solidFill>
            <a:srgbClr val="D9D4C7"/>
          </a:solidFill>
          <a:ln>
            <a:noFill/>
          </a:ln>
        </p:spPr>
        <p:txBody>
          <a:bodyPr rtlCol="0" anchor="ctr"/>
          <a:lstStyle/>
          <a:p>
            <a:pPr algn="ctr"/>
          </a:p>
        </p:txBody>
      </p:sp>
      <p:sp>
        <p:nvSpPr>
          <p:cNvPr id="34" name="Rectangle 33"/>
          <p:cNvSpPr/>
          <p:nvPr/>
        </p:nvSpPr>
        <p:spPr>
          <a:xfrm>
            <a:off x="711200" y="4371479"/>
            <a:ext cx="3488234"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3547269"/>
            <a:ext cx="50800" cy="830560"/>
          </a:xfrm>
          <a:prstGeom prst="roundRect">
            <a:avLst>
              <a:gd name="adj" fmla="val 50000"/>
            </a:avLst>
          </a:prstGeom>
          <a:solidFill>
            <a:srgbClr val="C2410C"/>
          </a:solidFill>
          <a:ln>
            <a:noFill/>
          </a:ln>
        </p:spPr>
        <p:txBody>
          <a:bodyPr rtlCol="0" anchor="ctr"/>
          <a:lstStyle/>
          <a:p>
            <a:pPr algn="ctr"/>
          </a:p>
        </p:txBody>
      </p:sp>
      <p:sp>
        <p:nvSpPr>
          <p:cNvPr id="36" name="Rounded Rectangle 35"/>
          <p:cNvSpPr/>
          <p:nvPr/>
        </p:nvSpPr>
        <p:spPr>
          <a:xfrm>
            <a:off x="927100" y="3693319"/>
            <a:ext cx="841573" cy="241300"/>
          </a:xfrm>
          <a:prstGeom prst="roundRect">
            <a:avLst>
              <a:gd name="adj" fmla="val 50000"/>
            </a:avLst>
          </a:prstGeom>
          <a:solidFill>
            <a:srgbClr val="FDE7C8"/>
          </a:solidFill>
          <a:ln>
            <a:noFill/>
          </a:ln>
        </p:spPr>
        <p:txBody>
          <a:bodyPr rtlCol="0" anchor="ctr"/>
          <a:lstStyle/>
          <a:p>
            <a:pPr algn="ctr"/>
          </a:p>
        </p:txBody>
      </p:sp>
      <p:sp>
        <p:nvSpPr>
          <p:cNvPr id="37" name="TextBox 36"/>
          <p:cNvSpPr txBox="1"/>
          <p:nvPr/>
        </p:nvSpPr>
        <p:spPr>
          <a:xfrm>
            <a:off x="1016000" y="3718719"/>
            <a:ext cx="70908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4 · 단계 비용</a:t>
            </a:r>
          </a:p>
        </p:txBody>
      </p:sp>
      <p:sp>
        <p:nvSpPr>
          <p:cNvPr id="38" name="TextBox 37"/>
          <p:cNvSpPr txBox="1"/>
          <p:nvPr/>
        </p:nvSpPr>
        <p:spPr>
          <a:xfrm>
            <a:off x="927100" y="401081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추종 오차, 입력 크기, 매끄러움.</a:t>
            </a:r>
          </a:p>
        </p:txBody>
      </p:sp>
      <p:sp>
        <p:nvSpPr>
          <p:cNvPr id="39" name="Rounded Rectangle 38"/>
          <p:cNvSpPr/>
          <p:nvPr/>
        </p:nvSpPr>
        <p:spPr>
          <a:xfrm>
            <a:off x="4351834" y="3547269"/>
            <a:ext cx="3488234" cy="830560"/>
          </a:xfrm>
          <a:prstGeom prst="roundRect">
            <a:avLst>
              <a:gd name="adj" fmla="val 9174"/>
            </a:avLst>
          </a:prstGeom>
          <a:solidFill>
            <a:srgbClr val="FFFDF8"/>
          </a:solidFill>
          <a:ln>
            <a:noFill/>
          </a:ln>
        </p:spPr>
        <p:txBody>
          <a:bodyPr rtlCol="0" anchor="ctr"/>
          <a:lstStyle/>
          <a:p>
            <a:pPr algn="ctr"/>
          </a:p>
        </p:txBody>
      </p:sp>
      <p:sp>
        <p:nvSpPr>
          <p:cNvPr id="40" name="Rectangle 39"/>
          <p:cNvSpPr/>
          <p:nvPr/>
        </p:nvSpPr>
        <p:spPr>
          <a:xfrm>
            <a:off x="4351834" y="3547269"/>
            <a:ext cx="3488234" cy="6350"/>
          </a:xfrm>
          <a:prstGeom prst="rect">
            <a:avLst/>
          </a:prstGeom>
          <a:solidFill>
            <a:srgbClr val="D9D4C7"/>
          </a:solidFill>
          <a:ln>
            <a:noFill/>
          </a:ln>
        </p:spPr>
        <p:txBody>
          <a:bodyPr rtlCol="0" anchor="ctr"/>
          <a:lstStyle/>
          <a:p>
            <a:pPr algn="ctr"/>
          </a:p>
        </p:txBody>
      </p:sp>
      <p:sp>
        <p:nvSpPr>
          <p:cNvPr id="41" name="Rectangle 40"/>
          <p:cNvSpPr/>
          <p:nvPr/>
        </p:nvSpPr>
        <p:spPr>
          <a:xfrm>
            <a:off x="7833717" y="3547269"/>
            <a:ext cx="6350" cy="830560"/>
          </a:xfrm>
          <a:prstGeom prst="rect">
            <a:avLst/>
          </a:prstGeom>
          <a:solidFill>
            <a:srgbClr val="D9D4C7"/>
          </a:solidFill>
          <a:ln>
            <a:noFill/>
          </a:ln>
        </p:spPr>
        <p:txBody>
          <a:bodyPr rtlCol="0" anchor="ctr"/>
          <a:lstStyle/>
          <a:p>
            <a:pPr algn="ctr"/>
          </a:p>
        </p:txBody>
      </p:sp>
      <p:sp>
        <p:nvSpPr>
          <p:cNvPr id="42" name="Rectangle 41"/>
          <p:cNvSpPr/>
          <p:nvPr/>
        </p:nvSpPr>
        <p:spPr>
          <a:xfrm>
            <a:off x="4351834" y="4371479"/>
            <a:ext cx="3488234" cy="6350"/>
          </a:xfrm>
          <a:prstGeom prst="rect">
            <a:avLst/>
          </a:prstGeom>
          <a:solidFill>
            <a:srgbClr val="D9D4C7"/>
          </a:solidFill>
          <a:ln>
            <a:noFill/>
          </a:ln>
        </p:spPr>
        <p:txBody>
          <a:bodyPr rtlCol="0" anchor="ctr"/>
          <a:lstStyle/>
          <a:p>
            <a:pPr algn="ctr"/>
          </a:p>
        </p:txBody>
      </p:sp>
      <p:sp>
        <p:nvSpPr>
          <p:cNvPr id="43" name="Rounded Rectangle 42"/>
          <p:cNvSpPr/>
          <p:nvPr/>
        </p:nvSpPr>
        <p:spPr>
          <a:xfrm>
            <a:off x="4351834" y="3547269"/>
            <a:ext cx="50800" cy="830560"/>
          </a:xfrm>
          <a:prstGeom prst="roundRect">
            <a:avLst>
              <a:gd name="adj" fmla="val 50000"/>
            </a:avLst>
          </a:prstGeom>
          <a:solidFill>
            <a:srgbClr val="C2410C"/>
          </a:solidFill>
          <a:ln>
            <a:noFill/>
          </a:ln>
        </p:spPr>
        <p:txBody>
          <a:bodyPr rtlCol="0" anchor="ctr"/>
          <a:lstStyle/>
          <a:p>
            <a:pPr algn="ctr"/>
          </a:p>
        </p:txBody>
      </p:sp>
      <p:sp>
        <p:nvSpPr>
          <p:cNvPr id="44" name="Rounded Rectangle 43"/>
          <p:cNvSpPr/>
          <p:nvPr/>
        </p:nvSpPr>
        <p:spPr>
          <a:xfrm>
            <a:off x="4567734" y="3693319"/>
            <a:ext cx="584994" cy="241300"/>
          </a:xfrm>
          <a:prstGeom prst="roundRect">
            <a:avLst>
              <a:gd name="adj" fmla="val 50000"/>
            </a:avLst>
          </a:prstGeom>
          <a:solidFill>
            <a:srgbClr val="FDE7C8"/>
          </a:solidFill>
          <a:ln>
            <a:noFill/>
          </a:ln>
        </p:spPr>
        <p:txBody>
          <a:bodyPr rtlCol="0" anchor="ctr"/>
          <a:lstStyle/>
          <a:p>
            <a:pPr algn="ctr"/>
          </a:p>
        </p:txBody>
      </p:sp>
      <p:sp>
        <p:nvSpPr>
          <p:cNvPr id="45" name="TextBox 44"/>
          <p:cNvSpPr txBox="1"/>
          <p:nvPr/>
        </p:nvSpPr>
        <p:spPr>
          <a:xfrm>
            <a:off x="4656634" y="3718719"/>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5 · 제약</a:t>
            </a:r>
          </a:p>
        </p:txBody>
      </p:sp>
      <p:sp>
        <p:nvSpPr>
          <p:cNvPr id="46" name="TextBox 45"/>
          <p:cNvSpPr txBox="1"/>
          <p:nvPr/>
        </p:nvSpPr>
        <p:spPr>
          <a:xfrm>
            <a:off x="4567734" y="401081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입력·상태 box, 장애물, 자세.</a:t>
            </a:r>
          </a:p>
        </p:txBody>
      </p:sp>
      <p:sp>
        <p:nvSpPr>
          <p:cNvPr id="47" name="Rounded Rectangle 46"/>
          <p:cNvSpPr/>
          <p:nvPr/>
        </p:nvSpPr>
        <p:spPr>
          <a:xfrm>
            <a:off x="7992467" y="3547269"/>
            <a:ext cx="3488234" cy="830560"/>
          </a:xfrm>
          <a:prstGeom prst="roundRect">
            <a:avLst>
              <a:gd name="adj" fmla="val 9174"/>
            </a:avLst>
          </a:prstGeom>
          <a:solidFill>
            <a:srgbClr val="FFFDF8"/>
          </a:solidFill>
          <a:ln>
            <a:noFill/>
          </a:ln>
        </p:spPr>
        <p:txBody>
          <a:bodyPr rtlCol="0" anchor="ctr"/>
          <a:lstStyle/>
          <a:p>
            <a:pPr algn="ctr"/>
          </a:p>
        </p:txBody>
      </p:sp>
      <p:sp>
        <p:nvSpPr>
          <p:cNvPr id="48" name="Rectangle 47"/>
          <p:cNvSpPr/>
          <p:nvPr/>
        </p:nvSpPr>
        <p:spPr>
          <a:xfrm>
            <a:off x="7992467" y="3547269"/>
            <a:ext cx="3488234" cy="6350"/>
          </a:xfrm>
          <a:prstGeom prst="rect">
            <a:avLst/>
          </a:prstGeom>
          <a:solidFill>
            <a:srgbClr val="D9D4C7"/>
          </a:solidFill>
          <a:ln>
            <a:noFill/>
          </a:ln>
        </p:spPr>
        <p:txBody>
          <a:bodyPr rtlCol="0" anchor="ctr"/>
          <a:lstStyle/>
          <a:p>
            <a:pPr algn="ctr"/>
          </a:p>
        </p:txBody>
      </p:sp>
      <p:sp>
        <p:nvSpPr>
          <p:cNvPr id="49" name="Rectangle 48"/>
          <p:cNvSpPr/>
          <p:nvPr/>
        </p:nvSpPr>
        <p:spPr>
          <a:xfrm>
            <a:off x="11474351" y="3547269"/>
            <a:ext cx="6350" cy="830560"/>
          </a:xfrm>
          <a:prstGeom prst="rect">
            <a:avLst/>
          </a:prstGeom>
          <a:solidFill>
            <a:srgbClr val="D9D4C7"/>
          </a:solidFill>
          <a:ln>
            <a:noFill/>
          </a:ln>
        </p:spPr>
        <p:txBody>
          <a:bodyPr rtlCol="0" anchor="ctr"/>
          <a:lstStyle/>
          <a:p>
            <a:pPr algn="ctr"/>
          </a:p>
        </p:txBody>
      </p:sp>
      <p:sp>
        <p:nvSpPr>
          <p:cNvPr id="50" name="Rectangle 49"/>
          <p:cNvSpPr/>
          <p:nvPr/>
        </p:nvSpPr>
        <p:spPr>
          <a:xfrm>
            <a:off x="7992467" y="4371479"/>
            <a:ext cx="3488234" cy="6350"/>
          </a:xfrm>
          <a:prstGeom prst="rect">
            <a:avLst/>
          </a:prstGeom>
          <a:solidFill>
            <a:srgbClr val="D9D4C7"/>
          </a:solidFill>
          <a:ln>
            <a:noFill/>
          </a:ln>
        </p:spPr>
        <p:txBody>
          <a:bodyPr rtlCol="0" anchor="ctr"/>
          <a:lstStyle/>
          <a:p>
            <a:pPr algn="ctr"/>
          </a:p>
        </p:txBody>
      </p:sp>
      <p:sp>
        <p:nvSpPr>
          <p:cNvPr id="51" name="Rounded Rectangle 50"/>
          <p:cNvSpPr/>
          <p:nvPr/>
        </p:nvSpPr>
        <p:spPr>
          <a:xfrm>
            <a:off x="7992467" y="3547269"/>
            <a:ext cx="50800" cy="830560"/>
          </a:xfrm>
          <a:prstGeom prst="roundRect">
            <a:avLst>
              <a:gd name="adj" fmla="val 50000"/>
            </a:avLst>
          </a:prstGeom>
          <a:solidFill>
            <a:srgbClr val="C2410C"/>
          </a:solidFill>
          <a:ln>
            <a:noFill/>
          </a:ln>
        </p:spPr>
        <p:txBody>
          <a:bodyPr rtlCol="0" anchor="ctr"/>
          <a:lstStyle/>
          <a:p>
            <a:pPr algn="ctr"/>
          </a:p>
        </p:txBody>
      </p:sp>
      <p:sp>
        <p:nvSpPr>
          <p:cNvPr id="52" name="Rounded Rectangle 51"/>
          <p:cNvSpPr/>
          <p:nvPr/>
        </p:nvSpPr>
        <p:spPr>
          <a:xfrm>
            <a:off x="8208367" y="3693319"/>
            <a:ext cx="584994" cy="241300"/>
          </a:xfrm>
          <a:prstGeom prst="roundRect">
            <a:avLst>
              <a:gd name="adj" fmla="val 50000"/>
            </a:avLst>
          </a:prstGeom>
          <a:solidFill>
            <a:srgbClr val="FDE7C8"/>
          </a:solidFill>
          <a:ln>
            <a:noFill/>
          </a:ln>
        </p:spPr>
        <p:txBody>
          <a:bodyPr rtlCol="0" anchor="ctr"/>
          <a:lstStyle/>
          <a:p>
            <a:pPr algn="ctr"/>
          </a:p>
        </p:txBody>
      </p:sp>
      <p:sp>
        <p:nvSpPr>
          <p:cNvPr id="53" name="TextBox 52"/>
          <p:cNvSpPr txBox="1"/>
          <p:nvPr/>
        </p:nvSpPr>
        <p:spPr>
          <a:xfrm>
            <a:off x="8297267" y="3718719"/>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6 · 종단</a:t>
            </a:r>
          </a:p>
        </p:txBody>
      </p:sp>
      <p:sp>
        <p:nvSpPr>
          <p:cNvPr id="54" name="TextBox 53"/>
          <p:cNvSpPr txBox="1"/>
          <p:nvPr/>
        </p:nvSpPr>
        <p:spPr>
          <a:xfrm>
            <a:off x="8208367" y="4010819"/>
            <a:ext cx="3219310" cy="3270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V_f</a:t>
            </a:r>
            <a:r>
              <a:rPr sz="1150" b="0" i="0">
                <a:solidFill>
                  <a:srgbClr val="16213A"/>
                </a:solidFill>
                <a:latin typeface="Arial"/>
                <a:ea typeface="Malgun Gothic"/>
                <a:cs typeface="Malgun Gothic"/>
              </a:rPr>
              <a:t>, </a:t>
            </a:r>
            <a:r>
              <a:rPr sz="1150" b="0" i="1">
                <a:solidFill>
                  <a:srgbClr val="16213A"/>
                </a:solidFill>
                <a:latin typeface="Arial"/>
                <a:ea typeface="Malgun Gothic"/>
                <a:cs typeface="Malgun Gothic"/>
              </a:rPr>
              <a:t>𝒳_f</a:t>
            </a:r>
            <a:r>
              <a:rPr sz="1150" b="0" i="0">
                <a:solidFill>
                  <a:srgbClr val="16213A"/>
                </a:solidFill>
                <a:latin typeface="Arial"/>
                <a:ea typeface="Malgun Gothic"/>
                <a:cs typeface="Malgun Gothic"/>
              </a:rPr>
              <a:t>: horizon 너머를 대신한다.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OCP 세우기</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풀 수 있는 꼴로 세우는 것이</a:t>
            </a:r>
          </a:p>
          <a:p>
            <a:pPr>
              <a:lnSpc>
                <a:spcPct val="112240"/>
              </a:lnSpc>
            </a:pPr>
            <a:r>
              <a:rPr sz="3850" b="1" i="0">
                <a:solidFill>
                  <a:srgbClr val="F4F1EA"/>
                </a:solidFill>
                <a:latin typeface="Arial"/>
                <a:ea typeface="Malgun Gothic"/>
                <a:cs typeface="Malgun Gothic"/>
              </a:rPr>
              <a:t>푸는 것보다 먼저다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매끄러운 것은 비용으로, 끊기는 것은 제약으로, 비볼록한 것은 노드마다 선형으로.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모델과 상태 선택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속도를 상태에 넣으면 가속 한계를 단순한 box 제약으로 건다</a:t>
            </a:r>
          </a:p>
        </p:txBody>
      </p:sp>
      <p:sp>
        <p:nvSpPr>
          <p:cNvPr id="4" name="Rounded Rectangle 3"/>
          <p:cNvSpPr/>
          <p:nvPr/>
        </p:nvSpPr>
        <p:spPr>
          <a:xfrm>
            <a:off x="711200" y="1361678"/>
            <a:ext cx="5429250" cy="1396206"/>
          </a:xfrm>
          <a:prstGeom prst="roundRect">
            <a:avLst>
              <a:gd name="adj" fmla="val 3638"/>
            </a:avLst>
          </a:prstGeom>
          <a:solidFill>
            <a:srgbClr val="FFFDF8"/>
          </a:solidFill>
          <a:ln>
            <a:noFill/>
          </a:ln>
        </p:spPr>
        <p:txBody>
          <a:bodyPr rtlCol="0" anchor="ctr"/>
          <a:lstStyle/>
          <a:p>
            <a:pPr algn="ctr"/>
          </a:p>
        </p:txBody>
      </p:sp>
      <p:sp>
        <p:nvSpPr>
          <p:cNvPr id="5" name="Rounded Rectangle 4"/>
          <p:cNvSpPr/>
          <p:nvPr/>
        </p:nvSpPr>
        <p:spPr>
          <a:xfrm>
            <a:off x="711200" y="1361678"/>
            <a:ext cx="38100" cy="1396206"/>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5092700" cy="1224756"/>
          </a:xfrm>
          <a:prstGeom prst="rect">
            <a:avLst/>
          </a:prstGeom>
        </p:spPr>
      </p:pic>
      <p:graphicFrame>
        <p:nvGraphicFramePr>
          <p:cNvPr id="7" name="Table 6"/>
          <p:cNvGraphicFramePr>
            <a:graphicFrameLocks noGrp="1"/>
          </p:cNvGraphicFramePr>
          <p:nvPr/>
        </p:nvGraphicFramePr>
        <p:xfrm>
          <a:off x="6394450" y="1361678"/>
          <a:ext cx="5086350" cy="1405964"/>
        </p:xfrm>
        <a:graphic>
          <a:graphicData uri="http://schemas.openxmlformats.org/drawingml/2006/table">
            <a:tbl>
              <a:tblPr firstRow="0" bandRow="0">
                <a:tableStyleId>{5C22544A-7EE6-4342-B048-85BDC9FD1C3A}</a:tableStyleId>
              </a:tblPr>
              <a:tblGrid>
                <a:gridCol w="721221"/>
                <a:gridCol w="4365129"/>
              </a:tblGrid>
              <a:tr h="285477">
                <a:tc>
                  <a:txBody>
                    <a:bodyPr wrap="square"/>
                    <a:lstStyle/>
                    <a:p>
                      <a:r>
                        <a:rPr sz="1150" b="1" i="0">
                          <a:solidFill>
                            <a:srgbClr val="F4F1EA"/>
                          </a:solidFill>
                          <a:latin typeface="Arial"/>
                          <a:ea typeface="Malgun Gothic"/>
                          <a:cs typeface="Malgun Gothic"/>
                        </a:rPr>
                        <a:t>항목</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예(전방향 이동 로봇)</a:t>
                      </a:r>
                    </a:p>
                  </a:txBody>
                  <a:tcPr marL="76200" marR="76200" marT="25400" marB="25400">
                    <a:solidFill>
                      <a:srgbClr val="16213A"/>
                    </a:solidFill>
                  </a:tcPr>
                </a:tc>
              </a:tr>
              <a:tr h="281935">
                <a:tc>
                  <a:txBody>
                    <a:bodyPr wrap="square"/>
                    <a:lstStyle/>
                    <a:p>
                      <a:r>
                        <a:rPr sz="1150" b="0" i="0">
                          <a:solidFill>
                            <a:srgbClr val="16213A"/>
                          </a:solidFill>
                          <a:latin typeface="Arial"/>
                          <a:ea typeface="Malgun Gothic"/>
                          <a:cs typeface="Malgun Gothic"/>
                        </a:rPr>
                        <a:t>상태</a:t>
                      </a:r>
                    </a:p>
                  </a:txBody>
                  <a:tcPr marL="76200" marR="76200" marT="25400" marB="25400">
                    <a:solidFill>
                      <a:srgbClr val="F1EDE4"/>
                    </a:solidFill>
                  </a:tcPr>
                </a:tc>
                <a:tc>
                  <a:txBody>
                    <a:bodyPr wrap="square"/>
                    <a:lstStyle/>
                    <a:p>
                      <a:r>
                        <a:rPr sz="1150" b="0" i="1">
                          <a:solidFill>
                            <a:srgbClr val="16213A"/>
                          </a:solidFill>
                          <a:latin typeface="Arial"/>
                          <a:ea typeface="Malgun Gothic"/>
                          <a:cs typeface="Malgun Gothic"/>
                        </a:rPr>
                        <a:t>(x, y, θ, vₓ, v_y, ω)</a:t>
                      </a:r>
                    </a:p>
                  </a:txBody>
                  <a:tcPr marL="76200" marR="76200" marT="25400" marB="25400">
                    <a:solidFill>
                      <a:srgbClr val="F1EDE4"/>
                    </a:solidFill>
                  </a:tcPr>
                </a:tc>
              </a:tr>
              <a:tr h="281935">
                <a:tc>
                  <a:txBody>
                    <a:bodyPr wrap="square"/>
                    <a:lstStyle/>
                    <a:p>
                      <a:r>
                        <a:rPr sz="1150" b="0" i="0">
                          <a:solidFill>
                            <a:srgbClr val="16213A"/>
                          </a:solidFill>
                          <a:latin typeface="Arial"/>
                          <a:ea typeface="Malgun Gothic"/>
                          <a:cs typeface="Malgun Gothic"/>
                        </a:rPr>
                        <a:t>입력</a:t>
                      </a:r>
                    </a:p>
                  </a:txBody>
                  <a:tcPr marL="76200" marR="76200" marT="25400" marB="25400">
                    <a:solidFill>
                      <a:srgbClr val="FFFDF8"/>
                    </a:solidFill>
                  </a:tcPr>
                </a:tc>
                <a:tc>
                  <a:txBody>
                    <a:bodyPr wrap="square"/>
                    <a:lstStyle/>
                    <a:p>
                      <a:r>
                        <a:rPr sz="1150" b="0" i="1">
                          <a:solidFill>
                            <a:srgbClr val="16213A"/>
                          </a:solidFill>
                          <a:latin typeface="Arial"/>
                          <a:ea typeface="Malgun Gothic"/>
                          <a:cs typeface="Malgun Gothic"/>
                        </a:rPr>
                        <a:t>u = (aₓ, a_y, α_z)</a:t>
                      </a:r>
                      <a:r>
                        <a:rPr sz="1150" b="0" i="0">
                          <a:solidFill>
                            <a:srgbClr val="16213A"/>
                          </a:solidFill>
                          <a:latin typeface="Arial"/>
                          <a:ea typeface="Malgun Gothic"/>
                          <a:cs typeface="Malgun Gothic"/>
                        </a:rPr>
                        <a:t>: 속도의 변화율</a:t>
                      </a:r>
                    </a:p>
                  </a:txBody>
                  <a:tcPr marL="76200" marR="76200" marT="25400" marB="25400">
                    <a:solidFill>
                      <a:srgbClr val="FFFDF8"/>
                    </a:solidFill>
                  </a:tcPr>
                </a:tc>
              </a:tr>
              <a:tr h="281935">
                <a:tc>
                  <a:txBody>
                    <a:bodyPr wrap="square"/>
                    <a:lstStyle/>
                    <a:p>
                      <a:r>
                        <a:rPr sz="1150" b="0" i="0">
                          <a:solidFill>
                            <a:srgbClr val="16213A"/>
                          </a:solidFill>
                          <a:latin typeface="Arial"/>
                          <a:ea typeface="Malgun Gothic"/>
                          <a:cs typeface="Malgun Gothic"/>
                        </a:rPr>
                        <a:t>제약</a:t>
                      </a:r>
                    </a:p>
                  </a:txBody>
                  <a:tcPr marL="76200" marR="76200" marT="25400" marB="25400">
                    <a:solidFill>
                      <a:srgbClr val="F1EDE4"/>
                    </a:solidFill>
                  </a:tcPr>
                </a:tc>
                <a:tc>
                  <a:txBody>
                    <a:bodyPr wrap="square"/>
                    <a:lstStyle/>
                    <a:p>
                      <a:r>
                        <a:rPr sz="1150" b="0" i="1">
                          <a:solidFill>
                            <a:srgbClr val="16213A"/>
                          </a:solidFill>
                          <a:latin typeface="Arial"/>
                          <a:ea typeface="Malgun Gothic"/>
                          <a:cs typeface="Malgun Gothic"/>
                        </a:rPr>
                        <a:t>|v| ≤ vₘₐₓ</a:t>
                      </a:r>
                      <a:r>
                        <a:rPr sz="1150" b="0" i="0">
                          <a:solidFill>
                            <a:srgbClr val="16213A"/>
                          </a:solidFill>
                          <a:latin typeface="Arial"/>
                          <a:ea typeface="Malgun Gothic"/>
                          <a:cs typeface="Malgun Gothic"/>
                        </a:rPr>
                        <a:t>, </a:t>
                      </a:r>
                      <a:r>
                        <a:rPr sz="1150" b="0" i="1">
                          <a:solidFill>
                            <a:srgbClr val="16213A"/>
                          </a:solidFill>
                          <a:latin typeface="Arial"/>
                          <a:ea typeface="Malgun Gothic"/>
                          <a:cs typeface="Malgun Gothic"/>
                        </a:rPr>
                        <a:t>|u| ≤ aₘₐₓ</a:t>
                      </a:r>
                      <a:r>
                        <a:rPr sz="1150" b="0" i="0">
                          <a:solidFill>
                            <a:srgbClr val="16213A"/>
                          </a:solidFill>
                          <a:latin typeface="Arial"/>
                          <a:ea typeface="Malgun Gothic"/>
                          <a:cs typeface="Malgun Gothic"/>
                        </a:rPr>
                        <a:t> — 둘 다 box 제약</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d</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모델 오차(뒤의 학습 잔차 자리)</a:t>
                      </a:r>
                    </a:p>
                  </a:txBody>
                  <a:tcPr marL="76200" marR="76200" marT="25400" marB="25400">
                    <a:solidFill>
                      <a:srgbClr val="FFFDF8"/>
                    </a:solidFill>
                  </a:tcPr>
                </a:tc>
              </a:tr>
            </a:tbl>
          </a:graphicData>
        </a:graphic>
      </p:graphicFrame>
      <p:sp>
        <p:nvSpPr>
          <p:cNvPr id="8" name="Rounded Rectangle 7"/>
          <p:cNvSpPr/>
          <p:nvPr/>
        </p:nvSpPr>
        <p:spPr>
          <a:xfrm>
            <a:off x="711200" y="3193554"/>
            <a:ext cx="3488234" cy="1051520"/>
          </a:xfrm>
          <a:prstGeom prst="roundRect">
            <a:avLst>
              <a:gd name="adj" fmla="val 7246"/>
            </a:avLst>
          </a:prstGeom>
          <a:solidFill>
            <a:srgbClr val="FFFDF8"/>
          </a:solidFill>
          <a:ln>
            <a:noFill/>
          </a:ln>
        </p:spPr>
        <p:txBody>
          <a:bodyPr rtlCol="0" anchor="ctr"/>
          <a:lstStyle/>
          <a:p>
            <a:pPr algn="ctr"/>
          </a:p>
        </p:txBody>
      </p:sp>
      <p:sp>
        <p:nvSpPr>
          <p:cNvPr id="9" name="Rectangle 8"/>
          <p:cNvSpPr/>
          <p:nvPr/>
        </p:nvSpPr>
        <p:spPr>
          <a:xfrm>
            <a:off x="711200" y="3193554"/>
            <a:ext cx="3488234" cy="6350"/>
          </a:xfrm>
          <a:prstGeom prst="rect">
            <a:avLst/>
          </a:prstGeom>
          <a:solidFill>
            <a:srgbClr val="D9D4C7"/>
          </a:solidFill>
          <a:ln>
            <a:noFill/>
          </a:ln>
        </p:spPr>
        <p:txBody>
          <a:bodyPr rtlCol="0" anchor="ctr"/>
          <a:lstStyle/>
          <a:p>
            <a:pPr algn="ctr"/>
          </a:p>
        </p:txBody>
      </p:sp>
      <p:sp>
        <p:nvSpPr>
          <p:cNvPr id="10" name="Rectangle 9"/>
          <p:cNvSpPr/>
          <p:nvPr/>
        </p:nvSpPr>
        <p:spPr>
          <a:xfrm>
            <a:off x="4193084" y="3193554"/>
            <a:ext cx="6350" cy="1051520"/>
          </a:xfrm>
          <a:prstGeom prst="rect">
            <a:avLst/>
          </a:prstGeom>
          <a:solidFill>
            <a:srgbClr val="D9D4C7"/>
          </a:solidFill>
          <a:ln>
            <a:noFill/>
          </a:ln>
        </p:spPr>
        <p:txBody>
          <a:bodyPr rtlCol="0" anchor="ctr"/>
          <a:lstStyle/>
          <a:p>
            <a:pPr algn="ctr"/>
          </a:p>
        </p:txBody>
      </p:sp>
      <p:sp>
        <p:nvSpPr>
          <p:cNvPr id="11" name="Rectangle 10"/>
          <p:cNvSpPr/>
          <p:nvPr/>
        </p:nvSpPr>
        <p:spPr>
          <a:xfrm>
            <a:off x="711200" y="4238724"/>
            <a:ext cx="3488234" cy="6350"/>
          </a:xfrm>
          <a:prstGeom prst="rect">
            <a:avLst/>
          </a:prstGeom>
          <a:solidFill>
            <a:srgbClr val="D9D4C7"/>
          </a:solidFill>
          <a:ln>
            <a:noFill/>
          </a:ln>
        </p:spPr>
        <p:txBody>
          <a:bodyPr rtlCol="0" anchor="ctr"/>
          <a:lstStyle/>
          <a:p>
            <a:pPr algn="ctr"/>
          </a:p>
        </p:txBody>
      </p:sp>
      <p:sp>
        <p:nvSpPr>
          <p:cNvPr id="12" name="Rounded Rectangle 11"/>
          <p:cNvSpPr/>
          <p:nvPr/>
        </p:nvSpPr>
        <p:spPr>
          <a:xfrm>
            <a:off x="711200" y="3193554"/>
            <a:ext cx="50800" cy="1051520"/>
          </a:xfrm>
          <a:prstGeom prst="roundRect">
            <a:avLst>
              <a:gd name="adj" fmla="val 50000"/>
            </a:avLst>
          </a:prstGeom>
          <a:solidFill>
            <a:srgbClr val="15803D"/>
          </a:solidFill>
          <a:ln>
            <a:noFill/>
          </a:ln>
        </p:spPr>
        <p:txBody>
          <a:bodyPr rtlCol="0" anchor="ctr"/>
          <a:lstStyle/>
          <a:p>
            <a:pPr algn="ctr"/>
          </a:p>
        </p:txBody>
      </p:sp>
      <p:sp>
        <p:nvSpPr>
          <p:cNvPr id="13" name="Rounded Rectangle 12"/>
          <p:cNvSpPr/>
          <p:nvPr/>
        </p:nvSpPr>
        <p:spPr>
          <a:xfrm>
            <a:off x="927100" y="3339604"/>
            <a:ext cx="404416" cy="241300"/>
          </a:xfrm>
          <a:prstGeom prst="roundRect">
            <a:avLst>
              <a:gd name="adj" fmla="val 50000"/>
            </a:avLst>
          </a:prstGeom>
          <a:solidFill>
            <a:srgbClr val="D7EFDD"/>
          </a:solidFill>
          <a:ln>
            <a:noFill/>
          </a:ln>
        </p:spPr>
        <p:txBody>
          <a:bodyPr rtlCol="0" anchor="ctr"/>
          <a:lstStyle/>
          <a:p>
            <a:pPr algn="ctr"/>
          </a:p>
        </p:txBody>
      </p:sp>
      <p:sp>
        <p:nvSpPr>
          <p:cNvPr id="14" name="TextBox 13"/>
          <p:cNvSpPr txBox="1"/>
          <p:nvPr/>
        </p:nvSpPr>
        <p:spPr>
          <a:xfrm>
            <a:off x="1016000" y="3365004"/>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5" name="TextBox 14"/>
          <p:cNvSpPr txBox="1"/>
          <p:nvPr/>
        </p:nvSpPr>
        <p:spPr>
          <a:xfrm>
            <a:off x="927100" y="3657104"/>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가속·저크 한계가 box 제약이 되고, 명령이 매끄럽다.</a:t>
            </a:r>
          </a:p>
        </p:txBody>
      </p:sp>
      <p:sp>
        <p:nvSpPr>
          <p:cNvPr id="16" name="Rounded Rectangle 15"/>
          <p:cNvSpPr/>
          <p:nvPr/>
        </p:nvSpPr>
        <p:spPr>
          <a:xfrm>
            <a:off x="4351834" y="3193554"/>
            <a:ext cx="3488234" cy="1051520"/>
          </a:xfrm>
          <a:prstGeom prst="roundRect">
            <a:avLst>
              <a:gd name="adj" fmla="val 7246"/>
            </a:avLst>
          </a:prstGeom>
          <a:solidFill>
            <a:srgbClr val="FFFDF8"/>
          </a:solidFill>
          <a:ln>
            <a:noFill/>
          </a:ln>
        </p:spPr>
        <p:txBody>
          <a:bodyPr rtlCol="0" anchor="ctr"/>
          <a:lstStyle/>
          <a:p>
            <a:pPr algn="ctr"/>
          </a:p>
        </p:txBody>
      </p:sp>
      <p:sp>
        <p:nvSpPr>
          <p:cNvPr id="17" name="Rectangle 16"/>
          <p:cNvSpPr/>
          <p:nvPr/>
        </p:nvSpPr>
        <p:spPr>
          <a:xfrm>
            <a:off x="4351834" y="3193554"/>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3193554"/>
            <a:ext cx="6350" cy="1051520"/>
          </a:xfrm>
          <a:prstGeom prst="rect">
            <a:avLst/>
          </a:prstGeom>
          <a:solidFill>
            <a:srgbClr val="D9D4C7"/>
          </a:solidFill>
          <a:ln>
            <a:noFill/>
          </a:ln>
        </p:spPr>
        <p:txBody>
          <a:bodyPr rtlCol="0" anchor="ctr"/>
          <a:lstStyle/>
          <a:p>
            <a:pPr algn="ctr"/>
          </a:p>
        </p:txBody>
      </p:sp>
      <p:sp>
        <p:nvSpPr>
          <p:cNvPr id="19" name="Rectangle 18"/>
          <p:cNvSpPr/>
          <p:nvPr/>
        </p:nvSpPr>
        <p:spPr>
          <a:xfrm>
            <a:off x="4351834" y="4238724"/>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3193554"/>
            <a:ext cx="50800" cy="1051520"/>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4567734" y="3339604"/>
            <a:ext cx="404416"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4656634" y="3365004"/>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대가</a:t>
            </a:r>
          </a:p>
        </p:txBody>
      </p:sp>
      <p:sp>
        <p:nvSpPr>
          <p:cNvPr id="23" name="TextBox 22"/>
          <p:cNvSpPr txBox="1"/>
          <p:nvPr/>
        </p:nvSpPr>
        <p:spPr>
          <a:xfrm>
            <a:off x="4567734" y="3657104"/>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상태가 늘어 문제가 커진다. 실제 액추에이터 지연은 여전히 모델 밖이다.</a:t>
            </a:r>
          </a:p>
        </p:txBody>
      </p:sp>
      <p:sp>
        <p:nvSpPr>
          <p:cNvPr id="24" name="Rounded Rectangle 23"/>
          <p:cNvSpPr/>
          <p:nvPr/>
        </p:nvSpPr>
        <p:spPr>
          <a:xfrm>
            <a:off x="7992467" y="3193554"/>
            <a:ext cx="3488234" cy="1051520"/>
          </a:xfrm>
          <a:prstGeom prst="roundRect">
            <a:avLst>
              <a:gd name="adj" fmla="val 7246"/>
            </a:avLst>
          </a:prstGeom>
          <a:solidFill>
            <a:srgbClr val="FFFDF8"/>
          </a:solidFill>
          <a:ln>
            <a:noFill/>
          </a:ln>
        </p:spPr>
        <p:txBody>
          <a:bodyPr rtlCol="0" anchor="ctr"/>
          <a:lstStyle/>
          <a:p>
            <a:pPr algn="ctr"/>
          </a:p>
        </p:txBody>
      </p:sp>
      <p:sp>
        <p:nvSpPr>
          <p:cNvPr id="25" name="Rectangle 24"/>
          <p:cNvSpPr/>
          <p:nvPr/>
        </p:nvSpPr>
        <p:spPr>
          <a:xfrm>
            <a:off x="7992467" y="3193554"/>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3193554"/>
            <a:ext cx="6350" cy="1051520"/>
          </a:xfrm>
          <a:prstGeom prst="rect">
            <a:avLst/>
          </a:prstGeom>
          <a:solidFill>
            <a:srgbClr val="D9D4C7"/>
          </a:solidFill>
          <a:ln>
            <a:noFill/>
          </a:ln>
        </p:spPr>
        <p:txBody>
          <a:bodyPr rtlCol="0" anchor="ctr"/>
          <a:lstStyle/>
          <a:p>
            <a:pPr algn="ctr"/>
          </a:p>
        </p:txBody>
      </p:sp>
      <p:sp>
        <p:nvSpPr>
          <p:cNvPr id="27" name="Rectangle 26"/>
          <p:cNvSpPr/>
          <p:nvPr/>
        </p:nvSpPr>
        <p:spPr>
          <a:xfrm>
            <a:off x="7992467" y="4238724"/>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3193554"/>
            <a:ext cx="50800" cy="1051520"/>
          </a:xfrm>
          <a:prstGeom prst="roundRect">
            <a:avLst>
              <a:gd name="adj" fmla="val 50000"/>
            </a:avLst>
          </a:prstGeom>
          <a:solidFill>
            <a:srgbClr val="9AA6BC"/>
          </a:solidFill>
          <a:ln>
            <a:noFill/>
          </a:ln>
        </p:spPr>
        <p:txBody>
          <a:bodyPr rtlCol="0" anchor="ctr"/>
          <a:lstStyle/>
          <a:p>
            <a:pPr algn="ctr"/>
          </a:p>
        </p:txBody>
      </p:sp>
      <p:sp>
        <p:nvSpPr>
          <p:cNvPr id="29" name="Rounded Rectangle 28"/>
          <p:cNvSpPr/>
          <p:nvPr/>
        </p:nvSpPr>
        <p:spPr>
          <a:xfrm>
            <a:off x="8208367" y="3339604"/>
            <a:ext cx="1404144" cy="241300"/>
          </a:xfrm>
          <a:prstGeom prst="roundRect">
            <a:avLst>
              <a:gd name="adj" fmla="val 50000"/>
            </a:avLst>
          </a:prstGeom>
          <a:solidFill>
            <a:srgbClr val="ECE8DF"/>
          </a:solidFill>
          <a:ln>
            <a:noFill/>
          </a:ln>
        </p:spPr>
        <p:txBody>
          <a:bodyPr rtlCol="0" anchor="ctr"/>
          <a:lstStyle/>
          <a:p>
            <a:pPr algn="ctr"/>
          </a:p>
        </p:txBody>
      </p:sp>
      <p:sp>
        <p:nvSpPr>
          <p:cNvPr id="30" name="TextBox 29"/>
          <p:cNvSpPr txBox="1"/>
          <p:nvPr/>
        </p:nvSpPr>
        <p:spPr>
          <a:xfrm>
            <a:off x="8297267" y="3365004"/>
            <a:ext cx="128853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non-smooth 하위 모델</a:t>
            </a:r>
          </a:p>
        </p:txBody>
      </p:sp>
      <p:sp>
        <p:nvSpPr>
          <p:cNvPr id="31" name="TextBox 30"/>
          <p:cNvSpPr txBox="1"/>
          <p:nvPr/>
        </p:nvSpPr>
        <p:spPr>
          <a:xfrm>
            <a:off x="8208367" y="3657104"/>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바퀴 역기구학처럼 atan2·반전이 있는 식은 넣지 않고, 차체 수준 제약으로 번역한다.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적분기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같은 간격이면 RK4가 Euler보다 훨씬 정확하고, 계산은 네 배다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753895" y="1361678"/>
            <a:ext cx="6684211"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반지름 1 m 원을 도는 유니사이클을 두 적분기로 시뮬레이션했다. (a) Δt = 0.4 s에서 Euler는 바깥으로 샌다 (b) Δt를 반으로 줄이면 Euler 오차는 약 1/2, RK4는 약 1/16로 준다</a:t>
            </a:r>
          </a:p>
        </p:txBody>
      </p:sp>
      <p:sp>
        <p:nvSpPr>
          <p:cNvPr id="7" name="Rounded Rectangle 6"/>
          <p:cNvSpPr/>
          <p:nvPr/>
        </p:nvSpPr>
        <p:spPr>
          <a:xfrm>
            <a:off x="711200" y="4320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20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320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65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466828"/>
            <a:ext cx="761901"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492228"/>
            <a:ext cx="62702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Euler(1차)</a:t>
            </a:r>
          </a:p>
        </p:txBody>
      </p:sp>
      <p:sp>
        <p:nvSpPr>
          <p:cNvPr id="14" name="TextBox 13"/>
          <p:cNvSpPr txBox="1"/>
          <p:nvPr/>
        </p:nvSpPr>
        <p:spPr>
          <a:xfrm>
            <a:off x="927100" y="47843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모델 평가 1회. 오차 </a:t>
            </a:r>
            <a:r>
              <a:rPr sz="1150" b="0" i="1">
                <a:solidFill>
                  <a:srgbClr val="16213A"/>
                </a:solidFill>
                <a:latin typeface="Arial"/>
                <a:ea typeface="Malgun Gothic"/>
                <a:cs typeface="Malgun Gothic"/>
              </a:rPr>
              <a:t>O(Δ t)</a:t>
            </a:r>
            <a:r>
              <a:rPr sz="1150" b="0" i="0">
                <a:solidFill>
                  <a:srgbClr val="16213A"/>
                </a:solidFill>
                <a:latin typeface="Arial"/>
                <a:ea typeface="Malgun Gothic"/>
                <a:cs typeface="Malgun Gothic"/>
              </a:rPr>
              <a:t>. 간격이 작을 때나 빠른 시험용.</a:t>
            </a:r>
          </a:p>
        </p:txBody>
      </p:sp>
      <p:sp>
        <p:nvSpPr>
          <p:cNvPr id="15" name="Rounded Rectangle 14"/>
          <p:cNvSpPr/>
          <p:nvPr/>
        </p:nvSpPr>
        <p:spPr>
          <a:xfrm>
            <a:off x="6172200" y="4320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320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320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365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320778"/>
            <a:ext cx="50800" cy="105152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6388100" y="4466828"/>
            <a:ext cx="699591"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6477000" y="4492228"/>
            <a:ext cx="562845"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RK4(4차)</a:t>
            </a:r>
          </a:p>
        </p:txBody>
      </p:sp>
      <p:sp>
        <p:nvSpPr>
          <p:cNvPr id="22" name="TextBox 21"/>
          <p:cNvSpPr txBox="1"/>
          <p:nvPr/>
        </p:nvSpPr>
        <p:spPr>
          <a:xfrm>
            <a:off x="6388100" y="4784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모델 평가 4회. 오차 </a:t>
            </a:r>
            <a:r>
              <a:rPr sz="1150" b="0" i="1">
                <a:solidFill>
                  <a:srgbClr val="16213A"/>
                </a:solidFill>
                <a:latin typeface="Arial"/>
                <a:ea typeface="Malgun Gothic"/>
                <a:cs typeface="Malgun Gothic"/>
              </a:rPr>
              <a:t>O(Δ t⁴)</a:t>
            </a:r>
            <a:r>
              <a:rPr sz="1150" b="0" i="0">
                <a:solidFill>
                  <a:srgbClr val="16213A"/>
                </a:solidFill>
                <a:latin typeface="Arial"/>
                <a:ea typeface="Malgun Gothic"/>
                <a:cs typeface="Malgun Gothic"/>
              </a:rPr>
              <a:t>. 같은 정확도를 훨씬 큰 간격으로 — 노드 수를 줄인다.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비용</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추종 비용은 선형 최소제곱으로 두고, 종단 비용이 진행을 맡는다</a:t>
            </a:r>
          </a:p>
        </p:txBody>
      </p:sp>
      <p:sp>
        <p:nvSpPr>
          <p:cNvPr id="4" name="Rounded Rectangle 3"/>
          <p:cNvSpPr/>
          <p:nvPr/>
        </p:nvSpPr>
        <p:spPr>
          <a:xfrm>
            <a:off x="711200" y="1361678"/>
            <a:ext cx="10769600" cy="488553"/>
          </a:xfrm>
          <a:prstGeom prst="roundRect">
            <a:avLst>
              <a:gd name="adj" fmla="val 10398"/>
            </a:avLst>
          </a:prstGeom>
          <a:solidFill>
            <a:srgbClr val="FFFDF8"/>
          </a:solidFill>
          <a:ln>
            <a:noFill/>
          </a:ln>
        </p:spPr>
        <p:txBody>
          <a:bodyPr rtlCol="0" anchor="ctr"/>
          <a:lstStyle/>
          <a:p>
            <a:pPr algn="ctr"/>
          </a:p>
        </p:txBody>
      </p:sp>
      <p:sp>
        <p:nvSpPr>
          <p:cNvPr id="5" name="Rounded Rectangle 4"/>
          <p:cNvSpPr/>
          <p:nvPr/>
        </p:nvSpPr>
        <p:spPr>
          <a:xfrm>
            <a:off x="711200" y="1361678"/>
            <a:ext cx="38100" cy="488553"/>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317103"/>
          </a:xfrm>
          <a:prstGeom prst="rect">
            <a:avLst/>
          </a:prstGeom>
        </p:spPr>
      </p:pic>
      <p:sp>
        <p:nvSpPr>
          <p:cNvPr id="7" name="Rounded Rectangle 6"/>
          <p:cNvSpPr/>
          <p:nvPr/>
        </p:nvSpPr>
        <p:spPr>
          <a:xfrm>
            <a:off x="711200" y="2028031"/>
            <a:ext cx="3488234" cy="1076920"/>
          </a:xfrm>
          <a:prstGeom prst="roundRect">
            <a:avLst>
              <a:gd name="adj" fmla="val 7075"/>
            </a:avLst>
          </a:prstGeom>
          <a:solidFill>
            <a:srgbClr val="FFFDF8"/>
          </a:solidFill>
          <a:ln>
            <a:noFill/>
          </a:ln>
        </p:spPr>
        <p:txBody>
          <a:bodyPr rtlCol="0" anchor="ctr"/>
          <a:lstStyle/>
          <a:p>
            <a:pPr algn="ctr"/>
          </a:p>
        </p:txBody>
      </p:sp>
      <p:sp>
        <p:nvSpPr>
          <p:cNvPr id="8" name="Rectangle 7"/>
          <p:cNvSpPr/>
          <p:nvPr/>
        </p:nvSpPr>
        <p:spPr>
          <a:xfrm>
            <a:off x="711200" y="2028031"/>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2028031"/>
            <a:ext cx="6350" cy="1076920"/>
          </a:xfrm>
          <a:prstGeom prst="rect">
            <a:avLst/>
          </a:prstGeom>
          <a:solidFill>
            <a:srgbClr val="D9D4C7"/>
          </a:solidFill>
          <a:ln>
            <a:noFill/>
          </a:ln>
        </p:spPr>
        <p:txBody>
          <a:bodyPr rtlCol="0" anchor="ctr"/>
          <a:lstStyle/>
          <a:p>
            <a:pPr algn="ctr"/>
          </a:p>
        </p:txBody>
      </p:sp>
      <p:sp>
        <p:nvSpPr>
          <p:cNvPr id="10" name="Rectangle 9"/>
          <p:cNvSpPr/>
          <p:nvPr/>
        </p:nvSpPr>
        <p:spPr>
          <a:xfrm>
            <a:off x="711200" y="3098602"/>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028031"/>
            <a:ext cx="50800" cy="10769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174081"/>
            <a:ext cx="887512"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199481"/>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선형 최소제곱</a:t>
            </a:r>
          </a:p>
        </p:txBody>
      </p:sp>
      <p:sp>
        <p:nvSpPr>
          <p:cNvPr id="14" name="TextBox 13"/>
          <p:cNvSpPr txBox="1"/>
          <p:nvPr/>
        </p:nvSpPr>
        <p:spPr>
          <a:xfrm>
            <a:off x="927100" y="249158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y가 상태·입력의 선형 함수면 Gauss-Newton Hessian이 정확하다. 풀이가 빠르고 안정적이다.</a:t>
            </a:r>
          </a:p>
        </p:txBody>
      </p:sp>
      <p:sp>
        <p:nvSpPr>
          <p:cNvPr id="15" name="Rounded Rectangle 14"/>
          <p:cNvSpPr/>
          <p:nvPr/>
        </p:nvSpPr>
        <p:spPr>
          <a:xfrm>
            <a:off x="4351834" y="2028031"/>
            <a:ext cx="3488234" cy="1076920"/>
          </a:xfrm>
          <a:prstGeom prst="roundRect">
            <a:avLst>
              <a:gd name="adj" fmla="val 7075"/>
            </a:avLst>
          </a:prstGeom>
          <a:solidFill>
            <a:srgbClr val="FFFDF8"/>
          </a:solidFill>
          <a:ln>
            <a:noFill/>
          </a:ln>
        </p:spPr>
        <p:txBody>
          <a:bodyPr rtlCol="0" anchor="ctr"/>
          <a:lstStyle/>
          <a:p>
            <a:pPr algn="ctr"/>
          </a:p>
        </p:txBody>
      </p:sp>
      <p:sp>
        <p:nvSpPr>
          <p:cNvPr id="16" name="Rectangle 15"/>
          <p:cNvSpPr/>
          <p:nvPr/>
        </p:nvSpPr>
        <p:spPr>
          <a:xfrm>
            <a:off x="4351834" y="2028031"/>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2028031"/>
            <a:ext cx="6350" cy="1076920"/>
          </a:xfrm>
          <a:prstGeom prst="rect">
            <a:avLst/>
          </a:prstGeom>
          <a:solidFill>
            <a:srgbClr val="D9D4C7"/>
          </a:solidFill>
          <a:ln>
            <a:noFill/>
          </a:ln>
        </p:spPr>
        <p:txBody>
          <a:bodyPr rtlCol="0" anchor="ctr"/>
          <a:lstStyle/>
          <a:p>
            <a:pPr algn="ctr"/>
          </a:p>
        </p:txBody>
      </p:sp>
      <p:sp>
        <p:nvSpPr>
          <p:cNvPr id="18" name="Rectangle 17"/>
          <p:cNvSpPr/>
          <p:nvPr/>
        </p:nvSpPr>
        <p:spPr>
          <a:xfrm>
            <a:off x="4351834" y="3098602"/>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2028031"/>
            <a:ext cx="50800" cy="10769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2174081"/>
            <a:ext cx="66823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2199481"/>
            <a:ext cx="53055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가중치 W</a:t>
            </a:r>
          </a:p>
        </p:txBody>
      </p:sp>
      <p:sp>
        <p:nvSpPr>
          <p:cNvPr id="22" name="TextBox 21"/>
          <p:cNvSpPr txBox="1"/>
          <p:nvPr/>
        </p:nvSpPr>
        <p:spPr>
          <a:xfrm>
            <a:off x="4567734" y="249158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위치는 크게, 횡방향 이동·회전·가속은 작게. 단위가 다르면 크기를 맞춰 정규화한다.</a:t>
            </a:r>
          </a:p>
        </p:txBody>
      </p:sp>
      <p:sp>
        <p:nvSpPr>
          <p:cNvPr id="23" name="Rounded Rectangle 22"/>
          <p:cNvSpPr/>
          <p:nvPr/>
        </p:nvSpPr>
        <p:spPr>
          <a:xfrm>
            <a:off x="7992467" y="2028031"/>
            <a:ext cx="3488234" cy="1076920"/>
          </a:xfrm>
          <a:prstGeom prst="roundRect">
            <a:avLst>
              <a:gd name="adj" fmla="val 7075"/>
            </a:avLst>
          </a:prstGeom>
          <a:solidFill>
            <a:srgbClr val="FFFDF8"/>
          </a:solidFill>
          <a:ln>
            <a:noFill/>
          </a:ln>
        </p:spPr>
        <p:txBody>
          <a:bodyPr rtlCol="0" anchor="ctr"/>
          <a:lstStyle/>
          <a:p>
            <a:pPr algn="ctr"/>
          </a:p>
        </p:txBody>
      </p:sp>
      <p:sp>
        <p:nvSpPr>
          <p:cNvPr id="24" name="Rectangle 23"/>
          <p:cNvSpPr/>
          <p:nvPr/>
        </p:nvSpPr>
        <p:spPr>
          <a:xfrm>
            <a:off x="7992467" y="2028031"/>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2028031"/>
            <a:ext cx="6350" cy="1076920"/>
          </a:xfrm>
          <a:prstGeom prst="rect">
            <a:avLst/>
          </a:prstGeom>
          <a:solidFill>
            <a:srgbClr val="D9D4C7"/>
          </a:solidFill>
          <a:ln>
            <a:noFill/>
          </a:ln>
        </p:spPr>
        <p:txBody>
          <a:bodyPr rtlCol="0" anchor="ctr"/>
          <a:lstStyle/>
          <a:p>
            <a:pPr algn="ctr"/>
          </a:p>
        </p:txBody>
      </p:sp>
      <p:sp>
        <p:nvSpPr>
          <p:cNvPr id="26" name="Rectangle 25"/>
          <p:cNvSpPr/>
          <p:nvPr/>
        </p:nvSpPr>
        <p:spPr>
          <a:xfrm>
            <a:off x="7992467" y="3098602"/>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2028031"/>
            <a:ext cx="50800" cy="10769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2174081"/>
            <a:ext cx="613966" cy="2667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2199481"/>
            <a:ext cx="474651" cy="32067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종단 W</a:t>
            </a:r>
            <a:r>
              <a:rPr sz="800" b="1" i="0">
                <a:solidFill>
                  <a:srgbClr val="14532D"/>
                </a:solidFill>
                <a:latin typeface="Arial"/>
                <a:ea typeface="Malgun Gothic"/>
                <a:cs typeface="Malgun Gothic"/>
              </a:rPr>
              <a:t>e</a:t>
            </a:r>
          </a:p>
        </p:txBody>
      </p:sp>
      <p:sp>
        <p:nvSpPr>
          <p:cNvPr id="30" name="TextBox 29"/>
          <p:cNvSpPr txBox="1"/>
          <p:nvPr/>
        </p:nvSpPr>
        <p:spPr>
          <a:xfrm>
            <a:off x="8208367" y="251698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horizon 끝에서 목표 쪽으로 끌어당긴다. 크면 진행이 강하고, 작으면 horizon이 짧을 때 멈춘다.</a:t>
            </a:r>
          </a:p>
        </p:txBody>
      </p:sp>
      <p:sp>
        <p:nvSpPr>
          <p:cNvPr id="31" name="Rounded Rectangle 30"/>
          <p:cNvSpPr/>
          <p:nvPr/>
        </p:nvSpPr>
        <p:spPr>
          <a:xfrm>
            <a:off x="711200" y="3282752"/>
            <a:ext cx="5308600" cy="1051520"/>
          </a:xfrm>
          <a:prstGeom prst="roundRect">
            <a:avLst>
              <a:gd name="adj" fmla="val 7246"/>
            </a:avLst>
          </a:prstGeom>
          <a:solidFill>
            <a:srgbClr val="FFFDF8"/>
          </a:solidFill>
          <a:ln>
            <a:noFill/>
          </a:ln>
        </p:spPr>
        <p:txBody>
          <a:bodyPr rtlCol="0" anchor="ctr"/>
          <a:lstStyle/>
          <a:p>
            <a:pPr algn="ctr"/>
          </a:p>
        </p:txBody>
      </p:sp>
      <p:sp>
        <p:nvSpPr>
          <p:cNvPr id="32" name="Rectangle 31"/>
          <p:cNvSpPr/>
          <p:nvPr/>
        </p:nvSpPr>
        <p:spPr>
          <a:xfrm>
            <a:off x="711200" y="3282752"/>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6013450" y="3282752"/>
            <a:ext cx="6350" cy="1051520"/>
          </a:xfrm>
          <a:prstGeom prst="rect">
            <a:avLst/>
          </a:prstGeom>
          <a:solidFill>
            <a:srgbClr val="D9D4C7"/>
          </a:solidFill>
          <a:ln>
            <a:noFill/>
          </a:ln>
        </p:spPr>
        <p:txBody>
          <a:bodyPr rtlCol="0" anchor="ctr"/>
          <a:lstStyle/>
          <a:p>
            <a:pPr algn="ctr"/>
          </a:p>
        </p:txBody>
      </p:sp>
      <p:sp>
        <p:nvSpPr>
          <p:cNvPr id="34" name="Rectangle 33"/>
          <p:cNvSpPr/>
          <p:nvPr/>
        </p:nvSpPr>
        <p:spPr>
          <a:xfrm>
            <a:off x="711200" y="4327922"/>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3282752"/>
            <a:ext cx="50800" cy="1051520"/>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927100" y="3428802"/>
            <a:ext cx="774204"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1016000" y="3454202"/>
            <a:ext cx="63969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참조 만들기</a:t>
            </a:r>
          </a:p>
        </p:txBody>
      </p:sp>
      <p:sp>
        <p:nvSpPr>
          <p:cNvPr id="38" name="TextBox 37"/>
          <p:cNvSpPr txBox="1"/>
          <p:nvPr/>
        </p:nvSpPr>
        <p:spPr>
          <a:xfrm>
            <a:off x="927100" y="374630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경로만 있으면 원하는 속도로 시간을 매겨 시간 인덱스 참조로 만든다. 시간 인덱스가 있는 궤적이면 그대로 쓴다.</a:t>
            </a:r>
          </a:p>
        </p:txBody>
      </p:sp>
      <p:sp>
        <p:nvSpPr>
          <p:cNvPr id="39" name="Rounded Rectangle 38"/>
          <p:cNvSpPr/>
          <p:nvPr/>
        </p:nvSpPr>
        <p:spPr>
          <a:xfrm>
            <a:off x="6172200" y="3282752"/>
            <a:ext cx="5308600" cy="1051520"/>
          </a:xfrm>
          <a:prstGeom prst="roundRect">
            <a:avLst>
              <a:gd name="adj" fmla="val 7246"/>
            </a:avLst>
          </a:prstGeom>
          <a:solidFill>
            <a:srgbClr val="FFFDF8"/>
          </a:solidFill>
          <a:ln>
            <a:noFill/>
          </a:ln>
        </p:spPr>
        <p:txBody>
          <a:bodyPr rtlCol="0" anchor="ctr"/>
          <a:lstStyle/>
          <a:p>
            <a:pPr algn="ctr"/>
          </a:p>
        </p:txBody>
      </p:sp>
      <p:sp>
        <p:nvSpPr>
          <p:cNvPr id="40" name="Rectangle 39"/>
          <p:cNvSpPr/>
          <p:nvPr/>
        </p:nvSpPr>
        <p:spPr>
          <a:xfrm>
            <a:off x="6172200" y="3282752"/>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282752"/>
            <a:ext cx="6350" cy="1051520"/>
          </a:xfrm>
          <a:prstGeom prst="rect">
            <a:avLst/>
          </a:prstGeom>
          <a:solidFill>
            <a:srgbClr val="D9D4C7"/>
          </a:solidFill>
          <a:ln>
            <a:noFill/>
          </a:ln>
        </p:spPr>
        <p:txBody>
          <a:bodyPr rtlCol="0" anchor="ctr"/>
          <a:lstStyle/>
          <a:p>
            <a:pPr algn="ctr"/>
          </a:p>
        </p:txBody>
      </p:sp>
      <p:sp>
        <p:nvSpPr>
          <p:cNvPr id="42" name="Rectangle 41"/>
          <p:cNvSpPr/>
          <p:nvPr/>
        </p:nvSpPr>
        <p:spPr>
          <a:xfrm>
            <a:off x="6172200" y="4327922"/>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282752"/>
            <a:ext cx="50800" cy="1051520"/>
          </a:xfrm>
          <a:prstGeom prst="roundRect">
            <a:avLst>
              <a:gd name="adj" fmla="val 50000"/>
            </a:avLst>
          </a:prstGeom>
          <a:solidFill>
            <a:srgbClr val="9AA6BC"/>
          </a:solidFill>
          <a:ln>
            <a:noFill/>
          </a:ln>
        </p:spPr>
        <p:txBody>
          <a:bodyPr rtlCol="0" anchor="ctr"/>
          <a:lstStyle/>
          <a:p>
            <a:pPr algn="ctr"/>
          </a:p>
        </p:txBody>
      </p:sp>
      <p:sp>
        <p:nvSpPr>
          <p:cNvPr id="44" name="Rounded Rectangle 43"/>
          <p:cNvSpPr/>
          <p:nvPr/>
        </p:nvSpPr>
        <p:spPr>
          <a:xfrm>
            <a:off x="6388100" y="3428802"/>
            <a:ext cx="1030784" cy="241300"/>
          </a:xfrm>
          <a:prstGeom prst="roundRect">
            <a:avLst>
              <a:gd name="adj" fmla="val 50000"/>
            </a:avLst>
          </a:prstGeom>
          <a:solidFill>
            <a:srgbClr val="ECE8DF"/>
          </a:solidFill>
          <a:ln>
            <a:noFill/>
          </a:ln>
        </p:spPr>
        <p:txBody>
          <a:bodyPr rtlCol="0" anchor="ctr"/>
          <a:lstStyle/>
          <a:p>
            <a:pPr algn="ctr"/>
          </a:p>
        </p:txBody>
      </p:sp>
      <p:sp>
        <p:nvSpPr>
          <p:cNvPr id="45" name="TextBox 44"/>
          <p:cNvSpPr txBox="1"/>
          <p:nvPr/>
        </p:nvSpPr>
        <p:spPr>
          <a:xfrm>
            <a:off x="6477000" y="3454202"/>
            <a:ext cx="90397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비용에 남기는 것</a:t>
            </a:r>
          </a:p>
        </p:txBody>
      </p:sp>
      <p:sp>
        <p:nvSpPr>
          <p:cNvPr id="46" name="TextBox 45"/>
          <p:cNvSpPr txBox="1"/>
          <p:nvPr/>
        </p:nvSpPr>
        <p:spPr>
          <a:xfrm>
            <a:off x="6388100" y="3746302"/>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매끄럽고 미분 가능한 것만: 추종, 입력 크기, 매끄러움, 완만한 지형 비용.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장애물 제약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비볼록한 장애물은 노드마다 가장 가까운 점의 접평면 하나로 바꾼다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904756" y="1361678"/>
            <a:ext cx="4382487" cy="2540000"/>
          </a:xfrm>
          <a:prstGeom prst="rect">
            <a:avLst/>
          </a:prstGeom>
        </p:spPr>
      </p:pic>
      <p:sp>
        <p:nvSpPr>
          <p:cNvPr id="6" name="TextBox 5"/>
          <p:cNvSpPr txBox="1"/>
          <p:nvPr/>
        </p:nvSpPr>
        <p:spPr>
          <a:xfrm>
            <a:off x="711200" y="3965178"/>
            <a:ext cx="11118088" cy="282476"/>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예측 노드마다 가장 가까운 장애물 점을 거리 변환으로 찾고, 그 점의 접평면을 선형 제약 </a:t>
            </a:r>
            <a:r>
              <a:rPr sz="950" b="0" i="1">
                <a:solidFill>
                  <a:srgbClr val="5A6478"/>
                </a:solidFill>
                <a:latin typeface="Arial"/>
                <a:ea typeface="Malgun Gothic"/>
                <a:cs typeface="Malgun Gothic"/>
              </a:rPr>
              <a:t>nₖ^⊤ pₖ ≥ bₖ</a:t>
            </a:r>
            <a:r>
              <a:rPr sz="950" b="0" i="0">
                <a:solidFill>
                  <a:srgbClr val="5A6478"/>
                </a:solidFill>
                <a:latin typeface="Arial"/>
                <a:ea typeface="Malgun Gothic"/>
                <a:cs typeface="Malgun Gothic"/>
              </a:rPr>
              <a:t>로 넘긴다</a:t>
            </a:r>
          </a:p>
        </p:txBody>
      </p:sp>
      <p:graphicFrame>
        <p:nvGraphicFramePr>
          <p:cNvPr id="7" name="Table 6"/>
          <p:cNvGraphicFramePr>
            <a:graphicFrameLocks noGrp="1"/>
          </p:cNvGraphicFramePr>
          <p:nvPr/>
        </p:nvGraphicFramePr>
        <p:xfrm>
          <a:off x="711200" y="4328319"/>
          <a:ext cx="10769600" cy="1114921"/>
        </p:xfrm>
        <a:graphic>
          <a:graphicData uri="http://schemas.openxmlformats.org/drawingml/2006/table">
            <a:tbl>
              <a:tblPr firstRow="0" bandRow="0">
                <a:tableStyleId>{5C22544A-7EE6-4342-B048-85BDC9FD1C3A}</a:tableStyleId>
              </a:tblPr>
              <a:tblGrid>
                <a:gridCol w="3564434"/>
                <a:gridCol w="3621286"/>
                <a:gridCol w="3583880"/>
              </a:tblGrid>
              <a:tr h="285477">
                <a:tc>
                  <a:txBody>
                    <a:bodyPr wrap="square"/>
                    <a:lstStyle/>
                    <a:p>
                      <a:r>
                        <a:rPr sz="1150" b="1" i="0">
                          <a:solidFill>
                            <a:srgbClr val="F4F1EA"/>
                          </a:solidFill>
                          <a:latin typeface="Arial"/>
                          <a:ea typeface="Malgun Gothic"/>
                          <a:cs typeface="Malgun Gothic"/>
                        </a:rPr>
                        <a:t>장애물 넣는 법</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노드별 접평면(파라미터)</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선형 제약, 좁은 틈도, 재생성 불필요</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해가 움직이면 다시 계산(반복 필요)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원·타원 거리 제약</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매끄럽다, 장애물이 적을 때 간단</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벽·연석 같은 긴 모양에 약하다</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매끄러운 비용장 근사(RBF·다항식)</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한 식으로 지도 전체</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근사 오차, 날카로운 경계 흐림</a:t>
                      </a:r>
                    </a:p>
                  </a:txBody>
                  <a:tcPr marL="76200" marR="76200" marT="25400" marB="25400">
                    <a:solidFill>
                      <a:srgbClr val="F1EDE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장애물 제약 · 실례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지형의 비볼록 조건도 노드마다 볼록 부등식으로 근사하면 NMPC가 온라인으로 푼다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틈·경사·징검다리를 건너는 ANYmal. foothold가 놓일 수 있는 영역을 노드마다 볼록 부등식 제약으로 근사해 온라인 MPC에 넣는다 (Robotic Systems Lab: Legged Robotics at ETH Zürich)</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660995"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같은 생각</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비볼록 → 국소 볼록 근사</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접평면과 같다. 지금 해 근처에서 지형 조건을 볼록 부등식 몇 개로 바꾸고, 해가 움직이면 다시 만든다.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604617"/>
            <a:ext cx="434380"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630017"/>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불완전한 지도 위에서</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불완전하고 부정확한 인식 정보 아래서 발 놓기·충돌 회피·동역학을 한 OCP로 푼다. 전신 자유도를 모두 실시간에 최적화한다.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Grandia 외, “Perceptive Locomotion through Nonlinear Model Predictive Control”, T-RO 2023 — arXiv:2208.08373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soft 제약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L1 페널티는 가중치가 충분히 크면 hard 제약과 같은 해를 주고, 늘 풀린다</a:t>
            </a:r>
          </a:p>
        </p:txBody>
      </p:sp>
      <p:sp>
        <p:nvSpPr>
          <p:cNvPr id="4" name="Rounded Rectangle 3"/>
          <p:cNvSpPr/>
          <p:nvPr/>
        </p:nvSpPr>
        <p:spPr>
          <a:xfrm>
            <a:off x="711200" y="1361678"/>
            <a:ext cx="107696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259060"/>
          </a:xfrm>
          <a:prstGeom prst="rect">
            <a:avLst/>
          </a:prstGeom>
        </p:spPr>
      </p:pic>
      <p:sp>
        <p:nvSpPr>
          <p:cNvPr id="7" name="Rounded Rectangle 6"/>
          <p:cNvSpPr/>
          <p:nvPr/>
        </p:nvSpPr>
        <p:spPr>
          <a:xfrm>
            <a:off x="711200" y="1969988"/>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715593" y="1969988"/>
            <a:ext cx="6760813" cy="2286000"/>
          </a:xfrm>
          <a:prstGeom prst="rect">
            <a:avLst/>
          </a:prstGeom>
        </p:spPr>
      </p:pic>
      <p:sp>
        <p:nvSpPr>
          <p:cNvPr id="9" name="TextBox 8"/>
          <p:cNvSpPr txBox="1"/>
          <p:nvPr/>
        </p:nvSpPr>
        <p:spPr>
          <a:xfrm>
            <a:off x="711200" y="431948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L1 페널티는 ρ가 라그랑주 승수(여기서는 2)보다 크면 해가 제약 경계에 정확히 선다. 이차 페널티는 ρ를 아무리 키워도 조금 넘는다 (b) L1 페널티는 경계에서 꺾여 있다</a:t>
            </a:r>
          </a:p>
        </p:txBody>
      </p:sp>
      <p:sp>
        <p:nvSpPr>
          <p:cNvPr id="10" name="Rounded Rectangle 9"/>
          <p:cNvSpPr/>
          <p:nvPr/>
        </p:nvSpPr>
        <p:spPr>
          <a:xfrm>
            <a:off x="711200" y="4675088"/>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675088"/>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675088"/>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720259"/>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675088"/>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4821138"/>
            <a:ext cx="773708"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4846538"/>
            <a:ext cx="639185"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왜 soft인가</a:t>
            </a:r>
          </a:p>
        </p:txBody>
      </p:sp>
      <p:sp>
        <p:nvSpPr>
          <p:cNvPr id="17" name="TextBox 16"/>
          <p:cNvSpPr txBox="1"/>
          <p:nvPr/>
        </p:nvSpPr>
        <p:spPr>
          <a:xfrm>
            <a:off x="927100" y="513863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나쁜 초기해나 외란으로 hard 제약을 만족할 수 없으면 QP가 실패한다. 풀리지 않으면 안전한 것이 아니라 출력이 임의의 값이 된다.</a:t>
            </a:r>
          </a:p>
        </p:txBody>
      </p:sp>
      <p:sp>
        <p:nvSpPr>
          <p:cNvPr id="18" name="Rounded Rectangle 17"/>
          <p:cNvSpPr/>
          <p:nvPr/>
        </p:nvSpPr>
        <p:spPr>
          <a:xfrm>
            <a:off x="6172200" y="4675088"/>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675088"/>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675088"/>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72025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675088"/>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4821138"/>
            <a:ext cx="660995"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484653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고르는 법</a:t>
            </a:r>
          </a:p>
        </p:txBody>
      </p:sp>
      <p:sp>
        <p:nvSpPr>
          <p:cNvPr id="25" name="TextBox 24"/>
          <p:cNvSpPr txBox="1"/>
          <p:nvPr/>
        </p:nvSpPr>
        <p:spPr>
          <a:xfrm>
            <a:off x="6388100" y="513863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안전 제약은 L1 + 큰 ρ(exact penalty), 이차 항을 조금 더해 수치를 안정시킨다. 위반량은 따로 기록한다.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무엇을 어디에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매끄러운 것은 비용으로, 끊기는 것은 제약으로, 목표는 종단으로 보낸다</a:t>
            </a:r>
          </a:p>
        </p:txBody>
      </p:sp>
      <p:graphicFrame>
        <p:nvGraphicFramePr>
          <p:cNvPr id="4" name="Table 3"/>
          <p:cNvGraphicFramePr>
            <a:graphicFrameLocks noGrp="1"/>
          </p:cNvGraphicFramePr>
          <p:nvPr/>
        </p:nvGraphicFramePr>
        <p:xfrm>
          <a:off x="711200" y="1361678"/>
          <a:ext cx="10769600" cy="2341165"/>
        </p:xfrm>
        <a:graphic>
          <a:graphicData uri="http://schemas.openxmlformats.org/drawingml/2006/table">
            <a:tbl>
              <a:tblPr firstRow="0" bandRow="0">
                <a:tableStyleId>{5C22544A-7EE6-4342-B048-85BDC9FD1C3A}</a:tableStyleId>
              </a:tblPr>
              <a:tblGrid>
                <a:gridCol w="3614837"/>
                <a:gridCol w="3565624"/>
                <a:gridCol w="3589139"/>
              </a:tblGrid>
              <a:tr h="300067">
                <a:tc>
                  <a:txBody>
                    <a:bodyPr wrap="square"/>
                    <a:lstStyle/>
                    <a:p>
                      <a:r>
                        <a:rPr sz="1250" b="1" i="0">
                          <a:solidFill>
                            <a:srgbClr val="F4F1EA"/>
                          </a:solidFill>
                          <a:latin typeface="Arial"/>
                          <a:ea typeface="Malgun Gothic"/>
                          <a:cs typeface="Malgun Gothic"/>
                        </a:rPr>
                        <a:t>원하는 것</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OCP에서</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이유</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참조를 따라간다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단계 비용(선형 최소제곱)</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매끄럽고 이차</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목표 쪽으로 진행한다</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종단 비용</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짧은 horizon의 근시안 보완</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명령을 아낀다, 매끄럽게</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입력·변화율 이차 비용</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매끄럽다</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완만한 경사·거칠기를 피한다</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보간한 지형 비용</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보간이 매끄러워야 한다</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치명 영역에 들어가지 않는다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노드별 반평면 제약(soft L1)</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계단이라 gradient 없음</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사람과 거리를 둔다</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시간가변 반평면·거리 제약</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예측 위치가 시각마다 다르다</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속도·가속·자세 한계</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box 제약</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반드시 지킨다</a:t>
                      </a:r>
                    </a:p>
                  </a:txBody>
                  <a:tcPr marL="76200" marR="76200" marT="25400" marB="25400">
                    <a:solidFill>
                      <a:srgbClr val="F1EDE4"/>
                    </a:solidFill>
                  </a:tcPr>
                </a:tc>
              </a:tr>
            </a:tbl>
          </a:graphicData>
        </a:graphic>
      </p:graphicFrame>
      <p:sp>
        <p:nvSpPr>
          <p:cNvPr id="5" name="Rounded Rectangle 4"/>
          <p:cNvSpPr/>
          <p:nvPr/>
        </p:nvSpPr>
        <p:spPr>
          <a:xfrm>
            <a:off x="711200" y="4293791"/>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42079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불확실성으로 조일 것은 제약으로 둬야 한다. 비용에 녹아 있으면 튜브·확률 제약이 붙을 자리가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OCP 설계의 선택은 정확도, 풀이 속도, 견고함을 맞바꾼다</a:t>
            </a:r>
          </a:p>
        </p:txBody>
      </p:sp>
      <p:graphicFrame>
        <p:nvGraphicFramePr>
          <p:cNvPr id="4" name="Table 3"/>
          <p:cNvGraphicFramePr>
            <a:graphicFrameLocks noGrp="1"/>
          </p:cNvGraphicFramePr>
          <p:nvPr/>
        </p:nvGraphicFramePr>
        <p:xfrm>
          <a:off x="711200" y="1361678"/>
          <a:ext cx="10769600" cy="1757223"/>
        </p:xfrm>
        <a:graphic>
          <a:graphicData uri="http://schemas.openxmlformats.org/drawingml/2006/table">
            <a:tbl>
              <a:tblPr firstRow="0" bandRow="0">
                <a:tableStyleId>{5C22544A-7EE6-4342-B048-85BDC9FD1C3A}</a:tableStyleId>
              </a:tblPr>
              <a:tblGrid>
                <a:gridCol w="1323380"/>
                <a:gridCol w="3993158"/>
                <a:gridCol w="5453062"/>
              </a:tblGrid>
              <a:tr h="300067">
                <a:tc>
                  <a:txBody>
                    <a:bodyPr wrap="square"/>
                    <a:lstStyle/>
                    <a:p>
                      <a:r>
                        <a:rPr sz="1250" b="1" i="0">
                          <a:solidFill>
                            <a:srgbClr val="F4F1EA"/>
                          </a:solidFill>
                          <a:latin typeface="Arial"/>
                          <a:ea typeface="Malgun Gothic"/>
                          <a:cs typeface="Malgun Gothic"/>
                        </a:rPr>
                        <a:t>선택</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한쪽</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다른 쪽</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horizon</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길게: 멀리 보지만 무겁다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짧게: 빠르지만 근시안(종단 비용으로 보완)</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적분기</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Euler: 싸지만 부정확</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RK4: 정확, 큰 간격 가능</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모델</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기구학: 단순, 지연·슬립 모름</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동역학: 정확, 파라미터·계산 증가</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장애물</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노드별 반평면: 정확, 반복 필요</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매끄러운 근사: 한 식, 경계 흐림</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제약</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hard: 보장, infeasible 위험</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soft L1: 늘 풀림, 큰 ρ면 같은 해</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출발점:</a:t>
            </a:r>
            <a:r>
              <a:rPr sz="1300" b="0" i="0">
                <a:solidFill>
                  <a:srgbClr val="F4F1EA"/>
                </a:solidFill>
                <a:latin typeface="Arial"/>
                <a:ea typeface="Malgun Gothic"/>
                <a:cs typeface="Malgun Gothic"/>
              </a:rPr>
              <a:t> 기구학 모델 + RK4 + 선형 최소제곱 비용 + soft L1 제약. 문제가 보이는 곳만 하나씩 바꾼다.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실시간으로 풀기</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매 주기 완벽히 풀지 않고,</a:t>
            </a:r>
          </a:p>
          <a:p>
            <a:pPr>
              <a:lnSpc>
                <a:spcPct val="112240"/>
              </a:lnSpc>
            </a:pPr>
            <a:r>
              <a:rPr sz="3850" b="1" i="0">
                <a:solidFill>
                  <a:srgbClr val="F4F1EA"/>
                </a:solidFill>
                <a:latin typeface="Arial"/>
                <a:ea typeface="Malgun Gothic"/>
                <a:cs typeface="Malgun Gothic"/>
              </a:rPr>
              <a:t>한 스텝씩 꾸준히 고친다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SQP는 비선형 문제를 QP의 연속으로, RTI는 그 한 스텝을 주기마다 한 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SQP</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SQP는 비선형 문제를 지금 해 근처의 QP로 근사해 반복해서 푼다</a:t>
            </a:r>
          </a:p>
        </p:txBody>
      </p:sp>
      <p:sp>
        <p:nvSpPr>
          <p:cNvPr id="4" name="Rounded Rectangle 3"/>
          <p:cNvSpPr/>
          <p:nvPr/>
        </p:nvSpPr>
        <p:spPr>
          <a:xfrm>
            <a:off x="711200" y="1361678"/>
            <a:ext cx="2418358" cy="937220"/>
          </a:xfrm>
          <a:prstGeom prst="roundRect">
            <a:avLst>
              <a:gd name="adj" fmla="val 6775"/>
            </a:avLst>
          </a:prstGeom>
          <a:solidFill>
            <a:srgbClr val="FFFDF8"/>
          </a:solidFill>
          <a:ln>
            <a:noFill/>
          </a:ln>
        </p:spPr>
        <p:txBody>
          <a:bodyPr rtlCol="0" anchor="ctr"/>
          <a:lstStyle/>
          <a:p>
            <a:pPr algn="ctr"/>
          </a:p>
        </p:txBody>
      </p:sp>
      <p:sp>
        <p:nvSpPr>
          <p:cNvPr id="5" name="Rectangle 4"/>
          <p:cNvSpPr/>
          <p:nvPr/>
        </p:nvSpPr>
        <p:spPr>
          <a:xfrm>
            <a:off x="711200" y="1361678"/>
            <a:ext cx="2418358" cy="38100"/>
          </a:xfrm>
          <a:prstGeom prst="rect">
            <a:avLst/>
          </a:prstGeom>
          <a:solidFill>
            <a:srgbClr val="C2410C"/>
          </a:solidFill>
          <a:ln>
            <a:noFill/>
          </a:ln>
        </p:spPr>
        <p:txBody>
          <a:bodyPr rtlCol="0" anchor="ctr"/>
          <a:lstStyle/>
          <a:p>
            <a:pPr algn="ctr"/>
          </a:p>
        </p:txBody>
      </p:sp>
      <p:sp>
        <p:nvSpPr>
          <p:cNvPr id="6" name="Rectangle 5"/>
          <p:cNvSpPr/>
          <p:nvPr/>
        </p:nvSpPr>
        <p:spPr>
          <a:xfrm>
            <a:off x="3123208" y="1361678"/>
            <a:ext cx="6350" cy="937220"/>
          </a:xfrm>
          <a:prstGeom prst="rect">
            <a:avLst/>
          </a:prstGeom>
          <a:solidFill>
            <a:srgbClr val="D9D4C7"/>
          </a:solidFill>
          <a:ln>
            <a:noFill/>
          </a:ln>
        </p:spPr>
        <p:txBody>
          <a:bodyPr rtlCol="0" anchor="ctr"/>
          <a:lstStyle/>
          <a:p>
            <a:pPr algn="ctr"/>
          </a:p>
        </p:txBody>
      </p:sp>
      <p:sp>
        <p:nvSpPr>
          <p:cNvPr id="7" name="Rectangle 6"/>
          <p:cNvSpPr/>
          <p:nvPr/>
        </p:nvSpPr>
        <p:spPr>
          <a:xfrm>
            <a:off x="711200" y="2292548"/>
            <a:ext cx="2418358"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372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① 선형화</a:t>
            </a:r>
          </a:p>
        </p:txBody>
      </p:sp>
      <p:sp>
        <p:nvSpPr>
          <p:cNvPr id="10" name="TextBox 9"/>
          <p:cNvSpPr txBox="1"/>
          <p:nvPr/>
        </p:nvSpPr>
        <p:spPr>
          <a:xfrm>
            <a:off x="831850" y="17998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지금 해 </a:t>
            </a:r>
            <a:r>
              <a:rPr sz="1050" b="0" i="1">
                <a:solidFill>
                  <a:srgbClr val="16213A"/>
                </a:solidFill>
                <a:latin typeface="Arial"/>
                <a:ea typeface="Malgun Gothic"/>
                <a:cs typeface="Malgun Gothic"/>
              </a:rPr>
              <a:t>(x̄, ū)</a:t>
            </a:r>
            <a:r>
              <a:rPr sz="1050" b="0" i="0">
                <a:solidFill>
                  <a:srgbClr val="16213A"/>
                </a:solidFill>
                <a:latin typeface="Arial"/>
                <a:ea typeface="Malgun Gothic"/>
                <a:cs typeface="Malgun Gothic"/>
              </a:rPr>
              <a:t>에서 모델·제약의 Jacobian</a:t>
            </a:r>
          </a:p>
        </p:txBody>
      </p:sp>
      <p:sp>
        <p:nvSpPr>
          <p:cNvPr id="11" name="TextBox 10"/>
          <p:cNvSpPr txBox="1"/>
          <p:nvPr/>
        </p:nvSpPr>
        <p:spPr>
          <a:xfrm>
            <a:off x="321845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3494881" y="1361678"/>
            <a:ext cx="2418457" cy="937220"/>
          </a:xfrm>
          <a:prstGeom prst="roundRect">
            <a:avLst>
              <a:gd name="adj" fmla="val 6775"/>
            </a:avLst>
          </a:prstGeom>
          <a:solidFill>
            <a:srgbClr val="FFFDF8"/>
          </a:solidFill>
          <a:ln>
            <a:noFill/>
          </a:ln>
        </p:spPr>
        <p:txBody>
          <a:bodyPr rtlCol="0" anchor="ctr"/>
          <a:lstStyle/>
          <a:p>
            <a:pPr algn="ctr"/>
          </a:p>
        </p:txBody>
      </p:sp>
      <p:sp>
        <p:nvSpPr>
          <p:cNvPr id="13" name="Rectangle 12"/>
          <p:cNvSpPr/>
          <p:nvPr/>
        </p:nvSpPr>
        <p:spPr>
          <a:xfrm>
            <a:off x="3494881" y="1361678"/>
            <a:ext cx="2418457" cy="38100"/>
          </a:xfrm>
          <a:prstGeom prst="rect">
            <a:avLst/>
          </a:prstGeom>
          <a:solidFill>
            <a:srgbClr val="C2410C"/>
          </a:solidFill>
          <a:ln>
            <a:noFill/>
          </a:ln>
        </p:spPr>
        <p:txBody>
          <a:bodyPr rtlCol="0" anchor="ctr"/>
          <a:lstStyle/>
          <a:p>
            <a:pPr algn="ctr"/>
          </a:p>
        </p:txBody>
      </p:sp>
      <p:sp>
        <p:nvSpPr>
          <p:cNvPr id="14" name="Rectangle 13"/>
          <p:cNvSpPr/>
          <p:nvPr/>
        </p:nvSpPr>
        <p:spPr>
          <a:xfrm>
            <a:off x="5906988" y="1361678"/>
            <a:ext cx="6350" cy="937220"/>
          </a:xfrm>
          <a:prstGeom prst="rect">
            <a:avLst/>
          </a:prstGeom>
          <a:solidFill>
            <a:srgbClr val="D9D4C7"/>
          </a:solidFill>
          <a:ln>
            <a:noFill/>
          </a:ln>
        </p:spPr>
        <p:txBody>
          <a:bodyPr rtlCol="0" anchor="ctr"/>
          <a:lstStyle/>
          <a:p>
            <a:pPr algn="ctr"/>
          </a:p>
        </p:txBody>
      </p:sp>
      <p:sp>
        <p:nvSpPr>
          <p:cNvPr id="15" name="Rectangle 14"/>
          <p:cNvSpPr/>
          <p:nvPr/>
        </p:nvSpPr>
        <p:spPr>
          <a:xfrm>
            <a:off x="3494881" y="2292548"/>
            <a:ext cx="2418457" cy="6350"/>
          </a:xfrm>
          <a:prstGeom prst="rect">
            <a:avLst/>
          </a:prstGeom>
          <a:solidFill>
            <a:srgbClr val="D9D4C7"/>
          </a:solidFill>
          <a:ln>
            <a:noFill/>
          </a:ln>
        </p:spPr>
        <p:txBody>
          <a:bodyPr rtlCol="0" anchor="ctr"/>
          <a:lstStyle/>
          <a:p>
            <a:pPr algn="ctr"/>
          </a:p>
        </p:txBody>
      </p:sp>
      <p:sp>
        <p:nvSpPr>
          <p:cNvPr id="16" name="Rectangle 15"/>
          <p:cNvSpPr/>
          <p:nvPr/>
        </p:nvSpPr>
        <p:spPr>
          <a:xfrm>
            <a:off x="3494881" y="1361678"/>
            <a:ext cx="6350" cy="937220"/>
          </a:xfrm>
          <a:prstGeom prst="rect">
            <a:avLst/>
          </a:prstGeom>
          <a:solidFill>
            <a:srgbClr val="D9D4C7"/>
          </a:solidFill>
          <a:ln>
            <a:noFill/>
          </a:ln>
        </p:spPr>
        <p:txBody>
          <a:bodyPr rtlCol="0" anchor="ctr"/>
          <a:lstStyle/>
          <a:p>
            <a:pPr algn="ctr"/>
          </a:p>
        </p:txBody>
      </p:sp>
      <p:sp>
        <p:nvSpPr>
          <p:cNvPr id="17" name="TextBox 16"/>
          <p:cNvSpPr txBox="1"/>
          <p:nvPr/>
        </p:nvSpPr>
        <p:spPr>
          <a:xfrm>
            <a:off x="3615531"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② 이차 근사</a:t>
            </a:r>
          </a:p>
        </p:txBody>
      </p:sp>
      <p:sp>
        <p:nvSpPr>
          <p:cNvPr id="18" name="TextBox 17"/>
          <p:cNvSpPr txBox="1"/>
          <p:nvPr/>
        </p:nvSpPr>
        <p:spPr>
          <a:xfrm>
            <a:off x="3615531" y="17998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비용의 Hessian(Gauss-Newton: </a:t>
            </a:r>
            <a:r>
              <a:rPr sz="1050" b="0" i="1">
                <a:solidFill>
                  <a:srgbClr val="16213A"/>
                </a:solidFill>
                <a:latin typeface="Arial"/>
                <a:ea typeface="Malgun Gothic"/>
                <a:cs typeface="Malgun Gothic"/>
              </a:rPr>
              <a:t>J^⊤ W J</a:t>
            </a:r>
            <a:r>
              <a:rPr sz="1050" b="0" i="0">
                <a:solidFill>
                  <a:srgbClr val="16213A"/>
                </a:solidFill>
                <a:latin typeface="Arial"/>
                <a:ea typeface="Malgun Gothic"/>
                <a:cs typeface="Malgun Gothic"/>
              </a:rPr>
              <a:t>)</a:t>
            </a:r>
          </a:p>
        </p:txBody>
      </p:sp>
      <p:sp>
        <p:nvSpPr>
          <p:cNvPr id="19" name="TextBox 18"/>
          <p:cNvSpPr txBox="1"/>
          <p:nvPr/>
        </p:nvSpPr>
        <p:spPr>
          <a:xfrm>
            <a:off x="600223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6278662" y="1361678"/>
            <a:ext cx="2418358" cy="937220"/>
          </a:xfrm>
          <a:prstGeom prst="roundRect">
            <a:avLst>
              <a:gd name="adj" fmla="val 6775"/>
            </a:avLst>
          </a:prstGeom>
          <a:solidFill>
            <a:srgbClr val="FFFDF8"/>
          </a:solidFill>
          <a:ln>
            <a:noFill/>
          </a:ln>
        </p:spPr>
        <p:txBody>
          <a:bodyPr rtlCol="0" anchor="ctr"/>
          <a:lstStyle/>
          <a:p>
            <a:pPr algn="ctr"/>
          </a:p>
        </p:txBody>
      </p:sp>
      <p:sp>
        <p:nvSpPr>
          <p:cNvPr id="21" name="Rectangle 20"/>
          <p:cNvSpPr/>
          <p:nvPr/>
        </p:nvSpPr>
        <p:spPr>
          <a:xfrm>
            <a:off x="6278662" y="1361678"/>
            <a:ext cx="2418358" cy="38100"/>
          </a:xfrm>
          <a:prstGeom prst="rect">
            <a:avLst/>
          </a:prstGeom>
          <a:solidFill>
            <a:srgbClr val="C2410C"/>
          </a:solidFill>
          <a:ln>
            <a:noFill/>
          </a:ln>
        </p:spPr>
        <p:txBody>
          <a:bodyPr rtlCol="0" anchor="ctr"/>
          <a:lstStyle/>
          <a:p>
            <a:pPr algn="ctr"/>
          </a:p>
        </p:txBody>
      </p:sp>
      <p:sp>
        <p:nvSpPr>
          <p:cNvPr id="22" name="Rectangle 21"/>
          <p:cNvSpPr/>
          <p:nvPr/>
        </p:nvSpPr>
        <p:spPr>
          <a:xfrm>
            <a:off x="8690670" y="1361678"/>
            <a:ext cx="6350" cy="937220"/>
          </a:xfrm>
          <a:prstGeom prst="rect">
            <a:avLst/>
          </a:prstGeom>
          <a:solidFill>
            <a:srgbClr val="D9D4C7"/>
          </a:solidFill>
          <a:ln>
            <a:noFill/>
          </a:ln>
        </p:spPr>
        <p:txBody>
          <a:bodyPr rtlCol="0" anchor="ctr"/>
          <a:lstStyle/>
          <a:p>
            <a:pPr algn="ctr"/>
          </a:p>
        </p:txBody>
      </p:sp>
      <p:sp>
        <p:nvSpPr>
          <p:cNvPr id="23" name="Rectangle 22"/>
          <p:cNvSpPr/>
          <p:nvPr/>
        </p:nvSpPr>
        <p:spPr>
          <a:xfrm>
            <a:off x="6278662" y="2292548"/>
            <a:ext cx="2418358" cy="6350"/>
          </a:xfrm>
          <a:prstGeom prst="rect">
            <a:avLst/>
          </a:prstGeom>
          <a:solidFill>
            <a:srgbClr val="D9D4C7"/>
          </a:solidFill>
          <a:ln>
            <a:noFill/>
          </a:ln>
        </p:spPr>
        <p:txBody>
          <a:bodyPr rtlCol="0" anchor="ctr"/>
          <a:lstStyle/>
          <a:p>
            <a:pPr algn="ctr"/>
          </a:p>
        </p:txBody>
      </p:sp>
      <p:sp>
        <p:nvSpPr>
          <p:cNvPr id="24" name="Rectangle 23"/>
          <p:cNvSpPr/>
          <p:nvPr/>
        </p:nvSpPr>
        <p:spPr>
          <a:xfrm>
            <a:off x="6278662" y="1361678"/>
            <a:ext cx="6350" cy="937220"/>
          </a:xfrm>
          <a:prstGeom prst="rect">
            <a:avLst/>
          </a:prstGeom>
          <a:solidFill>
            <a:srgbClr val="D9D4C7"/>
          </a:solidFill>
          <a:ln>
            <a:noFill/>
          </a:ln>
        </p:spPr>
        <p:txBody>
          <a:bodyPr rtlCol="0" anchor="ctr"/>
          <a:lstStyle/>
          <a:p>
            <a:pPr algn="ctr"/>
          </a:p>
        </p:txBody>
      </p:sp>
      <p:sp>
        <p:nvSpPr>
          <p:cNvPr id="25" name="TextBox 24"/>
          <p:cNvSpPr txBox="1"/>
          <p:nvPr/>
        </p:nvSpPr>
        <p:spPr>
          <a:xfrm>
            <a:off x="6399312"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③ QP 풀기</a:t>
            </a:r>
          </a:p>
        </p:txBody>
      </p:sp>
      <p:sp>
        <p:nvSpPr>
          <p:cNvPr id="26" name="TextBox 25"/>
          <p:cNvSpPr txBox="1"/>
          <p:nvPr/>
        </p:nvSpPr>
        <p:spPr>
          <a:xfrm>
            <a:off x="6399312" y="17998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희소 구조를 쓰는 QP 솔버(HPIPM 등)</a:t>
            </a:r>
          </a:p>
        </p:txBody>
      </p:sp>
      <p:sp>
        <p:nvSpPr>
          <p:cNvPr id="27" name="TextBox 26"/>
          <p:cNvSpPr txBox="1"/>
          <p:nvPr/>
        </p:nvSpPr>
        <p:spPr>
          <a:xfrm>
            <a:off x="8785920"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9062343" y="1361678"/>
            <a:ext cx="2418457" cy="937220"/>
          </a:xfrm>
          <a:prstGeom prst="roundRect">
            <a:avLst>
              <a:gd name="adj" fmla="val 6775"/>
            </a:avLst>
          </a:prstGeom>
          <a:solidFill>
            <a:srgbClr val="FFFDF8"/>
          </a:solidFill>
          <a:ln>
            <a:noFill/>
          </a:ln>
        </p:spPr>
        <p:txBody>
          <a:bodyPr rtlCol="0" anchor="ctr"/>
          <a:lstStyle/>
          <a:p>
            <a:pPr algn="ctr"/>
          </a:p>
        </p:txBody>
      </p:sp>
      <p:sp>
        <p:nvSpPr>
          <p:cNvPr id="29" name="Rectangle 28"/>
          <p:cNvSpPr/>
          <p:nvPr/>
        </p:nvSpPr>
        <p:spPr>
          <a:xfrm>
            <a:off x="9062343" y="1361678"/>
            <a:ext cx="2418457" cy="38100"/>
          </a:xfrm>
          <a:prstGeom prst="rect">
            <a:avLst/>
          </a:prstGeom>
          <a:solidFill>
            <a:srgbClr val="C2410C"/>
          </a:solidFill>
          <a:ln>
            <a:noFill/>
          </a:ln>
        </p:spPr>
        <p:txBody>
          <a:bodyPr rtlCol="0" anchor="ctr"/>
          <a:lstStyle/>
          <a:p>
            <a:pPr algn="ctr"/>
          </a:p>
        </p:txBody>
      </p:sp>
      <p:sp>
        <p:nvSpPr>
          <p:cNvPr id="30" name="Rectangle 29"/>
          <p:cNvSpPr/>
          <p:nvPr/>
        </p:nvSpPr>
        <p:spPr>
          <a:xfrm>
            <a:off x="11474450" y="1361678"/>
            <a:ext cx="6350" cy="937220"/>
          </a:xfrm>
          <a:prstGeom prst="rect">
            <a:avLst/>
          </a:prstGeom>
          <a:solidFill>
            <a:srgbClr val="D9D4C7"/>
          </a:solidFill>
          <a:ln>
            <a:noFill/>
          </a:ln>
        </p:spPr>
        <p:txBody>
          <a:bodyPr rtlCol="0" anchor="ctr"/>
          <a:lstStyle/>
          <a:p>
            <a:pPr algn="ctr"/>
          </a:p>
        </p:txBody>
      </p:sp>
      <p:sp>
        <p:nvSpPr>
          <p:cNvPr id="31" name="Rectangle 30"/>
          <p:cNvSpPr/>
          <p:nvPr/>
        </p:nvSpPr>
        <p:spPr>
          <a:xfrm>
            <a:off x="9062343" y="2292548"/>
            <a:ext cx="2418457" cy="6350"/>
          </a:xfrm>
          <a:prstGeom prst="rect">
            <a:avLst/>
          </a:prstGeom>
          <a:solidFill>
            <a:srgbClr val="D9D4C7"/>
          </a:solidFill>
          <a:ln>
            <a:noFill/>
          </a:ln>
        </p:spPr>
        <p:txBody>
          <a:bodyPr rtlCol="0" anchor="ctr"/>
          <a:lstStyle/>
          <a:p>
            <a:pPr algn="ctr"/>
          </a:p>
        </p:txBody>
      </p:sp>
      <p:sp>
        <p:nvSpPr>
          <p:cNvPr id="32" name="Rectangle 31"/>
          <p:cNvSpPr/>
          <p:nvPr/>
        </p:nvSpPr>
        <p:spPr>
          <a:xfrm>
            <a:off x="9062343" y="1361678"/>
            <a:ext cx="6350" cy="937220"/>
          </a:xfrm>
          <a:prstGeom prst="rect">
            <a:avLst/>
          </a:prstGeom>
          <a:solidFill>
            <a:srgbClr val="D9D4C7"/>
          </a:solidFill>
          <a:ln>
            <a:noFill/>
          </a:ln>
        </p:spPr>
        <p:txBody>
          <a:bodyPr rtlCol="0" anchor="ctr"/>
          <a:lstStyle/>
          <a:p>
            <a:pPr algn="ctr"/>
          </a:p>
        </p:txBody>
      </p:sp>
      <p:sp>
        <p:nvSpPr>
          <p:cNvPr id="33" name="TextBox 32"/>
          <p:cNvSpPr txBox="1"/>
          <p:nvPr/>
        </p:nvSpPr>
        <p:spPr>
          <a:xfrm>
            <a:off x="9182993"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④ 갱신</a:t>
            </a:r>
          </a:p>
        </p:txBody>
      </p:sp>
      <p:sp>
        <p:nvSpPr>
          <p:cNvPr id="34" name="TextBox 33"/>
          <p:cNvSpPr txBox="1"/>
          <p:nvPr/>
        </p:nvSpPr>
        <p:spPr>
          <a:xfrm>
            <a:off x="9182993" y="1799828"/>
            <a:ext cx="2267872" cy="295250"/>
          </a:xfrm>
          <a:prstGeom prst="rect">
            <a:avLst/>
          </a:prstGeom>
          <a:noFill/>
        </p:spPr>
        <p:txBody>
          <a:bodyPr wrap="square" lIns="0" rIns="0" tIns="0" bIns="0" anchor="t">
            <a:normAutofit/>
          </a:bodyPr>
          <a:lstStyle/>
          <a:p>
            <a:pPr>
              <a:lnSpc>
                <a:spcPct val="128800"/>
              </a:lnSpc>
            </a:pPr>
            <a:r>
              <a:rPr sz="1050" b="0" i="1">
                <a:solidFill>
                  <a:srgbClr val="16213A"/>
                </a:solidFill>
                <a:latin typeface="Arial"/>
                <a:ea typeface="Malgun Gothic"/>
                <a:cs typeface="Malgun Gothic"/>
              </a:rPr>
              <a:t>(x̄, ū) ← (x̄, ū) + α Δ</a:t>
            </a:r>
          </a:p>
        </p:txBody>
      </p:sp>
      <p:sp>
        <p:nvSpPr>
          <p:cNvPr id="35" name="Rounded Rectangle 34"/>
          <p:cNvSpPr/>
          <p:nvPr/>
        </p:nvSpPr>
        <p:spPr>
          <a:xfrm>
            <a:off x="711200" y="2476698"/>
            <a:ext cx="10769600" cy="506512"/>
          </a:xfrm>
          <a:prstGeom prst="roundRect">
            <a:avLst>
              <a:gd name="adj" fmla="val 10029"/>
            </a:avLst>
          </a:prstGeom>
          <a:solidFill>
            <a:srgbClr val="FFFDF8"/>
          </a:solidFill>
          <a:ln>
            <a:noFill/>
          </a:ln>
        </p:spPr>
        <p:txBody>
          <a:bodyPr rtlCol="0" anchor="ctr"/>
          <a:lstStyle/>
          <a:p>
            <a:pPr algn="ctr"/>
          </a:p>
        </p:txBody>
      </p:sp>
      <p:sp>
        <p:nvSpPr>
          <p:cNvPr id="36" name="Rounded Rectangle 35"/>
          <p:cNvSpPr/>
          <p:nvPr/>
        </p:nvSpPr>
        <p:spPr>
          <a:xfrm>
            <a:off x="711200" y="2476698"/>
            <a:ext cx="38100" cy="506512"/>
          </a:xfrm>
          <a:prstGeom prst="roundRect">
            <a:avLst>
              <a:gd name="adj" fmla="val 50000"/>
            </a:avLst>
          </a:prstGeom>
          <a:solidFill>
            <a:srgbClr val="C2410C"/>
          </a:solidFill>
          <a:ln>
            <a:noFill/>
          </a:ln>
        </p:spPr>
        <p:txBody>
          <a:bodyPr rtlCol="0" anchor="ctr"/>
          <a:lstStyle/>
          <a:p>
            <a:pPr algn="ctr"/>
          </a:p>
        </p:txBody>
      </p:sp>
      <p:pic>
        <p:nvPicPr>
          <p:cNvPr id="37" name="Picture 36" descr="image.png"/>
          <p:cNvPicPr>
            <a:picLocks noChangeAspect="1"/>
          </p:cNvPicPr>
          <p:nvPr/>
        </p:nvPicPr>
        <p:blipFill>
          <a:blip r:embed="rId2"/>
          <a:stretch>
            <a:fillRect/>
          </a:stretch>
        </p:blipFill>
        <p:spPr>
          <a:xfrm>
            <a:off x="901700" y="2565598"/>
            <a:ext cx="10433050" cy="335062"/>
          </a:xfrm>
          <a:prstGeom prst="rect">
            <a:avLst/>
          </a:prstGeom>
        </p:spPr>
      </p:pic>
      <p:sp>
        <p:nvSpPr>
          <p:cNvPr id="38" name="Rounded Rectangle 37"/>
          <p:cNvSpPr/>
          <p:nvPr/>
        </p:nvSpPr>
        <p:spPr>
          <a:xfrm>
            <a:off x="711200" y="3161010"/>
            <a:ext cx="3488234" cy="1051520"/>
          </a:xfrm>
          <a:prstGeom prst="roundRect">
            <a:avLst>
              <a:gd name="adj" fmla="val 7246"/>
            </a:avLst>
          </a:prstGeom>
          <a:solidFill>
            <a:srgbClr val="FFFDF8"/>
          </a:solidFill>
          <a:ln>
            <a:noFill/>
          </a:ln>
        </p:spPr>
        <p:txBody>
          <a:bodyPr rtlCol="0" anchor="ctr"/>
          <a:lstStyle/>
          <a:p>
            <a:pPr algn="ctr"/>
          </a:p>
        </p:txBody>
      </p:sp>
      <p:sp>
        <p:nvSpPr>
          <p:cNvPr id="39" name="Rectangle 38"/>
          <p:cNvSpPr/>
          <p:nvPr/>
        </p:nvSpPr>
        <p:spPr>
          <a:xfrm>
            <a:off x="711200" y="3161010"/>
            <a:ext cx="3488234" cy="6350"/>
          </a:xfrm>
          <a:prstGeom prst="rect">
            <a:avLst/>
          </a:prstGeom>
          <a:solidFill>
            <a:srgbClr val="D9D4C7"/>
          </a:solidFill>
          <a:ln>
            <a:noFill/>
          </a:ln>
        </p:spPr>
        <p:txBody>
          <a:bodyPr rtlCol="0" anchor="ctr"/>
          <a:lstStyle/>
          <a:p>
            <a:pPr algn="ctr"/>
          </a:p>
        </p:txBody>
      </p:sp>
      <p:sp>
        <p:nvSpPr>
          <p:cNvPr id="40" name="Rectangle 39"/>
          <p:cNvSpPr/>
          <p:nvPr/>
        </p:nvSpPr>
        <p:spPr>
          <a:xfrm>
            <a:off x="4193084" y="3161010"/>
            <a:ext cx="6350" cy="1051520"/>
          </a:xfrm>
          <a:prstGeom prst="rect">
            <a:avLst/>
          </a:prstGeom>
          <a:solidFill>
            <a:srgbClr val="D9D4C7"/>
          </a:solidFill>
          <a:ln>
            <a:noFill/>
          </a:ln>
        </p:spPr>
        <p:txBody>
          <a:bodyPr rtlCol="0" anchor="ctr"/>
          <a:lstStyle/>
          <a:p>
            <a:pPr algn="ctr"/>
          </a:p>
        </p:txBody>
      </p:sp>
      <p:sp>
        <p:nvSpPr>
          <p:cNvPr id="41" name="Rectangle 40"/>
          <p:cNvSpPr/>
          <p:nvPr/>
        </p:nvSpPr>
        <p:spPr>
          <a:xfrm>
            <a:off x="711200" y="4206180"/>
            <a:ext cx="3488234" cy="6350"/>
          </a:xfrm>
          <a:prstGeom prst="rect">
            <a:avLst/>
          </a:prstGeom>
          <a:solidFill>
            <a:srgbClr val="D9D4C7"/>
          </a:solidFill>
          <a:ln>
            <a:noFill/>
          </a:ln>
        </p:spPr>
        <p:txBody>
          <a:bodyPr rtlCol="0" anchor="ctr"/>
          <a:lstStyle/>
          <a:p>
            <a:pPr algn="ctr"/>
          </a:p>
        </p:txBody>
      </p:sp>
      <p:sp>
        <p:nvSpPr>
          <p:cNvPr id="42" name="Rounded Rectangle 41"/>
          <p:cNvSpPr/>
          <p:nvPr/>
        </p:nvSpPr>
        <p:spPr>
          <a:xfrm>
            <a:off x="711200" y="3161010"/>
            <a:ext cx="50800" cy="1051520"/>
          </a:xfrm>
          <a:prstGeom prst="roundRect">
            <a:avLst>
              <a:gd name="adj" fmla="val 50000"/>
            </a:avLst>
          </a:prstGeom>
          <a:solidFill>
            <a:srgbClr val="1D4ED8"/>
          </a:solidFill>
          <a:ln>
            <a:noFill/>
          </a:ln>
        </p:spPr>
        <p:txBody>
          <a:bodyPr rtlCol="0" anchor="ctr"/>
          <a:lstStyle/>
          <a:p>
            <a:pPr algn="ctr"/>
          </a:p>
        </p:txBody>
      </p:sp>
      <p:sp>
        <p:nvSpPr>
          <p:cNvPr id="43" name="Rounded Rectangle 42"/>
          <p:cNvSpPr/>
          <p:nvPr/>
        </p:nvSpPr>
        <p:spPr>
          <a:xfrm>
            <a:off x="927100" y="3307060"/>
            <a:ext cx="1049238" cy="241300"/>
          </a:xfrm>
          <a:prstGeom prst="roundRect">
            <a:avLst>
              <a:gd name="adj" fmla="val 50000"/>
            </a:avLst>
          </a:prstGeom>
          <a:solidFill>
            <a:srgbClr val="DBE5FB"/>
          </a:solidFill>
          <a:ln>
            <a:noFill/>
          </a:ln>
        </p:spPr>
        <p:txBody>
          <a:bodyPr rtlCol="0" anchor="ctr"/>
          <a:lstStyle/>
          <a:p>
            <a:pPr algn="ctr"/>
          </a:p>
        </p:txBody>
      </p:sp>
      <p:sp>
        <p:nvSpPr>
          <p:cNvPr id="44" name="TextBox 43"/>
          <p:cNvSpPr txBox="1"/>
          <p:nvPr/>
        </p:nvSpPr>
        <p:spPr>
          <a:xfrm>
            <a:off x="1016000" y="3332460"/>
            <a:ext cx="92298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Gauss-Newton</a:t>
            </a:r>
          </a:p>
        </p:txBody>
      </p:sp>
      <p:sp>
        <p:nvSpPr>
          <p:cNvPr id="45" name="TextBox 44"/>
          <p:cNvSpPr txBox="1"/>
          <p:nvPr/>
        </p:nvSpPr>
        <p:spPr>
          <a:xfrm>
            <a:off x="927100" y="362456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최소제곱 비용이면 2차 미분 없이 Hessian을 근사. 늘 PSD(positive semidefinite)라 안정적.</a:t>
            </a:r>
          </a:p>
        </p:txBody>
      </p:sp>
      <p:sp>
        <p:nvSpPr>
          <p:cNvPr id="46" name="Rounded Rectangle 45"/>
          <p:cNvSpPr/>
          <p:nvPr/>
        </p:nvSpPr>
        <p:spPr>
          <a:xfrm>
            <a:off x="4351834" y="3161010"/>
            <a:ext cx="3488234" cy="1051520"/>
          </a:xfrm>
          <a:prstGeom prst="roundRect">
            <a:avLst>
              <a:gd name="adj" fmla="val 7246"/>
            </a:avLst>
          </a:prstGeom>
          <a:solidFill>
            <a:srgbClr val="FFFDF8"/>
          </a:solidFill>
          <a:ln>
            <a:noFill/>
          </a:ln>
        </p:spPr>
        <p:txBody>
          <a:bodyPr rtlCol="0" anchor="ctr"/>
          <a:lstStyle/>
          <a:p>
            <a:pPr algn="ctr"/>
          </a:p>
        </p:txBody>
      </p:sp>
      <p:sp>
        <p:nvSpPr>
          <p:cNvPr id="47" name="Rectangle 46"/>
          <p:cNvSpPr/>
          <p:nvPr/>
        </p:nvSpPr>
        <p:spPr>
          <a:xfrm>
            <a:off x="4351834" y="3161010"/>
            <a:ext cx="3488234" cy="6350"/>
          </a:xfrm>
          <a:prstGeom prst="rect">
            <a:avLst/>
          </a:prstGeom>
          <a:solidFill>
            <a:srgbClr val="D9D4C7"/>
          </a:solidFill>
          <a:ln>
            <a:noFill/>
          </a:ln>
        </p:spPr>
        <p:txBody>
          <a:bodyPr rtlCol="0" anchor="ctr"/>
          <a:lstStyle/>
          <a:p>
            <a:pPr algn="ctr"/>
          </a:p>
        </p:txBody>
      </p:sp>
      <p:sp>
        <p:nvSpPr>
          <p:cNvPr id="48" name="Rectangle 47"/>
          <p:cNvSpPr/>
          <p:nvPr/>
        </p:nvSpPr>
        <p:spPr>
          <a:xfrm>
            <a:off x="7833717" y="3161010"/>
            <a:ext cx="6350" cy="1051520"/>
          </a:xfrm>
          <a:prstGeom prst="rect">
            <a:avLst/>
          </a:prstGeom>
          <a:solidFill>
            <a:srgbClr val="D9D4C7"/>
          </a:solidFill>
          <a:ln>
            <a:noFill/>
          </a:ln>
        </p:spPr>
        <p:txBody>
          <a:bodyPr rtlCol="0" anchor="ctr"/>
          <a:lstStyle/>
          <a:p>
            <a:pPr algn="ctr"/>
          </a:p>
        </p:txBody>
      </p:sp>
      <p:sp>
        <p:nvSpPr>
          <p:cNvPr id="49" name="Rectangle 48"/>
          <p:cNvSpPr/>
          <p:nvPr/>
        </p:nvSpPr>
        <p:spPr>
          <a:xfrm>
            <a:off x="4351834" y="4206180"/>
            <a:ext cx="3488234" cy="6350"/>
          </a:xfrm>
          <a:prstGeom prst="rect">
            <a:avLst/>
          </a:prstGeom>
          <a:solidFill>
            <a:srgbClr val="D9D4C7"/>
          </a:solidFill>
          <a:ln>
            <a:noFill/>
          </a:ln>
        </p:spPr>
        <p:txBody>
          <a:bodyPr rtlCol="0" anchor="ctr"/>
          <a:lstStyle/>
          <a:p>
            <a:pPr algn="ctr"/>
          </a:p>
        </p:txBody>
      </p:sp>
      <p:sp>
        <p:nvSpPr>
          <p:cNvPr id="50" name="Rounded Rectangle 49"/>
          <p:cNvSpPr/>
          <p:nvPr/>
        </p:nvSpPr>
        <p:spPr>
          <a:xfrm>
            <a:off x="4351834" y="3161010"/>
            <a:ext cx="50800" cy="1051520"/>
          </a:xfrm>
          <a:prstGeom prst="roundRect">
            <a:avLst>
              <a:gd name="adj" fmla="val 50000"/>
            </a:avLst>
          </a:prstGeom>
          <a:solidFill>
            <a:srgbClr val="1D4ED8"/>
          </a:solidFill>
          <a:ln>
            <a:noFill/>
          </a:ln>
        </p:spPr>
        <p:txBody>
          <a:bodyPr rtlCol="0" anchor="ctr"/>
          <a:lstStyle/>
          <a:p>
            <a:pPr algn="ctr"/>
          </a:p>
        </p:txBody>
      </p:sp>
      <p:sp>
        <p:nvSpPr>
          <p:cNvPr id="51" name="Rounded Rectangle 50"/>
          <p:cNvSpPr/>
          <p:nvPr/>
        </p:nvSpPr>
        <p:spPr>
          <a:xfrm>
            <a:off x="4567734" y="3307060"/>
            <a:ext cx="660995" cy="241300"/>
          </a:xfrm>
          <a:prstGeom prst="roundRect">
            <a:avLst>
              <a:gd name="adj" fmla="val 50000"/>
            </a:avLst>
          </a:prstGeom>
          <a:solidFill>
            <a:srgbClr val="DBE5FB"/>
          </a:solidFill>
          <a:ln>
            <a:noFill/>
          </a:ln>
        </p:spPr>
        <p:txBody>
          <a:bodyPr rtlCol="0" anchor="ctr"/>
          <a:lstStyle/>
          <a:p>
            <a:pPr algn="ctr"/>
          </a:p>
        </p:txBody>
      </p:sp>
      <p:sp>
        <p:nvSpPr>
          <p:cNvPr id="52" name="TextBox 51"/>
          <p:cNvSpPr txBox="1"/>
          <p:nvPr/>
        </p:nvSpPr>
        <p:spPr>
          <a:xfrm>
            <a:off x="4656634" y="3332460"/>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희소 구조</a:t>
            </a:r>
          </a:p>
        </p:txBody>
      </p:sp>
      <p:sp>
        <p:nvSpPr>
          <p:cNvPr id="53" name="TextBox 52"/>
          <p:cNvSpPr txBox="1"/>
          <p:nvPr/>
        </p:nvSpPr>
        <p:spPr>
          <a:xfrm>
            <a:off x="4567734" y="362456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시간 단계마다 이웃 단계만 연결되는 banded 구조. Riccati식 풀이로 horizon 길이에 선형인 계산.</a:t>
            </a:r>
          </a:p>
        </p:txBody>
      </p:sp>
      <p:sp>
        <p:nvSpPr>
          <p:cNvPr id="54" name="Rounded Rectangle 53"/>
          <p:cNvSpPr/>
          <p:nvPr/>
        </p:nvSpPr>
        <p:spPr>
          <a:xfrm>
            <a:off x="7992467" y="3161010"/>
            <a:ext cx="3488234" cy="1051520"/>
          </a:xfrm>
          <a:prstGeom prst="roundRect">
            <a:avLst>
              <a:gd name="adj" fmla="val 7246"/>
            </a:avLst>
          </a:prstGeom>
          <a:solidFill>
            <a:srgbClr val="FFFDF8"/>
          </a:solidFill>
          <a:ln>
            <a:noFill/>
          </a:ln>
        </p:spPr>
        <p:txBody>
          <a:bodyPr rtlCol="0" anchor="ctr"/>
          <a:lstStyle/>
          <a:p>
            <a:pPr algn="ctr"/>
          </a:p>
        </p:txBody>
      </p:sp>
      <p:sp>
        <p:nvSpPr>
          <p:cNvPr id="55" name="Rectangle 54"/>
          <p:cNvSpPr/>
          <p:nvPr/>
        </p:nvSpPr>
        <p:spPr>
          <a:xfrm>
            <a:off x="7992467" y="3161010"/>
            <a:ext cx="3488234" cy="6350"/>
          </a:xfrm>
          <a:prstGeom prst="rect">
            <a:avLst/>
          </a:prstGeom>
          <a:solidFill>
            <a:srgbClr val="D9D4C7"/>
          </a:solidFill>
          <a:ln>
            <a:noFill/>
          </a:ln>
        </p:spPr>
        <p:txBody>
          <a:bodyPr rtlCol="0" anchor="ctr"/>
          <a:lstStyle/>
          <a:p>
            <a:pPr algn="ctr"/>
          </a:p>
        </p:txBody>
      </p:sp>
      <p:sp>
        <p:nvSpPr>
          <p:cNvPr id="56" name="Rectangle 55"/>
          <p:cNvSpPr/>
          <p:nvPr/>
        </p:nvSpPr>
        <p:spPr>
          <a:xfrm>
            <a:off x="11474351" y="3161010"/>
            <a:ext cx="6350" cy="1051520"/>
          </a:xfrm>
          <a:prstGeom prst="rect">
            <a:avLst/>
          </a:prstGeom>
          <a:solidFill>
            <a:srgbClr val="D9D4C7"/>
          </a:solidFill>
          <a:ln>
            <a:noFill/>
          </a:ln>
        </p:spPr>
        <p:txBody>
          <a:bodyPr rtlCol="0" anchor="ctr"/>
          <a:lstStyle/>
          <a:p>
            <a:pPr algn="ctr"/>
          </a:p>
        </p:txBody>
      </p:sp>
      <p:sp>
        <p:nvSpPr>
          <p:cNvPr id="57" name="Rectangle 56"/>
          <p:cNvSpPr/>
          <p:nvPr/>
        </p:nvSpPr>
        <p:spPr>
          <a:xfrm>
            <a:off x="7992467" y="4206180"/>
            <a:ext cx="3488234" cy="6350"/>
          </a:xfrm>
          <a:prstGeom prst="rect">
            <a:avLst/>
          </a:prstGeom>
          <a:solidFill>
            <a:srgbClr val="D9D4C7"/>
          </a:solidFill>
          <a:ln>
            <a:noFill/>
          </a:ln>
        </p:spPr>
        <p:txBody>
          <a:bodyPr rtlCol="0" anchor="ctr"/>
          <a:lstStyle/>
          <a:p>
            <a:pPr algn="ctr"/>
          </a:p>
        </p:txBody>
      </p:sp>
      <p:sp>
        <p:nvSpPr>
          <p:cNvPr id="58" name="Rounded Rectangle 57"/>
          <p:cNvSpPr/>
          <p:nvPr/>
        </p:nvSpPr>
        <p:spPr>
          <a:xfrm>
            <a:off x="7992467" y="3161010"/>
            <a:ext cx="50800" cy="1051520"/>
          </a:xfrm>
          <a:prstGeom prst="roundRect">
            <a:avLst>
              <a:gd name="adj" fmla="val 50000"/>
            </a:avLst>
          </a:prstGeom>
          <a:solidFill>
            <a:srgbClr val="C2410C"/>
          </a:solidFill>
          <a:ln>
            <a:noFill/>
          </a:ln>
        </p:spPr>
        <p:txBody>
          <a:bodyPr rtlCol="0" anchor="ctr"/>
          <a:lstStyle/>
          <a:p>
            <a:pPr algn="ctr"/>
          </a:p>
        </p:txBody>
      </p:sp>
      <p:sp>
        <p:nvSpPr>
          <p:cNvPr id="59" name="Rounded Rectangle 58"/>
          <p:cNvSpPr/>
          <p:nvPr/>
        </p:nvSpPr>
        <p:spPr>
          <a:xfrm>
            <a:off x="8208367" y="3307060"/>
            <a:ext cx="404416" cy="241300"/>
          </a:xfrm>
          <a:prstGeom prst="roundRect">
            <a:avLst>
              <a:gd name="adj" fmla="val 50000"/>
            </a:avLst>
          </a:prstGeom>
          <a:solidFill>
            <a:srgbClr val="FDE7C8"/>
          </a:solidFill>
          <a:ln>
            <a:noFill/>
          </a:ln>
        </p:spPr>
        <p:txBody>
          <a:bodyPr rtlCol="0" anchor="ctr"/>
          <a:lstStyle/>
          <a:p>
            <a:pPr algn="ctr"/>
          </a:p>
        </p:txBody>
      </p:sp>
      <p:sp>
        <p:nvSpPr>
          <p:cNvPr id="60" name="TextBox 59"/>
          <p:cNvSpPr txBox="1"/>
          <p:nvPr/>
        </p:nvSpPr>
        <p:spPr>
          <a:xfrm>
            <a:off x="8297267" y="3332460"/>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수렴</a:t>
            </a:r>
          </a:p>
        </p:txBody>
      </p:sp>
      <p:sp>
        <p:nvSpPr>
          <p:cNvPr id="61" name="TextBox 60"/>
          <p:cNvSpPr txBox="1"/>
          <p:nvPr/>
        </p:nvSpPr>
        <p:spPr>
          <a:xfrm>
            <a:off x="8208367" y="362456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 근처에서 빠르다. 멀면 line search·trust region이 필요하다.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SQP · 강연</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SQP와 Gauss-Newton은 비용의 볼록-비선형 구조를 이용하는 뉴턴형 방법이다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Diehl의 강연 ‘Convexity Exploiting Newton-Type Optimization for Learning and Control’. Gauss-Newton을 일반화한 뉴턴형 방법과 추정·제어 OCP에의 적용, 56분 (Institute for Pure &amp; Applied Mathematics (IPAM))</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054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39902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 1</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볼록-비선형 구조</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비용이 볼록 함수 ∘ 비선형 함수 꼴이면, 바깥 볼록 함수의 곡률만으로 Hessian을 근사한다. 최소제곱의 </a:t>
            </a:r>
            <a:r>
              <a:rPr sz="1150" b="0" i="1">
                <a:solidFill>
                  <a:srgbClr val="16213A"/>
                </a:solidFill>
                <a:latin typeface="Arial"/>
                <a:ea typeface="Malgun Gothic"/>
                <a:cs typeface="Malgun Gothic"/>
              </a:rPr>
              <a:t>J^⊤ W J</a:t>
            </a:r>
            <a:r>
              <a:rPr sz="1150" b="0" i="0">
                <a:solidFill>
                  <a:srgbClr val="16213A"/>
                </a:solidFill>
                <a:latin typeface="Arial"/>
                <a:ea typeface="Malgun Gothic"/>
                <a:cs typeface="Malgun Gothic"/>
              </a:rPr>
              <a:t>가 그 가장 단순한 경우다.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604617"/>
            <a:ext cx="540544"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630017"/>
            <a:ext cx="39902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 2</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추정과 제어에 같은 기계</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볼록 부분문제를 반복해 푸는 같은 알고리즘이 상태 추정과 MPC의 OCP에 쓰인다. 데이터 기반 변형도 다룬다.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M. Diehl, Intersections between Control, Learning and Optimization (IPAM, 2020)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실시간 반복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RTI는 주기마다 SQP 한 스텝만 가고, 준비 단계를 측정 전에 미리 한다</a:t>
            </a:r>
          </a:p>
        </p:txBody>
      </p:sp>
      <p:sp>
        <p:nvSpPr>
          <p:cNvPr id="4" name="Rounded Rectangle 3"/>
          <p:cNvSpPr/>
          <p:nvPr/>
        </p:nvSpPr>
        <p:spPr>
          <a:xfrm>
            <a:off x="711200" y="1361678"/>
            <a:ext cx="2418358" cy="937220"/>
          </a:xfrm>
          <a:prstGeom prst="roundRect">
            <a:avLst>
              <a:gd name="adj" fmla="val 6775"/>
            </a:avLst>
          </a:prstGeom>
          <a:solidFill>
            <a:srgbClr val="FFFDF8"/>
          </a:solidFill>
          <a:ln>
            <a:noFill/>
          </a:ln>
        </p:spPr>
        <p:txBody>
          <a:bodyPr rtlCol="0" anchor="ctr"/>
          <a:lstStyle/>
          <a:p>
            <a:pPr algn="ctr"/>
          </a:p>
        </p:txBody>
      </p:sp>
      <p:sp>
        <p:nvSpPr>
          <p:cNvPr id="5" name="Rectangle 4"/>
          <p:cNvSpPr/>
          <p:nvPr/>
        </p:nvSpPr>
        <p:spPr>
          <a:xfrm>
            <a:off x="711200" y="1361678"/>
            <a:ext cx="2418358" cy="38100"/>
          </a:xfrm>
          <a:prstGeom prst="rect">
            <a:avLst/>
          </a:prstGeom>
          <a:solidFill>
            <a:srgbClr val="C2410C"/>
          </a:solidFill>
          <a:ln>
            <a:noFill/>
          </a:ln>
        </p:spPr>
        <p:txBody>
          <a:bodyPr rtlCol="0" anchor="ctr"/>
          <a:lstStyle/>
          <a:p>
            <a:pPr algn="ctr"/>
          </a:p>
        </p:txBody>
      </p:sp>
      <p:sp>
        <p:nvSpPr>
          <p:cNvPr id="6" name="Rectangle 5"/>
          <p:cNvSpPr/>
          <p:nvPr/>
        </p:nvSpPr>
        <p:spPr>
          <a:xfrm>
            <a:off x="3123208" y="1361678"/>
            <a:ext cx="6350" cy="937220"/>
          </a:xfrm>
          <a:prstGeom prst="rect">
            <a:avLst/>
          </a:prstGeom>
          <a:solidFill>
            <a:srgbClr val="D9D4C7"/>
          </a:solidFill>
          <a:ln>
            <a:noFill/>
          </a:ln>
        </p:spPr>
        <p:txBody>
          <a:bodyPr rtlCol="0" anchor="ctr"/>
          <a:lstStyle/>
          <a:p>
            <a:pPr algn="ctr"/>
          </a:p>
        </p:txBody>
      </p:sp>
      <p:sp>
        <p:nvSpPr>
          <p:cNvPr id="7" name="Rectangle 6"/>
          <p:cNvSpPr/>
          <p:nvPr/>
        </p:nvSpPr>
        <p:spPr>
          <a:xfrm>
            <a:off x="711200" y="2292548"/>
            <a:ext cx="2418358"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372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준비 단계</a:t>
            </a:r>
          </a:p>
        </p:txBody>
      </p:sp>
      <p:sp>
        <p:nvSpPr>
          <p:cNvPr id="10" name="TextBox 9"/>
          <p:cNvSpPr txBox="1"/>
          <p:nvPr/>
        </p:nvSpPr>
        <p:spPr>
          <a:xfrm>
            <a:off x="831850" y="17998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측정이 오기 전: 이전 해를 한 스텝 밀고, 선형화와 QP 행렬 준비</a:t>
            </a:r>
          </a:p>
        </p:txBody>
      </p:sp>
      <p:sp>
        <p:nvSpPr>
          <p:cNvPr id="11" name="TextBox 10"/>
          <p:cNvSpPr txBox="1"/>
          <p:nvPr/>
        </p:nvSpPr>
        <p:spPr>
          <a:xfrm>
            <a:off x="321845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3494881" y="1361678"/>
            <a:ext cx="2418457" cy="937220"/>
          </a:xfrm>
          <a:prstGeom prst="roundRect">
            <a:avLst>
              <a:gd name="adj" fmla="val 6775"/>
            </a:avLst>
          </a:prstGeom>
          <a:solidFill>
            <a:srgbClr val="FFFDF8"/>
          </a:solidFill>
          <a:ln>
            <a:noFill/>
          </a:ln>
        </p:spPr>
        <p:txBody>
          <a:bodyPr rtlCol="0" anchor="ctr"/>
          <a:lstStyle/>
          <a:p>
            <a:pPr algn="ctr"/>
          </a:p>
        </p:txBody>
      </p:sp>
      <p:sp>
        <p:nvSpPr>
          <p:cNvPr id="13" name="Rectangle 12"/>
          <p:cNvSpPr/>
          <p:nvPr/>
        </p:nvSpPr>
        <p:spPr>
          <a:xfrm>
            <a:off x="3494881" y="1361678"/>
            <a:ext cx="2418457" cy="38100"/>
          </a:xfrm>
          <a:prstGeom prst="rect">
            <a:avLst/>
          </a:prstGeom>
          <a:solidFill>
            <a:srgbClr val="C2410C"/>
          </a:solidFill>
          <a:ln>
            <a:noFill/>
          </a:ln>
        </p:spPr>
        <p:txBody>
          <a:bodyPr rtlCol="0" anchor="ctr"/>
          <a:lstStyle/>
          <a:p>
            <a:pPr algn="ctr"/>
          </a:p>
        </p:txBody>
      </p:sp>
      <p:sp>
        <p:nvSpPr>
          <p:cNvPr id="14" name="Rectangle 13"/>
          <p:cNvSpPr/>
          <p:nvPr/>
        </p:nvSpPr>
        <p:spPr>
          <a:xfrm>
            <a:off x="5906988" y="1361678"/>
            <a:ext cx="6350" cy="937220"/>
          </a:xfrm>
          <a:prstGeom prst="rect">
            <a:avLst/>
          </a:prstGeom>
          <a:solidFill>
            <a:srgbClr val="D9D4C7"/>
          </a:solidFill>
          <a:ln>
            <a:noFill/>
          </a:ln>
        </p:spPr>
        <p:txBody>
          <a:bodyPr rtlCol="0" anchor="ctr"/>
          <a:lstStyle/>
          <a:p>
            <a:pPr algn="ctr"/>
          </a:p>
        </p:txBody>
      </p:sp>
      <p:sp>
        <p:nvSpPr>
          <p:cNvPr id="15" name="Rectangle 14"/>
          <p:cNvSpPr/>
          <p:nvPr/>
        </p:nvSpPr>
        <p:spPr>
          <a:xfrm>
            <a:off x="3494881" y="2292548"/>
            <a:ext cx="2418457" cy="6350"/>
          </a:xfrm>
          <a:prstGeom prst="rect">
            <a:avLst/>
          </a:prstGeom>
          <a:solidFill>
            <a:srgbClr val="D9D4C7"/>
          </a:solidFill>
          <a:ln>
            <a:noFill/>
          </a:ln>
        </p:spPr>
        <p:txBody>
          <a:bodyPr rtlCol="0" anchor="ctr"/>
          <a:lstStyle/>
          <a:p>
            <a:pPr algn="ctr"/>
          </a:p>
        </p:txBody>
      </p:sp>
      <p:sp>
        <p:nvSpPr>
          <p:cNvPr id="16" name="Rectangle 15"/>
          <p:cNvSpPr/>
          <p:nvPr/>
        </p:nvSpPr>
        <p:spPr>
          <a:xfrm>
            <a:off x="3494881" y="1361678"/>
            <a:ext cx="6350" cy="937220"/>
          </a:xfrm>
          <a:prstGeom prst="rect">
            <a:avLst/>
          </a:prstGeom>
          <a:solidFill>
            <a:srgbClr val="D9D4C7"/>
          </a:solidFill>
          <a:ln>
            <a:noFill/>
          </a:ln>
        </p:spPr>
        <p:txBody>
          <a:bodyPr rtlCol="0" anchor="ctr"/>
          <a:lstStyle/>
          <a:p>
            <a:pPr algn="ctr"/>
          </a:p>
        </p:txBody>
      </p:sp>
      <p:sp>
        <p:nvSpPr>
          <p:cNvPr id="17" name="TextBox 16"/>
          <p:cNvSpPr txBox="1"/>
          <p:nvPr/>
        </p:nvSpPr>
        <p:spPr>
          <a:xfrm>
            <a:off x="3615531"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측정 도착</a:t>
            </a:r>
          </a:p>
        </p:txBody>
      </p:sp>
      <p:sp>
        <p:nvSpPr>
          <p:cNvPr id="18" name="TextBox 17"/>
          <p:cNvSpPr txBox="1"/>
          <p:nvPr/>
        </p:nvSpPr>
        <p:spPr>
          <a:xfrm>
            <a:off x="3615531" y="1799828"/>
            <a:ext cx="2267872" cy="295250"/>
          </a:xfrm>
          <a:prstGeom prst="rect">
            <a:avLst/>
          </a:prstGeom>
          <a:noFill/>
        </p:spPr>
        <p:txBody>
          <a:bodyPr wrap="square" lIns="0" rIns="0" tIns="0" bIns="0" anchor="t">
            <a:normAutofit/>
          </a:bodyPr>
          <a:lstStyle/>
          <a:p>
            <a:pPr>
              <a:lnSpc>
                <a:spcPct val="128800"/>
              </a:lnSpc>
            </a:pPr>
            <a:r>
              <a:rPr sz="1050" b="0" i="1">
                <a:solidFill>
                  <a:srgbClr val="16213A"/>
                </a:solidFill>
                <a:latin typeface="Arial"/>
                <a:ea typeface="Malgun Gothic"/>
                <a:cs typeface="Malgun Gothic"/>
              </a:rPr>
              <a:t>x₀ = x̂</a:t>
            </a:r>
          </a:p>
        </p:txBody>
      </p:sp>
      <p:sp>
        <p:nvSpPr>
          <p:cNvPr id="19" name="TextBox 18"/>
          <p:cNvSpPr txBox="1"/>
          <p:nvPr/>
        </p:nvSpPr>
        <p:spPr>
          <a:xfrm>
            <a:off x="600223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6278662" y="1361678"/>
            <a:ext cx="2418358" cy="937220"/>
          </a:xfrm>
          <a:prstGeom prst="roundRect">
            <a:avLst>
              <a:gd name="adj" fmla="val 6775"/>
            </a:avLst>
          </a:prstGeom>
          <a:solidFill>
            <a:srgbClr val="FFFDF8"/>
          </a:solidFill>
          <a:ln>
            <a:noFill/>
          </a:ln>
        </p:spPr>
        <p:txBody>
          <a:bodyPr rtlCol="0" anchor="ctr"/>
          <a:lstStyle/>
          <a:p>
            <a:pPr algn="ctr"/>
          </a:p>
        </p:txBody>
      </p:sp>
      <p:sp>
        <p:nvSpPr>
          <p:cNvPr id="21" name="Rectangle 20"/>
          <p:cNvSpPr/>
          <p:nvPr/>
        </p:nvSpPr>
        <p:spPr>
          <a:xfrm>
            <a:off x="6278662" y="1361678"/>
            <a:ext cx="2418358" cy="38100"/>
          </a:xfrm>
          <a:prstGeom prst="rect">
            <a:avLst/>
          </a:prstGeom>
          <a:solidFill>
            <a:srgbClr val="C2410C"/>
          </a:solidFill>
          <a:ln>
            <a:noFill/>
          </a:ln>
        </p:spPr>
        <p:txBody>
          <a:bodyPr rtlCol="0" anchor="ctr"/>
          <a:lstStyle/>
          <a:p>
            <a:pPr algn="ctr"/>
          </a:p>
        </p:txBody>
      </p:sp>
      <p:sp>
        <p:nvSpPr>
          <p:cNvPr id="22" name="Rectangle 21"/>
          <p:cNvSpPr/>
          <p:nvPr/>
        </p:nvSpPr>
        <p:spPr>
          <a:xfrm>
            <a:off x="8690670" y="1361678"/>
            <a:ext cx="6350" cy="937220"/>
          </a:xfrm>
          <a:prstGeom prst="rect">
            <a:avLst/>
          </a:prstGeom>
          <a:solidFill>
            <a:srgbClr val="D9D4C7"/>
          </a:solidFill>
          <a:ln>
            <a:noFill/>
          </a:ln>
        </p:spPr>
        <p:txBody>
          <a:bodyPr rtlCol="0" anchor="ctr"/>
          <a:lstStyle/>
          <a:p>
            <a:pPr algn="ctr"/>
          </a:p>
        </p:txBody>
      </p:sp>
      <p:sp>
        <p:nvSpPr>
          <p:cNvPr id="23" name="Rectangle 22"/>
          <p:cNvSpPr/>
          <p:nvPr/>
        </p:nvSpPr>
        <p:spPr>
          <a:xfrm>
            <a:off x="6278662" y="2292548"/>
            <a:ext cx="2418358" cy="6350"/>
          </a:xfrm>
          <a:prstGeom prst="rect">
            <a:avLst/>
          </a:prstGeom>
          <a:solidFill>
            <a:srgbClr val="D9D4C7"/>
          </a:solidFill>
          <a:ln>
            <a:noFill/>
          </a:ln>
        </p:spPr>
        <p:txBody>
          <a:bodyPr rtlCol="0" anchor="ctr"/>
          <a:lstStyle/>
          <a:p>
            <a:pPr algn="ctr"/>
          </a:p>
        </p:txBody>
      </p:sp>
      <p:sp>
        <p:nvSpPr>
          <p:cNvPr id="24" name="Rectangle 23"/>
          <p:cNvSpPr/>
          <p:nvPr/>
        </p:nvSpPr>
        <p:spPr>
          <a:xfrm>
            <a:off x="6278662" y="1361678"/>
            <a:ext cx="6350" cy="937220"/>
          </a:xfrm>
          <a:prstGeom prst="rect">
            <a:avLst/>
          </a:prstGeom>
          <a:solidFill>
            <a:srgbClr val="D9D4C7"/>
          </a:solidFill>
          <a:ln>
            <a:noFill/>
          </a:ln>
        </p:spPr>
        <p:txBody>
          <a:bodyPr rtlCol="0" anchor="ctr"/>
          <a:lstStyle/>
          <a:p>
            <a:pPr algn="ctr"/>
          </a:p>
        </p:txBody>
      </p:sp>
      <p:sp>
        <p:nvSpPr>
          <p:cNvPr id="25" name="TextBox 24"/>
          <p:cNvSpPr txBox="1"/>
          <p:nvPr/>
        </p:nvSpPr>
        <p:spPr>
          <a:xfrm>
            <a:off x="6399312"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피드백 단계</a:t>
            </a:r>
          </a:p>
        </p:txBody>
      </p:sp>
      <p:sp>
        <p:nvSpPr>
          <p:cNvPr id="26" name="TextBox 25"/>
          <p:cNvSpPr txBox="1"/>
          <p:nvPr/>
        </p:nvSpPr>
        <p:spPr>
          <a:xfrm>
            <a:off x="6399312" y="17998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QP 한 번만 풀어 첫 입력을 바로 낸다</a:t>
            </a:r>
          </a:p>
        </p:txBody>
      </p:sp>
      <p:sp>
        <p:nvSpPr>
          <p:cNvPr id="27" name="TextBox 26"/>
          <p:cNvSpPr txBox="1"/>
          <p:nvPr/>
        </p:nvSpPr>
        <p:spPr>
          <a:xfrm>
            <a:off x="8785920"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9062343" y="1361678"/>
            <a:ext cx="2418457" cy="937220"/>
          </a:xfrm>
          <a:prstGeom prst="roundRect">
            <a:avLst>
              <a:gd name="adj" fmla="val 6775"/>
            </a:avLst>
          </a:prstGeom>
          <a:solidFill>
            <a:srgbClr val="FFFDF8"/>
          </a:solidFill>
          <a:ln>
            <a:noFill/>
          </a:ln>
        </p:spPr>
        <p:txBody>
          <a:bodyPr rtlCol="0" anchor="ctr"/>
          <a:lstStyle/>
          <a:p>
            <a:pPr algn="ctr"/>
          </a:p>
        </p:txBody>
      </p:sp>
      <p:sp>
        <p:nvSpPr>
          <p:cNvPr id="29" name="Rectangle 28"/>
          <p:cNvSpPr/>
          <p:nvPr/>
        </p:nvSpPr>
        <p:spPr>
          <a:xfrm>
            <a:off x="9062343" y="1361678"/>
            <a:ext cx="2418457" cy="38100"/>
          </a:xfrm>
          <a:prstGeom prst="rect">
            <a:avLst/>
          </a:prstGeom>
          <a:solidFill>
            <a:srgbClr val="C2410C"/>
          </a:solidFill>
          <a:ln>
            <a:noFill/>
          </a:ln>
        </p:spPr>
        <p:txBody>
          <a:bodyPr rtlCol="0" anchor="ctr"/>
          <a:lstStyle/>
          <a:p>
            <a:pPr algn="ctr"/>
          </a:p>
        </p:txBody>
      </p:sp>
      <p:sp>
        <p:nvSpPr>
          <p:cNvPr id="30" name="Rectangle 29"/>
          <p:cNvSpPr/>
          <p:nvPr/>
        </p:nvSpPr>
        <p:spPr>
          <a:xfrm>
            <a:off x="11474450" y="1361678"/>
            <a:ext cx="6350" cy="937220"/>
          </a:xfrm>
          <a:prstGeom prst="rect">
            <a:avLst/>
          </a:prstGeom>
          <a:solidFill>
            <a:srgbClr val="D9D4C7"/>
          </a:solidFill>
          <a:ln>
            <a:noFill/>
          </a:ln>
        </p:spPr>
        <p:txBody>
          <a:bodyPr rtlCol="0" anchor="ctr"/>
          <a:lstStyle/>
          <a:p>
            <a:pPr algn="ctr"/>
          </a:p>
        </p:txBody>
      </p:sp>
      <p:sp>
        <p:nvSpPr>
          <p:cNvPr id="31" name="Rectangle 30"/>
          <p:cNvSpPr/>
          <p:nvPr/>
        </p:nvSpPr>
        <p:spPr>
          <a:xfrm>
            <a:off x="9062343" y="2292548"/>
            <a:ext cx="2418457" cy="6350"/>
          </a:xfrm>
          <a:prstGeom prst="rect">
            <a:avLst/>
          </a:prstGeom>
          <a:solidFill>
            <a:srgbClr val="D9D4C7"/>
          </a:solidFill>
          <a:ln>
            <a:noFill/>
          </a:ln>
        </p:spPr>
        <p:txBody>
          <a:bodyPr rtlCol="0" anchor="ctr"/>
          <a:lstStyle/>
          <a:p>
            <a:pPr algn="ctr"/>
          </a:p>
        </p:txBody>
      </p:sp>
      <p:sp>
        <p:nvSpPr>
          <p:cNvPr id="32" name="Rectangle 31"/>
          <p:cNvSpPr/>
          <p:nvPr/>
        </p:nvSpPr>
        <p:spPr>
          <a:xfrm>
            <a:off x="9062343" y="1361678"/>
            <a:ext cx="6350" cy="937220"/>
          </a:xfrm>
          <a:prstGeom prst="rect">
            <a:avLst/>
          </a:prstGeom>
          <a:solidFill>
            <a:srgbClr val="D9D4C7"/>
          </a:solidFill>
          <a:ln>
            <a:noFill/>
          </a:ln>
        </p:spPr>
        <p:txBody>
          <a:bodyPr rtlCol="0" anchor="ctr"/>
          <a:lstStyle/>
          <a:p>
            <a:pPr algn="ctr"/>
          </a:p>
        </p:txBody>
      </p:sp>
      <p:sp>
        <p:nvSpPr>
          <p:cNvPr id="33" name="TextBox 32"/>
          <p:cNvSpPr txBox="1"/>
          <p:nvPr/>
        </p:nvSpPr>
        <p:spPr>
          <a:xfrm>
            <a:off x="9182993"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다음 주기</a:t>
            </a:r>
          </a:p>
        </p:txBody>
      </p:sp>
      <p:sp>
        <p:nvSpPr>
          <p:cNvPr id="34" name="TextBox 33"/>
          <p:cNvSpPr txBox="1"/>
          <p:nvPr/>
        </p:nvSpPr>
        <p:spPr>
          <a:xfrm>
            <a:off x="9182993" y="17998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문제가 조금만 바뀌므로 한 스텝씩 수렴을 따라간다</a:t>
            </a:r>
          </a:p>
        </p:txBody>
      </p:sp>
      <p:sp>
        <p:nvSpPr>
          <p:cNvPr id="35" name="Rounded Rectangle 34"/>
          <p:cNvSpPr/>
          <p:nvPr/>
        </p:nvSpPr>
        <p:spPr>
          <a:xfrm>
            <a:off x="711200" y="2476698"/>
            <a:ext cx="5308600" cy="1051520"/>
          </a:xfrm>
          <a:prstGeom prst="roundRect">
            <a:avLst>
              <a:gd name="adj" fmla="val 7246"/>
            </a:avLst>
          </a:prstGeom>
          <a:solidFill>
            <a:srgbClr val="FFFDF8"/>
          </a:solidFill>
          <a:ln>
            <a:noFill/>
          </a:ln>
        </p:spPr>
        <p:txBody>
          <a:bodyPr rtlCol="0" anchor="ctr"/>
          <a:lstStyle/>
          <a:p>
            <a:pPr algn="ctr"/>
          </a:p>
        </p:txBody>
      </p:sp>
      <p:sp>
        <p:nvSpPr>
          <p:cNvPr id="36" name="Rectangle 35"/>
          <p:cNvSpPr/>
          <p:nvPr/>
        </p:nvSpPr>
        <p:spPr>
          <a:xfrm>
            <a:off x="711200" y="2476698"/>
            <a:ext cx="5308600" cy="6350"/>
          </a:xfrm>
          <a:prstGeom prst="rect">
            <a:avLst/>
          </a:prstGeom>
          <a:solidFill>
            <a:srgbClr val="D9D4C7"/>
          </a:solidFill>
          <a:ln>
            <a:noFill/>
          </a:ln>
        </p:spPr>
        <p:txBody>
          <a:bodyPr rtlCol="0" anchor="ctr"/>
          <a:lstStyle/>
          <a:p>
            <a:pPr algn="ctr"/>
          </a:p>
        </p:txBody>
      </p:sp>
      <p:sp>
        <p:nvSpPr>
          <p:cNvPr id="37" name="Rectangle 36"/>
          <p:cNvSpPr/>
          <p:nvPr/>
        </p:nvSpPr>
        <p:spPr>
          <a:xfrm>
            <a:off x="6013450" y="2476698"/>
            <a:ext cx="6350" cy="1051520"/>
          </a:xfrm>
          <a:prstGeom prst="rect">
            <a:avLst/>
          </a:prstGeom>
          <a:solidFill>
            <a:srgbClr val="D9D4C7"/>
          </a:solidFill>
          <a:ln>
            <a:noFill/>
          </a:ln>
        </p:spPr>
        <p:txBody>
          <a:bodyPr rtlCol="0" anchor="ctr"/>
          <a:lstStyle/>
          <a:p>
            <a:pPr algn="ctr"/>
          </a:p>
        </p:txBody>
      </p:sp>
      <p:sp>
        <p:nvSpPr>
          <p:cNvPr id="38" name="Rectangle 37"/>
          <p:cNvSpPr/>
          <p:nvPr/>
        </p:nvSpPr>
        <p:spPr>
          <a:xfrm>
            <a:off x="711200" y="3521869"/>
            <a:ext cx="5308600" cy="6350"/>
          </a:xfrm>
          <a:prstGeom prst="rect">
            <a:avLst/>
          </a:prstGeom>
          <a:solidFill>
            <a:srgbClr val="D9D4C7"/>
          </a:solidFill>
          <a:ln>
            <a:noFill/>
          </a:ln>
        </p:spPr>
        <p:txBody>
          <a:bodyPr rtlCol="0" anchor="ctr"/>
          <a:lstStyle/>
          <a:p>
            <a:pPr algn="ctr"/>
          </a:p>
        </p:txBody>
      </p:sp>
      <p:sp>
        <p:nvSpPr>
          <p:cNvPr id="39" name="Rounded Rectangle 38"/>
          <p:cNvSpPr/>
          <p:nvPr/>
        </p:nvSpPr>
        <p:spPr>
          <a:xfrm>
            <a:off x="711200" y="2476698"/>
            <a:ext cx="50800" cy="1051520"/>
          </a:xfrm>
          <a:prstGeom prst="roundRect">
            <a:avLst>
              <a:gd name="adj" fmla="val 50000"/>
            </a:avLst>
          </a:prstGeom>
          <a:solidFill>
            <a:srgbClr val="15803D"/>
          </a:solidFill>
          <a:ln>
            <a:noFill/>
          </a:ln>
        </p:spPr>
        <p:txBody>
          <a:bodyPr rtlCol="0" anchor="ctr"/>
          <a:lstStyle/>
          <a:p>
            <a:pPr algn="ctr"/>
          </a:p>
        </p:txBody>
      </p:sp>
      <p:sp>
        <p:nvSpPr>
          <p:cNvPr id="40" name="Rounded Rectangle 39"/>
          <p:cNvSpPr/>
          <p:nvPr/>
        </p:nvSpPr>
        <p:spPr>
          <a:xfrm>
            <a:off x="927100" y="2622748"/>
            <a:ext cx="404416" cy="241300"/>
          </a:xfrm>
          <a:prstGeom prst="roundRect">
            <a:avLst>
              <a:gd name="adj" fmla="val 50000"/>
            </a:avLst>
          </a:prstGeom>
          <a:solidFill>
            <a:srgbClr val="D7EFDD"/>
          </a:solidFill>
          <a:ln>
            <a:noFill/>
          </a:ln>
        </p:spPr>
        <p:txBody>
          <a:bodyPr rtlCol="0" anchor="ctr"/>
          <a:lstStyle/>
          <a:p>
            <a:pPr algn="ctr"/>
          </a:p>
        </p:txBody>
      </p:sp>
      <p:sp>
        <p:nvSpPr>
          <p:cNvPr id="41" name="TextBox 40"/>
          <p:cNvSpPr txBox="1"/>
          <p:nvPr/>
        </p:nvSpPr>
        <p:spPr>
          <a:xfrm>
            <a:off x="1016000" y="264814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42" name="TextBox 41"/>
          <p:cNvSpPr txBox="1"/>
          <p:nvPr/>
        </p:nvSpPr>
        <p:spPr>
          <a:xfrm>
            <a:off x="927100" y="294024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측정에서 명령까지 지연이 QP 한 번뿐이다. 주기가 짧으면 해가 연속적으로 따라간다.</a:t>
            </a:r>
          </a:p>
        </p:txBody>
      </p:sp>
      <p:sp>
        <p:nvSpPr>
          <p:cNvPr id="43" name="Rounded Rectangle 42"/>
          <p:cNvSpPr/>
          <p:nvPr/>
        </p:nvSpPr>
        <p:spPr>
          <a:xfrm>
            <a:off x="6172200" y="2476698"/>
            <a:ext cx="5308600" cy="1051520"/>
          </a:xfrm>
          <a:prstGeom prst="roundRect">
            <a:avLst>
              <a:gd name="adj" fmla="val 7246"/>
            </a:avLst>
          </a:prstGeom>
          <a:solidFill>
            <a:srgbClr val="FFFDF8"/>
          </a:solidFill>
          <a:ln>
            <a:noFill/>
          </a:ln>
        </p:spPr>
        <p:txBody>
          <a:bodyPr rtlCol="0" anchor="ctr"/>
          <a:lstStyle/>
          <a:p>
            <a:pPr algn="ctr"/>
          </a:p>
        </p:txBody>
      </p:sp>
      <p:sp>
        <p:nvSpPr>
          <p:cNvPr id="44" name="Rectangle 43"/>
          <p:cNvSpPr/>
          <p:nvPr/>
        </p:nvSpPr>
        <p:spPr>
          <a:xfrm>
            <a:off x="6172200" y="2476698"/>
            <a:ext cx="5308600" cy="6350"/>
          </a:xfrm>
          <a:prstGeom prst="rect">
            <a:avLst/>
          </a:prstGeom>
          <a:solidFill>
            <a:srgbClr val="D9D4C7"/>
          </a:solidFill>
          <a:ln>
            <a:noFill/>
          </a:ln>
        </p:spPr>
        <p:txBody>
          <a:bodyPr rtlCol="0" anchor="ctr"/>
          <a:lstStyle/>
          <a:p>
            <a:pPr algn="ctr"/>
          </a:p>
        </p:txBody>
      </p:sp>
      <p:sp>
        <p:nvSpPr>
          <p:cNvPr id="45" name="Rectangle 44"/>
          <p:cNvSpPr/>
          <p:nvPr/>
        </p:nvSpPr>
        <p:spPr>
          <a:xfrm>
            <a:off x="11474450" y="2476698"/>
            <a:ext cx="6350" cy="1051520"/>
          </a:xfrm>
          <a:prstGeom prst="rect">
            <a:avLst/>
          </a:prstGeom>
          <a:solidFill>
            <a:srgbClr val="D9D4C7"/>
          </a:solidFill>
          <a:ln>
            <a:noFill/>
          </a:ln>
        </p:spPr>
        <p:txBody>
          <a:bodyPr rtlCol="0" anchor="ctr"/>
          <a:lstStyle/>
          <a:p>
            <a:pPr algn="ctr"/>
          </a:p>
        </p:txBody>
      </p:sp>
      <p:sp>
        <p:nvSpPr>
          <p:cNvPr id="46" name="Rectangle 45"/>
          <p:cNvSpPr/>
          <p:nvPr/>
        </p:nvSpPr>
        <p:spPr>
          <a:xfrm>
            <a:off x="6172200" y="3521869"/>
            <a:ext cx="5308600" cy="6350"/>
          </a:xfrm>
          <a:prstGeom prst="rect">
            <a:avLst/>
          </a:prstGeom>
          <a:solidFill>
            <a:srgbClr val="D9D4C7"/>
          </a:solidFill>
          <a:ln>
            <a:noFill/>
          </a:ln>
        </p:spPr>
        <p:txBody>
          <a:bodyPr rtlCol="0" anchor="ctr"/>
          <a:lstStyle/>
          <a:p>
            <a:pPr algn="ctr"/>
          </a:p>
        </p:txBody>
      </p:sp>
      <p:sp>
        <p:nvSpPr>
          <p:cNvPr id="47" name="Rounded Rectangle 46"/>
          <p:cNvSpPr/>
          <p:nvPr/>
        </p:nvSpPr>
        <p:spPr>
          <a:xfrm>
            <a:off x="6172200" y="2476698"/>
            <a:ext cx="50800" cy="1051520"/>
          </a:xfrm>
          <a:prstGeom prst="roundRect">
            <a:avLst>
              <a:gd name="adj" fmla="val 50000"/>
            </a:avLst>
          </a:prstGeom>
          <a:solidFill>
            <a:srgbClr val="C2410C"/>
          </a:solidFill>
          <a:ln>
            <a:noFill/>
          </a:ln>
        </p:spPr>
        <p:txBody>
          <a:bodyPr rtlCol="0" anchor="ctr"/>
          <a:lstStyle/>
          <a:p>
            <a:pPr algn="ctr"/>
          </a:p>
        </p:txBody>
      </p:sp>
      <p:sp>
        <p:nvSpPr>
          <p:cNvPr id="48" name="Rounded Rectangle 47"/>
          <p:cNvSpPr/>
          <p:nvPr/>
        </p:nvSpPr>
        <p:spPr>
          <a:xfrm>
            <a:off x="6388100" y="2622748"/>
            <a:ext cx="404416" cy="241300"/>
          </a:xfrm>
          <a:prstGeom prst="roundRect">
            <a:avLst>
              <a:gd name="adj" fmla="val 50000"/>
            </a:avLst>
          </a:prstGeom>
          <a:solidFill>
            <a:srgbClr val="FDE7C8"/>
          </a:solidFill>
          <a:ln>
            <a:noFill/>
          </a:ln>
        </p:spPr>
        <p:txBody>
          <a:bodyPr rtlCol="0" anchor="ctr"/>
          <a:lstStyle/>
          <a:p>
            <a:pPr algn="ctr"/>
          </a:p>
        </p:txBody>
      </p:sp>
      <p:sp>
        <p:nvSpPr>
          <p:cNvPr id="49" name="TextBox 48"/>
          <p:cNvSpPr txBox="1"/>
          <p:nvPr/>
        </p:nvSpPr>
        <p:spPr>
          <a:xfrm>
            <a:off x="6477000" y="264814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주의</a:t>
            </a:r>
          </a:p>
        </p:txBody>
      </p:sp>
      <p:sp>
        <p:nvSpPr>
          <p:cNvPr id="50" name="TextBox 49"/>
          <p:cNvSpPr txBox="1"/>
          <p:nvPr/>
        </p:nvSpPr>
        <p:spPr>
          <a:xfrm>
            <a:off x="6388100" y="294024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해가 크게 움직이면(새 장애물, 큰 외란) 한 스텝으로 부족하다. 리셋 직후·제약이 지금 해에 의존하면 반복을 늘린다.</a:t>
            </a:r>
          </a:p>
        </p:txBody>
      </p:sp>
      <p:sp>
        <p:nvSpPr>
          <p:cNvPr id="51" name="Rounded Rectangle 50"/>
          <p:cNvSpPr/>
          <p:nvPr/>
        </p:nvSpPr>
        <p:spPr>
          <a:xfrm>
            <a:off x="711200" y="3706019"/>
            <a:ext cx="10769600" cy="1051520"/>
          </a:xfrm>
          <a:prstGeom prst="roundRect">
            <a:avLst>
              <a:gd name="adj" fmla="val 7246"/>
            </a:avLst>
          </a:prstGeom>
          <a:solidFill>
            <a:srgbClr val="FFFDF8"/>
          </a:solidFill>
          <a:ln>
            <a:noFill/>
          </a:ln>
        </p:spPr>
        <p:txBody>
          <a:bodyPr rtlCol="0" anchor="ctr"/>
          <a:lstStyle/>
          <a:p>
            <a:pPr algn="ctr"/>
          </a:p>
        </p:txBody>
      </p:sp>
      <p:sp>
        <p:nvSpPr>
          <p:cNvPr id="52" name="Rectangle 51"/>
          <p:cNvSpPr/>
          <p:nvPr/>
        </p:nvSpPr>
        <p:spPr>
          <a:xfrm>
            <a:off x="711200" y="3706019"/>
            <a:ext cx="10769600" cy="6350"/>
          </a:xfrm>
          <a:prstGeom prst="rect">
            <a:avLst/>
          </a:prstGeom>
          <a:solidFill>
            <a:srgbClr val="D9D4C7"/>
          </a:solidFill>
          <a:ln>
            <a:noFill/>
          </a:ln>
        </p:spPr>
        <p:txBody>
          <a:bodyPr rtlCol="0" anchor="ctr"/>
          <a:lstStyle/>
          <a:p>
            <a:pPr algn="ctr"/>
          </a:p>
        </p:txBody>
      </p:sp>
      <p:sp>
        <p:nvSpPr>
          <p:cNvPr id="53" name="Rectangle 52"/>
          <p:cNvSpPr/>
          <p:nvPr/>
        </p:nvSpPr>
        <p:spPr>
          <a:xfrm>
            <a:off x="11474450" y="3706019"/>
            <a:ext cx="6350" cy="1051520"/>
          </a:xfrm>
          <a:prstGeom prst="rect">
            <a:avLst/>
          </a:prstGeom>
          <a:solidFill>
            <a:srgbClr val="D9D4C7"/>
          </a:solidFill>
          <a:ln>
            <a:noFill/>
          </a:ln>
        </p:spPr>
        <p:txBody>
          <a:bodyPr rtlCol="0" anchor="ctr"/>
          <a:lstStyle/>
          <a:p>
            <a:pPr algn="ctr"/>
          </a:p>
        </p:txBody>
      </p:sp>
      <p:sp>
        <p:nvSpPr>
          <p:cNvPr id="54" name="Rectangle 53"/>
          <p:cNvSpPr/>
          <p:nvPr/>
        </p:nvSpPr>
        <p:spPr>
          <a:xfrm>
            <a:off x="711200" y="4751189"/>
            <a:ext cx="10769600" cy="6350"/>
          </a:xfrm>
          <a:prstGeom prst="rect">
            <a:avLst/>
          </a:prstGeom>
          <a:solidFill>
            <a:srgbClr val="D9D4C7"/>
          </a:solidFill>
          <a:ln>
            <a:noFill/>
          </a:ln>
        </p:spPr>
        <p:txBody>
          <a:bodyPr rtlCol="0" anchor="ctr"/>
          <a:lstStyle/>
          <a:p>
            <a:pPr algn="ctr"/>
          </a:p>
        </p:txBody>
      </p:sp>
      <p:sp>
        <p:nvSpPr>
          <p:cNvPr id="55" name="Rounded Rectangle 54"/>
          <p:cNvSpPr/>
          <p:nvPr/>
        </p:nvSpPr>
        <p:spPr>
          <a:xfrm>
            <a:off x="711200" y="3706019"/>
            <a:ext cx="50800" cy="1051520"/>
          </a:xfrm>
          <a:prstGeom prst="roundRect">
            <a:avLst>
              <a:gd name="adj" fmla="val 50000"/>
            </a:avLst>
          </a:prstGeom>
          <a:solidFill>
            <a:srgbClr val="9AA6BC"/>
          </a:solidFill>
          <a:ln>
            <a:noFill/>
          </a:ln>
        </p:spPr>
        <p:txBody>
          <a:bodyPr rtlCol="0" anchor="ctr"/>
          <a:lstStyle/>
          <a:p>
            <a:pPr algn="ctr"/>
          </a:p>
        </p:txBody>
      </p:sp>
      <p:sp>
        <p:nvSpPr>
          <p:cNvPr id="56" name="Rounded Rectangle 55"/>
          <p:cNvSpPr/>
          <p:nvPr/>
        </p:nvSpPr>
        <p:spPr>
          <a:xfrm>
            <a:off x="927100" y="3852069"/>
            <a:ext cx="517723" cy="241300"/>
          </a:xfrm>
          <a:prstGeom prst="roundRect">
            <a:avLst>
              <a:gd name="adj" fmla="val 50000"/>
            </a:avLst>
          </a:prstGeom>
          <a:solidFill>
            <a:srgbClr val="ECE8DF"/>
          </a:solidFill>
          <a:ln>
            <a:noFill/>
          </a:ln>
        </p:spPr>
        <p:txBody>
          <a:bodyPr rtlCol="0" anchor="ctr"/>
          <a:lstStyle/>
          <a:p>
            <a:pPr algn="ctr"/>
          </a:p>
        </p:txBody>
      </p:sp>
      <p:sp>
        <p:nvSpPr>
          <p:cNvPr id="57" name="TextBox 56"/>
          <p:cNvSpPr txBox="1"/>
          <p:nvPr/>
        </p:nvSpPr>
        <p:spPr>
          <a:xfrm>
            <a:off x="1016000" y="3877469"/>
            <a:ext cx="37552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경험칙</a:t>
            </a:r>
          </a:p>
        </p:txBody>
      </p:sp>
      <p:sp>
        <p:nvSpPr>
          <p:cNvPr id="58" name="TextBox 57"/>
          <p:cNvSpPr txBox="1"/>
          <p:nvPr/>
        </p:nvSpPr>
        <p:spPr>
          <a:xfrm>
            <a:off x="927100" y="4169569"/>
            <a:ext cx="1071911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제약이 지금 해에 의존해 다시 계산되는 경우(노드별 접평면), 한 주기에 RTI를 몇 번 반복하고 soft 제약의 페널티를 충분히 크게 해야 해와 제약이 만난다. 둘 중 하나만 바꾸면 부족한 경우가 많다.</a:t>
            </a:r>
          </a:p>
        </p:txBody>
      </p:sp>
      <p:sp>
        <p:nvSpPr>
          <p:cNvPr id="59" name="Rectangle 58"/>
          <p:cNvSpPr/>
          <p:nvPr/>
        </p:nvSpPr>
        <p:spPr>
          <a:xfrm>
            <a:off x="711200" y="6424315"/>
            <a:ext cx="10769600" cy="230485"/>
          </a:xfrm>
          <a:prstGeom prst="rect">
            <a:avLst/>
          </a:prstGeom>
          <a:noFill/>
          <a:ln>
            <a:noFill/>
          </a:ln>
        </p:spPr>
        <p:txBody>
          <a:bodyPr rtlCol="0" anchor="ctr"/>
          <a:lstStyle/>
          <a:p>
            <a:pPr algn="ctr"/>
          </a:p>
        </p:txBody>
      </p:sp>
      <p:sp>
        <p:nvSpPr>
          <p:cNvPr id="60" name="Rectangle 5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61" name="TextBox 6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Diehl 외, Real-Time Iteration Scheme for Nonlinear Optimization in Optimal Feedback Control, SIAM J. Control Optim. 2005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도구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모델링 도구, NLP 솔버, QP 솔버를 구별해 고른다</a:t>
            </a:r>
          </a:p>
        </p:txBody>
      </p:sp>
      <p:graphicFrame>
        <p:nvGraphicFramePr>
          <p:cNvPr id="4" name="Table 3"/>
          <p:cNvGraphicFramePr>
            <a:graphicFrameLocks noGrp="1"/>
          </p:cNvGraphicFramePr>
          <p:nvPr/>
        </p:nvGraphicFramePr>
        <p:xfrm>
          <a:off x="711200" y="1361678"/>
          <a:ext cx="10769599" cy="1998423"/>
        </p:xfrm>
        <a:graphic>
          <a:graphicData uri="http://schemas.openxmlformats.org/drawingml/2006/table">
            <a:tbl>
              <a:tblPr firstRow="0" bandRow="0">
                <a:tableStyleId>{5C22544A-7EE6-4342-B048-85BDC9FD1C3A}</a:tableStyleId>
              </a:tblPr>
              <a:tblGrid>
                <a:gridCol w="1243905"/>
                <a:gridCol w="3470275"/>
                <a:gridCol w="2549624"/>
                <a:gridCol w="3505795"/>
              </a:tblGrid>
              <a:tr h="292814">
                <a:tc>
                  <a:txBody>
                    <a:bodyPr wrap="square"/>
                    <a:lstStyle/>
                    <a:p>
                      <a:r>
                        <a:rPr sz="1200" b="1" i="0">
                          <a:solidFill>
                            <a:srgbClr val="F4F1EA"/>
                          </a:solidFill>
                          <a:latin typeface="Arial"/>
                          <a:ea typeface="Malgun Gothic"/>
                          <a:cs typeface="Malgun Gothic"/>
                        </a:rPr>
                        <a:t>도구</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역할</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단점</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CasADi</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기호 모델링·자동 미분</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유연, 여러 솔버 연결</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그 자체로 실시간 MPC 전용은 아님</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IPOPT</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내점법 NLP 솔버</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견고, 오프라인 최적 해</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매 주기 실시간엔 무겁다</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acados</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MPC 전용 SQP·RTI + C 코드 생성</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빠르다, 임베디드</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설정 항목이 많다</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HPIPM</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MPC 구조 QP(내점법)</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banded 구조 활용, 빠름</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QP 전용</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qpOASES</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active-set QP</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warm start에 강함</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큰 문제에 느림</a:t>
                      </a:r>
                    </a:p>
                  </a:txBody>
                  <a:tcPr marL="76200" marR="76200" marT="25400" marB="25400">
                    <a:solidFill>
                      <a:srgbClr val="F1EDE4"/>
                    </a:solidFill>
                  </a:tcPr>
                </a:tc>
              </a:tr>
              <a:tr h="282019">
                <a:tc>
                  <a:txBody>
                    <a:bodyPr wrap="square"/>
                    <a:lstStyle/>
                    <a:p>
                      <a:r>
                        <a:rPr sz="1200" b="0" i="0">
                          <a:solidFill>
                            <a:srgbClr val="16213A"/>
                          </a:solidFill>
                          <a:latin typeface="Arial"/>
                          <a:ea typeface="Malgun Gothic"/>
                          <a:cs typeface="Malgun Gothic"/>
                        </a:rPr>
                        <a:t>OSQP</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ADMM QP</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단순, 큰 희소 문제</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정밀도가 낮을 수 있다</a:t>
                      </a:r>
                    </a:p>
                  </a:txBody>
                  <a:tcPr marL="76200" marR="76200" marT="25400" marB="25400">
                    <a:solidFill>
                      <a:srgbClr val="FFFDF8"/>
                    </a:solidFill>
                  </a:tcPr>
                </a:tc>
              </a:tr>
            </a:tbl>
          </a:graphicData>
        </a:graphic>
      </p:graphicFrame>
      <p:sp>
        <p:nvSpPr>
          <p:cNvPr id="5" name="Rounded Rectangle 4"/>
          <p:cNvSpPr/>
          <p:nvPr/>
        </p:nvSpPr>
        <p:spPr>
          <a:xfrm>
            <a:off x="711200" y="3890566"/>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01756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흔한 조합:</a:t>
            </a:r>
            <a:r>
              <a:rPr sz="1300" b="0" i="0">
                <a:solidFill>
                  <a:srgbClr val="F4F1EA"/>
                </a:solidFill>
                <a:latin typeface="Arial"/>
                <a:ea typeface="Malgun Gothic"/>
                <a:cs typeface="Malgun Gothic"/>
              </a:rPr>
              <a:t> CasADi로 모델을 쓰고, acados가 RK 적분기·SQP-RTI·HPIPM을 합친 C 코드를 생성한다.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도구 · 실례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acados로 만든 MPC가 창고의 AGV를 급커브와 장애물 사이로 추종시킨다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acados 기반 MPC가 곡률이 급히 뒤집히는 궤적을 따라 원형·사각 장애물 사이로 삼륜 AGV를 몬다 (acados)</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054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39902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 1</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Frenet–Cartesian 추종</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경로를 따라가는 추종 문제를 acados로 세워 실물 창고 차량에 얹었다(acados 공식 시연, IROS 2024 논문).</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604617"/>
            <a:ext cx="540544"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630017"/>
            <a:ext cx="39902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 2</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앞 장의 조합 그대로</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모델, 적분기, SQP-RTI, QP 솔버가 한 틀에 들어 있다. 설정 항목이 많은 대가로 임베디드 실시간이 된다.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acados 공식 채널 시연 영상 — 삼륜 AGV의 Frenet–Cartesian 궤적 추종 MPC (IROS 2024 논문, acados 개발진)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국소해와 초기값</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비볼록 문제는 초기값이 어느 쪽에 있느냐로 해가 정해진다</a:t>
            </a:r>
          </a:p>
        </p:txBody>
      </p:sp>
      <p:sp>
        <p:nvSpPr>
          <p:cNvPr id="4" name="Rounded Rectangle 3"/>
          <p:cNvSpPr/>
          <p:nvPr/>
        </p:nvSpPr>
        <p:spPr>
          <a:xfrm>
            <a:off x="711200" y="1361678"/>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544487" y="1361678"/>
            <a:ext cx="5103025" cy="2286000"/>
          </a:xfrm>
          <a:prstGeom prst="rect">
            <a:avLst/>
          </a:prstGeom>
        </p:spPr>
      </p:pic>
      <p:sp>
        <p:nvSpPr>
          <p:cNvPr id="6" name="TextBox 5"/>
          <p:cNvSpPr txBox="1"/>
          <p:nvPr/>
        </p:nvSpPr>
        <p:spPr>
          <a:xfrm>
            <a:off x="711200" y="3711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장애물을 뚫는 곧은 초기 경로(반복 0)를 gradient로 고치면, 작은 비대칭이 위·아래 중 한쪽을 정한다. 그 쪽이 좋은지는 gradient가 모른다</a:t>
            </a:r>
          </a:p>
        </p:txBody>
      </p:sp>
      <p:sp>
        <p:nvSpPr>
          <p:cNvPr id="7" name="Rounded Rectangle 6"/>
          <p:cNvSpPr/>
          <p:nvPr/>
        </p:nvSpPr>
        <p:spPr>
          <a:xfrm>
            <a:off x="711200" y="4066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066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066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111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066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212828"/>
            <a:ext cx="804168"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238228"/>
            <a:ext cx="67055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이전 해 밀기</a:t>
            </a:r>
          </a:p>
        </p:txBody>
      </p:sp>
      <p:sp>
        <p:nvSpPr>
          <p:cNvPr id="14" name="TextBox 13"/>
          <p:cNvSpPr txBox="1"/>
          <p:nvPr/>
        </p:nvSpPr>
        <p:spPr>
          <a:xfrm>
            <a:off x="927100" y="4530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가장 흔한 warm start. 상황이 크게 바뀌면 이전 위상에 갇힌다.</a:t>
            </a:r>
          </a:p>
        </p:txBody>
      </p:sp>
      <p:sp>
        <p:nvSpPr>
          <p:cNvPr id="15" name="Rounded Rectangle 14"/>
          <p:cNvSpPr/>
          <p:nvPr/>
        </p:nvSpPr>
        <p:spPr>
          <a:xfrm>
            <a:off x="4351834" y="4066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066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066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111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066778"/>
            <a:ext cx="50800" cy="105152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4567734" y="4212828"/>
            <a:ext cx="774204"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4656634" y="4238228"/>
            <a:ext cx="63969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상위 경로로</a:t>
            </a:r>
          </a:p>
        </p:txBody>
      </p:sp>
      <p:sp>
        <p:nvSpPr>
          <p:cNvPr id="22" name="TextBox 21"/>
          <p:cNvSpPr txBox="1"/>
          <p:nvPr/>
        </p:nvSpPr>
        <p:spPr>
          <a:xfrm>
            <a:off x="4567734" y="4530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전역 Planner나 학습 Planner의 궤적을 초기값으로. 위상을 상위 계층이 정한다.</a:t>
            </a:r>
          </a:p>
        </p:txBody>
      </p:sp>
      <p:sp>
        <p:nvSpPr>
          <p:cNvPr id="23" name="Rounded Rectangle 22"/>
          <p:cNvSpPr/>
          <p:nvPr/>
        </p:nvSpPr>
        <p:spPr>
          <a:xfrm>
            <a:off x="7992467" y="4066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066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066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111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066778"/>
            <a:ext cx="50800" cy="1051520"/>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8208367" y="4212828"/>
            <a:ext cx="774204"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8297267" y="4238228"/>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여러 초기값</a:t>
            </a:r>
          </a:p>
        </p:txBody>
      </p:sp>
      <p:sp>
        <p:nvSpPr>
          <p:cNvPr id="30" name="TextBox 29"/>
          <p:cNvSpPr txBox="1"/>
          <p:nvPr/>
        </p:nvSpPr>
        <p:spPr>
          <a:xfrm>
            <a:off x="8208367" y="4530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후보 여럿을 병렬로 풀고 가장 좋은 것을. 계산이 배로 든다.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풀이 방식은 정확도와 지연을 맞바꾼다</a:t>
            </a:r>
          </a:p>
        </p:txBody>
      </p:sp>
      <p:graphicFrame>
        <p:nvGraphicFramePr>
          <p:cNvPr id="4" name="Table 3"/>
          <p:cNvGraphicFramePr>
            <a:graphicFrameLocks noGrp="1"/>
          </p:cNvGraphicFramePr>
          <p:nvPr/>
        </p:nvGraphicFramePr>
        <p:xfrm>
          <a:off x="711200" y="1361678"/>
          <a:ext cx="10769600" cy="1757223"/>
        </p:xfrm>
        <a:graphic>
          <a:graphicData uri="http://schemas.openxmlformats.org/drawingml/2006/table">
            <a:tbl>
              <a:tblPr firstRow="0" bandRow="0">
                <a:tableStyleId>{5C22544A-7EE6-4342-B048-85BDC9FD1C3A}</a:tableStyleId>
              </a:tblPr>
              <a:tblGrid>
                <a:gridCol w="2594967"/>
                <a:gridCol w="3443188"/>
                <a:gridCol w="4731445"/>
              </a:tblGrid>
              <a:tr h="300067">
                <a:tc>
                  <a:txBody>
                    <a:bodyPr wrap="square"/>
                    <a:lstStyle/>
                    <a:p>
                      <a:r>
                        <a:rPr sz="1250" b="1" i="0">
                          <a:solidFill>
                            <a:srgbClr val="F4F1EA"/>
                          </a:solidFill>
                          <a:latin typeface="Arial"/>
                          <a:ea typeface="Malgun Gothic"/>
                          <a:cs typeface="Malgun Gothic"/>
                        </a:rPr>
                        <a:t>방식</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수렴까지 SQP</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정확한 국소 최적</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시간이 들쭉날쭉, 주기를 넘길 수 있다</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RTI(주기당 1회)</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지연이 짧고 일정</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해가 크게 바뀌면 따라가지 못한다</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RTI 여러 회</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중간</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시간 예산 안에서 반복 수를 정해야</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내점법 NLP</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견고, 나쁜 초기값에 강함</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실시간에 무겁다</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학습 초기값 + SQP</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위상 선택을 학습에 맡긴다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학습이 틀리면 나쁜 위상에서 시작</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원칙:</a:t>
            </a:r>
            <a:r>
              <a:rPr sz="1300" b="0" i="0">
                <a:solidFill>
                  <a:srgbClr val="F4F1EA"/>
                </a:solidFill>
                <a:latin typeface="Arial"/>
                <a:ea typeface="Malgun Gothic"/>
                <a:cs typeface="Malgun Gothic"/>
              </a:rPr>
              <a:t> 평균이 아니라 최악의 풀이 시간을 재고, 실패(infeasible·최대 반복)를 기록한다.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모델 오차와 불확실성</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명목 모델에 잔차를 더하고,</a:t>
            </a:r>
          </a:p>
          <a:p>
            <a:pPr>
              <a:lnSpc>
                <a:spcPct val="112240"/>
              </a:lnSpc>
            </a:pPr>
            <a:r>
              <a:rPr sz="3850" b="1" i="0">
                <a:solidFill>
                  <a:srgbClr val="F4F1EA"/>
                </a:solidFill>
                <a:latin typeface="Arial"/>
                <a:ea typeface="Malgun Gothic"/>
                <a:cs typeface="Malgun Gothic"/>
              </a:rPr>
              <a:t>그 불확실성만큼 제약을 조인다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학습 잔차는 파라미터로 넣고, 튜브와 확률 제약이 여유를 정한다.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학습 잔차</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잔차의 평균을 노드별 파라미터로 넣으면 0차 근사가 저절로 선다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TextBox 6"/>
          <p:cNvSpPr txBox="1"/>
          <p:nvPr/>
        </p:nvSpPr>
        <p:spPr>
          <a:xfrm>
            <a:off x="749300" y="190648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잔차를 이전 해의 예측 노드에서 계산해 상수로 넘긴다</a:t>
            </a:r>
          </a:p>
        </p:txBody>
      </p:sp>
      <p:sp>
        <p:nvSpPr>
          <p:cNvPr id="8" name="TextBox 7"/>
          <p:cNvSpPr txBox="1"/>
          <p:nvPr/>
        </p:nvSpPr>
        <p:spPr>
          <a:xfrm>
            <a:off x="749300" y="221763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솔버는 </a:t>
            </a:r>
            <a:r>
              <a:rPr sz="1250" b="0" i="1">
                <a:solidFill>
                  <a:srgbClr val="16213A"/>
                </a:solidFill>
                <a:latin typeface="Arial"/>
                <a:ea typeface="Malgun Gothic"/>
                <a:cs typeface="Malgun Gothic"/>
              </a:rPr>
              <a:t>∂ d / ∂ x = 0</a:t>
            </a:r>
            <a:r>
              <a:rPr sz="1250" b="0" i="0">
                <a:solidFill>
                  <a:srgbClr val="16213A"/>
                </a:solidFill>
                <a:latin typeface="Arial"/>
                <a:ea typeface="Malgun Gothic"/>
                <a:cs typeface="Malgun Gothic"/>
              </a:rPr>
              <a:t>으로 본다 — 이것이 </a:t>
            </a:r>
            <a:r>
              <a:rPr sz="1250" b="1" i="0">
                <a:solidFill>
                  <a:srgbClr val="16213A"/>
                </a:solidFill>
                <a:latin typeface="Arial"/>
                <a:ea typeface="Malgun Gothic"/>
                <a:cs typeface="Malgun Gothic"/>
              </a:rPr>
              <a:t>0차 근사</a:t>
            </a:r>
          </a:p>
        </p:txBody>
      </p:sp>
      <p:sp>
        <p:nvSpPr>
          <p:cNvPr id="9" name="TextBox 8"/>
          <p:cNvSpPr txBox="1"/>
          <p:nvPr/>
        </p:nvSpPr>
        <p:spPr>
          <a:xfrm>
            <a:off x="749300" y="252878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탐색 방향은 명목 모델의 미분, 예측에는 잔차가 들어간다</a:t>
            </a:r>
          </a:p>
        </p:txBody>
      </p:sp>
      <p:sp>
        <p:nvSpPr>
          <p:cNvPr id="10" name="TextBox 9"/>
          <p:cNvSpPr txBox="1"/>
          <p:nvPr/>
        </p:nvSpPr>
        <p:spPr>
          <a:xfrm>
            <a:off x="749300" y="283993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코드 재생성이 필요 없고 계산이 거의 늘지 않는다</a:t>
            </a:r>
          </a:p>
        </p:txBody>
      </p:sp>
      <p:sp>
        <p:nvSpPr>
          <p:cNvPr id="11" name="Rounded Rectangle 10"/>
          <p:cNvSpPr/>
          <p:nvPr/>
        </p:nvSpPr>
        <p:spPr>
          <a:xfrm>
            <a:off x="6223000" y="1361678"/>
            <a:ext cx="52578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12" name="Picture 11" descr="image.jpg"/>
          <p:cNvPicPr>
            <a:picLocks noChangeAspect="1"/>
          </p:cNvPicPr>
          <p:nvPr/>
        </p:nvPicPr>
        <p:blipFill>
          <a:blip r:embed="rId3"/>
          <a:stretch>
            <a:fillRect/>
          </a:stretch>
        </p:blipFill>
        <p:spPr>
          <a:xfrm>
            <a:off x="6311900" y="1361678"/>
            <a:ext cx="5080000" cy="2159000"/>
          </a:xfrm>
          <a:prstGeom prst="rect">
            <a:avLst/>
          </a:prstGeom>
        </p:spPr>
      </p:pic>
      <p:sp>
        <p:nvSpPr>
          <p:cNvPr id="13" name="TextBox 12"/>
          <p:cNvSpPr txBox="1"/>
          <p:nvPr/>
        </p:nvSpPr>
        <p:spPr>
          <a:xfrm>
            <a:off x="6223000" y="3584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잔차 샘플 14개로 피팅한 GP와 선형 회귀. 데이터 분포 밖에서 σ가 커진다</a:t>
            </a:r>
          </a:p>
        </p:txBody>
      </p:sp>
      <p:sp>
        <p:nvSpPr>
          <p:cNvPr id="14" name="Rounded Rectangle 13"/>
          <p:cNvSpPr/>
          <p:nvPr/>
        </p:nvSpPr>
        <p:spPr>
          <a:xfrm>
            <a:off x="711200" y="3939778"/>
            <a:ext cx="5308600" cy="1051520"/>
          </a:xfrm>
          <a:prstGeom prst="roundRect">
            <a:avLst>
              <a:gd name="adj" fmla="val 7246"/>
            </a:avLst>
          </a:prstGeom>
          <a:solidFill>
            <a:srgbClr val="FFFDF8"/>
          </a:solidFill>
          <a:ln>
            <a:noFill/>
          </a:ln>
        </p:spPr>
        <p:txBody>
          <a:bodyPr rtlCol="0" anchor="ctr"/>
          <a:lstStyle/>
          <a:p>
            <a:pPr algn="ctr"/>
          </a:p>
        </p:txBody>
      </p:sp>
      <p:sp>
        <p:nvSpPr>
          <p:cNvPr id="15" name="Rectangle 14"/>
          <p:cNvSpPr/>
          <p:nvPr/>
        </p:nvSpPr>
        <p:spPr>
          <a:xfrm>
            <a:off x="711200" y="39397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6013450" y="3939778"/>
            <a:ext cx="6350" cy="1051520"/>
          </a:xfrm>
          <a:prstGeom prst="rect">
            <a:avLst/>
          </a:prstGeom>
          <a:solidFill>
            <a:srgbClr val="D9D4C7"/>
          </a:solidFill>
          <a:ln>
            <a:noFill/>
          </a:ln>
        </p:spPr>
        <p:txBody>
          <a:bodyPr rtlCol="0" anchor="ctr"/>
          <a:lstStyle/>
          <a:p>
            <a:pPr algn="ctr"/>
          </a:p>
        </p:txBody>
      </p:sp>
      <p:sp>
        <p:nvSpPr>
          <p:cNvPr id="17" name="Rectangle 16"/>
          <p:cNvSpPr/>
          <p:nvPr/>
        </p:nvSpPr>
        <p:spPr>
          <a:xfrm>
            <a:off x="711200" y="4984948"/>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711200" y="3939778"/>
            <a:ext cx="50800" cy="1051520"/>
          </a:xfrm>
          <a:prstGeom prst="roundRect">
            <a:avLst>
              <a:gd name="adj" fmla="val 50000"/>
            </a:avLst>
          </a:prstGeom>
          <a:solidFill>
            <a:srgbClr val="15803D"/>
          </a:solidFill>
          <a:ln>
            <a:noFill/>
          </a:ln>
        </p:spPr>
        <p:txBody>
          <a:bodyPr rtlCol="0" anchor="ctr"/>
          <a:lstStyle/>
          <a:p>
            <a:pPr algn="ctr"/>
          </a:p>
        </p:txBody>
      </p:sp>
      <p:sp>
        <p:nvSpPr>
          <p:cNvPr id="19" name="Rounded Rectangle 18"/>
          <p:cNvSpPr/>
          <p:nvPr/>
        </p:nvSpPr>
        <p:spPr>
          <a:xfrm>
            <a:off x="927100" y="4085828"/>
            <a:ext cx="404416" cy="241300"/>
          </a:xfrm>
          <a:prstGeom prst="roundRect">
            <a:avLst>
              <a:gd name="adj" fmla="val 50000"/>
            </a:avLst>
          </a:prstGeom>
          <a:solidFill>
            <a:srgbClr val="D7EFDD"/>
          </a:solidFill>
          <a:ln>
            <a:noFill/>
          </a:ln>
        </p:spPr>
        <p:txBody>
          <a:bodyPr rtlCol="0" anchor="ctr"/>
          <a:lstStyle/>
          <a:p>
            <a:pPr algn="ctr"/>
          </a:p>
        </p:txBody>
      </p:sp>
      <p:sp>
        <p:nvSpPr>
          <p:cNvPr id="20" name="TextBox 19"/>
          <p:cNvSpPr txBox="1"/>
          <p:nvPr/>
        </p:nvSpPr>
        <p:spPr>
          <a:xfrm>
            <a:off x="1016000" y="4111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21" name="TextBox 20"/>
          <p:cNvSpPr txBox="1"/>
          <p:nvPr/>
        </p:nvSpPr>
        <p:spPr>
          <a:xfrm>
            <a:off x="927100" y="44033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명목 모델의 구조와 솔버를 그대로 두고 예측만 고친다.</a:t>
            </a:r>
          </a:p>
        </p:txBody>
      </p:sp>
      <p:sp>
        <p:nvSpPr>
          <p:cNvPr id="22" name="Rounded Rectangle 21"/>
          <p:cNvSpPr/>
          <p:nvPr/>
        </p:nvSpPr>
        <p:spPr>
          <a:xfrm>
            <a:off x="6172200" y="3939778"/>
            <a:ext cx="5308600"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6172200" y="3939778"/>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11474450" y="3939778"/>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6172200" y="4984948"/>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6172200" y="3939778"/>
            <a:ext cx="50800" cy="105152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6388100" y="4085828"/>
            <a:ext cx="404416"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6477000" y="4111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함정</a:t>
            </a:r>
          </a:p>
        </p:txBody>
      </p:sp>
      <p:sp>
        <p:nvSpPr>
          <p:cNvPr id="29" name="TextBox 28"/>
          <p:cNvSpPr txBox="1"/>
          <p:nvPr/>
        </p:nvSpPr>
        <p:spPr>
          <a:xfrm>
            <a:off x="6388100" y="4403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 분산에 관측 잡음을 빼먹으면 과신한다. 데이터 분포 밖에서 학습 잔차가 튀면 MPC가 그것을 이용한다.</a:t>
            </a:r>
          </a:p>
        </p:txBody>
      </p:sp>
      <p:sp>
        <p:nvSpPr>
          <p:cNvPr id="30" name="Rectangle 29"/>
          <p:cNvSpPr/>
          <p:nvPr/>
        </p:nvSpPr>
        <p:spPr>
          <a:xfrm>
            <a:off x="711200" y="6424315"/>
            <a:ext cx="10769600" cy="230485"/>
          </a:xfrm>
          <a:prstGeom prst="rect">
            <a:avLst/>
          </a:prstGeom>
          <a:noFill/>
          <a:ln>
            <a:noFill/>
          </a:ln>
        </p:spPr>
        <p:txBody>
          <a:bodyPr rtlCol="0" anchor="ctr"/>
          <a:lstStyle/>
          <a:p>
            <a:pPr algn="ctr"/>
          </a:p>
        </p:txBody>
      </p:sp>
      <p:sp>
        <p:nvSpPr>
          <p:cNvPr id="31" name="Rectangle 3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2" name="TextBox 3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L4acados (IEEE TCST) — acados에 Python 학습 잔차를 붙이는 틀, 0차 GP-MPC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학습 잔차 · 도구</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L4acados는 Python 학습 잔차를 acados의 실시간 풀이에 그대로 꽂는다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L4acados: 신경망·GP 같은 Python 잔차 모델을 실시간 최적 제어 소프트웨어 acados에 잇는 틀. GP 기반 MPC에 적용했다 (IDSC - Intelligent Control Systems)</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054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39902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 1</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두 세계의 접점</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프레임워크와 실시간 최적 제어 소프트웨어 사이의 인터페이스가 비어 있었다. L4acados가 그 틈을 메운다.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604617"/>
            <a:ext cx="540544"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630017"/>
            <a:ext cx="39902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 2</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0차 GP-MPC</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방식 그대로다. 잔차의 평균을 파라미터로 넘기고, 솔버는 명목 모델의 미분으로 탐색한다. 소형 경주차와 실차에 적용했다.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Lahr 외, “L4acados: Learning-based models for acados, applied to Gaussian process-based predictive control”, IEEE TCST — arXiv:2411.19258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희소 GP</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정확 GP는 데이터가 늘면 주기를 넘기고, inducing point로 요약하면 실시간에 든다</a:t>
            </a:r>
          </a:p>
        </p:txBody>
      </p:sp>
      <p:sp>
        <p:nvSpPr>
          <p:cNvPr id="4" name="Rounded Rectangle 3"/>
          <p:cNvSpPr/>
          <p:nvPr/>
        </p:nvSpPr>
        <p:spPr>
          <a:xfrm>
            <a:off x="711200" y="1764506"/>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931986" y="1764506"/>
            <a:ext cx="6328028" cy="2286000"/>
          </a:xfrm>
          <a:prstGeom prst="rect">
            <a:avLst/>
          </a:prstGeom>
        </p:spPr>
      </p:pic>
      <p:sp>
        <p:nvSpPr>
          <p:cNvPr id="6" name="TextBox 5"/>
          <p:cNvSpPr txBox="1"/>
          <p:nvPr/>
        </p:nvSpPr>
        <p:spPr>
          <a:xfrm>
            <a:off x="711200" y="4114006"/>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데이터 300점을 inducing point 6개와 16개로 요약한 희소 GP(DTC). inducing point가 적으면 굴곡을 놓치고, 데이터 분포 밖에서는 prior로 돌아간다</a:t>
            </a:r>
          </a:p>
        </p:txBody>
      </p:sp>
      <p:graphicFrame>
        <p:nvGraphicFramePr>
          <p:cNvPr id="7" name="Table 6"/>
          <p:cNvGraphicFramePr>
            <a:graphicFrameLocks noGrp="1"/>
          </p:cNvGraphicFramePr>
          <p:nvPr/>
        </p:nvGraphicFramePr>
        <p:xfrm>
          <a:off x="711200" y="4469606"/>
          <a:ext cx="10769601" cy="1114921"/>
        </p:xfrm>
        <a:graphic>
          <a:graphicData uri="http://schemas.openxmlformats.org/drawingml/2006/table">
            <a:tbl>
              <a:tblPr firstRow="0" bandRow="0">
                <a:tableStyleId>{5C22544A-7EE6-4342-B048-85BDC9FD1C3A}</a:tableStyleId>
              </a:tblPr>
              <a:tblGrid>
                <a:gridCol w="3356769"/>
                <a:gridCol w="1008261"/>
                <a:gridCol w="1097062"/>
                <a:gridCol w="2660055"/>
                <a:gridCol w="2647454"/>
              </a:tblGrid>
              <a:tr h="285477">
                <a:tc>
                  <a:txBody>
                    <a:bodyPr wrap="square"/>
                    <a:lstStyle/>
                    <a:p>
                      <a:r>
                        <a:rPr sz="1150" b="1" i="0">
                          <a:solidFill>
                            <a:srgbClr val="F4F1EA"/>
                          </a:solidFill>
                          <a:latin typeface="Arial"/>
                          <a:ea typeface="Malgun Gothic"/>
                          <a:cs typeface="Malgun Gothic"/>
                        </a:rPr>
                        <a:t>근사</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학습 계산</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예측(점당)</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정확 GP</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O(n³)</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O(n)</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가장 정확</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n이 크면 주기를 넘긴다</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희소 GP(SGPR, inducing point m개)</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O(n m²)</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O(m)</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데이터를 다 쓰고 빠름, 보수적</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m이 작으면 굴곡을 놓침</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random feature(RFF)</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O(n D²)</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O(D)</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가장 빠름</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데이터 분포 밖에서 튈 수 있다</a:t>
                      </a:r>
                    </a:p>
                  </a:txBody>
                  <a:tcPr marL="76200" marR="76200" marT="25400" marB="25400">
                    <a:solidFill>
                      <a:srgbClr val="F1EDE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희소 GP · 실례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공력 잔차를 GP로 배워 넣은 MPC는 고속 비행의 추종 오차를 최대 70% 줄였다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공력 효과를 GP로 모델링해 MPC에 넣은 쿼드로터의 고속 궤적 추종 (UZH Robotics and Perception Group)</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054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39902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 1</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400점 → inducing point 20개</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데이터 400점에서 뽑은 inducing point 20개로 실시간에 들었다. 15–25개가 성능과 계산의 최적 구간이었다.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604617"/>
            <a:ext cx="540544"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630017"/>
            <a:ext cx="39902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 2</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앞 표의 균형</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잔차를 소수의 점으로 요약해도 추종 오차는 최대 70% 줄었다. 희소 근사가 실시간과 정확도를 함께 준 예다.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Torrente·Kaufmann·Föhn·Scaramuzza, “Data-Driven MPC for Quadrotors”, RA-L 2021 — arXiv:2102.05773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튜브 MPC</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튜브는 외란이 오차를 얼마나 키울 수 있는지만큼 제약을 조인다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294258" y="1361678"/>
            <a:ext cx="5603483"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유계 외란 |w| ≤ 0.03과 보조 피드백(오차 수축률 0.85) 아래, 오차가 머무는 튜브의 폭 ρ_k만큼 명목 궤적의 제약을 조이면 실제 궤적은 원래 제약을 지킨다</a:t>
            </a:r>
          </a:p>
        </p:txBody>
      </p:sp>
      <p:sp>
        <p:nvSpPr>
          <p:cNvPr id="7" name="Rounded Rectangle 6"/>
          <p:cNvSpPr/>
          <p:nvPr/>
        </p:nvSpPr>
        <p:spPr>
          <a:xfrm>
            <a:off x="711200" y="4193778"/>
            <a:ext cx="10769600" cy="430510"/>
          </a:xfrm>
          <a:prstGeom prst="roundRect">
            <a:avLst>
              <a:gd name="adj" fmla="val 11799"/>
            </a:avLst>
          </a:prstGeom>
          <a:solidFill>
            <a:srgbClr val="FFFDF8"/>
          </a:solidFill>
          <a:ln>
            <a:noFill/>
          </a:ln>
        </p:spPr>
        <p:txBody>
          <a:bodyPr rtlCol="0" anchor="ctr"/>
          <a:lstStyle/>
          <a:p>
            <a:pPr algn="ctr"/>
          </a:p>
        </p:txBody>
      </p:sp>
      <p:sp>
        <p:nvSpPr>
          <p:cNvPr id="8" name="Rounded Rectangle 7"/>
          <p:cNvSpPr/>
          <p:nvPr/>
        </p:nvSpPr>
        <p:spPr>
          <a:xfrm>
            <a:off x="711200" y="4193778"/>
            <a:ext cx="38100" cy="430510"/>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4282678"/>
            <a:ext cx="10433050" cy="259060"/>
          </a:xfrm>
          <a:prstGeom prst="rect">
            <a:avLst/>
          </a:prstGeom>
        </p:spPr>
      </p:pic>
      <p:sp>
        <p:nvSpPr>
          <p:cNvPr id="10" name="Rounded Rectangle 9"/>
          <p:cNvSpPr/>
          <p:nvPr/>
        </p:nvSpPr>
        <p:spPr>
          <a:xfrm>
            <a:off x="711200" y="4802088"/>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802088"/>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802088"/>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847259"/>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802088"/>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4948138"/>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497353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26563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외란 집합 안에서 제약 만족이 보장된다. 명목 문제는 원래와 같은 꼴이라 빠르다.</a:t>
            </a:r>
          </a:p>
        </p:txBody>
      </p:sp>
      <p:sp>
        <p:nvSpPr>
          <p:cNvPr id="18" name="Rounded Rectangle 17"/>
          <p:cNvSpPr/>
          <p:nvPr/>
        </p:nvSpPr>
        <p:spPr>
          <a:xfrm>
            <a:off x="6172200" y="4802088"/>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802088"/>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802088"/>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84725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802088"/>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4948138"/>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497353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26563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외란 상한을 크게 잡으면 보수적이 되어 좁은 틈을 못 지난다. 상한이 틀리면 보장도 틀린다.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확률 제약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확률 제약은 조임 폭을 예측 분산의 분위수로 정한다</a:t>
            </a:r>
          </a:p>
        </p:txBody>
      </p:sp>
      <p:sp>
        <p:nvSpPr>
          <p:cNvPr id="4" name="Rounded Rectangle 3"/>
          <p:cNvSpPr/>
          <p:nvPr/>
        </p:nvSpPr>
        <p:spPr>
          <a:xfrm>
            <a:off x="711200" y="1361678"/>
            <a:ext cx="10769600" cy="694234"/>
          </a:xfrm>
          <a:prstGeom prst="roundRect">
            <a:avLst>
              <a:gd name="adj" fmla="val 7317"/>
            </a:avLst>
          </a:prstGeom>
          <a:solidFill>
            <a:srgbClr val="FFFDF8"/>
          </a:solidFill>
          <a:ln>
            <a:noFill/>
          </a:ln>
        </p:spPr>
        <p:txBody>
          <a:bodyPr rtlCol="0" anchor="ctr"/>
          <a:lstStyle/>
          <a:p>
            <a:pPr algn="ctr"/>
          </a:p>
        </p:txBody>
      </p:sp>
      <p:sp>
        <p:nvSpPr>
          <p:cNvPr id="5" name="Rounded Rectangle 4"/>
          <p:cNvSpPr/>
          <p:nvPr/>
        </p:nvSpPr>
        <p:spPr>
          <a:xfrm>
            <a:off x="711200" y="1361678"/>
            <a:ext cx="38100" cy="694234"/>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22784"/>
          </a:xfrm>
          <a:prstGeom prst="rect">
            <a:avLst/>
          </a:prstGeom>
        </p:spPr>
      </p:pic>
      <p:sp>
        <p:nvSpPr>
          <p:cNvPr id="7" name="Rounded Rectangle 6"/>
          <p:cNvSpPr/>
          <p:nvPr/>
        </p:nvSpPr>
        <p:spPr>
          <a:xfrm>
            <a:off x="711200" y="2233712"/>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2233712"/>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2233712"/>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3278882"/>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233712"/>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379762"/>
            <a:ext cx="887512"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405162"/>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분산을 어디서</a:t>
            </a:r>
          </a:p>
        </p:txBody>
      </p:sp>
      <p:sp>
        <p:nvSpPr>
          <p:cNvPr id="14" name="TextBox 13"/>
          <p:cNvSpPr txBox="1"/>
          <p:nvPr/>
        </p:nvSpPr>
        <p:spPr>
          <a:xfrm>
            <a:off x="927100" y="2697262"/>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 잔차의 분산을 horizon을 따라 전파한다(선형화·unscented 변환).</a:t>
            </a:r>
          </a:p>
        </p:txBody>
      </p:sp>
      <p:sp>
        <p:nvSpPr>
          <p:cNvPr id="15" name="Rounded Rectangle 14"/>
          <p:cNvSpPr/>
          <p:nvPr/>
        </p:nvSpPr>
        <p:spPr>
          <a:xfrm>
            <a:off x="4351834" y="2233712"/>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2233712"/>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2233712"/>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3278882"/>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2233712"/>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2379762"/>
            <a:ext cx="494705"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2405162"/>
            <a:ext cx="35181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ε의 뜻</a:t>
            </a:r>
          </a:p>
        </p:txBody>
      </p:sp>
      <p:sp>
        <p:nvSpPr>
          <p:cNvPr id="22" name="TextBox 21"/>
          <p:cNvSpPr txBox="1"/>
          <p:nvPr/>
        </p:nvSpPr>
        <p:spPr>
          <a:xfrm>
            <a:off x="4567734" y="2697262"/>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노드별 위반 확률. horizon 전체 보장에는 노드 수만큼 나눠야 한다.</a:t>
            </a:r>
          </a:p>
        </p:txBody>
      </p:sp>
      <p:sp>
        <p:nvSpPr>
          <p:cNvPr id="23" name="Rounded Rectangle 22"/>
          <p:cNvSpPr/>
          <p:nvPr/>
        </p:nvSpPr>
        <p:spPr>
          <a:xfrm>
            <a:off x="7992467" y="2233712"/>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2233712"/>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2233712"/>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3278882"/>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2233712"/>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2379762"/>
            <a:ext cx="887512"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2405162"/>
            <a:ext cx="75640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튜브와의 연결</a:t>
            </a:r>
          </a:p>
        </p:txBody>
      </p:sp>
      <p:sp>
        <p:nvSpPr>
          <p:cNvPr id="30" name="TextBox 29"/>
          <p:cNvSpPr txBox="1"/>
          <p:nvPr/>
        </p:nvSpPr>
        <p:spPr>
          <a:xfrm>
            <a:off x="8208367" y="2697262"/>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GP의 β-신뢰 타원체를 외란 집합으로 쓰면 튜브 MPC와 이어진다.</a:t>
            </a:r>
          </a:p>
        </p:txBody>
      </p:sp>
      <p:graphicFrame>
        <p:nvGraphicFramePr>
          <p:cNvPr id="31" name="Table 30"/>
          <p:cNvGraphicFramePr>
            <a:graphicFrameLocks noGrp="1"/>
          </p:cNvGraphicFramePr>
          <p:nvPr/>
        </p:nvGraphicFramePr>
        <p:xfrm>
          <a:off x="711200" y="3463032"/>
          <a:ext cx="10769600" cy="1392302"/>
        </p:xfrm>
        <a:graphic>
          <a:graphicData uri="http://schemas.openxmlformats.org/drawingml/2006/table">
            <a:tbl>
              <a:tblPr firstRow="0" bandRow="0">
                <a:tableStyleId>{5C22544A-7EE6-4342-B048-85BDC9FD1C3A}</a:tableStyleId>
              </a:tblPr>
              <a:tblGrid>
                <a:gridCol w="1790005"/>
                <a:gridCol w="3159820"/>
                <a:gridCol w="5819775"/>
              </a:tblGrid>
              <a:tr h="285477">
                <a:tc>
                  <a:txBody>
                    <a:bodyPr wrap="square"/>
                    <a:lstStyle/>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튜브(유계 외란)</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확률 제약(분포)</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가정</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외란 상한을 안다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분포(대개 가우시안)를 안다</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보장</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집합 안에서 반드시</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확률 1−ε로</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보수성</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크다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ε로 조절</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실패 원인</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상한이 틀림</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분산이 실제보다 작거나 큼(보정 문제)</a:t>
                      </a:r>
                    </a:p>
                  </a:txBody>
                  <a:tcPr marL="76200" marR="76200" marT="25400" marB="25400">
                    <a:solidFill>
                      <a:srgbClr val="FFFD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확률 제약 · 실례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GP로 배운 잔차와 그 분산으로 조인 제약이 경주차의 랩타임과 안전을 함께 올렸다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부정확한 차량 모델로는 충돌 없이 달리지 못하던 소형 경주차의 MPCC를, 주행 데이터로 배운 GP가 안전하게 개선한다. 랩타임과 안전이 함께 는다 (IDSC - Intelligent Control Systems)</a:t>
            </a:r>
          </a:p>
        </p:txBody>
      </p:sp>
      <p:sp>
        <p:nvSpPr>
          <p:cNvPr id="7" name="Rounded Rectangle 6"/>
          <p:cNvSpPr/>
          <p:nvPr/>
        </p:nvSpPr>
        <p:spPr>
          <a:xfrm>
            <a:off x="7975600" y="1764506"/>
            <a:ext cx="3505200" cy="1358801"/>
          </a:xfrm>
          <a:prstGeom prst="roundRect">
            <a:avLst>
              <a:gd name="adj" fmla="val 5607"/>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358801"/>
          </a:xfrm>
          <a:prstGeom prst="rect">
            <a:avLst/>
          </a:prstGeom>
          <a:solidFill>
            <a:srgbClr val="D9D4C7"/>
          </a:solidFill>
          <a:ln>
            <a:noFill/>
          </a:ln>
        </p:spPr>
        <p:txBody>
          <a:bodyPr rtlCol="0" anchor="ctr"/>
          <a:lstStyle/>
          <a:p>
            <a:pPr algn="ctr"/>
          </a:p>
        </p:txBody>
      </p:sp>
      <p:sp>
        <p:nvSpPr>
          <p:cNvPr id="10" name="Rectangle 9"/>
          <p:cNvSpPr/>
          <p:nvPr/>
        </p:nvSpPr>
        <p:spPr>
          <a:xfrm>
            <a:off x="7975600" y="311695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3588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054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39902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 1</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앞 장의 식 그대로</a:t>
            </a:r>
          </a:p>
        </p:txBody>
      </p:sp>
      <p:sp>
        <p:nvSpPr>
          <p:cNvPr id="15" name="TextBox 14"/>
          <p:cNvSpPr txBox="1"/>
          <p:nvPr/>
        </p:nvSpPr>
        <p:spPr>
          <a:xfrm>
            <a:off x="8191500" y="2535337"/>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 잔차의 평균은 예측에, 분산은 확률 제약의 조임 폭 </a:t>
            </a:r>
            <a:r>
              <a:rPr sz="1150" b="0" i="1">
                <a:solidFill>
                  <a:srgbClr val="16213A"/>
                </a:solidFill>
                <a:latin typeface="Arial"/>
                <a:ea typeface="Malgun Gothic"/>
                <a:cs typeface="Malgun Gothic"/>
              </a:rPr>
              <a:t>ρₖ</a:t>
            </a:r>
            <a:r>
              <a:rPr sz="1150" b="0" i="0">
                <a:solidFill>
                  <a:srgbClr val="16213A"/>
                </a:solidFill>
                <a:latin typeface="Arial"/>
                <a:ea typeface="Malgun Gothic"/>
                <a:cs typeface="Malgun Gothic"/>
              </a:rPr>
              <a:t>에 들어간다. 이것이 cautious MPC다.</a:t>
            </a:r>
          </a:p>
        </p:txBody>
      </p:sp>
      <p:sp>
        <p:nvSpPr>
          <p:cNvPr id="16" name="Rounded Rectangle 15"/>
          <p:cNvSpPr/>
          <p:nvPr/>
        </p:nvSpPr>
        <p:spPr>
          <a:xfrm>
            <a:off x="7975600" y="323760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23760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23760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481101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23760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383657"/>
            <a:ext cx="540544"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409057"/>
            <a:ext cx="39902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 2</a:t>
            </a:r>
          </a:p>
        </p:txBody>
      </p:sp>
      <p:sp>
        <p:nvSpPr>
          <p:cNvPr id="23" name="TextBox 22"/>
          <p:cNvSpPr txBox="1"/>
          <p:nvPr/>
        </p:nvSpPr>
        <p:spPr>
          <a:xfrm>
            <a:off x="8191500" y="370115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데이터로 안전하게 개선</a:t>
            </a:r>
          </a:p>
        </p:txBody>
      </p:sp>
      <p:sp>
        <p:nvSpPr>
          <p:cNvPr id="24" name="TextBox 23"/>
          <p:cNvSpPr txBox="1"/>
          <p:nvPr/>
        </p:nvSpPr>
        <p:spPr>
          <a:xfrm>
            <a:off x="8191500" y="400843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처음 모델로는 충돌하던 제어기가 기록한 데이터로 GP를 배워 더 빠르고 안전해진다. 분산이 큰 곳에서는 제약이 더 조여져 보수적으로 간다.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Hewing·Kabzan·Zeilinger, “Cautious Model Predictive Control using Gaussian Process Regression”, IEEE TCST 2020 — arXiv:1705.10702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예측 모델의 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예측 모델은 기구학 → 동역학 → 학습의 세 층으로 쌓는다</a:t>
            </a:r>
          </a:p>
        </p:txBody>
      </p:sp>
      <p:graphicFrame>
        <p:nvGraphicFramePr>
          <p:cNvPr id="4" name="Table 3"/>
          <p:cNvGraphicFramePr>
            <a:graphicFrameLocks noGrp="1"/>
          </p:cNvGraphicFramePr>
          <p:nvPr/>
        </p:nvGraphicFramePr>
        <p:xfrm>
          <a:off x="711200" y="1361678"/>
          <a:ext cx="10769600" cy="1144269"/>
        </p:xfrm>
        <a:graphic>
          <a:graphicData uri="http://schemas.openxmlformats.org/drawingml/2006/table">
            <a:tbl>
              <a:tblPr firstRow="0" bandRow="0">
                <a:tableStyleId>{5C22544A-7EE6-4342-B048-85BDC9FD1C3A}</a:tableStyleId>
              </a:tblPr>
              <a:tblGrid>
                <a:gridCol w="988219"/>
                <a:gridCol w="4029273"/>
                <a:gridCol w="2875955"/>
                <a:gridCol w="2876153"/>
              </a:tblGrid>
              <a:tr h="292814">
                <a:tc>
                  <a:txBody>
                    <a:bodyPr wrap="square"/>
                    <a:lstStyle/>
                    <a:p>
                      <a:r>
                        <a:rPr sz="12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담는 것</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단점</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기구학</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속도 적분 + box·가속 한계</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단순, 매끄럽다</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지연·슬립·접촉 모름</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동역학</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액추에이터 지연, 슬립, 질량·관성</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물리적 의미, 적은 데이터</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파라미터 식별, 계산 증가</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학습</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GP·신경망 잔차, 전체 forward 모델</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식에 없는 효과</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데이터 분포 밖, 이용당함</a:t>
                      </a:r>
                    </a:p>
                  </a:txBody>
                  <a:tcPr marL="76200" marR="76200" marT="25400" marB="25400">
                    <a:solidFill>
                      <a:srgbClr val="F1EDE4"/>
                    </a:solidFill>
                  </a:tcPr>
                </a:tc>
              </a:tr>
            </a:tbl>
          </a:graphicData>
        </a:graphic>
      </p:graphicFrame>
      <p:sp>
        <p:nvSpPr>
          <p:cNvPr id="5" name="TextBox 4"/>
          <p:cNvSpPr txBox="1"/>
          <p:nvPr/>
        </p:nvSpPr>
        <p:spPr>
          <a:xfrm>
            <a:off x="711200" y="2885678"/>
            <a:ext cx="5440934" cy="360362"/>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잘 아는 것은 식으로 두고, 식이 못 담는 것만 배운다.</a:t>
            </a:r>
          </a:p>
        </p:txBody>
      </p:sp>
      <p:sp>
        <p:nvSpPr>
          <p:cNvPr id="6" name="TextBox 5"/>
          <p:cNvSpPr txBox="1"/>
          <p:nvPr/>
        </p:nvSpPr>
        <p:spPr>
          <a:xfrm>
            <a:off x="711200" y="3247628"/>
            <a:ext cx="5440934" cy="784151"/>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선례: 로봇 몸체를 지형 위에서 시뮬레이션하는 forward 모델 + 샘플 기반 MPC는 6초 궤적 1,500개를 3 ms에 rollout한다(Kim 외, RSS 2022). actuator network(Hwangbo 외, 2019)은 액추에이터 동역학을 학습한다.</a:t>
            </a:r>
          </a:p>
        </p:txBody>
      </p:sp>
      <p:sp>
        <p:nvSpPr>
          <p:cNvPr id="7" name="Rounded Rectangle 6"/>
          <p:cNvSpPr/>
          <p:nvPr/>
        </p:nvSpPr>
        <p:spPr>
          <a:xfrm>
            <a:off x="6223000" y="2885678"/>
            <a:ext cx="5257800" cy="1524000"/>
          </a:xfrm>
          <a:prstGeom prst="roundRect">
            <a:avLst>
              <a:gd name="adj" fmla="val 3333"/>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2"/>
          <a:stretch>
            <a:fillRect/>
          </a:stretch>
        </p:blipFill>
        <p:spPr>
          <a:xfrm>
            <a:off x="6528729" y="2885678"/>
            <a:ext cx="4646341" cy="1524000"/>
          </a:xfrm>
          <a:prstGeom prst="rect">
            <a:avLst/>
          </a:prstGeom>
        </p:spPr>
      </p:pic>
      <p:sp>
        <p:nvSpPr>
          <p:cNvPr id="9" name="TextBox 8"/>
          <p:cNvSpPr txBox="1"/>
          <p:nvPr/>
        </p:nvSpPr>
        <p:spPr>
          <a:xfrm>
            <a:off x="6223000" y="4473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FDM 기반 안전 내비게이션: 샘플러 → forward 모델 예측 → 보상 가중 평균 — arXiv:2204.08647</a:t>
            </a:r>
          </a:p>
        </p:txBody>
      </p:sp>
      <p:sp>
        <p:nvSpPr>
          <p:cNvPr id="10" name="Rectangle 9"/>
          <p:cNvSpPr/>
          <p:nvPr/>
        </p:nvSpPr>
        <p:spPr>
          <a:xfrm>
            <a:off x="711200" y="6424315"/>
            <a:ext cx="10769600" cy="230485"/>
          </a:xfrm>
          <a:prstGeom prst="rect">
            <a:avLst/>
          </a:prstGeom>
          <a:noFill/>
          <a:ln>
            <a:noFill/>
          </a:ln>
        </p:spPr>
        <p:txBody>
          <a:bodyPr rtlCol="0" anchor="ctr"/>
          <a:lstStyle/>
          <a:p>
            <a:pPr algn="ctr"/>
          </a:p>
        </p:txBody>
      </p:sp>
      <p:sp>
        <p:nvSpPr>
          <p:cNvPr id="11" name="Rectangle 1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2" name="TextBox 1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Kim·Kim·Hwangbo, RSS 2022 — arXiv:2204.08647 · Hwangbo 외, Science Robotics 2019 — arXiv:1901.08652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예측 모델의 층 · 실례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학습한 forward 모델 위에서 샘플 기반 MPC가 사족 로봇을 충돌 없이 안내한다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학습한 forward dynamics 모델(FDM)과 informed trajectory sampler로 복잡한 환경을 충돌 없이 지나는 사족 로봇 (RaiLab Kaist)</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054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39902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 1</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층 전체를 모델로</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잔차가 아니라 forward 모델 자체를 배운다. 미래 위치와 함께 충돌 확률을 내고, 6초 궤적 1,500개를 3 ms에 rollout해 샘플 기반 MPC가 고른다.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604617"/>
            <a:ext cx="540544"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630017"/>
            <a:ext cx="39902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 2</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데이터는 전체 로봇 시뮬에서</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전체 로봇 모델을 RaiSim의 무작위 환경에서 시뮬레이션해 자기지도로 모은다. 식에 없는 접촉·지형 효과가 이렇게 학습 층에 들어간다.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Kim·Kim·Hwangbo, “Learning Forward Dynamics Model and Informed Trajectory Sampler for Safe Quadruped Navigation”, RSS 2022 — arXiv:2204.08647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검증 리그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시뮬레이터가 MPC 모델과 같으면 아무것도 검증되지 않는다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함정</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 = 시뮬레이터"</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MPC가 자기 모델로 자기를 예측하면 모델 오차가 0이다. 잔차·튜브·확률 제약의 효과를 잴 수 없다.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15803D"/>
          </a:solidFill>
          <a:ln>
            <a:noFill/>
          </a:ln>
        </p:spPr>
        <p:txBody>
          <a:bodyPr rtlCol="0" anchor="ctr"/>
          <a:lstStyle/>
          <a:p>
            <a:pPr algn="ctr"/>
          </a:p>
        </p:txBody>
      </p:sp>
      <p:sp>
        <p:nvSpPr>
          <p:cNvPr id="18" name="Rounded Rectangle 17"/>
          <p:cNvSpPr/>
          <p:nvPr/>
        </p:nvSpPr>
        <p:spPr>
          <a:xfrm>
            <a:off x="6388100" y="1507728"/>
            <a:ext cx="404416" cy="241300"/>
          </a:xfrm>
          <a:prstGeom prst="roundRect">
            <a:avLst>
              <a:gd name="adj" fmla="val 50000"/>
            </a:avLst>
          </a:prstGeom>
          <a:solidFill>
            <a:srgbClr val="D7EFDD"/>
          </a:solidFill>
          <a:ln>
            <a:noFill/>
          </a:ln>
        </p:spPr>
        <p:txBody>
          <a:bodyPr rtlCol="0" anchor="ctr"/>
          <a:lstStyle/>
          <a:p>
            <a:pPr algn="ctr"/>
          </a:p>
        </p:txBody>
      </p:sp>
      <p:sp>
        <p:nvSpPr>
          <p:cNvPr id="19" name="TextBox 18"/>
          <p:cNvSpPr txBox="1"/>
          <p:nvPr/>
        </p:nvSpPr>
        <p:spPr>
          <a:xfrm>
            <a:off x="6477000" y="15331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원칙</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명목과 다른 plant로 잰다</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 슬립, 하위 제어기, 조향 한계를 가진 plant. 정확한 실물이 아니어도 "다르기만" 하면 된다.</a:t>
            </a:r>
          </a:p>
        </p:txBody>
      </p:sp>
      <p:graphicFrame>
        <p:nvGraphicFramePr>
          <p:cNvPr id="22" name="Table 21"/>
          <p:cNvGraphicFramePr>
            <a:graphicFrameLocks noGrp="1"/>
          </p:cNvGraphicFramePr>
          <p:nvPr/>
        </p:nvGraphicFramePr>
        <p:xfrm>
          <a:off x="711200" y="2898279"/>
          <a:ext cx="10769600" cy="1392302"/>
        </p:xfrm>
        <a:graphic>
          <a:graphicData uri="http://schemas.openxmlformats.org/drawingml/2006/table">
            <a:tbl>
              <a:tblPr firstRow="0" bandRow="0">
                <a:tableStyleId>{5C22544A-7EE6-4342-B048-85BDC9FD1C3A}</a:tableStyleId>
              </a:tblPr>
              <a:tblGrid>
                <a:gridCol w="663674"/>
                <a:gridCol w="5495131"/>
                <a:gridCol w="4610795"/>
              </a:tblGrid>
              <a:tr h="285477">
                <a:tc>
                  <a:txBody>
                    <a:bodyPr wrap="square"/>
                    <a:lstStyle/>
                    <a:p>
                      <a:r>
                        <a:rPr sz="115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도구</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쓰임</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운동학 시뮬 + plant 모델</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빠른 반복, 수천 에피소드 통계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MuJoCo(CPU) · MuJoCo Warp(GPU)</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접촉·마찰, 잔차 데이터 대량 수집</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Isaac Sim 같은 고충실 시뮬</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센서·인식까지 폐루프</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실물</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최종 확인, 잔차 재학습</a:t>
                      </a:r>
                    </a:p>
                  </a:txBody>
                  <a:tcPr marL="76200" marR="76200" marT="25400" marB="25400">
                    <a:solidFill>
                      <a:srgbClr val="FFFD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 오차를 다루는 장치는 정확도, 보장, 계산을 맞바꾼다</a:t>
            </a:r>
          </a:p>
        </p:txBody>
      </p:sp>
      <p:graphicFrame>
        <p:nvGraphicFramePr>
          <p:cNvPr id="4" name="Table 3"/>
          <p:cNvGraphicFramePr>
            <a:graphicFrameLocks noGrp="1"/>
          </p:cNvGraphicFramePr>
          <p:nvPr/>
        </p:nvGraphicFramePr>
        <p:xfrm>
          <a:off x="711200" y="1361678"/>
          <a:ext cx="10769599" cy="1713705"/>
        </p:xfrm>
        <a:graphic>
          <a:graphicData uri="http://schemas.openxmlformats.org/drawingml/2006/table">
            <a:tbl>
              <a:tblPr firstRow="0" bandRow="0">
                <a:tableStyleId>{5C22544A-7EE6-4342-B048-85BDC9FD1C3A}</a:tableStyleId>
              </a:tblPr>
              <a:tblGrid>
                <a:gridCol w="3091160"/>
                <a:gridCol w="2697162"/>
                <a:gridCol w="4981277"/>
              </a:tblGrid>
              <a:tr h="292814">
                <a:tc>
                  <a:txBody>
                    <a:bodyPr wrap="square"/>
                    <a:lstStyle/>
                    <a:p>
                      <a:r>
                        <a:rPr sz="1200" b="1" i="0">
                          <a:solidFill>
                            <a:srgbClr val="F4F1EA"/>
                          </a:solidFill>
                          <a:latin typeface="Arial"/>
                          <a:ea typeface="Malgun Gothic"/>
                          <a:cs typeface="Malgun Gothic"/>
                        </a:rPr>
                        <a:t>장치</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단점</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동역학 층(지연·슬립 식)</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적은 데이터, 큰 효과</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식에 있는 효과만</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0차 학습 잔차</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계산 거의 그대로</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잔차의 미분을 무시, 데이터 분포 밖 위험</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희소 GP 잔차</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분산까지, 실시간</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근사·커널 선택</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튜브 MPC</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유계 외란에 보장</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보수적, 상한이 틀리면 무의미</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확률 제약</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ε로 보수성 조절</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분산 보정에 기댄다</a:t>
                      </a:r>
                    </a:p>
                  </a:txBody>
                  <a:tcPr marL="76200" marR="76200" marT="25400" marB="25400">
                    <a:solidFill>
                      <a:srgbClr val="F1EDE4"/>
                    </a:solidFill>
                  </a:tcPr>
                </a:tc>
              </a:tr>
            </a:tbl>
          </a:graphicData>
        </a:graphic>
      </p:graphicFrame>
      <p:sp>
        <p:nvSpPr>
          <p:cNvPr id="5" name="Rounded Rectangle 4"/>
          <p:cNvSpPr/>
          <p:nvPr/>
        </p:nvSpPr>
        <p:spPr>
          <a:xfrm>
            <a:off x="711200" y="355560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68260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순서:</a:t>
            </a:r>
            <a:r>
              <a:rPr sz="1300" b="0" i="0">
                <a:solidFill>
                  <a:srgbClr val="F4F1EA"/>
                </a:solidFill>
                <a:latin typeface="Arial"/>
                <a:ea typeface="Malgun Gothic"/>
                <a:cs typeface="Malgun Gothic"/>
              </a:rPr>
              <a:t> 지연을 모델에 → 잔차 평균 → 분산 보정을 잰 뒤 조임. 조임은 효과를 짝 비교로 확인하고 켠다.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최근 흐름 (2025–2026)</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모델을 더 맞게,</a:t>
            </a:r>
          </a:p>
          <a:p>
            <a:pPr>
              <a:lnSpc>
                <a:spcPct val="112240"/>
              </a:lnSpc>
            </a:pPr>
            <a:r>
              <a:rPr sz="3850" b="1" i="0">
                <a:solidFill>
                  <a:srgbClr val="F4F1EA"/>
                </a:solidFill>
                <a:latin typeface="Arial"/>
                <a:ea typeface="Malgun Gothic"/>
                <a:cs typeface="Malgun Gothic"/>
              </a:rPr>
              <a:t>초기해를 더 좋게</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명목 모델 + 학습 잔차, 불확실성으로 조이기, 학습 모델이 주는 출발점, 지형을 모델과 제약에.</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연구 예</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최근 연구는 OCP의 모델, 제약, 초기해 중 하나를 고친다</a:t>
            </a:r>
          </a:p>
        </p:txBody>
      </p:sp>
      <p:graphicFrame>
        <p:nvGraphicFramePr>
          <p:cNvPr id="4" name="Table 3"/>
          <p:cNvGraphicFramePr>
            <a:graphicFrameLocks noGrp="1"/>
          </p:cNvGraphicFramePr>
          <p:nvPr/>
        </p:nvGraphicFramePr>
        <p:xfrm>
          <a:off x="711200" y="1361678"/>
          <a:ext cx="10769600" cy="2370516"/>
        </p:xfrm>
        <a:graphic>
          <a:graphicData uri="http://schemas.openxmlformats.org/drawingml/2006/table">
            <a:tbl>
              <a:tblPr firstRow="0" bandRow="0">
                <a:tableStyleId>{5C22544A-7EE6-4342-B048-85BDC9FD1C3A}</a:tableStyleId>
              </a:tblPr>
              <a:tblGrid>
                <a:gridCol w="3480296"/>
                <a:gridCol w="1181596"/>
                <a:gridCol w="4471690"/>
                <a:gridCol w="1636018"/>
              </a:tblGrid>
              <a:tr h="270887">
                <a:tc>
                  <a:txBody>
                    <a:bodyPr wrap="square"/>
                    <a:lstStyle/>
                    <a:p>
                      <a:r>
                        <a:rPr sz="1050" b="1" i="0">
                          <a:solidFill>
                            <a:srgbClr val="F4F1EA"/>
                          </a:solidFill>
                          <a:latin typeface="Arial"/>
                          <a:ea typeface="Malgun Gothic"/>
                          <a:cs typeface="Malgun Gothic"/>
                        </a:rPr>
                        <a:t>연구 (연·발표)</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고친 곳</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50" b="1" i="0">
                          <a:solidFill>
                            <a:srgbClr val="F4F1EA"/>
                          </a:solidFill>
                          <a:latin typeface="Arial"/>
                          <a:ea typeface="Malgun Gothic"/>
                          <a:cs typeface="Malgun Gothic"/>
                        </a:rPr>
                        <a:t>실험</a:t>
                      </a:r>
                    </a:p>
                  </a:txBody>
                  <a:tcPr marL="76200" marR="76200" marT="25400" marB="25400">
                    <a:solidFill>
                      <a:srgbClr val="16213A"/>
                    </a:solidFill>
                  </a:tcPr>
                </a:tc>
              </a:tr>
              <a:tr h="262791">
                <a:tc>
                  <a:txBody>
                    <a:bodyPr wrap="square"/>
                    <a:lstStyle/>
                    <a:p>
                      <a:r>
                        <a:rPr sz="1050" b="0" i="0">
                          <a:solidFill>
                            <a:srgbClr val="16213A"/>
                          </a:solidFill>
                          <a:latin typeface="Arial"/>
                          <a:ea typeface="Malgun Gothic"/>
                          <a:cs typeface="Malgun Gothic"/>
                        </a:rPr>
                        <a:t>diffusion 초기해 MPC (RA-L 2026)</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초기해</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diffusion 초안을 SDF hard 제약 OCP가 다듬는다</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Franka 실물</a:t>
                      </a:r>
                    </a:p>
                  </a:txBody>
                  <a:tcPr marL="76200" marR="76200" marT="25400" marB="25400">
                    <a:solidFill>
                      <a:srgbClr val="F1EDE4"/>
                    </a:solidFill>
                  </a:tcPr>
                </a:tc>
              </a:tr>
              <a:tr h="262791">
                <a:tc>
                  <a:txBody>
                    <a:bodyPr wrap="square"/>
                    <a:lstStyle/>
                    <a:p>
                      <a:r>
                        <a:rPr sz="1050" b="0" i="0">
                          <a:solidFill>
                            <a:srgbClr val="16213A"/>
                          </a:solidFill>
                          <a:latin typeface="Arial"/>
                          <a:ea typeface="Malgun Gothic"/>
                          <a:cs typeface="Malgun Gothic"/>
                        </a:rPr>
                        <a:t>RL 유도 PAC-NMPC (2026)</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초기해·종단</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RL 정책 → 초기해, 가치 → 종단 비용</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1/10 랠리카 실물</a:t>
                      </a:r>
                    </a:p>
                  </a:txBody>
                  <a:tcPr marL="76200" marR="76200" marT="25400" marB="25400">
                    <a:solidFill>
                      <a:srgbClr val="FFFDF8"/>
                    </a:solidFill>
                  </a:tcPr>
                </a:tc>
              </a:tr>
              <a:tr h="262791">
                <a:tc>
                  <a:txBody>
                    <a:bodyPr wrap="square"/>
                    <a:lstStyle/>
                    <a:p>
                      <a:r>
                        <a:rPr sz="1050" b="0" i="0">
                          <a:solidFill>
                            <a:srgbClr val="16213A"/>
                          </a:solidFill>
                          <a:latin typeface="Arial"/>
                          <a:ea typeface="Malgun Gothic"/>
                          <a:cs typeface="Malgun Gothic"/>
                        </a:rPr>
                        <a:t>강건·적응 GP-MPC (Automatica 2026)</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제약</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contraction metric 위의 스칼라 튜브로 GP 오차 전파</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쿼드로터 시뮬</a:t>
                      </a:r>
                    </a:p>
                  </a:txBody>
                  <a:tcPr marL="76200" marR="76200" marT="25400" marB="25400">
                    <a:solidFill>
                      <a:srgbClr val="F1EDE4"/>
                    </a:solidFill>
                  </a:tcPr>
                </a:tc>
              </a:tr>
              <a:tr h="262791">
                <a:tc>
                  <a:txBody>
                    <a:bodyPr wrap="square"/>
                    <a:lstStyle/>
                    <a:p>
                      <a:r>
                        <a:rPr sz="1050" b="0" i="0">
                          <a:solidFill>
                            <a:srgbClr val="16213A"/>
                          </a:solidFill>
                          <a:latin typeface="Arial"/>
                          <a:ea typeface="Malgun Gothic"/>
                          <a:cs typeface="Malgun Gothic"/>
                        </a:rPr>
                        <a:t>데이터에서 강건 MPC까지 (2025)</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제약</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기록 데이터에서 외란 box, SDP로 튜브</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쿼드로터 시뮬</a:t>
                      </a:r>
                    </a:p>
                  </a:txBody>
                  <a:tcPr marL="76200" marR="76200" marT="25400" marB="25400">
                    <a:solidFill>
                      <a:srgbClr val="FFFDF8"/>
                    </a:solidFill>
                  </a:tcPr>
                </a:tc>
              </a:tr>
              <a:tr h="262791">
                <a:tc>
                  <a:txBody>
                    <a:bodyPr wrap="square"/>
                    <a:lstStyle/>
                    <a:p>
                      <a:r>
                        <a:rPr sz="1050" b="0" i="0">
                          <a:solidFill>
                            <a:srgbClr val="16213A"/>
                          </a:solidFill>
                          <a:latin typeface="Arial"/>
                          <a:ea typeface="Malgun Gothic"/>
                          <a:cs typeface="Malgun Gothic"/>
                        </a:rPr>
                        <a:t>고속 전지형 자율주행 (2026)</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모델·제약</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3차원 강체 모델 + 에너지 안정 여유, GPU 샘플링</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실차 48회</a:t>
                      </a:r>
                    </a:p>
                  </a:txBody>
                  <a:tcPr marL="76200" marR="76200" marT="25400" marB="25400">
                    <a:solidFill>
                      <a:srgbClr val="F1EDE4"/>
                    </a:solidFill>
                  </a:tcPr>
                </a:tc>
              </a:tr>
              <a:tr h="262791">
                <a:tc>
                  <a:txBody>
                    <a:bodyPr wrap="square"/>
                    <a:lstStyle/>
                    <a:p>
                      <a:r>
                        <a:rPr sz="1050" b="0" i="0">
                          <a:solidFill>
                            <a:srgbClr val="16213A"/>
                          </a:solidFill>
                          <a:latin typeface="Arial"/>
                          <a:ea typeface="Malgun Gothic"/>
                          <a:cs typeface="Malgun Gothic"/>
                        </a:rPr>
                        <a:t>비평면 재귀 희소 GP (IV 2026)</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모델</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roll·pitch 입력 GP 잔차, 온라인 갱신</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Isaac Sim</a:t>
                      </a:r>
                    </a:p>
                  </a:txBody>
                  <a:tcPr marL="76200" marR="76200" marT="25400" marB="25400">
                    <a:solidFill>
                      <a:srgbClr val="FFFDF8"/>
                    </a:solidFill>
                  </a:tcPr>
                </a:tc>
              </a:tr>
              <a:tr h="262791">
                <a:tc>
                  <a:txBody>
                    <a:bodyPr wrap="square"/>
                    <a:lstStyle/>
                    <a:p>
                      <a:r>
                        <a:rPr sz="1050" b="0" i="0">
                          <a:solidFill>
                            <a:srgbClr val="16213A"/>
                          </a:solidFill>
                          <a:latin typeface="Arial"/>
                          <a:ea typeface="Malgun Gothic"/>
                          <a:cs typeface="Malgun Gothic"/>
                        </a:rPr>
                        <a:t>에너지 정규화 NN 잔차 (2026)</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모델</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잔차에 에너지 증가 페널티 — 비물리적 가속 방지</a:t>
                      </a:r>
                    </a:p>
                  </a:txBody>
                  <a:tcPr marL="76200" marR="76200" marT="25400" marB="25400">
                    <a:solidFill>
                      <a:srgbClr val="F1EDE4"/>
                    </a:solidFill>
                  </a:tcPr>
                </a:tc>
                <a:tc>
                  <a:txBody>
                    <a:bodyPr wrap="square"/>
                    <a:lstStyle/>
                    <a:p>
                      <a:r>
                        <a:rPr sz="1050" b="0" i="0">
                          <a:solidFill>
                            <a:srgbClr val="16213A"/>
                          </a:solidFill>
                          <a:latin typeface="Arial"/>
                          <a:ea typeface="Malgun Gothic"/>
                          <a:cs typeface="Malgun Gothic"/>
                        </a:rPr>
                        <a:t>틸트 쿼드로터</a:t>
                      </a:r>
                    </a:p>
                  </a:txBody>
                  <a:tcPr marL="76200" marR="76200" marT="25400" marB="25400">
                    <a:solidFill>
                      <a:srgbClr val="F1EDE4"/>
                    </a:solidFill>
                  </a:tcPr>
                </a:tc>
              </a:tr>
              <a:tr h="260092">
                <a:tc>
                  <a:txBody>
                    <a:bodyPr wrap="square"/>
                    <a:lstStyle/>
                    <a:p>
                      <a:r>
                        <a:rPr sz="1050" b="0" i="0">
                          <a:solidFill>
                            <a:srgbClr val="16213A"/>
                          </a:solidFill>
                          <a:latin typeface="Arial"/>
                          <a:ea typeface="Malgun Gothic"/>
                          <a:cs typeface="Malgun Gothic"/>
                        </a:rPr>
                        <a:t>L4acados (IEEE TCST)</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모델</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acados에 Python 잔차, 0차 GP-MPC</a:t>
                      </a:r>
                    </a:p>
                  </a:txBody>
                  <a:tcPr marL="76200" marR="76200" marT="25400" marB="25400">
                    <a:solidFill>
                      <a:srgbClr val="FFFDF8"/>
                    </a:solidFill>
                  </a:tcPr>
                </a:tc>
                <a:tc>
                  <a:txBody>
                    <a:bodyPr wrap="square"/>
                    <a:lstStyle/>
                    <a:p>
                      <a:r>
                        <a:rPr sz="1050" b="0" i="0">
                          <a:solidFill>
                            <a:srgbClr val="16213A"/>
                          </a:solidFill>
                          <a:latin typeface="Arial"/>
                          <a:ea typeface="Malgun Gothic"/>
                          <a:cs typeface="Malgun Gothic"/>
                        </a:rPr>
                        <a:t>경주차·실차</a:t>
                      </a:r>
                    </a:p>
                  </a:txBody>
                  <a:tcPr marL="76200" marR="76200" marT="25400" marB="25400">
                    <a:solidFill>
                      <a:srgbClr val="FFFDF8"/>
                    </a:solidFill>
                  </a:tcPr>
                </a:tc>
              </a:tr>
            </a:tbl>
          </a:graphicData>
        </a:graphic>
      </p:graphicFrame>
      <p:sp>
        <p:nvSpPr>
          <p:cNvPr id="5" name="Rectangle 4"/>
          <p:cNvSpPr/>
          <p:nvPr/>
        </p:nvSpPr>
        <p:spPr>
          <a:xfrm>
            <a:off x="711200" y="6424315"/>
            <a:ext cx="10769600" cy="230485"/>
          </a:xfrm>
          <a:prstGeom prst="rect">
            <a:avLst/>
          </a:prstGeom>
          <a:noFill/>
          <a:ln>
            <a:noFill/>
          </a:ln>
        </p:spPr>
        <p:txBody>
          <a:bodyPr rtlCol="0" anchor="ctr"/>
          <a:lstStyle/>
          <a:p>
            <a:pPr algn="ctr"/>
          </a:p>
        </p:txBody>
      </p:sp>
      <p:sp>
        <p:nvSpPr>
          <p:cNvPr id="6" name="Rectangle 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7" name="TextBox 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Haffemayer 외, RA-L 2026 · Dubied 외 arXiv:2507.02098 · L4acados (IEEE TCST)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연구 예 · 실례</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잔차의 에너지 변화에 페널티를 주면 NMPC가 비물리적 가속을 이용하지 못한다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잔차 신경망을 보정의 상대 에너지 변화로 정규화해 학습한 neural MPC. 전방향 비행 로봇에서 시연한다 (DRAGON Lab)</a:t>
            </a:r>
          </a:p>
        </p:txBody>
      </p:sp>
      <p:sp>
        <p:nvSpPr>
          <p:cNvPr id="7" name="Rounded Rectangle 6"/>
          <p:cNvSpPr/>
          <p:nvPr/>
        </p:nvSpPr>
        <p:spPr>
          <a:xfrm>
            <a:off x="7975600" y="1764506"/>
            <a:ext cx="3505200"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975600" y="333791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910556"/>
            <a:ext cx="54054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935956"/>
            <a:ext cx="39902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 1</a:t>
            </a:r>
          </a:p>
        </p:txBody>
      </p:sp>
      <p:sp>
        <p:nvSpPr>
          <p:cNvPr id="14" name="TextBox 13"/>
          <p:cNvSpPr txBox="1"/>
          <p:nvPr/>
        </p:nvSpPr>
        <p:spPr>
          <a:xfrm>
            <a:off x="8191500" y="2228056"/>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잔차가 에너지를 만들면 안 된다</a:t>
            </a:r>
          </a:p>
        </p:txBody>
      </p:sp>
      <p:sp>
        <p:nvSpPr>
          <p:cNvPr id="15" name="TextBox 14"/>
          <p:cNvSpPr txBox="1"/>
          <p:nvPr/>
        </p:nvSpPr>
        <p:spPr>
          <a:xfrm>
            <a:off x="8191500" y="25353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잔차가 물리적으로 말이 안 되는 가속을 내면 최적화는 그것을 찾아가 이용한다. 보정의 에너지 증가에 페널티를 주어 막는다.</a:t>
            </a:r>
          </a:p>
        </p:txBody>
      </p:sp>
      <p:sp>
        <p:nvSpPr>
          <p:cNvPr id="16" name="Rounded Rectangle 15"/>
          <p:cNvSpPr/>
          <p:nvPr/>
        </p:nvSpPr>
        <p:spPr>
          <a:xfrm>
            <a:off x="7975600" y="3458567"/>
            <a:ext cx="3505200"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7975600" y="3458567"/>
            <a:ext cx="35052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458567"/>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7975600" y="5031978"/>
            <a:ext cx="35052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7975600" y="3458567"/>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8191500" y="3604617"/>
            <a:ext cx="540544"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8280400" y="3630017"/>
            <a:ext cx="39902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 2</a:t>
            </a:r>
          </a:p>
        </p:txBody>
      </p:sp>
      <p:sp>
        <p:nvSpPr>
          <p:cNvPr id="23" name="TextBox 22"/>
          <p:cNvSpPr txBox="1"/>
          <p:nvPr/>
        </p:nvSpPr>
        <p:spPr>
          <a:xfrm>
            <a:off x="8191500" y="3922117"/>
            <a:ext cx="3236786"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3장의 함정과 같은 문제</a:t>
            </a:r>
          </a:p>
        </p:txBody>
      </p:sp>
      <p:sp>
        <p:nvSpPr>
          <p:cNvPr id="24" name="TextBox 23"/>
          <p:cNvSpPr txBox="1"/>
          <p:nvPr/>
        </p:nvSpPr>
        <p:spPr>
          <a:xfrm>
            <a:off x="8191500" y="422939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데이터 분포 밖에서 튀는 잔차, 분산이 없는 신경망 잔차. 그것을 손실 함수의 구조로 막는 방법 하나를 본다.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Kübel·Krauss·Li·Zhao, “Energy-based Regularization for Learning Residual Dynamics in Neural MPC for Omnidirectional Aerial Robots”, 2026 — arXiv:2604.14678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공통점과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가지를 함께 하고, 네 축에서 갈린다</a:t>
            </a:r>
          </a:p>
        </p:txBody>
      </p:sp>
      <p:sp>
        <p:nvSpPr>
          <p:cNvPr id="4" name="Rounded Rectangle 3"/>
          <p:cNvSpPr/>
          <p:nvPr/>
        </p:nvSpPr>
        <p:spPr>
          <a:xfrm>
            <a:off x="711200" y="1361678"/>
            <a:ext cx="53086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51058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공통 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명목 모델 + 학습 잔차</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식으로 아는 부분은 남기고 남는 오차만 배운다.</a:t>
            </a:r>
          </a:p>
        </p:txBody>
      </p:sp>
      <p:sp>
        <p:nvSpPr>
          <p:cNvPr id="13" name="Rounded Rectangle 12"/>
          <p:cNvSpPr/>
          <p:nvPr/>
        </p:nvSpPr>
        <p:spPr>
          <a:xfrm>
            <a:off x="6172200" y="1361678"/>
            <a:ext cx="53086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6172200" y="249316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51058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공통 2</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불확실성으로 제약을 조인다</a:t>
            </a:r>
          </a:p>
        </p:txBody>
      </p:sp>
      <p:sp>
        <p:nvSpPr>
          <p:cNvPr id="21" name="TextBox 20"/>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 오차 상한, 외란 box, 오차 불변 집합 — 모두 ρ_k의 자리.</a:t>
            </a:r>
          </a:p>
        </p:txBody>
      </p:sp>
      <p:sp>
        <p:nvSpPr>
          <p:cNvPr id="22" name="Rounded Rectangle 21"/>
          <p:cNvSpPr/>
          <p:nvPr/>
        </p:nvSpPr>
        <p:spPr>
          <a:xfrm>
            <a:off x="711200" y="2651919"/>
            <a:ext cx="53086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265191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651919"/>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3783409"/>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651919"/>
            <a:ext cx="50800" cy="1137841"/>
          </a:xfrm>
          <a:prstGeom prst="roundRect">
            <a:avLst>
              <a:gd name="adj" fmla="val 50000"/>
            </a:avLst>
          </a:prstGeom>
          <a:solidFill>
            <a:srgbClr val="1D4ED8"/>
          </a:solidFill>
          <a:ln>
            <a:noFill/>
          </a:ln>
        </p:spPr>
        <p:txBody>
          <a:bodyPr rtlCol="0" anchor="ctr"/>
          <a:lstStyle/>
          <a:p>
            <a:pPr algn="ctr"/>
          </a:p>
        </p:txBody>
      </p:sp>
      <p:sp>
        <p:nvSpPr>
          <p:cNvPr id="27" name="Rounded Rectangle 26"/>
          <p:cNvSpPr/>
          <p:nvPr/>
        </p:nvSpPr>
        <p:spPr>
          <a:xfrm>
            <a:off x="927100" y="2797969"/>
            <a:ext cx="510580" cy="241300"/>
          </a:xfrm>
          <a:prstGeom prst="roundRect">
            <a:avLst>
              <a:gd name="adj" fmla="val 50000"/>
            </a:avLst>
          </a:prstGeom>
          <a:solidFill>
            <a:srgbClr val="DBE5FB"/>
          </a:solidFill>
          <a:ln>
            <a:noFill/>
          </a:ln>
        </p:spPr>
        <p:txBody>
          <a:bodyPr rtlCol="0" anchor="ctr"/>
          <a:lstStyle/>
          <a:p>
            <a:pPr algn="ctr"/>
          </a:p>
        </p:txBody>
      </p:sp>
      <p:sp>
        <p:nvSpPr>
          <p:cNvPr id="28" name="TextBox 27"/>
          <p:cNvSpPr txBox="1"/>
          <p:nvPr/>
        </p:nvSpPr>
        <p:spPr>
          <a:xfrm>
            <a:off x="1016000" y="2823369"/>
            <a:ext cx="36816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공통 3</a:t>
            </a:r>
          </a:p>
        </p:txBody>
      </p:sp>
      <p:sp>
        <p:nvSpPr>
          <p:cNvPr id="29" name="TextBox 28"/>
          <p:cNvSpPr txBox="1"/>
          <p:nvPr/>
        </p:nvSpPr>
        <p:spPr>
          <a:xfrm>
            <a:off x="927100" y="3115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모델이 출발점을 준다</a:t>
            </a:r>
          </a:p>
        </p:txBody>
      </p:sp>
      <p:sp>
        <p:nvSpPr>
          <p:cNvPr id="30" name="TextBox 29"/>
          <p:cNvSpPr txBox="1"/>
          <p:nvPr/>
        </p:nvSpPr>
        <p:spPr>
          <a:xfrm>
            <a:off x="927100" y="3422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diffusion 궤적, RL 정책, 전역 경로가 위상 선택을 맡는다.</a:t>
            </a:r>
          </a:p>
        </p:txBody>
      </p:sp>
      <p:sp>
        <p:nvSpPr>
          <p:cNvPr id="31" name="Rounded Rectangle 30"/>
          <p:cNvSpPr/>
          <p:nvPr/>
        </p:nvSpPr>
        <p:spPr>
          <a:xfrm>
            <a:off x="6172200" y="2651919"/>
            <a:ext cx="5308600" cy="1137841"/>
          </a:xfrm>
          <a:prstGeom prst="roundRect">
            <a:avLst>
              <a:gd name="adj" fmla="val 6696"/>
            </a:avLst>
          </a:prstGeom>
          <a:solidFill>
            <a:srgbClr val="FFFDF8"/>
          </a:solidFill>
          <a:ln>
            <a:noFill/>
          </a:ln>
        </p:spPr>
        <p:txBody>
          <a:bodyPr rtlCol="0" anchor="ctr"/>
          <a:lstStyle/>
          <a:p>
            <a:pPr algn="ctr"/>
          </a:p>
        </p:txBody>
      </p:sp>
      <p:sp>
        <p:nvSpPr>
          <p:cNvPr id="32" name="Rectangle 31"/>
          <p:cNvSpPr/>
          <p:nvPr/>
        </p:nvSpPr>
        <p:spPr>
          <a:xfrm>
            <a:off x="6172200" y="265191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651919"/>
            <a:ext cx="6350" cy="1137841"/>
          </a:xfrm>
          <a:prstGeom prst="rect">
            <a:avLst/>
          </a:prstGeom>
          <a:solidFill>
            <a:srgbClr val="D9D4C7"/>
          </a:solidFill>
          <a:ln>
            <a:noFill/>
          </a:ln>
        </p:spPr>
        <p:txBody>
          <a:bodyPr rtlCol="0" anchor="ctr"/>
          <a:lstStyle/>
          <a:p>
            <a:pPr algn="ctr"/>
          </a:p>
        </p:txBody>
      </p:sp>
      <p:sp>
        <p:nvSpPr>
          <p:cNvPr id="34" name="Rectangle 33"/>
          <p:cNvSpPr/>
          <p:nvPr/>
        </p:nvSpPr>
        <p:spPr>
          <a:xfrm>
            <a:off x="6172200" y="3783409"/>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651919"/>
            <a:ext cx="50800" cy="1137841"/>
          </a:xfrm>
          <a:prstGeom prst="roundRect">
            <a:avLst>
              <a:gd name="adj" fmla="val 50000"/>
            </a:avLst>
          </a:prstGeom>
          <a:solidFill>
            <a:srgbClr val="1D4ED8"/>
          </a:solidFill>
          <a:ln>
            <a:noFill/>
          </a:ln>
        </p:spPr>
        <p:txBody>
          <a:bodyPr rtlCol="0" anchor="ctr"/>
          <a:lstStyle/>
          <a:p>
            <a:pPr algn="ctr"/>
          </a:p>
        </p:txBody>
      </p:sp>
      <p:sp>
        <p:nvSpPr>
          <p:cNvPr id="36" name="Rounded Rectangle 35"/>
          <p:cNvSpPr/>
          <p:nvPr/>
        </p:nvSpPr>
        <p:spPr>
          <a:xfrm>
            <a:off x="6388100" y="2797969"/>
            <a:ext cx="510580" cy="241300"/>
          </a:xfrm>
          <a:prstGeom prst="roundRect">
            <a:avLst>
              <a:gd name="adj" fmla="val 50000"/>
            </a:avLst>
          </a:prstGeom>
          <a:solidFill>
            <a:srgbClr val="DBE5FB"/>
          </a:solidFill>
          <a:ln>
            <a:noFill/>
          </a:ln>
        </p:spPr>
        <p:txBody>
          <a:bodyPr rtlCol="0" anchor="ctr"/>
          <a:lstStyle/>
          <a:p>
            <a:pPr algn="ctr"/>
          </a:p>
        </p:txBody>
      </p:sp>
      <p:sp>
        <p:nvSpPr>
          <p:cNvPr id="37" name="TextBox 36"/>
          <p:cNvSpPr txBox="1"/>
          <p:nvPr/>
        </p:nvSpPr>
        <p:spPr>
          <a:xfrm>
            <a:off x="6477000" y="2823369"/>
            <a:ext cx="36816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공통 4</a:t>
            </a:r>
          </a:p>
        </p:txBody>
      </p:sp>
      <p:sp>
        <p:nvSpPr>
          <p:cNvPr id="38" name="TextBox 37"/>
          <p:cNvSpPr txBox="1"/>
          <p:nvPr/>
        </p:nvSpPr>
        <p:spPr>
          <a:xfrm>
            <a:off x="6388100" y="3115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지형은 모델과 제약으로</a:t>
            </a:r>
          </a:p>
        </p:txBody>
      </p:sp>
      <p:sp>
        <p:nvSpPr>
          <p:cNvPr id="39" name="TextBox 38"/>
          <p:cNvSpPr txBox="1"/>
          <p:nvPr/>
        </p:nvSpPr>
        <p:spPr>
          <a:xfrm>
            <a:off x="6388100" y="3422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비용 한 항이 아니라 GP 입력, 3차원 모델, 전복 제약.</a:t>
            </a:r>
          </a:p>
        </p:txBody>
      </p:sp>
      <p:graphicFrame>
        <p:nvGraphicFramePr>
          <p:cNvPr id="40" name="Table 39"/>
          <p:cNvGraphicFramePr>
            <a:graphicFrameLocks noGrp="1"/>
          </p:cNvGraphicFramePr>
          <p:nvPr/>
        </p:nvGraphicFramePr>
        <p:xfrm>
          <a:off x="711200" y="3967559"/>
          <a:ext cx="10769600" cy="1356037"/>
        </p:xfrm>
        <a:graphic>
          <a:graphicData uri="http://schemas.openxmlformats.org/drawingml/2006/table">
            <a:tbl>
              <a:tblPr firstRow="0" bandRow="0">
                <a:tableStyleId>{5C22544A-7EE6-4342-B048-85BDC9FD1C3A}</a:tableStyleId>
              </a:tblPr>
              <a:tblGrid>
                <a:gridCol w="2940844"/>
                <a:gridCol w="3731716"/>
                <a:gridCol w="4097040"/>
              </a:tblGrid>
              <a:tr h="278224">
                <a:tc>
                  <a:txBody>
                    <a:bodyPr wrap="square"/>
                    <a:lstStyle/>
                    <a:p>
                      <a:r>
                        <a:rPr sz="1100" b="1" i="0">
                          <a:solidFill>
                            <a:srgbClr val="F4F1EA"/>
                          </a:solidFill>
                          <a:latin typeface="Arial"/>
                          <a:ea typeface="Malgun Gothic"/>
                          <a:cs typeface="Malgun Gothic"/>
                        </a:rPr>
                        <a:t>축</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한쪽</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다른 쪽</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잔차를 언제 배우나</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오프라인 고정</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온라인 갱신</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불확실성 표현</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확률(신뢰도 선택)</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box(단순, 크기를 데이터로)</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최적화</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gradient(매끄러운 모델)</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샘플(접촉·이탈을 그대로)</a:t>
                      </a:r>
                    </a:p>
                  </a:txBody>
                  <a:tcPr marL="76200" marR="76200" marT="25400" marB="25400">
                    <a:solidFill>
                      <a:srgbClr val="F1EDE4"/>
                    </a:solidFill>
                  </a:tcPr>
                </a:tc>
              </a:tr>
              <a:tr h="267429">
                <a:tc>
                  <a:txBody>
                    <a:bodyPr wrap="square"/>
                    <a:lstStyle/>
                    <a:p>
                      <a:r>
                        <a:rPr sz="1100" b="0" i="0">
                          <a:solidFill>
                            <a:srgbClr val="16213A"/>
                          </a:solidFill>
                          <a:latin typeface="Arial"/>
                          <a:ea typeface="Malgun Gothic"/>
                          <a:cs typeface="Malgun Gothic"/>
                        </a:rPr>
                        <a:t>액추에이터 한계</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box 근사</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정확한 비볼록 집합</a:t>
                      </a:r>
                    </a:p>
                  </a:txBody>
                  <a:tcPr marL="76200" marR="76200" marT="25400" marB="25400">
                    <a:solidFill>
                      <a:srgbClr val="FFFDF8"/>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62919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정리</a:t>
            </a:r>
          </a:p>
        </p:txBody>
      </p:sp>
      <p:sp>
        <p:nvSpPr>
          <p:cNvPr id="3" name="TextBox 2"/>
          <p:cNvSpPr txBox="1"/>
          <p:nvPr/>
        </p:nvSpPr>
        <p:spPr>
          <a:xfrm>
            <a:off x="812800" y="3067348"/>
            <a:ext cx="10908792" cy="825450"/>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세우고, 풀고, 모델 오차를 다룬다</a:t>
            </a:r>
          </a:p>
        </p:txBody>
      </p:sp>
      <p:sp>
        <p:nvSpPr>
          <p:cNvPr id="4" name="TextBox 3"/>
          <p:cNvSpPr txBox="1"/>
          <p:nvPr/>
        </p:nvSpPr>
        <p:spPr>
          <a:xfrm>
            <a:off x="812800" y="391566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장단점 표, 흔한 함정, 공부 순서.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장단점 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NMPC를 만드는 선택을 한 표로 정리한다</a:t>
            </a:r>
          </a:p>
        </p:txBody>
      </p:sp>
      <p:graphicFrame>
        <p:nvGraphicFramePr>
          <p:cNvPr id="4" name="Table 3"/>
          <p:cNvGraphicFramePr>
            <a:graphicFrameLocks noGrp="1"/>
          </p:cNvGraphicFramePr>
          <p:nvPr/>
        </p:nvGraphicFramePr>
        <p:xfrm>
          <a:off x="711200" y="1361678"/>
          <a:ext cx="10769600" cy="2224445"/>
        </p:xfrm>
        <a:graphic>
          <a:graphicData uri="http://schemas.openxmlformats.org/drawingml/2006/table">
            <a:tbl>
              <a:tblPr firstRow="0" bandRow="0">
                <a:tableStyleId>{5C22544A-7EE6-4342-B048-85BDC9FD1C3A}</a:tableStyleId>
              </a:tblPr>
              <a:tblGrid>
                <a:gridCol w="1324967"/>
                <a:gridCol w="3130748"/>
                <a:gridCol w="2630488"/>
                <a:gridCol w="3683397"/>
              </a:tblGrid>
              <a:tr h="285477">
                <a:tc>
                  <a:txBody>
                    <a:bodyPr wrap="square"/>
                    <a:lstStyle/>
                    <a:p>
                      <a:r>
                        <a:rPr sz="1150" b="1" i="0">
                          <a:solidFill>
                            <a:srgbClr val="F4F1EA"/>
                          </a:solidFill>
                          <a:latin typeface="Arial"/>
                          <a:ea typeface="Malgun Gothic"/>
                          <a:cs typeface="Malgun Gothic"/>
                        </a:rPr>
                        <a:t>단계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기본 선택</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바꿀 때</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상태·입력</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속도를 상태, 변화율을 입력</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가속 한계가 box 제약</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저크까지 필요하면 한 차수 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적분기</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RK4</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큰 간격에서도 정확</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stiff 시스템이면 implicit 적분기</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비용</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선형 최소제곱 + 종단</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Gauss-Newton 정확</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경제적 비용이면 일반 비용</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장애물</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노드별 반평면(soft L1)</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선형, 늘 풀림</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장애물이 적으면 원 거리 제약</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풀이</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SQP-RTI + 구조 QP</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짧고 일정한 지연</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해가 크게 바뀌면 반복 늘림</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초기값</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이전 해 밀기</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공짜</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위상 선택은 상위 계층·학습에</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모델 오차</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지연 식 + 0차 잔차</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계산 거의 그대로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보장이 필요하면 튜브·확률 제약</a:t>
                      </a:r>
                    </a:p>
                  </a:txBody>
                  <a:tcPr marL="76200" marR="76200" marT="25400" marB="25400">
                    <a:solidFill>
                      <a:srgbClr val="F1EDE4"/>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흔한 함정</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NMPC가 이상하면 먼저 스케일링, infeasible, 시간, 명령 경로를 의심한다</a:t>
            </a:r>
          </a:p>
        </p:txBody>
      </p:sp>
      <p:sp>
        <p:nvSpPr>
          <p:cNvPr id="4" name="Rounded Rectangle 3"/>
          <p:cNvSpPr/>
          <p:nvPr/>
        </p:nvSpPr>
        <p:spPr>
          <a:xfrm>
            <a:off x="711200" y="1764506"/>
            <a:ext cx="5308600"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764506"/>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764506"/>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799457"/>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764506"/>
            <a:ext cx="50800" cy="104130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910556"/>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스케일링</a:t>
            </a:r>
          </a:p>
        </p:txBody>
      </p:sp>
      <p:sp>
        <p:nvSpPr>
          <p:cNvPr id="10" name="TextBox 9"/>
          <p:cNvSpPr txBox="1"/>
          <p:nvPr/>
        </p:nvSpPr>
        <p:spPr>
          <a:xfrm>
            <a:off x="927100" y="2217837"/>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미터와 라디안, 큰 가중치와 작은 가중치가 섞이면 QP가 수치적으로 나빠진다. 변수를 비슷한 크기로 맞춘다.</a:t>
            </a:r>
          </a:p>
        </p:txBody>
      </p:sp>
      <p:sp>
        <p:nvSpPr>
          <p:cNvPr id="11" name="Rounded Rectangle 10"/>
          <p:cNvSpPr/>
          <p:nvPr/>
        </p:nvSpPr>
        <p:spPr>
          <a:xfrm>
            <a:off x="6172200" y="1764506"/>
            <a:ext cx="5308600"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6172200" y="1764506"/>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764506"/>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6172200" y="2799457"/>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764506"/>
            <a:ext cx="50800" cy="1041301"/>
          </a:xfrm>
          <a:prstGeom prst="roundRect">
            <a:avLst>
              <a:gd name="adj" fmla="val 50000"/>
            </a:avLst>
          </a:prstGeom>
          <a:solidFill>
            <a:srgbClr val="C2410C"/>
          </a:solidFill>
          <a:ln>
            <a:noFill/>
          </a:ln>
        </p:spPr>
        <p:txBody>
          <a:bodyPr rtlCol="0" anchor="ctr"/>
          <a:lstStyle/>
          <a:p>
            <a:pPr algn="ctr"/>
          </a:p>
        </p:txBody>
      </p:sp>
      <p:sp>
        <p:nvSpPr>
          <p:cNvPr id="16" name="TextBox 15"/>
          <p:cNvSpPr txBox="1"/>
          <p:nvPr/>
        </p:nvSpPr>
        <p:spPr>
          <a:xfrm>
            <a:off x="6388100" y="1910556"/>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infeasible</a:t>
            </a:r>
          </a:p>
        </p:txBody>
      </p:sp>
      <p:sp>
        <p:nvSpPr>
          <p:cNvPr id="17" name="TextBox 16"/>
          <p:cNvSpPr txBox="1"/>
          <p:nvPr/>
        </p:nvSpPr>
        <p:spPr>
          <a:xfrm>
            <a:off x="6388100" y="2217837"/>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hard 제약이 많으면 외란 하나에 해가 없다. soft L1로 두고 위반량을 기록한다.</a:t>
            </a:r>
          </a:p>
        </p:txBody>
      </p:sp>
      <p:sp>
        <p:nvSpPr>
          <p:cNvPr id="18" name="Rounded Rectangle 17"/>
          <p:cNvSpPr/>
          <p:nvPr/>
        </p:nvSpPr>
        <p:spPr>
          <a:xfrm>
            <a:off x="711200" y="2958207"/>
            <a:ext cx="5308600" cy="1041301"/>
          </a:xfrm>
          <a:prstGeom prst="roundRect">
            <a:avLst>
              <a:gd name="adj" fmla="val 7317"/>
            </a:avLst>
          </a:prstGeom>
          <a:solidFill>
            <a:srgbClr val="FFFDF8"/>
          </a:solidFill>
          <a:ln>
            <a:noFill/>
          </a:ln>
        </p:spPr>
        <p:txBody>
          <a:bodyPr rtlCol="0" anchor="ctr"/>
          <a:lstStyle/>
          <a:p>
            <a:pPr algn="ctr"/>
          </a:p>
        </p:txBody>
      </p:sp>
      <p:sp>
        <p:nvSpPr>
          <p:cNvPr id="19" name="Rectangle 18"/>
          <p:cNvSpPr/>
          <p:nvPr/>
        </p:nvSpPr>
        <p:spPr>
          <a:xfrm>
            <a:off x="711200" y="2958207"/>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958207"/>
            <a:ext cx="6350" cy="1041301"/>
          </a:xfrm>
          <a:prstGeom prst="rect">
            <a:avLst/>
          </a:prstGeom>
          <a:solidFill>
            <a:srgbClr val="D9D4C7"/>
          </a:solidFill>
          <a:ln>
            <a:noFill/>
          </a:ln>
        </p:spPr>
        <p:txBody>
          <a:bodyPr rtlCol="0" anchor="ctr"/>
          <a:lstStyle/>
          <a:p>
            <a:pPr algn="ctr"/>
          </a:p>
        </p:txBody>
      </p:sp>
      <p:sp>
        <p:nvSpPr>
          <p:cNvPr id="21" name="Rectangle 20"/>
          <p:cNvSpPr/>
          <p:nvPr/>
        </p:nvSpPr>
        <p:spPr>
          <a:xfrm>
            <a:off x="711200" y="3993158"/>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958207"/>
            <a:ext cx="50800" cy="1041301"/>
          </a:xfrm>
          <a:prstGeom prst="roundRect">
            <a:avLst>
              <a:gd name="adj" fmla="val 50000"/>
            </a:avLst>
          </a:prstGeom>
          <a:solidFill>
            <a:srgbClr val="C2410C"/>
          </a:solidFill>
          <a:ln>
            <a:noFill/>
          </a:ln>
        </p:spPr>
        <p:txBody>
          <a:bodyPr rtlCol="0" anchor="ctr"/>
          <a:lstStyle/>
          <a:p>
            <a:pPr algn="ctr"/>
          </a:p>
        </p:txBody>
      </p:sp>
      <p:sp>
        <p:nvSpPr>
          <p:cNvPr id="23" name="TextBox 22"/>
          <p:cNvSpPr txBox="1"/>
          <p:nvPr/>
        </p:nvSpPr>
        <p:spPr>
          <a:xfrm>
            <a:off x="927100" y="3104257"/>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시간</a:t>
            </a:r>
          </a:p>
        </p:txBody>
      </p:sp>
      <p:sp>
        <p:nvSpPr>
          <p:cNvPr id="24" name="TextBox 23"/>
          <p:cNvSpPr txBox="1"/>
          <p:nvPr/>
        </p:nvSpPr>
        <p:spPr>
          <a:xfrm>
            <a:off x="927100" y="341153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평균이 아니라 최악의 풀이 시간을 본다. 실패 시 낼 명령을 미리 정한다.</a:t>
            </a:r>
          </a:p>
        </p:txBody>
      </p:sp>
      <p:sp>
        <p:nvSpPr>
          <p:cNvPr id="25" name="Rounded Rectangle 24"/>
          <p:cNvSpPr/>
          <p:nvPr/>
        </p:nvSpPr>
        <p:spPr>
          <a:xfrm>
            <a:off x="6172200" y="2958207"/>
            <a:ext cx="5308600" cy="1041301"/>
          </a:xfrm>
          <a:prstGeom prst="roundRect">
            <a:avLst>
              <a:gd name="adj" fmla="val 7317"/>
            </a:avLst>
          </a:prstGeom>
          <a:solidFill>
            <a:srgbClr val="FFFDF8"/>
          </a:solidFill>
          <a:ln>
            <a:noFill/>
          </a:ln>
        </p:spPr>
        <p:txBody>
          <a:bodyPr rtlCol="0" anchor="ctr"/>
          <a:lstStyle/>
          <a:p>
            <a:pPr algn="ctr"/>
          </a:p>
        </p:txBody>
      </p:sp>
      <p:sp>
        <p:nvSpPr>
          <p:cNvPr id="26" name="Rectangle 25"/>
          <p:cNvSpPr/>
          <p:nvPr/>
        </p:nvSpPr>
        <p:spPr>
          <a:xfrm>
            <a:off x="6172200" y="2958207"/>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958207"/>
            <a:ext cx="6350" cy="1041301"/>
          </a:xfrm>
          <a:prstGeom prst="rect">
            <a:avLst/>
          </a:prstGeom>
          <a:solidFill>
            <a:srgbClr val="D9D4C7"/>
          </a:solidFill>
          <a:ln>
            <a:noFill/>
          </a:ln>
        </p:spPr>
        <p:txBody>
          <a:bodyPr rtlCol="0" anchor="ctr"/>
          <a:lstStyle/>
          <a:p>
            <a:pPr algn="ctr"/>
          </a:p>
        </p:txBody>
      </p:sp>
      <p:sp>
        <p:nvSpPr>
          <p:cNvPr id="28" name="Rectangle 27"/>
          <p:cNvSpPr/>
          <p:nvPr/>
        </p:nvSpPr>
        <p:spPr>
          <a:xfrm>
            <a:off x="6172200" y="3993158"/>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958207"/>
            <a:ext cx="50800" cy="1041301"/>
          </a:xfrm>
          <a:prstGeom prst="roundRect">
            <a:avLst>
              <a:gd name="adj" fmla="val 50000"/>
            </a:avLst>
          </a:prstGeom>
          <a:solidFill>
            <a:srgbClr val="C2410C"/>
          </a:solidFill>
          <a:ln>
            <a:noFill/>
          </a:ln>
        </p:spPr>
        <p:txBody>
          <a:bodyPr rtlCol="0" anchor="ctr"/>
          <a:lstStyle/>
          <a:p>
            <a:pPr algn="ctr"/>
          </a:p>
        </p:txBody>
      </p:sp>
      <p:sp>
        <p:nvSpPr>
          <p:cNvPr id="30" name="TextBox 29"/>
          <p:cNvSpPr txBox="1"/>
          <p:nvPr/>
        </p:nvSpPr>
        <p:spPr>
          <a:xfrm>
            <a:off x="6388100" y="3104257"/>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명령 경로</a:t>
            </a:r>
          </a:p>
        </p:txBody>
      </p:sp>
      <p:sp>
        <p:nvSpPr>
          <p:cNvPr id="31" name="TextBox 30"/>
          <p:cNvSpPr txBox="1"/>
          <p:nvPr/>
        </p:nvSpPr>
        <p:spPr>
          <a:xfrm>
            <a:off x="6388100" y="341153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계획한 입력과 실제로 로봇에 들어간 입력을 비교한다. 단위·좌표·변환에서 절반만 나가는 일이 흔하다.</a:t>
            </a:r>
          </a:p>
        </p:txBody>
      </p:sp>
      <p:sp>
        <p:nvSpPr>
          <p:cNvPr id="32" name="Rounded Rectangle 31"/>
          <p:cNvSpPr/>
          <p:nvPr/>
        </p:nvSpPr>
        <p:spPr>
          <a:xfrm>
            <a:off x="711200" y="4151908"/>
            <a:ext cx="5308600" cy="1041301"/>
          </a:xfrm>
          <a:prstGeom prst="roundRect">
            <a:avLst>
              <a:gd name="adj" fmla="val 7317"/>
            </a:avLst>
          </a:prstGeom>
          <a:solidFill>
            <a:srgbClr val="FFFDF8"/>
          </a:solidFill>
          <a:ln>
            <a:noFill/>
          </a:ln>
        </p:spPr>
        <p:txBody>
          <a:bodyPr rtlCol="0" anchor="ctr"/>
          <a:lstStyle/>
          <a:p>
            <a:pPr algn="ctr"/>
          </a:p>
        </p:txBody>
      </p:sp>
      <p:sp>
        <p:nvSpPr>
          <p:cNvPr id="33" name="Rectangle 32"/>
          <p:cNvSpPr/>
          <p:nvPr/>
        </p:nvSpPr>
        <p:spPr>
          <a:xfrm>
            <a:off x="711200" y="4151908"/>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4151908"/>
            <a:ext cx="6350" cy="1041301"/>
          </a:xfrm>
          <a:prstGeom prst="rect">
            <a:avLst/>
          </a:prstGeom>
          <a:solidFill>
            <a:srgbClr val="D9D4C7"/>
          </a:solidFill>
          <a:ln>
            <a:noFill/>
          </a:ln>
        </p:spPr>
        <p:txBody>
          <a:bodyPr rtlCol="0" anchor="ctr"/>
          <a:lstStyle/>
          <a:p>
            <a:pPr algn="ctr"/>
          </a:p>
        </p:txBody>
      </p:sp>
      <p:sp>
        <p:nvSpPr>
          <p:cNvPr id="35" name="Rectangle 34"/>
          <p:cNvSpPr/>
          <p:nvPr/>
        </p:nvSpPr>
        <p:spPr>
          <a:xfrm>
            <a:off x="711200" y="5186859"/>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4151908"/>
            <a:ext cx="50800" cy="1041301"/>
          </a:xfrm>
          <a:prstGeom prst="roundRect">
            <a:avLst>
              <a:gd name="adj" fmla="val 50000"/>
            </a:avLst>
          </a:prstGeom>
          <a:solidFill>
            <a:srgbClr val="9AA6BC"/>
          </a:solidFill>
          <a:ln>
            <a:noFill/>
          </a:ln>
        </p:spPr>
        <p:txBody>
          <a:bodyPr rtlCol="0" anchor="ctr"/>
          <a:lstStyle/>
          <a:p>
            <a:pPr algn="ctr"/>
          </a:p>
        </p:txBody>
      </p:sp>
      <p:sp>
        <p:nvSpPr>
          <p:cNvPr id="37" name="TextBox 36"/>
          <p:cNvSpPr txBox="1"/>
          <p:nvPr/>
        </p:nvSpPr>
        <p:spPr>
          <a:xfrm>
            <a:off x="927100" y="429795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 = 시뮬</a:t>
            </a:r>
          </a:p>
        </p:txBody>
      </p:sp>
      <p:sp>
        <p:nvSpPr>
          <p:cNvPr id="38" name="TextBox 37"/>
          <p:cNvSpPr txBox="1"/>
          <p:nvPr/>
        </p:nvSpPr>
        <p:spPr>
          <a:xfrm>
            <a:off x="927100" y="460523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검증 plant가 명목 모델과 같으면 견고성을 잴 수 없다.</a:t>
            </a:r>
          </a:p>
        </p:txBody>
      </p:sp>
      <p:sp>
        <p:nvSpPr>
          <p:cNvPr id="39" name="Rounded Rectangle 38"/>
          <p:cNvSpPr/>
          <p:nvPr/>
        </p:nvSpPr>
        <p:spPr>
          <a:xfrm>
            <a:off x="6172200" y="4151908"/>
            <a:ext cx="5308600" cy="1041301"/>
          </a:xfrm>
          <a:prstGeom prst="roundRect">
            <a:avLst>
              <a:gd name="adj" fmla="val 7317"/>
            </a:avLst>
          </a:prstGeom>
          <a:solidFill>
            <a:srgbClr val="FFFDF8"/>
          </a:solidFill>
          <a:ln>
            <a:noFill/>
          </a:ln>
        </p:spPr>
        <p:txBody>
          <a:bodyPr rtlCol="0" anchor="ctr"/>
          <a:lstStyle/>
          <a:p>
            <a:pPr algn="ctr"/>
          </a:p>
        </p:txBody>
      </p:sp>
      <p:sp>
        <p:nvSpPr>
          <p:cNvPr id="40" name="Rectangle 39"/>
          <p:cNvSpPr/>
          <p:nvPr/>
        </p:nvSpPr>
        <p:spPr>
          <a:xfrm>
            <a:off x="6172200" y="4151908"/>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4151908"/>
            <a:ext cx="6350" cy="1041301"/>
          </a:xfrm>
          <a:prstGeom prst="rect">
            <a:avLst/>
          </a:prstGeom>
          <a:solidFill>
            <a:srgbClr val="D9D4C7"/>
          </a:solidFill>
          <a:ln>
            <a:noFill/>
          </a:ln>
        </p:spPr>
        <p:txBody>
          <a:bodyPr rtlCol="0" anchor="ctr"/>
          <a:lstStyle/>
          <a:p>
            <a:pPr algn="ctr"/>
          </a:p>
        </p:txBody>
      </p:sp>
      <p:sp>
        <p:nvSpPr>
          <p:cNvPr id="42" name="Rectangle 41"/>
          <p:cNvSpPr/>
          <p:nvPr/>
        </p:nvSpPr>
        <p:spPr>
          <a:xfrm>
            <a:off x="6172200" y="5186859"/>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4151908"/>
            <a:ext cx="50800" cy="1041301"/>
          </a:xfrm>
          <a:prstGeom prst="roundRect">
            <a:avLst>
              <a:gd name="adj" fmla="val 50000"/>
            </a:avLst>
          </a:prstGeom>
          <a:solidFill>
            <a:srgbClr val="9AA6BC"/>
          </a:solidFill>
          <a:ln>
            <a:noFill/>
          </a:ln>
        </p:spPr>
        <p:txBody>
          <a:bodyPr rtlCol="0" anchor="ctr"/>
          <a:lstStyle/>
          <a:p>
            <a:pPr algn="ctr"/>
          </a:p>
        </p:txBody>
      </p:sp>
      <p:sp>
        <p:nvSpPr>
          <p:cNvPr id="44" name="TextBox 43"/>
          <p:cNvSpPr txBox="1"/>
          <p:nvPr/>
        </p:nvSpPr>
        <p:spPr>
          <a:xfrm>
            <a:off x="6388100" y="429795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잔차의 데이터 분포 밖</a:t>
            </a:r>
          </a:p>
        </p:txBody>
      </p:sp>
      <p:sp>
        <p:nvSpPr>
          <p:cNvPr id="45" name="TextBox 44"/>
          <p:cNvSpPr txBox="1"/>
          <p:nvPr/>
        </p:nvSpPr>
        <p:spPr>
          <a:xfrm>
            <a:off x="6388100" y="460523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잔차가 데이터 분포 밖에서 튀면 MPC가 이용한다. 데이터 범위와 예측을 함께 기록한다.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공부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MPC 교과서와 최적화 교과서를 함께 읽고, 작은 OCP를 직접 푼다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624979"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8599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MPC</a:t>
            </a:r>
          </a:p>
        </p:txBody>
      </p:sp>
      <p:sp>
        <p:nvSpPr>
          <p:cNvPr id="11" name="TextBox 10"/>
          <p:cNvSpPr txBox="1"/>
          <p:nvPr/>
        </p:nvSpPr>
        <p:spPr>
          <a:xfrm>
            <a:off x="927100" y="1825228"/>
            <a:ext cx="3219310" cy="62850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Rawlings·Mayne·Diehl, Model Predictive Control</a:t>
            </a:r>
          </a:p>
        </p:txBody>
      </p:sp>
      <p:sp>
        <p:nvSpPr>
          <p:cNvPr id="12" name="TextBox 11"/>
          <p:cNvSpPr txBox="1"/>
          <p:nvPr/>
        </p:nvSpPr>
        <p:spPr>
          <a:xfrm>
            <a:off x="927100" y="236358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OCP, 안정성, 강건·확률 MPC, 수치 풀이.</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9830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최적화</a:t>
            </a:r>
          </a:p>
        </p:txBody>
      </p:sp>
      <p:sp>
        <p:nvSpPr>
          <p:cNvPr id="20" name="TextBox 19"/>
          <p:cNvSpPr txBox="1"/>
          <p:nvPr/>
        </p:nvSpPr>
        <p:spPr>
          <a:xfrm>
            <a:off x="4567734" y="1825228"/>
            <a:ext cx="3219310" cy="62850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Nocedal·Wright, Numerical Optimization</a:t>
            </a:r>
          </a:p>
        </p:txBody>
      </p:sp>
      <p:sp>
        <p:nvSpPr>
          <p:cNvPr id="21" name="TextBox 20"/>
          <p:cNvSpPr txBox="1"/>
          <p:nvPr/>
        </p:nvSpPr>
        <p:spPr>
          <a:xfrm>
            <a:off x="4567734" y="236358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뉴턴, line search, KKT, SQP, 내점법.</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584994"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실습</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OCP를 직접</a:t>
            </a:r>
          </a:p>
        </p:txBody>
      </p:sp>
      <p:sp>
        <p:nvSpPr>
          <p:cNvPr id="30" name="TextBox 29"/>
          <p:cNvSpPr txBox="1"/>
          <p:nvPr/>
        </p:nvSpPr>
        <p:spPr>
          <a:xfrm>
            <a:off x="8208367"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CasADi + IPOPT로 이중 적분기 → 유니사이클 장애물 회피 → acados RTI로 같은 문제 → 잔차 하나 더하기.</a:t>
            </a:r>
          </a:p>
        </p:txBody>
      </p:sp>
      <p:graphicFrame>
        <p:nvGraphicFramePr>
          <p:cNvPr id="31" name="Table 30"/>
          <p:cNvGraphicFramePr>
            <a:graphicFrameLocks noGrp="1"/>
          </p:cNvGraphicFramePr>
          <p:nvPr/>
        </p:nvGraphicFramePr>
        <p:xfrm>
          <a:off x="711200" y="3119239"/>
          <a:ext cx="10769600" cy="1114921"/>
        </p:xfrm>
        <a:graphic>
          <a:graphicData uri="http://schemas.openxmlformats.org/drawingml/2006/table">
            <a:tbl>
              <a:tblPr firstRow="0" bandRow="0">
                <a:tableStyleId>{5C22544A-7EE6-4342-B048-85BDC9FD1C3A}</a:tableStyleId>
              </a:tblPr>
              <a:tblGrid>
                <a:gridCol w="1440160"/>
                <a:gridCol w="9329440"/>
              </a:tblGrid>
              <a:tr h="285477">
                <a:tc>
                  <a:txBody>
                    <a:bodyPr wrap="square"/>
                    <a:lstStyle/>
                    <a:p>
                      <a:r>
                        <a:rPr sz="1150" b="1" i="0">
                          <a:solidFill>
                            <a:srgbClr val="F4F1EA"/>
                          </a:solidFill>
                          <a:latin typeface="Arial"/>
                          <a:ea typeface="Malgun Gothic"/>
                          <a:cs typeface="Malgun Gothic"/>
                        </a:rPr>
                        <a:t>이 덱의 장</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스스로 확인할 질문</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 세우기</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속도를 상태로 두면 왜 가속 한계가 쉬워지나? L1 페널티는 언제 hard와 같아지나?</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 풀기</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RTI는 왜 한 스텝으로 충분한가? 언제 부족한가?</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3 오차</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0차 근사는 무엇을 무시하나? 튜브의 ρ_k는 무엇으로 정하나?</a:t>
                      </a:r>
                    </a:p>
                  </a:txBody>
                  <a:tcPr marL="76200" marR="76200" marT="25400" marB="25400">
                    <a:solidFill>
                      <a:srgbClr val="F1EDE4"/>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풀 수 있게 세우고, 시간 안에 풀고, 틀린 만큼 조인다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D4ED8"/>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세우기</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속도를 상태로, RK4, 선형 최소제곱 비용, 종단으로 진행.</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제약</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끊기는 것은 제약으로, 비볼록은 노드별 반평면, soft L1.</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풀기</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SQP-RTI, 구조 QP. 최악 시간과 실패를 기록한다.</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15803D"/>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초기값</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위상 선택은 gradient가 못 한다. 상위 계층·학습이 준다.</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 오차</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 식 → 0차 잔차 → 희소 GP 분산.</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조이기</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튜브와 확률 제약은 같은 ρ_k. 보정을 잰 뒤 짝 비교로 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 · 먼저 읽을 것</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처음에는 이 다섯 가지만 읽는다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609600"/>
                <a:gridCol w="6673255"/>
                <a:gridCol w="3486745"/>
              </a:tblGrid>
              <a:tr h="285477">
                <a:tc>
                  <a:txBody>
                    <a:bodyPr wrap="square"/>
                    <a:lstStyle/>
                    <a:p>
                      <a:r>
                        <a:rPr sz="115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문헌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왜 먼저 읽나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 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Rawlings·Mayne·Diehl, Model Predictive Control (2판, 2017) 1–3장, 8장</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OCP, 안정성, 강건·확률 MPC, 수치 풀이</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Nocedal·Wright, Numerical Optimization (2판, 2006) 12장, 18장</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KKT 조건과 SQP</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Diehl 외, Real-Time Iteration (SIAM J. Control Optim. 2005)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한 주기에 SQP 한 스텝이 충분한 이유</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Verschueren 외, acados 1910.13753</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실습에 쓸 솔버 틀의 구조</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 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Hewing 외, Cautious MPC 1705.10702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명목 모델 + GP 잔차와 제약 조이기</a:t>
                      </a:r>
                    </a:p>
                  </a:txBody>
                  <a:tcPr marL="76200" marR="76200" marT="25400" marB="25400">
                    <a:solidFill>
                      <a:srgbClr val="F1EDE4"/>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 · 장별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책, 도구, 원 논문</a:t>
            </a:r>
          </a:p>
        </p:txBody>
      </p:sp>
      <p:sp>
        <p:nvSpPr>
          <p:cNvPr id="4" name="TextBox 3"/>
          <p:cNvSpPr txBox="1"/>
          <p:nvPr/>
        </p:nvSpPr>
        <p:spPr>
          <a:xfrm>
            <a:off x="711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책</a:t>
            </a:r>
            <a:r>
              <a:rPr sz="1250" b="0" i="0">
                <a:solidFill>
                  <a:srgbClr val="16213A"/>
                </a:solidFill>
                <a:latin typeface="Arial"/>
                <a:ea typeface="Malgun Gothic"/>
                <a:cs typeface="Malgun Gothic"/>
              </a:rPr>
              <a:t> — Rawlings·Mayne·Diehl, Model Predictive Control (2판, 2017) · Nocedal·Wright, Numerical Optimization (2판, 2006)</a:t>
            </a:r>
          </a:p>
        </p:txBody>
      </p:sp>
      <p:sp>
        <p:nvSpPr>
          <p:cNvPr id="5" name="TextBox 4"/>
          <p:cNvSpPr txBox="1"/>
          <p:nvPr/>
        </p:nvSpPr>
        <p:spPr>
          <a:xfrm>
            <a:off x="711200" y="19712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풀이</a:t>
            </a:r>
            <a:r>
              <a:rPr sz="1250" b="0" i="0">
                <a:solidFill>
                  <a:srgbClr val="16213A"/>
                </a:solidFill>
                <a:latin typeface="Arial"/>
                <a:ea typeface="Malgun Gothic"/>
                <a:cs typeface="Malgun Gothic"/>
              </a:rPr>
              <a:t> — Real-Time Iteration (Diehl 외, SIAM J. Control Optim. 2005) · acados 1910.13753 · CasADi (Andersson 외, Math. Prog. Comp. 2019) · HPIPM 2003.02547</a:t>
            </a:r>
          </a:p>
        </p:txBody>
      </p:sp>
      <p:sp>
        <p:nvSpPr>
          <p:cNvPr id="6" name="TextBox 5"/>
          <p:cNvSpPr txBox="1"/>
          <p:nvPr/>
        </p:nvSpPr>
        <p:spPr>
          <a:xfrm>
            <a:off x="711200" y="28285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학습 잔차</a:t>
            </a:r>
            <a:r>
              <a:rPr sz="1250" b="0" i="0">
                <a:solidFill>
                  <a:srgbClr val="16213A"/>
                </a:solidFill>
                <a:latin typeface="Arial"/>
                <a:ea typeface="Malgun Gothic"/>
                <a:cs typeface="Malgun Gothic"/>
              </a:rPr>
              <a:t> — L4acados 2411.19258 · Cautious MPC 1705.10702 · Kim 외 FDM 2204.08647 · Hwangbo 외 1901.08652</a:t>
            </a:r>
          </a:p>
        </p:txBody>
      </p:sp>
      <p:sp>
        <p:nvSpPr>
          <p:cNvPr id="7" name="TextBox 6"/>
          <p:cNvSpPr txBox="1"/>
          <p:nvPr/>
        </p:nvSpPr>
        <p:spPr>
          <a:xfrm>
            <a:off x="6172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튜브·확률</a:t>
            </a:r>
            <a:r>
              <a:rPr sz="1250" b="0" i="0">
                <a:solidFill>
                  <a:srgbClr val="16213A"/>
                </a:solidFill>
                <a:latin typeface="Arial"/>
                <a:ea typeface="Malgun Gothic"/>
                <a:cs typeface="Malgun Gothic"/>
              </a:rPr>
              <a:t> — Mayne 외, Robust MPC (Automatica 2005) · Koller 외 1803.08287 · Dubied 외 2507.02098</a:t>
            </a:r>
          </a:p>
        </p:txBody>
      </p:sp>
      <p:sp>
        <p:nvSpPr>
          <p:cNvPr id="8" name="TextBox 7"/>
          <p:cNvSpPr txBox="1"/>
          <p:nvPr/>
        </p:nvSpPr>
        <p:spPr>
          <a:xfrm>
            <a:off x="6172200" y="19712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최근 흐름</a:t>
            </a:r>
            <a:r>
              <a:rPr sz="1250" b="0" i="0">
                <a:solidFill>
                  <a:srgbClr val="16213A"/>
                </a:solidFill>
                <a:latin typeface="Arial"/>
                <a:ea typeface="Malgun Gothic"/>
                <a:cs typeface="Malgun Gothic"/>
              </a:rPr>
              <a:t> — diffusion 초기해 MPC 2601.02873 · RL 유도 PAC-NMPC 2609.39854 · 비평면 재귀 희소 GP 2602.16206 · 에너지 정규화 NN 잔차 2604.14678 · 고속 전지형 자율주행 2603.20525</a:t>
            </a:r>
          </a:p>
        </p:txBody>
      </p:sp>
      <p:sp>
        <p:nvSpPr>
          <p:cNvPr id="9" name="TextBox 8"/>
          <p:cNvSpPr txBox="1"/>
          <p:nvPr/>
        </p:nvSpPr>
        <p:spPr>
          <a:xfrm>
            <a:off x="6172200" y="28285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영상의 원 논문</a:t>
            </a:r>
            <a:r>
              <a:rPr sz="1250" b="0" i="0">
                <a:solidFill>
                  <a:srgbClr val="16213A"/>
                </a:solidFill>
                <a:latin typeface="Arial"/>
                <a:ea typeface="Malgun Gothic"/>
                <a:cs typeface="Malgun Gothic"/>
              </a:rPr>
              <a:t> — Grandia 외, 인식 보행 NMPC 2208.08373 · acados 공식 시연, 삼륜 AGV 추종 (IROS 2024) · Torrente 외, Data-Driven MPC 2102.05773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비선형 MPC 구축 기초 — 문제 세우기, 실시간 풀이, 모델 오차</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