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docs/research-mpc.md. 대시보드 리서치 탭의 'MPC 구축'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탭 '설계'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 OCP를 어떻게 세우나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M.1.1 MPPI 비용을 MPC로 옮기는 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M.1.2 치명도를 비용에서 제약으로 옮기는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 · 토글 '자세히: FDM과 샘플링 MPC의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 · 토글 '자세히: 액추에이터 네트워크의 방법'</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 · 토글 '자세히: 필터와 물리 롤아웃'</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M.1.3 예측 모델은 세 층으로 쌓고, 학습 층은 로봇 모델로 굴린 시뮬레이션에서 배운다 (TP-0124–0126)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탭 '시뮬 리그'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M.2 plant를 어디서 얻나</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M.2.1 AntBot MJCF — URDF에 없는 것을 손으로 써야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탭 '작업 기록'</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 진행 기록</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 진행 기록</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 진행 기록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 환경 메모 — 다시 밟지 않도록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 단계와 게이트</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M.3.3 0단계 결과 — 게이트 미달, 그리고 그 이유가 정확히 다음 단계다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M.3.3 0단계 결과 — 게이트 미달, 그리고 그 이유가 정확히 다음 단계다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M.3.3 0단계 결과 — 게이트 미달, 그리고 그 이유가 정확히 다음 단계다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M.3.4 다음 단계의 설계 결정 — 격자를 acados에 어떻게 넣나</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M.3.5 TP-0071 결과 — 6/12에서 9/12로, 남은 셋은 형태가 아니라 솔버 문제다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M.3.5 TP-0071 결과 — 6/12에서 9/12로, 남은 셋은 형태가 아니라 솔버 문제다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M.3.5 TP-0071 결과 — 6/12에서 9/12로, 남은 셋은 형태가 아니라 솔버 문제다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M.3.6 GP 잔차 동역학 — 배울 것을 먼저 만들었다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M.3.6 GP 잔차 동역학 — 배울 것을 먼저 만들었다 · 토글 '자세히: 비동축에서 모듈 반전이 공짜가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M.3.6 GP 잔차 동역학 — 배울 것을 먼저 만들었다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M.3.6 GP 잔차 동역학 — 배울 것을 먼저 만들었다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M.3.7 폐루프는 아직 안 된다 — 여기까지 좁혔다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M.3.8 GP / 희소 GP — 네 축으로 재 보면 고를 것이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M.3.8 GP / 희소 GP — 네 축으로 재 보면 고를 것이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M.3.9 희소화가 폐루프 발산을 고쳤다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M.3.10 1단계 마무리 — 남은 셋은 솔버가 아니라 제약의 구멍이었다 (TP-0093)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M.3.10 1단계 마무리 — 남은 셋은 솔버가 아니라 제약의 구멍이었다 (TP-0093)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M.3.10 1단계 마무리 — 남은 셋은 솔버가 아니라 제약의 구멍이었다 (TP-0093)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M.3.10 1단계 마무리 — 남은 셋은 솔버가 아니라 제약의 구멍이었다 (TP-0093)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M.3.11 보행자도 반평면 하나로, 다만 앞 2초에만 건다 (TP-0071 나머지)</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M.3.12 GP 평균의 폐루프를 무너뜨린 원인은 둘이었다 (TP-0068)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M.3.12 GP 평균의 폐루프를 무너뜨린 원인은 둘이었다 (TP-0068)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M.3.13 MPPI에도 확률 제약을 세웠다 (TP-0076)</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M.3.13 MPPI에도 확률 제약을 세웠다 (TP-0076)</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M.3.13 MPPI에도 확률 제약을 세웠다 (TP-0076)</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M.3.13 MPPI에도 확률 제약을 세웠다 (TP-0076)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 · 토글 '자세히: 경계를 정확히 그리는 방법과, 그것을 재는 오라클'</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M.3.14 확률 제약의 0선을 실패 경계에 맞췄다 (TP-0119)</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M.3.15 명목 MPC는 계획한 가속의 절반만 내고 있었다 (TP-0122)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M.3.15 명목 MPC는 계획한 가속의 절반만 내고 있었다 (TP-0122)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M.3.15 명목 MPC는 계획한 가속의 절반만 내고 있었다 (TP-0122)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M.3.15 명목 MPC는 계획한 가속의 절반만 내고 있었다 (TP-0122)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M.3.15 명목 MPC는 계획한 가속의 절반만 내고 있었다 (TP-0122)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M.3.16 부드러운 여유 행은 최악 여유를 넓히지만 성공 수는 더하지 않는다 (TP-0117)</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M.3.16 부드러운 여유 행은 최악 여유를 넓히지만 성공 수는 더하지 않는다 (TP-0117)</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M.3.16 부드러운 여유 행은 최악 여유를 넓히지만 성공 수는 더하지 않는다 (TP-0117)</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M.3.16 부드러운 여유 행은 최악 여유를 넓히지만 성공 수는 더하지 않는다 (TP-0117)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M.3.16 부드러운 여유 행은 최악 여유를 넓히지만 성공 수는 더하지 않는다 (TP-0117)</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M.3.17 Guidance 경로에 여유를 주면 plant 실패가 줄고 도달은 빨라진다 (TP-0118)</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M.3.18 GP 분산 튜브는 1번 노드에서 맞지만 여유도 성공도 늘리지 않았다 (TP-0069)</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M.3.18 GP 분산 튜브는 1번 노드에서 맞지만 여유도 성공도 늘리지 않았다 (TP-0069)</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M.3.18 GP 분산 튜브는 1번 노드에서 맞지만 여유도 성공도 늘리지 않았다 (TP-0069)</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M.3.18 GP 분산 튜브는 1번 노드에서 맞지만 여유도 성공도 늘리지 않았다 (TP-0069)</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M.3.19 GP 평균을 MPPI rollout에 넣으면 램프의 치명 실패가 사라지고, GP 경로는 두 배 빨라졌다 (TP-0120)</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M.3.19 GP 평균을 MPPI rollout에 넣으면 램프의 치명 실패가 사라지고, GP 경로는 두 배 빨라졌다 (TP-0120)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M.3.19 GP 평균을 MPPI rollout에 넣으면 램프의 치명 실패가 사라지고, GP 경로는 두 배 빨라졌다 (TP-0120)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M.3.19 GP 평균을 MPPI rollout에 넣으면 램프의 치명 실패가 사라지고, GP 경로는 두 배 빨라졌다 (TP-0120)</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M.3.20 멈춘 장면에서 MPOT식 최적화기는 같은 예산의 MPPI를 넘지 못했다 — MPOT 변형은 만들지 않는다 (TP-0130)</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M.3.21 접힌 참조에서 진행 항의 끝점 투영을 닿을 수 있는 호로 제한한다 (TP-0131)</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M.3.21 접힌 참조에서 진행 항의 끝점 투영을 닿을 수 있는 호로 제한한다 (TP-0131)</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M.3.21 접힌 참조에서 진행 항의 끝점 투영을 닿을 수 있는 호로 제한한다 (TP-0131)</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M.3.21 접힌 참조에서 진행 항의 끝점 투영을 닿을 수 있는 호로 제한한다 (TP-0131)</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M.3.22 MPPI rollout에 스워브 plant의 지연을 넣는다 — 레벨 3 plant 치명 55 → 4 (TP-0150)</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M.3.22 MPPI rollout에 스워브 plant의 지연을 넣는다 — 레벨 3 plant 치명 55 → 4 (TP-0150)</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M.3.22 MPPI rollout에 스워브 plant의 지연을 넣는다 — 레벨 3 plant 치명 55 → 4 (TP-0150)</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M.3.23 plant에서 레벨 3 경사로를 지나는 MPPI를 찾지 못했다 — 다섯 시도 뒤 멈추고 plant 모델을 묻는다 (TP-0151)</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M.3.23 plant에서 레벨 3 경사로를 지나는 MPPI를 찾지 못했다 — 다섯 시도 뒤 멈추고 plant 모델을 묻는다 (TP-0151)</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M.3.24 plant 조건에서 NMPC 갈래는 지연을 아는 MPPI보다 치명이 여덟 배 많다 (TP-0152)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M.3.24 plant 조건에서 NMPC 갈래는 지연을 아는 MPPI보다 치명이 여덟 배 많다 (TP-0152)</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M.3.24 plant 조건에서 NMPC 갈래는 지연을 아는 MPPI보다 치명이 여덟 배 많다 (TP-0152)</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docs/research-mpc.md · M.3.24 plant 조건에서 NMPC 갈래는 지연을 아는 MPPI보다 치명이 여덟 배 많다 (TP-0152)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2.jpg"/><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2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26.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2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2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2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30.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3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3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33.jpg"/><Relationship Id="rId4" Type="http://schemas.openxmlformats.org/officeDocument/2006/relationships/image" Target="../media/image34.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35.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3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37.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38.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39.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40.jpg"/><Relationship Id="rId4" Type="http://schemas.openxmlformats.org/officeDocument/2006/relationships/image" Target="../media/image4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4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43.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44.jpg"/><Relationship Id="rId4" Type="http://schemas.openxmlformats.org/officeDocument/2006/relationships/image" Target="../media/image45.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46.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47.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48.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49.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50.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5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52.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53.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MPC 구축</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MPC Controller 구축 기록 (§M)</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MPC 구축 문서 · 탭 3개</a:t>
            </a:r>
          </a:p>
          <a:p>
            <a:r>
              <a:rPr sz="1250" b="0" i="0">
                <a:solidFill>
                  <a:srgbClr val="C9D1E0"/>
                </a:solidFill>
                <a:latin typeface="Arial"/>
                <a:ea typeface="Malgun Gothic"/>
                <a:cs typeface="Malgun Gothic"/>
              </a:rPr>
              <a:t>설계 · 시뮬 리그 · 작업 기록</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MPC 구축 (docs/research-mpc.md)    1 / 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MPC Controller 구축 기록 (§M)</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MPPI를 대체하지 않고 형제로 MPC를 더한다.</a:t>
            </a:r>
            <a:r>
              <a:rPr sz="1050" b="0" i="0">
                <a:solidFill>
                  <a:srgbClr val="16213A"/>
                </a:solidFill>
                <a:latin typeface="Arial"/>
                <a:ea typeface="Malgun Gothic"/>
                <a:cs typeface="Malgun Gothic"/>
              </a:rPr>
              <a:t> 벤치마크가 </a:t>
            </a:r>
            <a:r>
              <a:rPr sz="1050" b="0" i="0">
                <a:solidFill>
                  <a:srgbClr val="16213A"/>
                </a:solidFill>
                <a:latin typeface="Consolas"/>
                <a:ea typeface="Malgun Gothic"/>
                <a:cs typeface="Malgun Gothic"/>
              </a:rPr>
              <a:t>"&lt;planner&gt;+&lt;controller&gt;"</a:t>
            </a:r>
            <a:r>
              <a:rPr sz="1050" b="0" i="0">
                <a:solidFill>
                  <a:srgbClr val="16213A"/>
                </a:solidFill>
                <a:latin typeface="Arial"/>
                <a:ea typeface="Malgun Gothic"/>
                <a:cs typeface="Malgun Gothic"/>
              </a:rPr>
              <a:t> 문자열이라 </a:t>
            </a:r>
            <a:r>
              <a:rPr sz="1050" b="0" i="0">
                <a:solidFill>
                  <a:srgbClr val="16213A"/>
                </a:solidFill>
                <a:latin typeface="Consolas"/>
                <a:ea typeface="Malgun Gothic"/>
                <a:cs typeface="Malgun Gothic"/>
              </a:rPr>
              <a:t>guidance+mpc</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planner_d+mpc</a:t>
            </a:r>
            <a:r>
              <a:rPr sz="1050" b="0" i="0">
                <a:solidFill>
                  <a:srgbClr val="16213A"/>
                </a:solidFill>
                <a:latin typeface="Arial"/>
                <a:ea typeface="Malgun Gothic"/>
                <a:cs typeface="Malgun Gothic"/>
              </a:rPr>
              <a:t> 스택이 그대로 생기고, 기존 12/12·40/40이 기준선으로 남는다. 목적은 성능이 아니라 </a:t>
            </a:r>
            <a:r>
              <a:rPr sz="1050" b="1" i="0">
                <a:solidFill>
                  <a:srgbClr val="16213A"/>
                </a:solidFill>
                <a:latin typeface="Arial"/>
                <a:ea typeface="Malgun Gothic"/>
                <a:cs typeface="Malgun Gothic"/>
              </a:rPr>
              <a:t>세 기법을 얹을 자리를 만드는 것</a:t>
            </a:r>
            <a:r>
              <a:rPr sz="1050" b="0" i="0">
                <a:solidFill>
                  <a:srgbClr val="16213A"/>
                </a:solidFill>
                <a:latin typeface="Arial"/>
                <a:ea typeface="Malgun Gothic"/>
                <a:cs typeface="Malgun Gothic"/>
              </a:rPr>
              <a:t>이다 — GP 잔차(TP-0068), 0차 근사, 튜브·SLP는 모두 "제약을 조이는" 장치인데 지금 Controller에는 조일 제약이 없다.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문서는 연구 정리가 아니라 </a:t>
            </a:r>
            <a:r>
              <a:rPr sz="1050" b="1" i="0">
                <a:solidFill>
                  <a:srgbClr val="16213A"/>
                </a:solidFill>
                <a:latin typeface="Arial"/>
                <a:ea typeface="Malgun Gothic"/>
                <a:cs typeface="Malgun Gothic"/>
              </a:rPr>
              <a:t>작업 기록</a:t>
            </a:r>
            <a:r>
              <a:rPr sz="1050" b="0" i="0">
                <a:solidFill>
                  <a:srgbClr val="16213A"/>
                </a:solidFill>
                <a:latin typeface="Arial"/>
                <a:ea typeface="Malgun Gothic"/>
                <a:cs typeface="Malgun Gothic"/>
              </a:rPr>
              <a:t>이다. 단계마다 무엇을 했고 무엇이 나왔는지 M.3에 한 줄씩 쌓는다. MPPI 쪽 확률 제약(TP-0076)도 여기 적는다. 두 Controller가 잔차 GP와 치명 거리장을 함께 쓰기 때문이다(M.3.13).</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지금 어디(2026-10-04).</a:t>
            </a:r>
            <a:r>
              <a:rPr sz="1050" b="0" i="0">
                <a:solidFill>
                  <a:srgbClr val="16213A"/>
                </a:solidFill>
                <a:latin typeface="Arial"/>
                <a:ea typeface="Malgun Gothic"/>
                <a:cs typeface="Malgun Gothic"/>
              </a:rPr>
              <a:t> 권장 L1 + 스워브 plant의 레벨 3에서 rollout에 지연을 넣은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(TP-0150)가 239/360(치명 4)이다. 같은 조건에서 NMPC 갈래는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222(치명 34),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215(치명 32)로 명목 MPPI(221, 치명 55)와 비슷하고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보다 나쁘다(TP-0152, M.3.24). 명령에서 지연을 되돌린 </a:t>
            </a:r>
            <a:r>
              <a:rPr sz="1050" b="0" i="0">
                <a:solidFill>
                  <a:srgbClr val="16213A"/>
                </a:solidFill>
                <a:latin typeface="Consolas"/>
                <a:ea typeface="Malgun Gothic"/>
                <a:cs typeface="Malgun Gothic"/>
              </a:rPr>
              <a:t>mpc_lag</a:t>
            </a:r>
            <a:r>
              <a:rPr sz="1050" b="0" i="0">
                <a:solidFill>
                  <a:srgbClr val="16213A"/>
                </a:solidFill>
                <a:latin typeface="Arial"/>
                <a:ea typeface="Malgun Gothic"/>
                <a:cs typeface="Malgun Gothic"/>
              </a:rPr>
              <a:t>는 더 나빠 선택 항목으로만 둔다. NMPC가 plant를 다루려면 명령 변화에 비용을 거는 지연 상태 모델(TP-0124)이 다음 후보다.</a:t>
            </a:r>
          </a:p>
        </p:txBody>
      </p:sp>
      <p:sp>
        <p:nvSpPr>
          <p:cNvPr id="8" name="TextBox 7"/>
          <p:cNvSpPr txBox="1"/>
          <p:nvPr/>
        </p:nvSpPr>
        <p:spPr>
          <a:xfrm>
            <a:off x="609600" y="3026767"/>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지금 어디(2026-10-02).</a:t>
            </a:r>
            <a:r>
              <a:rPr sz="1050" b="0" i="0">
                <a:solidFill>
                  <a:srgbClr val="16213A"/>
                </a:solidFill>
                <a:latin typeface="Arial"/>
                <a:ea typeface="Malgun Gothic"/>
                <a:cs typeface="Malgun Gothic"/>
              </a:rPr>
              <a:t> 1단계(치명 셀 제약, TP-0071·0093)와 보행자 제약을 마쳤다. 명목 명령을 고친 뒤(TP-0122) 정적 40/40, 보행자 3명 24/24·충돌 0, plant 44/48이다. 대가로 jerk가 두 배가 됐다. 부드러운 여유 행(TP-0117)은 최소 여유를 넓히지만 성공 수 이득이 없어 선택 스택으로 둔다. GP 평균(TP-0068)은 plant 조건에서 44/48이다(명령을 고친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와 같다). MPPI 확률 제약(TP-0076)은 0선을 실패 경계에 맞췄다(TP-0119). plant 96 에피소드에서 85/96이 89/96이 됐지만 기준 MPPI(88/96)와의 차이는 유의하지 않다. 남은 치명 실패 가운데 기하가 원인인 것은 없고, 가장 유력한 원인은 지연 편향이다. GP 평균을 rollout에 넣으면(TP-0120) plant curb_ramp의 치명 실패가 모두 사라져 그 가설을 뒷받침한다. 다만 다른 곳에서 멈춤이 늘어 성공 수는 같다. Guidance 경로에 여유를 주면(TP-0118, 선택 스택 </a:t>
            </a:r>
            <a:r>
              <a:rPr sz="1050" b="0" i="0">
                <a:solidFill>
                  <a:srgbClr val="16213A"/>
                </a:solidFill>
                <a:latin typeface="Consolas"/>
                <a:ea typeface="Malgun Gothic"/>
                <a:cs typeface="Malgun Gothic"/>
              </a:rPr>
              <a:t>guidance_c</a:t>
            </a:r>
            <a:r>
              <a:rPr sz="1050" b="0" i="0">
                <a:solidFill>
                  <a:srgbClr val="16213A"/>
                </a:solidFill>
                <a:latin typeface="Arial"/>
                <a:ea typeface="Malgun Gothic"/>
                <a:cs typeface="Malgun Gothic"/>
              </a:rPr>
              <a:t>) 다섯 컨트롤러 모두 성공을 지키거나 늘린다. plant 합계 221 → 228/240이고, 도달은 오히려 빨라진다. GP 분산으로 MPC 제약을 조이는 3단계(TP-0069)는 측정되는 효과가 없어 선택 스택으로 둔다. MPOT식 최적화기는 MPPI 계열이 멈춘 장면에서 같은 예산의 MPPI를 넘지 못해 만들지 않는다(TP-0130, M.3.20). 멈춤의 원인은 curb_ramp의 접힌 참조와, bumps·random_mix에서 GP 분산 튜브를 쓰는 스택의 멈춤으로 좁혔다. 다음은 명령 수정으로 두 배가 된 jerk를 줄이는 일(TP-0123), 예측 모델을 기구학·동역학·학습의 세 층으로 쌓는 일(TP-0124–0126, M.1.3), GP 확률 제약 스택의 멈춤 원인을 가르는 일(TP-0132)이다. 접힌 참조의 진행 항(TP-0131)은 끝점 투영을 닿을 수 있는 호로 제한하는 선택 항목으로 넣었다. 운동학에서는 Guidance 폴백 스택의 맴돌기를 없애지만 plant 도달 수는 잡음 안이라 기본값은 끈다(M.3.21).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MPC 구축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설계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MPC 구축 (docs/research-mpc.md)    3 / 112</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M.1 OCP를 어떻게 세우나</a:t>
            </a:r>
          </a:p>
          <a:p>
            <a:pPr>
              <a:spcAft>
                <a:spcPts val="400"/>
              </a:spcAft>
            </a:pPr>
            <a:r>
              <a:rPr sz="1000" b="0" i="0">
                <a:solidFill>
                  <a:srgbClr val="C9D1E0"/>
                </a:solidFill>
                <a:latin typeface="Arial"/>
                <a:ea typeface="Malgun Gothic"/>
                <a:cs typeface="Malgun Gothic"/>
              </a:rPr>
              <a:t>M.1.1 MPPI 비용을 MPC로 옮기는 표</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M.1.2 치명도를 비용에서 제약으로 옮기는 것이 핵심이다</a:t>
            </a:r>
          </a:p>
          <a:p>
            <a:pPr>
              <a:spcAft>
                <a:spcPts val="400"/>
              </a:spcAft>
            </a:pPr>
            <a:r>
              <a:rPr sz="1000" b="0" i="0">
                <a:solidFill>
                  <a:srgbClr val="C9D1E0"/>
                </a:solidFill>
                <a:latin typeface="Arial"/>
                <a:ea typeface="Malgun Gothic"/>
                <a:cs typeface="Malgun Gothic"/>
              </a:rPr>
              <a:t>M.1.3 예측 모델은 세 층으로 쌓고, 학습 층은 로봇 모델로 굴린 시뮬레이션에서 배운다 (TP-0124–0126)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 OCP를 어떻게 세우나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 / 112</a:t>
            </a:r>
          </a:p>
        </p:txBody>
      </p:sp>
      <p:graphicFrame>
        <p:nvGraphicFramePr>
          <p:cNvPr id="5" name="Table 4"/>
          <p:cNvGraphicFramePr>
            <a:graphicFrameLocks noGrp="1"/>
          </p:cNvGraphicFramePr>
          <p:nvPr/>
        </p:nvGraphicFramePr>
        <p:xfrm>
          <a:off x="609600" y="1244600"/>
          <a:ext cx="10966450" cy="985440"/>
        </p:xfrm>
        <a:graphic>
          <a:graphicData uri="http://schemas.openxmlformats.org/drawingml/2006/table">
            <a:tbl>
              <a:tblPr firstRow="1" bandRow="1">
                <a:tableStyleId>{5C22544A-7EE6-4342-B048-85BDC9FD1C3A}</a:tableStyleId>
              </a:tblPr>
              <a:tblGrid>
                <a:gridCol w="661293"/>
                <a:gridCol w="3004145"/>
                <a:gridCol w="7301012"/>
              </a:tblGrid>
              <a:tr h="197088">
                <a:tc>
                  <a:txBody>
                    <a:bodyPr wrap="square"/>
                    <a:lstStyle/>
                    <a:p>
                      <a:r>
                        <a:rPr sz="800" b="1" i="0">
                          <a:solidFill>
                            <a:srgbClr val="F4F1EA"/>
                          </a:solidFill>
                          <a:latin typeface="Arial"/>
                          <a:ea typeface="Malgun Gothic"/>
                          <a:cs typeface="Malgun Gothic"/>
                        </a:rPr>
                        <a:t>항목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상태</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z = (x, y, θ, vₓ, v_y, ω)</a:t>
                      </a:r>
                      <a:r>
                        <a:rPr sz="800" b="0" i="0">
                          <a:solidFill>
                            <a:srgbClr val="16213A"/>
                          </a:solidFill>
                          <a:latin typeface="Arial"/>
                          <a:ea typeface="Malgun Gothic"/>
                          <a:cs typeface="Malgun Gothic"/>
                        </a:rPr>
                        <a:t> —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차체 twist까지 상태로 둬야 변화율을 제약할 수 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입력</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u = (aₓ, a_y, α_z)</a:t>
                      </a:r>
                      <a:r>
                        <a:rPr sz="800" b="0" i="0">
                          <a:solidFill>
                            <a:srgbClr val="16213A"/>
                          </a:solidFill>
                          <a:latin typeface="Arial"/>
                          <a:ea typeface="Malgun Gothic"/>
                          <a:cs typeface="Malgun Gothic"/>
                        </a:rPr>
                        <a:t> —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twist 변화율. SmoothMPPI·Planner D의 제어 공간과 같은 좌표계다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0.1 s = 4 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MPPI와 동일</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MPPIConfig.horizon=40, dt=0.1</a:t>
                      </a:r>
                      <a:r>
                        <a:rPr sz="800" b="0" i="0">
                          <a:solidFill>
                            <a:srgbClr val="16213A"/>
                          </a:solidFill>
                          <a:latin typeface="Arial"/>
                          <a:ea typeface="Malgun Gothic"/>
                          <a:cs typeface="Malgun Gothic"/>
                        </a:rPr>
                        <a:t>). 다르면 비교가 성립하지 않는다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솔버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acados SQP-RTI, HPIPM, ERK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실시간 반복 한 번. 목표는 MPPI의 12.7 ms보다 빠를 것</a:t>
                      </a:r>
                    </a:p>
                  </a:txBody>
                  <a:tcPr marL="63500" marR="63500" marT="12700" marB="12700">
                    <a:solidFill>
                      <a:srgbClr val="F3F0E8"/>
                    </a:solidFill>
                  </a:tcPr>
                </a:tc>
              </a:tr>
            </a:tbl>
          </a:graphicData>
        </a:graphic>
      </p:graphicFrame>
      <p:sp>
        <p:nvSpPr>
          <p:cNvPr id="6" name="TextBox 5"/>
          <p:cNvSpPr txBox="1"/>
          <p:nvPr/>
        </p:nvSpPr>
        <p:spPr>
          <a:xfrm>
            <a:off x="609600" y="257165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모듈 역기구학은 최적화에 넣지 않는다.</a:t>
            </a:r>
            <a:r>
              <a:rPr sz="1050" b="0" i="0">
                <a:solidFill>
                  <a:srgbClr val="16213A"/>
                </a:solidFill>
                <a:latin typeface="Arial"/>
                <a:ea typeface="Malgun Gothic"/>
                <a:cs typeface="Malgun Gothic"/>
              </a:rPr>
              <a:t> AntBot 제어기의 IK는 </a:t>
            </a:r>
            <a:r>
              <a:rPr sz="1050" b="0" i="0">
                <a:solidFill>
                  <a:srgbClr val="16213A"/>
                </a:solidFill>
                <a:latin typeface="Consolas"/>
                <a:ea typeface="Malgun Gothic"/>
                <a:cs typeface="Malgun Gothic"/>
              </a:rPr>
              <a:t>atan2</a:t>
            </a:r>
            <a:r>
              <a:rPr sz="1050" b="0" i="0">
                <a:solidFill>
                  <a:srgbClr val="16213A"/>
                </a:solidFill>
                <a:latin typeface="Arial"/>
                <a:ea typeface="Malgun Gothic"/>
                <a:cs typeface="Malgun Gothic"/>
              </a:rPr>
              <a:t>, 모듈 반전, 클램프, </a:t>
            </a:r>
            <a:r>
              <a:rPr sz="1050" b="1" i="0">
                <a:solidFill>
                  <a:srgbClr val="16213A"/>
                </a:solidFill>
                <a:latin typeface="Arial"/>
                <a:ea typeface="Malgun Gothic"/>
                <a:cs typeface="Malgun Gothic"/>
              </a:rPr>
              <a:t>고정점 반복 3회</a:t>
            </a:r>
            <a:r>
              <a:rPr sz="1050" b="0" i="0">
                <a:solidFill>
                  <a:srgbClr val="16213A"/>
                </a:solidFill>
                <a:latin typeface="Arial"/>
                <a:ea typeface="Malgun Gothic"/>
                <a:cs typeface="Malgun Gothic"/>
              </a:rPr>
              <a:t>로 되어 있어 비평활이다(시뮬레이션 문서 S.5.3b). 넣으면 SQP가 죽는다. 대신 모듈 한계를 </a:t>
            </a:r>
            <a:r>
              <a:rPr sz="1050" b="1" i="0">
                <a:solidFill>
                  <a:srgbClr val="16213A"/>
                </a:solidFill>
                <a:latin typeface="Arial"/>
                <a:ea typeface="Malgun Gothic"/>
                <a:cs typeface="Malgun Gothic"/>
              </a:rPr>
              <a:t>차체 수준 상자 제약으로 번역</a:t>
            </a:r>
            <a:r>
              <a:rPr sz="1050" b="0" i="0">
                <a:solidFill>
                  <a:srgbClr val="16213A"/>
                </a:solidFill>
                <a:latin typeface="Arial"/>
                <a:ea typeface="Malgun Gothic"/>
                <a:cs typeface="Malgun Gothic"/>
              </a:rPr>
              <a:t>하고, 남는 차이는 잔차가 흡수한다. 비동축이 만드는 오차는 6 mm/s로 작다(</a:t>
            </a:r>
            <a:r>
              <a:rPr sz="1050" b="0" i="0">
                <a:solidFill>
                  <a:srgbClr val="16213A"/>
                </a:solidFill>
                <a:latin typeface="Consolas"/>
                <a:ea typeface="Malgun Gothic"/>
                <a:cs typeface="Malgun Gothic"/>
              </a:rPr>
              <a:t>docs/design-gp-dynamics.md</a:t>
            </a:r>
            <a:r>
              <a:rPr sz="1050" b="0" i="0">
                <a:solidFill>
                  <a:srgbClr val="16213A"/>
                </a:solidFill>
                <a:latin typeface="Arial"/>
                <a:ea typeface="Malgun Gothic"/>
                <a:cs typeface="Malgun Gothic"/>
              </a:rPr>
              <a:t> §3.5).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M.1.1 MPPI 비용을 MPC로 옮기는 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 / 112</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1362968"/>
                <a:gridCol w="2981325"/>
                <a:gridCol w="6622157"/>
              </a:tblGrid>
              <a:tr h="197088">
                <a:tc>
                  <a:txBody>
                    <a:bodyPr wrap="square"/>
                    <a:lstStyle/>
                    <a:p>
                      <a:r>
                        <a:rPr sz="800" b="1" i="0">
                          <a:solidFill>
                            <a:srgbClr val="F4F1EA"/>
                          </a:solidFill>
                          <a:latin typeface="Arial"/>
                          <a:ea typeface="Malgun Gothic"/>
                          <a:cs typeface="Malgun Gothic"/>
                        </a:rPr>
                        <a:t>지금 MPPI 비용 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MPC에서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주의</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ReferenceCost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참조 추종 2차 비용(시간 인덱스) 또는 진행도(contouring)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D는 시간 인덱스를, GuidancePlanner는 경로만 준다. 두 모드 다 필요</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TraversabilityCost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매끄러운 항만</a:t>
                      </a:r>
                      <a:r>
                        <a:rPr sz="800" b="0" i="0">
                          <a:solidFill>
                            <a:srgbClr val="16213A"/>
                          </a:solidFill>
                          <a:latin typeface="Arial"/>
                          <a:ea typeface="Malgun Gothic"/>
                          <a:cs typeface="Malgun Gothic"/>
                        </a:rPr>
                        <a:t>(경사·거칠기)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치명도는 여기서 빠져 제약으로 간다. 치명 칸 근처의 여유는 부드러운 여유 행(TP-0117, </a:t>
                      </a:r>
                      <a:r>
                        <a:rPr sz="800" b="0" i="0">
                          <a:solidFill>
                            <a:srgbClr val="16213A"/>
                          </a:solidFill>
                          <a:latin typeface="Consolas"/>
                          <a:ea typeface="Malgun Gothic"/>
                          <a:cs typeface="Malgun Gothic"/>
                        </a:rPr>
                        <a:t>mpc_sc</a:t>
                      </a:r>
                      <a:r>
                        <a:rPr sz="800" b="0" i="0">
                          <a:solidFill>
                            <a:srgbClr val="16213A"/>
                          </a:solidFill>
                          <a:latin typeface="Arial"/>
                          <a:ea typeface="Malgun Gothic"/>
                          <a:cs typeface="Malgun Gothic"/>
                        </a:rPr>
                        <a:t>)이 맡고, 경사·거칠기 항은 아직 없다</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RiskCost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 </a:t>
                      </a:r>
                      <a:r>
                        <a:rPr sz="800" b="1" i="0">
                          <a:solidFill>
                            <a:srgbClr val="16213A"/>
                          </a:solidFill>
                          <a:latin typeface="Arial"/>
                          <a:ea typeface="Malgun Gothic"/>
                          <a:cs typeface="Malgun Gothic"/>
                        </a:rPr>
                        <a:t>타원 제약</a:t>
                      </a:r>
                      <a:r>
                        <a:rPr sz="800" b="0" i="0">
                          <a:solidFill>
                            <a:srgbClr val="16213A"/>
                          </a:solidFill>
                          <a:latin typeface="Arial"/>
                          <a:ea typeface="Malgun Gothic"/>
                          <a:cs typeface="Malgun Gothic"/>
                        </a:rPr>
                        <a:t>, σ → </a:t>
                      </a:r>
                      <a:r>
                        <a:rPr sz="800" b="1" i="0">
                          <a:solidFill>
                            <a:srgbClr val="16213A"/>
                          </a:solidFill>
                          <a:latin typeface="Arial"/>
                          <a:ea typeface="Malgun Gothic"/>
                          <a:cs typeface="Malgun Gothic"/>
                        </a:rPr>
                        <a:t>제약 조이기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σ가 비용의 한 항으로 남으면 GP·튜브가 붙을 데가 없다</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AttitudeCost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roll/pitch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지도 기울기에서 계산하므로 보간이 매끄러워야 한다</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ControlCost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입력 2차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GoalApproachCost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종단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신설: ESDF 제약</a:t>
                      </a:r>
                      <a:r>
                        <a:rPr sz="800" b="0" i="0">
                          <a:solidFill>
                            <a:srgbClr val="16213A"/>
                          </a:solidFill>
                          <a:latin typeface="Arial"/>
                          <a:ea typeface="Malgun Gothic"/>
                          <a:cs typeface="Malgun Gothic"/>
                        </a:rPr>
                        <a:t> </a:t>
                      </a:r>
                      <a:r>
                        <a:rPr sz="800" b="0" i="1">
                          <a:solidFill>
                            <a:srgbClr val="16213A"/>
                          </a:solidFill>
                          <a:latin typeface="Arial"/>
                          <a:ea typeface="Malgun Gothic"/>
                          <a:cs typeface="Malgun Gothic"/>
                        </a:rPr>
                        <a:t>d(x) - r_(robot) ≥ ρₖ</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세 기법이 전부 여기에 붙는다</a:t>
                      </a:r>
                    </a:p>
                  </a:txBody>
                  <a:tcPr marL="63500" marR="63500" marT="12700" marB="12700">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M.1.2 치명도를 비용에서 제약으로 옮기는 것이 핵심이다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MPPI는 절벽 비용을 샘플로 넘지만 MPC는 미분이 필요해서 절벽에서 죽는다.</a:t>
            </a:r>
            <a:r>
              <a:rPr sz="1050" b="0" i="0">
                <a:solidFill>
                  <a:srgbClr val="16213A"/>
                </a:solidFill>
                <a:latin typeface="Arial"/>
                <a:ea typeface="Malgun Gothic"/>
                <a:cs typeface="Malgun Gothic"/>
              </a:rPr>
              <a:t> 치명 셀(cost ≥ 0.95)은 계단이라 기울기가 없다. 그래서 치명 셀에서 </a:t>
            </a:r>
            <a:r>
              <a:rPr sz="1050" b="1" i="0">
                <a:solidFill>
                  <a:srgbClr val="16213A"/>
                </a:solidFill>
                <a:latin typeface="Arial"/>
                <a:ea typeface="Malgun Gothic"/>
                <a:cs typeface="Malgun Gothic"/>
              </a:rPr>
              <a:t>ESDF를 한 장 만들어 hard 제약</a:t>
            </a:r>
            <a:r>
              <a:rPr sz="1050" b="0" i="0">
                <a:solidFill>
                  <a:srgbClr val="16213A"/>
                </a:solidFill>
                <a:latin typeface="Arial"/>
                <a:ea typeface="Malgun Gothic"/>
                <a:cs typeface="Malgun Gothic"/>
              </a:rPr>
              <a:t>으로 쓰고, 지형 비용에는 매끄러운 항만 남긴다(TP-0071).</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이것은 우회가 아니라 </a:t>
            </a:r>
            <a:r>
              <a:rPr sz="1050" b="1" i="0">
                <a:solidFill>
                  <a:srgbClr val="16213A"/>
                </a:solidFill>
                <a:latin typeface="Arial"/>
                <a:ea typeface="Malgun Gothic"/>
                <a:cs typeface="Malgun Gothic"/>
              </a:rPr>
              <a:t>전제</a:t>
            </a:r>
            <a:r>
              <a:rPr sz="1050" b="0" i="0">
                <a:solidFill>
                  <a:srgbClr val="16213A"/>
                </a:solidFill>
                <a:latin typeface="Arial"/>
                <a:ea typeface="Malgun Gothic"/>
                <a:cs typeface="Malgun Gothic"/>
              </a:rPr>
              <a:t>다. GP 분산도 튜브도 제약을 조이는 양 </a:t>
            </a:r>
            <a:r>
              <a:rPr sz="1050" b="0" i="1">
                <a:solidFill>
                  <a:srgbClr val="16213A"/>
                </a:solidFill>
                <a:latin typeface="Arial"/>
                <a:ea typeface="Malgun Gothic"/>
                <a:cs typeface="Malgun Gothic"/>
              </a:rPr>
              <a:t>ρₖ</a:t>
            </a:r>
            <a:r>
              <a:rPr sz="1050" b="0" i="0">
                <a:solidFill>
                  <a:srgbClr val="16213A"/>
                </a:solidFill>
                <a:latin typeface="Arial"/>
                <a:ea typeface="Malgun Gothic"/>
                <a:cs typeface="Malgun Gothic"/>
              </a:rPr>
              <a:t>를 정하는 장치이므로, 조일 제약이 없으면 세 기법 모두 쓸 자리가 없다.</a:t>
            </a:r>
          </a:p>
        </p:txBody>
      </p:sp>
      <p:sp>
        <p:nvSpPr>
          <p:cNvPr id="7" name="TextBox 6"/>
          <p:cNvSpPr txBox="1"/>
          <p:nvPr/>
        </p:nvSpPr>
        <p:spPr>
          <a:xfrm>
            <a:off x="609600" y="20718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단, MPC가 유일한 길은 아니다</a:t>
            </a:r>
            <a:r>
              <a:rPr sz="1050" b="0" i="0">
                <a:solidFill>
                  <a:srgbClr val="16213A"/>
                </a:solidFill>
                <a:latin typeface="Arial"/>
                <a:ea typeface="Malgun Gothic"/>
                <a:cs typeface="Malgun Gothic"/>
              </a:rPr>
              <a:t>(2026-09-30). 샘플링 제어기에서도 확률 제약을 세워 푸는 방법이 있고, 스키드 스티어 실물에서 GP 잔차 + chance-constrained MPPI로 검증된 사례가 있다(Controller 문서 E.10). </a:t>
            </a:r>
            <a:r>
              <a:rPr sz="1050" b="1" i="0">
                <a:solidFill>
                  <a:srgbClr val="C2410C"/>
                </a:solidFill>
                <a:latin typeface="Arial"/>
                <a:ea typeface="Malgun Gothic"/>
                <a:cs typeface="Malgun Gothic"/>
              </a:rPr>
              <a:t>그날 "MPPI는 개발 계획 제외" 규칙이 해제돼, travplan은 둘 다 개발하고 같은 벤치마크에서 비교한다</a:t>
            </a:r>
            <a:r>
              <a:rPr sz="1050" b="0" i="0">
                <a:solidFill>
                  <a:srgbClr val="16213A"/>
                </a:solidFill>
                <a:latin typeface="Arial"/>
                <a:ea typeface="Malgun Gothic"/>
                <a:cs typeface="Malgun Gothic"/>
              </a:rPr>
              <a:t>(TP-0076). 이 문서가 다루는 것은 (a) 쪽이다. 조이는 양은 이렇게 이어진다.</a:t>
            </a:r>
          </a:p>
        </p:txBody>
      </p:sp>
      <p:pic>
        <p:nvPicPr>
          <p:cNvPr id="8" name="Picture 7" descr="image.png"/>
          <p:cNvPicPr>
            <a:picLocks noChangeAspect="1"/>
          </p:cNvPicPr>
          <p:nvPr/>
        </p:nvPicPr>
        <p:blipFill>
          <a:blip r:embed="rId3"/>
          <a:stretch>
            <a:fillRect/>
          </a:stretch>
        </p:blipFill>
        <p:spPr>
          <a:xfrm>
            <a:off x="609600" y="2810272"/>
            <a:ext cx="3336925" cy="593725"/>
          </a:xfrm>
          <a:prstGeom prst="rect">
            <a:avLst/>
          </a:prstGeom>
        </p:spPr>
      </p:pic>
      <p:sp>
        <p:nvSpPr>
          <p:cNvPr id="9" name="TextBox 8"/>
          <p:cNvSpPr txBox="1"/>
          <p:nvPr/>
        </p:nvSpPr>
        <p:spPr>
          <a:xfrm>
            <a:off x="609600" y="339288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GP는 확률이고 튜브는 유계 외란이라 그대로 잇지 못한다. 다리는 </a:t>
            </a:r>
            <a:r>
              <a:rPr sz="1050" b="1" i="0">
                <a:solidFill>
                  <a:srgbClr val="16213A"/>
                </a:solidFill>
                <a:latin typeface="Arial"/>
                <a:ea typeface="Malgun Gothic"/>
                <a:cs typeface="Malgun Gothic"/>
              </a:rPr>
              <a:t>GP의 </a:t>
            </a:r>
            <a:r>
              <a:rPr sz="1050" b="1" i="1">
                <a:solidFill>
                  <a:srgbClr val="16213A"/>
                </a:solidFill>
                <a:latin typeface="Arial"/>
                <a:ea typeface="Malgun Gothic"/>
                <a:cs typeface="Malgun Gothic"/>
              </a:rPr>
              <a:t>β</a:t>
            </a:r>
            <a:r>
              <a:rPr sz="1050" b="1" i="0">
                <a:solidFill>
                  <a:srgbClr val="16213A"/>
                </a:solidFill>
                <a:latin typeface="Arial"/>
                <a:ea typeface="Malgun Gothic"/>
                <a:cs typeface="Malgun Gothic"/>
              </a:rPr>
              <a:t>-신뢰 타원체를 외란 집합 </a:t>
            </a:r>
            <a:r>
              <a:rPr sz="1050" b="1" i="1">
                <a:solidFill>
                  <a:srgbClr val="16213A"/>
                </a:solidFill>
                <a:latin typeface="Arial"/>
                <a:ea typeface="Malgun Gothic"/>
                <a:cs typeface="Malgun Gothic"/>
              </a:rPr>
              <a:t>𝒲</a:t>
            </a:r>
            <a:r>
              <a:rPr sz="1050" b="1" i="0">
                <a:solidFill>
                  <a:srgbClr val="16213A"/>
                </a:solidFill>
                <a:latin typeface="Arial"/>
                <a:ea typeface="Malgun Gothic"/>
                <a:cs typeface="Malgun Gothic"/>
              </a:rPr>
              <a:t>로 쓰는 것</a:t>
            </a:r>
            <a:r>
              <a:rPr sz="1050" b="0" i="0">
                <a:solidFill>
                  <a:srgbClr val="16213A"/>
                </a:solidFill>
                <a:latin typeface="Arial"/>
                <a:ea typeface="Malgun Gothic"/>
                <a:cs typeface="Malgun Gothic"/>
              </a:rPr>
              <a:t>이다 (Controller 문서 E.6의 Koller 2018이 그 방식이다). 실무로는 </a:t>
            </a:r>
            <a:r>
              <a:rPr sz="1050" b="1" i="0">
                <a:solidFill>
                  <a:srgbClr val="16213A"/>
                </a:solidFill>
                <a:latin typeface="Arial"/>
                <a:ea typeface="Malgun Gothic"/>
                <a:cs typeface="Malgun Gothic"/>
              </a:rPr>
              <a:t>고정 반경 튜브부터</a:t>
            </a:r>
            <a:r>
              <a:rPr sz="1050" b="0" i="0">
                <a:solidFill>
                  <a:srgbClr val="16213A"/>
                </a:solidFill>
                <a:latin typeface="Arial"/>
                <a:ea typeface="Malgun Gothic"/>
                <a:cs typeface="Malgun Gothic"/>
              </a:rPr>
              <a:t> 하고, 너무 보수적일 때만 SLP로 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예측 모델을 기구학 → 동역학 → 학습의 세 층으로 쌓고, 학습 층은 로봇 메쉬로 굴린 forward 시뮬레이션에서 자기 지도로 배운다.</a:t>
            </a:r>
            <a:r>
              <a:rPr sz="1050" b="0" i="0">
                <a:solidFill>
                  <a:srgbClr val="16213A"/>
                </a:solidFill>
                <a:latin typeface="Arial"/>
                <a:ea typeface="Malgun Gothic"/>
                <a:cs typeface="Malgun Gothic"/>
              </a:rPr>
              <a:t> 2026-10-01 사용자 결정이다. 지금 MPPI와 MPC는 둘 다 기구학 모델(</a:t>
            </a:r>
            <a:r>
              <a:rPr sz="1050" b="0" i="0">
                <a:solidFill>
                  <a:srgbClr val="16213A"/>
                </a:solidFill>
                <a:latin typeface="Consolas"/>
                <a:ea typeface="Malgun Gothic"/>
                <a:cs typeface="Malgun Gothic"/>
              </a:rPr>
              <a:t>robot/swerve.py::SwerveModel</a:t>
            </a:r>
            <a:r>
              <a:rPr sz="1050" b="0" i="0">
                <a:solidFill>
                  <a:srgbClr val="16213A"/>
                </a:solidFill>
                <a:latin typeface="Arial"/>
                <a:ea typeface="Malgun Gothic"/>
                <a:cs typeface="Malgun Gothic"/>
              </a:rPr>
              <a:t>) 하나로 예측하고, 학습 층은 GP 잔차뿐이다. 지형 판정은 로봇 중심 한 점의 cost로 한다. 로봇의 실제 모양(차체 바닥, 네 바퀴 접지점)은 예측에 들어가지 않는다.</a:t>
            </a:r>
          </a:p>
        </p:txBody>
      </p:sp>
      <p:graphicFrame>
        <p:nvGraphicFramePr>
          <p:cNvPr id="6" name="Table 5"/>
          <p:cNvGraphicFramePr>
            <a:graphicFrameLocks noGrp="1"/>
          </p:cNvGraphicFramePr>
          <p:nvPr/>
        </p:nvGraphicFramePr>
        <p:xfrm>
          <a:off x="609600" y="1982986"/>
          <a:ext cx="10966449" cy="1151016"/>
        </p:xfrm>
        <a:graphic>
          <a:graphicData uri="http://schemas.openxmlformats.org/drawingml/2006/table">
            <a:tbl>
              <a:tblPr firstRow="1" bandRow="1">
                <a:tableStyleId>{5C22544A-7EE6-4342-B048-85BDC9FD1C3A}</a:tableStyleId>
              </a:tblPr>
              <a:tblGrid>
                <a:gridCol w="358378"/>
                <a:gridCol w="2332434"/>
                <a:gridCol w="5213548"/>
                <a:gridCol w="3062089"/>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할 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기구학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twist 적분 + 상자·가속 한계 (</a:t>
                      </a:r>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MPPI·MPC 모두 이것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기준선으로 둔다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동역학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 1차 지연 + 슬립 (</a:t>
                      </a:r>
                      <a:r>
                        <a:rPr sz="800" b="0" i="0">
                          <a:solidFill>
                            <a:srgbClr val="16213A"/>
                          </a:solidFill>
                          <a:latin typeface="Consolas"/>
                          <a:ea typeface="Malgun Gothic"/>
                          <a:cs typeface="Malgun Gothic"/>
                        </a:rPr>
                        <a:t>robot/plant.py::SwervePlant</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sim의 plant. MPPI는 지연 rollout(</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TP-0150)으로 치명이 줄었다. MPC에 지연을 넣은 </a:t>
                      </a:r>
                      <a:r>
                        <a:rPr sz="800" b="0" i="0">
                          <a:solidFill>
                            <a:srgbClr val="16213A"/>
                          </a:solidFill>
                          <a:latin typeface="Consolas"/>
                          <a:ea typeface="Malgun Gothic"/>
                          <a:cs typeface="Malgun Gothic"/>
                        </a:rPr>
                        <a:t>mpc_lag</a:t>
                      </a:r>
                      <a:r>
                        <a:rPr sz="800" b="0" i="0">
                          <a:solidFill>
                            <a:srgbClr val="16213A"/>
                          </a:solidFill>
                          <a:latin typeface="Arial"/>
                          <a:ea typeface="Malgun Gothic"/>
                          <a:cs typeface="Malgun Gothic"/>
                        </a:rPr>
                        <a:t>(명령에서 지연을 되돌림, TP-0152)는 명목보다 나빠 선택 스택으로만 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한 프로토콜로 묶는다(TP-0124). 지연 상태 3개를 더한 MPC 모델은 가속 한계가 명령 기준일 때만 필요하다(M.3.24)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잔차, NN·잔차 네트워크, forward dynamics 모델(FDM)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잔차만 (M.3.6, TP-0120)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프로토콜의 구현체로 (TP-0124, TP-0126)</a:t>
                      </a:r>
                    </a:p>
                  </a:txBody>
                  <a:tcPr marL="63500" marR="63500" marT="12700" marB="12700">
                    <a:solidFill>
                      <a:srgbClr val="FFFDF8"/>
                    </a:solidFill>
                  </a:tcPr>
                </a:tc>
              </a:tr>
            </a:tbl>
          </a:graphicData>
        </a:graphic>
      </p:graphicFrame>
      <p:sp>
        <p:nvSpPr>
          <p:cNvPr id="7" name="TextBox 6"/>
          <p:cNvSpPr txBox="1"/>
          <p:nvPr/>
        </p:nvSpPr>
        <p:spPr>
          <a:xfrm>
            <a:off x="609600" y="351700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메쉬 기반 forward 샘플링이란.</a:t>
            </a:r>
            <a:r>
              <a:rPr sz="1050" b="0" i="0">
                <a:solidFill>
                  <a:srgbClr val="16213A"/>
                </a:solidFill>
                <a:latin typeface="Arial"/>
                <a:ea typeface="Malgun Gothic"/>
                <a:cs typeface="Malgun Gothic"/>
              </a:rPr>
              <a:t> 샘플 궤적마다 로봇 메쉬를 2.5D 고도 지도 위에 놓고 굴려 보는 것이다. 바퀴 접지점의 높이에서 자세(pitch·roll)가, 차체 바닥과 지면의 차이에서 하부 간섭이, 바퀴가 넘는 높이 차에서 단차가 나온다. 한 점의 cost로는 이 셋을 구별하지 못한다. 배치(GPU)로 만들면 MPPI 롤아웃의 지형 판정과 학습 데이터 생성에 함께 쓴다(TP-0125). 아래 세 연구가 이 구조를 쓴다. 모두 KAIST 황보제민 교수 연구실(RaiLab)과 그 이전 ETH 연구다.</a:t>
            </a:r>
          </a:p>
        </p:txBody>
      </p:sp>
      <p:sp>
        <p:nvSpPr>
          <p:cNvPr id="8" name="TextBox 7"/>
          <p:cNvSpPr txBox="1"/>
          <p:nvPr/>
        </p:nvSpPr>
        <p:spPr>
          <a:xfrm>
            <a:off x="609600" y="425539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학습 forward dynamics 모델 + 샘플링 MPC — Kim, Kim, Hwangbo (RSS 2022).</a:t>
            </a:r>
            <a:r>
              <a:rPr sz="1050" b="0" i="0">
                <a:solidFill>
                  <a:srgbClr val="16213A"/>
                </a:solidFill>
                <a:latin typeface="Arial"/>
                <a:ea typeface="Malgun Gothic"/>
                <a:cs typeface="Malgun Gothic"/>
              </a:rPr>
              <a:t> 로봇과 주변의 동역학을 신경망 하나로 배우고, 그것을 샘플링 MPC의 빠른 가상 시뮬레이터로 쓴다. FDM은 현재 관측(라이다, 차체 상태 이력)과 앞으로 보낼 명령 열을 받아 미래 위치와 충돌 확률을 낸다. 학습 데이터는 전체 로봇 모델(ANYmal C)을 RaiSim에서 무작위 환경에 굴려 자기 지도로 모으고, 충돌 여부는 물리 엔진의 접촉 계산에서 얻는다. GPU에서 6초 궤적 1,500개를 3 ms에 굴린다. 전체 로봇 시뮬레이션보다 2만 배, 근사 모델보다 20배 빠르다. travplan에 주는 의미는 둘이다. 첫째, 학습 층의 출력에 위치뿐 아니라 실패 확률을 둔다. 지금 MPPI의 확률 제약(M.3.13)이 손으로 만든 여유 대신 그 확률을 쓸 수 있다. 둘째, 데이터는 실제 로봇 모델로 굴린 시뮬레이션에서 나온다. travplan에서는 메쉬 시뮬레이터(TP-0125)가 그 자리다.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 / 112</a:t>
            </a:r>
          </a:p>
        </p:txBody>
      </p:sp>
      <p:pic>
        <p:nvPicPr>
          <p:cNvPr id="5" name="Picture 4" descr="image.jpg"/>
          <p:cNvPicPr>
            <a:picLocks noChangeAspect="1"/>
          </p:cNvPicPr>
          <p:nvPr/>
        </p:nvPicPr>
        <p:blipFill>
          <a:blip r:embed="rId3"/>
          <a:stretch>
            <a:fillRect/>
          </a:stretch>
        </p:blipFill>
        <p:spPr>
          <a:xfrm>
            <a:off x="609600" y="1244600"/>
            <a:ext cx="5410200" cy="1771650"/>
          </a:xfrm>
          <a:prstGeom prst="rect">
            <a:avLst/>
          </a:prstGeom>
        </p:spPr>
      </p:pic>
      <p:sp>
        <p:nvSpPr>
          <p:cNvPr id="6" name="TextBox 5"/>
          <p:cNvSpPr txBox="1"/>
          <p:nvPr/>
        </p:nvSpPr>
        <p:spPr>
          <a:xfrm>
            <a:off x="609600" y="30543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안전 내비게이션 구조 (Fig. 2): 무작위·정보 샘플러가 명령 열을 만들고, FDM이 각 열의 결과(보상)를 예측하면 최적화기가 보상 가중 평균으로 명령 열을 정한다. 출처: Kim 외, RSS 2022</a:t>
            </a:r>
          </a:p>
        </p:txBody>
      </p:sp>
      <p:pic>
        <p:nvPicPr>
          <p:cNvPr id="7" name="Picture 6" descr="image.jpg"/>
          <p:cNvPicPr>
            <a:picLocks noChangeAspect="1"/>
          </p:cNvPicPr>
          <p:nvPr/>
        </p:nvPicPr>
        <p:blipFill>
          <a:blip r:embed="rId4"/>
          <a:stretch>
            <a:fillRect/>
          </a:stretch>
        </p:blipFill>
        <p:spPr>
          <a:xfrm>
            <a:off x="6172200" y="1244600"/>
            <a:ext cx="46545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FDM 학습 (Fig. 3): RaiSim에서 무작위 환경에 로봇을 굴려 관측·명령·좌표·충돌을 모으고, 자기 지도로 라벨을 붙여 학습한다. 출처: Kim 외, RSS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자세히: FDM과 샘플링 MPC의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FDM은 </a:t>
            </a:r>
            <a:r>
              <a:rPr sz="1050" b="0" i="1">
                <a:solidFill>
                  <a:srgbClr val="16213A"/>
                </a:solidFill>
                <a:latin typeface="Arial"/>
                <a:ea typeface="Malgun Gothic"/>
                <a:cs typeface="Malgun Gothic"/>
              </a:rPr>
              <a:t>f_θ(oₜ, c_(t:t+H)) = {x̂_(t+1:t+H+1), ŷ_(t+1:t+H+1), p̂_(t+1:t+H+1)}</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는 2D 라이다와 차체 상태 이력(10 스텝),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명령 열(전진·횡·회전 속도),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는 충돌 확률이다. 관측을 완전연결 층으로 인코딩해 LSTM의 초기 상태로 넣고, LSTM이 명령을 하나씩 받아 각 스텝의 결과를 낸다. </a:t>
            </a:r>
            <a:r>
              <a:rPr sz="1050" b="0" i="1">
                <a:solidFill>
                  <a:srgbClr val="16213A"/>
                </a:solidFill>
                <a:latin typeface="Arial"/>
                <a:ea typeface="Malgun Gothic"/>
                <a:cs typeface="Malgun Gothic"/>
              </a:rPr>
              <a:t>H = 12</a:t>
            </a:r>
            <a:r>
              <a:rPr sz="1050" b="0" i="0">
                <a:solidFill>
                  <a:srgbClr val="16213A"/>
                </a:solidFill>
                <a:latin typeface="Arial"/>
                <a:ea typeface="Malgun Gothic"/>
                <a:cs typeface="Malgun Gothic"/>
              </a:rPr>
              <a:t> 스텝 × 0.5 s = 6 s다. 손실은 좌표에 MSE, 충돌에 교차 엔트로피다.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MPC.</a:t>
            </a:r>
            <a:r>
              <a:rPr sz="1050" b="0" i="0">
                <a:solidFill>
                  <a:srgbClr val="16213A"/>
                </a:solidFill>
                <a:latin typeface="Arial"/>
                <a:ea typeface="Malgun Gothic"/>
                <a:cs typeface="Malgun Gothic"/>
              </a:rPr>
              <a:t> 보상 </a:t>
            </a:r>
            <a:r>
              <a:rPr sz="1050" b="0" i="1">
                <a:solidFill>
                  <a:srgbClr val="16213A"/>
                </a:solidFill>
                <a:latin typeface="Arial"/>
                <a:ea typeface="Malgun Gothic"/>
                <a:cs typeface="Malgun Gothic"/>
              </a:rPr>
              <a:t>R(f_θ(oₜ, c_(t:t+H)))</a:t>
            </a:r>
            <a:r>
              <a:rPr sz="1050" b="0" i="0">
                <a:solidFill>
                  <a:srgbClr val="16213A"/>
                </a:solidFill>
                <a:latin typeface="Arial"/>
                <a:ea typeface="Malgun Gothic"/>
                <a:cs typeface="Malgun Gothic"/>
              </a:rPr>
              <a:t>을 최대화하는 명령 열을 매 스텝 다시 구하고 첫 명령만 보낸다. 최적화는 경사 없는 방식이다. 시간 상관이 있는 무작위 열과 직전 최적해를 </a:t>
            </a:r>
            <a:r>
              <a:rPr sz="1050" b="0" i="1">
                <a:solidFill>
                  <a:srgbClr val="16213A"/>
                </a:solidFill>
                <a:latin typeface="Arial"/>
                <a:ea typeface="Malgun Gothic"/>
                <a:cs typeface="Malgun Gothic"/>
              </a:rPr>
              <a:t>cⁿ = (1-β)c̃ⁿ + β ĉ</a:t>
            </a:r>
            <a:r>
              <a:rPr sz="1050" b="0" i="0">
                <a:solidFill>
                  <a:srgbClr val="16213A"/>
                </a:solidFill>
                <a:latin typeface="Arial"/>
                <a:ea typeface="Malgun Gothic"/>
                <a:cs typeface="Malgun Gothic"/>
              </a:rPr>
              <a:t>로 섞고, 보상으로 가중 평균한다(MPPI와 같은 계열). ITS는 조건부 VAE로 좋은 명령 열의 분포를 배워 샘플 일부를 거기서 뽑는다.</a:t>
            </a:r>
          </a:p>
        </p:txBody>
      </p:sp>
      <p:pic>
        <p:nvPicPr>
          <p:cNvPr id="7" name="Picture 6" descr="image.jpg"/>
          <p:cNvPicPr>
            <a:picLocks noChangeAspect="1"/>
          </p:cNvPicPr>
          <p:nvPr/>
        </p:nvPicPr>
        <p:blipFill>
          <a:blip r:embed="rId3"/>
          <a:stretch>
            <a:fillRect/>
          </a:stretch>
        </p:blipFill>
        <p:spPr>
          <a:xfrm>
            <a:off x="1016000" y="2288381"/>
            <a:ext cx="10160000" cy="2711450"/>
          </a:xfrm>
          <a:prstGeom prst="rect">
            <a:avLst/>
          </a:prstGeom>
        </p:spPr>
      </p:pic>
      <p:sp>
        <p:nvSpPr>
          <p:cNvPr id="8" name="TextBox 7"/>
          <p:cNvSpPr txBox="1"/>
          <p:nvPr/>
        </p:nvSpPr>
        <p:spPr>
          <a:xfrm>
            <a:off x="1016000" y="503793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FDM 평가 (Fig. 5): 예측 정확도, 그리고 기준 모델 대비 좌표 오차와 계산 시간. 출처: Kim 외, RSS 2022</a:t>
            </a:r>
          </a:p>
        </p:txBody>
      </p:sp>
      <p:sp>
        <p:nvSpPr>
          <p:cNvPr id="9" name="TextBox 8"/>
          <p:cNvSpPr txBox="1"/>
          <p:nvPr/>
        </p:nvSpPr>
        <p:spPr>
          <a:xfrm>
            <a:off x="609600" y="52690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입력의 라이다 자리에 로봇 둘레의 고도 패치(TravMap의 ELEV)를 넣고, 충돌 자리에 sim의 실패(치명·전복)를 넣으면 그대로 옮겨진다. MPPI는 이미 롤아웃 모델을 바꿔 끼울 수 있다(</a:t>
            </a:r>
            <a:r>
              <a:rPr sz="1050" b="0" i="0">
                <a:solidFill>
                  <a:srgbClr val="16213A"/>
                </a:solidFill>
                <a:latin typeface="Consolas"/>
                <a:ea typeface="Malgun Gothic"/>
                <a:cs typeface="Malgun Gothic"/>
              </a:rPr>
              <a:t>MPPIController.model</a:t>
            </a:r>
            <a:r>
              <a:rPr sz="1050" b="0" i="0">
                <a:solidFill>
                  <a:srgbClr val="16213A"/>
                </a:solidFill>
                <a:latin typeface="Arial"/>
                <a:ea typeface="Malgun Gothic"/>
                <a:cs typeface="Malgun Gothic"/>
              </a:rPr>
              <a:t>, TP-0120). 명령 공간도 같다(차체 twist).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 / 112</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강체 시뮬레이션 + 학습 액추에이터 네트워크 — Hwangbo 외 (Science Robotics 2019).</a:t>
            </a:r>
            <a:r>
              <a:rPr sz="1050" b="0" i="0">
                <a:solidFill>
                  <a:srgbClr val="16213A"/>
                </a:solidFill>
                <a:latin typeface="Arial"/>
                <a:ea typeface="Malgun Gothic"/>
                <a:cs typeface="Malgun Gothic"/>
              </a:rPr>
              <a:t> 해석 모델이 못 담는 부분만 신경망으로 배워 시뮬레이터 안에 넣는다. 강체 동역학과 접촉은 RaiSim이 풀고, 명령에서 관절 토크까지의 액추에이터 동역학(통신 지연, 저수준 제어기, 관절 유연성)은 실물 데이터로 배운 "actuator net"이 낸다. 이 혼합 시뮬레이터가 초당 약 50만 스텝을 돌고, 그 시간의 절반이 액추에이터 네트워크다. travplan의 세 층이 이 생각을 따른다. 잘 아는 부분은 식으로 두고, 식이 못 담는 부분을 학습한다. 다만 이 논문은 잔차가 아니라 액추에이터 사상 전체(명령 → 토크)를 학습한 하위 모델을 강체 시뮬레이션 앞에 직렬로 넣었다. travplan의 GP는 기구학 예측에 더하는 잔차다. 지금 GP 잔차가 그 자리이고, NN·잔차 네트워크는 같은 자리의 다른 구현체다(TP-0124). 이 논문은 Controller 문서 F.1(계보)·F.3과 시뮬레이션 문서 S.6.2(보정)에도 나온다.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11 / 112</a:t>
            </a:r>
          </a:p>
        </p:txBody>
      </p:sp>
      <p:pic>
        <p:nvPicPr>
          <p:cNvPr id="5" name="Picture 4" descr="image.jpg"/>
          <p:cNvPicPr>
            <a:picLocks noChangeAspect="1"/>
          </p:cNvPicPr>
          <p:nvPr/>
        </p:nvPicPr>
        <p:blipFill>
          <a:blip r:embed="rId3"/>
          <a:stretch>
            <a:fillRect/>
          </a:stretch>
        </p:blipFill>
        <p:spPr>
          <a:xfrm>
            <a:off x="2330450" y="1244600"/>
            <a:ext cx="7531100" cy="4445000"/>
          </a:xfrm>
          <a:prstGeom prst="rect">
            <a:avLst/>
          </a:prstGeom>
        </p:spPr>
      </p:pic>
      <p:sp>
        <p:nvSpPr>
          <p:cNvPr id="6" name="TextBox 5"/>
          <p:cNvSpPr txBox="1"/>
          <p:nvPr/>
        </p:nvSpPr>
        <p:spPr>
          <a:xfrm>
            <a:off x="2330450" y="5727700"/>
            <a:ext cx="7531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정책을 만드는 단계 (Fig. 1): 물리 파라미터 식별, 액추에이터 네트워크 학습, 혼합 시뮬레이터에서 정책 학습, 실물 배치. 출처: Hwangbo 외, Science Robotics 2019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자세히: 액추에이터 네트워크의 방법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12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액추에이터 네트워크는 관절의 위치 오차와 속도 이력(현재, 0.01 s 전, 0.02 s 전)을 받아 토크를 내는 MLP다. 실물에서 모은 데이터로 자기 지도 학습한다. 정책 학습 때 이 토크가 강체 시뮬레이션에 들어간다.</a:t>
            </a:r>
          </a:p>
        </p:txBody>
      </p:sp>
      <p:pic>
        <p:nvPicPr>
          <p:cNvPr id="6" name="Picture 5" descr="image.jpg"/>
          <p:cNvPicPr>
            <a:picLocks noChangeAspect="1"/>
          </p:cNvPicPr>
          <p:nvPr/>
        </p:nvPicPr>
        <p:blipFill>
          <a:blip r:embed="rId3"/>
          <a:stretch>
            <a:fillRect/>
          </a:stretch>
        </p:blipFill>
        <p:spPr>
          <a:xfrm>
            <a:off x="609600" y="1766491"/>
            <a:ext cx="2336800" cy="2667000"/>
          </a:xfrm>
          <a:prstGeom prst="rect">
            <a:avLst/>
          </a:prstGeom>
        </p:spPr>
      </p:pic>
      <p:sp>
        <p:nvSpPr>
          <p:cNvPr id="7" name="TextBox 6"/>
          <p:cNvSpPr txBox="1"/>
          <p:nvPr/>
        </p:nvSpPr>
        <p:spPr>
          <a:xfrm>
            <a:off x="609600" y="447159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시뮬레이션 학습 (Fig. 5): 정책 네트워크가 관절 목표를, 액추에이터 네트워크가 그 목표의 토크를 내고, 토크가 강체 시뮬레이션에 들어간다. 출처: Hwangbo 외, Science Robotics 2019</a:t>
            </a:r>
          </a:p>
        </p:txBody>
      </p:sp>
      <p:pic>
        <p:nvPicPr>
          <p:cNvPr id="8" name="Picture 7" descr="image.jpg"/>
          <p:cNvPicPr>
            <a:picLocks noChangeAspect="1"/>
          </p:cNvPicPr>
          <p:nvPr/>
        </p:nvPicPr>
        <p:blipFill>
          <a:blip r:embed="rId4"/>
          <a:stretch>
            <a:fillRect/>
          </a:stretch>
        </p:blipFill>
        <p:spPr>
          <a:xfrm>
            <a:off x="6172200" y="1766491"/>
            <a:ext cx="3911600" cy="2667000"/>
          </a:xfrm>
          <a:prstGeom prst="rect">
            <a:avLst/>
          </a:prstGeom>
        </p:spPr>
      </p:pic>
      <p:sp>
        <p:nvSpPr>
          <p:cNvPr id="9" name="TextBox 8"/>
          <p:cNvSpPr txBox="1"/>
          <p:nvPr/>
        </p:nvSpPr>
        <p:spPr>
          <a:xfrm>
            <a:off x="6172200" y="447159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액추에이터 모델 검증 (Fig. 6): 측정 토크, 학습 모델의 예측, 지연과 기계 응답이 없다고 둔 이상 모델. 출처: Hwangbo 외, Science Robotics 2019</a:t>
            </a:r>
          </a:p>
        </p:txBody>
      </p:sp>
      <p:sp>
        <p:nvSpPr>
          <p:cNvPr id="10" name="TextBox 9"/>
          <p:cNvSpPr txBox="1"/>
          <p:nvPr/>
        </p:nvSpPr>
        <p:spPr>
          <a:xfrm>
            <a:off x="609600" y="4844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스워브 모듈의 조향 지연과 바퀴 슬립(</a:t>
            </a:r>
            <a:r>
              <a:rPr sz="1050" b="0" i="0">
                <a:solidFill>
                  <a:srgbClr val="16213A"/>
                </a:solidFill>
                <a:latin typeface="Consolas"/>
                <a:ea typeface="Malgun Gothic"/>
                <a:cs typeface="Malgun Gothic"/>
              </a:rPr>
              <a:t>SwervePlant</a:t>
            </a:r>
            <a:r>
              <a:rPr sz="1050" b="0" i="0">
                <a:solidFill>
                  <a:srgbClr val="16213A"/>
                </a:solidFill>
                <a:latin typeface="Arial"/>
                <a:ea typeface="Malgun Gothic"/>
                <a:cs typeface="Malgun Gothic"/>
              </a:rPr>
              <a:t>)이 액추에이터 동역학의 자리다. 지금은 손으로 쓴 1차 지연이고, 실물이나 Isaac 기록이 생기면 같은 방식으로 명령 → 실현 twist 사상을 배우거나, 그 잔차를 배운다. 동역학 층(TP-0124)이 그 입력을 받는다.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13 / 112</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전체 로봇 모델의 물리 롤아웃으로 후보를 검증 — Kim 외 (Science Robotics 2025).</a:t>
            </a:r>
            <a:r>
              <a:rPr sz="1050" b="0" i="0">
                <a:solidFill>
                  <a:srgbClr val="16213A"/>
                </a:solidFill>
                <a:latin typeface="Arial"/>
                <a:ea typeface="Malgun Gothic"/>
                <a:cs typeface="Malgun Gothic"/>
              </a:rPr>
              <a:t> 샘플링으로 만든 후보 계획을 빠른 필터로 줄인 뒤, 남은 후보를 전체 로봇 모델로 물리 엔진에서 굴려 고른다. 후보 발판 계획을 성능 상자 제약, 거칠기(PCA) 필터, 신경망 충돌 경계 추정기로 거르고, 남은 것을 학습된 추종 정책과 Raibo 전체 모델로 RaiSim에서 8 스레드로 시뮬레이션한다. 계획 한 번(필터 + 롤아웃)이 0.012–0.059 s다(Table 1, 시나리오 10개). travplan에 주는 의미는 역할 분담이다. 샘플 수백 개는 빠른 모델(기구학·학습)로 평가하고, 마지막 몇 개만 메쉬 시뮬레이터로 검증한다(TP-0125). 인식 문서 A.7.1이 같은 논문을 계층형 내비게이션 쪽에서 다룬다.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14 / 112</a:t>
            </a:r>
          </a:p>
        </p:txBody>
      </p:sp>
      <p:pic>
        <p:nvPicPr>
          <p:cNvPr id="5" name="Picture 4" descr="image.jpg"/>
          <p:cNvPicPr>
            <a:picLocks noChangeAspect="1"/>
          </p:cNvPicPr>
          <p:nvPr/>
        </p:nvPicPr>
        <p:blipFill>
          <a:blip r:embed="rId3"/>
          <a:stretch>
            <a:fillRect/>
          </a:stretch>
        </p:blipFill>
        <p:spPr>
          <a:xfrm>
            <a:off x="3667125" y="1244600"/>
            <a:ext cx="4857750" cy="4445000"/>
          </a:xfrm>
          <a:prstGeom prst="rect">
            <a:avLst/>
          </a:prstGeom>
        </p:spPr>
      </p:pic>
      <p:sp>
        <p:nvSpPr>
          <p:cNvPr id="6" name="TextBox 5"/>
          <p:cNvSpPr txBox="1"/>
          <p:nvPr/>
        </p:nvSpPr>
        <p:spPr>
          <a:xfrm>
            <a:off x="3667125" y="5727700"/>
            <a:ext cx="48577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전체 구조 (Fig. 2): 학습 단계에서 추종 정책을 지도 생성기와 경쟁시키고, 배치 단계에서 계획기가 후보를 걸러 물리 롤아웃으로 고른다. 출처: Kim 외, Science Robotics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r>
              <a:rPr sz="1050" b="0" i="0">
                <a:solidFill>
                  <a:srgbClr val="5A6478"/>
                </a:solidFill>
                <a:latin typeface="Arial"/>
                <a:ea typeface="Malgun Gothic"/>
                <a:cs typeface="Malgun Gothic"/>
              </a:rPr>
              <a:t>  자세히: 필터와 물리 롤아웃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15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후보마다 세 필터를 차례로 적용한다. 성능 필터는 발판이 추종기 학습 범위의 상자 안에 있는지, 스파이크 필터는 발판 주변 거칠기를, 충돌 필터는 신경망 경계 추정기로 충돌 위험을 본다. 통과한 후보는 네 발판 쌍의 지평으로 물리 엔진에서 굴리고, 공학 비용이 가장 좋은 것을 고른다. 실시간 요구보다 평균 18배(최소 6배) 빠르다.</a:t>
            </a:r>
          </a:p>
        </p:txBody>
      </p:sp>
      <p:pic>
        <p:nvPicPr>
          <p:cNvPr id="6" name="Picture 5" descr="image.jpg"/>
          <p:cNvPicPr>
            <a:picLocks noChangeAspect="1"/>
          </p:cNvPicPr>
          <p:nvPr/>
        </p:nvPicPr>
        <p:blipFill>
          <a:blip r:embed="rId3"/>
          <a:stretch>
            <a:fillRect/>
          </a:stretch>
        </p:blipFill>
        <p:spPr>
          <a:xfrm>
            <a:off x="4664075" y="1766491"/>
            <a:ext cx="2863850" cy="2984500"/>
          </a:xfrm>
          <a:prstGeom prst="rect">
            <a:avLst/>
          </a:prstGeom>
        </p:spPr>
      </p:pic>
      <p:sp>
        <p:nvSpPr>
          <p:cNvPr id="7" name="TextBox 6"/>
          <p:cNvSpPr txBox="1"/>
          <p:nvPr/>
        </p:nvSpPr>
        <p:spPr>
          <a:xfrm>
            <a:off x="4664075" y="4789091"/>
            <a:ext cx="2863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계획기 평가 (Fig. 5): 지형별 필터 제거 실험과 성공률. 출처: Kim 외, Science Robotics 2025</a:t>
            </a:r>
          </a:p>
        </p:txBody>
      </p:sp>
      <p:sp>
        <p:nvSpPr>
          <p:cNvPr id="8" name="TextBox 7"/>
          <p:cNvSpPr txBox="1"/>
          <p:nvPr/>
        </p:nvSpPr>
        <p:spPr>
          <a:xfrm>
            <a:off x="609600" y="51623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필터는 이미 비슷한 것이 있다(MPPI의 치명 판정, 확률 제약). 빠진 것은 마지막의 전체 모델 롤아웃이다. 메쉬 시뮬레이터(TP-0125)가 MPPI의 상위 몇 개 샘플이나 MPC의 예측 궤적을 실행 전에 한 번 굴려 보는 검증 단계가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설계 · M.1 OCP를 어떻게 세우나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M.1.3 예측 모델은 세 층으로 쌓고, 학습 층은 로봇 모델로 굴린 시뮬레이션에서 배운다 (TP-0124–0126)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16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옮기는 순서.</a:t>
            </a:r>
          </a:p>
        </p:txBody>
      </p:sp>
      <p:sp>
        <p:nvSpPr>
          <p:cNvPr id="6" name="TextBox 5"/>
          <p:cNvSpPr txBox="1"/>
          <p:nvPr/>
        </p:nvSpPr>
        <p:spPr>
          <a:xfrm>
            <a:off x="609600" y="1549995"/>
            <a:ext cx="10972800" cy="17827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모델 계층(TP-0124).</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RolloutModel</a:t>
            </a:r>
            <a:r>
              <a:rPr sz="1050" b="0" i="0">
                <a:solidFill>
                  <a:srgbClr val="16213A"/>
                </a:solidFill>
                <a:latin typeface="Arial"/>
                <a:ea typeface="Malgun Gothic"/>
                <a:cs typeface="Malgun Gothic"/>
              </a:rPr>
              <a:t> 프로토콜 하나에 기구학·동역학·학습 잔차(GP, NN, 잔차 네트워크)를 구현한다. MPPI는 롤아웃 모델을 주입하고, MPC는 acados 모델 변형(지연 상태, 잔차 항)으로 쓴다. 먼저 기록된 plant 에피소드에서 1 s·2 s 예측 오차를, 그다음 같은 벤치마크의 성공률을 비교한다.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메쉬 시뮬레이터(TP-0125).</a:t>
            </a:r>
            <a:r>
              <a:rPr sz="1050" b="0" i="0">
                <a:solidFill>
                  <a:srgbClr val="16213A"/>
                </a:solidFill>
                <a:latin typeface="Arial"/>
                <a:ea typeface="Malgun Gothic"/>
                <a:cs typeface="Malgun Gothic"/>
              </a:rPr>
              <a:t> 로봇 형상을 고도 지도 위에 놓고 샘플마다 자세·하부 간섭·단차·전복 여유를 배치로 계산한다. 바퀴 접지점은 AntBot URDF 값이고, 차체 바닥 높이는 공개값이 없어 가정값이다. 같은 네 바퀴 자세·하부 간섭·바퀴 지지 판정이 이미 </a:t>
            </a:r>
            <a:r>
              <a:rPr sz="1050" b="0" i="0">
                <a:solidFill>
                  <a:srgbClr val="16213A"/>
                </a:solidFill>
                <a:latin typeface="Consolas"/>
                <a:ea typeface="Malgun Gothic"/>
                <a:cs typeface="Malgun Gothic"/>
              </a:rPr>
              <a:t>sim/ground_truth.py::ChassisSpec</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chassis_feasibility</a:t>
            </a:r>
            <a:r>
              <a:rPr sz="1050" b="0" i="0">
                <a:solidFill>
                  <a:srgbClr val="16213A"/>
                </a:solidFill>
                <a:latin typeface="Arial"/>
                <a:ea typeface="Malgun Gothic"/>
                <a:cs typeface="Malgun Gothic"/>
              </a:rPr>
              <a:t>(TP-0082)에 격자 판으로 있으므로, 그것을 샘플 배치(GPU)로 옮기는 것이 첫 단계다. 먼저 운동학 sim의 실패 판정과 맞는지 확인하고, 그다음 한 점 판정이 놓치는 경우(차체 하부 간섭)를 지형 시나리오에 더한다.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처럼 </a:t>
            </a:r>
            <a:r>
              <a:rPr sz="1050" b="0" i="0">
                <a:solidFill>
                  <a:srgbClr val="16213A"/>
                </a:solidFill>
                <a:latin typeface="Consolas"/>
                <a:ea typeface="Malgun Gothic"/>
                <a:cs typeface="Malgun Gothic"/>
              </a:rPr>
              <a:t>robot/</a:t>
            </a:r>
            <a:r>
              <a:rPr sz="1050" b="0" i="0">
                <a:solidFill>
                  <a:srgbClr val="16213A"/>
                </a:solidFill>
                <a:latin typeface="Arial"/>
                <a:ea typeface="Malgun Gothic"/>
                <a:cs typeface="Malgun Gothic"/>
              </a:rPr>
              <a:t> 층에 두어 sim과 Controller가 함께 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학습 FDM(TP-0126).</a:t>
            </a:r>
            <a:r>
              <a:rPr sz="1050" b="0" i="0">
                <a:solidFill>
                  <a:srgbClr val="16213A"/>
                </a:solidFill>
                <a:latin typeface="Arial"/>
                <a:ea typeface="Malgun Gothic"/>
                <a:cs typeface="Malgun Gothic"/>
              </a:rPr>
              <a:t> 메쉬 시뮬레이터와 plant로 무작위 지형(</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)과 무작위 명령 열을 굴려 데이터를 만든다. 고도 패치 인코더 + 상태 이력 + 명령 LSTM이 미래 위치·실패 확률을 낸다. MPPI 롤아웃 모델로 쓰고, 기구학·동역학·GP 잔차와 같은 벤치마크에서 비교한다.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MPC 구축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시뮬 리그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MPC 구축 (docs/research-mpc.md)    17 / 112</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M.2 plant를 어디서 얻나</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M.2.1 AntBot MJCF — URDF에 없는 것을 손으로 써야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시뮬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M.2 plant를 어디서 얻나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18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MPC는 자기 모델로 자기를 예측하므로, plant가 같으면 아무것도 검증되지 않는다.</a:t>
            </a:r>
            <a:r>
              <a:rPr sz="1050" b="0" i="0">
                <a:solidFill>
                  <a:srgbClr val="16213A"/>
                </a:solidFill>
                <a:latin typeface="Arial"/>
                <a:ea typeface="Malgun Gothic"/>
                <a:cs typeface="Malgun Gothic"/>
              </a:rPr>
              <a:t> 지금 L0는 시뮬과 Controller가 같은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을 써서 모델 오차가 0이다. 그래서 plant가 따로 필요하다.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Isaac Gym은 선택지가 아니다.</a:t>
            </a:r>
            <a:r>
              <a:rPr sz="1050" b="0" i="0">
                <a:solidFill>
                  <a:srgbClr val="16213A"/>
                </a:solidFill>
                <a:latin typeface="Arial"/>
                <a:ea typeface="Malgun Gothic"/>
                <a:cs typeface="Malgun Gothic"/>
              </a:rPr>
              <a:t> NVIDIA가 Preview 4에서 개발을 멈추고 Isaac Lab(Isaac Sim 위)으로 옮겼고, 2026년 지금은 그 아래 물리도 Newton으로 가고 있다(시뮬레이션 문서 S.1.1, S.1.2). 새로 시작하면서 고를 이유가 없다.</a:t>
            </a:r>
          </a:p>
        </p:txBody>
      </p:sp>
      <p:graphicFrame>
        <p:nvGraphicFramePr>
          <p:cNvPr id="7" name="Table 6"/>
          <p:cNvGraphicFramePr>
            <a:graphicFrameLocks noGrp="1"/>
          </p:cNvGraphicFramePr>
          <p:nvPr/>
        </p:nvGraphicFramePr>
        <p:xfrm>
          <a:off x="609600" y="2071886"/>
          <a:ext cx="10966451" cy="788352"/>
        </p:xfrm>
        <a:graphic>
          <a:graphicData uri="http://schemas.openxmlformats.org/drawingml/2006/table">
            <a:tbl>
              <a:tblPr firstRow="1" bandRow="1">
                <a:tableStyleId>{5C22544A-7EE6-4342-B048-85BDC9FD1C3A}</a:tableStyleId>
              </a:tblPr>
              <a:tblGrid>
                <a:gridCol w="596999"/>
                <a:gridCol w="3239691"/>
                <a:gridCol w="5080695"/>
                <a:gridCol w="2049066"/>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언제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어디서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MuJoCo</a:t>
                      </a:r>
                      <a:r>
                        <a:rPr sz="800" b="0" i="0">
                          <a:solidFill>
                            <a:srgbClr val="16213A"/>
                          </a:solidFill>
                          <a:latin typeface="Arial"/>
                          <a:ea typeface="Malgun Gothic"/>
                          <a:cs typeface="Malgun Gothic"/>
                        </a:rPr>
                        <a:t>(CPU, 로봇 1대)</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지금</a:t>
                      </a:r>
                      <a:r>
                        <a:rPr sz="800" b="0" i="0">
                          <a:solidFill>
                            <a:srgbClr val="16213A"/>
                          </a:solidFill>
                          <a:latin typeface="Arial"/>
                          <a:ea typeface="Malgun Gothic"/>
                          <a:cs typeface="Malgun Gothic"/>
                        </a:rPr>
                        <a:t> — MJCF 제작, MPC 폐루프 검증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랩탑</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MuJoCo Warp</a:t>
                      </a:r>
                      <a:r>
                        <a:rPr sz="800" b="0" i="0">
                          <a:solidFill>
                            <a:srgbClr val="16213A"/>
                          </a:solidFill>
                          <a:latin typeface="Arial"/>
                          <a:ea typeface="Malgun Gothic"/>
                          <a:cs typeface="Malgun Gothic"/>
                        </a:rPr>
                        <a:t>(GPU, 배치)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TP-0068 잔차 데이터 수집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데스크톱(5080)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P1 폐루프 재현(TP-0005), LiDAR→TravMap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데스크톱</a:t>
                      </a:r>
                    </a:p>
                  </a:txBody>
                  <a:tcPr marL="63500" marR="63500" marT="12700" marB="12700">
                    <a:solidFill>
                      <a:srgbClr val="FFFDF8"/>
                    </a:solidFill>
                  </a:tcPr>
                </a:tc>
              </a:tr>
            </a:tbl>
          </a:graphicData>
        </a:graphic>
      </p:graphicFrame>
      <p:sp>
        <p:nvSpPr>
          <p:cNvPr id="8" name="TextBox 7"/>
          <p:cNvSpPr txBox="1"/>
          <p:nvPr/>
        </p:nvSpPr>
        <p:spPr>
          <a:xfrm>
            <a:off x="609600" y="31525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MJCF를 1층과 2층이 공유한다. </a:t>
            </a:r>
            <a:r>
              <a:rPr sz="1050" b="1" i="0">
                <a:solidFill>
                  <a:srgbClr val="C2410C"/>
                </a:solidFill>
                <a:latin typeface="Arial"/>
                <a:ea typeface="Malgun Gothic"/>
                <a:cs typeface="Malgun Gothic"/>
              </a:rPr>
              <a:t>1층이 먼저인 이유는 단순하다 — 모델이 틀렸는지는 로봇 한 대로 더 빨리 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시뮬 리그 · M.2 plant를 어디서 얻나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M.2.1 AntBot MJCF — URDF에 없는 것을 손으로 써야 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19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공개 저장소에 URDF는 있고 MJCF는 없다. MuJoCo 컴파일러가 URDF를 읽지만, </a:t>
            </a:r>
            <a:r>
              <a:rPr sz="1050" b="1" i="0">
                <a:solidFill>
                  <a:srgbClr val="16213A"/>
                </a:solidFill>
                <a:latin typeface="Arial"/>
                <a:ea typeface="Malgun Gothic"/>
                <a:cs typeface="Malgun Gothic"/>
              </a:rPr>
              <a:t>동역학에 필요한 값이 URDF에 없다.</a:t>
            </a:r>
          </a:p>
        </p:txBody>
      </p:sp>
      <p:graphicFrame>
        <p:nvGraphicFramePr>
          <p:cNvPr id="6" name="Table 5"/>
          <p:cNvGraphicFramePr>
            <a:graphicFrameLocks noGrp="1"/>
          </p:cNvGraphicFramePr>
          <p:nvPr/>
        </p:nvGraphicFramePr>
        <p:xfrm>
          <a:off x="609600" y="1549995"/>
          <a:ext cx="10966450" cy="1182528"/>
        </p:xfrm>
        <a:graphic>
          <a:graphicData uri="http://schemas.openxmlformats.org/drawingml/2006/table">
            <a:tbl>
              <a:tblPr firstRow="1" bandRow="1">
                <a:tableStyleId>{5C22544A-7EE6-4342-B048-85BDC9FD1C3A}</a:tableStyleId>
              </a:tblPr>
              <a:tblGrid>
                <a:gridCol w="4230092"/>
                <a:gridCol w="6736358"/>
              </a:tblGrid>
              <a:tr h="197088">
                <a:tc>
                  <a:txBody>
                    <a:bodyPr wrap="square"/>
                    <a:lstStyle/>
                    <a:p>
                      <a:r>
                        <a:rPr sz="800" b="1" i="0">
                          <a:solidFill>
                            <a:srgbClr val="F4F1EA"/>
                          </a:solidFill>
                          <a:latin typeface="Arial"/>
                          <a:ea typeface="Malgun Gothic"/>
                          <a:cs typeface="Malgun Gothic"/>
                        </a:rPr>
                        <a:t>필요한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URDF 상태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모듈 배치·오프셋·바퀴 반지름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있다 (</a:t>
                      </a:r>
                      <a:r>
                        <a:rPr sz="800" b="0" i="0">
                          <a:solidFill>
                            <a:srgbClr val="16213A"/>
                          </a:solidFill>
                          <a:latin typeface="Consolas"/>
                          <a:ea typeface="Malgun Gothic"/>
                          <a:cs typeface="Malgun Gothic"/>
                        </a:rPr>
                        <a:t>docs/design-gp-dynamics.md</a:t>
                      </a:r>
                      <a:r>
                        <a:rPr sz="800" b="0" i="0">
                          <a:solidFill>
                            <a:srgbClr val="16213A"/>
                          </a:solidFill>
                          <a:latin typeface="Arial"/>
                          <a:ea typeface="Malgun Gothic"/>
                          <a:cs typeface="Malgun Gothic"/>
                        </a:rPr>
                        <a:t> §3.5)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접촉 마찰·solref·solimp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없다. 손으로 쓴다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Dynamixel 액추에이터 모델(토크-속도, 마찰, 지연)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없다. unitree_rl_lab의 </a:t>
                      </a:r>
                      <a:r>
                        <a:rPr sz="800" b="0" i="0">
                          <a:solidFill>
                            <a:srgbClr val="16213A"/>
                          </a:solidFill>
                          <a:latin typeface="Consolas"/>
                          <a:ea typeface="Malgun Gothic"/>
                          <a:cs typeface="Malgun Gothic"/>
                        </a:rPr>
                        <a:t>UnitreeActuator</a:t>
                      </a:r>
                      <a:r>
                        <a:rPr sz="800" b="0" i="0">
                          <a:solidFill>
                            <a:srgbClr val="16213A"/>
                          </a:solidFill>
                          <a:latin typeface="Arial"/>
                          <a:ea typeface="Malgun Gothic"/>
                          <a:cs typeface="Malgun Gothic"/>
                        </a:rPr>
                        <a:t>가 참고(S.5.3c)</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실제 관성·무게중심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자리표시자에 가깝다(차체 </a:t>
                      </a:r>
                      <a:r>
                        <a:rPr sz="800" b="0" i="1">
                          <a:solidFill>
                            <a:srgbClr val="16213A"/>
                          </a:solidFill>
                          <a:latin typeface="Arial"/>
                          <a:ea typeface="Malgun Gothic"/>
                          <a:cs typeface="Malgun Gothic"/>
                        </a:rPr>
                        <a:t>Iₓₓ = I_(yy) = 5.0</a:t>
                      </a:r>
                      <a:r>
                        <a:rPr sz="800" b="0" i="0">
                          <a:solidFill>
                            <a:srgbClr val="16213A"/>
                          </a:solidFill>
                          <a:latin typeface="Arial"/>
                          <a:ea typeface="Malgun Gothic"/>
                          <a:cs typeface="Malgun Gothic"/>
                        </a:rPr>
                        <a:t>, 조향 링크 0.001 등방) → </a:t>
                      </a:r>
                      <a:r>
                        <a:rPr sz="800" b="1" i="0">
                          <a:solidFill>
                            <a:srgbClr val="16213A"/>
                          </a:solidFill>
                          <a:latin typeface="Arial"/>
                          <a:ea typeface="Malgun Gothic"/>
                          <a:cs typeface="Malgun Gothic"/>
                        </a:rPr>
                        <a:t>TP-0035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조향 범위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URDF ±90° / 제어기 ±60° / 모터 사양 ±56.2°로 셋이 다르다</a:t>
                      </a:r>
                    </a:p>
                  </a:txBody>
                  <a:tcPr marL="63500" marR="63500" marT="12700" marB="12700">
                    <a:solidFill>
                      <a:srgbClr val="FFFDF8"/>
                    </a:solidFill>
                  </a:tcPr>
                </a:tc>
              </a:tr>
            </a:tbl>
          </a:graphicData>
        </a:graphic>
      </p:graphicFrame>
      <p:sp>
        <p:nvSpPr>
          <p:cNvPr id="7" name="TextBox 6"/>
          <p:cNvSpPr txBox="1"/>
          <p:nvPr/>
        </p:nvSpPr>
        <p:spPr>
          <a:xfrm>
            <a:off x="609600" y="312340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1단계 목표는 "정확한 AntBot"이 아니라 </a:t>
            </a:r>
            <a:r>
              <a:rPr sz="1050" b="1" i="0">
                <a:solidFill>
                  <a:srgbClr val="16213A"/>
                </a:solidFill>
                <a:latin typeface="Arial"/>
                <a:ea typeface="Malgun Gothic"/>
                <a:cs typeface="Malgun Gothic"/>
              </a:rPr>
              <a:t>"명목 모델과 다른, 접촉이 있는 plant"</a:t>
            </a:r>
            <a:r>
              <a:rPr sz="1050" b="0" i="0">
                <a:solidFill>
                  <a:srgbClr val="16213A"/>
                </a:solidFill>
                <a:latin typeface="Arial"/>
                <a:ea typeface="Malgun Gothic"/>
                <a:cs typeface="Malgun Gothic"/>
              </a:rPr>
              <a:t>다. 관성이 임시값이어도 MPC가 모델 오차를 만났을 때 어떻게 되는지는 그대로 드러난다.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MPC 구축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작업 기록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MPC 구축 (docs/research-mpc.md)    20 / 112</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M.3 진행 기록</a:t>
            </a:r>
          </a:p>
          <a:p>
            <a:pPr>
              <a:spcAft>
                <a:spcPts val="400"/>
              </a:spcAft>
            </a:pPr>
            <a:r>
              <a:rPr sz="1000" b="0" i="0">
                <a:solidFill>
                  <a:srgbClr val="C9D1E0"/>
                </a:solidFill>
                <a:latin typeface="Arial"/>
                <a:ea typeface="Malgun Gothic"/>
                <a:cs typeface="Malgun Gothic"/>
              </a:rPr>
              <a:t>M.3.1 환경 메모 — 다시 밟지 않도록</a:t>
            </a:r>
          </a:p>
          <a:p>
            <a:pPr>
              <a:spcAft>
                <a:spcPts val="400"/>
              </a:spcAft>
            </a:pPr>
            <a:r>
              <a:rPr sz="1000" b="0" i="0">
                <a:solidFill>
                  <a:srgbClr val="C9D1E0"/>
                </a:solidFill>
                <a:latin typeface="Arial"/>
                <a:ea typeface="Malgun Gothic"/>
                <a:cs typeface="Malgun Gothic"/>
              </a:rPr>
              <a:t>M.3.2 단계와 게이트</a:t>
            </a:r>
          </a:p>
          <a:p>
            <a:pPr>
              <a:spcAft>
                <a:spcPts val="400"/>
              </a:spcAft>
            </a:pPr>
            <a:r>
              <a:rPr sz="1000" b="0" i="0">
                <a:solidFill>
                  <a:srgbClr val="C9D1E0"/>
                </a:solidFill>
                <a:latin typeface="Arial"/>
                <a:ea typeface="Malgun Gothic"/>
                <a:cs typeface="Malgun Gothic"/>
              </a:rPr>
              <a:t>M.3.3 0단계 결과 — 게이트 미달, 그리고 그 이유가 정확히 다음 단계다</a:t>
            </a:r>
          </a:p>
          <a:p>
            <a:pPr>
              <a:spcAft>
                <a:spcPts val="400"/>
              </a:spcAft>
            </a:pPr>
            <a:r>
              <a:rPr sz="1000" b="0" i="0">
                <a:solidFill>
                  <a:srgbClr val="C9D1E0"/>
                </a:solidFill>
                <a:latin typeface="Arial"/>
                <a:ea typeface="Malgun Gothic"/>
                <a:cs typeface="Malgun Gothic"/>
              </a:rPr>
              <a:t>M.3.4 다음 단계의 설계 결정 — 격자를 acados에 어떻게 넣나</a:t>
            </a:r>
          </a:p>
          <a:p>
            <a:pPr>
              <a:spcAft>
                <a:spcPts val="400"/>
              </a:spcAft>
            </a:pPr>
            <a:r>
              <a:rPr sz="1000" b="0" i="0">
                <a:solidFill>
                  <a:srgbClr val="C9D1E0"/>
                </a:solidFill>
                <a:latin typeface="Arial"/>
                <a:ea typeface="Malgun Gothic"/>
                <a:cs typeface="Malgun Gothic"/>
              </a:rPr>
              <a:t>M.3.5 TP-0071 결과 — 6/12에서 9/12로, 남은 셋은 형태가 아니라 솔버 문제다</a:t>
            </a:r>
          </a:p>
          <a:p>
            <a:pPr>
              <a:spcAft>
                <a:spcPts val="400"/>
              </a:spcAft>
            </a:pPr>
            <a:r>
              <a:rPr sz="1000" b="0" i="0">
                <a:solidFill>
                  <a:srgbClr val="C9D1E0"/>
                </a:solidFill>
                <a:latin typeface="Arial"/>
                <a:ea typeface="Malgun Gothic"/>
                <a:cs typeface="Malgun Gothic"/>
              </a:rPr>
              <a:t>M.3.6 GP 잔차 동역학 — 배울 것을 먼저 만들었다</a:t>
            </a:r>
          </a:p>
          <a:p>
            <a:pPr>
              <a:spcAft>
                <a:spcPts val="400"/>
              </a:spcAft>
            </a:pPr>
            <a:r>
              <a:rPr sz="1000" b="0" i="0">
                <a:solidFill>
                  <a:srgbClr val="C9D1E0"/>
                </a:solidFill>
                <a:latin typeface="Arial"/>
                <a:ea typeface="Malgun Gothic"/>
                <a:cs typeface="Malgun Gothic"/>
              </a:rPr>
              <a:t>M.3.7 폐루프는 아직 안 된다 — 여기까지 좁혔다</a:t>
            </a:r>
          </a:p>
          <a:p>
            <a:pPr>
              <a:spcAft>
                <a:spcPts val="400"/>
              </a:spcAft>
            </a:pPr>
            <a:r>
              <a:rPr sz="1000" b="0" i="0">
                <a:solidFill>
                  <a:srgbClr val="C9D1E0"/>
                </a:solidFill>
                <a:latin typeface="Arial"/>
                <a:ea typeface="Malgun Gothic"/>
                <a:cs typeface="Malgun Gothic"/>
              </a:rPr>
              <a:t>M.3.8 GP / 희소 GP — 네 축으로 재 보면 고를 것이 정해진다</a:t>
            </a:r>
          </a:p>
          <a:p>
            <a:pPr>
              <a:spcAft>
                <a:spcPts val="400"/>
              </a:spcAft>
            </a:pPr>
            <a:r>
              <a:rPr sz="1000" b="0" i="0">
                <a:solidFill>
                  <a:srgbClr val="C9D1E0"/>
                </a:solidFill>
                <a:latin typeface="Arial"/>
                <a:ea typeface="Malgun Gothic"/>
                <a:cs typeface="Malgun Gothic"/>
              </a:rPr>
              <a:t>M.3.9 희소화가 폐루프 발산을 고쳤다</a:t>
            </a:r>
          </a:p>
          <a:p>
            <a:pPr>
              <a:spcAft>
                <a:spcPts val="400"/>
              </a:spcAft>
            </a:pPr>
            <a:r>
              <a:rPr sz="1000" b="0" i="0">
                <a:solidFill>
                  <a:srgbClr val="C9D1E0"/>
                </a:solidFill>
                <a:latin typeface="Arial"/>
                <a:ea typeface="Malgun Gothic"/>
                <a:cs typeface="Malgun Gothic"/>
              </a:rPr>
              <a:t>M.3.10 1단계 마무리 — 남은 셋은 솔버가 아니라 제약의 구멍이었다 (TP-0093)</a:t>
            </a:r>
          </a:p>
          <a:p>
            <a:pPr>
              <a:spcAft>
                <a:spcPts val="400"/>
              </a:spcAft>
            </a:pPr>
            <a:r>
              <a:rPr sz="1000" b="0" i="0">
                <a:solidFill>
                  <a:srgbClr val="C9D1E0"/>
                </a:solidFill>
                <a:latin typeface="Arial"/>
                <a:ea typeface="Malgun Gothic"/>
                <a:cs typeface="Malgun Gothic"/>
              </a:rPr>
              <a:t>M.3.11 보행자도 반평면 하나로, 다만 앞 2초에만 건다 (TP-0071 나머지)</a:t>
            </a:r>
          </a:p>
          <a:p>
            <a:pPr>
              <a:spcAft>
                <a:spcPts val="400"/>
              </a:spcAft>
            </a:pPr>
            <a:r>
              <a:rPr sz="1000" b="0" i="0">
                <a:solidFill>
                  <a:srgbClr val="C9D1E0"/>
                </a:solidFill>
                <a:latin typeface="Arial"/>
                <a:ea typeface="Malgun Gothic"/>
                <a:cs typeface="Malgun Gothic"/>
              </a:rPr>
              <a:t>M.3.12 GP 평균의 폐루프를 무너뜨린 원인은 둘이었다 (TP-0068)</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M.3.13 MPPI에도 확률 제약을 세웠다 (TP-0076)</a:t>
            </a:r>
          </a:p>
          <a:p>
            <a:pPr>
              <a:spcAft>
                <a:spcPts val="400"/>
              </a:spcAft>
            </a:pPr>
            <a:r>
              <a:rPr sz="1000" b="0" i="0">
                <a:solidFill>
                  <a:srgbClr val="C9D1E0"/>
                </a:solidFill>
                <a:latin typeface="Arial"/>
                <a:ea typeface="Malgun Gothic"/>
                <a:cs typeface="Malgun Gothic"/>
              </a:rPr>
              <a:t>M.3.14 확률 제약의 0선을 실패 경계에 맞췄다 (TP-0119)</a:t>
            </a:r>
          </a:p>
          <a:p>
            <a:pPr>
              <a:spcAft>
                <a:spcPts val="400"/>
              </a:spcAft>
            </a:pPr>
            <a:r>
              <a:rPr sz="1000" b="0" i="0">
                <a:solidFill>
                  <a:srgbClr val="C9D1E0"/>
                </a:solidFill>
                <a:latin typeface="Arial"/>
                <a:ea typeface="Malgun Gothic"/>
                <a:cs typeface="Malgun Gothic"/>
              </a:rPr>
              <a:t>M.3.15 명목 MPC는 계획한 가속의 절반만 내고 있었다 (TP-0122)</a:t>
            </a:r>
          </a:p>
          <a:p>
            <a:pPr>
              <a:spcAft>
                <a:spcPts val="400"/>
              </a:spcAft>
            </a:pPr>
            <a:r>
              <a:rPr sz="1000" b="0" i="0">
                <a:solidFill>
                  <a:srgbClr val="C9D1E0"/>
                </a:solidFill>
                <a:latin typeface="Arial"/>
                <a:ea typeface="Malgun Gothic"/>
                <a:cs typeface="Malgun Gothic"/>
              </a:rPr>
              <a:t>M.3.16 부드러운 여유 행은 최악 여유를 넓히지만 성공 수는 더하지 않는다 (TP-0117)</a:t>
            </a:r>
          </a:p>
          <a:p>
            <a:pPr>
              <a:spcAft>
                <a:spcPts val="400"/>
              </a:spcAft>
            </a:pPr>
            <a:r>
              <a:rPr sz="1000" b="0" i="0">
                <a:solidFill>
                  <a:srgbClr val="C9D1E0"/>
                </a:solidFill>
                <a:latin typeface="Arial"/>
                <a:ea typeface="Malgun Gothic"/>
                <a:cs typeface="Malgun Gothic"/>
              </a:rPr>
              <a:t>M.3.17 Guidance 경로에 여유를 주면 plant 실패가 줄고 도달은 빨라진다 (TP-0118)</a:t>
            </a:r>
          </a:p>
          <a:p>
            <a:pPr>
              <a:spcAft>
                <a:spcPts val="400"/>
              </a:spcAft>
            </a:pPr>
            <a:r>
              <a:rPr sz="1000" b="0" i="0">
                <a:solidFill>
                  <a:srgbClr val="C9D1E0"/>
                </a:solidFill>
                <a:latin typeface="Arial"/>
                <a:ea typeface="Malgun Gothic"/>
                <a:cs typeface="Malgun Gothic"/>
              </a:rPr>
              <a:t>M.3.18 GP 분산 튜브는 1번 노드에서 맞지만 여유도 성공도 늘리지 않았다 (TP-0069)</a:t>
            </a:r>
          </a:p>
          <a:p>
            <a:pPr>
              <a:spcAft>
                <a:spcPts val="400"/>
              </a:spcAft>
            </a:pPr>
            <a:r>
              <a:rPr sz="1000" b="0" i="0">
                <a:solidFill>
                  <a:srgbClr val="C9D1E0"/>
                </a:solidFill>
                <a:latin typeface="Arial"/>
                <a:ea typeface="Malgun Gothic"/>
                <a:cs typeface="Malgun Gothic"/>
              </a:rPr>
              <a:t>M.3.19 GP 평균을 MPPI rollout에 넣으면 램프의 치명 실패가 사라지고, GP 경로는 두 배 빨라졌다 (TP-0120)</a:t>
            </a:r>
          </a:p>
          <a:p>
            <a:pPr>
              <a:spcAft>
                <a:spcPts val="400"/>
              </a:spcAft>
            </a:pPr>
            <a:r>
              <a:rPr sz="1000" b="0" i="0">
                <a:solidFill>
                  <a:srgbClr val="C9D1E0"/>
                </a:solidFill>
                <a:latin typeface="Arial"/>
                <a:ea typeface="Malgun Gothic"/>
                <a:cs typeface="Malgun Gothic"/>
              </a:rPr>
              <a:t>M.3.20 멈춘 장면에서 MPOT식 최적화기는 같은 예산의 MPPI를 넘지 못했다 — MPOT 변형은 만들지 않는다 (TP-0130)</a:t>
            </a:r>
          </a:p>
          <a:p>
            <a:pPr>
              <a:spcAft>
                <a:spcPts val="400"/>
              </a:spcAft>
            </a:pPr>
            <a:r>
              <a:rPr sz="1000" b="0" i="0">
                <a:solidFill>
                  <a:srgbClr val="C9D1E0"/>
                </a:solidFill>
                <a:latin typeface="Arial"/>
                <a:ea typeface="Malgun Gothic"/>
                <a:cs typeface="Malgun Gothic"/>
              </a:rPr>
              <a:t>M.3.21 접힌 참조에서 진행 항의 끝점 투영을 닿을 수 있는 호로 제한한다 (TP-0131)</a:t>
            </a:r>
          </a:p>
          <a:p>
            <a:pPr>
              <a:spcAft>
                <a:spcPts val="400"/>
              </a:spcAft>
            </a:pPr>
            <a:r>
              <a:rPr sz="1000" b="0" i="0">
                <a:solidFill>
                  <a:srgbClr val="C9D1E0"/>
                </a:solidFill>
                <a:latin typeface="Arial"/>
                <a:ea typeface="Malgun Gothic"/>
                <a:cs typeface="Malgun Gothic"/>
              </a:rPr>
              <a:t>M.3.22 MPPI rollout에 스워브 plant의 지연을 넣는다 — 레벨 3 plant 치명 55 → 4 (TP-0150)</a:t>
            </a:r>
          </a:p>
          <a:p>
            <a:pPr>
              <a:spcAft>
                <a:spcPts val="400"/>
              </a:spcAft>
            </a:pPr>
            <a:r>
              <a:rPr sz="1000" b="0" i="0">
                <a:solidFill>
                  <a:srgbClr val="C9D1E0"/>
                </a:solidFill>
                <a:latin typeface="Arial"/>
                <a:ea typeface="Malgun Gothic"/>
                <a:cs typeface="Malgun Gothic"/>
              </a:rPr>
              <a:t>M.3.23 plant에서 레벨 3 경사로를 지나는 MPPI를 찾지 못했다 — 다섯 시도 뒤 멈추고 plant 모델을 묻는다 (TP-0151)</a:t>
            </a:r>
          </a:p>
          <a:p>
            <a:pPr>
              <a:spcAft>
                <a:spcPts val="400"/>
              </a:spcAft>
            </a:pPr>
            <a:r>
              <a:rPr sz="1000" b="0" i="0">
                <a:solidFill>
                  <a:srgbClr val="C9D1E0"/>
                </a:solidFill>
                <a:latin typeface="Arial"/>
                <a:ea typeface="Malgun Gothic"/>
                <a:cs typeface="Malgun Gothic"/>
              </a:rPr>
              <a:t>M.3.24 plant 조건에서 NMPC 갈래는 지연을 아는 MPPI보다 치명이 여덟 배 많다 (TP-0152)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 진행 기록</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21 / 112</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628650"/>
                <a:gridCol w="584200"/>
                <a:gridCol w="4048125"/>
                <a:gridCol w="5705475"/>
              </a:tblGrid>
              <a:tr h="197088">
                <a:tc>
                  <a:txBody>
                    <a:bodyPr wrap="square"/>
                    <a:lstStyle/>
                    <a:p>
                      <a:r>
                        <a:rPr sz="800" b="1" i="0">
                          <a:solidFill>
                            <a:srgbClr val="F4F1EA"/>
                          </a:solidFill>
                          <a:latin typeface="Arial"/>
                          <a:ea typeface="Malgun Gothic"/>
                          <a:cs typeface="Malgun Gothic"/>
                        </a:rPr>
                        <a:t>날짜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준비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툴체인 실측</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acados v0.3.4가 이 랩탑에 이미 빌드돼 있다</a:t>
                      </a:r>
                      <a:r>
                        <a:rPr sz="800" b="0" i="0">
                          <a:solidFill>
                            <a:srgbClr val="16213A"/>
                          </a:solidFill>
                          <a:latin typeface="Arial"/>
                          <a:ea typeface="Malgun Gothic"/>
                          <a:cs typeface="Malgun Gothic"/>
                        </a:rPr>
                        <a:t>(홈 디렉터리의 </a:t>
                      </a:r>
                      <a:r>
                        <a:rPr sz="800" b="0" i="0">
                          <a:solidFill>
                            <a:srgbClr val="16213A"/>
                          </a:solidFill>
                          <a:latin typeface="Consolas"/>
                          <a:ea typeface="Malgun Gothic"/>
                          <a:cs typeface="Malgun Gothic"/>
                        </a:rPr>
                        <a:t>acados</a:t>
                      </a:r>
                      <a:r>
                        <a:rPr sz="800" b="0" i="0">
                          <a:solidFill>
                            <a:srgbClr val="16213A"/>
                          </a:solidFill>
                          <a:latin typeface="Arial"/>
                          <a:ea typeface="Malgun Gothic"/>
                          <a:cs typeface="Malgun Gothic"/>
                        </a:rPr>
                        <a:t> 소스 빌드, </a:t>
                      </a:r>
                      <a:r>
                        <a:rPr sz="800" b="0" i="0">
                          <a:solidFill>
                            <a:srgbClr val="16213A"/>
                          </a:solidFill>
                          <a:latin typeface="Consolas"/>
                          <a:ea typeface="Malgun Gothic"/>
                          <a:cs typeface="Malgun Gothic"/>
                        </a:rPr>
                        <a:t>libacados.so</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t_renderer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ACADOS_SOURCE_DIR</a:t>
                      </a:r>
                      <a:r>
                        <a:rPr sz="800" b="0" i="0">
                          <a:solidFill>
                            <a:srgbClr val="16213A"/>
                          </a:solidFill>
                          <a:latin typeface="Arial"/>
                          <a:ea typeface="Malgun Gothic"/>
                          <a:cs typeface="Malgun Gothic"/>
                        </a:rPr>
                        <a:t> 설정됨). 빠진 것은 casadi 하나뿐이었다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준비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acados 폐루프 smoke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20스텝 이중적분기 OCP 생성·해결 성공. </a:t>
                      </a:r>
                      <a:r>
                        <a:rPr sz="800" b="0" i="0">
                          <a:solidFill>
                            <a:srgbClr val="16213A"/>
                          </a:solidFill>
                          <a:latin typeface="Consolas"/>
                          <a:ea typeface="Malgun Gothic"/>
                          <a:cs typeface="Malgun Gothic"/>
                        </a:rPr>
                        <a:t>status=0</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0.087 ms/해</a:t>
                      </a:r>
                      <a:r>
                        <a:rPr sz="800" b="0" i="0">
                          <a:solidFill>
                            <a:srgbClr val="16213A"/>
                          </a:solidFill>
                          <a:latin typeface="Arial"/>
                          <a:ea typeface="Malgun Gothic"/>
                          <a:cs typeface="Malgun Gothic"/>
                        </a:rPr>
                        <a:t>(SQP-RTI, HPIPM)</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준비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 비동축 모듈 smoke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조향 힌지 + 0.0555 m 오프셋 바퀴 힌지 + 평면 접촉. 5,000스텝 11 ms = </a:t>
                      </a:r>
                      <a:r>
                        <a:rPr sz="800" b="1" i="0">
                          <a:solidFill>
                            <a:srgbClr val="16213A"/>
                          </a:solidFill>
                          <a:latin typeface="Arial"/>
                          <a:ea typeface="Malgun Gothic"/>
                          <a:cs typeface="Malgun Gothic"/>
                        </a:rPr>
                        <a:t>실시간의 938배</a:t>
                      </a:r>
                      <a:r>
                        <a:rPr sz="800" b="0" i="0">
                          <a:solidFill>
                            <a:srgbClr val="16213A"/>
                          </a:solidFill>
                          <a:latin typeface="Arial"/>
                          <a:ea typeface="Malgun Gothic"/>
                          <a:cs typeface="Malgun Gothic"/>
                        </a:rPr>
                        <a:t>(CPU 1스레드), 접촉 2개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구현</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travplan/control/acados_mpc/</a:t>
                      </a:r>
                      <a:r>
                        <a:rPr sz="800" b="0" i="0">
                          <a:solidFill>
                            <a:srgbClr val="16213A"/>
                          </a:solidFill>
                          <a:latin typeface="Arial"/>
                          <a:ea typeface="Malgun Gothic"/>
                          <a:cs typeface="Malgun Gothic"/>
                        </a:rPr>
                        <a:t>(model·ocp·controller) + 벤치마크에 </a:t>
                      </a:r>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등록 + 테스트 5개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첫 폐루프 주행 성공. 솔버 빌드 포함 7 s</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측정</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guidance+mpc</a:t>
                      </a:r>
                      <a:r>
                        <a:rPr sz="800" b="0" i="0">
                          <a:solidFill>
                            <a:srgbClr val="16213A"/>
                          </a:solidFill>
                          <a:latin typeface="Arial"/>
                          <a:ea typeface="Malgun Gothic"/>
                          <a:cs typeface="Malgun Gothic"/>
                        </a:rPr>
                        <a:t> vs </a:t>
                      </a:r>
                      <a:r>
                        <a:rPr sz="800" b="0" i="0">
                          <a:solidFill>
                            <a:srgbClr val="16213A"/>
                          </a:solidFill>
                          <a:latin typeface="Consolas"/>
                          <a:ea typeface="Malgun Gothic"/>
                          <a:cs typeface="Malgun Gothic"/>
                        </a:rPr>
                        <a:t>guidance+mppi</a:t>
                      </a:r>
                      <a:r>
                        <a:rPr sz="800" b="0" i="0">
                          <a:solidFill>
                            <a:srgbClr val="16213A"/>
                          </a:solidFill>
                          <a:latin typeface="Arial"/>
                          <a:ea typeface="Malgun Gothic"/>
                          <a:cs typeface="Malgun Gothic"/>
                        </a:rPr>
                        <a:t>, 4 시나리오 × 3 seed</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6/12 대 12/12 — 게이트 미달.</a:t>
                      </a:r>
                      <a:r>
                        <a:rPr sz="800" b="0" i="0">
                          <a:solidFill>
                            <a:srgbClr val="16213A"/>
                          </a:solidFill>
                          <a:latin typeface="Arial"/>
                          <a:ea typeface="Malgun Gothic"/>
                          <a:cs typeface="Malgun Gothic"/>
                        </a:rPr>
                        <a:t> 실패는 전부 </a:t>
                      </a:r>
                      <a:r>
                        <a:rPr sz="800" b="0" i="0">
                          <a:solidFill>
                            <a:srgbClr val="16213A"/>
                          </a:solidFill>
                          <a:latin typeface="Consolas"/>
                          <a:ea typeface="Malgun Gothic"/>
                          <a:cs typeface="Malgun Gothic"/>
                        </a:rPr>
                        <a:t>lethal</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구현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 셀을 노드별 접평면 제약으로(</a:t>
                      </a:r>
                      <a:r>
                        <a:rPr sz="800" b="0" i="0">
                          <a:solidFill>
                            <a:srgbClr val="16213A"/>
                          </a:solidFill>
                          <a:latin typeface="Consolas"/>
                          <a:ea typeface="Malgun Gothic"/>
                          <a:cs typeface="Malgun Gothic"/>
                        </a:rPr>
                        <a:t>obstacles.py</a:t>
                      </a:r>
                      <a:r>
                        <a:rPr sz="800" b="0" i="0">
                          <a:solidFill>
                            <a:srgbClr val="16213A"/>
                          </a:solidFill>
                          <a:latin typeface="Arial"/>
                          <a:ea typeface="Malgun Gothic"/>
                          <a:cs typeface="Malgun Gothic"/>
                        </a:rPr>
                        <a:t>) — EDT로 최근접 치명 셀을 찾아 반평면을 파라미터로 넘김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격자 EDT 2.5 ms, 41노드 조회 0.27 ms</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조율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느슨한 벌점 / RTI 반복 / 하드 제약 4가지 비교(seed 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soft 1e6 + RTI 3회만 4/4.</a:t>
                      </a:r>
                      <a:r>
                        <a:rPr sz="800" b="0" i="0">
                          <a:solidFill>
                            <a:srgbClr val="16213A"/>
                          </a:solidFill>
                          <a:latin typeface="Arial"/>
                          <a:ea typeface="Malgun Gothic"/>
                          <a:cs typeface="Malgun Gothic"/>
                        </a:rPr>
                        <a:t> 하드는 QP가 터져 2/4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측정</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guidance+mpc</a:t>
                      </a:r>
                      <a:r>
                        <a:rPr sz="800" b="0" i="0">
                          <a:solidFill>
                            <a:srgbClr val="16213A"/>
                          </a:solidFill>
                          <a:latin typeface="Arial"/>
                          <a:ea typeface="Malgun Gothic"/>
                          <a:cs typeface="Malgun Gothic"/>
                        </a:rPr>
                        <a:t> 4 시나리오 × 3 seed</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9/12</a:t>
                      </a:r>
                      <a:r>
                        <a:rPr sz="800" b="0" i="0">
                          <a:solidFill>
                            <a:srgbClr val="16213A"/>
                          </a:solidFill>
                          <a:latin typeface="Arial"/>
                          <a:ea typeface="Malgun Gothic"/>
                          <a:cs typeface="Malgun Gothic"/>
                        </a:rPr>
                        <a:t> (0단계 6/12). 제어 8.6 → 13.5 ms</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plant</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travplan/robot/plant.py</a:t>
                      </a:r>
                      <a:r>
                        <a:rPr sz="800" b="0" i="0">
                          <a:solidFill>
                            <a:srgbClr val="16213A"/>
                          </a:solidFill>
                          <a:latin typeface="Arial"/>
                          <a:ea typeface="Malgun Gothic"/>
                          <a:cs typeface="Malgun Gothic"/>
                        </a:rPr>
                        <a:t> — 모듈 모델 + 액추에이터 지연 + 지형 슬립. </a:t>
                      </a:r>
                      <a:r>
                        <a:rPr sz="800" b="0" i="0">
                          <a:solidFill>
                            <a:srgbClr val="16213A"/>
                          </a:solidFill>
                          <a:latin typeface="Consolas"/>
                          <a:ea typeface="Malgun Gothic"/>
                          <a:cs typeface="Malgun Gothic"/>
                        </a:rPr>
                        <a:t>SimConfig(plant=...)</a:t>
                      </a:r>
                      <a:r>
                        <a:rPr sz="800" b="0" i="0">
                          <a:solidFill>
                            <a:srgbClr val="16213A"/>
                          </a:solidFill>
                          <a:latin typeface="Arial"/>
                          <a:ea typeface="Malgun Gothic"/>
                          <a:cs typeface="Malgun Gothic"/>
                        </a:rPr>
                        <a:t>, 기본 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이상 설정에서 명령을 1e-9로 재현. 기존 테스트 134개 그대로 통과</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 잔차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plant를 켜고 guidance+mppi로 2,000 샘플 수집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잔차 |d| 평균 (0.048, 0.021, 0.052). 선형 R² 0.71/0.95/0.89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GP</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gp.py</a:t>
                      </a:r>
                      <a:r>
                        <a:rPr sz="800" b="0" i="0">
                          <a:solidFill>
                            <a:srgbClr val="16213A"/>
                          </a:solidFill>
                          <a:latin typeface="Arial"/>
                          <a:ea typeface="Malgun Gothic"/>
                          <a:cs typeface="Malgun Gothic"/>
                        </a:rPr>
                        <a:t> — ARD-RBF 정확 GP 3채널, 고정 크기 딕셔너리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명목 대비 RMSE 66–78% 감소. 처음엔 95% 적중이 0.35였다(아래)</a:t>
                      </a:r>
                    </a:p>
                  </a:txBody>
                  <a:tcPr marL="63500" marR="63500" marT="12700" marB="12700">
                    <a:solidFill>
                      <a:srgbClr val="FFFD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 진행 기록</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22 / 112</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628650"/>
                <a:gridCol w="584200"/>
                <a:gridCol w="4048125"/>
                <a:gridCol w="5705475"/>
              </a:tblGrid>
              <a:tr h="197088">
                <a:tc>
                  <a:txBody>
                    <a:bodyPr wrap="square"/>
                    <a:lstStyle/>
                    <a:p>
                      <a:r>
                        <a:rPr sz="800" b="1" i="0">
                          <a:solidFill>
                            <a:srgbClr val="F4F1EA"/>
                          </a:solidFill>
                          <a:latin typeface="Arial"/>
                          <a:ea typeface="Malgun Gothic"/>
                          <a:cs typeface="Malgun Gothic"/>
                        </a:rPr>
                        <a:t>날짜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평균을 노드별 acados 파라미터로 주입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파라미터라서 </a:t>
                      </a:r>
                      <a:r>
                        <a:rPr sz="800" b="1" i="0">
                          <a:solidFill>
                            <a:srgbClr val="16213A"/>
                          </a:solidFill>
                          <a:latin typeface="Arial"/>
                          <a:ea typeface="Malgun Gothic"/>
                          <a:cs typeface="Malgun Gothic"/>
                        </a:rPr>
                        <a:t>0차 근사가 공짜로 성립</a:t>
                      </a:r>
                      <a:r>
                        <a:rPr sz="800" b="0" i="0">
                          <a:solidFill>
                            <a:srgbClr val="16213A"/>
                          </a:solidFill>
                          <a:latin typeface="Arial"/>
                          <a:ea typeface="Malgun Gothic"/>
                          <a:cs typeface="Malgun Gothic"/>
                        </a:rPr>
                        <a:t>한다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 희소화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SGPR(Titsias VFE)과 RFF(sparse spectrum)를 구현해 같은 데이터로 비교</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SGPR 유도점 64가 권장.</a:t>
                      </a:r>
                      <a:r>
                        <a:rPr sz="800" b="0" i="0">
                          <a:solidFill>
                            <a:srgbClr val="16213A"/>
                          </a:solidFill>
                          <a:latin typeface="Arial"/>
                          <a:ea typeface="Malgun Gothic"/>
                          <a:cs typeface="Malgun Gothic"/>
                        </a:rPr>
                        <a:t> 예측 0.30 ms, 보수적 보정, 분포 밖 유계</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진단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1단계 실패 세 에피소드를 스텝마다 계측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셋 다 제약의 구멍(덩어리 안 노드, 칸 중심 여유, 지도 경계). M.3.10</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CBF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이산 CBF 감쇠를 반평면 하한에(γ = 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칸 조회를 고치기 전 기준 seed 0–9 40/40</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2026-09-30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보행자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노드별 보행자 반평면, 자라는 원판은 앞 2 s에만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3명 23/24, 충돌 0. M.3.11</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리뷰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칸 조회를 반올림으로(반 칸 어긋나 있었다)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정확한 기하로 38/40. 여유 하나로는 모서리와 틈을 함께 못 맞춘다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명령 출력 수정 + 가진 데이터로 SGPR 재적합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plant seed 0–11: </a:t>
                      </a:r>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37/48, </a:t>
                      </a:r>
                      <a:r>
                        <a:rPr sz="800" b="0" i="0">
                          <a:solidFill>
                            <a:srgbClr val="16213A"/>
                          </a:solidFill>
                          <a:latin typeface="Consolas"/>
                          <a:ea typeface="Malgun Gothic"/>
                          <a:cs typeface="Malgun Gothic"/>
                        </a:rPr>
                        <a:t>mpc_gp</a:t>
                      </a:r>
                      <a:r>
                        <a:rPr sz="800" b="0" i="0">
                          <a:solidFill>
                            <a:srgbClr val="16213A"/>
                          </a:solidFill>
                          <a:latin typeface="Arial"/>
                          <a:ea typeface="Malgun Gothic"/>
                          <a:cs typeface="Malgun Gothic"/>
                        </a:rPr>
                        <a:t> 44/48. M.3.12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확률 제약 </a:t>
                      </a:r>
                      <a:r>
                        <a:rPr sz="800" b="0" i="0">
                          <a:solidFill>
                            <a:srgbClr val="16213A"/>
                          </a:solidFill>
                          <a:latin typeface="Consolas"/>
                          <a:ea typeface="Malgun Gothic"/>
                          <a:cs typeface="Malgun Gothic"/>
                        </a:rPr>
                        <a:t>ChanceConstraintCost</a:t>
                      </a:r>
                      <a:r>
                        <a:rPr sz="800" b="0" i="0">
                          <a:solidFill>
                            <a:srgbClr val="16213A"/>
                          </a:solidFill>
                          <a:latin typeface="Arial"/>
                          <a:ea typeface="Malgun Gothic"/>
                          <a:cs typeface="Malgun Gothic"/>
                        </a:rPr>
                        <a:t>(TP-0076)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정적 40/40, 보행자 24/24, plant 42/48(기준 44/48). M.3.13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제약의 0선을 실패 경계에(TP-0119): </a:t>
                      </a:r>
                      <a:r>
                        <a:rPr sz="800" b="0" i="0">
                          <a:solidFill>
                            <a:srgbClr val="16213A"/>
                          </a:solidFill>
                          <a:latin typeface="Consolas"/>
                          <a:ea typeface="Malgun Gothic"/>
                          <a:cs typeface="Malgun Gothic"/>
                        </a:rPr>
                        <a:t>control/failure_sdf.py</a:t>
                      </a:r>
                      <a:r>
                        <a:rPr sz="800" b="0" i="0">
                          <a:solidFill>
                            <a:srgbClr val="16213A"/>
                          </a:solidFill>
                          <a:latin typeface="Arial"/>
                          <a:ea typeface="Malgun Gothic"/>
                          <a:cs typeface="Malgun Gothic"/>
                        </a:rPr>
                        <a:t>, 기본값 </a:t>
                      </a:r>
                      <a:r>
                        <a:rPr sz="800" b="0" i="0">
                          <a:solidFill>
                            <a:srgbClr val="16213A"/>
                          </a:solidFill>
                          <a:latin typeface="Consolas"/>
                          <a:ea typeface="Malgun Gothic"/>
                          <a:cs typeface="Malgun Gothic"/>
                        </a:rPr>
                        <a:t>boundary="exact"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0선 오차(지도별 99% 분위 최대) 4.97 → 0.78 cm, 덮어쓰기 전 필드가 실패점을 안전으로 읽음 12,830 → 245. plant 96 에피소드 </a:t>
                      </a:r>
                      <a:r>
                        <a:rPr sz="800" b="0" i="0">
                          <a:solidFill>
                            <a:srgbClr val="16213A"/>
                          </a:solidFill>
                          <a:latin typeface="Consolas"/>
                          <a:ea typeface="Malgun Gothic"/>
                          <a:cs typeface="Malgun Gothic"/>
                        </a:rPr>
                        <a:t>mppi_ccgp</a:t>
                      </a:r>
                      <a:r>
                        <a:rPr sz="800" b="0" i="0">
                          <a:solidFill>
                            <a:srgbClr val="16213A"/>
                          </a:solidFill>
                          <a:latin typeface="Arial"/>
                          <a:ea typeface="Malgun Gothic"/>
                          <a:cs typeface="Malgun Gothic"/>
                        </a:rPr>
                        <a:t> 85 → 89(유의하지 않음, p ≈ 0.29). M.3.14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명목 MPC 명령을 구간 평균에서 다음 노드 twist로(TP-0122), 기본값 </a:t>
                      </a:r>
                      <a:r>
                        <a:rPr sz="800" b="0" i="0">
                          <a:solidFill>
                            <a:srgbClr val="16213A"/>
                          </a:solidFill>
                          <a:latin typeface="Consolas"/>
                          <a:ea typeface="Malgun Gothic"/>
                          <a:cs typeface="Malgun Gothic"/>
                        </a:rPr>
                        <a:t>command="next"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정적 모든 여유에서 40/40(이전 31–39), 보행자 24/24, plant 44/48(37/48), 보류 seed 40/40. jerk 3.1 → 6.7. M.3.15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여유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부드러운 여유 행(TP-0117), 선택 스택 </a:t>
                      </a:r>
                      <a:r>
                        <a:rPr sz="800" b="0" i="0">
                          <a:solidFill>
                            <a:srgbClr val="16213A"/>
                          </a:solidFill>
                          <a:latin typeface="Consolas"/>
                          <a:ea typeface="Malgun Gothic"/>
                          <a:cs typeface="Malgun Gothic"/>
                        </a:rPr>
                        <a:t>mpc_sc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hard 여유에서 최소 GT 여유의 5% 분위 10.2 → 12.2 cm, 성공 수 이득 없음(정적 39/40, 보류 seed 39/40, plant 41/48). 기본값으로 켜지 않음. M.3.16</a:t>
                      </a:r>
                    </a:p>
                  </a:txBody>
                  <a:tcPr marL="63500" marR="63500" marT="12700" marB="12700">
                    <a:solidFill>
                      <a:srgbClr val="FFFD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 진행 기록</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23 / 112</a:t>
            </a:r>
          </a:p>
        </p:txBody>
      </p:sp>
      <p:graphicFrame>
        <p:nvGraphicFramePr>
          <p:cNvPr id="5" name="Table 4"/>
          <p:cNvGraphicFramePr>
            <a:graphicFrameLocks noGrp="1"/>
          </p:cNvGraphicFramePr>
          <p:nvPr/>
        </p:nvGraphicFramePr>
        <p:xfrm>
          <a:off x="609600" y="1244600"/>
          <a:ext cx="10966450" cy="1786968"/>
        </p:xfrm>
        <a:graphic>
          <a:graphicData uri="http://schemas.openxmlformats.org/drawingml/2006/table">
            <a:tbl>
              <a:tblPr firstRow="1" bandRow="1">
                <a:tableStyleId>{5C22544A-7EE6-4342-B048-85BDC9FD1C3A}</a:tableStyleId>
              </a:tblPr>
              <a:tblGrid>
                <a:gridCol w="628650"/>
                <a:gridCol w="584200"/>
                <a:gridCol w="4048125"/>
                <a:gridCol w="5705475"/>
              </a:tblGrid>
              <a:tr h="197088">
                <a:tc>
                  <a:txBody>
                    <a:bodyPr wrap="square"/>
                    <a:lstStyle/>
                    <a:p>
                      <a:r>
                        <a:rPr sz="800" b="1" i="0">
                          <a:solidFill>
                            <a:srgbClr val="F4F1EA"/>
                          </a:solidFill>
                          <a:latin typeface="Arial"/>
                          <a:ea typeface="Malgun Gothic"/>
                          <a:cs typeface="Malgun Gothic"/>
                        </a:rPr>
                        <a:t>날짜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 분산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분산 튜브로 지형·보행자 행을 0차로 조이기(TP-0069), 선택 스택 </a:t>
                      </a:r>
                      <a:r>
                        <a:rPr sz="800" b="0" i="0">
                          <a:solidFill>
                            <a:srgbClr val="16213A"/>
                          </a:solidFill>
                          <a:latin typeface="Consolas"/>
                          <a:ea typeface="Malgun Gothic"/>
                          <a:cs typeface="Malgun Gothic"/>
                        </a:rPr>
                        <a:t>mpc_gpcc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1번 노드 coverage 97.4%, 그러나 같은 여유끼리 실행 여유 차이 0.00 cm. 설계안 plant 42/48(기준 44/48), 재시도 둘(여유 0.125: plant 46/48·보행자 22/24, 작은 튜브: 40/48)도 미달. 기본값 꺼짐. M.3.18</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GP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 경로 고속화(A1, 기본)와 GP 평균 rollout(M1, 선택 스택 </a:t>
                      </a:r>
                      <a:r>
                        <a:rPr sz="800" b="0" i="0">
                          <a:solidFill>
                            <a:srgbClr val="16213A"/>
                          </a:solidFill>
                          <a:latin typeface="Consolas"/>
                          <a:ea typeface="Malgun Gothic"/>
                          <a:cs typeface="Malgun Gothic"/>
                        </a:rPr>
                        <a:t>mppi_ccgpm</a:t>
                      </a:r>
                      <a:r>
                        <a:rPr sz="800" b="0" i="0">
                          <a:solidFill>
                            <a:srgbClr val="16213A"/>
                          </a:solidFill>
                          <a:latin typeface="Arial"/>
                          <a:ea typeface="Malgun Gothic"/>
                          <a:cs typeface="Malgun Gothic"/>
                        </a:rPr>
                        <a:t>)(TP-0120)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 42.9 → 22.2 ms, 결과 동등(24 seed 87 대 89/96, p ≈ 0.38). M1: plant curb_ramp 치명 실패 0(12/12), 대신 timeout 셋 늘어 43/48. M.3.19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2026-10-01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Guidance 칸 가중치에 치명 거리 힌지(TP-0118), 선택 스택 </a:t>
                      </a:r>
                      <a:r>
                        <a:rPr sz="800" b="0" i="0">
                          <a:solidFill>
                            <a:srgbClr val="16213A"/>
                          </a:solidFill>
                          <a:latin typeface="Consolas"/>
                          <a:ea typeface="Malgun Gothic"/>
                          <a:cs typeface="Malgun Gothic"/>
                        </a:rPr>
                        <a:t>guidance_c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정적 159 → 160/160, 보류 seed 160/160, 보행자 72/72, plant 221 → 228/240(다섯 컨트롤러 합). 도달 시간 −1.3 ~ −4.3%. 확률 제약 MPPI의 plant curb_ramp는 2 → 7 실패(TP-0127). M.3.17</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2026-10-04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환경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L1을 돌리는 GPU PC에도 acados v0.3.4 소스 빌드(사용자 결정 C, TP-0152)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qpOASES 포함. </a:t>
                      </a:r>
                      <a:r>
                        <a:rPr sz="800" b="0" i="0">
                          <a:solidFill>
                            <a:srgbClr val="16213A"/>
                          </a:solidFill>
                          <a:latin typeface="Consolas"/>
                          <a:ea typeface="Malgun Gothic"/>
                          <a:cs typeface="Malgun Gothic"/>
                        </a:rPr>
                        <a:t>.venv</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.venv-emap</a:t>
                      </a:r>
                      <a:r>
                        <a:rPr sz="800" b="0" i="0">
                          <a:solidFill>
                            <a:srgbClr val="16213A"/>
                          </a:solidFill>
                          <a:latin typeface="Arial"/>
                          <a:ea typeface="Malgun Gothic"/>
                          <a:cs typeface="Malgun Gothic"/>
                        </a:rPr>
                        <a:t> 둘 다 </a:t>
                      </a:r>
                      <a:r>
                        <a:rPr sz="800" b="0" i="0">
                          <a:solidFill>
                            <a:srgbClr val="16213A"/>
                          </a:solidFill>
                          <a:latin typeface="Consolas"/>
                          <a:ea typeface="Malgun Gothic"/>
                          <a:cs typeface="Malgun Gothic"/>
                        </a:rPr>
                        <a:t>acados_template</a:t>
                      </a:r>
                      <a:r>
                        <a:rPr sz="800" b="0" i="0">
                          <a:solidFill>
                            <a:srgbClr val="16213A"/>
                          </a:solidFill>
                          <a:latin typeface="Arial"/>
                          <a:ea typeface="Malgun Gothic"/>
                          <a:cs typeface="Malgun Gothic"/>
                        </a:rPr>
                        <a:t> + casadi 3.6.7. MPC 테스트 127개 통과, 정적 </a:t>
                      </a:r>
                      <a:r>
                        <a:rPr sz="800" b="0" i="0">
                          <a:solidFill>
                            <a:srgbClr val="16213A"/>
                          </a:solidFill>
                          <a:latin typeface="Consolas"/>
                          <a:ea typeface="Malgun Gothic"/>
                          <a:cs typeface="Malgun Gothic"/>
                        </a:rPr>
                        <a:t>guidance+mpc</a:t>
                      </a:r>
                      <a:r>
                        <a:rPr sz="800" b="0" i="0">
                          <a:solidFill>
                            <a:srgbClr val="16213A"/>
                          </a:solidFill>
                          <a:latin typeface="Arial"/>
                          <a:ea typeface="Malgun Gothic"/>
                          <a:cs typeface="Malgun Gothic"/>
                        </a:rPr>
                        <a:t> 40/40(제어 9.0 ms). M.3.1</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2026-10-04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plant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권장 L1 + plant에서 NMPC 갈래 대 MPPI 갈래(TP-0152), 지연 역변환 </a:t>
                      </a:r>
                      <a:r>
                        <a:rPr sz="800" b="0" i="0">
                          <a:solidFill>
                            <a:srgbClr val="16213A"/>
                          </a:solidFill>
                          <a:latin typeface="Consolas"/>
                          <a:ea typeface="Malgun Gothic"/>
                          <a:cs typeface="Malgun Gothic"/>
                        </a:rPr>
                        <a:t>mpc_lag</a:t>
                      </a:r>
                      <a:r>
                        <a:rPr sz="800" b="0" i="0">
                          <a:solidFill>
                            <a:srgbClr val="16213A"/>
                          </a:solidFill>
                          <a:latin typeface="Arial"/>
                          <a:ea typeface="Malgun Gothic"/>
                          <a:cs typeface="Malgun Gothic"/>
                        </a:rPr>
                        <a:t>(선택)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레벨 3: </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239(치명 4), </a:t>
                      </a:r>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222(34), </a:t>
                      </a:r>
                      <a:r>
                        <a:rPr sz="800" b="0" i="0">
                          <a:solidFill>
                            <a:srgbClr val="16213A"/>
                          </a:solidFill>
                          <a:latin typeface="Consolas"/>
                          <a:ea typeface="Malgun Gothic"/>
                          <a:cs typeface="Malgun Gothic"/>
                        </a:rPr>
                        <a:t>mpc_gp</a:t>
                      </a:r>
                      <a:r>
                        <a:rPr sz="800" b="0" i="0">
                          <a:solidFill>
                            <a:srgbClr val="16213A"/>
                          </a:solidFill>
                          <a:latin typeface="Arial"/>
                          <a:ea typeface="Malgun Gothic"/>
                          <a:cs typeface="Malgun Gothic"/>
                        </a:rPr>
                        <a:t> 215(32), </a:t>
                      </a:r>
                      <a:r>
                        <a:rPr sz="800" b="0" i="0">
                          <a:solidFill>
                            <a:srgbClr val="16213A"/>
                          </a:solidFill>
                          <a:latin typeface="Consolas"/>
                          <a:ea typeface="Malgun Gothic"/>
                          <a:cs typeface="Malgun Gothic"/>
                        </a:rPr>
                        <a:t>mppi</a:t>
                      </a:r>
                      <a:r>
                        <a:rPr sz="800" b="0" i="0">
                          <a:solidFill>
                            <a:srgbClr val="16213A"/>
                          </a:solidFill>
                          <a:latin typeface="Arial"/>
                          <a:ea typeface="Malgun Gothic"/>
                          <a:cs typeface="Malgun Gothic"/>
                        </a:rPr>
                        <a:t> 221(55). </a:t>
                      </a:r>
                      <a:r>
                        <a:rPr sz="800" b="0" i="0">
                          <a:solidFill>
                            <a:srgbClr val="16213A"/>
                          </a:solidFill>
                          <a:latin typeface="Consolas"/>
                          <a:ea typeface="Malgun Gothic"/>
                          <a:cs typeface="Malgun Gothic"/>
                        </a:rPr>
                        <a:t>mpc_lag</a:t>
                      </a:r>
                      <a:r>
                        <a:rPr sz="800" b="0" i="0">
                          <a:solidFill>
                            <a:srgbClr val="16213A"/>
                          </a:solidFill>
                          <a:latin typeface="Arial"/>
                          <a:ea typeface="Malgun Gothic"/>
                          <a:cs typeface="Malgun Gothic"/>
                        </a:rPr>
                        <a:t>는 bumps 짝 29에서 치명 1 → 6. M.3.24</a:t>
                      </a:r>
                    </a:p>
                  </a:txBody>
                  <a:tcPr marL="63500" marR="63500" marT="12700" marB="12700">
                    <a:solidFill>
                      <a:srgbClr val="FFFD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 환경 메모 — 다시 밟지 않도록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24 / 112</a:t>
            </a:r>
          </a:p>
        </p:txBody>
      </p:sp>
      <p:sp>
        <p:nvSpPr>
          <p:cNvPr id="5" name="TextBox 4"/>
          <p:cNvSpPr txBox="1"/>
          <p:nvPr/>
        </p:nvSpPr>
        <p:spPr>
          <a:xfrm>
            <a:off x="609600" y="1244600"/>
            <a:ext cx="10972800" cy="492740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환경 변수 두 개가 필요하다.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ACADOS_SOURCE_DIR=$HOME/acados</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LD_LIBRARY_PATH=</a:t>
            </a:r>
            <a:r>
              <a:rPr sz="1050" b="0" i="1">
                <a:solidFill>
                  <a:srgbClr val="16213A"/>
                </a:solidFill>
                <a:latin typeface="Consolas"/>
                <a:ea typeface="Malgun Gothic"/>
                <a:cs typeface="Malgun Gothic"/>
              </a:rPr>
              <a:t>HOME/acados/lib:</a:t>
            </a:r>
            <a:r>
              <a:rPr sz="1050" b="0" i="0">
                <a:solidFill>
                  <a:srgbClr val="16213A"/>
                </a:solidFill>
                <a:latin typeface="Consolas"/>
                <a:ea typeface="Malgun Gothic"/>
                <a:cs typeface="Malgun Gothic"/>
              </a:rPr>
              <a:t>LD_LIBRARY_PATH</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casadi는 3.6.5로 고정한다.</a:t>
            </a:r>
            <a:r>
              <a:rPr sz="1050" b="0" i="0">
                <a:solidFill>
                  <a:srgbClr val="16213A"/>
                </a:solidFill>
                <a:latin typeface="Arial"/>
                <a:ea typeface="Malgun Gothic"/>
                <a:cs typeface="Malgun Gothic"/>
              </a:rPr>
              <a:t> acados v0.3.4가 공식 지원하는 상한이다. 3.8.1도 단순 모델은 돌지만 생성 코드 호환 경고를 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acados v0.3.4는 </a:t>
            </a:r>
            <a:r>
              <a:rPr sz="1050" b="1" i="0">
                <a:solidFill>
                  <a:srgbClr val="16213A"/>
                </a:solidFill>
                <a:latin typeface="Consolas"/>
                <a:ea typeface="Malgun Gothic"/>
                <a:cs typeface="Malgun Gothic"/>
              </a:rPr>
              <a:t>ocp.dims.N</a:t>
            </a:r>
            <a:r>
              <a:rPr sz="1050" b="1" i="0">
                <a:solidFill>
                  <a:srgbClr val="16213A"/>
                </a:solidFill>
                <a:latin typeface="Arial"/>
                <a:ea typeface="Malgun Gothic"/>
                <a:cs typeface="Malgun Gothic"/>
              </a:rPr>
              <a:t>이다.</a:t>
            </a:r>
            <a:r>
              <a:rPr sz="1050" b="0" i="0">
                <a:solidFill>
                  <a:srgbClr val="16213A"/>
                </a:solidFill>
                <a:latin typeface="Arial"/>
                <a:ea typeface="Malgun Gothic"/>
                <a:cs typeface="Malgun Gothic"/>
              </a:rPr>
              <a:t> 최신 문서의 </a:t>
            </a:r>
            <a:r>
              <a:rPr sz="1050" b="0" i="0">
                <a:solidFill>
                  <a:srgbClr val="16213A"/>
                </a:solidFill>
                <a:latin typeface="Consolas"/>
                <a:ea typeface="Malgun Gothic"/>
                <a:cs typeface="Malgun Gothic"/>
              </a:rPr>
              <a:t>solver_options.N_horizon</a:t>
            </a:r>
            <a:r>
              <a:rPr sz="1050" b="0" i="0">
                <a:solidFill>
                  <a:srgbClr val="16213A"/>
                </a:solidFill>
                <a:latin typeface="Arial"/>
                <a:ea typeface="Malgun Gothic"/>
                <a:cs typeface="Malgun Gothic"/>
              </a:rPr>
              <a:t>을 쓰면 </a:t>
            </a:r>
            <a:r>
              <a:rPr sz="1050" b="0" i="0">
                <a:solidFill>
                  <a:srgbClr val="16213A"/>
                </a:solidFill>
                <a:latin typeface="Consolas"/>
                <a:ea typeface="Malgun Gothic"/>
                <a:cs typeface="Malgun Gothic"/>
              </a:rPr>
              <a:t>tf / None</a:t>
            </a:r>
            <a:r>
              <a:rPr sz="1050" b="0" i="0">
                <a:solidFill>
                  <a:srgbClr val="16213A"/>
                </a:solidFill>
                <a:latin typeface="Arial"/>
                <a:ea typeface="Malgun Gothic"/>
                <a:cs typeface="Malgun Gothic"/>
              </a:rPr>
              <a:t> 오류가 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MuJoCo는 움직이는 body에 질량을 요구한다.</a:t>
            </a:r>
            <a:r>
              <a:rPr sz="1050" b="0" i="0">
                <a:solidFill>
                  <a:srgbClr val="16213A"/>
                </a:solidFill>
                <a:latin typeface="Arial"/>
                <a:ea typeface="Malgun Gothic"/>
                <a:cs typeface="Malgun Gothic"/>
              </a:rPr>
              <a:t> 조향 링크처럼 geom이 없는 중간 body에는 </a:t>
            </a:r>
            <a:r>
              <a:rPr sz="1050" b="0" i="0">
                <a:solidFill>
                  <a:srgbClr val="16213A"/>
                </a:solidFill>
                <a:latin typeface="Consolas"/>
                <a:ea typeface="Malgun Gothic"/>
                <a:cs typeface="Malgun Gothic"/>
              </a:rPr>
              <a:t>&lt;inertial&gt;</a:t>
            </a:r>
            <a:r>
              <a:rPr sz="1050" b="0" i="0">
                <a:solidFill>
                  <a:srgbClr val="16213A"/>
                </a:solidFill>
                <a:latin typeface="Arial"/>
                <a:ea typeface="Malgun Gothic"/>
                <a:cs typeface="Malgun Gothic"/>
              </a:rPr>
              <a:t>을 명시해야 </a:t>
            </a:r>
            <a:r>
              <a:rPr sz="1050" b="0" i="0">
                <a:solidFill>
                  <a:srgbClr val="16213A"/>
                </a:solidFill>
                <a:latin typeface="Consolas"/>
                <a:ea typeface="Malgun Gothic"/>
                <a:cs typeface="Malgun Gothic"/>
              </a:rPr>
              <a:t>mass and inertia of moving bodies must be larger than mjMINVAL</a:t>
            </a:r>
            <a:r>
              <a:rPr sz="1050" b="0" i="0">
                <a:solidFill>
                  <a:srgbClr val="16213A"/>
                </a:solidFill>
                <a:latin typeface="Arial"/>
                <a:ea typeface="Malgun Gothic"/>
                <a:cs typeface="Malgun Gothic"/>
              </a:rPr>
              <a:t>을 피한다.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casadi는 </a:t>
            </a:r>
            <a:r>
              <a:rPr sz="1050" b="0" i="0">
                <a:solidFill>
                  <a:srgbClr val="16213A"/>
                </a:solidFill>
                <a:latin typeface="Consolas"/>
                <a:ea typeface="Malgun Gothic"/>
                <a:cs typeface="Malgun Gothic"/>
              </a:rPr>
              <a:t>pip install -e ".[mpc]"</a:t>
            </a:r>
            <a:r>
              <a:rPr sz="1050" b="0" i="0">
                <a:solidFill>
                  <a:srgbClr val="16213A"/>
                </a:solidFill>
                <a:latin typeface="Arial"/>
                <a:ea typeface="Malgun Gothic"/>
                <a:cs typeface="Malgun Gothic"/>
              </a:rPr>
              <a:t>로 깐다(3.6.x로 고정돼 있다). acados 자체는 소스 빌드다.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병렬로 돌릴 때는 </a:t>
            </a:r>
            <a:r>
              <a:rPr sz="1050" b="1" i="0">
                <a:solidFill>
                  <a:srgbClr val="16213A"/>
                </a:solidFill>
                <a:latin typeface="Consolas"/>
                <a:ea typeface="Malgun Gothic"/>
                <a:cs typeface="Malgun Gothic"/>
              </a:rPr>
              <a:t>TRAVPLAN_ACADOS_BUILD</a:t>
            </a:r>
            <a:r>
              <a:rPr sz="1050" b="1" i="0">
                <a:solidFill>
                  <a:srgbClr val="16213A"/>
                </a:solidFill>
                <a:latin typeface="Arial"/>
                <a:ea typeface="Malgun Gothic"/>
                <a:cs typeface="Malgun Gothic"/>
              </a:rPr>
              <a:t>로 프로세스마다 생성 폴더를 나눈다.</a:t>
            </a:r>
            <a:r>
              <a:rPr sz="1050" b="0" i="0">
                <a:solidFill>
                  <a:srgbClr val="16213A"/>
                </a:solidFill>
                <a:latin typeface="Arial"/>
                <a:ea typeface="Malgun Gothic"/>
                <a:cs typeface="Malgun Gothic"/>
              </a:rPr>
              <a:t> 같은 폴더에 동시에 코드를 생성하면 빌드가 엉킨다.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GPU PC 설치 기록(2026-10-04).</a:t>
            </a:r>
            <a:r>
              <a:rPr sz="1050" b="0" i="0">
                <a:solidFill>
                  <a:srgbClr val="16213A"/>
                </a:solidFill>
                <a:latin typeface="Arial"/>
                <a:ea typeface="Malgun Gothic"/>
                <a:cs typeface="Malgun Gothic"/>
              </a:rPr>
              <a:t> 사용자 결정 C로 L1(</a:t>
            </a:r>
            <a:r>
              <a:rPr sz="1050" b="0" i="0">
                <a:solidFill>
                  <a:srgbClr val="16213A"/>
                </a:solidFill>
                <a:latin typeface="Consolas"/>
                <a:ea typeface="Malgun Gothic"/>
                <a:cs typeface="Malgun Gothic"/>
              </a:rPr>
              <a:t>.venv-emap</a:t>
            </a:r>
            <a:r>
              <a:rPr sz="1050" b="0" i="0">
                <a:solidFill>
                  <a:srgbClr val="16213A"/>
                </a:solidFill>
                <a:latin typeface="Arial"/>
                <a:ea typeface="Malgun Gothic"/>
                <a:cs typeface="Malgun Gothic"/>
              </a:rPr>
              <a:t>)을 돌리는 GPU PC에도 깔았다. 처음 acados가 있던 랩탑과 같은 v0.3.4다. 같은 순서를 밟으면 된다. 아래 </a:t>
            </a:r>
            <a:r>
              <a:rPr sz="1050" b="0" i="0">
                <a:solidFill>
                  <a:srgbClr val="16213A"/>
                </a:solidFill>
                <a:latin typeface="Consolas"/>
                <a:ea typeface="Malgun Gothic"/>
                <a:cs typeface="Malgun Gothic"/>
              </a:rPr>
              <a:t>$ACADOS_SOURCE_DIR</a:t>
            </a:r>
            <a:r>
              <a:rPr sz="1050" b="0" i="0">
                <a:solidFill>
                  <a:srgbClr val="16213A"/>
                </a:solidFill>
                <a:latin typeface="Arial"/>
                <a:ea typeface="Malgun Gothic"/>
                <a:cs typeface="Malgun Gothic"/>
              </a:rPr>
              <a:t>는 위 첫 항목의 값(홈 아래 </a:t>
            </a:r>
            <a:r>
              <a:rPr sz="1050" b="0" i="0">
                <a:solidFill>
                  <a:srgbClr val="16213A"/>
                </a:solidFill>
                <a:latin typeface="Consolas"/>
                <a:ea typeface="Malgun Gothic"/>
                <a:cs typeface="Malgun Gothic"/>
              </a:rPr>
              <a:t>acados</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git clone https://github.com/acados/acados.git $ACADOS_SOURCE_DIR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git checkout v0.3.4</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git submodule update --recursive --init</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$ACADOS_SOURCE_DIR/build</a:t>
            </a:r>
            <a:r>
              <a:rPr sz="1050" b="0" i="0">
                <a:solidFill>
                  <a:srgbClr val="16213A"/>
                </a:solidFill>
                <a:latin typeface="Arial"/>
                <a:ea typeface="Malgun Gothic"/>
                <a:cs typeface="Malgun Gothic"/>
              </a:rPr>
              <a:t>에서 </a:t>
            </a:r>
            <a:r>
              <a:rPr sz="1050" b="0" i="0">
                <a:solidFill>
                  <a:srgbClr val="16213A"/>
                </a:solidFill>
                <a:latin typeface="Consolas"/>
                <a:ea typeface="Malgun Gothic"/>
                <a:cs typeface="Malgun Gothic"/>
              </a:rPr>
              <a:t>cmake -DACADOS_WITH_QPOASES=ON ..</a:t>
            </a:r>
            <a:r>
              <a:rPr sz="1050" b="0" i="0">
                <a:solidFill>
                  <a:srgbClr val="16213A"/>
                </a:solidFill>
                <a:latin typeface="Arial"/>
                <a:ea typeface="Malgun Gothic"/>
                <a:cs typeface="Malgun Gothic"/>
              </a:rPr>
              <a:t> 뒤 </a:t>
            </a:r>
            <a:r>
              <a:rPr sz="1050" b="0" i="0">
                <a:solidFill>
                  <a:srgbClr val="16213A"/>
                </a:solidFill>
                <a:latin typeface="Consolas"/>
                <a:ea typeface="Malgun Gothic"/>
                <a:cs typeface="Malgun Gothic"/>
              </a:rPr>
              <a:t>make install -j12</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$ACADOS_SOURCE_DIR/lib</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libacados.so</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libblasfeo.so</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libhpipm.so</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libqpOASES_e.so</a:t>
            </a:r>
            <a:r>
              <a:rPr sz="1050" b="0" i="0">
                <a:solidFill>
                  <a:srgbClr val="16213A"/>
                </a:solidFill>
                <a:latin typeface="Arial"/>
                <a:ea typeface="Malgun Gothic"/>
                <a:cs typeface="Malgun Gothic"/>
              </a:rPr>
              <a:t>가 생긴다.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코드 생성기 tera 렌더러 v0.0.34를 </a:t>
            </a:r>
            <a:r>
              <a:rPr sz="1050" b="0" i="0">
                <a:solidFill>
                  <a:srgbClr val="16213A"/>
                </a:solidFill>
                <a:latin typeface="Consolas"/>
                <a:ea typeface="Malgun Gothic"/>
                <a:cs typeface="Malgun Gothic"/>
              </a:rPr>
              <a:t>$ACADOS_SOURCE_DIR/bin/t_renderer</a:t>
            </a:r>
            <a:r>
              <a:rPr sz="1050" b="0" i="0">
                <a:solidFill>
                  <a:srgbClr val="16213A"/>
                </a:solidFill>
                <a:latin typeface="Arial"/>
                <a:ea typeface="Malgun Gothic"/>
                <a:cs typeface="Malgun Gothic"/>
              </a:rPr>
              <a:t>에 미리 받아 두고 실행 권한을 준다. 첫 실행 때 대화형으로 내려받기를 묻는 단계를 건너뛴다.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.venv</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pip install -e $ACADOS_SOURCE_DIR/interfaces/acados_template</a:t>
            </a:r>
            <a:r>
              <a:rPr sz="1050" b="0" i="0">
                <a:solidFill>
                  <a:srgbClr val="16213A"/>
                </a:solidFill>
                <a:latin typeface="Arial"/>
                <a:ea typeface="Malgun Gothic"/>
                <a:cs typeface="Malgun Gothic"/>
              </a:rPr>
              <a:t>. casadi 3.6.7(3.6.x 범위)은 이미 있었다.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.venv-emap</a:t>
            </a:r>
            <a:r>
              <a:rPr sz="1050" b="0" i="0">
                <a:solidFill>
                  <a:srgbClr val="16213A"/>
                </a:solidFill>
                <a:latin typeface="Arial"/>
                <a:ea typeface="Malgun Gothic"/>
                <a:cs typeface="Malgun Gothic"/>
              </a:rPr>
              <a:t>: cupy·torch·numpy를 건드리지 않게 </a:t>
            </a:r>
            <a:r>
              <a:rPr sz="1050" b="0" i="0">
                <a:solidFill>
                  <a:srgbClr val="16213A"/>
                </a:solidFill>
                <a:latin typeface="Consolas"/>
                <a:ea typeface="Malgun Gothic"/>
                <a:cs typeface="Malgun Gothic"/>
              </a:rPr>
              <a:t>pip install "casadi==3.6.7" cython future-fstrings</a:t>
            </a:r>
            <a:r>
              <a:rPr sz="1050" b="0" i="0">
                <a:solidFill>
                  <a:srgbClr val="16213A"/>
                </a:solidFill>
                <a:latin typeface="Arial"/>
                <a:ea typeface="Malgun Gothic"/>
                <a:cs typeface="Malgun Gothic"/>
              </a:rPr>
              <a:t>를 따로 깔고 </a:t>
            </a:r>
            <a:r>
              <a:rPr sz="1050" b="0" i="0">
                <a:solidFill>
                  <a:srgbClr val="16213A"/>
                </a:solidFill>
                <a:latin typeface="Consolas"/>
                <a:ea typeface="Malgun Gothic"/>
                <a:cs typeface="Malgun Gothic"/>
              </a:rPr>
              <a:t>pip install --no-deps -e $ACADOS_SOURCE_DIR/interfaces/acados_template</a:t>
            </a:r>
            <a:r>
              <a:rPr sz="1050" b="0" i="0">
                <a:solidFill>
                  <a:srgbClr val="16213A"/>
                </a:solidFill>
                <a:latin typeface="Arial"/>
                <a:ea typeface="Malgun Gothic"/>
                <a:cs typeface="Malgun Gothic"/>
              </a:rPr>
              <a:t>를 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셸 시작 파일(</a:t>
            </a:r>
            <a:r>
              <a:rPr sz="1050" b="0" i="0">
                <a:solidFill>
                  <a:srgbClr val="16213A"/>
                </a:solidFill>
                <a:latin typeface="Consolas"/>
                <a:ea typeface="Malgun Gothic"/>
                <a:cs typeface="Malgun Gothic"/>
              </a:rPr>
              <a:t>.bashrc</a:t>
            </a:r>
            <a:r>
              <a:rPr sz="1050" b="0" i="0">
                <a:solidFill>
                  <a:srgbClr val="16213A"/>
                </a:solidFill>
                <a:latin typeface="Arial"/>
                <a:ea typeface="Malgun Gothic"/>
                <a:cs typeface="Malgun Gothic"/>
              </a:rPr>
              <a:t>)에 위 첫 항목의 두 변수를 넣었다. 코드의 </a:t>
            </a:r>
            <a:r>
              <a:rPr sz="1050" b="0" i="0">
                <a:solidFill>
                  <a:srgbClr val="16213A"/>
                </a:solidFill>
                <a:latin typeface="Consolas"/>
                <a:ea typeface="Malgun Gothic"/>
                <a:cs typeface="Malgun Gothic"/>
              </a:rPr>
              <a:t>_acados_env()</a:t>
            </a:r>
            <a:r>
              <a:rPr sz="1050" b="0" i="0">
                <a:solidFill>
                  <a:srgbClr val="16213A"/>
                </a:solidFill>
                <a:latin typeface="Arial"/>
                <a:ea typeface="Malgun Gothic"/>
                <a:cs typeface="Malgun Gothic"/>
              </a:rPr>
              <a:t>가 import 때 </a:t>
            </a:r>
            <a:r>
              <a:rPr sz="1050" b="0" i="0">
                <a:solidFill>
                  <a:srgbClr val="16213A"/>
                </a:solidFill>
                <a:latin typeface="Consolas"/>
                <a:ea typeface="Malgun Gothic"/>
                <a:cs typeface="Malgun Gothic"/>
              </a:rPr>
              <a:t>LD_LIBRARY_PATH</a:t>
            </a:r>
            <a:r>
              <a:rPr sz="1050" b="0" i="0">
                <a:solidFill>
                  <a:srgbClr val="16213A"/>
                </a:solidFill>
                <a:latin typeface="Arial"/>
                <a:ea typeface="Malgun Gothic"/>
                <a:cs typeface="Malgun Gothic"/>
              </a:rPr>
              <a:t>를 바꾸지만, 동적 로더는 프로세스 시작 때의 값만 읽는다. 그래서 셸에서 빠지면 </a:t>
            </a:r>
            <a:r>
              <a:rPr sz="1050" b="0" i="0">
                <a:solidFill>
                  <a:srgbClr val="16213A"/>
                </a:solidFill>
                <a:latin typeface="Consolas"/>
                <a:ea typeface="Malgun Gothic"/>
                <a:cs typeface="Malgun Gothic"/>
              </a:rPr>
              <a:t>libqpOASES_e.so.3.1</a:t>
            </a:r>
            <a:r>
              <a:rPr sz="1050" b="0" i="0">
                <a:solidFill>
                  <a:srgbClr val="16213A"/>
                </a:solidFill>
                <a:latin typeface="Arial"/>
                <a:ea typeface="Malgun Gothic"/>
                <a:cs typeface="Malgun Gothic"/>
              </a:rPr>
              <a:t>을 못 찾아 MPC 테스트 20개가 실패한다.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확인: MPC 관련 테스트 127개가 통과했다. 정적 벤치마크 </a:t>
            </a:r>
            <a:r>
              <a:rPr sz="1050" b="0" i="0">
                <a:solidFill>
                  <a:srgbClr val="16213A"/>
                </a:solidFill>
                <a:latin typeface="Consolas"/>
                <a:ea typeface="Malgun Gothic"/>
                <a:cs typeface="Malgun Gothic"/>
              </a:rPr>
              <a:t>guidance+mpc</a:t>
            </a:r>
            <a:r>
              <a:rPr sz="1050" b="0" i="0">
                <a:solidFill>
                  <a:srgbClr val="16213A"/>
                </a:solidFill>
                <a:latin typeface="Arial"/>
                <a:ea typeface="Malgun Gothic"/>
                <a:cs typeface="Malgun Gothic"/>
              </a:rPr>
              <a:t>(4 지형 × seed 0–9)는 40/40, 제어 9.0 ms다.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v0.3.4 docstring의 이스케이프 문자 때문에 Python 3.12+에서 </a:t>
            </a:r>
            <a:r>
              <a:rPr sz="1050" b="0" i="0">
                <a:solidFill>
                  <a:srgbClr val="16213A"/>
                </a:solidFill>
                <a:latin typeface="Consolas"/>
                <a:ea typeface="Malgun Gothic"/>
                <a:cs typeface="Malgun Gothic"/>
              </a:rPr>
              <a:t>SyntaxWarning</a:t>
            </a:r>
            <a:r>
              <a:rPr sz="1050" b="0" i="0">
                <a:solidFill>
                  <a:srgbClr val="16213A"/>
                </a:solidFill>
                <a:latin typeface="Arial"/>
                <a:ea typeface="Malgun Gothic"/>
                <a:cs typeface="Malgun Gothic"/>
              </a:rPr>
              <a:t>이 많이 뜬다. 동작과 무관하다.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casadi 함수 이름에는 점(</a:t>
            </a:r>
            <a:r>
              <a:rPr sz="1050" b="1" i="0">
                <a:solidFill>
                  <a:srgbClr val="16213A"/>
                </a:solidFill>
                <a:latin typeface="Consolas"/>
                <a:ea typeface="Malgun Gothic"/>
                <a:cs typeface="Malgun Gothic"/>
              </a:rPr>
              <a:t>.</a:t>
            </a:r>
            <a:r>
              <a:rPr sz="1050" b="1" i="0">
                <a:solidFill>
                  <a:srgbClr val="16213A"/>
                </a:solidFill>
                <a:latin typeface="Arial"/>
                <a:ea typeface="Malgun Gothic"/>
                <a:cs typeface="Malgun Gothic"/>
              </a:rPr>
              <a:t>)을 쓸 수 없다.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MPCConfig.name</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0.05</a:t>
            </a:r>
            <a:r>
              <a:rPr sz="1050" b="0" i="0">
                <a:solidFill>
                  <a:srgbClr val="16213A"/>
                </a:solidFill>
                <a:latin typeface="Arial"/>
                <a:ea typeface="Malgun Gothic"/>
                <a:cs typeface="Malgun Gothic"/>
              </a:rPr>
              <a:t> 같은 태그를 넣으면 </a:t>
            </a:r>
            <a:r>
              <a:rPr sz="1050" b="0" i="0">
                <a:solidFill>
                  <a:srgbClr val="16213A"/>
                </a:solidFill>
                <a:latin typeface="Consolas"/>
                <a:ea typeface="Malgun Gothic"/>
                <a:cs typeface="Malgun Gothic"/>
              </a:rPr>
              <a:t>Function name is not valid</a:t>
            </a:r>
            <a:r>
              <a:rPr sz="1050" b="0" i="0">
                <a:solidFill>
                  <a:srgbClr val="16213A"/>
                </a:solidFill>
                <a:latin typeface="Arial"/>
                <a:ea typeface="Malgun Gothic"/>
                <a:cs typeface="Malgun Gothic"/>
              </a:rPr>
              <a:t>로 죽는다.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 단계와 게이트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25 / 112</a:t>
            </a:r>
          </a:p>
        </p:txBody>
      </p:sp>
      <p:graphicFrame>
        <p:nvGraphicFramePr>
          <p:cNvPr id="5" name="Table 4"/>
          <p:cNvGraphicFramePr>
            <a:graphicFrameLocks noGrp="1"/>
          </p:cNvGraphicFramePr>
          <p:nvPr/>
        </p:nvGraphicFramePr>
        <p:xfrm>
          <a:off x="609600" y="1244600"/>
          <a:ext cx="10966450" cy="1786968"/>
        </p:xfrm>
        <a:graphic>
          <a:graphicData uri="http://schemas.openxmlformats.org/drawingml/2006/table">
            <a:tbl>
              <a:tblPr firstRow="1" bandRow="1">
                <a:tableStyleId>{5C22544A-7EE6-4342-B048-85BDC9FD1C3A}</a:tableStyleId>
              </a:tblPr>
              <a:tblGrid>
                <a:gridCol w="348555"/>
                <a:gridCol w="584002"/>
                <a:gridCol w="10033893"/>
              </a:tblGrid>
              <a:tr h="317976">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TODO</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통과 기준</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명목 MPC가 기존 벤치마크에서 </a:t>
                      </a:r>
                      <a:r>
                        <a:rPr sz="800" b="1" i="0">
                          <a:solidFill>
                            <a:srgbClr val="16213A"/>
                          </a:solidFill>
                          <a:latin typeface="Arial"/>
                          <a:ea typeface="Malgun Gothic"/>
                          <a:cs typeface="Malgun Gothic"/>
                        </a:rPr>
                        <a:t>MPPI와 동률</a:t>
                      </a:r>
                      <a:r>
                        <a:rPr sz="800" b="0" i="0">
                          <a:solidFill>
                            <a:srgbClr val="16213A"/>
                          </a:solidFill>
                          <a:latin typeface="Arial"/>
                          <a:ea typeface="Malgun Gothic"/>
                          <a:cs typeface="Malgun Gothic"/>
                        </a:rPr>
                        <a:t>(40/40), 계산 &lt; 20 ms — 2026-09-29 미달(6/12, M.3.3). 2026-10-01 38/40(M.3.10). </a:t>
                      </a:r>
                      <a:r>
                        <a:rPr sz="800" b="1" i="0">
                          <a:solidFill>
                            <a:srgbClr val="16213A"/>
                          </a:solidFill>
                          <a:latin typeface="Arial"/>
                          <a:ea typeface="Malgun Gothic"/>
                          <a:cs typeface="Malgun Gothic"/>
                        </a:rPr>
                        <a:t>2026-10-01 달성: 명령을 고친 뒤 40/40, 6.4 ms</a:t>
                      </a:r>
                      <a:r>
                        <a:rPr sz="800" b="0" i="0">
                          <a:solidFill>
                            <a:srgbClr val="16213A"/>
                          </a:solidFill>
                          <a:latin typeface="Arial"/>
                          <a:ea typeface="Malgun Gothic"/>
                          <a:cs typeface="Malgun Gothic"/>
                        </a:rPr>
                        <a:t>(TP-0122, M.3.15)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TP-0071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 셀을 제약으로 + 보행자. 2026-09-29 부분(9/12, M.3.5). </a:t>
                      </a:r>
                      <a:r>
                        <a:rPr sz="800" b="1" i="0">
                          <a:solidFill>
                            <a:srgbClr val="16213A"/>
                          </a:solidFill>
                          <a:latin typeface="Arial"/>
                          <a:ea typeface="Malgun Gothic"/>
                          <a:cs typeface="Malgun Gothic"/>
                        </a:rPr>
                        <a:t>2026-10-01 달성: 정적 38/40, 보행자 23/24·충돌 0</a:t>
                      </a:r>
                      <a:r>
                        <a:rPr sz="800" b="0" i="0">
                          <a:solidFill>
                            <a:srgbClr val="16213A"/>
                          </a:solidFill>
                          <a:latin typeface="Arial"/>
                          <a:ea typeface="Malgun Gothic"/>
                          <a:cs typeface="Malgun Gothic"/>
                        </a:rPr>
                        <a:t>(M.3.10·M.3.11), 명령을 고친 뒤 정적 40/40, 보행자 24/24(M.3.15)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TP-0068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잔차 평균을 모델에. 1초 예측 오차 50% 감소 — </a:t>
                      </a:r>
                      <a:r>
                        <a:rPr sz="800" b="1" i="0">
                          <a:solidFill>
                            <a:srgbClr val="16213A"/>
                          </a:solidFill>
                          <a:latin typeface="Arial"/>
                          <a:ea typeface="Malgun Gothic"/>
                          <a:cs typeface="Malgun Gothic"/>
                        </a:rPr>
                        <a:t>2026-10-01 달성: RMSE 66–78% 감소, plant 37/48 → 44/48</a:t>
                      </a:r>
                      <a:r>
                        <a:rPr sz="800" b="0" i="0">
                          <a:solidFill>
                            <a:srgbClr val="16213A"/>
                          </a:solidFill>
                          <a:latin typeface="Arial"/>
                          <a:ea typeface="Malgun Gothic"/>
                          <a:cs typeface="Malgun Gothic"/>
                        </a:rPr>
                        <a:t>(M.3.12). 명령만 고친 </a:t>
                      </a:r>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도 44/48이라, 이 이득의 상당 부분은 GP가 아니라 명령 차이였다(TP-0122, M.3.15)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TP-0069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분산으로 제약 조이기. 성공률 ≥ 11/12 유지. 느리면 0차 근사 — </a:t>
                      </a:r>
                      <a:r>
                        <a:rPr sz="800" b="1" i="0">
                          <a:solidFill>
                            <a:srgbClr val="16213A"/>
                          </a:solidFill>
                          <a:latin typeface="Arial"/>
                          <a:ea typeface="Malgun Gothic"/>
                          <a:cs typeface="Malgun Gothic"/>
                        </a:rPr>
                        <a:t>2026-10-01 0차로 구현, 측정되는 효과 없음</a:t>
                      </a:r>
                      <a:r>
                        <a:rPr sz="800" b="0" i="0">
                          <a:solidFill>
                            <a:srgbClr val="16213A"/>
                          </a:solidFill>
                          <a:latin typeface="Arial"/>
                          <a:ea typeface="Malgun Gothic"/>
                          <a:cs typeface="Malgun Gothic"/>
                        </a:rPr>
                        <a:t>: 같은 여유끼리 실행 여유 차 0.00 cm, 설계안 plant 42/48(기준 44/48). 선택 스택 </a:t>
                      </a:r>
                      <a:r>
                        <a:rPr sz="800" b="0" i="0">
                          <a:solidFill>
                            <a:srgbClr val="16213A"/>
                          </a:solidFill>
                          <a:latin typeface="Consolas"/>
                          <a:ea typeface="Malgun Gothic"/>
                          <a:cs typeface="Malgun Gothic"/>
                        </a:rPr>
                        <a:t>mpc_gpcc</a:t>
                      </a:r>
                      <a:r>
                        <a:rPr sz="800" b="0" i="0">
                          <a:solidFill>
                            <a:srgbClr val="16213A"/>
                          </a:solidFill>
                          <a:latin typeface="Arial"/>
                          <a:ea typeface="Malgun Gothic"/>
                          <a:cs typeface="Malgun Gothic"/>
                        </a:rPr>
                        <a:t>(M.3.18)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PCBF 회복, 그다음에만 튜브·SLP</a:t>
                      </a:r>
                    </a:p>
                  </a:txBody>
                  <a:tcPr marL="63500" marR="63500" marT="12700" marB="12700">
                    <a:solidFill>
                      <a:srgbClr val="FFFD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M.3.3 0단계 결과 — 게이트 미달, 그리고 그 이유가 정확히 다음 단계다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26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시나리오 × 3 seed, </a:t>
            </a:r>
            <a:r>
              <a:rPr sz="1050" b="1" i="0">
                <a:solidFill>
                  <a:srgbClr val="16213A"/>
                </a:solidFill>
                <a:latin typeface="Consolas"/>
                <a:ea typeface="Malgun Gothic"/>
                <a:cs typeface="Malgun Gothic"/>
              </a:rPr>
              <a:t>results/tp0070_stage0</a:t>
            </a:r>
            <a:r>
              <a:rPr sz="1050" b="1" i="0">
                <a:solidFill>
                  <a:srgbClr val="16213A"/>
                </a:solidFill>
                <a:latin typeface="Arial"/>
                <a:ea typeface="Malgun Gothic"/>
                <a:cs typeface="Malgun Gothic"/>
              </a:rPr>
              <a:t>.</a:t>
            </a:r>
          </a:p>
        </p:txBody>
      </p:sp>
      <p:graphicFrame>
        <p:nvGraphicFramePr>
          <p:cNvPr id="6" name="Table 5"/>
          <p:cNvGraphicFramePr>
            <a:graphicFrameLocks noGrp="1"/>
          </p:cNvGraphicFramePr>
          <p:nvPr/>
        </p:nvGraphicFramePr>
        <p:xfrm>
          <a:off x="609600" y="1549995"/>
          <a:ext cx="10966449" cy="591264"/>
        </p:xfrm>
        <a:graphic>
          <a:graphicData uri="http://schemas.openxmlformats.org/drawingml/2006/table">
            <a:tbl>
              <a:tblPr firstRow="1" bandRow="1">
                <a:tableStyleId>{5C22544A-7EE6-4342-B048-85BDC9FD1C3A}</a:tableStyleId>
              </a:tblPr>
              <a:tblGrid>
                <a:gridCol w="2558157"/>
                <a:gridCol w="1241921"/>
                <a:gridCol w="1539974"/>
                <a:gridCol w="1429742"/>
                <a:gridCol w="1704479"/>
                <a:gridCol w="951805"/>
                <a:gridCol w="1540371"/>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 cost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최대 pitch</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guidance+mpc</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6/12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14.7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8.6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15.9 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12.6 ms</a:t>
                      </a:r>
                    </a:p>
                  </a:txBody>
                  <a:tcPr marL="63500" marR="63500" marT="12700" marB="12700">
                    <a:solidFill>
                      <a:srgbClr val="F3F0E8"/>
                    </a:solidFill>
                  </a:tcPr>
                </a:tc>
              </a:tr>
            </a:tbl>
          </a:graphicData>
        </a:graphic>
      </p:graphicFrame>
      <p:graphicFrame>
        <p:nvGraphicFramePr>
          <p:cNvPr id="7" name="Table 6"/>
          <p:cNvGraphicFramePr>
            <a:graphicFrameLocks noGrp="1"/>
          </p:cNvGraphicFramePr>
          <p:nvPr/>
        </p:nvGraphicFramePr>
        <p:xfrm>
          <a:off x="609600" y="2384326"/>
          <a:ext cx="10966449" cy="985440"/>
        </p:xfrm>
        <a:graphic>
          <a:graphicData uri="http://schemas.openxmlformats.org/drawingml/2006/table">
            <a:tbl>
              <a:tblPr firstRow="1" bandRow="1">
                <a:tableStyleId>{5C22544A-7EE6-4342-B048-85BDC9FD1C3A}</a:tableStyleId>
              </a:tblPr>
              <a:tblGrid>
                <a:gridCol w="3465413"/>
                <a:gridCol w="1330920"/>
                <a:gridCol w="1470025"/>
                <a:gridCol w="4700091"/>
              </a:tblGrid>
              <a:tr h="197088">
                <a:tc>
                  <a:txBody>
                    <a:bodyPr wrap="square"/>
                    <a:lstStyle/>
                    <a:p>
                      <a:r>
                        <a:rPr sz="800" b="1" i="0">
                          <a:solidFill>
                            <a:srgbClr val="F4F1EA"/>
                          </a:solidFill>
                          <a:latin typeface="Arial"/>
                          <a:ea typeface="Malgun Gothic"/>
                          <a:cs typeface="Malgun Gothic"/>
                        </a:rPr>
                        <a:t>시나리오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mpc 실패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curb_ramp</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seed 0·1·2 모두 </a:t>
                      </a:r>
                      <a:r>
                        <a:rPr sz="800" b="0" i="0">
                          <a:solidFill>
                            <a:srgbClr val="16213A"/>
                          </a:solidFill>
                          <a:latin typeface="Consolas"/>
                          <a:ea typeface="Malgun Gothic"/>
                          <a:cs typeface="Malgun Gothic"/>
                        </a:rPr>
                        <a:t>lethal</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slope_crossfall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bumps_potholes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seed 0·1 </a:t>
                      </a:r>
                      <a:r>
                        <a:rPr sz="800" b="0" i="0">
                          <a:solidFill>
                            <a:srgbClr val="16213A"/>
                          </a:solidFill>
                          <a:latin typeface="Consolas"/>
                          <a:ea typeface="Malgun Gothic"/>
                          <a:cs typeface="Malgun Gothic"/>
                        </a:rPr>
                        <a:t>lethal</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seed 2 </a:t>
                      </a:r>
                      <a:r>
                        <a:rPr sz="800" b="0" i="0">
                          <a:solidFill>
                            <a:srgbClr val="16213A"/>
                          </a:solidFill>
                          <a:latin typeface="Consolas"/>
                          <a:ea typeface="Malgun Gothic"/>
                          <a:cs typeface="Malgun Gothic"/>
                        </a:rPr>
                        <a:t>lethal</a:t>
                      </a:r>
                    </a:p>
                  </a:txBody>
                  <a:tcPr marL="63500" marR="63500" marT="12700" marB="12700">
                    <a:solidFill>
                      <a:srgbClr val="F3F0E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M.3.3 0단계 결과 — 게이트 미달, 그리고 그 이유가 정확히 다음 단계다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27 / 112</a:t>
            </a:r>
          </a:p>
        </p:txBody>
      </p:sp>
      <p:pic>
        <p:nvPicPr>
          <p:cNvPr id="5" name="Picture 4" descr="image.jpg"/>
          <p:cNvPicPr>
            <a:picLocks noChangeAspect="1"/>
          </p:cNvPicPr>
          <p:nvPr/>
        </p:nvPicPr>
        <p:blipFill>
          <a:blip r:embed="rId3"/>
          <a:stretch>
            <a:fillRect/>
          </a:stretch>
        </p:blipFill>
        <p:spPr>
          <a:xfrm>
            <a:off x="2047875" y="1244600"/>
            <a:ext cx="8096250" cy="4445000"/>
          </a:xfrm>
          <a:prstGeom prst="rect">
            <a:avLst/>
          </a:prstGeom>
        </p:spPr>
      </p:pic>
      <p:sp>
        <p:nvSpPr>
          <p:cNvPr id="6" name="TextBox 5"/>
          <p:cNvSpPr txBox="1"/>
          <p:nvPr/>
        </p:nvSpPr>
        <p:spPr>
          <a:xfrm>
            <a:off x="2047875" y="5727700"/>
            <a:ext cx="8096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4 시나리오의 참 비용 지도 위에 실행 궤적. 노란 선이 MPC, 파란 선이 MPPI, 빨간 칸이 치명 셀, 빨간 X가 실패 지점. MPC는 연석 벽(curb_ramp)과 포트홀 테두리(bumps_potholes), 상자 모서리(random_mix)에서 죽고, 국소 위험이 없는 slope_crossfall에서만 MPPI와 같다. 그림은 python scripts/make_doc_figures.py --mpc로 재생성한다.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M.3.3 0단계 결과 — 게이트 미달, 그리고 그 이유가 정확히 다음 단계다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28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결과가 깨끗하게 갈린다. 지형이 평평한 곳(slope_crossfall)에서는 MPPI와 같고, 지형이 결정하는 곳(curb_ramp)에서는 전멸한다.</a:t>
            </a:r>
            <a:r>
              <a:rPr sz="1050" b="0" i="0">
                <a:solidFill>
                  <a:srgbClr val="16213A"/>
                </a:solidFill>
                <a:latin typeface="Arial"/>
                <a:ea typeface="Malgun Gothic"/>
                <a:cs typeface="Malgun Gothic"/>
              </a:rPr>
              <a:t> 이유는 숨어 있지 않다. </a:t>
            </a:r>
            <a:r>
              <a:rPr sz="1050" b="1" i="0">
                <a:solidFill>
                  <a:srgbClr val="16213A"/>
                </a:solidFill>
                <a:latin typeface="Arial"/>
                <a:ea typeface="Malgun Gothic"/>
                <a:cs typeface="Malgun Gothic"/>
              </a:rPr>
              <a:t>0단계 MPC에는 지형 항이 하나도 없다.</a:t>
            </a:r>
            <a:r>
              <a:rPr sz="1050" b="0" i="0">
                <a:solidFill>
                  <a:srgbClr val="16213A"/>
                </a:solidFill>
                <a:latin typeface="Arial"/>
                <a:ea typeface="Malgun Gothic"/>
                <a:cs typeface="Malgun Gothic"/>
              </a:rPr>
              <a:t> 참조만 따라가므로, GuidancePlanner가 믿음 지도 위에서 그은 경로가 연석 면을 스치면 그대로 들어간다. MPPI는 </a:t>
            </a:r>
            <a:r>
              <a:rPr sz="1050" b="0" i="0">
                <a:solidFill>
                  <a:srgbClr val="16213A"/>
                </a:solidFill>
                <a:latin typeface="Consolas"/>
                <a:ea typeface="Malgun Gothic"/>
                <a:cs typeface="Malgun Gothic"/>
              </a:rPr>
              <a:t>TraversabilityCost</a:t>
            </a:r>
            <a:r>
              <a:rPr sz="1050" b="0" i="0">
                <a:solidFill>
                  <a:srgbClr val="16213A"/>
                </a:solidFill>
                <a:latin typeface="Arial"/>
                <a:ea typeface="Malgun Gothic"/>
                <a:cs typeface="Malgun Gothic"/>
              </a:rPr>
              <a:t>의 치명 벌점 </a:t>
            </a:r>
            <a:r>
              <a:rPr sz="1050" b="0" i="1">
                <a:solidFill>
                  <a:srgbClr val="16213A"/>
                </a:solidFill>
                <a:latin typeface="Arial"/>
                <a:ea typeface="Malgun Gothic"/>
                <a:cs typeface="Malgun Gothic"/>
              </a:rPr>
              <a:t>10³</a:t>
            </a:r>
            <a:r>
              <a:rPr sz="1050" b="0" i="0">
                <a:solidFill>
                  <a:srgbClr val="16213A"/>
                </a:solidFill>
                <a:latin typeface="Arial"/>
                <a:ea typeface="Malgun Gothic"/>
                <a:cs typeface="Malgun Gothic"/>
              </a:rPr>
              <a:t>으로 그 샘플을 버린다.</a:t>
            </a:r>
          </a:p>
        </p:txBody>
      </p:sp>
      <p:sp>
        <p:nvSpPr>
          <p:cNvPr id="6" name="TextBox 5"/>
          <p:cNvSpPr txBox="1"/>
          <p:nvPr/>
        </p:nvSpPr>
        <p:spPr>
          <a:xfrm>
            <a:off x="609600" y="1766491"/>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curb_ramp seed 0. 흰 선은 지나온 길, 굵은 선은 </a:t>
            </a:r>
            <a:r>
              <a:rPr sz="1050" b="0" i="1">
                <a:solidFill>
                  <a:srgbClr val="16213A"/>
                </a:solidFill>
                <a:latin typeface="Arial"/>
                <a:ea typeface="Malgun Gothic"/>
                <a:cs typeface="Malgun Gothic"/>
              </a:rPr>
              <a:t>그 순간의 4초 예측</a:t>
            </a:r>
            <a:r>
              <a:rPr sz="1050" b="0" i="1">
                <a:solidFill>
                  <a:srgbClr val="16213A"/>
                </a:solidFill>
                <a:latin typeface="Arial"/>
                <a:ea typeface="Malgun Gothic"/>
                <a:cs typeface="Malgun Gothic"/>
              </a:rPr>
              <a:t>이다. MPPI(왼쪽)는 램프 틈을 찾아 올라가고, MPC(오른쪽)는 램프를 지나쳤다가 되돌아오면서 연석 면을 문다. 예측이 치명 셀을 그대로 통과하는 것이 보인다 — 비용에도 제약에도 지형이 없기 때문이다.</a:t>
            </a:r>
          </a:p>
        </p:txBody>
      </p:sp>
      <p:sp>
        <p:nvSpPr>
          <p:cNvPr id="7" name="TextBox 6"/>
          <p:cNvSpPr txBox="1"/>
          <p:nvPr/>
        </p:nvSpPr>
        <p:spPr>
          <a:xfrm>
            <a:off x="609600" y="37107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대신 두 가지는 이미 낫다.</a:t>
            </a:r>
            <a:r>
              <a:rPr sz="1050" b="0" i="0">
                <a:solidFill>
                  <a:srgbClr val="16213A"/>
                </a:solidFill>
                <a:latin typeface="Arial"/>
                <a:ea typeface="Malgun Gothic"/>
                <a:cs typeface="Malgun Gothic"/>
              </a:rPr>
              <a:t> 제어 시간이 </a:t>
            </a:r>
            <a:r>
              <a:rPr sz="1050" b="1" i="0">
                <a:solidFill>
                  <a:srgbClr val="16213A"/>
                </a:solidFill>
                <a:latin typeface="Arial"/>
                <a:ea typeface="Malgun Gothic"/>
                <a:cs typeface="Malgun Gothic"/>
              </a:rPr>
              <a:t>8.6 ms 대 12.6 ms</a:t>
            </a:r>
            <a:r>
              <a:rPr sz="1050" b="0" i="0">
                <a:solidFill>
                  <a:srgbClr val="16213A"/>
                </a:solidFill>
                <a:latin typeface="Arial"/>
                <a:ea typeface="Malgun Gothic"/>
                <a:cs typeface="Malgun Gothic"/>
              </a:rPr>
              <a:t>이고, jerk가 </a:t>
            </a:r>
            <a:r>
              <a:rPr sz="1050" b="1" i="0">
                <a:solidFill>
                  <a:srgbClr val="16213A"/>
                </a:solidFill>
                <a:latin typeface="Arial"/>
                <a:ea typeface="Malgun Gothic"/>
                <a:cs typeface="Malgun Gothic"/>
              </a:rPr>
              <a:t>2.5 대 4.4</a:t>
            </a:r>
            <a:r>
              <a:rPr sz="1050" b="0" i="0">
                <a:solidFill>
                  <a:srgbClr val="16213A"/>
                </a:solidFill>
                <a:latin typeface="Arial"/>
                <a:ea typeface="Malgun Gothic"/>
                <a:cs typeface="Malgun Gothic"/>
              </a:rPr>
              <a:t>다. 가속을 상태로 두고 상자 제약을 건 덕분에 명령이 매끄럽다. 즉 </a:t>
            </a:r>
            <a:r>
              <a:rPr sz="1050" b="1" i="0">
                <a:solidFill>
                  <a:srgbClr val="C2410C"/>
                </a:solidFill>
                <a:latin typeface="Arial"/>
                <a:ea typeface="Malgun Gothic"/>
                <a:cs typeface="Malgun Gothic"/>
              </a:rPr>
              <a:t>추종과 계산 예산은 이미 이겼고, 부족한 것은 지형 인지 하나다.</a:t>
            </a:r>
          </a:p>
        </p:txBody>
      </p:sp>
      <p:sp>
        <p:nvSpPr>
          <p:cNvPr id="8" name="TextBox 7"/>
          <p:cNvSpPr txBox="1"/>
          <p:nvPr/>
        </p:nvSpPr>
        <p:spPr>
          <a:xfrm>
            <a:off x="609600" y="42326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그래서 TP-0071은 선택이 아니다.</a:t>
            </a:r>
            <a:r>
              <a:rPr sz="1050" b="0" i="0">
                <a:solidFill>
                  <a:srgbClr val="16213A"/>
                </a:solidFill>
                <a:latin typeface="Arial"/>
                <a:ea typeface="Malgun Gothic"/>
                <a:cs typeface="Malgun Gothic"/>
              </a:rPr>
              <a:t> 게이트를 다시 세우지 않고 그대로 둔다. 40/40은 지형이 제약으로 들어간 뒤에 판단한다.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M.3.4 다음 단계의 설계 결정 — 격자를 acados에 어떻게 넣나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29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시도하기 전에 막히는 지점을 먼저 적는다. </a:t>
            </a:r>
            <a:r>
              <a:rPr sz="1050" b="1" i="0">
                <a:solidFill>
                  <a:srgbClr val="16213A"/>
                </a:solidFill>
                <a:latin typeface="Arial"/>
                <a:ea typeface="Malgun Gothic"/>
                <a:cs typeface="Malgun Gothic"/>
              </a:rPr>
              <a:t>CasADi는 기호 인덱스로 벡터를 참조할 수 없다.</a:t>
            </a:r>
            <a:r>
              <a:rPr sz="1050" b="0" i="0">
                <a:solidFill>
                  <a:srgbClr val="16213A"/>
                </a:solidFill>
                <a:latin typeface="Arial"/>
                <a:ea typeface="Malgun Gothic"/>
                <a:cs typeface="Malgun Gothic"/>
              </a:rPr>
              <a:t> 그래서 "TravMap 격자를 매 재계획마다 파라미터로 넘기고 로봇 위치에서 이중선형 보간" 방식은 쓸 수 없다. 어느 네 칸을 고를지가 기호 위치에 달려 있는데 그 선택이 매끄럽지 않기 때문이다. </a:t>
            </a:r>
            <a:r>
              <a:rPr sz="1050" b="0" i="0">
                <a:solidFill>
                  <a:srgbClr val="16213A"/>
                </a:solidFill>
                <a:latin typeface="Consolas"/>
                <a:ea typeface="Malgun Gothic"/>
                <a:cs typeface="Malgun Gothic"/>
              </a:rPr>
              <a:t>ca.interpolant</a:t>
            </a:r>
            <a:r>
              <a:rPr sz="1050" b="0" i="0">
                <a:solidFill>
                  <a:srgbClr val="16213A"/>
                </a:solidFill>
                <a:latin typeface="Arial"/>
                <a:ea typeface="Malgun Gothic"/>
                <a:cs typeface="Malgun Gothic"/>
              </a:rPr>
              <a:t>는 반대로 </a:t>
            </a:r>
            <a:r>
              <a:rPr sz="1050" b="1" i="0">
                <a:solidFill>
                  <a:srgbClr val="16213A"/>
                </a:solidFill>
                <a:latin typeface="Arial"/>
                <a:ea typeface="Malgun Gothic"/>
                <a:cs typeface="Malgun Gothic"/>
              </a:rPr>
              <a:t>코드 생성 시점에 데이터가 고정</a:t>
            </a:r>
            <a:r>
              <a:rPr sz="1050" b="0" i="0">
                <a:solidFill>
                  <a:srgbClr val="16213A"/>
                </a:solidFill>
                <a:latin typeface="Arial"/>
                <a:ea typeface="Malgun Gothic"/>
                <a:cs typeface="Malgun Gothic"/>
              </a:rPr>
              <a:t>되어 변하는 환경에 못 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실무의 답은 셋이고, TP-0071은 1번으로 간다.</a:t>
            </a:r>
          </a:p>
        </p:txBody>
      </p:sp>
      <p:sp>
        <p:nvSpPr>
          <p:cNvPr id="7" name="TextBox 6"/>
          <p:cNvSpPr txBox="1"/>
          <p:nvPr/>
        </p:nvSpPr>
        <p:spPr>
          <a:xfrm>
            <a:off x="609600" y="2071886"/>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지역 장애물을 소수의 원·타원·다면체로 뽑아 파라미터로 넘긴다.</a:t>
            </a:r>
            <a:r>
              <a:rPr sz="1050" b="0" i="0">
                <a:solidFill>
                  <a:srgbClr val="16213A"/>
                </a:solidFill>
                <a:latin typeface="Arial"/>
                <a:ea typeface="Malgun Gothic"/>
                <a:cs typeface="Malgun Gothic"/>
              </a:rPr>
              <a:t> Zeilinger 그룹의 ClutteredEnvironment가 이 방식이다 (Controller 문서 E.7). 치명 셀 군집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개(8–16)를 원 </a:t>
            </a:r>
            <a:r>
              <a:rPr sz="1050" b="0" i="1">
                <a:solidFill>
                  <a:srgbClr val="16213A"/>
                </a:solidFill>
                <a:latin typeface="Arial"/>
                <a:ea typeface="Malgun Gothic"/>
                <a:cs typeface="Malgun Gothic"/>
              </a:rPr>
              <a:t>(cᵢ, rᵢ)</a:t>
            </a:r>
            <a:r>
              <a:rPr sz="1050" b="0" i="0">
                <a:solidFill>
                  <a:srgbClr val="16213A"/>
                </a:solidFill>
                <a:latin typeface="Arial"/>
                <a:ea typeface="Malgun Gothic"/>
                <a:cs typeface="Malgun Gothic"/>
              </a:rPr>
              <a:t>로 뽑아 </a:t>
            </a:r>
            <a:r>
              <a:rPr sz="1050" b="0" i="0">
                <a:solidFill>
                  <a:srgbClr val="16213A"/>
                </a:solidFill>
                <a:latin typeface="Consolas"/>
                <a:ea typeface="Malgun Gothic"/>
                <a:cs typeface="Malgun Gothic"/>
              </a:rPr>
              <a:t>p</a:t>
            </a:r>
            <a:r>
              <a:rPr sz="1050" b="0" i="0">
                <a:solidFill>
                  <a:srgbClr val="16213A"/>
                </a:solidFill>
                <a:latin typeface="Arial"/>
                <a:ea typeface="Malgun Gothic"/>
                <a:cs typeface="Malgun Gothic"/>
              </a:rPr>
              <a:t>로 넘기고 제약을 건다.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지역 비용장을 소수 파라미터의 매끄러운 함수로 근사한다(다항식·RBF).</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격자를 고정한 채 코드 생성한다. 정적 지도에만 쓸 수 있다.</a:t>
            </a:r>
          </a:p>
        </p:txBody>
      </p:sp>
      <p:pic>
        <p:nvPicPr>
          <p:cNvPr id="8" name="Picture 7" descr="image.png"/>
          <p:cNvPicPr>
            <a:picLocks noChangeAspect="1"/>
          </p:cNvPicPr>
          <p:nvPr/>
        </p:nvPicPr>
        <p:blipFill>
          <a:blip r:embed="rId3"/>
          <a:stretch>
            <a:fillRect/>
          </a:stretch>
        </p:blipFill>
        <p:spPr>
          <a:xfrm>
            <a:off x="609600" y="3077567"/>
            <a:ext cx="2051050" cy="241300"/>
          </a:xfrm>
          <a:prstGeom prst="rect">
            <a:avLst/>
          </a:prstGeom>
        </p:spPr>
      </p:pic>
      <p:sp>
        <p:nvSpPr>
          <p:cNvPr id="9" name="TextBox 8"/>
          <p:cNvSpPr txBox="1"/>
          <p:nvPr/>
        </p:nvSpPr>
        <p:spPr>
          <a:xfrm>
            <a:off x="609600" y="3355082"/>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이 </a:t>
            </a:r>
            <a:r>
              <a:rPr sz="1050" b="1" i="1">
                <a:solidFill>
                  <a:srgbClr val="C2410C"/>
                </a:solidFill>
                <a:latin typeface="Arial"/>
                <a:ea typeface="Malgun Gothic"/>
                <a:cs typeface="Malgun Gothic"/>
              </a:rPr>
              <a:t>ρₖ</a:t>
            </a:r>
            <a:r>
              <a:rPr sz="1050" b="1" i="0">
                <a:solidFill>
                  <a:srgbClr val="C2410C"/>
                </a:solidFill>
                <a:latin typeface="Arial"/>
                <a:ea typeface="Malgun Gothic"/>
                <a:cs typeface="Malgun Gothic"/>
              </a:rPr>
              <a:t>가 GP 분산(TP-0069)과 튜브·SLP가 조일 바로 그 양이다.</a:t>
            </a:r>
            <a:r>
              <a:rPr sz="1050" b="0" i="0">
                <a:solidFill>
                  <a:srgbClr val="16213A"/>
                </a:solidFill>
                <a:latin typeface="Arial"/>
                <a:ea typeface="Malgun Gothic"/>
                <a:cs typeface="Malgun Gothic"/>
              </a:rPr>
              <a:t> 0단계에 이 제약이 없어서 세 기법을 얹을 자리도 아직 없다는 뜻이기도 하다.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M.3.5 TP-0071 결과 — 6/12에서 9/12로, 남은 셋은 형태가 아니라 솔버 문제다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30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2026-10-01 정정 — 남은 셋은 솔버가 아니라 제약의 구멍이었다(M.3.10).</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넣었나.</a:t>
            </a:r>
            <a:r>
              <a:rPr sz="1050" b="0" i="0">
                <a:solidFill>
                  <a:srgbClr val="16213A"/>
                </a:solidFill>
                <a:latin typeface="Arial"/>
                <a:ea typeface="Malgun Gothic"/>
                <a:cs typeface="Malgun Gothic"/>
              </a:rPr>
              <a:t> 노드마다 </a:t>
            </a:r>
            <a:r>
              <a:rPr sz="1050" b="1" i="0">
                <a:solidFill>
                  <a:srgbClr val="16213A"/>
                </a:solidFill>
                <a:latin typeface="Arial"/>
                <a:ea typeface="Malgun Gothic"/>
                <a:cs typeface="Malgun Gothic"/>
              </a:rPr>
              <a:t>접평면 하나</a:t>
            </a:r>
            <a:r>
              <a:rPr sz="1050" b="0" i="0">
                <a:solidFill>
                  <a:srgbClr val="16213A"/>
                </a:solidFill>
                <a:latin typeface="Arial"/>
                <a:ea typeface="Malgun Gothic"/>
                <a:cs typeface="Malgun Gothic"/>
              </a:rPr>
              <a:t>다. 매 제어 스텝에 치명 셀의 거리 변환(EDT)을 구하고, 이전 iterate가 놓인 자리에서 가장 가까운 치명 셀을 </a:t>
            </a:r>
            <a:r>
              <a:rPr sz="1050" b="1" i="0">
                <a:solidFill>
                  <a:srgbClr val="16213A"/>
                </a:solidFill>
                <a:latin typeface="Arial"/>
                <a:ea typeface="Malgun Gothic"/>
                <a:cs typeface="Malgun Gothic"/>
              </a:rPr>
              <a:t>수치로</a:t>
            </a:r>
            <a:r>
              <a:rPr sz="1050" b="0" i="0">
                <a:solidFill>
                  <a:srgbClr val="16213A"/>
                </a:solidFill>
                <a:latin typeface="Arial"/>
                <a:ea typeface="Malgun Gothic"/>
                <a:cs typeface="Malgun Gothic"/>
              </a:rPr>
              <a:t> 찾아 그 접평면을 파라미터로 넘긴다. 원으로 덮지 않은 이유는 travplan의 치명 기하가 대부분 </a:t>
            </a:r>
            <a:r>
              <a:rPr sz="1050" b="1" i="0">
                <a:solidFill>
                  <a:srgbClr val="16213A"/>
                </a:solidFill>
                <a:latin typeface="Arial"/>
                <a:ea typeface="Malgun Gothic"/>
                <a:cs typeface="Malgun Gothic"/>
              </a:rPr>
              <a:t>벽</a:t>
            </a:r>
            <a:r>
              <a:rPr sz="1050" b="0" i="0">
                <a:solidFill>
                  <a:srgbClr val="16213A"/>
                </a:solidFill>
                <a:latin typeface="Arial"/>
                <a:ea typeface="Malgun Gothic"/>
                <a:cs typeface="Malgun Gothic"/>
              </a:rPr>
              <a:t>(연석 면)이라 원이 지나치게 크게 잡기 때문이다. 노드마다 따로 걸리므로 </a:t>
            </a:r>
            <a:r>
              <a:rPr sz="1050" b="1" i="0">
                <a:solidFill>
                  <a:srgbClr val="16213A"/>
                </a:solidFill>
                <a:latin typeface="Arial"/>
                <a:ea typeface="Malgun Gothic"/>
                <a:cs typeface="Malgun Gothic"/>
              </a:rPr>
              <a:t>좁은 틈도 표현된다</a:t>
            </a:r>
            <a:r>
              <a:rPr sz="1050" b="0" i="0">
                <a:solidFill>
                  <a:srgbClr val="16213A"/>
                </a:solidFill>
                <a:latin typeface="Arial"/>
                <a:ea typeface="Malgun Gothic"/>
                <a:cs typeface="Malgun Gothic"/>
              </a:rPr>
              <a:t> — 램프 양옆 벽을 서로 다른 노드가 각각 집는다.</a:t>
            </a:r>
          </a:p>
        </p:txBody>
      </p:sp>
      <p:pic>
        <p:nvPicPr>
          <p:cNvPr id="7" name="Picture 6" descr="image.png"/>
          <p:cNvPicPr>
            <a:picLocks noChangeAspect="1"/>
          </p:cNvPicPr>
          <p:nvPr/>
        </p:nvPicPr>
        <p:blipFill>
          <a:blip r:embed="rId3"/>
          <a:stretch>
            <a:fillRect/>
          </a:stretch>
        </p:blipFill>
        <p:spPr>
          <a:xfrm>
            <a:off x="609600" y="2071886"/>
            <a:ext cx="4600575" cy="393700"/>
          </a:xfrm>
          <a:prstGeom prst="rect">
            <a:avLst/>
          </a:prstGeom>
        </p:spPr>
      </p:pic>
      <p:sp>
        <p:nvSpPr>
          <p:cNvPr id="8" name="TextBox 7"/>
          <p:cNvSpPr txBox="1"/>
          <p:nvPr/>
        </p:nvSpPr>
        <p:spPr>
          <a:xfrm>
            <a:off x="609600" y="24829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조율에서 배운 것(seed 0, 4 시나리오).</a:t>
            </a:r>
            <a:r>
              <a:rPr sz="1050" b="0" i="0">
                <a:solidFill>
                  <a:srgbClr val="16213A"/>
                </a:solidFill>
                <a:latin typeface="Arial"/>
                <a:ea typeface="Malgun Gothic"/>
                <a:cs typeface="Malgun Gothic"/>
              </a:rPr>
              <a:t> 처음 넣었을 때 2/4였다. 원인을 계측해 보니 예측 노드가 제약을 위반한 채로 최적이 되고 있었다(</a:t>
            </a:r>
            <a:r>
              <a:rPr sz="1050" b="0" i="0">
                <a:solidFill>
                  <a:srgbClr val="16213A"/>
                </a:solidFill>
                <a:latin typeface="Consolas"/>
                <a:ea typeface="Malgun Gothic"/>
                <a:cs typeface="Malgun Gothic"/>
              </a:rPr>
              <a:t>min h ≈ −0.13</a:t>
            </a:r>
            <a:r>
              <a:rPr sz="1050" b="0" i="0">
                <a:solidFill>
                  <a:srgbClr val="16213A"/>
                </a:solidFill>
                <a:latin typeface="Arial"/>
                <a:ea typeface="Malgun Gothic"/>
                <a:cs typeface="Malgun Gothic"/>
              </a:rPr>
              <a:t>, 그런데 </a:t>
            </a:r>
            <a:r>
              <a:rPr sz="1050" b="0" i="0">
                <a:solidFill>
                  <a:srgbClr val="16213A"/>
                </a:solidFill>
                <a:latin typeface="Consolas"/>
                <a:ea typeface="Malgun Gothic"/>
                <a:cs typeface="Malgun Gothic"/>
              </a:rPr>
              <a:t>status = 0</a:t>
            </a:r>
            <a:r>
              <a:rPr sz="1050" b="0" i="0">
                <a:solidFill>
                  <a:srgbClr val="16213A"/>
                </a:solidFill>
                <a:latin typeface="Arial"/>
                <a:ea typeface="Malgun Gothic"/>
                <a:cs typeface="Malgun Gothic"/>
              </a:rPr>
              <a:t>). 두 가지를 따로 바꿔 봤다.</a:t>
            </a:r>
          </a:p>
        </p:txBody>
      </p:sp>
      <p:graphicFrame>
        <p:nvGraphicFramePr>
          <p:cNvPr id="9" name="Table 8"/>
          <p:cNvGraphicFramePr>
            <a:graphicFrameLocks noGrp="1"/>
          </p:cNvGraphicFramePr>
          <p:nvPr/>
        </p:nvGraphicFramePr>
        <p:xfrm>
          <a:off x="609600" y="3004840"/>
          <a:ext cx="10966449" cy="1182528"/>
        </p:xfrm>
        <a:graphic>
          <a:graphicData uri="http://schemas.openxmlformats.org/drawingml/2006/table">
            <a:tbl>
              <a:tblPr firstRow="1" bandRow="1">
                <a:tableStyleId>{5C22544A-7EE6-4342-B048-85BDC9FD1C3A}</a:tableStyleId>
              </a:tblPr>
              <a:tblGrid>
                <a:gridCol w="3606899"/>
                <a:gridCol w="980777"/>
                <a:gridCol w="6378773"/>
              </a:tblGrid>
              <a:tr h="197088">
                <a:tc>
                  <a:txBody>
                    <a:bodyPr wrap="square"/>
                    <a:lstStyle/>
                    <a:p>
                      <a:r>
                        <a:rPr sz="800" b="1" i="0">
                          <a:solidFill>
                            <a:srgbClr val="F4F1EA"/>
                          </a:solidFill>
                          <a:latin typeface="Arial"/>
                          <a:ea typeface="Malgun Gothic"/>
                          <a:cs typeface="Malgun Gothic"/>
                        </a:rPr>
                        <a:t>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느슨한 벌점 1e4, RTI 1회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처음 넣은 상태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벌점만 1e6으로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혼자서는 아무것도 바꾸지 못한다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RTI만 3회로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a:t>
                      </a:r>
                    </a:p>
                  </a:txBody>
                  <a:tcPr marL="63500" marR="63500" marT="12700" marB="12700">
                    <a:solidFill>
                      <a:srgbClr val="FFFDF8"/>
                    </a:solidFill>
                  </a:tcPr>
                </a:tc>
                <a:tc>
                  <a:txBody>
                    <a:bodyPr wrap="square"/>
                    <a:lstStyle/>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벌점 1e6 + RTI 3회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채택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하드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QP가 </a:t>
                      </a:r>
                      <a:r>
                        <a:rPr sz="800" b="0" i="0">
                          <a:solidFill>
                            <a:srgbClr val="16213A"/>
                          </a:solidFill>
                          <a:latin typeface="Consolas"/>
                          <a:ea typeface="Malgun Gothic"/>
                          <a:cs typeface="Malgun Gothic"/>
                        </a:rPr>
                        <a:t>status 3</a:t>
                      </a:r>
                      <a:r>
                        <a:rPr sz="800" b="0" i="0">
                          <a:solidFill>
                            <a:srgbClr val="16213A"/>
                          </a:solidFill>
                          <a:latin typeface="Arial"/>
                          <a:ea typeface="Malgun Gothic"/>
                          <a:cs typeface="Malgun Gothic"/>
                        </a:rPr>
                        <a:t>으로 터지고 로봇이 눈을 감는다</a:t>
                      </a:r>
                    </a:p>
                  </a:txBody>
                  <a:tcPr marL="63500" marR="63500" marT="12700" marB="12700">
                    <a:solidFill>
                      <a:srgbClr val="FFFDF8"/>
                    </a:solidFill>
                  </a:tcPr>
                </a:tc>
              </a:tr>
            </a:tbl>
          </a:graphicData>
        </a:graphic>
      </p:graphicFrame>
      <p:sp>
        <p:nvSpPr>
          <p:cNvPr id="10" name="TextBox 9"/>
          <p:cNvSpPr txBox="1"/>
          <p:nvPr/>
        </p:nvSpPr>
        <p:spPr>
          <a:xfrm>
            <a:off x="609600" y="457825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둘이 함께여야 한다.</a:t>
            </a:r>
            <a:r>
              <a:rPr sz="1050" b="0" i="0">
                <a:solidFill>
                  <a:srgbClr val="16213A"/>
                </a:solidFill>
                <a:latin typeface="Arial"/>
                <a:ea typeface="Malgun Gothic"/>
                <a:cs typeface="Malgun Gothic"/>
              </a:rPr>
              <a:t> 이유는 접평면이 </a:t>
            </a:r>
            <a:r>
              <a:rPr sz="1050" b="1" i="0">
                <a:solidFill>
                  <a:srgbClr val="16213A"/>
                </a:solidFill>
                <a:latin typeface="Arial"/>
                <a:ea typeface="Malgun Gothic"/>
                <a:cs typeface="Malgun Gothic"/>
              </a:rPr>
              <a:t>iterate에 매달려 있기</a:t>
            </a:r>
            <a:r>
              <a:rPr sz="1050" b="0" i="0">
                <a:solidFill>
                  <a:srgbClr val="16213A"/>
                </a:solidFill>
                <a:latin typeface="Arial"/>
                <a:ea typeface="Malgun Gothic"/>
                <a:cs typeface="Malgun Gothic"/>
              </a:rPr>
              <a:t> 때문이다. RTI는 호출당 뉴턴 한 걸음이라, 한 번 풀면 노드가 움직이고 그러면 접평면도 달라져야 한다. 반복을 늘려야 제약과 해가 같은 자리에서 만난다. </a:t>
            </a:r>
            <a:r>
              <a:rPr sz="1050" b="1" i="0">
                <a:solidFill>
                  <a:srgbClr val="16213A"/>
                </a:solidFill>
                <a:latin typeface="Arial"/>
                <a:ea typeface="Malgun Gothic"/>
                <a:cs typeface="Malgun Gothic"/>
              </a:rPr>
              <a:t>하드 제약이 더 나쁘다는 것도 기록해 둘 만하다</a:t>
            </a:r>
            <a:r>
              <a:rPr sz="1050" b="0" i="0">
                <a:solidFill>
                  <a:srgbClr val="16213A"/>
                </a:solidFill>
                <a:latin typeface="Arial"/>
                <a:ea typeface="Malgun Gothic"/>
                <a:cs typeface="Malgun Gothic"/>
              </a:rPr>
              <a:t> — 풀리지 않는 QP는 안전이 아니라 무작위다.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M.3.5 TP-0071 결과 — 6/12에서 9/12로, 남은 셋은 형태가 아니라 솔버 문제다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31 / 112</a:t>
            </a:r>
          </a:p>
        </p:txBody>
      </p:sp>
      <p:pic>
        <p:nvPicPr>
          <p:cNvPr id="5" name="Picture 4" descr="image.jpg"/>
          <p:cNvPicPr>
            <a:picLocks noChangeAspect="1"/>
          </p:cNvPicPr>
          <p:nvPr/>
        </p:nvPicPr>
        <p:blipFill>
          <a:blip r:embed="rId3"/>
          <a:stretch>
            <a:fillRect/>
          </a:stretch>
        </p:blipFill>
        <p:spPr>
          <a:xfrm>
            <a:off x="2047875" y="1244600"/>
            <a:ext cx="8096250" cy="4445000"/>
          </a:xfrm>
          <a:prstGeom prst="rect">
            <a:avLst/>
          </a:prstGeom>
        </p:spPr>
      </p:pic>
      <p:sp>
        <p:nvSpPr>
          <p:cNvPr id="6" name="TextBox 5"/>
          <p:cNvSpPr txBox="1"/>
          <p:nvPr/>
        </p:nvSpPr>
        <p:spPr>
          <a:xfrm>
            <a:off x="2047875" y="5727700"/>
            <a:ext cx="8096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같은 네 장면, 치명을 제약으로 넣은 뒤. 0단계(M.3.3)에서는 네 칸 중 셋에서 MPC가 죽었는데 이제 하나만 죽는다. curb_ramp에서는 램프 틈을 통과하고, bumps_potholes에서는 블록 사이를 MPPI와 비슷한 선으로 지난다.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M.3.5 TP-0071 결과 — 6/12에서 9/12로, 남은 셋은 형태가 아니라 솔버 문제다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32 / 112</a:t>
            </a:r>
          </a:p>
        </p:txBody>
      </p:sp>
      <p:sp>
        <p:nvSpPr>
          <p:cNvPr id="5" name="TextBox 4"/>
          <p:cNvSpPr txBox="1"/>
          <p:nvPr/>
        </p:nvSpPr>
        <p:spPr>
          <a:xfrm>
            <a:off x="609600" y="1244600"/>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같은 curb_ramp seed 0. 0단계(M.3.3)에서 치명 셀을 관통하던 굵은 예측선이 이제 붉은 칸을 피해 간다. 대신 램프 앞에서 한 번 크게 돌아간다 — 여유 0.15 m를 지키느라 경로가 23 m로 늘어난 것이 이 장면이다.</a:t>
            </a:r>
          </a:p>
        </p:txBody>
      </p:sp>
      <p:sp>
        <p:nvSpPr>
          <p:cNvPr id="6" name="TextBox 5"/>
          <p:cNvSpPr txBox="1"/>
          <p:nvPr/>
        </p:nvSpPr>
        <p:spPr>
          <a:xfrm>
            <a:off x="609600" y="31888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전체 결과(4 시나리오 × 3 seed, </a:t>
            </a:r>
            <a:r>
              <a:rPr sz="1050" b="1" i="0">
                <a:solidFill>
                  <a:srgbClr val="16213A"/>
                </a:solidFill>
                <a:latin typeface="Consolas"/>
                <a:ea typeface="Malgun Gothic"/>
                <a:cs typeface="Malgun Gothic"/>
              </a:rPr>
              <a:t>results/tp0071_constrained</a:t>
            </a:r>
            <a:r>
              <a:rPr sz="1050" b="1" i="0">
                <a:solidFill>
                  <a:srgbClr val="16213A"/>
                </a:solidFill>
                <a:latin typeface="Arial"/>
                <a:ea typeface="Malgun Gothic"/>
                <a:cs typeface="Malgun Gothic"/>
              </a:rPr>
              <a:t>).</a:t>
            </a:r>
          </a:p>
        </p:txBody>
      </p:sp>
      <p:graphicFrame>
        <p:nvGraphicFramePr>
          <p:cNvPr id="7" name="Table 6"/>
          <p:cNvGraphicFramePr>
            <a:graphicFrameLocks noGrp="1"/>
          </p:cNvGraphicFramePr>
          <p:nvPr/>
        </p:nvGraphicFramePr>
        <p:xfrm>
          <a:off x="609600" y="3494286"/>
          <a:ext cx="10966450" cy="788352"/>
        </p:xfrm>
        <a:graphic>
          <a:graphicData uri="http://schemas.openxmlformats.org/drawingml/2006/table">
            <a:tbl>
              <a:tblPr firstRow="1" bandRow="1">
                <a:tableStyleId>{5C22544A-7EE6-4342-B048-85BDC9FD1C3A}</a:tableStyleId>
              </a:tblPr>
              <a:tblGrid>
                <a:gridCol w="4207371"/>
                <a:gridCol w="1625600"/>
                <a:gridCol w="1871464"/>
                <a:gridCol w="1245890"/>
                <a:gridCol w="2016125"/>
              </a:tblGrid>
              <a:tr h="197088">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 cost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0단계(지형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8.6 ms</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1단계(치명을 제약으로)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9/12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0.031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13.5 ms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기준 </a:t>
                      </a:r>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12.6 ms</a:t>
                      </a:r>
                    </a:p>
                  </a:txBody>
                  <a:tcPr marL="63500" marR="63500" marT="12700" marB="12700">
                    <a:solidFill>
                      <a:srgbClr val="FFFDF8"/>
                    </a:solidFill>
                  </a:tcPr>
                </a:tc>
              </a:tr>
            </a:tbl>
          </a:graphicData>
        </a:graphic>
      </p:graphicFrame>
      <p:sp>
        <p:nvSpPr>
          <p:cNvPr id="8" name="TextBox 7"/>
          <p:cNvSpPr txBox="1"/>
          <p:nvPr/>
        </p:nvSpPr>
        <p:spPr>
          <a:xfrm>
            <a:off x="609600" y="4574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남은 세 실패는 한 가지를 가리킨다.</a:t>
            </a:r>
            <a:r>
              <a:rPr sz="1050" b="0" i="0">
                <a:solidFill>
                  <a:srgbClr val="16213A"/>
                </a:solidFill>
                <a:latin typeface="Arial"/>
                <a:ea typeface="Malgun Gothic"/>
                <a:cs typeface="Malgun Gothic"/>
              </a:rPr>
              <a:t> 실패한 에피소드가 </a:t>
            </a:r>
            <a:r>
              <a:rPr sz="1050" b="1" i="0">
                <a:solidFill>
                  <a:srgbClr val="16213A"/>
                </a:solidFill>
                <a:latin typeface="Arial"/>
                <a:ea typeface="Malgun Gothic"/>
                <a:cs typeface="Malgun Gothic"/>
              </a:rPr>
              <a:t>제어 시간 상위 세 개와 정확히 같다</a:t>
            </a:r>
            <a:r>
              <a:rPr sz="1050" b="0" i="0">
                <a:solidFill>
                  <a:srgbClr val="16213A"/>
                </a:solidFill>
                <a:latin typeface="Arial"/>
                <a:ea typeface="Malgun Gothic"/>
                <a:cs typeface="Malgun Gothic"/>
              </a:rPr>
              <a:t>(26.2, 26.2, 15.0 ms — 성공한 아홉은 9.1–12.1 ms). 그 구간에서 QP가 </a:t>
            </a:r>
            <a:r>
              <a:rPr sz="1050" b="0" i="0">
                <a:solidFill>
                  <a:srgbClr val="16213A"/>
                </a:solidFill>
                <a:latin typeface="Consolas"/>
                <a:ea typeface="Malgun Gothic"/>
                <a:cs typeface="Malgun Gothic"/>
              </a:rPr>
              <a:t>status 3</a:t>
            </a:r>
            <a:r>
              <a:rPr sz="1050" b="0" i="0">
                <a:solidFill>
                  <a:srgbClr val="16213A"/>
                </a:solidFill>
                <a:latin typeface="Arial"/>
                <a:ea typeface="Malgun Gothic"/>
                <a:cs typeface="Malgun Gothic"/>
              </a:rPr>
              <a:t>(반복 한계)을 뱉는다. </a:t>
            </a:r>
            <a:r>
              <a:rPr sz="1050" b="1" i="0">
                <a:solidFill>
                  <a:srgbClr val="C2410C"/>
                </a:solidFill>
                <a:latin typeface="Arial"/>
                <a:ea typeface="Malgun Gothic"/>
                <a:cs typeface="Malgun Gothic"/>
              </a:rPr>
              <a:t>즉 남은 문제는 제약의 형태가 아니라 그 QP를 제시간에 푸는 일이다.</a:t>
            </a:r>
            <a:r>
              <a:rPr sz="1050" b="0" i="0">
                <a:solidFill>
                  <a:srgbClr val="16213A"/>
                </a:solidFill>
                <a:latin typeface="Arial"/>
                <a:ea typeface="Malgun Gothic"/>
                <a:cs typeface="Malgun Gothic"/>
              </a:rPr>
              <a:t> 다음에 볼 것은 셋이다. QP 반복 예산과 condensing 지평(</a:t>
            </a:r>
            <a:r>
              <a:rPr sz="1050" b="0" i="0">
                <a:solidFill>
                  <a:srgbClr val="16213A"/>
                </a:solidFill>
                <a:latin typeface="Consolas"/>
                <a:ea typeface="Malgun Gothic"/>
                <a:cs typeface="Malgun Gothic"/>
              </a:rPr>
              <a:t>qp_solver_cond_N=5</a:t>
            </a:r>
            <a:r>
              <a:rPr sz="1050" b="0" i="0">
                <a:solidFill>
                  <a:srgbClr val="16213A"/>
                </a:solidFill>
                <a:latin typeface="Arial"/>
                <a:ea typeface="Malgun Gothic"/>
                <a:cs typeface="Malgun Gothic"/>
              </a:rPr>
              <a:t>), 실패 스텝의 warm start 품질, 그리고 접평면이 스텝 사이에 튀는지 여부다.</a:t>
            </a:r>
          </a:p>
        </p:txBody>
      </p:sp>
      <p:sp>
        <p:nvSpPr>
          <p:cNvPr id="9" name="TextBox 8"/>
          <p:cNvSpPr txBox="1"/>
          <p:nvPr/>
        </p:nvSpPr>
        <p:spPr>
          <a:xfrm>
            <a:off x="609600" y="53133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대가도 적어 둔다.</a:t>
            </a:r>
            <a:r>
              <a:rPr sz="1050" b="0" i="0">
                <a:solidFill>
                  <a:srgbClr val="16213A"/>
                </a:solidFill>
                <a:latin typeface="Arial"/>
                <a:ea typeface="Malgun Gothic"/>
                <a:cs typeface="Malgun Gothic"/>
              </a:rPr>
              <a:t> 성공한 curb_ramp의 경로 길이가 23–25 m다(MPPI 13.8 m). 여유 0.15 m를 지키느라 크게 돌아간다. 여유를 줄이면 빨라지지만 실패가 늘 것이다 — 이 교환을 손으로 맞추지 않는 방법이 E.6의 문맥 베이즈 최적화다.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M.3.6 GP 잔차 동역학 — 배울 것을 먼저 만들었다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33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막힌 곳부터.</a:t>
            </a:r>
            <a:r>
              <a:rPr sz="1050" b="0" i="0">
                <a:solidFill>
                  <a:srgbClr val="16213A"/>
                </a:solidFill>
                <a:latin typeface="Arial"/>
                <a:ea typeface="Malgun Gothic"/>
                <a:cs typeface="Malgun Gothic"/>
              </a:rPr>
              <a:t> 0·1단계 내내 </a:t>
            </a:r>
            <a:r>
              <a:rPr sz="1050" b="0" i="0">
                <a:solidFill>
                  <a:srgbClr val="16213A"/>
                </a:solidFill>
                <a:latin typeface="Consolas"/>
                <a:ea typeface="Malgun Gothic"/>
                <a:cs typeface="Malgun Gothic"/>
              </a:rPr>
              <a:t>KinematicSim</a:t>
            </a:r>
            <a:r>
              <a:rPr sz="1050" b="0" i="0">
                <a:solidFill>
                  <a:srgbClr val="16213A"/>
                </a:solidFill>
                <a:latin typeface="Arial"/>
                <a:ea typeface="Malgun Gothic"/>
                <a:cs typeface="Malgun Gothic"/>
              </a:rPr>
              <a:t>과 MPC가 </a:t>
            </a:r>
            <a:r>
              <a:rPr sz="1050" b="1" i="0">
                <a:solidFill>
                  <a:srgbClr val="16213A"/>
                </a:solidFill>
                <a:latin typeface="Arial"/>
                <a:ea typeface="Malgun Gothic"/>
                <a:cs typeface="Malgun Gothic"/>
              </a:rPr>
              <a:t>같은 </a:t>
            </a:r>
            <a:r>
              <a:rPr sz="1050" b="1" i="0">
                <a:solidFill>
                  <a:srgbClr val="16213A"/>
                </a:solidFill>
                <a:latin typeface="Consolas"/>
                <a:ea typeface="Malgun Gothic"/>
                <a:cs typeface="Malgun Gothic"/>
              </a:rPr>
              <a:t>SwerveModel</a:t>
            </a:r>
            <a:r>
              <a:rPr sz="1050" b="1" i="0">
                <a:solidFill>
                  <a:srgbClr val="16213A"/>
                </a:solidFill>
                <a:latin typeface="Arial"/>
                <a:ea typeface="Malgun Gothic"/>
                <a:cs typeface="Malgun Gothic"/>
              </a:rPr>
              <a:t>을 썼다.</a:t>
            </a:r>
            <a:r>
              <a:rPr sz="1050" b="0" i="0">
                <a:solidFill>
                  <a:srgbClr val="16213A"/>
                </a:solidFill>
                <a:latin typeface="Arial"/>
                <a:ea typeface="Malgun Gothic"/>
                <a:cs typeface="Malgun Gothic"/>
              </a:rPr>
              <a:t> 모델 오차가 정의상 0이라 GP가 배울 것이 없었다. 그래서 순서를 뒤집어, plant를 먼저 세웠다(</a:t>
            </a:r>
            <a:r>
              <a:rPr sz="1050" b="0" i="0">
                <a:solidFill>
                  <a:srgbClr val="16213A"/>
                </a:solidFill>
                <a:latin typeface="Consolas"/>
                <a:ea typeface="Malgun Gothic"/>
                <a:cs typeface="Malgun Gothic"/>
              </a:rPr>
              <a:t>travplan/robot/plant.py</a:t>
            </a:r>
            <a:r>
              <a:rPr sz="1050" b="0" i="0">
                <a:solidFill>
                  <a:srgbClr val="16213A"/>
                </a:solidFill>
                <a:latin typeface="Arial"/>
                <a:ea typeface="Malgun Gothic"/>
                <a:cs typeface="Malgun Gothic"/>
              </a:rPr>
              <a:t>, TP-0033/0034).</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plant가 만드는 세 가지.</a:t>
            </a:r>
            <a:r>
              <a:rPr sz="1050" b="0" i="0">
                <a:solidFill>
                  <a:srgbClr val="16213A"/>
                </a:solidFill>
                <a:latin typeface="Arial"/>
                <a:ea typeface="Malgun Gothic"/>
                <a:cs typeface="Malgun Gothic"/>
              </a:rPr>
              <a:t> 크기 순이다.</a:t>
            </a:r>
          </a:p>
        </p:txBody>
      </p:sp>
      <p:sp>
        <p:nvSpPr>
          <p:cNvPr id="7" name="TextBox 6"/>
          <p:cNvSpPr txBox="1"/>
          <p:nvPr/>
        </p:nvSpPr>
        <p:spPr>
          <a:xfrm>
            <a:off x="609600" y="20718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액추에이터 지연</a:t>
            </a:r>
            <a:r>
              <a:rPr sz="1050" b="0" i="0">
                <a:solidFill>
                  <a:srgbClr val="16213A"/>
                </a:solidFill>
                <a:latin typeface="Arial"/>
                <a:ea typeface="Malgun Gothic"/>
                <a:cs typeface="Malgun Gothic"/>
              </a:rPr>
              <a:t> — twist에 대한 1차 지연(τ = 0.2 s).</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모듈 기구학</a:t>
            </a:r>
            <a:r>
              <a:rPr sz="1050" b="0" i="0">
                <a:solidFill>
                  <a:srgbClr val="16213A"/>
                </a:solidFill>
                <a:latin typeface="Arial"/>
                <a:ea typeface="Malgun Gothic"/>
                <a:cs typeface="Malgun Gothic"/>
              </a:rPr>
              <a:t> — 조향 속도·범위 한계, 모듈 반전, 비동축 오프셋의 스크럽.</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지형 슬립</a:t>
            </a:r>
            <a:r>
              <a:rPr sz="1050" b="0" i="0">
                <a:solidFill>
                  <a:srgbClr val="16213A"/>
                </a:solidFill>
                <a:latin typeface="Arial"/>
                <a:ea typeface="Malgun Gothic"/>
                <a:cs typeface="Malgun Gothic"/>
              </a:rPr>
              <a:t> — 국소 경사·거칠기에서 뽑은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로 실현 twist를 </a:t>
            </a:r>
            <a:r>
              <a:rPr sz="1050" b="0" i="1">
                <a:solidFill>
                  <a:srgbClr val="16213A"/>
                </a:solidFill>
                <a:latin typeface="Arial"/>
                <a:ea typeface="Malgun Gothic"/>
                <a:cs typeface="Malgun Gothic"/>
              </a:rPr>
              <a:t>(1-s)</a:t>
            </a:r>
            <a:r>
              <a:rPr sz="1050" b="0" i="0">
                <a:solidFill>
                  <a:srgbClr val="16213A"/>
                </a:solidFill>
                <a:latin typeface="Arial"/>
                <a:ea typeface="Malgun Gothic"/>
                <a:cs typeface="Malgun Gothic"/>
              </a:rPr>
              <a:t>배.</a:t>
            </a:r>
          </a:p>
        </p:txBody>
      </p:sp>
      <p:pic>
        <p:nvPicPr>
          <p:cNvPr id="8" name="Picture 7" descr="image.png"/>
          <p:cNvPicPr>
            <a:picLocks noChangeAspect="1"/>
          </p:cNvPicPr>
          <p:nvPr/>
        </p:nvPicPr>
        <p:blipFill>
          <a:blip r:embed="rId3"/>
          <a:stretch>
            <a:fillRect/>
          </a:stretch>
        </p:blipFill>
        <p:spPr>
          <a:xfrm>
            <a:off x="609600" y="2861072"/>
            <a:ext cx="3365500" cy="2413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M.3.6 GP 잔차 동역학 — 배울 것을 먼저 만들었다</a:t>
            </a:r>
            <a:r>
              <a:rPr sz="1050" b="0" i="0">
                <a:solidFill>
                  <a:srgbClr val="5A6478"/>
                </a:solidFill>
                <a:latin typeface="Arial"/>
                <a:ea typeface="Malgun Gothic"/>
                <a:cs typeface="Malgun Gothic"/>
              </a:rPr>
              <a:t>  자세히: 비동축에서 모듈 반전이 공짜가 아니다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34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plant를 만들며 걸린 것이 하나 있다. 동축 스워브에서는 조향각을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 돌리고 바퀴를 거꾸로 돌리면 같은 운동이 나오므로, 조향량을 줄이려고 흔히 그렇게 한다. </a:t>
            </a:r>
            <a:r>
              <a:rPr sz="1050" b="1" i="0">
                <a:solidFill>
                  <a:srgbClr val="C2410C"/>
                </a:solidFill>
                <a:latin typeface="Arial"/>
                <a:ea typeface="Malgun Gothic"/>
                <a:cs typeface="Malgun Gothic"/>
              </a:rPr>
              <a:t>비동축에서는 그렇지 않다. 모듈을 </a:t>
            </a:r>
            <a:r>
              <a:rPr sz="1050" b="1" i="1">
                <a:solidFill>
                  <a:srgbClr val="C2410C"/>
                </a:solidFill>
                <a:latin typeface="Arial"/>
                <a:ea typeface="Malgun Gothic"/>
                <a:cs typeface="Malgun Gothic"/>
              </a:rPr>
              <a:t>π</a:t>
            </a:r>
            <a:r>
              <a:rPr sz="1050" b="1" i="0">
                <a:solidFill>
                  <a:srgbClr val="C2410C"/>
                </a:solidFill>
                <a:latin typeface="Arial"/>
                <a:ea typeface="Malgun Gothic"/>
                <a:cs typeface="Malgun Gothic"/>
              </a:rPr>
              <a:t> 돌리면 접지점이 </a:t>
            </a:r>
            <a:r>
              <a:rPr sz="1050" b="1" i="1">
                <a:solidFill>
                  <a:srgbClr val="C2410C"/>
                </a:solidFill>
                <a:latin typeface="Arial"/>
                <a:ea typeface="Malgun Gothic"/>
                <a:cs typeface="Malgun Gothic"/>
              </a:rPr>
              <a:t>2d</a:t>
            </a:r>
            <a:r>
              <a:rPr sz="1050" b="1" i="0">
                <a:solidFill>
                  <a:srgbClr val="C2410C"/>
                </a:solidFill>
                <a:latin typeface="Arial"/>
                <a:ea typeface="Malgun Gothic"/>
                <a:cs typeface="Malgun Gothic"/>
              </a:rPr>
              <a:t>만큼 옮겨가기 때문이다.</a:t>
            </a:r>
          </a:p>
        </p:txBody>
      </p:sp>
      <p:pic>
        <p:nvPicPr>
          <p:cNvPr id="6" name="Picture 5" descr="image.png"/>
          <p:cNvPicPr>
            <a:picLocks noChangeAspect="1"/>
          </p:cNvPicPr>
          <p:nvPr/>
        </p:nvPicPr>
        <p:blipFill>
          <a:blip r:embed="rId3"/>
          <a:stretch>
            <a:fillRect/>
          </a:stretch>
        </p:blipFill>
        <p:spPr>
          <a:xfrm>
            <a:off x="609600" y="1766491"/>
            <a:ext cx="3746500" cy="241300"/>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두 가지가 </a:t>
            </a:r>
            <a:r>
              <a:rPr sz="1050" b="1" i="0">
                <a:solidFill>
                  <a:srgbClr val="16213A"/>
                </a:solidFill>
                <a:latin typeface="Arial"/>
                <a:ea typeface="Malgun Gothic"/>
                <a:cs typeface="Malgun Gothic"/>
              </a:rPr>
              <a:t>서로 다른 기구</a:t>
            </a:r>
            <a:r>
              <a:rPr sz="1050" b="0" i="0">
                <a:solidFill>
                  <a:srgbClr val="16213A"/>
                </a:solidFill>
                <a:latin typeface="Arial"/>
                <a:ea typeface="Malgun Gothic"/>
                <a:cs typeface="Malgun Gothic"/>
              </a:rPr>
              <a:t>이고, 역기구학의 고정점도 가지마다 따로 수렴시켜야 한다. 한쪽 가지에서 수렴시킨 조향각을 다른 가지의 접지점과 함께 쓰면 최소제곱이 어긋나, 이상 설정에서도 제자리 회전이 0.86만 나왔다. 가지별로 풀고 나니 오차가 </a:t>
            </a:r>
            <a:r>
              <a:rPr sz="1050" b="0" i="1">
                <a:solidFill>
                  <a:srgbClr val="16213A"/>
                </a:solidFill>
                <a:latin typeface="Arial"/>
                <a:ea typeface="Malgun Gothic"/>
                <a:cs typeface="Malgun Gothic"/>
              </a:rPr>
              <a:t>10⁻⁹</a:t>
            </a:r>
            <a:r>
              <a:rPr sz="1050" b="0" i="0">
                <a:solidFill>
                  <a:srgbClr val="16213A"/>
                </a:solidFill>
                <a:latin typeface="Arial"/>
                <a:ea typeface="Malgun Gothic"/>
                <a:cs typeface="Malgun Gothic"/>
              </a:rPr>
              <a:t>로 떨어졌다.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M.3.6 GP 잔차 동역학 — 배울 것을 먼저 만들었다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35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잔차의 크기.</a:t>
            </a:r>
            <a:r>
              <a:rPr sz="1050" b="0" i="0">
                <a:solidFill>
                  <a:srgbClr val="16213A"/>
                </a:solidFill>
                <a:latin typeface="Arial"/>
                <a:ea typeface="Malgun Gothic"/>
                <a:cs typeface="Malgun Gothic"/>
              </a:rPr>
              <a:t> plant를 켜고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로 2,000 샘플을 모았다. 특징은 (명령 twist, 직전 twist, 경사, 거칠기) 8차원이다.</a:t>
            </a:r>
          </a:p>
        </p:txBody>
      </p:sp>
      <p:graphicFrame>
        <p:nvGraphicFramePr>
          <p:cNvPr id="6" name="Table 5"/>
          <p:cNvGraphicFramePr>
            <a:graphicFrameLocks noGrp="1"/>
          </p:cNvGraphicFramePr>
          <p:nvPr/>
        </p:nvGraphicFramePr>
        <p:xfrm>
          <a:off x="609600" y="1549995"/>
          <a:ext cx="10966449" cy="788352"/>
        </p:xfrm>
        <a:graphic>
          <a:graphicData uri="http://schemas.openxmlformats.org/drawingml/2006/table">
            <a:tbl>
              <a:tblPr firstRow="1" bandRow="1">
                <a:tableStyleId>{5C22544A-7EE6-4342-B048-85BDC9FD1C3A}</a:tableStyleId>
              </a:tblPr>
              <a:tblGrid>
                <a:gridCol w="1719163"/>
                <a:gridCol w="3625354"/>
                <a:gridCol w="2188666"/>
                <a:gridCol w="3433266"/>
              </a:tblGrid>
              <a:tr h="197088">
                <a:tc>
                  <a:txBody>
                    <a:bodyPr wrap="square"/>
                    <a:lstStyle/>
                    <a:p>
                      <a:r>
                        <a:rPr sz="800" b="1" i="0">
                          <a:solidFill>
                            <a:srgbClr val="F4F1EA"/>
                          </a:solidFill>
                          <a:latin typeface="Arial"/>
                          <a:ea typeface="Malgun Gothic"/>
                          <a:cs typeface="Malgun Gothic"/>
                        </a:rPr>
                        <a:t>채널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잔차 |d| 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선형모형 </a:t>
                      </a:r>
                      <a:r>
                        <a:rPr sz="800" b="1" i="1">
                          <a:solidFill>
                            <a:srgbClr val="F4F1EA"/>
                          </a:solidFill>
                          <a:latin typeface="Arial"/>
                          <a:ea typeface="Malgun Gothic"/>
                          <a:cs typeface="Malgun Gothic"/>
                        </a:rPr>
                        <a:t>R²</a:t>
                      </a:r>
                    </a:p>
                  </a:txBody>
                  <a:tcPr marL="63500" marR="63500" marT="12700" marB="12700">
                    <a:solidFill>
                      <a:srgbClr val="16213A"/>
                    </a:solidFill>
                  </a:tcPr>
                </a:tc>
              </a:tr>
              <a:tr h="197088">
                <a:tc>
                  <a:txBody>
                    <a:bodyPr wrap="square"/>
                    <a:lstStyle/>
                    <a:p>
                      <a:r>
                        <a:rPr sz="800" b="0" i="1">
                          <a:solidFill>
                            <a:srgbClr val="16213A"/>
                          </a:solidFill>
                          <a:latin typeface="Arial"/>
                          <a:ea typeface="Malgun Gothic"/>
                          <a:cs typeface="Malgun Gothic"/>
                        </a:rPr>
                        <a:t>dvₓ</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0.708</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dv_y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0.951</a:t>
                      </a:r>
                    </a:p>
                  </a:txBody>
                  <a:tcPr marL="63500" marR="63500" marT="12700" marB="12700">
                    <a:solidFill>
                      <a:srgbClr val="F3F0E8"/>
                    </a:solidFill>
                  </a:tcPr>
                </a:tc>
              </a:tr>
              <a:tr h="197088">
                <a:tc>
                  <a:txBody>
                    <a:bodyPr wrap="square"/>
                    <a:lstStyle/>
                    <a:p>
                      <a:r>
                        <a:rPr sz="800" b="0" i="1">
                          <a:solidFill>
                            <a:srgbClr val="16213A"/>
                          </a:solidFill>
                          <a:latin typeface="Arial"/>
                          <a:ea typeface="Malgun Gothic"/>
                          <a:cs typeface="Malgun Gothic"/>
                        </a:rPr>
                        <a:t>dω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0.281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0.888</a:t>
                      </a:r>
                    </a:p>
                  </a:txBody>
                  <a:tcPr marL="63500" marR="63500" marT="12700" marB="12700">
                    <a:solidFill>
                      <a:srgbClr val="FFFDF8"/>
                    </a:solidFill>
                  </a:tcPr>
                </a:tc>
              </a:tr>
            </a:tbl>
          </a:graphicData>
        </a:graphic>
      </p:graphicFrame>
      <p:sp>
        <p:nvSpPr>
          <p:cNvPr id="7" name="TextBox 6"/>
          <p:cNvSpPr txBox="1"/>
          <p:nvPr/>
        </p:nvSpPr>
        <p:spPr>
          <a:xfrm>
            <a:off x="609600" y="2630686"/>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선형모형이 이미 상당히 맞는다.</a:t>
            </a:r>
            <a:r>
              <a:rPr sz="1050" b="0" i="0">
                <a:solidFill>
                  <a:srgbClr val="16213A"/>
                </a:solidFill>
                <a:latin typeface="Arial"/>
                <a:ea typeface="Malgun Gothic"/>
                <a:cs typeface="Malgun Gothic"/>
              </a:rPr>
              <a:t> 지연이 선형이기 때문이다. 그래서 GP가 이겨야 할 상대는 명목 모델이 아니라 </a:t>
            </a:r>
            <a:r>
              <a:rPr sz="1050" b="1" i="0">
                <a:solidFill>
                  <a:srgbClr val="16213A"/>
                </a:solidFill>
                <a:latin typeface="Arial"/>
                <a:ea typeface="Malgun Gothic"/>
                <a:cs typeface="Malgun Gothic"/>
              </a:rPr>
              <a:t>선형 잔차 모형</a:t>
            </a:r>
            <a:r>
              <a:rPr sz="1050" b="0" i="0">
                <a:solidFill>
                  <a:srgbClr val="16213A"/>
                </a:solidFill>
                <a:latin typeface="Arial"/>
                <a:ea typeface="Malgun Gothic"/>
                <a:cs typeface="Malgun Gothic"/>
              </a:rPr>
              <a:t>이다.</a:t>
            </a:r>
          </a:p>
        </p:txBody>
      </p:sp>
      <p:sp>
        <p:nvSpPr>
          <p:cNvPr id="8" name="TextBox 7"/>
          <p:cNvSpPr txBox="1"/>
          <p:nvPr/>
        </p:nvSpPr>
        <p:spPr>
          <a:xfrm>
            <a:off x="609600" y="29360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첫 시도는 심하게 과신했다.</a:t>
            </a:r>
            <a:r>
              <a:rPr sz="1050" b="0" i="0">
                <a:solidFill>
                  <a:srgbClr val="16213A"/>
                </a:solidFill>
                <a:latin typeface="Arial"/>
                <a:ea typeface="Malgun Gothic"/>
                <a:cs typeface="Malgun Gothic"/>
              </a:rPr>
              <a:t> 95% 예측구간 적중률이 0.35/0.56/0.79였다. 원인은 단순했다 — 예측 분산에 </a:t>
            </a:r>
            <a:r>
              <a:rPr sz="1050" b="1" i="0">
                <a:solidFill>
                  <a:srgbClr val="16213A"/>
                </a:solidFill>
                <a:latin typeface="Arial"/>
                <a:ea typeface="Malgun Gothic"/>
                <a:cs typeface="Malgun Gothic"/>
              </a:rPr>
              <a:t>관측 잡음 </a:t>
            </a:r>
            <a:r>
              <a:rPr sz="1050" b="1" i="1">
                <a:solidFill>
                  <a:srgbClr val="16213A"/>
                </a:solidFill>
                <a:latin typeface="Arial"/>
                <a:ea typeface="Malgun Gothic"/>
                <a:cs typeface="Malgun Gothic"/>
              </a:rPr>
              <a:t>σₙ²</a:t>
            </a:r>
            <a:r>
              <a:rPr sz="1050" b="1" i="0">
                <a:solidFill>
                  <a:srgbClr val="16213A"/>
                </a:solidFill>
                <a:latin typeface="Arial"/>
                <a:ea typeface="Malgun Gothic"/>
                <a:cs typeface="Malgun Gothic"/>
              </a:rPr>
              <a:t>을 더하지 않았다.</a:t>
            </a:r>
            <a:r>
              <a:rPr sz="1050" b="0" i="0">
                <a:solidFill>
                  <a:srgbClr val="16213A"/>
                </a:solidFill>
                <a:latin typeface="Arial"/>
                <a:ea typeface="Malgun Gothic"/>
                <a:cs typeface="Malgun Gothic"/>
              </a:rPr>
              <a:t> 비교 대상은 잠재 함수가 아니라 관측된 잔차다. 더하고 나니 0.92–0.96으로 맞았다.</a:t>
            </a:r>
          </a:p>
        </p:txBody>
      </p:sp>
      <p:sp>
        <p:nvSpPr>
          <p:cNvPr id="9" name="TextBox 8"/>
          <p:cNvSpPr txBox="1"/>
          <p:nvPr/>
        </p:nvSpPr>
        <p:spPr>
          <a:xfrm>
            <a:off x="609600" y="34579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고정 크기 딕셔너리가 무엇을 사는지.</a:t>
            </a:r>
            <a:r>
              <a:rPr sz="1050" b="0" i="0">
                <a:solidFill>
                  <a:srgbClr val="16213A"/>
                </a:solidFill>
                <a:latin typeface="Arial"/>
                <a:ea typeface="Malgun Gothic"/>
                <a:cs typeface="Malgun Gothic"/>
              </a:rPr>
              <a:t> 온라인 적응을 위해 활성 집합을 링 버퍼로 두었다. 크기를 바꿔 재 봤다(보류 30%).</a:t>
            </a:r>
          </a:p>
        </p:txBody>
      </p:sp>
      <p:graphicFrame>
        <p:nvGraphicFramePr>
          <p:cNvPr id="10" name="Table 9"/>
          <p:cNvGraphicFramePr>
            <a:graphicFrameLocks noGrp="1"/>
          </p:cNvGraphicFramePr>
          <p:nvPr/>
        </p:nvGraphicFramePr>
        <p:xfrm>
          <a:off x="609600" y="3763367"/>
          <a:ext cx="10966450" cy="1379616"/>
        </p:xfrm>
        <a:graphic>
          <a:graphicData uri="http://schemas.openxmlformats.org/drawingml/2006/table">
            <a:tbl>
              <a:tblPr firstRow="1" bandRow="1">
                <a:tableStyleId>{5C22544A-7EE6-4342-B048-85BDC9FD1C3A}</a:tableStyleId>
              </a:tblPr>
              <a:tblGrid>
                <a:gridCol w="934145"/>
                <a:gridCol w="1467445"/>
                <a:gridCol w="1849140"/>
                <a:gridCol w="2326878"/>
                <a:gridCol w="2190353"/>
                <a:gridCol w="2198489"/>
              </a:tblGrid>
              <a:tr h="197088">
                <a:tc>
                  <a:txBody>
                    <a:bodyPr wrap="square"/>
                    <a:lstStyle/>
                    <a:p>
                      <a:r>
                        <a:rPr sz="800" b="1" i="0">
                          <a:solidFill>
                            <a:srgbClr val="F4F1EA"/>
                          </a:solidFill>
                          <a:latin typeface="Arial"/>
                          <a:ea typeface="Malgun Gothic"/>
                          <a:cs typeface="Malgun Gothic"/>
                        </a:rPr>
                        <a:t>용량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refresh</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41노드 예측</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dvₓ</a:t>
                      </a:r>
                      <a:r>
                        <a:rPr sz="800" b="1" i="0">
                          <a:solidFill>
                            <a:srgbClr val="F4F1EA"/>
                          </a:solidFill>
                          <a:latin typeface="Arial"/>
                          <a:ea typeface="Malgun Gothic"/>
                          <a:cs typeface="Malgun Gothic"/>
                        </a:rPr>
                        <a:t> RMSE/적중</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dv_y</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dω</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0.0211 / 0.93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0.0069 / 0.93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0.0310 / 0.96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0.59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0.0192 / 0.95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0.0062 / 0.93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0.0313 / 0.94</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400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0.0190 / 0.94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0.0059 / 0.94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0.0218</a:t>
                      </a:r>
                      <a:r>
                        <a:rPr sz="800" b="0" i="0">
                          <a:solidFill>
                            <a:srgbClr val="16213A"/>
                          </a:solidFill>
                          <a:latin typeface="Arial"/>
                          <a:ea typeface="Malgun Gothic"/>
                          <a:cs typeface="Malgun Gothic"/>
                        </a:rPr>
                        <a:t> / 0.92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800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38.3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0.0189 / 0.94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0.0058 / 0.94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0.0195 / 0.92</a:t>
                      </a:r>
                    </a:p>
                  </a:txBody>
                  <a:tcPr marL="63500" marR="63500" marT="12700" marB="12700">
                    <a:solidFill>
                      <a:srgbClr val="F3F0E8"/>
                    </a:solidFill>
                  </a:tcPr>
                </a:tc>
              </a:tr>
              <a:tr h="197088">
                <a:tc>
                  <a:txBody>
                    <a:bodyPr wrap="square"/>
                    <a:lstStyle/>
                    <a:p>
                      <a:r>
                        <a:rPr sz="800" b="0" i="1">
                          <a:solidFill>
                            <a:srgbClr val="16213A"/>
                          </a:solidFill>
                          <a:latin typeface="Arial"/>
                          <a:ea typeface="Malgun Gothic"/>
                          <a:cs typeface="Malgun Gothic"/>
                        </a:rPr>
                        <a:t>명목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0.0569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0.0271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0.0672</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선형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0.0241</a:t>
                      </a:r>
                    </a:p>
                  </a:txBody>
                  <a:tcPr marL="63500" marR="63500" marT="12700" marB="12700">
                    <a:solidFill>
                      <a:srgbClr val="F3F0E8"/>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M.3.6 GP 잔차 동역학 — 배울 것을 먼저 만들었다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36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가지를 읽는다. 첫째, </a:t>
            </a:r>
            <a:r>
              <a:rPr sz="1050" b="1" i="0">
                <a:solidFill>
                  <a:srgbClr val="16213A"/>
                </a:solidFill>
                <a:latin typeface="Arial"/>
                <a:ea typeface="Malgun Gothic"/>
                <a:cs typeface="Malgun Gothic"/>
              </a:rPr>
              <a:t>명목 대비 RMSE가 66–78% 줄어</a:t>
            </a:r>
            <a:r>
              <a:rPr sz="1050" b="0" i="0">
                <a:solidFill>
                  <a:srgbClr val="16213A"/>
                </a:solidFill>
                <a:latin typeface="Arial"/>
                <a:ea typeface="Malgun Gothic"/>
                <a:cs typeface="Malgun Gothic"/>
              </a:rPr>
              <a:t> 설계 문서의 게이트(50%)를 넘는다. 둘째, </a:t>
            </a:r>
            <a:r>
              <a:rPr sz="1050" b="1" i="1">
                <a:solidFill>
                  <a:srgbClr val="C2410C"/>
                </a:solidFill>
                <a:latin typeface="Arial"/>
                <a:ea typeface="Malgun Gothic"/>
                <a:cs typeface="Malgun Gothic"/>
              </a:rPr>
              <a:t>dvₓ</a:t>
            </a:r>
            <a:r>
              <a:rPr sz="1050" b="1" i="0">
                <a:solidFill>
                  <a:srgbClr val="C2410C"/>
                </a:solidFill>
                <a:latin typeface="Arial"/>
                <a:ea typeface="Malgun Gothic"/>
                <a:cs typeface="Malgun Gothic"/>
              </a:rPr>
              <a:t>와 </a:t>
            </a:r>
            <a:r>
              <a:rPr sz="1050" b="1" i="1">
                <a:solidFill>
                  <a:srgbClr val="C2410C"/>
                </a:solidFill>
                <a:latin typeface="Arial"/>
                <a:ea typeface="Malgun Gothic"/>
                <a:cs typeface="Malgun Gothic"/>
              </a:rPr>
              <a:t>dv_y</a:t>
            </a:r>
            <a:r>
              <a:rPr sz="1050" b="1" i="0">
                <a:solidFill>
                  <a:srgbClr val="C2410C"/>
                </a:solidFill>
                <a:latin typeface="Arial"/>
                <a:ea typeface="Malgun Gothic"/>
                <a:cs typeface="Malgun Gothic"/>
              </a:rPr>
              <a:t>에서는 GP가 선형모형과 사실상 같다</a:t>
            </a:r>
            <a:r>
              <a:rPr sz="1050" b="0" i="0">
                <a:solidFill>
                  <a:srgbClr val="16213A"/>
                </a:solidFill>
                <a:latin typeface="Arial"/>
                <a:ea typeface="Malgun Gothic"/>
                <a:cs typeface="Malgun Gothic"/>
              </a:rPr>
              <a:t> — 그 채널은 지연이 지배해서 선형이 이미 정답이다. 셋째, </a:t>
            </a:r>
            <a:r>
              <a:rPr sz="1050" b="1" i="0">
                <a:solidFill>
                  <a:srgbClr val="16213A"/>
                </a:solidFill>
                <a:latin typeface="Arial"/>
                <a:ea typeface="Malgun Gothic"/>
                <a:cs typeface="Malgun Gothic"/>
              </a:rPr>
              <a:t>GP가 선형을 이기는 곳은 </a:t>
            </a:r>
            <a:r>
              <a:rPr sz="1050" b="1" i="1">
                <a:solidFill>
                  <a:srgbClr val="16213A"/>
                </a:solidFill>
                <a:latin typeface="Arial"/>
                <a:ea typeface="Malgun Gothic"/>
                <a:cs typeface="Malgun Gothic"/>
              </a:rPr>
              <a:t>dω</a:t>
            </a:r>
            <a:r>
              <a:rPr sz="1050" b="1" i="0">
                <a:solidFill>
                  <a:srgbClr val="16213A"/>
                </a:solidFill>
                <a:latin typeface="Arial"/>
                <a:ea typeface="Malgun Gothic"/>
                <a:cs typeface="Malgun Gothic"/>
              </a:rPr>
              <a:t> 하나이고, 용량 400부터다</a:t>
            </a:r>
            <a:r>
              <a:rPr sz="1050" b="0" i="0">
                <a:solidFill>
                  <a:srgbClr val="16213A"/>
                </a:solidFill>
                <a:latin typeface="Arial"/>
                <a:ea typeface="Malgun Gothic"/>
                <a:cs typeface="Malgun Gothic"/>
              </a:rPr>
              <a:t>(0.0218 대 0.0241). 요 잔차에 비동축 스크럽과 모듈 포화의 비선형이 들어 있기 때문이다. 용량 100은 제안받은 크기인데, 보정은 맞지만 그 비선형을 놓친다. 800은 refresh가 38 ms라 제어 주기 안에서 못 돌린다.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 평균을 MPC에 넣는 방법이 곧 0차 근사다.</a:t>
            </a:r>
            <a:r>
              <a:rPr sz="1050" b="0" i="0">
                <a:solidFill>
                  <a:srgbClr val="16213A"/>
                </a:solidFill>
                <a:latin typeface="Arial"/>
                <a:ea typeface="Malgun Gothic"/>
                <a:cs typeface="Malgun Gothic"/>
              </a:rPr>
              <a:t> 잔차 평균을 </a:t>
            </a:r>
            <a:r>
              <a:rPr sz="1050" b="1" i="0">
                <a:solidFill>
                  <a:srgbClr val="16213A"/>
                </a:solidFill>
                <a:latin typeface="Arial"/>
                <a:ea typeface="Malgun Gothic"/>
                <a:cs typeface="Malgun Gothic"/>
              </a:rPr>
              <a:t>노드별 acados 파라미터</a:t>
            </a:r>
            <a:r>
              <a:rPr sz="1050" b="0" i="0">
                <a:solidFill>
                  <a:srgbClr val="16213A"/>
                </a:solidFill>
                <a:latin typeface="Arial"/>
                <a:ea typeface="Malgun Gothic"/>
                <a:cs typeface="Malgun Gothic"/>
              </a:rPr>
              <a:t>로 넣는다. 파라미터는 솔버가 상수로 보므로 </a:t>
            </a:r>
            <a:r>
              <a:rPr sz="1050" b="0" i="1">
                <a:solidFill>
                  <a:srgbClr val="16213A"/>
                </a:solidFill>
                <a:latin typeface="Arial"/>
                <a:ea typeface="Malgun Gothic"/>
                <a:cs typeface="Malgun Gothic"/>
              </a:rPr>
              <a:t>∂ μ_d / ∂ x = 0</a:t>
            </a:r>
            <a:r>
              <a:rPr sz="1050" b="0" i="0">
                <a:solidFill>
                  <a:srgbClr val="16213A"/>
                </a:solidFill>
                <a:latin typeface="Arial"/>
                <a:ea typeface="Malgun Gothic"/>
                <a:cs typeface="Malgun Gothic"/>
              </a:rPr>
              <a:t>이 </a:t>
            </a:r>
            <a:r>
              <a:rPr sz="1050" b="1" i="0">
                <a:solidFill>
                  <a:srgbClr val="16213A"/>
                </a:solidFill>
                <a:latin typeface="Arial"/>
                <a:ea typeface="Malgun Gothic"/>
                <a:cs typeface="Malgun Gothic"/>
              </a:rPr>
              <a:t>구조적으로</a:t>
            </a:r>
            <a:r>
              <a:rPr sz="1050" b="0" i="0">
                <a:solidFill>
                  <a:srgbClr val="16213A"/>
                </a:solidFill>
                <a:latin typeface="Arial"/>
                <a:ea typeface="Malgun Gothic"/>
                <a:cs typeface="Malgun Gothic"/>
              </a:rPr>
              <a:t> 성립한다. 즉 탐색 방향은 </a:t>
            </a:r>
            <a:r>
              <a:rPr sz="1050" b="0" i="1">
                <a:solidFill>
                  <a:srgbClr val="16213A"/>
                </a:solidFill>
                <a:latin typeface="Arial"/>
                <a:ea typeface="Malgun Gothic"/>
                <a:cs typeface="Malgun Gothic"/>
              </a:rPr>
              <a:t>f_(swerve)</a:t>
            </a:r>
            <a:r>
              <a:rPr sz="1050" b="0" i="0">
                <a:solidFill>
                  <a:srgbClr val="16213A"/>
                </a:solidFill>
                <a:latin typeface="Arial"/>
                <a:ea typeface="Malgun Gothic"/>
                <a:cs typeface="Malgun Gothic"/>
              </a:rPr>
              <a:t>의 미분만 쓰고, 전방 시뮬레이션에는 </a:t>
            </a:r>
            <a:r>
              <a:rPr sz="1050" b="0" i="1">
                <a:solidFill>
                  <a:srgbClr val="16213A"/>
                </a:solidFill>
                <a:latin typeface="Arial"/>
                <a:ea typeface="Malgun Gothic"/>
                <a:cs typeface="Malgun Gothic"/>
              </a:rPr>
              <a:t>μ_d</a:t>
            </a:r>
            <a:r>
              <a:rPr sz="1050" b="0" i="0">
                <a:solidFill>
                  <a:srgbClr val="16213A"/>
                </a:solidFill>
                <a:latin typeface="Arial"/>
                <a:ea typeface="Malgun Gothic"/>
                <a:cs typeface="Malgun Gothic"/>
              </a:rPr>
              <a:t>가 그대로 들어간다. </a:t>
            </a:r>
            <a:r>
              <a:rPr sz="1050" b="1" i="0">
                <a:solidFill>
                  <a:srgbClr val="C2410C"/>
                </a:solidFill>
                <a:latin typeface="Arial"/>
                <a:ea typeface="Malgun Gothic"/>
                <a:cs typeface="Malgun Gothic"/>
              </a:rPr>
              <a:t>따로 구현할 것이 없다 — TP-0071에서 반평면을 넣으려고 깔아 둔 파라미터 배관이 그대로 0차 GP-MPC가 된다.</a:t>
            </a:r>
          </a:p>
        </p:txBody>
      </p:sp>
      <p:pic>
        <p:nvPicPr>
          <p:cNvPr id="7" name="Picture 6" descr="image.png"/>
          <p:cNvPicPr>
            <a:picLocks noChangeAspect="1"/>
          </p:cNvPicPr>
          <p:nvPr/>
        </p:nvPicPr>
        <p:blipFill>
          <a:blip r:embed="rId3"/>
          <a:stretch>
            <a:fillRect/>
          </a:stretch>
        </p:blipFill>
        <p:spPr>
          <a:xfrm>
            <a:off x="609600" y="2504877"/>
            <a:ext cx="2917825" cy="546100"/>
          </a:xfrm>
          <a:prstGeom prst="rect">
            <a:avLst/>
          </a:prstGeom>
        </p:spPr>
      </p:pic>
      <p:sp>
        <p:nvSpPr>
          <p:cNvPr id="8" name="TextBox 7"/>
          <p:cNvSpPr txBox="1"/>
          <p:nvPr/>
        </p:nvSpPr>
        <p:spPr>
          <a:xfrm>
            <a:off x="609600" y="304611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온라인 적응.</a:t>
            </a:r>
            <a:r>
              <a:rPr sz="1050" b="0" i="0">
                <a:solidFill>
                  <a:srgbClr val="16213A"/>
                </a:solidFill>
                <a:latin typeface="Arial"/>
                <a:ea typeface="Malgun Gothic"/>
                <a:cs typeface="Malgun Gothic"/>
              </a:rPr>
              <a:t> 매 제어 스텝에 직전 명령이 실제로 만든 잔차를 딕셔너리에 밀어 넣고, </a:t>
            </a:r>
            <a:r>
              <a:rPr sz="1050" b="0" i="0">
                <a:solidFill>
                  <a:srgbClr val="16213A"/>
                </a:solidFill>
                <a:latin typeface="Consolas"/>
                <a:ea typeface="Malgun Gothic"/>
                <a:cs typeface="Malgun Gothic"/>
              </a:rPr>
              <a:t>gp_refresh_every</a:t>
            </a:r>
            <a:r>
              <a:rPr sz="1050" b="0" i="0">
                <a:solidFill>
                  <a:srgbClr val="16213A"/>
                </a:solidFill>
                <a:latin typeface="Arial"/>
                <a:ea typeface="Malgun Gothic"/>
                <a:cs typeface="Malgun Gothic"/>
              </a:rPr>
              <a:t>(기본 5) 스텝마다 Cholesky를 다시 푼다. 용량 400에서 3.9 ms이므로 5스텝에 한 번이면 평균 0.8 ms다.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M.3.7 폐루프는 아직 안 된다 — 여기까지 좁혔다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37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2026-10-01 정정 — 원인은 명령 출력과 학습 데이터의 속도 범위였다(M.3.12).</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오프라인 GP는 게이트를 넘었지만, 그 평균을 MPC에 넣으면 폐루프가 무너진다.</a:t>
            </a:r>
            <a:r>
              <a:rPr sz="1050" b="0" i="0">
                <a:solidFill>
                  <a:srgbClr val="16213A"/>
                </a:solidFill>
                <a:latin typeface="Arial"/>
                <a:ea typeface="Malgun Gothic"/>
                <a:cs typeface="Malgun Gothic"/>
              </a:rPr>
              <a:t> 숨기지 않고 적는다.</a:t>
            </a:r>
          </a:p>
        </p:txBody>
      </p:sp>
      <p:graphicFrame>
        <p:nvGraphicFramePr>
          <p:cNvPr id="7" name="Table 6"/>
          <p:cNvGraphicFramePr>
            <a:graphicFrameLocks noGrp="1"/>
          </p:cNvGraphicFramePr>
          <p:nvPr/>
        </p:nvGraphicFramePr>
        <p:xfrm>
          <a:off x="609600" y="1855391"/>
          <a:ext cx="10966449" cy="591264"/>
        </p:xfrm>
        <a:graphic>
          <a:graphicData uri="http://schemas.openxmlformats.org/drawingml/2006/table">
            <a:tbl>
              <a:tblPr firstRow="1" bandRow="1">
                <a:tableStyleId>{5C22544A-7EE6-4342-B048-85BDC9FD1C3A}</a:tableStyleId>
              </a:tblPr>
              <a:tblGrid>
                <a:gridCol w="5108277"/>
                <a:gridCol w="2418060"/>
                <a:gridCol w="3440112"/>
              </a:tblGrid>
              <a:tr h="197088">
                <a:tc>
                  <a:txBody>
                    <a:bodyPr wrap="square"/>
                    <a:lstStyle/>
                    <a:p>
                      <a:r>
                        <a:rPr sz="800" b="1" i="0">
                          <a:solidFill>
                            <a:srgbClr val="F4F1EA"/>
                          </a:solidFill>
                          <a:latin typeface="Arial"/>
                          <a:ea typeface="Malgun Gothic"/>
                          <a:cs typeface="Malgun Gothic"/>
                        </a:rPr>
                        <a:t>스택 (plant 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(GP 없음)</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9/12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mpc_gp</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30.1 ms</a:t>
                      </a:r>
                    </a:p>
                  </a:txBody>
                  <a:tcPr marL="63500" marR="63500" marT="12700" marB="12700">
                    <a:solidFill>
                      <a:srgbClr val="F3F0E8"/>
                    </a:solidFill>
                  </a:tcPr>
                </a:tc>
              </a:tr>
            </a:tbl>
          </a:graphicData>
        </a:graphic>
      </p:graphicFrame>
      <p:sp>
        <p:nvSpPr>
          <p:cNvPr id="8" name="TextBox 7"/>
          <p:cNvSpPr txBox="1"/>
          <p:nvPr/>
        </p:nvSpPr>
        <p:spPr>
          <a:xfrm>
            <a:off x="609600" y="268972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배제한 것.</a:t>
            </a:r>
          </a:p>
        </p:txBody>
      </p:sp>
      <p:sp>
        <p:nvSpPr>
          <p:cNvPr id="9" name="TextBox 8"/>
          <p:cNvSpPr txBox="1"/>
          <p:nvPr/>
        </p:nvSpPr>
        <p:spPr>
          <a:xfrm>
            <a:off x="609600" y="2995116"/>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장애물 제약과의 상호작용이 아니다.</a:t>
            </a:r>
            <a:r>
              <a:rPr sz="1050" b="0" i="0">
                <a:solidFill>
                  <a:srgbClr val="16213A"/>
                </a:solidFill>
                <a:latin typeface="Arial"/>
                <a:ea typeface="Malgun Gothic"/>
                <a:cs typeface="Malgun Gothic"/>
              </a:rPr>
              <a:t> 치명 셀이 없는 </a:t>
            </a:r>
            <a:r>
              <a:rPr sz="1050" b="0" i="0">
                <a:solidFill>
                  <a:srgbClr val="16213A"/>
                </a:solidFill>
                <a:latin typeface="Consolas"/>
                <a:ea typeface="Malgun Gothic"/>
                <a:cs typeface="Malgun Gothic"/>
              </a:rPr>
              <a:t>slope_crossfall</a:t>
            </a:r>
            <a:r>
              <a:rPr sz="1050" b="0" i="0">
                <a:solidFill>
                  <a:srgbClr val="16213A"/>
                </a:solidFill>
                <a:latin typeface="Arial"/>
                <a:ea typeface="Malgun Gothic"/>
                <a:cs typeface="Malgun Gothic"/>
              </a:rPr>
              <a:t>에서도 실패한다.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GP의 오프라인 정확도가 아니다.</a:t>
            </a:r>
            <a:r>
              <a:rPr sz="1050" b="0" i="0">
                <a:solidFill>
                  <a:srgbClr val="16213A"/>
                </a:solidFill>
                <a:latin typeface="Arial"/>
                <a:ea typeface="Malgun Gothic"/>
                <a:cs typeface="Malgun Gothic"/>
              </a:rPr>
              <a:t> 보류 집합에서 RMSE 67–78% 감소, 95% 적중 0.92–0.94다.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조건수만의 문제가 아니다.</a:t>
            </a:r>
            <a:r>
              <a:rPr sz="1050" b="0" i="0">
                <a:solidFill>
                  <a:srgbClr val="16213A"/>
                </a:solidFill>
                <a:latin typeface="Arial"/>
                <a:ea typeface="Malgun Gothic"/>
                <a:cs typeface="Malgun Gothic"/>
              </a:rPr>
              <a:t> 처음엔 루프 안에서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-106</a:t>
            </a:r>
            <a:r>
              <a:rPr sz="1050" b="0" i="0">
                <a:solidFill>
                  <a:srgbClr val="16213A"/>
                </a:solidFill>
                <a:latin typeface="Arial"/>
                <a:ea typeface="Malgun Gothic"/>
                <a:cs typeface="Malgun Gothic"/>
              </a:rPr>
              <a:t>까지 튀었다(실제 잔차는 0.04). 400점 정확 GP의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가 나빠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가 폭발한 것이고, 잡음 하한 </a:t>
            </a:r>
            <a:r>
              <a:rPr sz="1050" b="0" i="1">
                <a:solidFill>
                  <a:srgbClr val="16213A"/>
                </a:solidFill>
                <a:latin typeface="Arial"/>
                <a:ea typeface="Malgun Gothic"/>
                <a:cs typeface="Malgun Gothic"/>
              </a:rPr>
              <a:t>σₙ ≥ 10⁻²</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|μ| ≤ 0.3</a:t>
            </a:r>
            <a:r>
              <a:rPr sz="1050" b="0" i="0">
                <a:solidFill>
                  <a:srgbClr val="16213A"/>
                </a:solidFill>
                <a:latin typeface="Arial"/>
                <a:ea typeface="Malgun Gothic"/>
                <a:cs typeface="Malgun Gothic"/>
              </a:rPr>
              <a:t> 상한으로 막았다. 분포 밖 질의가 0.300에서 포화하고 정확도는 그대로인데, </a:t>
            </a:r>
            <a:r>
              <a:rPr sz="1050" b="1" i="0">
                <a:solidFill>
                  <a:srgbClr val="16213A"/>
                </a:solidFill>
                <a:latin typeface="Arial"/>
                <a:ea typeface="Malgun Gothic"/>
                <a:cs typeface="Malgun Gothic"/>
              </a:rPr>
              <a:t>그래도 0/12였다.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특징 정의만의 문제도 아니다.</a:t>
            </a:r>
            <a:r>
              <a:rPr sz="1050" b="0" i="0">
                <a:solidFill>
                  <a:srgbClr val="16213A"/>
                </a:solidFill>
                <a:latin typeface="Arial"/>
                <a:ea typeface="Malgun Gothic"/>
                <a:cs typeface="Malgun Gothic"/>
              </a:rPr>
              <a:t> 잔차는 </a:t>
            </a:r>
            <a:r>
              <a:rPr sz="1050" b="0" i="1">
                <a:solidFill>
                  <a:srgbClr val="16213A"/>
                </a:solidFill>
                <a:latin typeface="Arial"/>
                <a:ea typeface="Malgun Gothic"/>
                <a:cs typeface="Malgun Gothic"/>
              </a:rPr>
              <a:t>명령</a:t>
            </a:r>
            <a:r>
              <a:rPr sz="1050" b="0" i="0">
                <a:solidFill>
                  <a:srgbClr val="16213A"/>
                </a:solidFill>
                <a:latin typeface="Arial"/>
                <a:ea typeface="Malgun Gothic"/>
                <a:cs typeface="Malgun Gothic"/>
              </a:rPr>
              <a:t>에 대해 모았는데 증강된 모델의 </a:t>
            </a:r>
            <a:r>
              <a:rPr sz="1050" b="0" i="1">
                <a:solidFill>
                  <a:srgbClr val="16213A"/>
                </a:solidFill>
                <a:latin typeface="Arial"/>
                <a:ea typeface="Malgun Gothic"/>
                <a:cs typeface="Malgun Gothic"/>
              </a:rPr>
              <a:t>Zₖ₊₁</a:t>
            </a:r>
            <a:r>
              <a:rPr sz="1050" b="0" i="0">
                <a:solidFill>
                  <a:srgbClr val="16213A"/>
                </a:solidFill>
                <a:latin typeface="Arial"/>
                <a:ea typeface="Malgun Gothic"/>
                <a:cs typeface="Malgun Gothic"/>
              </a:rPr>
              <a:t>은 이미 잔차를 품고 있어, 그것을 명령 자리에 넣으면 GP가 자기 보정을 더 큰 명령으로 오해하는 양의 되먹임이 된다. </a:t>
            </a:r>
            <a:r>
              <a:rPr sz="1050" b="0" i="1">
                <a:solidFill>
                  <a:srgbClr val="16213A"/>
                </a:solidFill>
                <a:latin typeface="Arial"/>
                <a:ea typeface="Malgun Gothic"/>
                <a:cs typeface="Malgun Gothic"/>
              </a:rPr>
              <a:t>vₖ + uₖ Δ t</a:t>
            </a:r>
            <a:r>
              <a:rPr sz="1050" b="0" i="0">
                <a:solidFill>
                  <a:srgbClr val="16213A"/>
                </a:solidFill>
                <a:latin typeface="Arial"/>
                <a:ea typeface="Malgun Gothic"/>
                <a:cs typeface="Malgun Gothic"/>
              </a:rPr>
              <a:t>로 고쳤다. 실패 모드는 바뀌었지만 여전히 실패한다.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RTI 반복마다 문제 데이터가 바뀌는 것</a:t>
            </a:r>
            <a:r>
              <a:rPr sz="1050" b="0" i="0">
                <a:solidFill>
                  <a:srgbClr val="16213A"/>
                </a:solidFill>
                <a:latin typeface="Arial"/>
                <a:ea typeface="Malgun Gothic"/>
                <a:cs typeface="Malgun Gothic"/>
              </a:rPr>
              <a:t>도 한몫했다. GP를 제어 스텝당 한 번만 평가하게 바꾸니 실패가 </a:t>
            </a:r>
            <a:r>
              <a:rPr sz="1050" b="0" i="0">
                <a:solidFill>
                  <a:srgbClr val="16213A"/>
                </a:solidFill>
                <a:latin typeface="Consolas"/>
                <a:ea typeface="Malgun Gothic"/>
                <a:cs typeface="Malgun Gothic"/>
              </a:rPr>
              <a:t>lethal</a:t>
            </a:r>
            <a:r>
              <a:rPr sz="1050" b="0" i="0">
                <a:solidFill>
                  <a:srgbClr val="16213A"/>
                </a:solidFill>
                <a:latin typeface="Arial"/>
                <a:ea typeface="Malgun Gothic"/>
                <a:cs typeface="Malgun Gothic"/>
              </a:rPr>
              <a:t>에서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으로 바뀌고 제어 시간이 30 → 13–15 ms로 내려갔다. </a:t>
            </a:r>
            <a:r>
              <a:rPr sz="1050" b="1" i="0">
                <a:solidFill>
                  <a:srgbClr val="16213A"/>
                </a:solidFill>
                <a:latin typeface="Arial"/>
                <a:ea typeface="Malgun Gothic"/>
                <a:cs typeface="Malgun Gothic"/>
              </a:rPr>
              <a:t>개선이지만 해결은 아니다.</a:t>
            </a:r>
          </a:p>
        </p:txBody>
      </p:sp>
      <p:sp>
        <p:nvSpPr>
          <p:cNvPr id="10" name="TextBox 9"/>
          <p:cNvSpPr txBox="1"/>
          <p:nvPr/>
        </p:nvSpPr>
        <p:spPr>
          <a:xfrm>
            <a:off x="609600" y="49175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남은 가설.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μ/Δ t ≈ 0.5 m/s²</a:t>
            </a:r>
            <a:r>
              <a:rPr sz="1050" b="0" i="0">
                <a:solidFill>
                  <a:srgbClr val="16213A"/>
                </a:solidFill>
                <a:latin typeface="Arial"/>
                <a:ea typeface="Malgun Gothic"/>
                <a:cs typeface="Malgun Gothic"/>
              </a:rPr>
              <a:t>로 가속 한계(1.0)의 절반이다. 노드마다 상수로 꽂히는 이 크기가 SQP-RTI 한 걸음이 감당할 섭동을 넘는 것으로 보인다. 다음에 볼 것은 </a:t>
            </a:r>
            <a:r>
              <a:rPr sz="1050" b="0" i="0">
                <a:solidFill>
                  <a:srgbClr val="16213A"/>
                </a:solidFill>
                <a:latin typeface="Consolas"/>
                <a:ea typeface="Malgun Gothic"/>
                <a:cs typeface="Malgun Gothic"/>
              </a:rPr>
              <a:t>gp_scale</a:t>
            </a:r>
            <a:r>
              <a:rPr sz="1050" b="0" i="0">
                <a:solidFill>
                  <a:srgbClr val="16213A"/>
                </a:solidFill>
                <a:latin typeface="Arial"/>
                <a:ea typeface="Malgun Gothic"/>
                <a:cs typeface="Malgun Gothic"/>
              </a:rPr>
              <a:t> 스윕(0.1–1.0), 잔차를 </a:t>
            </a:r>
            <a:r>
              <a:rPr sz="1050" b="1" i="0">
                <a:solidFill>
                  <a:srgbClr val="16213A"/>
                </a:solidFill>
                <a:latin typeface="Arial"/>
                <a:ea typeface="Malgun Gothic"/>
                <a:cs typeface="Malgun Gothic"/>
              </a:rPr>
              <a:t>앞쪽 몇 노드에만</a:t>
            </a:r>
            <a:r>
              <a:rPr sz="1050" b="0" i="0">
                <a:solidFill>
                  <a:srgbClr val="16213A"/>
                </a:solidFill>
                <a:latin typeface="Arial"/>
                <a:ea typeface="Malgun Gothic"/>
                <a:cs typeface="Malgun Gothic"/>
              </a:rPr>
              <a:t> 넣기, 그리고 QP 반복 예산이다. </a:t>
            </a:r>
            <a:r>
              <a:rPr sz="1050" b="0" i="0">
                <a:solidFill>
                  <a:srgbClr val="16213A"/>
                </a:solidFill>
                <a:latin typeface="Consolas"/>
                <a:ea typeface="Malgun Gothic"/>
                <a:cs typeface="Malgun Gothic"/>
              </a:rPr>
              <a:t>gp_scale</a:t>
            </a:r>
            <a:r>
              <a:rPr sz="1050" b="0" i="0">
                <a:solidFill>
                  <a:srgbClr val="16213A"/>
                </a:solidFill>
                <a:latin typeface="Arial"/>
                <a:ea typeface="Malgun Gothic"/>
                <a:cs typeface="Malgun Gothic"/>
              </a:rPr>
              <a:t>과 스텝당 1회 평가는 이미 설정으로 들어가 있다.</a:t>
            </a:r>
          </a:p>
        </p:txBody>
      </p:sp>
      <p:sp>
        <p:nvSpPr>
          <p:cNvPr id="11" name="TextBox 10"/>
          <p:cNvSpPr txBox="1"/>
          <p:nvPr/>
        </p:nvSpPr>
        <p:spPr>
          <a:xfrm>
            <a:off x="609600" y="54394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기본값은 안전하다.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MPCController(gp=None)</a:t>
            </a:r>
            <a:r>
              <a:rPr sz="1050" b="0" i="0">
                <a:solidFill>
                  <a:srgbClr val="16213A"/>
                </a:solidFill>
                <a:latin typeface="Arial"/>
                <a:ea typeface="Malgun Gothic"/>
                <a:cs typeface="Malgun Gothic"/>
              </a:rPr>
              <a:t>이 기본이므로 TP-0071의 9/12는 그대로다. GP는 명시적으로 넘길 때만 켜진다.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M.3.8 GP / 희소 GP — 네 축으로 재 보면 고를 것이 정해진다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38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계보와 인용은 Controller 문서 E.8이다. 여기에는 </a:t>
            </a:r>
            <a:r>
              <a:rPr sz="1050" b="1" i="0">
                <a:solidFill>
                  <a:srgbClr val="16213A"/>
                </a:solidFill>
                <a:latin typeface="Arial"/>
                <a:ea typeface="Malgun Gothic"/>
                <a:cs typeface="Malgun Gothic"/>
              </a:rPr>
              <a:t>같은 잔차 데이터(훈련 1,400 / 보류 600)로 실제로 잰 값</a:t>
            </a:r>
            <a:r>
              <a:rPr sz="1050" b="0" i="0">
                <a:solidFill>
                  <a:srgbClr val="16213A"/>
                </a:solidFill>
                <a:latin typeface="Arial"/>
                <a:ea typeface="Malgun Gothic"/>
                <a:cs typeface="Malgun Gothic"/>
              </a:rPr>
              <a:t>만 적는다. 하이퍼파라미터는 정확 GP에서 한 번 적합해 </a:t>
            </a:r>
            <a:r>
              <a:rPr sz="1050" b="1" i="0">
                <a:solidFill>
                  <a:srgbClr val="16213A"/>
                </a:solidFill>
                <a:latin typeface="Arial"/>
                <a:ea typeface="Malgun Gothic"/>
                <a:cs typeface="Malgun Gothic"/>
              </a:rPr>
              <a:t>모든 변형이 공유</a:t>
            </a:r>
            <a:r>
              <a:rPr sz="1050" b="0" i="0">
                <a:solidFill>
                  <a:srgbClr val="16213A"/>
                </a:solidFill>
                <a:latin typeface="Arial"/>
                <a:ea typeface="Malgun Gothic"/>
                <a:cs typeface="Malgun Gothic"/>
              </a:rPr>
              <a:t>한다 — 그래야 차이가 근사 방식에서만 온다.</a:t>
            </a:r>
          </a:p>
        </p:txBody>
      </p:sp>
      <p:graphicFrame>
        <p:nvGraphicFramePr>
          <p:cNvPr id="6" name="Table 5"/>
          <p:cNvGraphicFramePr>
            <a:graphicFrameLocks noGrp="1"/>
          </p:cNvGraphicFramePr>
          <p:nvPr/>
        </p:nvGraphicFramePr>
        <p:xfrm>
          <a:off x="609600" y="1766491"/>
          <a:ext cx="10966451" cy="2167968"/>
        </p:xfrm>
        <a:graphic>
          <a:graphicData uri="http://schemas.openxmlformats.org/drawingml/2006/table">
            <a:tbl>
              <a:tblPr firstRow="1" bandRow="1">
                <a:tableStyleId>{5C22544A-7EE6-4342-B048-85BDC9FD1C3A}</a:tableStyleId>
              </a:tblPr>
              <a:tblGrid>
                <a:gridCol w="1660922"/>
                <a:gridCol w="1145679"/>
                <a:gridCol w="1076127"/>
                <a:gridCol w="1202829"/>
                <a:gridCol w="880963"/>
                <a:gridCol w="880963"/>
                <a:gridCol w="886123"/>
                <a:gridCol w="1745655"/>
                <a:gridCol w="1487190"/>
              </a:tblGrid>
              <a:tr h="197088">
                <a:tc>
                  <a:txBody>
                    <a:bodyPr wrap="square"/>
                    <a:lstStyle/>
                    <a:p>
                      <a:r>
                        <a:rPr sz="800" b="1" i="0">
                          <a:solidFill>
                            <a:srgbClr val="F4F1EA"/>
                          </a:solidFill>
                          <a:latin typeface="Arial"/>
                          <a:ea typeface="Malgun Gothic"/>
                          <a:cs typeface="Malgun Gothic"/>
                        </a:rPr>
                        <a:t>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데이터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refresh</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41노드 예측</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dvₓ</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dv_y</a:t>
                      </a:r>
                    </a:p>
                  </a:txBody>
                  <a:tcPr marL="63500" marR="63500" marT="12700" marB="12700">
                    <a:solidFill>
                      <a:srgbClr val="16213A"/>
                    </a:solidFill>
                  </a:tcPr>
                </a:tc>
                <a:tc>
                  <a:txBody>
                    <a:bodyPr wrap="square"/>
                    <a:lstStyle/>
                    <a:p>
                      <a:r>
                        <a:rPr sz="800" b="1" i="1">
                          <a:solidFill>
                            <a:srgbClr val="F4F1EA"/>
                          </a:solidFill>
                          <a:latin typeface="Arial"/>
                          <a:ea typeface="Malgun Gothic"/>
                          <a:cs typeface="Malgun Gothic"/>
                        </a:rPr>
                        <a:t>dω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95% 적중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분포 밖 최대 |μ|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정확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0.0193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 / 0.98 / 0.94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정확 GP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0.94 / 0.99 / 0.94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정확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121.8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4.75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0.0058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0.0190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 / 0.98 / 0.91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SGPR 유도점 32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 ms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0.28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0.0059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0.0283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0.94 / 0.98 / 0.99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SGPR 유도점 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5.5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0.36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0.0058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 / 0.98 / 0.97</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SGPR 유도점 128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0.38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0.94 / 0.98 / 0.94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RFF 특징 128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0.21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0.0059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 / 0.98 / 0.92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RFF 특징 256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0.94 / 0.98 / 0.92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RFF 특징 512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0.73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0.0058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0.0198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 / 0.98 / 0.92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FFDF8"/>
                    </a:solidFill>
                  </a:tcPr>
                </a:tc>
              </a:tr>
              <a:tr h="197088">
                <a:tc>
                  <a:txBody>
                    <a:bodyPr wrap="square"/>
                    <a:lstStyle/>
                    <a:p>
                      <a:r>
                        <a:rPr sz="800" b="0" i="1">
                          <a:solidFill>
                            <a:srgbClr val="16213A"/>
                          </a:solidFill>
                          <a:latin typeface="Arial"/>
                          <a:ea typeface="Malgun Gothic"/>
                          <a:cs typeface="Malgun Gothic"/>
                        </a:rPr>
                        <a:t>선형 기준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7" name="TextBox 6"/>
          <p:cNvSpPr txBox="1"/>
          <p:nvPr/>
        </p:nvSpPr>
        <p:spPr>
          <a:xfrm>
            <a:off x="609600" y="45717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넷을 차례로 읽는다.</a:t>
            </a:r>
          </a:p>
        </p:txBody>
      </p:sp>
      <p:sp>
        <p:nvSpPr>
          <p:cNvPr id="8" name="TextBox 7"/>
          <p:cNvSpPr txBox="1"/>
          <p:nvPr/>
        </p:nvSpPr>
        <p:spPr>
          <a:xfrm>
            <a:off x="609600" y="48770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정확도.</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dvₓ</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dv_y</a:t>
            </a:r>
            <a:r>
              <a:rPr sz="1050" b="0" i="0">
                <a:solidFill>
                  <a:srgbClr val="16213A"/>
                </a:solidFill>
                <a:latin typeface="Arial"/>
                <a:ea typeface="Malgun Gothic"/>
                <a:cs typeface="Malgun Gothic"/>
              </a:rPr>
              <a:t>는 어떤 모델을 써도 같다 — 지연이 선형이라 이미 천장이다. 차이는 전부 </a:t>
            </a:r>
            <a:r>
              <a:rPr sz="1050" b="0" i="1">
                <a:solidFill>
                  <a:srgbClr val="16213A"/>
                </a:solidFill>
                <a:latin typeface="Arial"/>
                <a:ea typeface="Malgun Gothic"/>
                <a:cs typeface="Malgun Gothic"/>
              </a:rPr>
              <a:t>dω</a:t>
            </a:r>
            <a:r>
              <a:rPr sz="1050" b="0" i="0">
                <a:solidFill>
                  <a:srgbClr val="16213A"/>
                </a:solidFill>
                <a:latin typeface="Arial"/>
                <a:ea typeface="Malgun Gothic"/>
                <a:cs typeface="Malgun Gothic"/>
              </a:rPr>
              <a:t>에서 난다. 정확 GP는 데이터를 다 써야(1400) 0.0189에 닿는데 그러면 refresh가 </a:t>
            </a:r>
            <a:r>
              <a:rPr sz="1050" b="1" i="0">
                <a:solidFill>
                  <a:srgbClr val="16213A"/>
                </a:solidFill>
                <a:latin typeface="Arial"/>
                <a:ea typeface="Malgun Gothic"/>
                <a:cs typeface="Malgun Gothic"/>
              </a:rPr>
              <a:t>130 ms</a:t>
            </a:r>
            <a:r>
              <a:rPr sz="1050" b="0" i="0">
                <a:solidFill>
                  <a:srgbClr val="16213A"/>
                </a:solidFill>
                <a:latin typeface="Arial"/>
                <a:ea typeface="Malgun Gothic"/>
                <a:cs typeface="Malgun Gothic"/>
              </a:rPr>
              <a:t>로 제어 주기 밖이다. </a:t>
            </a:r>
            <a:r>
              <a:rPr sz="1050" b="1" i="0">
                <a:solidFill>
                  <a:srgbClr val="C2410C"/>
                </a:solidFill>
                <a:latin typeface="Arial"/>
                <a:ea typeface="Malgun Gothic"/>
                <a:cs typeface="Malgun Gothic"/>
              </a:rPr>
              <a:t>희소화의 값은 속도가 아니라, </a:t>
            </a:r>
            <a:r>
              <a:rPr sz="1050" b="1" i="0">
                <a:solidFill>
                  <a:srgbClr val="C2410C"/>
                </a:solidFill>
                <a:latin typeface="Arial"/>
                <a:ea typeface="Malgun Gothic"/>
                <a:cs typeface="Malgun Gothic"/>
              </a:rPr>
              <a:t>데이터를 버리지 않고도 주기 안에 들어온다</a:t>
            </a:r>
            <a:r>
              <a:rPr sz="1050" b="1" i="0">
                <a:solidFill>
                  <a:srgbClr val="C2410C"/>
                </a:solidFill>
                <a:latin typeface="Arial"/>
                <a:ea typeface="Malgun Gothic"/>
                <a:cs typeface="Malgun Gothic"/>
              </a:rPr>
              <a:t>는 것이다</a:t>
            </a:r>
            <a:r>
              <a:rPr sz="1050" b="0" i="0">
                <a:solidFill>
                  <a:srgbClr val="16213A"/>
                </a:solidFill>
                <a:latin typeface="Arial"/>
                <a:ea typeface="Malgun Gothic"/>
                <a:cs typeface="Malgun Gothic"/>
              </a:rPr>
              <a:t> — SGPR 128은 1,400점을 모두 쓰면서 9.6 ms다.</a:t>
            </a:r>
          </a:p>
        </p:txBody>
      </p:sp>
      <p:sp>
        <p:nvSpPr>
          <p:cNvPr id="9" name="TextBox 8"/>
          <p:cNvSpPr txBox="1"/>
          <p:nvPr/>
        </p:nvSpPr>
        <p:spPr>
          <a:xfrm>
            <a:off x="609600" y="539898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보정 방향.</a:t>
            </a:r>
            <a:r>
              <a:rPr sz="1050" b="0" i="0">
                <a:solidFill>
                  <a:srgbClr val="16213A"/>
                </a:solidFill>
                <a:latin typeface="Arial"/>
                <a:ea typeface="Malgun Gothic"/>
                <a:cs typeface="Malgun Gothic"/>
              </a:rPr>
              <a:t> SGPR은 </a:t>
            </a:r>
            <a:r>
              <a:rPr sz="1050" b="0" i="1">
                <a:solidFill>
                  <a:srgbClr val="16213A"/>
                </a:solidFill>
                <a:latin typeface="Arial"/>
                <a:ea typeface="Malgun Gothic"/>
                <a:cs typeface="Malgun Gothic"/>
              </a:rPr>
              <a:t>dω</a:t>
            </a:r>
            <a:r>
              <a:rPr sz="1050" b="0" i="0">
                <a:solidFill>
                  <a:srgbClr val="16213A"/>
                </a:solidFill>
                <a:latin typeface="Arial"/>
                <a:ea typeface="Malgun Gothic"/>
                <a:cs typeface="Malgun Gothic"/>
              </a:rPr>
              <a:t> 적중이 0.94–0.99로 </a:t>
            </a:r>
            <a:r>
              <a:rPr sz="1050" b="1" i="0">
                <a:solidFill>
                  <a:srgbClr val="16213A"/>
                </a:solidFill>
                <a:latin typeface="Arial"/>
                <a:ea typeface="Malgun Gothic"/>
                <a:cs typeface="Malgun Gothic"/>
              </a:rPr>
              <a:t>보수적</a:t>
            </a:r>
            <a:r>
              <a:rPr sz="1050" b="0" i="0">
                <a:solidFill>
                  <a:srgbClr val="16213A"/>
                </a:solidFill>
                <a:latin typeface="Arial"/>
                <a:ea typeface="Malgun Gothic"/>
                <a:cs typeface="Malgun Gothic"/>
              </a:rPr>
              <a:t>이고, RFF는 0.92로 살짝 낮다. 유한 기저가 기저 사이를 지나치게 확신하기 때문이고, 유도점 변분법이 보수적인 것은 KL 하한의 성질이다(E.8, Bauer 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M.3.8 GP / 희소 GP — 네 축으로 재 보면 고를 것이 정해진다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39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여기에는 구현이 한 번 개입했다. 처음 잰 RFF 적중은 0.88이었는데, </a:t>
            </a:r>
            <a:r>
              <a:rPr sz="1050" b="1" i="0">
                <a:solidFill>
                  <a:srgbClr val="16213A"/>
                </a:solidFill>
                <a:latin typeface="Arial"/>
                <a:ea typeface="Malgun Gothic"/>
                <a:cs typeface="Malgun Gothic"/>
              </a:rPr>
              <a:t>적합 뒤 </a:t>
            </a:r>
            <a:r>
              <a:rPr sz="1050" b="1" i="1">
                <a:solidFill>
                  <a:srgbClr val="16213A"/>
                </a:solidFill>
                <a:latin typeface="Arial"/>
                <a:ea typeface="Malgun Gothic"/>
                <a:cs typeface="Malgun Gothic"/>
              </a:rPr>
              <a:t>σₙ</a:t>
            </a:r>
            <a:r>
              <a:rPr sz="1050" b="1" i="0">
                <a:solidFill>
                  <a:srgbClr val="16213A"/>
                </a:solidFill>
                <a:latin typeface="Arial"/>
                <a:ea typeface="Malgun Gothic"/>
                <a:cs typeface="Malgun Gothic"/>
              </a:rPr>
              <a:t>을 실제 잔차로 보정하는 단계</a:t>
            </a:r>
            <a:r>
              <a:rPr sz="1050" b="0" i="0">
                <a:solidFill>
                  <a:srgbClr val="16213A"/>
                </a:solidFill>
                <a:latin typeface="Arial"/>
                <a:ea typeface="Malgun Gothic"/>
                <a:cs typeface="Malgun Gothic"/>
              </a:rPr>
              <a:t>를 넣고 0.92가 됐다. 주변 우도 적합이 남긴 잡음이 </a:t>
            </a:r>
            <a:r>
              <a:rPr sz="1050" b="1" i="0">
                <a:solidFill>
                  <a:srgbClr val="16213A"/>
                </a:solidFill>
                <a:latin typeface="Arial"/>
                <a:ea typeface="Malgun Gothic"/>
                <a:cs typeface="Malgun Gothic"/>
              </a:rPr>
              <a:t>부분 집합으로 만든 사후분포가 실제로 내는 오차보다 작을 수 있다</a:t>
            </a:r>
            <a:r>
              <a:rPr sz="1050" b="0" i="0">
                <a:solidFill>
                  <a:srgbClr val="16213A"/>
                </a:solidFill>
                <a:latin typeface="Arial"/>
                <a:ea typeface="Malgun Gothic"/>
                <a:cs typeface="Malgun Gothic"/>
              </a:rPr>
              <a:t> — 0.35 적중을 만든 것과 같은 병이다(M.3.6). 이제 </a:t>
            </a:r>
            <a:r>
              <a:rPr sz="1050" b="0" i="0">
                <a:solidFill>
                  <a:srgbClr val="16213A"/>
                </a:solidFill>
                <a:latin typeface="Consolas"/>
                <a:ea typeface="Malgun Gothic"/>
                <a:cs typeface="Malgun Gothic"/>
              </a:rPr>
              <a:t>fit()</a:t>
            </a:r>
            <a:r>
              <a:rPr sz="1050" b="0" i="0">
                <a:solidFill>
                  <a:srgbClr val="16213A"/>
                </a:solidFill>
                <a:latin typeface="Arial"/>
                <a:ea typeface="Malgun Gothic"/>
                <a:cs typeface="Malgun Gothic"/>
              </a:rPr>
              <a:t>이 자동으로 한다. </a:t>
            </a:r>
            <a:r>
              <a:rPr sz="1050" b="1" i="0">
                <a:solidFill>
                  <a:srgbClr val="C2410C"/>
                </a:solidFill>
                <a:latin typeface="Arial"/>
                <a:ea typeface="Malgun Gothic"/>
                <a:cs typeface="Malgun Gothic"/>
              </a:rPr>
              <a:t>그래도 방향은 남는다: 조이는 데 쓸 분산이라면 보수적인 쪽이 안전하다.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시간.</a:t>
            </a:r>
            <a:r>
              <a:rPr sz="1050" b="0" i="0">
                <a:solidFill>
                  <a:srgbClr val="16213A"/>
                </a:solidFill>
                <a:latin typeface="Arial"/>
                <a:ea typeface="Malgun Gothic"/>
                <a:cs typeface="Malgun Gothic"/>
              </a:rPr>
              <a:t> SGPR 64가 예측 </a:t>
            </a:r>
            <a:r>
              <a:rPr sz="1050" b="1" i="0">
                <a:solidFill>
                  <a:srgbClr val="16213A"/>
                </a:solidFill>
                <a:latin typeface="Arial"/>
                <a:ea typeface="Malgun Gothic"/>
                <a:cs typeface="Malgun Gothic"/>
              </a:rPr>
              <a:t>0.30 ms</a:t>
            </a:r>
            <a:r>
              <a:rPr sz="1050" b="0" i="0">
                <a:solidFill>
                  <a:srgbClr val="16213A"/>
                </a:solidFill>
                <a:latin typeface="Arial"/>
                <a:ea typeface="Malgun Gothic"/>
                <a:cs typeface="Malgun Gothic"/>
              </a:rPr>
              <a:t>로 가장 싸다. 41노드 × RTI 3회여도 1 ms 안이다.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분포 밖.</a:t>
            </a:r>
            <a:r>
              <a:rPr sz="1050" b="0" i="0">
                <a:solidFill>
                  <a:srgbClr val="16213A"/>
                </a:solidFill>
                <a:latin typeface="Arial"/>
                <a:ea typeface="Malgun Gothic"/>
                <a:cs typeface="Malgun Gothic"/>
              </a:rPr>
              <a:t> 입력을 3배로 부풀린 질의에서 SGPR은 0.4로 유계인데 </a:t>
            </a:r>
            <a:r>
              <a:rPr sz="1050" b="1" i="0">
                <a:solidFill>
                  <a:srgbClr val="16213A"/>
                </a:solidFill>
                <a:latin typeface="Arial"/>
                <a:ea typeface="Malgun Gothic"/>
                <a:cs typeface="Malgun Gothic"/>
              </a:rPr>
              <a:t>RFF는 2.2까지 간다.</a:t>
            </a:r>
            <a:r>
              <a:rPr sz="1050" b="0" i="0">
                <a:solidFill>
                  <a:srgbClr val="16213A"/>
                </a:solidFill>
                <a:latin typeface="Arial"/>
                <a:ea typeface="Malgun Gothic"/>
                <a:cs typeface="Malgun Gothic"/>
              </a:rPr>
              <a:t> MPC의 예측 지평은 로봇이 아직 가 보지 않은 곳을 지나므로 질의가 늘 가장자리에 있다. </a:t>
            </a:r>
            <a:r>
              <a:rPr sz="1050" b="1" i="0">
                <a:solidFill>
                  <a:srgbClr val="C2410C"/>
                </a:solidFill>
                <a:latin typeface="Arial"/>
                <a:ea typeface="Malgun Gothic"/>
                <a:cs typeface="Malgun Gothic"/>
              </a:rPr>
              <a:t>빠른 대신 분포 밖에서 튀는 모델은 이 자리에 맞지 않는다.</a:t>
            </a:r>
          </a:p>
        </p:txBody>
      </p:sp>
      <p:sp>
        <p:nvSpPr>
          <p:cNvPr id="8" name="TextBox 7"/>
          <p:cNvSpPr txBox="1"/>
          <p:nvPr/>
        </p:nvSpPr>
        <p:spPr>
          <a:xfrm>
            <a:off x="609600" y="2593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권고: SGPR 유도점 64.</a:t>
            </a:r>
            <a:r>
              <a:rPr sz="1050" b="0" i="0">
                <a:solidFill>
                  <a:srgbClr val="16213A"/>
                </a:solidFill>
                <a:latin typeface="Arial"/>
                <a:ea typeface="Malgun Gothic"/>
                <a:cs typeface="Malgun Gothic"/>
              </a:rPr>
              <a:t> 정확도는 정확 GP 400과 같고, 예측이 두 배 빠르며, 보정이 보수적이고, 분포 밖이 유계다. 쿼드로터 쪽에서 유도점 </a:t>
            </a:r>
            <a:r>
              <a:rPr sz="1050" b="1" i="0">
                <a:solidFill>
                  <a:srgbClr val="16213A"/>
                </a:solidFill>
                <a:latin typeface="Arial"/>
                <a:ea typeface="Malgun Gothic"/>
                <a:cs typeface="Malgun Gothic"/>
              </a:rPr>
              <a:t>20개</a:t>
            </a:r>
            <a:r>
              <a:rPr sz="1050" b="0" i="0">
                <a:solidFill>
                  <a:srgbClr val="16213A"/>
                </a:solidFill>
                <a:latin typeface="Arial"/>
                <a:ea typeface="Malgun Gothic"/>
                <a:cs typeface="Malgun Gothic"/>
              </a:rPr>
              <a:t>로 실물 70% 개선을 낸 선례도 같은 방향이다(E.8).</a:t>
            </a:r>
          </a:p>
        </p:txBody>
      </p:sp>
      <p:sp>
        <p:nvSpPr>
          <p:cNvPr id="9" name="TextBox 8"/>
          <p:cNvSpPr txBox="1"/>
          <p:nvPr/>
        </p:nvSpPr>
        <p:spPr>
          <a:xfrm>
            <a:off x="609600" y="28991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참고로 정확 GP 200/400은 데이터를 버린 결과다.</a:t>
            </a:r>
            <a:r>
              <a:rPr sz="1050" b="0" i="0">
                <a:solidFill>
                  <a:srgbClr val="16213A"/>
                </a:solidFill>
                <a:latin typeface="Arial"/>
                <a:ea typeface="Malgun Gothic"/>
                <a:cs typeface="Malgun Gothic"/>
              </a:rPr>
              <a:t> M.3.6의 "용량" 스윕은 활성 집합을 그만큼으로 </a:t>
            </a:r>
            <a:r>
              <a:rPr sz="1050" b="1" i="0">
                <a:solidFill>
                  <a:srgbClr val="16213A"/>
                </a:solidFill>
                <a:latin typeface="Arial"/>
                <a:ea typeface="Malgun Gothic"/>
                <a:cs typeface="Malgun Gothic"/>
              </a:rPr>
              <a:t>자른</a:t>
            </a:r>
            <a:r>
              <a:rPr sz="1050" b="0" i="0">
                <a:solidFill>
                  <a:srgbClr val="16213A"/>
                </a:solidFill>
                <a:latin typeface="Arial"/>
                <a:ea typeface="Malgun Gothic"/>
                <a:cs typeface="Malgun Gothic"/>
              </a:rPr>
              <a:t> 것이고, 여기 SGPR·RFF 행은 1,400점을 </a:t>
            </a:r>
            <a:r>
              <a:rPr sz="1050" b="1" i="0">
                <a:solidFill>
                  <a:srgbClr val="16213A"/>
                </a:solidFill>
                <a:latin typeface="Arial"/>
                <a:ea typeface="Malgun Gothic"/>
                <a:cs typeface="Malgun Gothic"/>
              </a:rPr>
              <a:t>다 쓰면서</a:t>
            </a:r>
            <a:r>
              <a:rPr sz="1050" b="0" i="0">
                <a:solidFill>
                  <a:srgbClr val="16213A"/>
                </a:solidFill>
                <a:latin typeface="Arial"/>
                <a:ea typeface="Malgun Gothic"/>
                <a:cs typeface="Malgun Gothic"/>
              </a:rPr>
              <a:t> 요약한 것이다. 같은 refresh 예산에서 후자가 낫다.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M.3.9 희소화가 폐루프 발산을 고쳤다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40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2026-10-01 정정 — curb_ramp가 남은 것도 명령 출력 탓이 컸다. 고친 뒤 plant curb_ramp는 10/12다(M.3.12).</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M.3.7에 적은 0/12을 SGPR로 다시 해 봤다. </a:t>
            </a:r>
            <a:r>
              <a:rPr sz="1050" b="1" i="0">
                <a:solidFill>
                  <a:srgbClr val="16213A"/>
                </a:solidFill>
                <a:latin typeface="Arial"/>
                <a:ea typeface="Malgun Gothic"/>
                <a:cs typeface="Malgun Gothic"/>
              </a:rPr>
              <a:t>정확 GP를 SGPR 유도점 64로 바꾼 것 말고는 아무것도 바꾸지 않았다.</a:t>
            </a:r>
          </a:p>
        </p:txBody>
      </p:sp>
      <p:graphicFrame>
        <p:nvGraphicFramePr>
          <p:cNvPr id="7" name="Table 6"/>
          <p:cNvGraphicFramePr>
            <a:graphicFrameLocks noGrp="1"/>
          </p:cNvGraphicFramePr>
          <p:nvPr/>
        </p:nvGraphicFramePr>
        <p:xfrm>
          <a:off x="609600" y="1855391"/>
          <a:ext cx="10966451" cy="985440"/>
        </p:xfrm>
        <a:graphic>
          <a:graphicData uri="http://schemas.openxmlformats.org/drawingml/2006/table">
            <a:tbl>
              <a:tblPr firstRow="1" bandRow="1">
                <a:tableStyleId>{5C22544A-7EE6-4342-B048-85BDC9FD1C3A}</a:tableStyleId>
              </a:tblPr>
              <a:tblGrid>
                <a:gridCol w="2595166"/>
                <a:gridCol w="3157339"/>
                <a:gridCol w="2761258"/>
                <a:gridCol w="2452688"/>
              </a:tblGrid>
              <a:tr h="197088">
                <a:tc>
                  <a:txBody>
                    <a:bodyPr wrap="square"/>
                    <a:lstStyle/>
                    <a:p>
                      <a:r>
                        <a:rPr sz="800" b="1" i="0">
                          <a:solidFill>
                            <a:srgbClr val="F4F1EA"/>
                          </a:solidFill>
                          <a:latin typeface="Consolas"/>
                          <a:ea typeface="Malgun Gothic"/>
                          <a:cs typeface="Malgun Gothic"/>
                        </a:rPr>
                        <a:t>gp_scale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slope_crossfall</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random_mix</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0.00 (GP 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OK (12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OK (12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timeout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OK (11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OK (16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0.50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OK (17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OK (17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lethal</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OK (11 ms)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OK (15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lethal</a:t>
                      </a:r>
                    </a:p>
                  </a:txBody>
                  <a:tcPr marL="63500" marR="63500" marT="12700" marB="12700">
                    <a:solidFill>
                      <a:srgbClr val="F3F0E8"/>
                    </a:solidFill>
                  </a:tcPr>
                </a:tc>
              </a:tr>
            </a:tbl>
          </a:graphicData>
        </a:graphic>
      </p:graphicFrame>
      <p:sp>
        <p:nvSpPr>
          <p:cNvPr id="8" name="TextBox 7"/>
          <p:cNvSpPr txBox="1"/>
          <p:nvPr/>
        </p:nvSpPr>
        <p:spPr>
          <a:xfrm>
            <a:off x="609600" y="318244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정확 GP는 같은 자리에서 </a:t>
            </a:r>
            <a:r>
              <a:rPr sz="1050" b="0" i="0">
                <a:solidFill>
                  <a:srgbClr val="16213A"/>
                </a:solidFill>
                <a:latin typeface="Consolas"/>
                <a:ea typeface="Malgun Gothic"/>
                <a:cs typeface="Malgun Gothic"/>
              </a:rPr>
              <a:t>gp_scale=1.0</a:t>
            </a:r>
            <a:r>
              <a:rPr sz="1050" b="0" i="0">
                <a:solidFill>
                  <a:srgbClr val="16213A"/>
                </a:solidFill>
                <a:latin typeface="Arial"/>
                <a:ea typeface="Malgun Gothic"/>
                <a:cs typeface="Malgun Gothic"/>
              </a:rPr>
              <a:t>일 때 두 장면 모두 </a:t>
            </a:r>
            <a:r>
              <a:rPr sz="1050" b="0" i="0">
                <a:solidFill>
                  <a:srgbClr val="16213A"/>
                </a:solidFill>
                <a:latin typeface="Consolas"/>
                <a:ea typeface="Malgun Gothic"/>
                <a:cs typeface="Malgun Gothic"/>
              </a:rPr>
              <a:t>lethal</a:t>
            </a:r>
            <a:r>
              <a:rPr sz="1050" b="0" i="0">
                <a:solidFill>
                  <a:srgbClr val="16213A"/>
                </a:solidFill>
                <a:latin typeface="Arial"/>
                <a:ea typeface="Malgun Gothic"/>
                <a:cs typeface="Malgun Gothic"/>
              </a:rPr>
              <a:t>이었다. </a:t>
            </a:r>
            <a:r>
              <a:rPr sz="1050" b="1" i="0">
                <a:solidFill>
                  <a:srgbClr val="C2410C"/>
                </a:solidFill>
                <a:latin typeface="Arial"/>
                <a:ea typeface="Malgun Gothic"/>
                <a:cs typeface="Malgun Gothic"/>
              </a:rPr>
              <a:t>즉 M.3.7의 발산은 GP-MPC라는 발상의 문제가 아니라 </a:t>
            </a:r>
            <a:r>
              <a:rPr sz="1050" b="1" i="0">
                <a:solidFill>
                  <a:srgbClr val="C2410C"/>
                </a:solidFill>
                <a:latin typeface="Arial"/>
                <a:ea typeface="Malgun Gothic"/>
                <a:cs typeface="Malgun Gothic"/>
              </a:rPr>
              <a:t>근사 방식의 문제</a:t>
            </a:r>
            <a:r>
              <a:rPr sz="1050" b="1" i="0">
                <a:solidFill>
                  <a:srgbClr val="C2410C"/>
                </a:solidFill>
                <a:latin typeface="Arial"/>
                <a:ea typeface="Malgun Gothic"/>
                <a:cs typeface="Malgun Gothic"/>
              </a:rPr>
              <a:t>였다.</a:t>
            </a:r>
            <a:r>
              <a:rPr sz="1050" b="0" i="0">
                <a:solidFill>
                  <a:srgbClr val="16213A"/>
                </a:solidFill>
                <a:latin typeface="Arial"/>
                <a:ea typeface="Malgun Gothic"/>
                <a:cs typeface="Malgun Gothic"/>
              </a:rPr>
              <a:t> 정확 GP의 </a:t>
            </a:r>
            <a:r>
              <a:rPr sz="1050" b="0" i="1">
                <a:solidFill>
                  <a:srgbClr val="16213A"/>
                </a:solidFill>
                <a:latin typeface="Arial"/>
                <a:ea typeface="Malgun Gothic"/>
                <a:cs typeface="Malgun Gothic"/>
              </a:rPr>
              <a:t>K⁻¹</a:t>
            </a:r>
            <a:r>
              <a:rPr sz="1050" b="0" i="0">
                <a:solidFill>
                  <a:srgbClr val="16213A"/>
                </a:solidFill>
                <a:latin typeface="Arial"/>
                <a:ea typeface="Malgun Gothic"/>
                <a:cs typeface="Malgun Gothic"/>
              </a:rPr>
              <a:t>이 만든 큰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가 예측 지평 끝(학습 분포 가장자리)에서 큰 보정을 뱉고, 그것이 다음 iterate를 더 바깥으로 밀어내는 되먹임이었다. 유도점 사후분포는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개로 규정되고 데이터에서 멀어지면 prior로 돌아가므로 이 되먹임이 생기지 않는다. M.3.8의 "분포 밖" 열이 이것을 미리 보여 주고 있었다.</a:t>
            </a:r>
          </a:p>
        </p:txBody>
      </p:sp>
      <p:sp>
        <p:nvSpPr>
          <p:cNvPr id="9" name="TextBox 8"/>
          <p:cNvSpPr txBox="1"/>
          <p:nvPr/>
        </p:nvSpPr>
        <p:spPr>
          <a:xfrm>
            <a:off x="609600" y="392082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curb_ramp는 아직 남는다.</a:t>
            </a:r>
            <a:r>
              <a:rPr sz="1050" b="0" i="0">
                <a:solidFill>
                  <a:srgbClr val="16213A"/>
                </a:solidFill>
                <a:latin typeface="Arial"/>
                <a:ea typeface="Malgun Gothic"/>
                <a:cs typeface="Malgun Gothic"/>
              </a:rPr>
              <a:t> 다만 </a:t>
            </a:r>
            <a:r>
              <a:rPr sz="1050" b="0" i="0">
                <a:solidFill>
                  <a:srgbClr val="16213A"/>
                </a:solidFill>
                <a:latin typeface="Consolas"/>
                <a:ea typeface="Malgun Gothic"/>
                <a:cs typeface="Malgun Gothic"/>
              </a:rPr>
              <a:t>gp_scale=0.0</a:t>
            </a:r>
            <a:r>
              <a:rPr sz="1050" b="0" i="0">
                <a:solidFill>
                  <a:srgbClr val="16213A"/>
                </a:solidFill>
                <a:latin typeface="Arial"/>
                <a:ea typeface="Malgun Gothic"/>
                <a:cs typeface="Malgun Gothic"/>
              </a:rPr>
              <a:t>(GP를 끈 상태)에서도 timeout이므로 </a:t>
            </a:r>
            <a:r>
              <a:rPr sz="1050" b="1" i="0">
                <a:solidFill>
                  <a:srgbClr val="16213A"/>
                </a:solidFill>
                <a:latin typeface="Arial"/>
                <a:ea typeface="Malgun Gothic"/>
                <a:cs typeface="Malgun Gothic"/>
              </a:rPr>
              <a:t>GP 문제가 아니라 plant를 켠 curb_ramp가 어려운 것</a:t>
            </a:r>
            <a:r>
              <a:rPr sz="1050" b="0" i="0">
                <a:solidFill>
                  <a:srgbClr val="16213A"/>
                </a:solidFill>
                <a:latin typeface="Arial"/>
                <a:ea typeface="Malgun Gothic"/>
                <a:cs typeface="Malgun Gothic"/>
              </a:rPr>
              <a:t>이다. 지연과 슬립이 붙으면 램프 진입이 크게 어려워진다. 다음은 여기다.</a:t>
            </a:r>
          </a:p>
        </p:txBody>
      </p:sp>
      <p:sp>
        <p:nvSpPr>
          <p:cNvPr id="10" name="TextBox 9"/>
          <p:cNvSpPr txBox="1"/>
          <p:nvPr/>
        </p:nvSpPr>
        <p:spPr>
          <a:xfrm>
            <a:off x="609600" y="444271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정리.</a:t>
            </a:r>
            <a:r>
              <a:rPr sz="1050" b="0" i="0">
                <a:solidFill>
                  <a:srgbClr val="16213A"/>
                </a:solidFill>
                <a:latin typeface="Arial"/>
                <a:ea typeface="Malgun Gothic"/>
                <a:cs typeface="Malgun Gothic"/>
              </a:rPr>
              <a:t> GP-MPC를 붙일 때 고를 것은 커널이 아니라 </a:t>
            </a:r>
            <a:r>
              <a:rPr sz="1050" b="1" i="0">
                <a:solidFill>
                  <a:srgbClr val="16213A"/>
                </a:solidFill>
                <a:latin typeface="Arial"/>
                <a:ea typeface="Malgun Gothic"/>
                <a:cs typeface="Malgun Gothic"/>
              </a:rPr>
              <a:t>근사</a:t>
            </a:r>
            <a:r>
              <a:rPr sz="1050" b="0" i="0">
                <a:solidFill>
                  <a:srgbClr val="16213A"/>
                </a:solidFill>
                <a:latin typeface="Arial"/>
                <a:ea typeface="Malgun Gothic"/>
                <a:cs typeface="Malgun Gothic"/>
              </a:rPr>
              <a:t>다. 정확 GP는 오프라인 지표가 가장 좋지만 제어 주기 안에 못 들어오고(121 ms), 분포 밖에서 위험하다. RFF는 가장 빠르지만 분포 밖이 가장 나쁘다(1.9). </a:t>
            </a:r>
            <a:r>
              <a:rPr sz="1050" b="1" i="0">
                <a:solidFill>
                  <a:srgbClr val="C2410C"/>
                </a:solidFill>
                <a:latin typeface="Arial"/>
                <a:ea typeface="Malgun Gothic"/>
                <a:cs typeface="Malgun Gothic"/>
              </a:rPr>
              <a:t>SGPR 유도점 64가 셋 가운데 유일하게 네 축을 모두 통과한다.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M.3.10 1단계 마무리 — 남은 셋은 솔버가 아니라 제약의 구멍이었다 (TP-0093)</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41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정적 4 시나리오 × seed 10에서 </a:t>
            </a:r>
            <a:r>
              <a:rPr sz="1050" b="1" i="0">
                <a:solidFill>
                  <a:srgbClr val="16213A"/>
                </a:solidFill>
                <a:latin typeface="Consolas"/>
                <a:ea typeface="Malgun Gothic"/>
                <a:cs typeface="Malgun Gothic"/>
              </a:rPr>
              <a:t>guidance+mpc</a:t>
            </a:r>
            <a:r>
              <a:rPr sz="1050" b="1" i="0">
                <a:solidFill>
                  <a:srgbClr val="16213A"/>
                </a:solidFill>
                <a:latin typeface="Arial"/>
                <a:ea typeface="Malgun Gothic"/>
                <a:cs typeface="Malgun Gothic"/>
              </a:rPr>
              <a:t>가 38/40이다.</a:t>
            </a:r>
            <a:r>
              <a:rPr sz="1050" b="0" i="0">
                <a:solidFill>
                  <a:srgbClr val="16213A"/>
                </a:solidFill>
                <a:latin typeface="Arial"/>
                <a:ea typeface="Malgun Gothic"/>
                <a:cs typeface="Malgun Gothic"/>
              </a:rPr>
              <a:t> 1단계(M.3.5)는 seed 0–2에서 9/12였다. 기준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는 40/40이다. 남은 둘(bumps_potholes s6·s7)은 Guidance 경로가 지나가는 좁은 틈 앞에서 멈춘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M.3.5에 "남은 셋은 형태가 아니라 솔버 문제"라고 적었다. </a:t>
            </a:r>
            <a:r>
              <a:rPr sz="1050" b="1" i="0">
                <a:solidFill>
                  <a:srgbClr val="C2410C"/>
                </a:solidFill>
                <a:latin typeface="Arial"/>
                <a:ea typeface="Malgun Gothic"/>
                <a:cs typeface="Malgun Gothic"/>
              </a:rPr>
              <a:t>틀렸다. 세 실패는 모두 제약에 난 구멍 때문이었고, QP 반복 한계(status 3)는 원인이 아니라 증상이었다.</a:t>
            </a:r>
            <a:r>
              <a:rPr sz="1050" b="0" i="0">
                <a:solidFill>
                  <a:srgbClr val="16213A"/>
                </a:solidFill>
                <a:latin typeface="Arial"/>
                <a:ea typeface="Malgun Gothic"/>
                <a:cs typeface="Malgun Gothic"/>
              </a:rPr>
              <a:t> 실패한 에피소드를 스텝마다 계측해서 찾았다.</a:t>
            </a:r>
          </a:p>
        </p:txBody>
      </p:sp>
      <p:graphicFrame>
        <p:nvGraphicFramePr>
          <p:cNvPr id="7" name="Table 6"/>
          <p:cNvGraphicFramePr>
            <a:graphicFrameLocks noGrp="1"/>
          </p:cNvGraphicFramePr>
          <p:nvPr/>
        </p:nvGraphicFramePr>
        <p:xfrm>
          <a:off x="609600" y="2288381"/>
          <a:ext cx="10966450" cy="1030128"/>
        </p:xfrm>
        <a:graphic>
          <a:graphicData uri="http://schemas.openxmlformats.org/drawingml/2006/table">
            <a:tbl>
              <a:tblPr firstRow="1" bandRow="1">
                <a:tableStyleId>{5C22544A-7EE6-4342-B048-85BDC9FD1C3A}</a:tableStyleId>
              </a:tblPr>
              <a:tblGrid>
                <a:gridCol w="786209"/>
                <a:gridCol w="7107833"/>
                <a:gridCol w="1995190"/>
                <a:gridCol w="1077218"/>
              </a:tblGrid>
              <a:tr h="197088">
                <a:tc>
                  <a:txBody>
                    <a:bodyPr wrap="square"/>
                    <a:lstStyle/>
                    <a:p>
                      <a:r>
                        <a:rPr sz="800" b="1" i="0">
                          <a:solidFill>
                            <a:srgbClr val="F4F1EA"/>
                          </a:solidFill>
                          <a:latin typeface="Arial"/>
                          <a:ea typeface="Malgun Gothic"/>
                          <a:cs typeface="Malgun Gothic"/>
                        </a:rPr>
                        <a:t>구멍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무엇이 일어났나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풀린 장면</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덩어리 안의 노드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노드가 치명 덩어리 안에 들어가면 가장 가까운 치명 칸이 자기 자신이라 법선이 없다. 그래서 그 행을 껐다. 위반한 바로 그 노드에서 제약이 사라지고, 추종 비용이 예측을 덩어리 너머로 끌었다(예측 노드 3–11개가 치명 칸 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덩어리 안 노드는 가장 가까운 자유 칸 쪽으로 법선을 세운다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bumps_potholes s1</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칸 중심에서 잰 여유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여유 0.15 m를 치명 칸 중심에서 쟀다. 가장자리 기준으로는 0.125 m였다(칸 0.05 m). 벽에 붙은 Guidance 경로를 따라가다 예측과 실행이 몇 cm 어긋나자 닿았다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여유를 칸 가장자리에서 잰다(반 칸 더함)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random_mix s2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지도 경계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시뮬레이터는 지도 밖을 COST 1로 본다. </a:t>
                      </a:r>
                      <a:r>
                        <a:rPr sz="800" b="0" i="0">
                          <a:solidFill>
                            <a:srgbClr val="16213A"/>
                          </a:solidFill>
                          <a:latin typeface="Consolas"/>
                          <a:ea typeface="Malgun Gothic"/>
                          <a:cs typeface="Malgun Gothic"/>
                        </a:rPr>
                        <a:t>LethalField</a:t>
                      </a:r>
                      <a:r>
                        <a:rPr sz="800" b="0" i="0">
                          <a:solidFill>
                            <a:srgbClr val="16213A"/>
                          </a:solidFill>
                          <a:latin typeface="Arial"/>
                          <a:ea typeface="Malgun Gothic"/>
                          <a:cs typeface="Malgun Gothic"/>
                        </a:rPr>
                        <a:t>는 격자 안의 치명 칸만 봤다. 블록과 지도 끝 사이 0.6 m 통로에서 예측이 지도 밖으로 나갔다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가장 바깥 한 칸을 치명으로 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random_mix s6</a:t>
                      </a:r>
                    </a:p>
                  </a:txBody>
                  <a:tcPr marL="63500" marR="63500" marT="12700" marB="12700">
                    <a:solidFill>
                      <a:srgbClr val="FFFDF8"/>
                    </a:solidFill>
                  </a:tcPr>
                </a:tc>
              </a:tr>
            </a:tbl>
          </a:graphicData>
        </a:graphic>
      </p:graphicFrame>
      <p:sp>
        <p:nvSpPr>
          <p:cNvPr id="8" name="TextBox 7"/>
          <p:cNvSpPr txBox="1"/>
          <p:nvPr/>
        </p:nvSpPr>
        <p:spPr>
          <a:xfrm>
            <a:off x="609600" y="367129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구멍만 막아서는 부족했다. curb_ramp에서 새로 관측한 연석 때문에 Guidance 경로가 뒤로 뒤집히면, 벽을 따라 1 m/s로 달리던 로봇은 RTI 세 번 안에 U턴 해를 찾지 못했다. 단순 거리 제약은 노드가 여유에 닿은 뒤에야 걸리기 때문이다(TP-0093이 적어 둔 문제). 그래서 </a:t>
            </a:r>
            <a:r>
              <a:rPr sz="1050" b="1" i="0">
                <a:solidFill>
                  <a:srgbClr val="16213A"/>
                </a:solidFill>
                <a:latin typeface="Arial"/>
                <a:ea typeface="Malgun Gothic"/>
                <a:cs typeface="Malgun Gothic"/>
              </a:rPr>
              <a:t>이산 CBF 감쇠</a:t>
            </a:r>
            <a:r>
              <a:rPr sz="1050" b="0" i="0">
                <a:solidFill>
                  <a:srgbClr val="16213A"/>
                </a:solidFill>
                <a:latin typeface="Arial"/>
                <a:ea typeface="Malgun Gothic"/>
                <a:cs typeface="Malgun Gothic"/>
              </a:rPr>
              <a:t>를 넣었다. 노드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의 여유 하한을 로봇 자신의 여유 </a:t>
            </a:r>
            <a:r>
              <a:rPr sz="1050" b="0" i="1">
                <a:solidFill>
                  <a:srgbClr val="16213A"/>
                </a:solidFill>
                <a:latin typeface="Arial"/>
                <a:ea typeface="Malgun Gothic"/>
                <a:cs typeface="Malgun Gothic"/>
              </a:rPr>
              <a:t>h₀</a:t>
            </a:r>
            <a:r>
              <a:rPr sz="1050" b="0" i="0">
                <a:solidFill>
                  <a:srgbClr val="16213A"/>
                </a:solidFill>
                <a:latin typeface="Arial"/>
                <a:ea typeface="Malgun Gothic"/>
                <a:cs typeface="Malgun Gothic"/>
              </a:rPr>
              <a:t>에서 기하급수로 줄여 간다.</a:t>
            </a:r>
          </a:p>
        </p:txBody>
      </p:sp>
      <p:pic>
        <p:nvPicPr>
          <p:cNvPr id="9" name="Picture 8" descr="image.png"/>
          <p:cNvPicPr>
            <a:picLocks noChangeAspect="1"/>
          </p:cNvPicPr>
          <p:nvPr/>
        </p:nvPicPr>
        <p:blipFill>
          <a:blip r:embed="rId3"/>
          <a:stretch>
            <a:fillRect/>
          </a:stretch>
        </p:blipFill>
        <p:spPr>
          <a:xfrm>
            <a:off x="609600" y="4193183"/>
            <a:ext cx="3841750" cy="241300"/>
          </a:xfrm>
          <a:prstGeom prst="rect">
            <a:avLst/>
          </a:prstGeom>
        </p:spPr>
      </p:pic>
      <p:sp>
        <p:nvSpPr>
          <p:cNvPr id="10" name="TextBox 9"/>
          <p:cNvSpPr txBox="1"/>
          <p:nvPr/>
        </p:nvSpPr>
        <p:spPr>
          <a:xfrm>
            <a:off x="609600" y="4470698"/>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hₖ₊₁ ≥ (1-γ) hₖ</a:t>
            </a:r>
            <a:r>
              <a:rPr sz="1050" b="0" i="0">
                <a:solidFill>
                  <a:srgbClr val="16213A"/>
                </a:solidFill>
                <a:latin typeface="Arial"/>
                <a:ea typeface="Malgun Gothic"/>
                <a:cs typeface="Malgun Gothic"/>
              </a:rPr>
              <a:t>를 측정한 상태에서 펼친 식이다(</a:t>
            </a:r>
            <a:r>
              <a:rPr sz="1050" b="0" i="1">
                <a:solidFill>
                  <a:srgbClr val="16213A"/>
                </a:solidFill>
                <a:latin typeface="Arial"/>
                <a:ea typeface="Malgun Gothic"/>
                <a:cs typeface="Malgun Gothic"/>
              </a:rPr>
              <a:t>Δ</a:t>
            </a:r>
            <a:r>
              <a:rPr sz="1050" b="0" i="0">
                <a:solidFill>
                  <a:srgbClr val="16213A"/>
                </a:solidFill>
                <a:latin typeface="Arial"/>
                <a:ea typeface="Malgun Gothic"/>
                <a:cs typeface="Malgun Gothic"/>
              </a:rPr>
              <a:t>는 칸 크기,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여유). 벽 쪽으로 다가가는 속도가 남은 여유에 비례해 묶이므로 붙기 전에 감속한다. acados v0.3.4는 경로 제약을 노드 1부터 </a:t>
            </a:r>
            <a:r>
              <a:rPr sz="1050" b="0" i="1">
                <a:solidFill>
                  <a:srgbClr val="16213A"/>
                </a:solidFill>
                <a:latin typeface="Arial"/>
                <a:ea typeface="Malgun Gothic"/>
                <a:cs typeface="Malgun Gothic"/>
              </a:rPr>
              <a:t>N-1</a:t>
            </a:r>
            <a:r>
              <a:rPr sz="1050" b="0" i="0">
                <a:solidFill>
                  <a:srgbClr val="16213A"/>
                </a:solidFill>
                <a:latin typeface="Arial"/>
                <a:ea typeface="Malgun Gothic"/>
                <a:cs typeface="Malgun Gothic"/>
              </a:rPr>
              <a:t>까지만 걸므로,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 고정된 노드 0과 부딪히지 않는다. 같은 이유로 종단 노드에는 장애물 제약이 없다. 구현은 </a:t>
            </a:r>
            <a:r>
              <a:rPr sz="1050" b="0" i="0">
                <a:solidFill>
                  <a:srgbClr val="16213A"/>
                </a:solidFill>
                <a:latin typeface="Consolas"/>
                <a:ea typeface="Malgun Gothic"/>
                <a:cs typeface="Malgun Gothic"/>
              </a:rPr>
              <a:t>MPCConfig.cbf_gamma</a:t>
            </a:r>
            <a:r>
              <a:rPr sz="1050" b="0" i="0">
                <a:solidFill>
                  <a:srgbClr val="16213A"/>
                </a:solidFill>
                <a:latin typeface="Arial"/>
                <a:ea typeface="Malgun Gothic"/>
                <a:cs typeface="Malgun Gothic"/>
              </a:rPr>
              <a:t>다. 제약을 hard로 두면(</a:t>
            </a:r>
            <a:r>
              <a:rPr sz="1050" b="0" i="0">
                <a:solidFill>
                  <a:srgbClr val="16213A"/>
                </a:solidFill>
                <a:latin typeface="Consolas"/>
                <a:ea typeface="Malgun Gothic"/>
                <a:cs typeface="Malgun Gothic"/>
              </a:rPr>
              <a:t>hard_obstacle</a:t>
            </a:r>
            <a:r>
              <a:rPr sz="1050" b="0" i="0">
                <a:solidFill>
                  <a:srgbClr val="16213A"/>
                </a:solidFill>
                <a:latin typeface="Arial"/>
                <a:ea typeface="Malgun Gothic"/>
                <a:cs typeface="Malgun Gothic"/>
              </a:rPr>
              <a:t>) 감쇠를 끈다. 노드 1은 </a:t>
            </a:r>
            <a:r>
              <a:rPr sz="1050" b="0" i="1">
                <a:solidFill>
                  <a:srgbClr val="16213A"/>
                </a:solidFill>
                <a:latin typeface="Arial"/>
                <a:ea typeface="Malgun Gothic"/>
                <a:cs typeface="Malgun Gothic"/>
              </a:rPr>
              <a:t>u₀</a:t>
            </a:r>
            <a:r>
              <a:rPr sz="1050" b="0" i="0">
                <a:solidFill>
                  <a:srgbClr val="16213A"/>
                </a:solidFill>
                <a:latin typeface="Arial"/>
                <a:ea typeface="Malgun Gothic"/>
                <a:cs typeface="Malgun Gothic"/>
              </a:rPr>
              <a:t>로 5 mm밖에 못 움직여서, 빠르게 다가가는 중이면 그 하한을 지킬 수 없기 때문이다.</a:t>
            </a:r>
          </a:p>
        </p:txBody>
      </p:sp>
      <p:graphicFrame>
        <p:nvGraphicFramePr>
          <p:cNvPr id="11" name="Table 10"/>
          <p:cNvGraphicFramePr>
            <a:graphicFrameLocks noGrp="1"/>
          </p:cNvGraphicFramePr>
          <p:nvPr/>
        </p:nvGraphicFramePr>
        <p:xfrm>
          <a:off x="609600" y="5209084"/>
          <a:ext cx="10966945" cy="788352"/>
        </p:xfrm>
        <a:graphic>
          <a:graphicData uri="http://schemas.openxmlformats.org/drawingml/2006/table">
            <a:tbl>
              <a:tblPr firstRow="1" bandRow="1">
                <a:tableStyleId>{5C22544A-7EE6-4342-B048-85BDC9FD1C3A}</a:tableStyleId>
              </a:tblPr>
              <a:tblGrid>
                <a:gridCol w="1774825"/>
                <a:gridCol w="1494730"/>
                <a:gridCol w="1494730"/>
                <a:gridCol w="6202660"/>
              </a:tblGrid>
              <a:tr h="197088">
                <a:tc>
                  <a:txBody>
                    <a:bodyPr wrap="square"/>
                    <a:lstStyle/>
                    <a:p>
                      <a:r>
                        <a:rPr sz="800" b="1" i="0">
                          <a:solidFill>
                            <a:srgbClr val="F4F1EA"/>
                          </a:solidFill>
                          <a:latin typeface="Arial"/>
                          <a:ea typeface="Malgun Gothic"/>
                          <a:cs typeface="Malgun Gothic"/>
                        </a:rPr>
                        <a:t>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seed 0–2</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seed 3–9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 (감쇠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curb_ramp s0·s1 </a:t>
                      </a:r>
                      <a:r>
                        <a:rPr sz="800" b="0" i="0">
                          <a:solidFill>
                            <a:srgbClr val="16213A"/>
                          </a:solidFill>
                          <a:latin typeface="Consolas"/>
                          <a:ea typeface="Malgun Gothic"/>
                          <a:cs typeface="Malgun Gothic"/>
                        </a:rPr>
                        <a:t>lethal</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너무 보수적이다. bumps_potholes s2가 </a:t>
                      </a:r>
                      <a:r>
                        <a:rPr sz="800" b="0" i="0">
                          <a:solidFill>
                            <a:srgbClr val="16213A"/>
                          </a:solidFill>
                          <a:latin typeface="Consolas"/>
                          <a:ea typeface="Malgun Gothic"/>
                          <a:cs typeface="Malgun Gothic"/>
                        </a:rPr>
                        <a:t>timeout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26/28</a:t>
                      </a:r>
                    </a:p>
                  </a:txBody>
                  <a:tcPr marL="63500" marR="63500" marT="12700" marB="12700">
                    <a:solidFill>
                      <a:srgbClr val="FFFDF8"/>
                    </a:solidFill>
                  </a:tcPr>
                </a:tc>
                <a:tc>
                  <a:txBody>
                    <a:bodyPr wrap="square"/>
                    <a:lstStyle/>
                    <a:p/>
                  </a:txBody>
                  <a:tcPr marL="63500" marR="63500" marT="12700" marB="12700">
                    <a:solidFill>
                      <a:srgbClr val="FFFD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M.3.10 1단계 마무리 — 남은 셋은 솔버가 아니라 제약의 구멍이었다 (TP-0093)</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42 / 112</a:t>
            </a:r>
          </a:p>
        </p:txBody>
      </p:sp>
      <p:graphicFrame>
        <p:nvGraphicFramePr>
          <p:cNvPr id="5" name="Table 4"/>
          <p:cNvGraphicFramePr>
            <a:graphicFrameLocks noGrp="1"/>
          </p:cNvGraphicFramePr>
          <p:nvPr/>
        </p:nvGraphicFramePr>
        <p:xfrm>
          <a:off x="609600" y="1244600"/>
          <a:ext cx="10966945" cy="394176"/>
        </p:xfrm>
        <a:graphic>
          <a:graphicData uri="http://schemas.openxmlformats.org/drawingml/2006/table">
            <a:tbl>
              <a:tblPr firstRow="1" bandRow="1">
                <a:tableStyleId>{5C22544A-7EE6-4342-B048-85BDC9FD1C3A}</a:tableStyleId>
              </a:tblPr>
              <a:tblGrid>
                <a:gridCol w="1774825"/>
                <a:gridCol w="1494730"/>
                <a:gridCol w="1494730"/>
                <a:gridCol w="6202660"/>
              </a:tblGrid>
              <a:tr h="197088">
                <a:tc>
                  <a:txBody>
                    <a:bodyPr wrap="square"/>
                    <a:lstStyle/>
                    <a:p>
                      <a:r>
                        <a:rPr sz="800" b="1" i="0">
                          <a:solidFill>
                            <a:srgbClr val="F4F1EA"/>
                          </a:solidFill>
                          <a:latin typeface="Arial"/>
                          <a:ea typeface="Malgun Gothic"/>
                          <a:cs typeface="Malgun Gothic"/>
                        </a:rPr>
                        <a:t>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seed 0–2</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seed 3–9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0.2</a:t>
                      </a:r>
                      <a:r>
                        <a:rPr sz="800" b="0" i="0">
                          <a:solidFill>
                            <a:srgbClr val="16213A"/>
                          </a:solidFill>
                          <a:latin typeface="Arial"/>
                          <a:ea typeface="Malgun Gothic"/>
                          <a:cs typeface="Malgun Gothic"/>
                        </a:rPr>
                        <a:t> (기본값)</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27/28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남은 random_mix s6이 세 번째 구멍(지도 경계)이었다</a:t>
                      </a:r>
                    </a:p>
                  </a:txBody>
                  <a:tcPr marL="63500" marR="63500" marT="12700" marB="12700">
                    <a:solidFill>
                      <a:srgbClr val="FFFDF8"/>
                    </a:solidFill>
                  </a:tcPr>
                </a:tc>
              </a:tr>
            </a:tbl>
          </a:graphicData>
        </a:graphic>
      </p:graphicFrame>
      <p:sp>
        <p:nvSpPr>
          <p:cNvPr id="6" name="TextBox 5"/>
          <p:cNvSpPr txBox="1"/>
          <p:nvPr/>
        </p:nvSpPr>
        <p:spPr>
          <a:xfrm>
            <a:off x="609600" y="183257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표의 스윕은 지도 경계와 아래 네 번째 구멍을 고치기 전에 돌렸다.</a:t>
            </a:r>
          </a:p>
        </p:txBody>
      </p:sp>
      <p:sp>
        <p:nvSpPr>
          <p:cNvPr id="7" name="TextBox 6"/>
          <p:cNvSpPr txBox="1"/>
          <p:nvPr/>
        </p:nvSpPr>
        <p:spPr>
          <a:xfrm>
            <a:off x="609600" y="213796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네 번째 구멍은 코드 리뷰가 찾았다.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LethalField</a:t>
            </a:r>
            <a:r>
              <a:rPr sz="1050" b="0" i="0">
                <a:solidFill>
                  <a:srgbClr val="16213A"/>
                </a:solidFill>
                <a:latin typeface="Arial"/>
                <a:ea typeface="Malgun Gothic"/>
                <a:cs typeface="Malgun Gothic"/>
              </a:rPr>
              <a:t>가 칸을 내림으로 찾고 있었다. </a:t>
            </a:r>
            <a:r>
              <a:rPr sz="1050" b="0" i="0">
                <a:solidFill>
                  <a:srgbClr val="16213A"/>
                </a:solidFill>
                <a:latin typeface="Consolas"/>
                <a:ea typeface="Malgun Gothic"/>
                <a:cs typeface="Malgun Gothic"/>
              </a:rPr>
              <a:t>GridSpec</a:t>
            </a:r>
            <a:r>
              <a:rPr sz="1050" b="0" i="0">
                <a:solidFill>
                  <a:srgbClr val="16213A"/>
                </a:solidFill>
                <a:latin typeface="Arial"/>
                <a:ea typeface="Malgun Gothic"/>
                <a:cs typeface="Malgun Gothic"/>
              </a:rPr>
              <a:t>은 칸 중심을 </a:t>
            </a:r>
            <a:r>
              <a:rPr sz="1050" b="0" i="0">
                <a:solidFill>
                  <a:srgbClr val="16213A"/>
                </a:solidFill>
                <a:latin typeface="Consolas"/>
                <a:ea typeface="Malgun Gothic"/>
                <a:cs typeface="Malgun Gothic"/>
              </a:rPr>
              <a:t>origin + i·res</a:t>
            </a:r>
            <a:r>
              <a:rPr sz="1050" b="0" i="0">
                <a:solidFill>
                  <a:srgbClr val="16213A"/>
                </a:solidFill>
                <a:latin typeface="Arial"/>
                <a:ea typeface="Malgun Gothic"/>
                <a:cs typeface="Malgun Gothic"/>
              </a:rPr>
              <a:t>에 두고 반올림하므로, 칸마다 중심 너머 반쪽에서 이웃 칸을 읽었다. 그래서 +x·+y 면 바깥 반 칸은 덩어리 안으로 잡혀 법선이 벽을 따라 누웠고(0.1 m 칸 시험 지도에서 실제 여유 +0.04 m를 −0.04 m로), −x·−y 면에서는 여유를 낙관했다(0.040 m를 0.077 m로). 반올림으로 고쳤다. 이 구멍을 막기 전에는 정적 조건이 40/40이었다. −x·−y 면의 낙관 덕분에 좁은 틈이 실제보다 넓어 보였던 것이고, 정확한 기하로는 38/40이다.</a:t>
            </a:r>
          </a:p>
        </p:txBody>
      </p:sp>
      <p:sp>
        <p:nvSpPr>
          <p:cNvPr id="8" name="TextBox 7"/>
          <p:cNvSpPr txBox="1"/>
          <p:nvPr/>
        </p:nvSpPr>
        <p:spPr>
          <a:xfrm>
            <a:off x="609600" y="287635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고치는 김에 덩어리 안 노드의 법선을 칸 중심에서 재도록 바꿨다가 되돌렸다. 축에 정렬된 법선은 덩어리 모서리에서 가장 가까운 자유 칸이 면을 바꿀 때 90° 뒤집힌다. RTI iterate가 스텝마다 진동했고 bumps_potholes s1이 다시 덩어리로 들어갔다. 노드 위치에서 잰 법선은 연속적으로 변한다. 네 조합(내림·반올림 × 노드·칸 중심)을 같은 네 장면에 돌려, 반올림 + 칸 중심만 실패하는 것을 확인했다.</a:t>
            </a:r>
          </a:p>
        </p:txBody>
      </p:sp>
      <p:sp>
        <p:nvSpPr>
          <p:cNvPr id="9" name="TextBox 8"/>
          <p:cNvSpPr txBox="1"/>
          <p:nvPr/>
        </p:nvSpPr>
        <p:spPr>
          <a:xfrm>
            <a:off x="609600" y="3614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여유 하나로는 램프 모서리와 좁은 틈을 함께 맞추지 못한다.</a:t>
            </a:r>
            <a:r>
              <a:rPr sz="1050" b="0" i="0">
                <a:solidFill>
                  <a:srgbClr val="16213A"/>
                </a:solidFill>
                <a:latin typeface="Arial"/>
                <a:ea typeface="Malgun Gothic"/>
                <a:cs typeface="Malgun Gothic"/>
              </a:rPr>
              <a:t> 정확한 기하에서 여유를 스윕했다.</a:t>
            </a:r>
          </a:p>
        </p:txBody>
      </p:sp>
      <p:graphicFrame>
        <p:nvGraphicFramePr>
          <p:cNvPr id="10" name="Table 9"/>
          <p:cNvGraphicFramePr>
            <a:graphicFrameLocks noGrp="1"/>
          </p:cNvGraphicFramePr>
          <p:nvPr/>
        </p:nvGraphicFramePr>
        <p:xfrm>
          <a:off x="609600" y="3920133"/>
          <a:ext cx="10966450" cy="1182528"/>
        </p:xfrm>
        <a:graphic>
          <a:graphicData uri="http://schemas.openxmlformats.org/drawingml/2006/table">
            <a:tbl>
              <a:tblPr firstRow="1" bandRow="1">
                <a:tableStyleId>{5C22544A-7EE6-4342-B048-85BDC9FD1C3A}</a:tableStyleId>
              </a:tblPr>
              <a:tblGrid>
                <a:gridCol w="2357239"/>
                <a:gridCol w="1778000"/>
                <a:gridCol w="1917601"/>
                <a:gridCol w="4913610"/>
              </a:tblGrid>
              <a:tr h="197088">
                <a:tc>
                  <a:txBody>
                    <a:bodyPr wrap="square"/>
                    <a:lstStyle/>
                    <a:p>
                      <a:r>
                        <a:rPr sz="800" b="1" i="0">
                          <a:solidFill>
                            <a:srgbClr val="F4F1EA"/>
                          </a:solidFill>
                          <a:latin typeface="Arial"/>
                          <a:ea typeface="Malgun Gothic"/>
                          <a:cs typeface="Malgun Gothic"/>
                        </a:rPr>
                        <a:t>여유 (칸 가장자리부터)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seed 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 실패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램프 모서리 </a:t>
                      </a:r>
                      <a:r>
                        <a:rPr sz="800" b="0" i="0">
                          <a:solidFill>
                            <a:srgbClr val="16213A"/>
                          </a:solidFill>
                          <a:latin typeface="Consolas"/>
                          <a:ea typeface="Malgun Gothic"/>
                          <a:cs typeface="Malgun Gothic"/>
                        </a:rPr>
                        <a:t>lethal</a:t>
                      </a:r>
                      <a:r>
                        <a:rPr sz="800" b="0" i="0">
                          <a:solidFill>
                            <a:srgbClr val="16213A"/>
                          </a:solidFill>
                          <a:latin typeface="Arial"/>
                          <a:ea typeface="Malgun Gothic"/>
                          <a:cs typeface="Malgun Gothic"/>
                        </a:rPr>
                        <a:t> 6, bumps 2·random_mix 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0.05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curb_ramp s1 </a:t>
                      </a:r>
                      <a:r>
                        <a:rPr sz="800" b="0" i="0">
                          <a:solidFill>
                            <a:srgbClr val="16213A"/>
                          </a:solidFill>
                          <a:latin typeface="Consolas"/>
                          <a:ea typeface="Malgun Gothic"/>
                          <a:cs typeface="Malgun Gothic"/>
                        </a:rPr>
                        <a:t>lethal</a:t>
                      </a:r>
                      <a:r>
                        <a:rPr sz="800" b="0" i="0">
                          <a:solidFill>
                            <a:srgbClr val="16213A"/>
                          </a:solidFill>
                          <a:latin typeface="Arial"/>
                          <a:ea typeface="Malgun Gothic"/>
                          <a:cs typeface="Malgun Gothic"/>
                        </a:rPr>
                        <a:t>, bumps s6·s7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0.10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curb_ramp s0·s6 </a:t>
                      </a:r>
                      <a:r>
                        <a:rPr sz="800" b="0" i="0">
                          <a:solidFill>
                            <a:srgbClr val="16213A"/>
                          </a:solidFill>
                          <a:latin typeface="Consolas"/>
                          <a:ea typeface="Malgun Gothic"/>
                          <a:cs typeface="Malgun Gothic"/>
                        </a:rPr>
                        <a:t>lethal</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0.125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curb_ramp s5 </a:t>
                      </a:r>
                      <a:r>
                        <a:rPr sz="800" b="0" i="0">
                          <a:solidFill>
                            <a:srgbClr val="16213A"/>
                          </a:solidFill>
                          <a:latin typeface="Consolas"/>
                          <a:ea typeface="Malgun Gothic"/>
                          <a:cs typeface="Malgun Gothic"/>
                        </a:rPr>
                        <a:t>lethal</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0.15 m</a:t>
                      </a:r>
                      <a:r>
                        <a:rPr sz="800" b="0" i="0">
                          <a:solidFill>
                            <a:srgbClr val="16213A"/>
                          </a:solidFill>
                          <a:latin typeface="Arial"/>
                          <a:ea typeface="Malgun Gothic"/>
                          <a:cs typeface="Malgun Gothic"/>
                        </a:rPr>
                        <a:t> (기본값)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bumps s6·s7 </a:t>
                      </a:r>
                      <a:r>
                        <a:rPr sz="800" b="0" i="0">
                          <a:solidFill>
                            <a:srgbClr val="16213A"/>
                          </a:solidFill>
                          <a:latin typeface="Consolas"/>
                          <a:ea typeface="Malgun Gothic"/>
                          <a:cs typeface="Malgun Gothic"/>
                        </a:rPr>
                        <a:t>timeout</a:t>
                      </a:r>
                      <a:r>
                        <a:rPr sz="800" b="0" i="0">
                          <a:solidFill>
                            <a:srgbClr val="16213A"/>
                          </a:solidFill>
                          <a:latin typeface="Arial"/>
                          <a:ea typeface="Malgun Gothic"/>
                          <a:cs typeface="Malgun Gothic"/>
                        </a:rPr>
                        <a:t>(틈)</a:t>
                      </a:r>
                    </a:p>
                  </a:txBody>
                  <a:tcPr marL="63500" marR="63500" marT="12700" marB="12700">
                    <a:solidFill>
                      <a:srgbClr val="FFFDF8"/>
                    </a:solidFill>
                  </a:tcPr>
                </a:tc>
              </a:tr>
            </a:tbl>
          </a:graphicData>
        </a:graphic>
      </p:graphicFrame>
      <p:sp>
        <p:nvSpPr>
          <p:cNvPr id="11" name="TextBox 10"/>
          <p:cNvSpPr txBox="1"/>
          <p:nvPr/>
        </p:nvSpPr>
        <p:spPr>
          <a:xfrm>
            <a:off x="609600" y="549354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여유가 작으면 램프 모서리를 베어 치명 칸에 닿고, 크면 Guidance가 고른 틈을 지나가지 못한다. plant 조건은 여유와 상관없이 21/24다. 40/40을 내는 여유는 없으므로 기본값은 0.15 m로 둔다. 0.125 m와의 한 건 차이는 잡음 수준이다. 처방은 고정 여유가 아니라 두 가지다. 하나는 MPC 비용에 매끄러운 지형 항을 넣어 모서리 쪽 고비용 칸을 스스로 피하게 하는 것이다(M.1.1에 적었지만 아직 없다). 다른 하나는 Guidance가 Controller의 여유를 아는 경로를 내게 하는 것이다. 같은 불일치가 MPPI 확률 제약도 세웠다(M.3.13).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M.3.10 1단계 마무리 — 남은 셋은 솔버가 아니라 제약의 구멍이었다 (TP-0093)</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43 / 112</a:t>
            </a:r>
          </a:p>
        </p:txBody>
      </p:sp>
      <p:sp>
        <p:nvSpPr>
          <p:cNvPr id="5" name="TextBox 4"/>
          <p:cNvSpPr txBox="1"/>
          <p:nvPr/>
        </p:nvSpPr>
        <p:spPr>
          <a:xfrm>
            <a:off x="609600" y="1244600"/>
            <a:ext cx="10972800" cy="776486"/>
          </a:xfrm>
          <a:prstGeom prst="rect">
            <a:avLst/>
          </a:prstGeom>
          <a:solidFill>
            <a:srgbClr val="EEF1F6"/>
          </a:solidFill>
        </p:spPr>
        <p:txBody>
          <a:bodyPr wrap="square" lIns="114300" rIns="114300" tIns="63500" bIns="63500" anchor="t">
            <a:spAutoFit/>
            <a:normAutofit/>
          </a:bodyPr>
          <a:lstStyle/>
          <a:p>
            <a:r>
              <a:rPr sz="1050" b="1" i="0">
                <a:solidFill>
                  <a:srgbClr val="33405A"/>
                </a:solidFill>
                <a:latin typeface="Arial"/>
                <a:ea typeface="Malgun Gothic"/>
                <a:cs typeface="Malgun Gothic"/>
              </a:rPr>
              <a:t>정정(2026-10-01, TP-0122).</a:t>
            </a:r>
            <a:r>
              <a:rPr sz="1050" b="0" i="0">
                <a:solidFill>
                  <a:srgbClr val="33405A"/>
                </a:solidFill>
                <a:latin typeface="Arial"/>
                <a:ea typeface="Malgun Gothic"/>
                <a:cs typeface="Malgun Gothic"/>
              </a:rPr>
              <a:t> 위 표의 curb_ramp 치명 실패 10건 가운데 8건은 램프 모서리가 아니라 경사로 동쪽의 도로 쪽 연석면에서 났다 (5건은 스텝마다 추적, 3건은 끝 위치로 확인). 나머지 둘은 여유 0의 s4(경사로를 오르다 동쪽 모서리)와 s9(경사로 서쪽 5 m, 경로 반전 없음)다. 실패를 가른 것은 여유가 아니라 명령이었다. 명령을 고치면 이 스윕의 모든 여유에서 40/40이다(M.3.15).</a:t>
            </a:r>
          </a:p>
        </p:txBody>
      </p:sp>
      <p:graphicFrame>
        <p:nvGraphicFramePr>
          <p:cNvPr id="6" name="Table 5"/>
          <p:cNvGraphicFramePr>
            <a:graphicFrameLocks noGrp="1"/>
          </p:cNvGraphicFramePr>
          <p:nvPr/>
        </p:nvGraphicFramePr>
        <p:xfrm>
          <a:off x="609600" y="2109986"/>
          <a:ext cx="10966450" cy="788352"/>
        </p:xfrm>
        <a:graphic>
          <a:graphicData uri="http://schemas.openxmlformats.org/drawingml/2006/table">
            <a:tbl>
              <a:tblPr firstRow="1" bandRow="1">
                <a:tableStyleId>{5C22544A-7EE6-4342-B048-85BDC9FD1C3A}</a:tableStyleId>
              </a:tblPr>
              <a:tblGrid>
                <a:gridCol w="5194002"/>
                <a:gridCol w="1401663"/>
                <a:gridCol w="1593453"/>
                <a:gridCol w="1060748"/>
                <a:gridCol w="1716584"/>
              </a:tblGrid>
              <a:tr h="197088">
                <a:tc>
                  <a:txBody>
                    <a:bodyPr wrap="square"/>
                    <a:lstStyle/>
                    <a:p>
                      <a:r>
                        <a:rPr sz="800" b="1" i="0">
                          <a:solidFill>
                            <a:srgbClr val="F4F1EA"/>
                          </a:solidFill>
                          <a:latin typeface="Arial"/>
                          <a:ea typeface="Malgun Gothic"/>
                          <a:cs typeface="Malgun Gothic"/>
                        </a:rPr>
                        <a:t>스택 (정적, 4 시나리오 × seed 10)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 cost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1단계 </a:t>
                      </a:r>
                      <a:r>
                        <a:rPr sz="800" b="0" i="0">
                          <a:solidFill>
                            <a:srgbClr val="16213A"/>
                          </a:solidFill>
                          <a:latin typeface="Consolas"/>
                          <a:ea typeface="Malgun Gothic"/>
                          <a:cs typeface="Malgun Gothic"/>
                        </a:rPr>
                        <a:t>guidance+mpc</a:t>
                      </a:r>
                      <a:r>
                        <a:rPr sz="800" b="0" i="0">
                          <a:solidFill>
                            <a:srgbClr val="16213A"/>
                          </a:solidFill>
                          <a:latin typeface="Arial"/>
                          <a:ea typeface="Malgun Gothic"/>
                          <a:cs typeface="Malgun Gothic"/>
                        </a:rPr>
                        <a:t> (seed 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13.5 ms</a:t>
                      </a:r>
                    </a:p>
                  </a:txBody>
                  <a:tcPr marL="63500" marR="63500" marT="12700" marB="12700">
                    <a:solidFill>
                      <a:srgbClr val="FFFDF8"/>
                    </a:solidFill>
                  </a:tcPr>
                </a:tc>
              </a:tr>
              <a:tr h="197088">
                <a:tc>
                  <a:txBody>
                    <a:bodyPr wrap="square"/>
                    <a:lstStyle/>
                    <a:p>
                      <a:r>
                        <a:rPr sz="800" b="1" i="0">
                          <a:solidFill>
                            <a:srgbClr val="16213A"/>
                          </a:solidFill>
                          <a:latin typeface="Consolas"/>
                          <a:ea typeface="Malgun Gothic"/>
                          <a:cs typeface="Malgun Gothic"/>
                        </a:rPr>
                        <a:t>guidance+mpc</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38/40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6.6 ms</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13.0 ms</a:t>
                      </a:r>
                    </a:p>
                  </a:txBody>
                  <a:tcPr marL="63500" marR="63500" marT="12700" marB="12700">
                    <a:solidFill>
                      <a:srgbClr val="FFFDF8"/>
                    </a:solidFill>
                  </a:tcPr>
                </a:tc>
              </a:tr>
            </a:tbl>
          </a:graphicData>
        </a:graphic>
      </p:graphicFrame>
      <p:sp>
        <p:nvSpPr>
          <p:cNvPr id="7" name="TextBox 6"/>
          <p:cNvSpPr txBox="1"/>
          <p:nvPr/>
        </p:nvSpPr>
        <p:spPr>
          <a:xfrm>
            <a:off x="609600" y="31906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제어 시간은 한 프로세스에서 컨트롤러를 차례로 돌려 잰 중앙값이다(M.3.13 표). 벤치마크 실행 중에 잰 값은 다른 작업의 부하에 따라 두세 배까지 흔들려서 쓰지 않았다.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M.3.10 1단계 마무리 — 남은 셋은 솔버가 아니라 제약의 구멍이었다 (TP-0093)</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44 / 112</a:t>
            </a:r>
          </a:p>
        </p:txBody>
      </p:sp>
      <p:pic>
        <p:nvPicPr>
          <p:cNvPr id="5" name="Picture 4" descr="image.jpg"/>
          <p:cNvPicPr>
            <a:picLocks noChangeAspect="1"/>
          </p:cNvPicPr>
          <p:nvPr/>
        </p:nvPicPr>
        <p:blipFill>
          <a:blip r:embed="rId3"/>
          <a:stretch>
            <a:fillRect/>
          </a:stretch>
        </p:blipFill>
        <p:spPr>
          <a:xfrm>
            <a:off x="2047875" y="1244600"/>
            <a:ext cx="8096250" cy="4445000"/>
          </a:xfrm>
          <a:prstGeom prst="rect">
            <a:avLst/>
          </a:prstGeom>
        </p:spPr>
      </p:pic>
      <p:sp>
        <p:nvSpPr>
          <p:cNvPr id="6" name="TextBox 5"/>
          <p:cNvSpPr txBox="1"/>
          <p:nvPr/>
        </p:nvSpPr>
        <p:spPr>
          <a:xfrm>
            <a:off x="2047875" y="5727700"/>
            <a:ext cx="80962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1단계에서 MPC가 죽던 세 장면(curb_ramp s1, bumps_potholes s1, random_mix s2)과 지도 경계 장면(random_mix s6). 노란 선이 MPC, 파란 선이 MPPI, 빨간 칸이 치명 셀이다. 네 장면 모두 둘 다 도달한다. curb_ramp s1에서 MPC는 램프를 지나쳤다가 되돌아와 오르고, bumps_potholes s1에서는 블록 사이 틈 앞에서 한 번 머뭇거린다. random_mix s6에서는 블록과 지도 위쪽 끝 사이 통로를 지난다. 그림은 python scripts/make_doc_figures.py --mpc-cbf로 다시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M.3.11 보행자도 반평면 하나로, 다만 앞 2초에만 건다 (TP-0071 나머지)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45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3명이 가로지르는 조건(seed 0–5)에서 </a:t>
            </a:r>
            <a:r>
              <a:rPr sz="1050" b="1" i="0">
                <a:solidFill>
                  <a:srgbClr val="16213A"/>
                </a:solidFill>
                <a:latin typeface="Consolas"/>
                <a:ea typeface="Malgun Gothic"/>
                <a:cs typeface="Malgun Gothic"/>
              </a:rPr>
              <a:t>guidance+mpc</a:t>
            </a:r>
            <a:r>
              <a:rPr sz="1050" b="1" i="0">
                <a:solidFill>
                  <a:srgbClr val="16213A"/>
                </a:solidFill>
                <a:latin typeface="Arial"/>
                <a:ea typeface="Malgun Gothic"/>
                <a:cs typeface="Malgun Gothic"/>
              </a:rPr>
              <a:t>가 23/24, 충돌 0이다.</a:t>
            </a:r>
            <a:r>
              <a:rPr sz="1050" b="0" i="0">
                <a:solidFill>
                  <a:srgbClr val="16213A"/>
                </a:solidFill>
                <a:latin typeface="Arial"/>
                <a:ea typeface="Malgun Gothic"/>
                <a:cs typeface="Malgun Gothic"/>
              </a:rPr>
              <a:t> 최소 여유는 0.08 m다. TP-0071에 남아 있던 보행자 제약이다.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지형과 같은 방식으로 넣었다. 노드마다 그 시각에 예측한 보행자 원판 가운데 가장 가까운 것을 고르고, 원판 중심에서 노드로 향하는 접평면을 두 번째 제약 행으로 건다(</a:t>
            </a:r>
            <a:r>
              <a:rPr sz="1050" b="0" i="0">
                <a:solidFill>
                  <a:srgbClr val="16213A"/>
                </a:solidFill>
                <a:latin typeface="Consolas"/>
                <a:ea typeface="Malgun Gothic"/>
                <a:cs typeface="Malgun Gothic"/>
              </a:rPr>
              <a:t>obstacles.py::pedestrian_half_planes</a:t>
            </a:r>
            <a:r>
              <a:rPr sz="1050" b="0" i="0">
                <a:solidFill>
                  <a:srgbClr val="16213A"/>
                </a:solidFill>
                <a:latin typeface="Arial"/>
                <a:ea typeface="Malgun Gothic"/>
                <a:cs typeface="Malgun Gothic"/>
              </a:rPr>
              <a:t>). 원판 반경에는 로봇 반경이 들어 있고,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가 예측 시간에 따라 0.15 m/s씩 키운다.</a:t>
            </a:r>
          </a:p>
        </p:txBody>
      </p:sp>
      <p:sp>
        <p:nvSpPr>
          <p:cNvPr id="7" name="TextBox 6"/>
          <p:cNvSpPr txBox="1"/>
          <p:nvPr/>
        </p:nvSpPr>
        <p:spPr>
          <a:xfrm>
            <a:off x="609600" y="20718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처음에는 지평 4초 전체에 걸었고 seed 0–2에서 11/12였다. 실패한 bumps_potholes s2가 이 구조의 약점을 그대로 보여 줬다. </a:t>
            </a:r>
            <a:r>
              <a:rPr sz="1050" b="1" i="0">
                <a:solidFill>
                  <a:srgbClr val="C2410C"/>
                </a:solidFill>
                <a:latin typeface="Arial"/>
                <a:ea typeface="Malgun Gothic"/>
                <a:cs typeface="Malgun Gothic"/>
              </a:rPr>
              <a:t>폭 1 m 통로에서 마주 오는 보행자의 원판은 4초 뒤 반경 1.15 m가 되어 통로를 막는다. 앞으로 가는 해가 없어진 MPC는 물러났고, 물러나다 블록에 닿았다.</a:t>
            </a:r>
            <a:r>
              <a:rPr sz="1050" b="0" i="0">
                <a:solidFill>
                  <a:srgbClr val="16213A"/>
                </a:solidFill>
                <a:latin typeface="Arial"/>
                <a:ea typeface="Malgun Gothic"/>
                <a:cs typeface="Malgun Gothic"/>
              </a:rPr>
              <a:t> 예측 불확실성이 지평을 따라 커지면 가능 영역이 사라진다는 Trautman의 freezing robot 구조다(TP-0090). MPPI는 같은 원판을 비용으로만 쓰므로 그 장면을 스치며 지나간다(최소 여유 0.24 m).</a:t>
            </a:r>
          </a:p>
        </p:txBody>
      </p:sp>
      <p:graphicFrame>
        <p:nvGraphicFramePr>
          <p:cNvPr id="8" name="Table 7"/>
          <p:cNvGraphicFramePr>
            <a:graphicFrameLocks noGrp="1"/>
          </p:cNvGraphicFramePr>
          <p:nvPr/>
        </p:nvGraphicFramePr>
        <p:xfrm>
          <a:off x="609600" y="2810272"/>
          <a:ext cx="10966449" cy="788352"/>
        </p:xfrm>
        <a:graphic>
          <a:graphicData uri="http://schemas.openxmlformats.org/drawingml/2006/table">
            <a:tbl>
              <a:tblPr firstRow="1" bandRow="1">
                <a:tableStyleId>{5C22544A-7EE6-4342-B048-85BDC9FD1C3A}</a:tableStyleId>
              </a:tblPr>
              <a:tblGrid>
                <a:gridCol w="5786338"/>
                <a:gridCol w="1738213"/>
                <a:gridCol w="1313259"/>
                <a:gridCol w="2128639"/>
              </a:tblGrid>
              <a:tr h="197088">
                <a:tc>
                  <a:txBody>
                    <a:bodyPr wrap="square"/>
                    <a:lstStyle/>
                    <a:p>
                      <a:r>
                        <a:rPr sz="800" b="1" i="0">
                          <a:solidFill>
                            <a:srgbClr val="F4F1EA"/>
                          </a:solidFill>
                          <a:latin typeface="Arial"/>
                          <a:ea typeface="Malgun Gothic"/>
                          <a:cs typeface="Malgun Gothic"/>
                        </a:rPr>
                        <a:t>설정 (보행자 3명, seed 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최소 여유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앞 2 s만, slack 1e4 (지형 우선)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22/24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 m</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앞 2 s만, slack 1e6</a:t>
                      </a:r>
                      <a:r>
                        <a:rPr sz="800" b="0" i="0">
                          <a:solidFill>
                            <a:srgbClr val="16213A"/>
                          </a:solidFill>
                          <a:latin typeface="Arial"/>
                          <a:ea typeface="Malgun Gothic"/>
                          <a:cs typeface="Malgun Gothic"/>
                        </a:rPr>
                        <a:t> (기본값)</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23/24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0.08 m</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0.24 m</a:t>
                      </a:r>
                    </a:p>
                  </a:txBody>
                  <a:tcPr marL="63500" marR="63500" marT="12700" marB="12700">
                    <a:solidFill>
                      <a:srgbClr val="FFFDF8"/>
                    </a:solidFill>
                  </a:tcPr>
                </a:tc>
              </a:tr>
            </a:tbl>
          </a:graphicData>
        </a:graphic>
      </p:graphicFrame>
      <p:sp>
        <p:nvSpPr>
          <p:cNvPr id="9" name="TextBox 8"/>
          <p:cNvSpPr txBox="1"/>
          <p:nvPr/>
        </p:nvSpPr>
        <p:spPr>
          <a:xfrm>
            <a:off x="609600" y="389096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slack 1e4 행은 칸 조회를 고치기 전에 쟀다. 남은 실패는 bumps_potholes s3의 </a:t>
            </a:r>
            <a:r>
              <a:rPr sz="1050" b="0" i="1">
                <a:solidFill>
                  <a:srgbClr val="16213A"/>
                </a:solidFill>
                <a:latin typeface="Consolas"/>
                <a:ea typeface="Malgun Gothic"/>
                <a:cs typeface="Malgun Gothic"/>
              </a:rPr>
              <a:t>lethal</a:t>
            </a:r>
            <a:r>
              <a:rPr sz="1050" b="0" i="1">
                <a:solidFill>
                  <a:srgbClr val="16213A"/>
                </a:solidFill>
                <a:latin typeface="Arial"/>
                <a:ea typeface="Malgun Gothic"/>
                <a:cs typeface="Malgun Gothic"/>
              </a:rPr>
              <a:t>이다.</a:t>
            </a:r>
          </a:p>
        </p:txBody>
      </p:sp>
      <p:sp>
        <p:nvSpPr>
          <p:cNvPr id="10" name="TextBox 9"/>
          <p:cNvSpPr txBox="1"/>
          <p:nvPr/>
        </p:nvSpPr>
        <p:spPr>
          <a:xfrm>
            <a:off x="609600" y="419635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지형을 우선하려고 보행자 slack을 낮추면 로봇이 보행자를 스친다. 그래서 가중치는 지형과 같게 두고, </a:t>
            </a:r>
            <a:r>
              <a:rPr sz="1050" b="1" i="0">
                <a:solidFill>
                  <a:srgbClr val="16213A"/>
                </a:solidFill>
                <a:latin typeface="Arial"/>
                <a:ea typeface="Malgun Gothic"/>
                <a:cs typeface="Malgun Gothic"/>
              </a:rPr>
              <a:t>자라는 원판은 앞 2초에만 제약으로 건다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MPCConfig.ped_horizon_s</a:t>
            </a:r>
            <a:r>
              <a:rPr sz="1050" b="0" i="0">
                <a:solidFill>
                  <a:srgbClr val="16213A"/>
                </a:solidFill>
                <a:latin typeface="Arial"/>
                <a:ea typeface="Malgun Gothic"/>
                <a:cs typeface="Malgun Gothic"/>
              </a:rPr>
              <a:t>). 그 너머는 매 스텝의 재계획에 맡긴다. 근본 처방은 로봇의 움직임에 반응하는 예측이다(TP-0090). MPC는 MPPI보다 보행자에게 훨씬 바짝 붙는다(0.08 대 0.24 m). 여유 0.15 m 제약을 경계까지 쓰기 때문이다.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M.3.12 GP 평균의 폐루프를 무너뜨린 원인은 둘이었다 (TP-0068)</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46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plant를 켠 seed 0–11에서 </a:t>
            </a:r>
            <a:r>
              <a:rPr sz="1050" b="1" i="0">
                <a:solidFill>
                  <a:srgbClr val="16213A"/>
                </a:solidFill>
                <a:latin typeface="Consolas"/>
                <a:ea typeface="Malgun Gothic"/>
                <a:cs typeface="Malgun Gothic"/>
              </a:rPr>
              <a:t>guidance+mpc_gp</a:t>
            </a:r>
            <a:r>
              <a:rPr sz="1050" b="1" i="0">
                <a:solidFill>
                  <a:srgbClr val="16213A"/>
                </a:solidFill>
                <a:latin typeface="Arial"/>
                <a:ea typeface="Malgun Gothic"/>
                <a:cs typeface="Malgun Gothic"/>
              </a:rPr>
              <a:t>가 44/48이다. GP가 없는 </a:t>
            </a:r>
            <a:r>
              <a:rPr sz="1050" b="1" i="0">
                <a:solidFill>
                  <a:srgbClr val="16213A"/>
                </a:solidFill>
                <a:latin typeface="Consolas"/>
                <a:ea typeface="Malgun Gothic"/>
                <a:cs typeface="Malgun Gothic"/>
              </a:rPr>
              <a:t>guidance+mpc</a:t>
            </a:r>
            <a:r>
              <a:rPr sz="1050" b="1" i="0">
                <a:solidFill>
                  <a:srgbClr val="16213A"/>
                </a:solidFill>
                <a:latin typeface="Arial"/>
                <a:ea typeface="Malgun Gothic"/>
                <a:cs typeface="Malgun Gothic"/>
              </a:rPr>
              <a:t>는 37/48이다.</a:t>
            </a:r>
            <a:r>
              <a:rPr sz="1050" b="0" i="0">
                <a:solidFill>
                  <a:srgbClr val="16213A"/>
                </a:solidFill>
                <a:latin typeface="Arial"/>
                <a:ea typeface="Malgun Gothic"/>
                <a:cs typeface="Malgun Gothic"/>
              </a:rPr>
              <a:t> 성공한 에피소드의 평균 도달 시간도 35.8 s에서 23.2 s로 줄었다. 대신 jerk가 2.5에서 4.5로 커졌다. M.3.7(0/12)과 M.3.9(curb_ramp 전패)에 남겨 둔 문제의 원인을 둘 찾았다.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명령을 잘못 냈다.</a:t>
            </a:r>
            <a:r>
              <a:rPr sz="1050" b="0" i="0">
                <a:solidFill>
                  <a:srgbClr val="16213A"/>
                </a:solidFill>
                <a:latin typeface="Arial"/>
                <a:ea typeface="Malgun Gothic"/>
                <a:cs typeface="Malgun Gothic"/>
              </a:rPr>
              <a:t> GP 평균을 넣은 모델에서 상태 twist </a:t>
            </a:r>
            <a:r>
              <a:rPr sz="1050" b="0" i="1">
                <a:solidFill>
                  <a:srgbClr val="16213A"/>
                </a:solidFill>
                <a:latin typeface="Arial"/>
                <a:ea typeface="Malgun Gothic"/>
                <a:cs typeface="Malgun Gothic"/>
              </a:rPr>
              <a:t>Zₖ</a:t>
            </a:r>
            <a:r>
              <a:rPr sz="1050" b="0" i="0">
                <a:solidFill>
                  <a:srgbClr val="16213A"/>
                </a:solidFill>
                <a:latin typeface="Arial"/>
                <a:ea typeface="Malgun Gothic"/>
                <a:cs typeface="Malgun Gothic"/>
              </a:rPr>
              <a:t>는 plant가 </a:t>
            </a:r>
            <a:r>
              <a:rPr sz="1050" b="1" i="0">
                <a:solidFill>
                  <a:srgbClr val="16213A"/>
                </a:solidFill>
                <a:latin typeface="Arial"/>
                <a:ea typeface="Malgun Gothic"/>
                <a:cs typeface="Malgun Gothic"/>
              </a:rPr>
              <a:t>실현할</a:t>
            </a:r>
            <a:r>
              <a:rPr sz="1050" b="0" i="0">
                <a:solidFill>
                  <a:srgbClr val="16213A"/>
                </a:solidFill>
                <a:latin typeface="Arial"/>
                <a:ea typeface="Malgun Gothic"/>
                <a:cs typeface="Malgun Gothic"/>
              </a:rPr>
              <a:t> twist다. 지연 때문에 잔차 </a:t>
            </a:r>
            <a:r>
              <a:rPr sz="1050" b="0" i="1">
                <a:solidFill>
                  <a:srgbClr val="16213A"/>
                </a:solidFill>
                <a:latin typeface="Arial"/>
                <a:ea typeface="Malgun Gothic"/>
                <a:cs typeface="Malgun Gothic"/>
              </a:rPr>
              <a:t>μₖ</a:t>
            </a:r>
            <a:r>
              <a:rPr sz="1050" b="0" i="0">
                <a:solidFill>
                  <a:srgbClr val="16213A"/>
                </a:solidFill>
                <a:latin typeface="Arial"/>
                <a:ea typeface="Malgun Gothic"/>
                <a:cs typeface="Malgun Gothic"/>
              </a:rPr>
              <a:t>는 명령과 반대쪽을 향한다.</a:t>
            </a:r>
          </a:p>
        </p:txBody>
      </p:sp>
      <p:pic>
        <p:nvPicPr>
          <p:cNvPr id="7" name="Picture 6" descr="image.png"/>
          <p:cNvPicPr>
            <a:picLocks noChangeAspect="1"/>
          </p:cNvPicPr>
          <p:nvPr/>
        </p:nvPicPr>
        <p:blipFill>
          <a:blip r:embed="rId3"/>
          <a:stretch>
            <a:fillRect/>
          </a:stretch>
        </p:blipFill>
        <p:spPr>
          <a:xfrm>
            <a:off x="609600" y="2071886"/>
            <a:ext cx="1739900" cy="241300"/>
          </a:xfrm>
          <a:prstGeom prst="rect">
            <a:avLst/>
          </a:prstGeom>
        </p:spPr>
      </p:pic>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그런데 컨트롤러는 GP가 없을 때처럼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의 구간 평균을 명령으로 보냈다. 이미 지연을 반영한 twist를 명령하니 plant가 한 번 더 지연시켰다. </a:t>
            </a:r>
            <a:r>
              <a:rPr sz="1050" b="1" i="0">
                <a:solidFill>
                  <a:srgbClr val="C2410C"/>
                </a:solidFill>
                <a:latin typeface="Arial"/>
                <a:ea typeface="Malgun Gothic"/>
                <a:cs typeface="Malgun Gothic"/>
              </a:rPr>
              <a:t>GP가 학습한 대상은 잔차를 더하기 전의 명령이다. 보내야 할 것도 그것이다.</a:t>
            </a:r>
            <a:r>
              <a:rPr sz="1050" b="0" i="0">
                <a:solidFill>
                  <a:srgbClr val="16213A"/>
                </a:solidFill>
                <a:latin typeface="Arial"/>
                <a:ea typeface="Malgun Gothic"/>
                <a:cs typeface="Malgun Gothic"/>
              </a:rPr>
              <a:t> 그 명령은 </a:t>
            </a:r>
            <a:r>
              <a:rPr sz="1050" b="0" i="1">
                <a:solidFill>
                  <a:srgbClr val="16213A"/>
                </a:solidFill>
                <a:latin typeface="Arial"/>
                <a:ea typeface="Malgun Gothic"/>
                <a:cs typeface="Malgun Gothic"/>
              </a:rPr>
              <a:t>Zₖ + uₖ Δ t</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_features</a:t>
            </a:r>
            <a:r>
              <a:rPr sz="1050" b="0" i="0">
                <a:solidFill>
                  <a:srgbClr val="16213A"/>
                </a:solidFill>
                <a:latin typeface="Arial"/>
                <a:ea typeface="Malgun Gothic"/>
                <a:cs typeface="Malgun Gothic"/>
              </a:rPr>
              <a:t>가 GP에 넣는 값도 이것이다. 온라인 학습에 넣는 입력도 실제로 보낸(속도 한계로 자른) 명령으로 맞췄다.</a:t>
            </a:r>
          </a:p>
        </p:txBody>
      </p:sp>
      <p:sp>
        <p:nvSpPr>
          <p:cNvPr id="9" name="TextBox 8"/>
          <p:cNvSpPr txBox="1"/>
          <p:nvPr/>
        </p:nvSpPr>
        <p:spPr>
          <a:xfrm>
            <a:off x="609600" y="28712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데이터가 계획 속도를 덮지 못했다.</a:t>
            </a:r>
            <a:r>
              <a:rPr sz="1050" b="0" i="0">
                <a:solidFill>
                  <a:srgbClr val="16213A"/>
                </a:solidFill>
                <a:latin typeface="Arial"/>
                <a:ea typeface="Malgun Gothic"/>
                <a:cs typeface="Malgun Gothic"/>
              </a:rPr>
              <a:t> 잔차는 plant를 켜고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로 모았다. 지연 때문에 그 폐루프는 명령 </a:t>
            </a:r>
            <a:r>
              <a:rPr sz="1050" b="0" i="1">
                <a:solidFill>
                  <a:srgbClr val="16213A"/>
                </a:solidFill>
                <a:latin typeface="Arial"/>
                <a:ea typeface="Malgun Gothic"/>
                <a:cs typeface="Malgun Gothic"/>
              </a:rPr>
              <a:t>vₓ</a:t>
            </a:r>
            <a:r>
              <a:rPr sz="1050" b="0" i="0">
                <a:solidFill>
                  <a:srgbClr val="16213A"/>
                </a:solidFill>
                <a:latin typeface="Arial"/>
                <a:ea typeface="Malgun Gothic"/>
                <a:cs typeface="Malgun Gothic"/>
              </a:rPr>
              <a:t>가 0.93 m/s를 넘은 적이 없다(99% 분위 0.86). MPC와 MPPI는 지평 뒤쪽에서 1.1–1.5 m/s를 계획한다. 그 노드들은 분포 밖이라 평균은 믿을 수 없고, 분산은 prior로 돌아간다(</a:t>
            </a:r>
            <a:r>
              <a:rPr sz="1050" b="0" i="1">
                <a:solidFill>
                  <a:srgbClr val="16213A"/>
                </a:solidFill>
                <a:latin typeface="Arial"/>
                <a:ea typeface="Malgun Gothic"/>
                <a:cs typeface="Malgun Gothic"/>
              </a:rPr>
              <a:t>dω</a:t>
            </a:r>
            <a:r>
              <a:rPr sz="1050" b="0" i="0">
                <a:solidFill>
                  <a:srgbClr val="16213A"/>
                </a:solidFill>
                <a:latin typeface="Arial"/>
                <a:ea typeface="Malgun Gothic"/>
                <a:cs typeface="Malgun Gothic"/>
              </a:rPr>
              <a:t> 0.68 rad/s, 실제 잔차는 0.05 안팎).</a:t>
            </a:r>
          </a:p>
        </p:txBody>
      </p:sp>
      <p:sp>
        <p:nvSpPr>
          <p:cNvPr id="10" name="TextBox 9"/>
          <p:cNvSpPr txBox="1"/>
          <p:nvPr/>
        </p:nvSpPr>
        <p:spPr>
          <a:xfrm>
            <a:off x="609600" y="339318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a:t>
            </a:r>
            <a:r>
              <a:rPr sz="1050" b="1" i="0">
                <a:solidFill>
                  <a:srgbClr val="16213A"/>
                </a:solidFill>
                <a:latin typeface="Arial"/>
                <a:ea typeface="Malgun Gothic"/>
                <a:cs typeface="Malgun Gothic"/>
              </a:rPr>
              <a:t>가진(excitation) 주행</a:t>
            </a:r>
            <a:r>
              <a:rPr sz="1050" b="0" i="0">
                <a:solidFill>
                  <a:srgbClr val="16213A"/>
                </a:solidFill>
                <a:latin typeface="Arial"/>
                <a:ea typeface="Malgun Gothic"/>
                <a:cs typeface="Malgun Gothic"/>
              </a:rPr>
              <a:t>을 더했다. 같은 폐루프에서 2초 구간마다 실행 </a:t>
            </a:r>
            <a:r>
              <a:rPr sz="1050" b="0" i="1">
                <a:solidFill>
                  <a:srgbClr val="16213A"/>
                </a:solidFill>
                <a:latin typeface="Arial"/>
                <a:ea typeface="Malgun Gothic"/>
                <a:cs typeface="Malgun Gothic"/>
              </a:rPr>
              <a:t>vₓ</a:t>
            </a:r>
            <a:r>
              <a:rPr sz="1050" b="0" i="0">
                <a:solidFill>
                  <a:srgbClr val="16213A"/>
                </a:solidFill>
                <a:latin typeface="Arial"/>
                <a:ea typeface="Malgun Gothic"/>
                <a:cs typeface="Malgun Gothic"/>
              </a:rPr>
              <a:t>를 1.0–1.7배로 키우고 </a:t>
            </a:r>
            <a:r>
              <a:rPr sz="1050" b="0" i="1">
                <a:solidFill>
                  <a:srgbClr val="16213A"/>
                </a:solidFill>
                <a:latin typeface="Arial"/>
                <a:ea typeface="Malgun Gothic"/>
                <a:cs typeface="Malgun Gothic"/>
              </a:rPr>
              <a:t>v_y</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ω_z</a:t>
            </a:r>
            <a:r>
              <a:rPr sz="1050" b="0" i="0">
                <a:solidFill>
                  <a:srgbClr val="16213A"/>
                </a:solidFill>
                <a:latin typeface="Arial"/>
                <a:ea typeface="Malgun Gothic"/>
                <a:cs typeface="Malgun Gothic"/>
              </a:rPr>
              <a:t>에 매끄러운 잡음을 얹어, 명령이 twist 상자 전체를 덮게 했다(</a:t>
            </a:r>
            <a:r>
              <a:rPr sz="1050" b="0" i="0">
                <a:solidFill>
                  <a:srgbClr val="16213A"/>
                </a:solidFill>
                <a:latin typeface="Consolas"/>
                <a:ea typeface="Malgun Gothic"/>
                <a:cs typeface="Malgun Gothic"/>
              </a:rPr>
              <a:t>scripts/fit_residual_gp.py</a:t>
            </a:r>
            <a:r>
              <a:rPr sz="1050" b="0" i="0">
                <a:solidFill>
                  <a:srgbClr val="16213A"/>
                </a:solidFill>
                <a:latin typeface="Arial"/>
                <a:ea typeface="Malgun Gothic"/>
                <a:cs typeface="Malgun Gothic"/>
              </a:rPr>
              <a:t>). 학습은 seed 0·1(MPPI 2,000 + 가진 998 샘플), 보류는 seed 2다.</a:t>
            </a:r>
          </a:p>
        </p:txBody>
      </p:sp>
      <p:graphicFrame>
        <p:nvGraphicFramePr>
          <p:cNvPr id="11" name="Table 10"/>
          <p:cNvGraphicFramePr>
            <a:graphicFrameLocks noGrp="1"/>
          </p:cNvGraphicFramePr>
          <p:nvPr/>
        </p:nvGraphicFramePr>
        <p:xfrm>
          <a:off x="609600" y="3915073"/>
          <a:ext cx="10966450" cy="985440"/>
        </p:xfrm>
        <a:graphic>
          <a:graphicData uri="http://schemas.openxmlformats.org/drawingml/2006/table">
            <a:tbl>
              <a:tblPr firstRow="1" bandRow="1">
                <a:tableStyleId>{5C22544A-7EE6-4342-B048-85BDC9FD1C3A}</a:tableStyleId>
              </a:tblPr>
              <a:tblGrid>
                <a:gridCol w="1477367"/>
                <a:gridCol w="2488605"/>
                <a:gridCol w="3126879"/>
                <a:gridCol w="1622425"/>
                <a:gridCol w="2251174"/>
              </a:tblGrid>
              <a:tr h="197088">
                <a:tc>
                  <a:txBody>
                    <a:bodyPr wrap="square"/>
                    <a:lstStyle/>
                    <a:p>
                      <a:r>
                        <a:rPr sz="800" b="1" i="0">
                          <a:solidFill>
                            <a:srgbClr val="F4F1EA"/>
                          </a:solidFill>
                          <a:latin typeface="Arial"/>
                          <a:ea typeface="Malgun Gothic"/>
                          <a:cs typeface="Malgun Gothic"/>
                        </a:rPr>
                        <a:t>보류 데이터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RMSE dvx / dvy / dωz</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dωz 예측 sd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95% 적중</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MPPI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기존 (MPPI 데이터만)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0.0181 / 0.0078 / 0.0219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 / 0.99 / 0.99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MPPI 주행</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새 (MPPI + 가진)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0.0181 / </a:t>
                      </a:r>
                      <a:r>
                        <a:rPr sz="800" b="1" i="0">
                          <a:solidFill>
                            <a:srgbClr val="16213A"/>
                          </a:solidFill>
                          <a:latin typeface="Arial"/>
                          <a:ea typeface="Malgun Gothic"/>
                          <a:cs typeface="Malgun Gothic"/>
                        </a:rPr>
                        <a:t>0.0043</a:t>
                      </a:r>
                      <a:r>
                        <a:rPr sz="800" b="0" i="0">
                          <a:solidFill>
                            <a:srgbClr val="16213A"/>
                          </a:solidFill>
                          <a:latin typeface="Arial"/>
                          <a:ea typeface="Malgun Gothic"/>
                          <a:cs typeface="Malgun Gothic"/>
                        </a:rPr>
                        <a:t> / </a:t>
                      </a:r>
                      <a:r>
                        <a:rPr sz="800" b="1" i="0">
                          <a:solidFill>
                            <a:srgbClr val="16213A"/>
                          </a:solidFill>
                          <a:latin typeface="Arial"/>
                          <a:ea typeface="Malgun Gothic"/>
                          <a:cs typeface="Malgun Gothic"/>
                        </a:rPr>
                        <a:t>0.0159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0.97 / 1.00 / 1.00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가진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0.0248 / 0.0073 / 0.0661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0.90 / 0.99 / 0.95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가진 주행</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0.0213 / 0.0071 / </a:t>
                      </a:r>
                      <a:r>
                        <a:rPr sz="800" b="1" i="0">
                          <a:solidFill>
                            <a:srgbClr val="16213A"/>
                          </a:solidFill>
                          <a:latin typeface="Arial"/>
                          <a:ea typeface="Malgun Gothic"/>
                          <a:cs typeface="Malgun Gothic"/>
                        </a:rPr>
                        <a:t>0.0376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0.058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0.95 / 0.97 / 0.98</a:t>
                      </a:r>
                    </a:p>
                  </a:txBody>
                  <a:tcPr marL="63500" marR="63500" marT="12700" marB="12700">
                    <a:solidFill>
                      <a:srgbClr val="F3F0E8"/>
                    </a:solidFill>
                  </a:tcPr>
                </a:tc>
              </a:tr>
            </a:tbl>
          </a:graphicData>
        </a:graphic>
      </p:graphicFrame>
      <p:sp>
        <p:nvSpPr>
          <p:cNvPr id="12" name="TextBox 11"/>
          <p:cNvSpPr txBox="1"/>
          <p:nvPr/>
        </p:nvSpPr>
        <p:spPr>
          <a:xfrm>
            <a:off x="609600" y="524212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명목 모델(잔차 0)의 RMSE는 MPPI 주행에서 0.055 / 0.023 / 0.060, 가진 주행에서 0.076 / 0.046 / 0.115다. 새 GP는 기존 분포에서 나빠지지 않았고, 빠른 영역에서 </a:t>
            </a:r>
            <a:r>
              <a:rPr sz="1050" b="0" i="1">
                <a:solidFill>
                  <a:srgbClr val="16213A"/>
                </a:solidFill>
                <a:latin typeface="Arial"/>
                <a:ea typeface="Malgun Gothic"/>
                <a:cs typeface="Malgun Gothic"/>
              </a:rPr>
              <a:t>dω</a:t>
            </a:r>
            <a:r>
              <a:rPr sz="1050" b="0" i="0">
                <a:solidFill>
                  <a:srgbClr val="16213A"/>
                </a:solidFill>
                <a:latin typeface="Arial"/>
                <a:ea typeface="Malgun Gothic"/>
                <a:cs typeface="Malgun Gothic"/>
              </a:rPr>
              <a:t> 오차와 예측 sd를 절반으로 줄였다. bumps_potholes s0를 plant로 달리며 세 시점에서 잰 MPPI rollout의 지평 끝 위치 σ(중앙값)는 0.17–0.20 m에서 0.06–0.09 m로 줄었다.</a:t>
            </a:r>
          </a:p>
        </p:txBody>
      </p:sp>
      <p:sp>
        <p:nvSpPr>
          <p:cNvPr id="13" name="TextBox 12"/>
          <p:cNvSpPr txBox="1"/>
          <p:nvPr/>
        </p:nvSpPr>
        <p:spPr>
          <a:xfrm>
            <a:off x="609600" y="576401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원인을 차례로 고친 효과(plant, </a:t>
            </a:r>
            <a:r>
              <a:rPr sz="1050" b="1" i="0">
                <a:solidFill>
                  <a:srgbClr val="16213A"/>
                </a:solidFill>
                <a:latin typeface="Consolas"/>
                <a:ea typeface="Malgun Gothic"/>
                <a:cs typeface="Malgun Gothic"/>
              </a:rPr>
              <a:t>guidance+mpc_gp</a:t>
            </a:r>
            <a:r>
              <a:rPr sz="1050" b="1" i="0">
                <a:solidFill>
                  <a:srgbClr val="16213A"/>
                </a:solidFill>
                <a:latin typeface="Arial"/>
                <a:ea typeface="Malgun Gothic"/>
                <a:cs typeface="Malgun Gothic"/>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M.3.12 GP 평균의 폐루프를 무너뜨린 원인은 둘이었다 (TP-0068)</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47 / 112</a:t>
            </a:r>
          </a:p>
        </p:txBody>
      </p:sp>
      <p:graphicFrame>
        <p:nvGraphicFramePr>
          <p:cNvPr id="5" name="Table 4"/>
          <p:cNvGraphicFramePr>
            <a:graphicFrameLocks noGrp="1"/>
          </p:cNvGraphicFramePr>
          <p:nvPr/>
        </p:nvGraphicFramePr>
        <p:xfrm>
          <a:off x="609600" y="1244600"/>
          <a:ext cx="10966451" cy="985440"/>
        </p:xfrm>
        <a:graphic>
          <a:graphicData uri="http://schemas.openxmlformats.org/drawingml/2006/table">
            <a:tbl>
              <a:tblPr firstRow="1" bandRow="1">
                <a:tableStyleId>{5C22544A-7EE6-4342-B048-85BDC9FD1C3A}</a:tableStyleId>
              </a:tblPr>
              <a:tblGrid>
                <a:gridCol w="3924995"/>
                <a:gridCol w="1457821"/>
                <a:gridCol w="2065338"/>
                <a:gridCol w="1876723"/>
                <a:gridCol w="1641574"/>
              </a:tblGrid>
              <a:tr h="197088">
                <a:tc>
                  <a:txBody>
                    <a:bodyPr wrap="square"/>
                    <a:lstStyle/>
                    <a:p>
                      <a:r>
                        <a:rPr sz="800" b="1" i="0">
                          <a:solidFill>
                            <a:srgbClr val="F4F1EA"/>
                          </a:solidFill>
                          <a:latin typeface="Arial"/>
                          <a:ea typeface="Malgun Gothic"/>
                          <a:cs typeface="Malgun Gothic"/>
                        </a:rPr>
                        <a:t>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bumps_potholes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slope_crossfall</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random_mix</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기존 GP, 구간 평균 명령 (seed 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새 GP, 구간 평균 명령 (seed 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새 GP + 명령 수정</a:t>
                      </a:r>
                      <a:r>
                        <a:rPr sz="800" b="0" i="0">
                          <a:solidFill>
                            <a:srgbClr val="16213A"/>
                          </a:solidFill>
                          <a:latin typeface="Arial"/>
                          <a:ea typeface="Malgun Gothic"/>
                          <a:cs typeface="Malgun Gothic"/>
                        </a:rPr>
                        <a:t> (seed 0–11)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 없음 </a:t>
                      </a:r>
                      <a:r>
                        <a:rPr sz="800" b="0" i="0">
                          <a:solidFill>
                            <a:srgbClr val="16213A"/>
                          </a:solidFill>
                          <a:latin typeface="Consolas"/>
                          <a:ea typeface="Malgun Gothic"/>
                          <a:cs typeface="Malgun Gothic"/>
                        </a:rPr>
                        <a:t>guidance+mpc</a:t>
                      </a:r>
                      <a:r>
                        <a:rPr sz="800" b="0" i="0">
                          <a:solidFill>
                            <a:srgbClr val="16213A"/>
                          </a:solidFill>
                          <a:latin typeface="Arial"/>
                          <a:ea typeface="Malgun Gothic"/>
                          <a:cs typeface="Malgun Gothic"/>
                        </a:rPr>
                        <a:t> (seed 0–11)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r>
            </a:tbl>
          </a:graphicData>
        </a:graphic>
      </p:graphicFrame>
      <p:sp>
        <p:nvSpPr>
          <p:cNvPr id="6" name="TextBox 5"/>
          <p:cNvSpPr txBox="1"/>
          <p:nvPr/>
        </p:nvSpPr>
        <p:spPr>
          <a:xfrm>
            <a:off x="609600" y="257165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데이터만 바꿔서는 curb_ramp가 하나도 풀리지 않았다. 명령을 고치자 풀렸다. 즉 ①이 주된 원인이고 ②는 그 위에서 분산을 믿을 만하게 만든 것이다. GP 없는 MPC가 curb_ramp에서 6/12인 것은 지연 때문에 램프를 지나친 뒤 되돌아오다 시간이 다 가기 때문이다(</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 5). GP가 지연을 미리 알면 덜 지나친다.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M.3.13 MPPI에도 확률 제약을 세웠다 (TP-0076)</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48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제약을 얹을 자리는 만들었지만, 이 plant에서 GP 튜브의 이득은 아직 보이지 않는다.</a:t>
            </a:r>
            <a:r>
              <a:rPr sz="1050" b="0" i="0">
                <a:solidFill>
                  <a:srgbClr val="16213A"/>
                </a:solidFill>
                <a:latin typeface="Arial"/>
                <a:ea typeface="Malgun Gothic"/>
                <a:cs typeface="Malgun Gothic"/>
              </a:rPr>
              <a:t> plant를 켠 seed 0–11에서 </a:t>
            </a:r>
            <a:r>
              <a:rPr sz="1050" b="0" i="0">
                <a:solidFill>
                  <a:srgbClr val="16213A"/>
                </a:solidFill>
                <a:latin typeface="Consolas"/>
                <a:ea typeface="Malgun Gothic"/>
                <a:cs typeface="Malgun Gothic"/>
              </a:rPr>
              <a:t>guidance+mppi_ccgp</a:t>
            </a:r>
            <a:r>
              <a:rPr sz="1050" b="0" i="0">
                <a:solidFill>
                  <a:srgbClr val="16213A"/>
                </a:solidFill>
                <a:latin typeface="Arial"/>
                <a:ea typeface="Malgun Gothic"/>
                <a:cs typeface="Malgun Gothic"/>
              </a:rPr>
              <a:t>가 42/48, 기준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가 44/48이다. 튜브 없는 </a:t>
            </a:r>
            <a:r>
              <a:rPr sz="1050" b="0" i="0">
                <a:solidFill>
                  <a:srgbClr val="16213A"/>
                </a:solidFill>
                <a:latin typeface="Consolas"/>
                <a:ea typeface="Malgun Gothic"/>
                <a:cs typeface="Malgun Gothic"/>
              </a:rPr>
              <a:t>guidance+mppi_cc</a:t>
            </a:r>
            <a:r>
              <a:rPr sz="1050" b="0" i="0">
                <a:solidFill>
                  <a:srgbClr val="16213A"/>
                </a:solidFill>
                <a:latin typeface="Arial"/>
                <a:ea typeface="Malgun Gothic"/>
                <a:cs typeface="Malgun Gothic"/>
              </a:rPr>
              <a:t>는 정적 40/40, 보행자 3명 24/24로 기준과 같다.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Controller 문서 E.10의 (b) 갈래다(Trivedi 외, ICRA 2025). 비용이 아니라 제약으로 세운다. rollout의 스텝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마다 로봇 위치가 치명 경계나 보행자 원판을 넘을 확률을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 이하로 묶고, 위치 오차를 가우시안으로 보면 결정론적 조임이 된다.</a:t>
            </a:r>
          </a:p>
        </p:txBody>
      </p:sp>
      <p:pic>
        <p:nvPicPr>
          <p:cNvPr id="7" name="Picture 6" descr="image.png"/>
          <p:cNvPicPr>
            <a:picLocks noChangeAspect="1"/>
          </p:cNvPicPr>
          <p:nvPr/>
        </p:nvPicPr>
        <p:blipFill>
          <a:blip r:embed="rId3"/>
          <a:stretch>
            <a:fillRect/>
          </a:stretch>
        </p:blipFill>
        <p:spPr>
          <a:xfrm>
            <a:off x="609600" y="2288381"/>
            <a:ext cx="3911600" cy="241300"/>
          </a:xfrm>
          <a:prstGeom prst="rect">
            <a:avLst/>
          </a:prstGeom>
        </p:spPr>
      </p:pic>
      <p:sp>
        <p:nvSpPr>
          <p:cNvPr id="8" name="TextBox 7"/>
          <p:cNvSpPr txBox="1"/>
          <p:nvPr/>
        </p:nvSpPr>
        <p:spPr>
          <a:xfrm>
            <a:off x="609600" y="2565896"/>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는 부호 있는 거리(치명 경계까지, 또는 보행자 원판까지)이고 </a:t>
            </a:r>
            <a:r>
              <a:rPr sz="1050" b="0" i="1">
                <a:solidFill>
                  <a:srgbClr val="16213A"/>
                </a:solidFill>
                <a:latin typeface="Arial"/>
                <a:ea typeface="Malgun Gothic"/>
                <a:cs typeface="Malgun Gothic"/>
              </a:rPr>
              <a:t>σ_(p,k)</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그 샘플의</a:t>
            </a:r>
            <a:r>
              <a:rPr sz="1050" b="0" i="0">
                <a:solidFill>
                  <a:srgbClr val="16213A"/>
                </a:solidFill>
                <a:latin typeface="Arial"/>
                <a:ea typeface="Malgun Gothic"/>
                <a:cs typeface="Malgun Gothic"/>
              </a:rPr>
              <a:t> 위치 표준편차다. 샘플마다 GP로 스텝별 twist 잔차 분산을 구하고 rollout을 따라 쌓는다. 그래서 빠르고 낯선 샘플은 넓은 튜브를, 익숙한 샘플은 좁은 튜브를 받는다. </a:t>
            </a:r>
            <a:r>
              <a:rPr sz="1050" b="1" i="0">
                <a:solidFill>
                  <a:srgbClr val="C2410C"/>
                </a:solidFill>
                <a:latin typeface="Arial"/>
                <a:ea typeface="Malgun Gothic"/>
                <a:cs typeface="Malgun Gothic"/>
              </a:rPr>
              <a:t>샘플마다 튜브가 다르다는 것이 MPC가 가질 수 없는 점이다. MPC는 명목 해 하나를 조인다.</a:t>
            </a:r>
            <a:r>
              <a:rPr sz="1050" b="0" i="0">
                <a:solidFill>
                  <a:srgbClr val="16213A"/>
                </a:solidFill>
                <a:latin typeface="Arial"/>
                <a:ea typeface="Malgun Gothic"/>
                <a:cs typeface="Malgun Gothic"/>
              </a:rPr>
              <a:t> 구현은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하나 (</a:t>
            </a:r>
            <a:r>
              <a:rPr sz="1050" b="0" i="0">
                <a:solidFill>
                  <a:srgbClr val="16213A"/>
                </a:solidFill>
                <a:latin typeface="Consolas"/>
                <a:ea typeface="Malgun Gothic"/>
                <a:cs typeface="Malgun Gothic"/>
              </a:rPr>
              <a:t>control/mppi/chance.py</a:t>
            </a:r>
            <a:r>
              <a:rPr sz="1050" b="0" i="0">
                <a:solidFill>
                  <a:srgbClr val="16213A"/>
                </a:solidFill>
                <a:latin typeface="Arial"/>
                <a:ea typeface="Malgun Gothic"/>
                <a:cs typeface="Malgun Gothic"/>
              </a:rPr>
              <a:t>)다. 위반한 샘플에 상수 벌점을 줘 사실상 버리고, 모든 샘플이 위반하면 덜 위반한 쪽이 이기도록 선형 항을 더한다. </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바꾸지 않았다. 그래서 rollout은 명목 모델로 돌고, GP는 분산만 쓰고 평균(지연 편향)은 쓰지 않는다.</a:t>
            </a:r>
          </a:p>
        </p:txBody>
      </p:sp>
      <p:sp>
        <p:nvSpPr>
          <p:cNvPr id="9" name="TextBox 8"/>
          <p:cNvSpPr txBox="1"/>
          <p:nvPr/>
        </p:nvSpPr>
        <p:spPr>
          <a:xfrm>
            <a:off x="609600" y="35207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쌓는 방식은 되먹임을 반영한다. 로봇은 매 스텝 다시 풀어 밀린 위치를 되돌리므로, 스텝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의 오차는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(1 s) 뒤에는 대부분 지워진다. 그래서 분산을 </a:t>
            </a:r>
            <a:r>
              <a:rPr sz="1050" b="0" i="1">
                <a:solidFill>
                  <a:srgbClr val="16213A"/>
                </a:solidFill>
                <a:latin typeface="Arial"/>
                <a:ea typeface="Malgun Gothic"/>
                <a:cs typeface="Malgun Gothic"/>
              </a:rPr>
              <a:t>a = e^(-Δ t/τ)</a:t>
            </a:r>
            <a:r>
              <a:rPr sz="1050" b="0" i="0">
                <a:solidFill>
                  <a:srgbClr val="16213A"/>
                </a:solidFill>
                <a:latin typeface="Arial"/>
                <a:ea typeface="Malgun Gothic"/>
                <a:cs typeface="Malgun Gothic"/>
              </a:rPr>
              <a:t>로 감쇠시키며 더한다. 이것이 없으면 조금만 낯선 샘플도 1초 안에 튜브가 상한(0.5 m)에 붙었다. GP는 4스텝마다 평가해 사이를 채운다(스텝마다 평가 대비 σ 오차 99% 분위 2.7 cm, 64 → 10 ms). 공유 GP 커널을 </a:t>
            </a:r>
            <a:r>
              <a:rPr sz="1050" b="0" i="1">
                <a:solidFill>
                  <a:srgbClr val="16213A"/>
                </a:solidFill>
                <a:latin typeface="Arial"/>
                <a:ea typeface="Malgun Gothic"/>
                <a:cs typeface="Malgun Gothic"/>
              </a:rPr>
              <a:t>‖ a‖² + ‖ b‖² - 2a^⊤ b</a:t>
            </a:r>
            <a:r>
              <a:rPr sz="1050" b="0" i="0">
                <a:solidFill>
                  <a:srgbClr val="16213A"/>
                </a:solidFill>
                <a:latin typeface="Arial"/>
                <a:ea typeface="Malgun Gothic"/>
                <a:cs typeface="Malgun Gothic"/>
              </a:rPr>
              <a:t> 전개로 바꿔 7,680개 질의가 45 ms에서 18 ms로 줄었다. MPC 쪽도 같이 빨라진다.</a:t>
            </a:r>
          </a:p>
        </p:txBody>
      </p:sp>
      <p:sp>
        <p:nvSpPr>
          <p:cNvPr id="10" name="TextBox 9"/>
          <p:cNvSpPr txBox="1"/>
          <p:nvPr/>
        </p:nvSpPr>
        <p:spPr>
          <a:xfrm>
            <a:off x="609600" y="42591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처음 넣은 버전은 로봇을 세웠다. 원인은 셋이었다.</a:t>
            </a:r>
          </a:p>
        </p:txBody>
      </p:sp>
      <p:sp>
        <p:nvSpPr>
          <p:cNvPr id="11" name="TextBox 10"/>
          <p:cNvSpPr txBox="1"/>
          <p:nvPr/>
        </p:nvSpPr>
        <p:spPr>
          <a:xfrm>
            <a:off x="609600" y="4564559"/>
            <a:ext cx="10972800" cy="15408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고정 여유 0.15 m.</a:t>
            </a:r>
            <a:r>
              <a:rPr sz="1050" b="0" i="0">
                <a:solidFill>
                  <a:srgbClr val="16213A"/>
                </a:solidFill>
                <a:latin typeface="Arial"/>
                <a:ea typeface="Malgun Gothic"/>
                <a:cs typeface="Malgun Gothic"/>
              </a:rPr>
              <a:t> MPC와 맞추려고 튜브 위에 0.15 m를 더 얹었더니 정적 조건에서 37/40이었다. 세 실패 모두 틈 앞에서 멈춘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이다. 기준 MPPI는 Guidance 경로를 따라 가장 좁은 곳을 0.04–0.07 m 여유(칸 가장자리 기준)로 지나간다. 지평 4초가 그 틈에 닿는 순간 앞으로 가는 샘플이 모두 위반이 되고, 위반하지 않는 샘플은 "정지" 하나뿐이다. 넓은 길이 없어서가 아니다. 출발–목표를 잇는 경로 가운데 가장 넓은 것의 병목 여유는 bumps_potholes s1에서 0.68 m였다. Guidance가 최단 경로로 좁은 틈을 고른 것이다. 치명 칸은 이미 로봇 반폭(0.30 m)만큼 팽창돼 있으므로(</a:t>
            </a:r>
            <a:r>
              <a:rPr sz="1050" b="0" i="0">
                <a:solidFill>
                  <a:srgbClr val="16213A"/>
                </a:solidFill>
                <a:latin typeface="Consolas"/>
                <a:ea typeface="Malgun Gothic"/>
                <a:cs typeface="Malgun Gothic"/>
              </a:rPr>
              <a:t>FeatureConfig.inflate_radius_m</a:t>
            </a:r>
            <a:r>
              <a:rPr sz="1050" b="0" i="0">
                <a:solidFill>
                  <a:srgbClr val="16213A"/>
                </a:solidFill>
                <a:latin typeface="Arial"/>
                <a:ea typeface="Malgun Gothic"/>
                <a:cs typeface="Malgun Gothic"/>
              </a:rPr>
              <a:t>) 고정 여유는 0으로 두고, 추종 오차 몫은 튜브에 맡겼다.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가장자리까지 잰 거리.</a:t>
            </a:r>
            <a:r>
              <a:rPr sz="1050" b="0" i="0">
                <a:solidFill>
                  <a:srgbClr val="16213A"/>
                </a:solidFill>
                <a:latin typeface="Arial"/>
                <a:ea typeface="Malgun Gothic"/>
                <a:cs typeface="Malgun Gothic"/>
              </a:rPr>
              <a:t> 여유 0으로도 bumps_potholes s6이 멈췄다(39/40). Guidance가 블록 사이 한두 칸짜리 틈으로 경로를 냈는데, 거리를 치명 칸 가장자리까지 재니 틈 안이 0 이하로 나왔다. 막아야 할 사건은 시뮬레이터가 실패로 보는 사건, 즉 중심에서 이중선형으로 샘플한 cost ≥ 0.95다. 이웃 칸 cost가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이면 이 경계는 치명 칸 중심에서 </a:t>
            </a:r>
            <a:r>
              <a:rPr sz="1050" b="0" i="1">
                <a:solidFill>
                  <a:srgbClr val="16213A"/>
                </a:solidFill>
                <a:latin typeface="Arial"/>
                <a:ea typeface="Malgun Gothic"/>
                <a:cs typeface="Malgun Gothic"/>
              </a:rPr>
              <a:t>0.05 Δ/(1-c)</a:t>
            </a:r>
            <a:r>
              <a:rPr sz="1050" b="0" i="0">
                <a:solidFill>
                  <a:srgbClr val="16213A"/>
                </a:solidFill>
                <a:latin typeface="Arial"/>
                <a:ea typeface="Malgun Gothic"/>
                <a:cs typeface="Malgun Gothic"/>
              </a:rPr>
              <a:t> 떨어진 곳이다(0.05 m 칸에서 </a:t>
            </a:r>
            <a:r>
              <a:rPr sz="1050" b="0" i="1">
                <a:solidFill>
                  <a:srgbClr val="16213A"/>
                </a:solidFill>
                <a:latin typeface="Arial"/>
                <a:ea typeface="Malgun Gothic"/>
                <a:cs typeface="Malgun Gothic"/>
              </a:rPr>
              <a:t>c = 0.3</a:t>
            </a:r>
            <a:r>
              <a:rPr sz="1050" b="0" i="0">
                <a:solidFill>
                  <a:srgbClr val="16213A"/>
                </a:solidFill>
                <a:latin typeface="Arial"/>
                <a:ea typeface="Malgun Gothic"/>
                <a:cs typeface="Malgun Gothic"/>
              </a:rPr>
              <a:t>이면 0.4 cm). 그래서 거리를 치명 칸 </a:t>
            </a:r>
            <a:r>
              <a:rPr sz="1050" b="1" i="0">
                <a:solidFill>
                  <a:srgbClr val="16213A"/>
                </a:solidFill>
                <a:latin typeface="Arial"/>
                <a:ea typeface="Malgun Gothic"/>
                <a:cs typeface="Malgun Gothic"/>
              </a:rPr>
              <a:t>중심</a:t>
            </a:r>
            <a:r>
              <a:rPr sz="1050" b="0" i="0">
                <a:solidFill>
                  <a:srgbClr val="16213A"/>
                </a:solidFill>
                <a:latin typeface="Arial"/>
                <a:ea typeface="Malgun Gothic"/>
                <a:cs typeface="Malgun Gothic"/>
              </a:rPr>
              <a:t>까지 잰다. 0선이 실패 경계보다 엄격하지 않고 한 칸 넘게 느슨하지 않다는 것을 테스트로 고정했다.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M.3.13 MPPI에도 확률 제약을 세웠다 (TP-0076)</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49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분포 밖 분산.</a:t>
            </a:r>
            <a:r>
              <a:rPr sz="1050" b="0" i="0">
                <a:solidFill>
                  <a:srgbClr val="16213A"/>
                </a:solidFill>
                <a:latin typeface="Arial"/>
                <a:ea typeface="Malgun Gothic"/>
                <a:cs typeface="Malgun Gothic"/>
              </a:rPr>
              <a:t> M.3.12의 ②와 같은 원인이다. 기존 GP로는 지평 끝 σ가 0.17–0.20 m여서 튜브가 0.3 m를 넘었다. 고정 여유 0.15 m와 기존 GP를 함께 쓴 첫 버전은 plant 조건 seed 0–2에서 9/12였다.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남은 plant 실패가 가르쳐 준 것.</a:t>
            </a:r>
            <a:r>
              <a:rPr sz="1050" b="0" i="0">
                <a:solidFill>
                  <a:srgbClr val="16213A"/>
                </a:solidFill>
                <a:latin typeface="Arial"/>
                <a:ea typeface="Malgun Gothic"/>
                <a:cs typeface="Malgun Gothic"/>
              </a:rPr>
              <a:t> curb_ramp s5(</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lethal</a:t>
            </a:r>
            <a:r>
              <a:rPr sz="1050" b="0" i="0">
                <a:solidFill>
                  <a:srgbClr val="16213A"/>
                </a:solidFill>
                <a:latin typeface="Arial"/>
                <a:ea typeface="Malgun Gothic"/>
                <a:cs typeface="Malgun Gothic"/>
              </a:rPr>
              <a:t>)를 스텝마다 뜯어봤다. 실패 직전 믿음 지도와 실제 지도의 여유는 같았다(σ 0, 다 관측). 1스텝 위치 예측 오차는 중앙값 6 mm였다. 제약을 지키는 샘플도 768개 가운데 94–216개 남아 있었다. 실행한 평균 계획은 0선에서 1.5–5 cm 떨어져 있었는데, 그 자리의 cost가 0.89였다. </a:t>
            </a:r>
            <a:r>
              <a:rPr sz="1050" b="1" i="0">
                <a:solidFill>
                  <a:srgbClr val="16213A"/>
                </a:solidFill>
                <a:latin typeface="Arial"/>
                <a:ea typeface="Malgun Gothic"/>
                <a:cs typeface="Malgun Gothic"/>
              </a:rPr>
              <a:t>이웃 칸 cost가 0.9에 가까우면 실패 경계는 치명 칸 중심에서 반 칸(2.5 cm) 바깥이다.</a:t>
            </a:r>
            <a:r>
              <a:rPr sz="1050" b="0" i="0">
                <a:solidFill>
                  <a:srgbClr val="16213A"/>
                </a:solidFill>
                <a:latin typeface="Arial"/>
                <a:ea typeface="Malgun Gothic"/>
                <a:cs typeface="Malgun Gothic"/>
              </a:rPr>
              <a:t> 2번에서 고른 0선은 낮은 cost 이웃을 가정한 것이라, 램프 벽 옆에서는 실패 경계보다 느슨했다(M.3.14에서 재 보니 지도별 99% 분위로 최대 5.0 cm, 한 칸 가까이). 다음 할 일은 둘이다. 0선을 실패 경계에 정확히 맞추는 것(cost 기울기 방향으로 </a:t>
            </a:r>
            <a:r>
              <a:rPr sz="1050" b="0" i="1">
                <a:solidFill>
                  <a:srgbClr val="16213A"/>
                </a:solidFill>
                <a:latin typeface="Arial"/>
                <a:ea typeface="Malgun Gothic"/>
                <a:cs typeface="Malgun Gothic"/>
              </a:rPr>
              <a:t>zσ</a:t>
            </a:r>
            <a:r>
              <a:rPr sz="1050" b="0" i="0">
                <a:solidFill>
                  <a:srgbClr val="16213A"/>
                </a:solidFill>
                <a:latin typeface="Arial"/>
                <a:ea typeface="Malgun Gothic"/>
                <a:cs typeface="Malgun Gothic"/>
              </a:rPr>
              <a:t>만큼 옮긴 점의 이중선형 cost로 판정), 그리고 rollout에 GP 평균을 넣는 것이다.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전체 결과.</a:t>
            </a:r>
            <a:r>
              <a:rPr sz="1050" b="0" i="0">
                <a:solidFill>
                  <a:srgbClr val="16213A"/>
                </a:solidFill>
                <a:latin typeface="Arial"/>
                <a:ea typeface="Malgun Gothic"/>
                <a:cs typeface="Malgun Gothic"/>
              </a:rPr>
              <a:t> 제어 시간은 bumps_potholes s0를 plant로 달리며 한 프로세스에서 컨트롤러를 차례로 돌려 잰 중앙값이다.</a:t>
            </a:r>
          </a:p>
        </p:txBody>
      </p:sp>
      <p:graphicFrame>
        <p:nvGraphicFramePr>
          <p:cNvPr id="8" name="Table 7"/>
          <p:cNvGraphicFramePr>
            <a:graphicFrameLocks noGrp="1"/>
          </p:cNvGraphicFramePr>
          <p:nvPr/>
        </p:nvGraphicFramePr>
        <p:xfrm>
          <a:off x="609600" y="3026767"/>
          <a:ext cx="10966449" cy="1182528"/>
        </p:xfrm>
        <a:graphic>
          <a:graphicData uri="http://schemas.openxmlformats.org/drawingml/2006/table">
            <a:tbl>
              <a:tblPr firstRow="1" bandRow="1">
                <a:tableStyleId>{5C22544A-7EE6-4342-B048-85BDC9FD1C3A}</a:tableStyleId>
              </a:tblPr>
              <a:tblGrid>
                <a:gridCol w="3791645"/>
                <a:gridCol w="1755973"/>
                <a:gridCol w="2303363"/>
                <a:gridCol w="2013148"/>
                <a:gridCol w="1102320"/>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3명 (seed 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(seed 0–11)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제어 시간</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13.0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guidance+mppi_cc</a:t>
                      </a:r>
                      <a:r>
                        <a:rPr sz="800" b="0" i="0">
                          <a:solidFill>
                            <a:srgbClr val="16213A"/>
                          </a:solidFill>
                          <a:latin typeface="Arial"/>
                          <a:ea typeface="Malgun Gothic"/>
                          <a:cs typeface="Malgun Gothic"/>
                        </a:rPr>
                        <a:t> (튜브 없음, 여유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16.1 ms</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guidance+mppi_ccgp</a:t>
                      </a:r>
                      <a:r>
                        <a:rPr sz="800" b="0" i="0">
                          <a:solidFill>
                            <a:srgbClr val="16213A"/>
                          </a:solidFill>
                          <a:latin typeface="Arial"/>
                          <a:ea typeface="Malgun Gothic"/>
                          <a:cs typeface="Malgun Gothic"/>
                        </a:rPr>
                        <a:t> (GP 튜브)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35.9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6.6 ms</a:t>
                      </a:r>
                    </a:p>
                  </a:txBody>
                  <a:tcPr marL="63500" marR="63500" marT="12700" marB="12700">
                    <a:solidFill>
                      <a:srgbClr val="F3F0E8"/>
                    </a:solidFill>
                  </a:tcPr>
                </a:tc>
              </a:tr>
              <a:tr h="197088">
                <a:tc>
                  <a:txBody>
                    <a:bodyPr wrap="square"/>
                    <a:lstStyle/>
                    <a:p>
                      <a:r>
                        <a:rPr sz="800" b="1" i="0">
                          <a:solidFill>
                            <a:srgbClr val="16213A"/>
                          </a:solidFill>
                          <a:latin typeface="Consolas"/>
                          <a:ea typeface="Malgun Gothic"/>
                          <a:cs typeface="Malgun Gothic"/>
                        </a:rPr>
                        <a:t>guidance+mpc_gp</a:t>
                      </a:r>
                      <a:r>
                        <a:rPr sz="800" b="0" i="0">
                          <a:solidFill>
                            <a:srgbClr val="16213A"/>
                          </a:solidFill>
                          <a:latin typeface="Arial"/>
                          <a:ea typeface="Malgun Gothic"/>
                          <a:cs typeface="Malgun Gothic"/>
                        </a:rPr>
                        <a:t> (GP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9.2 ms</a:t>
                      </a:r>
                    </a:p>
                  </a:txBody>
                  <a:tcPr marL="63500" marR="63500" marT="12700" marB="12700">
                    <a:solidFill>
                      <a:srgbClr val="FFFD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M.3.13 MPPI에도 확률 제약을 세웠다 (TP-0076)</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50 / 112</a:t>
            </a:r>
          </a:p>
        </p:txBody>
      </p:sp>
      <p:pic>
        <p:nvPicPr>
          <p:cNvPr id="5" name="Picture 4" descr="image.jpg"/>
          <p:cNvPicPr>
            <a:picLocks noChangeAspect="1"/>
          </p:cNvPicPr>
          <p:nvPr/>
        </p:nvPicPr>
        <p:blipFill>
          <a:blip r:embed="rId3"/>
          <a:stretch>
            <a:fillRect/>
          </a:stretch>
        </p:blipFill>
        <p:spPr>
          <a:xfrm>
            <a:off x="1016000" y="1244600"/>
            <a:ext cx="10160000" cy="3060700"/>
          </a:xfrm>
          <a:prstGeom prst="rect">
            <a:avLst/>
          </a:prstGeom>
        </p:spPr>
      </p:pic>
      <p:sp>
        <p:nvSpPr>
          <p:cNvPr id="6" name="TextBox 5"/>
          <p:cNvSpPr txBox="1"/>
          <p:nvPr/>
        </p:nvSpPr>
        <p:spPr>
          <a:xfrm>
            <a:off x="1016000" y="43434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세 조건에서 컨트롤러별 성공 비율. 파란 막대가 MPPI 계열, 주황 막대가 MPC 계열이고 막대 끝 숫자가 성공 수다. GP를 쓰는 두 스택은 잔차가 있는 plant 조건에서만 돌렸다. 그림은 python scripts/make_doc_figures.py --controllers로 다시 만든다(원자료 results/p2-mpc-mppi-constraints.tsv).</a:t>
            </a:r>
          </a:p>
        </p:txBody>
      </p:sp>
      <p:sp>
        <p:nvSpPr>
          <p:cNvPr id="7" name="TextBox 6"/>
          <p:cNvSpPr txBox="1"/>
          <p:nvPr/>
        </p:nvSpPr>
        <p:spPr>
          <a:xfrm>
            <a:off x="609600" y="471666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가지를 읽는다. 첫째, plant에서 이득을 본 것은 MPC의 </a:t>
            </a:r>
            <a:r>
              <a:rPr sz="1050" b="1" i="0">
                <a:solidFill>
                  <a:srgbClr val="16213A"/>
                </a:solidFill>
                <a:latin typeface="Arial"/>
                <a:ea typeface="Malgun Gothic"/>
                <a:cs typeface="Malgun Gothic"/>
              </a:rPr>
              <a:t>GP 평균</a:t>
            </a:r>
            <a:r>
              <a:rPr sz="1050" b="0" i="0">
                <a:solidFill>
                  <a:srgbClr val="16213A"/>
                </a:solidFill>
                <a:latin typeface="Arial"/>
                <a:ea typeface="Malgun Gothic"/>
                <a:cs typeface="Malgun Gothic"/>
              </a:rPr>
              <a:t>이다(37 → 44/48). 지연이라는 체계적 오차는 평균으로 갚는 것이다. 둘째, MPPI의 GP 튜브는 이 plant에서 1스텝 오차가 6 mm라 쓸 몫이 작고, 남은 실패는 0선의 느슨함에서 온다. 셋째, MPC는 정적·보행자에서 MPPI보다 한두 건 뒤지지만 계산은 절반이고 jerk가 낮다(정적 3.1 대 4.4). CLAUDE.md 기준표로는 다섯 스택 모두 통과다 (보행자 3명 seed 0–2에서 12/12, 충돌 0, 최대 pitch 8° 아래, GT cost 0.06 아래).</a:t>
            </a:r>
          </a:p>
        </p:txBody>
      </p:sp>
      <p:sp>
        <p:nvSpPr>
          <p:cNvPr id="8" name="TextBox 7"/>
          <p:cNvSpPr txBox="1"/>
          <p:nvPr/>
        </p:nvSpPr>
        <p:spPr>
          <a:xfrm>
            <a:off x="609600" y="5455047"/>
            <a:ext cx="10972800" cy="559991"/>
          </a:xfrm>
          <a:prstGeom prst="rect">
            <a:avLst/>
          </a:prstGeom>
          <a:solidFill>
            <a:srgbClr val="EEF1F6"/>
          </a:solidFill>
        </p:spPr>
        <p:txBody>
          <a:bodyPr wrap="square" lIns="114300" rIns="114300" tIns="63500" bIns="63500" anchor="t">
            <a:spAutoFit/>
            <a:normAutofit/>
          </a:bodyPr>
          <a:lstStyle/>
          <a:p>
            <a:r>
              <a:rPr sz="1050" b="1" i="0">
                <a:solidFill>
                  <a:srgbClr val="33405A"/>
                </a:solidFill>
                <a:latin typeface="Arial"/>
                <a:ea typeface="Malgun Gothic"/>
                <a:cs typeface="Malgun Gothic"/>
              </a:rPr>
              <a:t>정정(2026-10-01, TP-0122).</a:t>
            </a:r>
            <a:r>
              <a:rPr sz="1050" b="0" i="0">
                <a:solidFill>
                  <a:srgbClr val="33405A"/>
                </a:solidFill>
                <a:latin typeface="Arial"/>
                <a:ea typeface="Malgun Gothic"/>
                <a:cs typeface="Malgun Gothic"/>
              </a:rPr>
              <a:t> 첫째와 셋째 해석은 명목 MPC의 명령을 고친 뒤 바뀌었다. 명령만 고친 </a:t>
            </a:r>
            <a:r>
              <a:rPr sz="1050" b="0" i="0">
                <a:solidFill>
                  <a:srgbClr val="33405A"/>
                </a:solidFill>
                <a:latin typeface="Consolas"/>
                <a:ea typeface="Malgun Gothic"/>
                <a:cs typeface="Malgun Gothic"/>
              </a:rPr>
              <a:t>mpc</a:t>
            </a:r>
            <a:r>
              <a:rPr sz="1050" b="0" i="0">
                <a:solidFill>
                  <a:srgbClr val="33405A"/>
                </a:solidFill>
                <a:latin typeface="Arial"/>
                <a:ea typeface="Malgun Gothic"/>
                <a:cs typeface="Malgun Gothic"/>
              </a:rPr>
              <a:t>도 plant 44/48이라 GP 평균의 몫은 작다. MPC는 정적·보행자에서 MPPI와 같아졌고(40/40, 24/24), jerk는 오히려 높다(정적 6.7 대 4.4, M.3.15).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M.3.13 MPPI에도 확률 제약을 세웠다 (TP-0076)</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51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a:t>
            </a:r>
          </a:p>
        </p:txBody>
      </p:sp>
      <p:sp>
        <p:nvSpPr>
          <p:cNvPr id="6" name="TextBox 5"/>
          <p:cNvSpPr txBox="1"/>
          <p:nvPr/>
        </p:nvSpPr>
        <p:spPr>
          <a:xfrm>
            <a:off x="609600" y="1549995"/>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MPC에 분산을 넣는다(TP-0069). 반평면의 </a:t>
            </a:r>
            <a:r>
              <a:rPr sz="1050" b="0" i="1">
                <a:solidFill>
                  <a:srgbClr val="16213A"/>
                </a:solidFill>
                <a:latin typeface="Arial"/>
                <a:ea typeface="Malgun Gothic"/>
                <a:cs typeface="Malgun Gothic"/>
              </a:rPr>
              <a:t>ρₖ</a:t>
            </a:r>
            <a:r>
              <a:rPr sz="1050" b="0" i="0">
                <a:solidFill>
                  <a:srgbClr val="16213A"/>
                </a:solidFill>
                <a:latin typeface="Arial"/>
                <a:ea typeface="Malgun Gothic"/>
                <a:cs typeface="Malgun Gothic"/>
              </a:rPr>
              <a:t> 자리에 </a:t>
            </a:r>
            <a:r>
              <a:rPr sz="1050" b="0" i="1">
                <a:solidFill>
                  <a:srgbClr val="16213A"/>
                </a:solidFill>
                <a:latin typeface="Arial"/>
                <a:ea typeface="Malgun Gothic"/>
                <a:cs typeface="Malgun Gothic"/>
              </a:rPr>
              <a:t>Φ⁻¹(1-ε) σ_(p,k)</a:t>
            </a:r>
            <a:r>
              <a:rPr sz="1050" b="0" i="0">
                <a:solidFill>
                  <a:srgbClr val="16213A"/>
                </a:solidFill>
                <a:latin typeface="Arial"/>
                <a:ea typeface="Malgun Gothic"/>
                <a:cs typeface="Malgun Gothic"/>
              </a:rPr>
              <a:t>를 넣으면 된다. 배관은 이미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MPC 비용에 매끄러운 지형 항(M.1.1)을 넣고, Guidance 경로의 여유를 Controller와 맞춘다. 고정 여유로 모서리와 틈을 함께 못 맞춘 문제다.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확률 제약의 0선을 실패 경계에 맞추고(→ M.3.14에서 했다, TP-0119), rollout에 GP 평균을 넣는다(TP-0120).</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planner_d+mpc</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planner_d+mpc_gp</a:t>
            </a:r>
            <a:r>
              <a:rPr sz="1050" b="0" i="0">
                <a:solidFill>
                  <a:srgbClr val="16213A"/>
                </a:solidFill>
                <a:latin typeface="Arial"/>
                <a:ea typeface="Malgun Gothic"/>
                <a:cs typeface="Malgun Gothic"/>
              </a:rPr>
              <a:t>를 Planner D 체크포인트가 있는 데스크톱에서 돌린다(시간 참조 모드).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52 / 112</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제약의 0선이 이제 시뮬레이터가 치명 실패로 판정하는 경계 위에 놓인다.</a:t>
            </a:r>
            <a:r>
              <a:rPr sz="1050" b="0" i="0">
                <a:solidFill>
                  <a:srgbClr val="16213A"/>
                </a:solidFill>
                <a:latin typeface="Arial"/>
                <a:ea typeface="Malgun Gothic"/>
                <a:cs typeface="Malgun Gothic"/>
              </a:rPr>
              <a:t> 평가 지도 46장(GT 40장, 믿음 지도 6장)에서 0선이 참 경계에서 떨어진 거리(지도별 99% 분위)는 중앙값 4.33 cm에서 0.59 cm로, 최댓값 4.97 cm에서 0.78 cm로 줄었다. 부호를 덮어쓰지 않은 필드만 보면, 실패하는 표본 점 760,561개 가운데 안전(0 이상)으로 읽은 점이 rim 12,830개에서 exact 245개로 줄었다. 실제로 쓰는 방식은 부호를 시뮬레이터의 판정으로 덮어쓰므로 정의상 0개다. plant 조건 seed 0–23(스택당 96 에피소드)에서 </a:t>
            </a:r>
            <a:r>
              <a:rPr sz="1050" b="0" i="0">
                <a:solidFill>
                  <a:srgbClr val="16213A"/>
                </a:solidFill>
                <a:latin typeface="Consolas"/>
                <a:ea typeface="Malgun Gothic"/>
                <a:cs typeface="Malgun Gothic"/>
              </a:rPr>
              <a:t>guidance+mppi_ccgp</a:t>
            </a:r>
            <a:r>
              <a:rPr sz="1050" b="0" i="0">
                <a:solidFill>
                  <a:srgbClr val="16213A"/>
                </a:solidFill>
                <a:latin typeface="Arial"/>
                <a:ea typeface="Malgun Gothic"/>
                <a:cs typeface="Malgun Gothic"/>
              </a:rPr>
              <a:t>는 85/96에서 89/96, 튜브 없는 </a:t>
            </a:r>
            <a:r>
              <a:rPr sz="1050" b="0" i="0">
                <a:solidFill>
                  <a:srgbClr val="16213A"/>
                </a:solidFill>
                <a:latin typeface="Consolas"/>
                <a:ea typeface="Malgun Gothic"/>
                <a:cs typeface="Malgun Gothic"/>
              </a:rPr>
              <a:t>guidance+mppi_cc</a:t>
            </a:r>
            <a:r>
              <a:rPr sz="1050" b="0" i="0">
                <a:solidFill>
                  <a:srgbClr val="16213A"/>
                </a:solidFill>
                <a:latin typeface="Arial"/>
                <a:ea typeface="Malgun Gothic"/>
                <a:cs typeface="Malgun Gothic"/>
              </a:rPr>
              <a:t>는 87/96에서 89/96이 됐다(기준 MPPI 88/96). 하지만 결과가 갈린 짝이 6:2, 8:6이라 성공 수 차이는 유의하지 않다(부호 검정 p ≈ 0.29, 0.79). 정적·보행자 조건은 그대로다. 그래서 근거는 성공 수가 아니라 기하 정확도와 남은 실패의 원인이다. exact 쪽 치명 실패 12건 가운데 필드가 로봇 위치를 실제보다 1 cm 넘게 멀다고 읽은 경우는 없다(최대 0.20 cm). </a:t>
            </a:r>
            <a:r>
              <a:rPr sz="1050" b="0" i="0">
                <a:solidFill>
                  <a:srgbClr val="16213A"/>
                </a:solidFill>
                <a:latin typeface="Consolas"/>
                <a:ea typeface="Malgun Gothic"/>
                <a:cs typeface="Malgun Gothic"/>
              </a:rPr>
              <a:t>ChanceConstraintCost</a:t>
            </a:r>
            <a:r>
              <a:rPr sz="1050" b="0" i="0">
                <a:solidFill>
                  <a:srgbClr val="16213A"/>
                </a:solidFill>
                <a:latin typeface="Arial"/>
                <a:ea typeface="Malgun Gothic"/>
                <a:cs typeface="Malgun Gothic"/>
              </a:rPr>
              <a:t>의 기본값을 </a:t>
            </a:r>
            <a:r>
              <a:rPr sz="1050" b="0" i="0">
                <a:solidFill>
                  <a:srgbClr val="16213A"/>
                </a:solidFill>
                <a:latin typeface="Consolas"/>
                <a:ea typeface="Malgun Gothic"/>
                <a:cs typeface="Malgun Gothic"/>
              </a:rPr>
              <a:t>boundary="exact"</a:t>
            </a:r>
            <a:r>
              <a:rPr sz="1050" b="0" i="0">
                <a:solidFill>
                  <a:srgbClr val="16213A"/>
                </a:solidFill>
                <a:latin typeface="Arial"/>
                <a:ea typeface="Malgun Gothic"/>
                <a:cs typeface="Malgun Gothic"/>
              </a:rPr>
              <a:t>로 바꿨다.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틀렸나.</a:t>
            </a:r>
            <a:r>
              <a:rPr sz="1050" b="0" i="0">
                <a:solidFill>
                  <a:srgbClr val="16213A"/>
                </a:solidFill>
                <a:latin typeface="Arial"/>
                <a:ea typeface="Malgun Gothic"/>
                <a:cs typeface="Malgun Gothic"/>
              </a:rPr>
              <a:t> M.3.13의 두 번째 고침은 0선을 치명 칸 </a:t>
            </a:r>
            <a:r>
              <a:rPr sz="1050" b="1" i="0">
                <a:solidFill>
                  <a:srgbClr val="16213A"/>
                </a:solidFill>
                <a:latin typeface="Arial"/>
                <a:ea typeface="Malgun Gothic"/>
                <a:cs typeface="Malgun Gothic"/>
              </a:rPr>
              <a:t>중심</a:t>
            </a:r>
            <a:r>
              <a:rPr sz="1050" b="0" i="0">
                <a:solidFill>
                  <a:srgbClr val="16213A"/>
                </a:solidFill>
                <a:latin typeface="Arial"/>
                <a:ea typeface="Malgun Gothic"/>
                <a:cs typeface="Malgun Gothic"/>
              </a:rPr>
              <a:t>에 두었다. 치명 칸(cost 1)과 cost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인 이웃 칸을 잇는 선 위에서 이중선형 cost는 </a:t>
            </a:r>
            <a:r>
              <a:rPr sz="1050" b="0" i="1">
                <a:solidFill>
                  <a:srgbClr val="16213A"/>
                </a:solidFill>
                <a:latin typeface="Arial"/>
                <a:ea typeface="Malgun Gothic"/>
                <a:cs typeface="Malgun Gothic"/>
              </a:rPr>
              <a:t>1 - t(1-c)</a:t>
            </a:r>
            <a:r>
              <a:rPr sz="1050" b="0" i="0">
                <a:solidFill>
                  <a:srgbClr val="16213A"/>
                </a:solidFill>
                <a:latin typeface="Arial"/>
                <a:ea typeface="Malgun Gothic"/>
                <a:cs typeface="Malgun Gothic"/>
              </a:rPr>
              <a:t>이므로, 실패 경계는 치명 칸 중심에서 </a:t>
            </a:r>
            <a:r>
              <a:rPr sz="1050" b="0" i="1">
                <a:solidFill>
                  <a:srgbClr val="16213A"/>
                </a:solidFill>
                <a:latin typeface="Arial"/>
                <a:ea typeface="Malgun Gothic"/>
                <a:cs typeface="Malgun Gothic"/>
              </a:rPr>
              <a:t>t = 0.05/(1-c)</a:t>
            </a:r>
            <a:r>
              <a:rPr sz="1050" b="0" i="0">
                <a:solidFill>
                  <a:srgbClr val="16213A"/>
                </a:solidFill>
                <a:latin typeface="Arial"/>
                <a:ea typeface="Malgun Gothic"/>
                <a:cs typeface="Malgun Gothic"/>
              </a:rPr>
              <a:t>칸 떨어진 곳이다. </a:t>
            </a:r>
            <a:r>
              <a:rPr sz="1050" b="0" i="1">
                <a:solidFill>
                  <a:srgbClr val="16213A"/>
                </a:solidFill>
                <a:latin typeface="Arial"/>
                <a:ea typeface="Malgun Gothic"/>
                <a:cs typeface="Malgun Gothic"/>
              </a:rPr>
              <a:t>c = 0.3</a:t>
            </a:r>
            <a:r>
              <a:rPr sz="1050" b="0" i="0">
                <a:solidFill>
                  <a:srgbClr val="16213A"/>
                </a:solidFill>
                <a:latin typeface="Arial"/>
                <a:ea typeface="Malgun Gothic"/>
                <a:cs typeface="Malgun Gothic"/>
              </a:rPr>
              <a:t>이면 0.07칸(0.4 cm)이라 중심에 둬도 맞았다. 그러나 </a:t>
            </a:r>
            <a:r>
              <a:rPr sz="1050" b="0" i="1">
                <a:solidFill>
                  <a:srgbClr val="16213A"/>
                </a:solidFill>
                <a:latin typeface="Arial"/>
                <a:ea typeface="Malgun Gothic"/>
                <a:cs typeface="Malgun Gothic"/>
              </a:rPr>
              <a:t>c = 0.9</a:t>
            </a:r>
            <a:r>
              <a:rPr sz="1050" b="0" i="0">
                <a:solidFill>
                  <a:srgbClr val="16213A"/>
                </a:solidFill>
                <a:latin typeface="Arial"/>
                <a:ea typeface="Malgun Gothic"/>
                <a:cs typeface="Malgun Gothic"/>
              </a:rPr>
              <a:t>면 반 칸, </a:t>
            </a:r>
            <a:r>
              <a:rPr sz="1050" b="0" i="1">
                <a:solidFill>
                  <a:srgbClr val="16213A"/>
                </a:solidFill>
                <a:latin typeface="Arial"/>
                <a:ea typeface="Malgun Gothic"/>
                <a:cs typeface="Malgun Gothic"/>
              </a:rPr>
              <a:t>c = 0.94</a:t>
            </a:r>
            <a:r>
              <a:rPr sz="1050" b="0" i="0">
                <a:solidFill>
                  <a:srgbClr val="16213A"/>
                </a:solidFill>
                <a:latin typeface="Arial"/>
                <a:ea typeface="Malgun Gothic"/>
                <a:cs typeface="Malgun Gothic"/>
              </a:rPr>
              <a:t>면 0.83칸이다. 램프 벽 옆 칸이 그렇다. rim 0선은 그만큼 실패 영역 안쪽에 있고, 그만큼 낙관적이다. M.3.13에서 curb_ramp s5를 뜯어보며 적은 "cost 0.89"는 실행한 계획 아래의 cost였다. 실패 지점의 이중선형 cost는 0.974였고, 옆 자유 칸 줄의 cost는 0.911, 그 옆 치명 칸 줄은 0.998이었다. 그래서 실패 경계는 치명 칸 중심에서 </a:t>
            </a:r>
            <a:r>
              <a:rPr sz="1050" b="0" i="1">
                <a:solidFill>
                  <a:srgbClr val="16213A"/>
                </a:solidFill>
                <a:latin typeface="Arial"/>
                <a:ea typeface="Malgun Gothic"/>
                <a:cs typeface="Malgun Gothic"/>
              </a:rPr>
              <a:t>(0.998-0.95)/(0.998-0.911) = 0.55</a:t>
            </a:r>
            <a:r>
              <a:rPr sz="1050" b="0" i="0">
                <a:solidFill>
                  <a:srgbClr val="16213A"/>
                </a:solidFill>
                <a:latin typeface="Arial"/>
                <a:ea typeface="Malgun Gothic"/>
                <a:cs typeface="Malgun Gothic"/>
              </a:rPr>
              <a:t>칸(2.7 cm) 바깥이다.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53 / 112</a:t>
            </a:r>
          </a:p>
        </p:txBody>
      </p:sp>
      <p:pic>
        <p:nvPicPr>
          <p:cNvPr id="5" name="Picture 4" descr="image.jpg"/>
          <p:cNvPicPr>
            <a:picLocks noChangeAspect="1"/>
          </p:cNvPicPr>
          <p:nvPr/>
        </p:nvPicPr>
        <p:blipFill>
          <a:blip r:embed="rId3"/>
          <a:stretch>
            <a:fillRect/>
          </a:stretch>
        </p:blipFill>
        <p:spPr>
          <a:xfrm>
            <a:off x="1016000" y="1244600"/>
            <a:ext cx="10160000" cy="2965450"/>
          </a:xfrm>
          <a:prstGeom prst="rect">
            <a:avLst/>
          </a:prstGeom>
        </p:spPr>
      </p:pic>
      <p:sp>
        <p:nvSpPr>
          <p:cNvPr id="6" name="TextBox 5"/>
          <p:cNvSpPr txBox="1"/>
          <p:nvPr/>
        </p:nvSpPr>
        <p:spPr>
          <a:xfrm>
            <a:off x="1016000" y="4248150"/>
            <a:ext cx="10160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60 × 40 cm로 확대한 세 장면. 굵은 회색 선이 시뮬레이터의 실패 경계(이중선형 cost 0.95), 주황 점선이 rim 0선, 파란 선이 exact 0선, 파란 점선이 exact 1.6 cm 튜브다. (a) curb_ramp s5와 (b) s7은 램프 벽이다. 옆 자유 칸 줄의 cost가 0.91, 0.94라 실패 경계가 치명 칸 중심에서 0.55칸, 0.82칸 바깥에 있다. rim 0선은 그만큼 실패 영역 안쪽에 있고, 기록된 궤적(보라)이 그 선을 믿고 실패했다. (c)는 이웃 칸 cost가 0인 블록 모서리라 세 선이 거의 겹친다. 그림은 python scripts/make_doc_figures.py --followup TP-0119로 다시 만든다.</a:t>
            </a:r>
          </a:p>
        </p:txBody>
      </p:sp>
      <p:sp>
        <p:nvSpPr>
          <p:cNvPr id="7" name="TextBox 6"/>
          <p:cNvSpPr txBox="1"/>
          <p:nvPr/>
        </p:nvSpPr>
        <p:spPr>
          <a:xfrm>
            <a:off x="609600" y="47635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고쳤나.</a:t>
            </a:r>
            <a:r>
              <a:rPr sz="1050" b="0" i="0">
                <a:solidFill>
                  <a:srgbClr val="16213A"/>
                </a:solidFill>
                <a:latin typeface="Arial"/>
                <a:ea typeface="Malgun Gothic"/>
                <a:cs typeface="Malgun Gothic"/>
              </a:rPr>
              <a:t> 치명 실패 집합을 시뮬레이터의 정의 그대로 둔다. 이중선형 cost가 0.95 이상인 점과 지도 밖이다. 자세 한계(roll·pitch)로 넘어지는 실패는 이 집합에 넣지 않았다. 이 실험의 실패 가운데 그런 것은 0건이었다.</a:t>
            </a:r>
          </a:p>
        </p:txBody>
      </p:sp>
      <p:pic>
        <p:nvPicPr>
          <p:cNvPr id="8" name="Picture 7" descr="image.png"/>
          <p:cNvPicPr>
            <a:picLocks noChangeAspect="1"/>
          </p:cNvPicPr>
          <p:nvPr/>
        </p:nvPicPr>
        <p:blipFill>
          <a:blip r:embed="rId4"/>
          <a:stretch>
            <a:fillRect/>
          </a:stretch>
        </p:blipFill>
        <p:spPr>
          <a:xfrm>
            <a:off x="609600" y="5285482"/>
            <a:ext cx="2463800" cy="241300"/>
          </a:xfrm>
          <a:prstGeom prst="rect">
            <a:avLst/>
          </a:prstGeom>
        </p:spPr>
      </p:pic>
      <p:sp>
        <p:nvSpPr>
          <p:cNvPr id="9" name="TextBox 8"/>
          <p:cNvSpPr txBox="1"/>
          <p:nvPr/>
        </p:nvSpPr>
        <p:spPr>
          <a:xfrm>
            <a:off x="609600" y="556299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경계까지의 부호 있는 거리를 칸 중심마다 구해 두고(</a:t>
            </a:r>
            <a:r>
              <a:rPr sz="1050" b="0" i="0">
                <a:solidFill>
                  <a:srgbClr val="16213A"/>
                </a:solidFill>
                <a:latin typeface="Consolas"/>
                <a:ea typeface="Malgun Gothic"/>
                <a:cs typeface="Malgun Gothic"/>
              </a:rPr>
              <a:t>control/failure_sdf.py</a:t>
            </a:r>
            <a:r>
              <a:rPr sz="1050" b="0" i="0">
                <a:solidFill>
                  <a:srgbClr val="16213A"/>
                </a:solidFill>
                <a:latin typeface="Arial"/>
                <a:ea typeface="Malgun Gothic"/>
                <a:cs typeface="Malgun Gothic"/>
              </a:rPr>
              <a:t>), 질의는 이중선형으로 보간한다. 보간은 볼록한 모서리에서 거리를 조금 더 크게 읽을 수 있으므로, </a:t>
            </a:r>
            <a:r>
              <a:rPr sz="1050" b="1" i="0">
                <a:solidFill>
                  <a:srgbClr val="16213A"/>
                </a:solidFill>
                <a:latin typeface="Arial"/>
                <a:ea typeface="Malgun Gothic"/>
                <a:cs typeface="Malgun Gothic"/>
              </a:rPr>
              <a:t>부호만은 시뮬레이터의 판정으로 덮어쓴다.</a:t>
            </a:r>
            <a:r>
              <a:rPr sz="1050" b="0" i="0">
                <a:solidFill>
                  <a:srgbClr val="16213A"/>
                </a:solidFill>
                <a:latin typeface="Arial"/>
                <a:ea typeface="Malgun Gothic"/>
                <a:cs typeface="Malgun Gothic"/>
              </a:rPr>
              <a:t> MPPI는 rollout의 모든 점에서 cost를 이미 샘플하고 있어서(</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terrain_attitude</a:t>
            </a:r>
            <a:r>
              <a:rPr sz="1050" b="0" i="0">
                <a:solidFill>
                  <a:srgbClr val="16213A"/>
                </a:solidFill>
                <a:latin typeface="Arial"/>
                <a:ea typeface="Malgun Gothic"/>
                <a:cs typeface="Malgun Gothic"/>
              </a:rPr>
              <a:t>로 넘긴다), 덮어쓰기에 드는 것은 비교 한 번이다. 비교는 시뮬레이터처럼 float64로 한다. float32로 비교하면 float32(0.95) = 0.94999999가 0.95 이상으로 잡힌다. 그러면 시뮬레이터가 안전하다는 점을 실패로 읽는다(검토에서 찾아 테스트로 고정했다).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자세히: 경계를 정확히 그리는 방법과, 그것을 재는 오라클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54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경계를 그린다.</a:t>
            </a:r>
            <a:r>
              <a:rPr sz="1050" b="0" i="0">
                <a:solidFill>
                  <a:srgbClr val="16213A"/>
                </a:solidFill>
                <a:latin typeface="Arial"/>
                <a:ea typeface="Malgun Gothic"/>
                <a:cs typeface="Malgun Gothic"/>
              </a:rPr>
              <a:t> 칸 중심 네 개로 이루어진 2×2 조각 가운데 치명과 자유가 섞인 조각에만 경계가 지나간다. 조각 안에서 </a:t>
            </a:r>
            <a:r>
              <a:rPr sz="1050" b="0" i="1">
                <a:solidFill>
                  <a:srgbClr val="16213A"/>
                </a:solidFill>
                <a:latin typeface="Arial"/>
                <a:ea typeface="Malgun Gothic"/>
                <a:cs typeface="Malgun Gothic"/>
              </a:rPr>
              <a:t>(u, v) ∈ [0,1]²</a:t>
            </a:r>
            <a:r>
              <a:rPr sz="1050" b="0" i="0">
                <a:solidFill>
                  <a:srgbClr val="16213A"/>
                </a:solidFill>
                <a:latin typeface="Arial"/>
                <a:ea typeface="Malgun Gothic"/>
                <a:cs typeface="Malgun Gothic"/>
              </a:rPr>
              <a:t>로 쓰면</a:t>
            </a:r>
          </a:p>
        </p:txBody>
      </p:sp>
      <p:pic>
        <p:nvPicPr>
          <p:cNvPr id="6" name="Picture 5" descr="image.png"/>
          <p:cNvPicPr>
            <a:picLocks noChangeAspect="1"/>
          </p:cNvPicPr>
          <p:nvPr/>
        </p:nvPicPr>
        <p:blipFill>
          <a:blip r:embed="rId3"/>
          <a:stretch>
            <a:fillRect/>
          </a:stretch>
        </p:blipFill>
        <p:spPr>
          <a:xfrm>
            <a:off x="609600" y="1549995"/>
            <a:ext cx="4625975" cy="241300"/>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이고, 변 위에서는 선형이라 교차점이 정확히 나온다. 교차점이 넷이면 안장점이다. 안장점 값 </a:t>
            </a:r>
            <a:r>
              <a:rPr sz="1050" b="0" i="1">
                <a:solidFill>
                  <a:srgbClr val="16213A"/>
                </a:solidFill>
                <a:latin typeface="Arial"/>
                <a:ea typeface="Malgun Gothic"/>
                <a:cs typeface="Malgun Gothic"/>
              </a:rPr>
              <a:t>cₛ = (c₀₀c₁₁ - c₀₁c₁₀)/(c₀₀+c₁₁-c₀₁-c₁₀)</a:t>
            </a:r>
            <a:r>
              <a:rPr sz="1050" b="0" i="0">
                <a:solidFill>
                  <a:srgbClr val="16213A"/>
                </a:solidFill>
                <a:latin typeface="Arial"/>
                <a:ea typeface="Malgun Gothic"/>
                <a:cs typeface="Malgun Gothic"/>
              </a:rPr>
              <a:t>이 0.95 이상인지로 두 호를 짝짓는다(점근 판정). 각 호에는 현의 수직이등분선과 등위선이 만나는 점을 하나 더 찍는다. 직선 위의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는 이차식이라 세 점이면 정확하다. 그래서 호 하나가 꺾은선 두 토막이 된다.</a:t>
            </a:r>
          </a:p>
        </p:txBody>
      </p:sp>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거리를 퍼뜨린다.</a:t>
            </a:r>
            <a:r>
              <a:rPr sz="1050" b="0" i="0">
                <a:solidFill>
                  <a:srgbClr val="16213A"/>
                </a:solidFill>
                <a:latin typeface="Arial"/>
                <a:ea typeface="Malgun Gothic"/>
                <a:cs typeface="Malgun Gothic"/>
              </a:rPr>
              <a:t> 경계 조각의 꼭짓점마다 그 꺾은선까지의 정확한 거리를 적고(씨앗), 지도 가장자리의 자유 칸은 0으로 둔다(지도는 가장 바깥 칸 중심에서 끝난다). EDT 한 번으로 모든 칸에 가장 가까운 씨앗까지 거리 + 씨앗의 거리를 준다. 자유 칸에서는 이것이 상한이라 8방향 chamfer를 두 번 돌려 조인다. 치명 칸에는 음의 깊이를 준다(위반 정도를 매기는 데만 쓴다).</a:t>
            </a:r>
          </a:p>
        </p:txBody>
      </p:sp>
      <p:sp>
        <p:nvSpPr>
          <p:cNvPr id="9" name="TextBox 8"/>
          <p:cNvSpPr txBox="1"/>
          <p:nvPr/>
        </p:nvSpPr>
        <p:spPr>
          <a:xfrm>
            <a:off x="609600" y="28712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오라클.</a:t>
            </a:r>
            <a:r>
              <a:rPr sz="1050" b="0" i="0">
                <a:solidFill>
                  <a:srgbClr val="16213A"/>
                </a:solidFill>
                <a:latin typeface="Arial"/>
                <a:ea typeface="Malgun Gothic"/>
                <a:cs typeface="Malgun Gothic"/>
              </a:rPr>
              <a:t> 경계 조각 안의 격자선 </a:t>
            </a:r>
            <a:r>
              <a:rPr sz="1050" b="0" i="1">
                <a:solidFill>
                  <a:srgbClr val="16213A"/>
                </a:solidFill>
                <a:latin typeface="Arial"/>
                <a:ea typeface="Malgun Gothic"/>
                <a:cs typeface="Malgun Gothic"/>
              </a:rPr>
              <a:t>u = k/m</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 = k/m</a:t>
            </a:r>
            <a:r>
              <a:rPr sz="1050" b="0" i="0">
                <a:solidFill>
                  <a:srgbClr val="16213A"/>
                </a:solidFill>
                <a:latin typeface="Arial"/>
                <a:ea typeface="Malgun Gothic"/>
                <a:cs typeface="Malgun Gothic"/>
              </a:rPr>
              <a:t> 위에서 </a:t>
            </a:r>
            <a:r>
              <a:rPr sz="1050" b="0" i="1">
                <a:solidFill>
                  <a:srgbClr val="16213A"/>
                </a:solidFill>
                <a:latin typeface="Arial"/>
                <a:ea typeface="Malgun Gothic"/>
                <a:cs typeface="Malgun Gothic"/>
              </a:rPr>
              <a:t>B = 0.95</a:t>
            </a:r>
            <a:r>
              <a:rPr sz="1050" b="0" i="0">
                <a:solidFill>
                  <a:srgbClr val="16213A"/>
                </a:solidFill>
                <a:latin typeface="Arial"/>
                <a:ea typeface="Malgun Gothic"/>
                <a:cs typeface="Malgun Gothic"/>
              </a:rPr>
              <a:t>를 풀어 등위선 위의 점을 촘촘히 뽑는다(그리고 자유 칸이 맞닿은 지도 가장자리). 그 점들까지의 KD 거리 </a:t>
            </a:r>
            <a:r>
              <a:rPr sz="1050" b="0" i="1">
                <a:solidFill>
                  <a:srgbClr val="16213A"/>
                </a:solidFill>
                <a:latin typeface="Arial"/>
                <a:ea typeface="Malgun Gothic"/>
                <a:cs typeface="Malgun Gothic"/>
              </a:rPr>
              <a:t>d_G</a:t>
            </a:r>
            <a:r>
              <a:rPr sz="1050" b="0" i="0">
                <a:solidFill>
                  <a:srgbClr val="16213A"/>
                </a:solidFill>
                <a:latin typeface="Arial"/>
                <a:ea typeface="Malgun Gothic"/>
                <a:cs typeface="Malgun Gothic"/>
              </a:rPr>
              <a:t>는 참 거리 </a:t>
            </a:r>
            <a:r>
              <a:rPr sz="1050" b="0" i="1">
                <a:solidFill>
                  <a:srgbClr val="16213A"/>
                </a:solidFill>
                <a:latin typeface="Arial"/>
                <a:ea typeface="Malgun Gothic"/>
                <a:cs typeface="Malgun Gothic"/>
              </a:rPr>
              <a:t>d_F</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d_G - Δ/m ≤ d_F ≤ d_G</a:t>
            </a:r>
            <a:r>
              <a:rPr sz="1050" b="0" i="0">
                <a:solidFill>
                  <a:srgbClr val="16213A"/>
                </a:solidFill>
                <a:latin typeface="Arial"/>
                <a:ea typeface="Malgun Gothic"/>
                <a:cs typeface="Malgun Gothic"/>
              </a:rPr>
              <a:t> 관계라, </a:t>
            </a:r>
            <a:r>
              <a:rPr sz="1050" b="0" i="1">
                <a:solidFill>
                  <a:srgbClr val="16213A"/>
                </a:solidFill>
                <a:latin typeface="Arial"/>
                <a:ea typeface="Malgun Gothic"/>
                <a:cs typeface="Malgun Gothic"/>
              </a:rPr>
              <a:t>m = 64</a:t>
            </a:r>
            <a:r>
              <a:rPr sz="1050" b="0" i="0">
                <a:solidFill>
                  <a:srgbClr val="16213A"/>
                </a:solidFill>
                <a:latin typeface="Arial"/>
                <a:ea typeface="Malgun Gothic"/>
                <a:cs typeface="Malgun Gothic"/>
              </a:rPr>
              <a:t>에서 0.8 mm 안이다. 질의 전 준비(등위선 표본과 KD 트리)만 지도 한 장에 13–22 ms(거리장 생성의 3–6배)가 들어 제어 루프에는 못 쓰고, 평가와 테스트에만 쓴다 (</a:t>
            </a:r>
            <a:r>
              <a:rPr sz="1050" b="0" i="0">
                <a:solidFill>
                  <a:srgbClr val="16213A"/>
                </a:solidFill>
                <a:latin typeface="Consolas"/>
                <a:ea typeface="Malgun Gothic"/>
                <a:cs typeface="Malgun Gothic"/>
              </a:rPr>
              <a:t>scripts/eval_failure_boundary.py</a:t>
            </a:r>
            <a:r>
              <a:rPr sz="1050" b="0" i="0">
                <a:solidFill>
                  <a:srgbClr val="16213A"/>
                </a:solidFill>
                <a:latin typeface="Arial"/>
                <a:ea typeface="Malgun Gothic"/>
                <a:cs typeface="Malgun Gothic"/>
              </a:rPr>
              <a:t>). 오라클 자체는 16배 촘촘한 격자의 EDT와 따로 맞춰 봤다(</a:t>
            </a:r>
            <a:r>
              <a:rPr sz="1050" b="0" i="0">
                <a:solidFill>
                  <a:srgbClr val="16213A"/>
                </a:solidFill>
                <a:latin typeface="Consolas"/>
                <a:ea typeface="Malgun Gothic"/>
                <a:cs typeface="Malgun Gothic"/>
              </a:rPr>
              <a:t>tests/test_failure_sdf.py</a:t>
            </a:r>
            <a:r>
              <a:rPr sz="1050" b="0" i="0">
                <a:solidFill>
                  <a:srgbClr val="16213A"/>
                </a:solidFill>
                <a:latin typeface="Arial"/>
                <a:ea typeface="Malgun Gothic"/>
                <a:cs typeface="Malgun Gothic"/>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1/11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55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정확도.</a:t>
            </a:r>
            <a:r>
              <a:rPr sz="1050" b="0" i="0">
                <a:solidFill>
                  <a:srgbClr val="16213A"/>
                </a:solidFill>
                <a:latin typeface="Arial"/>
                <a:ea typeface="Malgun Gothic"/>
                <a:cs typeface="Malgun Gothic"/>
              </a:rPr>
              <a:t> 지도마다 무작위 점 12만 개와 오라클의 경계 점에서 두 필드를 쟀다. 통계는 등위선(</a:t>
            </a:r>
            <a:r>
              <a:rPr sz="1050" b="0" i="1">
                <a:solidFill>
                  <a:srgbClr val="16213A"/>
                </a:solidFill>
                <a:latin typeface="Arial"/>
                <a:ea typeface="Malgun Gothic"/>
                <a:cs typeface="Malgun Gothic"/>
              </a:rPr>
              <a:t>B = 0.95</a:t>
            </a:r>
            <a:r>
              <a:rPr sz="1050" b="0" i="0">
                <a:solidFill>
                  <a:srgbClr val="16213A"/>
                </a:solidFill>
                <a:latin typeface="Arial"/>
                <a:ea typeface="Malgun Gothic"/>
                <a:cs typeface="Malgun Gothic"/>
              </a:rPr>
              <a:t>)에만 낸다. 지도 테두리도 실패 경계지만, 두 필드 모두 구성상 테두리에서 정확해 섞으면 분위만 좋아 보인다. 테두리가 가장 가까운 점은 따로 쟀고, 두 필드 모두 절대 오차 99% 분위가 0.3 cm 안이다. 부호 있는 오차는 필드 − 참값이라, 양수가 위험한 쪽(실제보다 멀다고 읽음)이다. 안전하다고 읽은 수는 부호를 덮어쓰지 않은 필드로 센다. 덮어쓰면 exact는 정의상 0이라 기하를 재지 못한다.</a:t>
            </a:r>
          </a:p>
        </p:txBody>
      </p:sp>
      <p:graphicFrame>
        <p:nvGraphicFramePr>
          <p:cNvPr id="6" name="Table 5"/>
          <p:cNvGraphicFramePr>
            <a:graphicFrameLocks noGrp="1"/>
          </p:cNvGraphicFramePr>
          <p:nvPr/>
        </p:nvGraphicFramePr>
        <p:xfrm>
          <a:off x="609600" y="1982986"/>
          <a:ext cx="10966450" cy="1576704"/>
        </p:xfrm>
        <a:graphic>
          <a:graphicData uri="http://schemas.openxmlformats.org/drawingml/2006/table">
            <a:tbl>
              <a:tblPr firstRow="1" bandRow="1">
                <a:tableStyleId>{5C22544A-7EE6-4342-B048-85BDC9FD1C3A}</a:tableStyleId>
              </a:tblPr>
              <a:tblGrid>
                <a:gridCol w="5533827"/>
                <a:gridCol w="1845568"/>
                <a:gridCol w="1809055"/>
                <a:gridCol w="1778000"/>
              </a:tblGrid>
              <a:tr h="197088">
                <a:tc>
                  <a:txBody>
                    <a:bodyPr wrap="square"/>
                    <a:lstStyle/>
                    <a:p>
                      <a:r>
                        <a:rPr sz="800" b="1" i="0">
                          <a:solidFill>
                            <a:srgbClr val="F4F1EA"/>
                          </a:solidFill>
                          <a:latin typeface="Arial"/>
                          <a:ea typeface="Malgun Gothic"/>
                          <a:cs typeface="Malgun Gothic"/>
                        </a:rPr>
                        <a:t>지표 (지도 46장: GT 40 + 믿음 6)</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rim (TP-0076)</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exact (TP-0119)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수용 기준</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실패하는 점을 안전(≥ 0)으로 읽은 수, 덮어쓰기 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12,830 / 760,561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같은 수, 시뮬레이터 판정으로 부호를 덮어쓴 뒤 (실제 쓰는 방식)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(정의상)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경계 5 cm 안의 실패점 가운데 안전으로 읽은 비율, 지도 평균 (최대)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23.9% (54.1%)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0.36% (3.72%)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0선 오차의 99% 분위, 지도별 중앙값 / 최댓값</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4.33 / 4.97 cm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0.59 / 0.78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최댓값 ≤ 1.0 cm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경계 옆 0–2 cm에서 엄격한 쪽, 지도별 1% 분위의 최솟값 / 최소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−1.06 / −3.62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−1.03 / −1.48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−1.0 / −2.5 cm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경계 15 cm 안에서 낙관, 지도별 99% 분위의 최댓값 / 최대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4.97 / 5.93 cm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0.98 / 1.53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1.0 / 2.5 cm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거리장 생성 시간 (4 시나리오, 중앙값)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2.2–2.5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3.6–4.1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rim + 2.5 ms 이내</a:t>
                      </a:r>
                    </a:p>
                  </a:txBody>
                  <a:tcPr marL="63500" marR="63500" marT="12700" marB="12700">
                    <a:solidFill>
                      <a:srgbClr val="FFFDF8"/>
                    </a:solidFill>
                  </a:tcPr>
                </a:tc>
              </a:tr>
            </a:tbl>
          </a:graphicData>
        </a:graphic>
      </p:graphicFrame>
      <p:sp>
        <p:nvSpPr>
          <p:cNvPr id="7" name="TextBox 6"/>
          <p:cNvSpPr txBox="1"/>
          <p:nvPr/>
        </p:nvSpPr>
        <p:spPr>
          <a:xfrm>
            <a:off x="609600" y="404911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엄격한 쪽 기준(−1.0 cm)만 bumps_potholes 지도 4장에서 최대 0.03 cm 넘겼다. 이 오차는 실제보다 가깝다고 읽는 쪽이라 안전을 해치지 않는다. 믿음 지도 6장은 curb_ramp s5와 bumps_potholes s6의 plant 궤적을 30·60·99%까지 다시 관측해 만들었다. 0선 오차와 낙관의 분위는 GT 지도와 같은 범위다. 다만 실패점을 안전으로 읽는 일은 믿음 지도에서 더 잦다. exact의 245개 가운데 157개가 믿음 지도 6장에서 나왔고, 경계 5 cm 안 비율의 최대 3.72%도 curb_ramp s5 믿음 지도다(GT 지도는 최대 0.54%).</a:t>
            </a:r>
          </a:p>
        </p:txBody>
      </p:sp>
      <p:sp>
        <p:nvSpPr>
          <p:cNvPr id="8" name="TextBox 7"/>
          <p:cNvSpPr txBox="1"/>
          <p:nvPr/>
        </p:nvSpPr>
        <p:spPr>
          <a:xfrm>
            <a:off x="609600" y="478750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경계에서 멀어지면 exact도 느슨해진다.</a:t>
            </a:r>
            <a:r>
              <a:rPr sz="1050" b="0" i="0">
                <a:solidFill>
                  <a:srgbClr val="16213A"/>
                </a:solidFill>
                <a:latin typeface="Arial"/>
                <a:ea typeface="Malgun Gothic"/>
                <a:cs typeface="Malgun Gothic"/>
              </a:rPr>
              <a:t> 거리를 퍼뜨리는 EDT는 가장 가까운 씨앗 칸을 고를 뿐, 경계 위 최근접점이 가장 가까운 씨앗을 고르지 않는다. chamfer 두 번은 그 차이를 두 칸 안에서만 고친다. 그래서 실제보다 멀다고 읽는 양(지도별 99% 분위의 중앙값)이 경계 0–5 cm에서 0.40 cm, 5–15 cm에서 0.87 cm, 15–30 cm에서 1.41 cm, 0.6–1.5 m에서 2.01 cm로 커진다(지도별 최댓값 0.67, 1.05, 1.64, 3.29 cm). rim은 모든 거리에서 3.4–4.2 cm다. 확률 제약이 읽는 것은 튜브 폭 안쪽이다. plant 실행의 튜브는 스텝 1에서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0,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0.35–0.57 cm이고, 지평 끝에서 중앙값 약 9 cm(90% 분위 13–14 cm, curb_ramp s5)다. 그래서 판정 대부분이 15 cm 안 구간에서 나고, 지평 끝의 넓은 튜브만 15–30 cm 구간(99% 분위 최대 1.6 cm 낙관)을 읽는다. 최근접점을 함께 퍼뜨리는 방식(벡터 전파)도 한 번 시험했다(지도 8장, 일회성 실험이라 원자료는 남기지 않았다). 먼 구간 오차는 절반 남짓 줄었지만 생성 시간이 세 배 넘게 늘어 넣지 않았다.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2/11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56 / 112</a:t>
            </a:r>
          </a:p>
        </p:txBody>
      </p:sp>
      <p:pic>
        <p:nvPicPr>
          <p:cNvPr id="5" name="Picture 4" descr="image.jpg"/>
          <p:cNvPicPr>
            <a:picLocks noChangeAspect="1"/>
          </p:cNvPicPr>
          <p:nvPr/>
        </p:nvPicPr>
        <p:blipFill>
          <a:blip r:embed="rId3"/>
          <a:stretch>
            <a:fillRect/>
          </a:stretch>
        </p:blipFill>
        <p:spPr>
          <a:xfrm>
            <a:off x="1016000" y="1244600"/>
            <a:ext cx="10160000" cy="2927350"/>
          </a:xfrm>
          <a:prstGeom prst="rect">
            <a:avLst/>
          </a:prstGeom>
        </p:spPr>
      </p:pic>
      <p:sp>
        <p:nvSpPr>
          <p:cNvPr id="6" name="TextBox 5"/>
          <p:cNvSpPr txBox="1"/>
          <p:nvPr/>
        </p:nvSpPr>
        <p:spPr>
          <a:xfrm>
            <a:off x="1016000" y="42100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 지도마다 한 점, 0선이 참 등위선에서 떨어진 거리의 99% 분위. 점선이 수용 기준 1 cm다. (b) 참 경계까지 거리 구간별로, 필드가 실제보다 멀다고 읽은 양의 99% 분위. 점은 46장의 중앙값, 선은 최소–최대다. rim(주황)은 모든 구간에서 4 cm 안팎이고, exact(파랑)는 가까울수록 작다. (c) 거리장 생성 시간(4 시나리오 중앙값). 주황이 rim, 파랑이 exact이고, r 뒤 숫자는 chamfer 횟수다(기본 r2 = 본문의 두 번). 원자료 results/tp0119/boundary.tsv, timing.tsv.</a:t>
            </a:r>
          </a:p>
        </p:txBody>
      </p:sp>
      <p:sp>
        <p:nvSpPr>
          <p:cNvPr id="7" name="TextBox 6"/>
          <p:cNvSpPr txBox="1"/>
          <p:nvPr/>
        </p:nvSpPr>
        <p:spPr>
          <a:xfrm>
            <a:off x="609600" y="458331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기록된 실패를 다시 쟀다.</a:t>
            </a:r>
            <a:r>
              <a:rPr sz="1050" b="0" i="0">
                <a:solidFill>
                  <a:srgbClr val="16213A"/>
                </a:solidFill>
                <a:latin typeface="Arial"/>
                <a:ea typeface="Malgun Gothic"/>
                <a:cs typeface="Malgun Gothic"/>
              </a:rPr>
              <a:t> M.3.13의 표에 쓴 plant 실행(seed 0–11)에서 MPPI 계열이 치명 칸에 닿은 15건을 오라클로 되짚었다. 그중 한 쌍(curb_ramp s0의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)은 같은 궤적이라 14건으로 센다. 실패 지점에서 rim 필드는 14건 가운데 10건을 "아직 안전(0 이상)"이라고 읽고 있었다. exact는 덮어쓰기 때문에 정의상 0건이다. 덮어쓰기가 닿지 않는 실패 직전 7스텝(0.7 s)에서 참값과의 평균 절대 차이는 rim 1.90 cm, exact 0.06 cm다. 실제보다 가장 멀리 읽은 양은 rim 4.84 cm, exact 0.62 cm다. 가장 극단적인 curb_ramp s7에서 rim은 실패 지점을 +3.77 cm로 읽었고, 참값은 −0.33 cm였다.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3/11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57 / 112</a:t>
            </a:r>
          </a:p>
        </p:txBody>
      </p:sp>
      <p:pic>
        <p:nvPicPr>
          <p:cNvPr id="5" name="Picture 4" descr="image.jpg"/>
          <p:cNvPicPr>
            <a:picLocks noChangeAspect="1"/>
          </p:cNvPicPr>
          <p:nvPr/>
        </p:nvPicPr>
        <p:blipFill>
          <a:blip r:embed="rId3"/>
          <a:stretch>
            <a:fillRect/>
          </a:stretch>
        </p:blipFill>
        <p:spPr>
          <a:xfrm>
            <a:off x="1933575" y="1244600"/>
            <a:ext cx="8324850" cy="4445000"/>
          </a:xfrm>
          <a:prstGeom prst="rect">
            <a:avLst/>
          </a:prstGeom>
        </p:spPr>
      </p:pic>
      <p:sp>
        <p:nvSpPr>
          <p:cNvPr id="6" name="TextBox 5"/>
          <p:cNvSpPr txBox="1"/>
          <p:nvPr/>
        </p:nvSpPr>
        <p:spPr>
          <a:xfrm>
            <a:off x="1933575" y="5727700"/>
            <a:ext cx="8324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기록된 plant 치명 실패 14건의 마지막 0.8 s. 회색이 참값(오라클), 주황 점선이 rim, 파랑이 exact다. 파랑은 회색과 거의 겹치고, 주황은 여러 장면에서 실패 순간까지 양수다. 원자료 results/tp0119/failure_traces.tsv.</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4/11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58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폐루프 짝 비교.</a:t>
            </a:r>
            <a:r>
              <a:rPr sz="1050" b="0" i="0">
                <a:solidFill>
                  <a:srgbClr val="16213A"/>
                </a:solidFill>
                <a:latin typeface="Arial"/>
                <a:ea typeface="Malgun Gothic"/>
                <a:cs typeface="Malgun Gothic"/>
              </a:rPr>
              <a:t> rim 쪽은 TP-0076 기록을 그대로 쓰되, 기록된 실패 두 건(</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curb_ramp s5 30.8 s,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curb_ramp s1 31.7 s)이 같은 시각에 재현되는 것을 먼저 확인했다. 기록이 없던 칸(</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의 정적·보행자 rim 쪽)과 seed 12–23은 새로 돌렸다.</a:t>
            </a:r>
          </a:p>
        </p:txBody>
      </p:sp>
      <p:graphicFrame>
        <p:nvGraphicFramePr>
          <p:cNvPr id="6" name="Table 5"/>
          <p:cNvGraphicFramePr>
            <a:graphicFrameLocks noGrp="1"/>
          </p:cNvGraphicFramePr>
          <p:nvPr/>
        </p:nvGraphicFramePr>
        <p:xfrm>
          <a:off x="609600" y="1766491"/>
          <a:ext cx="10966451" cy="1182528"/>
        </p:xfrm>
        <a:graphic>
          <a:graphicData uri="http://schemas.openxmlformats.org/drawingml/2006/table">
            <a:tbl>
              <a:tblPr firstRow="1" bandRow="1">
                <a:tableStyleId>{5C22544A-7EE6-4342-B048-85BDC9FD1C3A}</a:tableStyleId>
              </a:tblPr>
              <a:tblGrid>
                <a:gridCol w="2057202"/>
                <a:gridCol w="708124"/>
                <a:gridCol w="1524695"/>
                <a:gridCol w="1999853"/>
                <a:gridCol w="1747937"/>
                <a:gridCol w="1856780"/>
                <a:gridCol w="1071860"/>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3명 (seed 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(seed 0–11)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(seed 12–23)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합계</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88/96</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guidance+mppi_cc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46/48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87/96</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guidance+mppi_cc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45/48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89/96</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guidance+mppi_ccgp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42/48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43/48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85/96</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guidance+mppi_ccgp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89/96</a:t>
                      </a:r>
                    </a:p>
                  </a:txBody>
                  <a:tcPr marL="63500" marR="63500" marT="12700" marB="12700">
                    <a:solidFill>
                      <a:srgbClr val="FFFDF8"/>
                    </a:solidFill>
                  </a:tcPr>
                </a:tc>
              </a:tr>
            </a:tbl>
          </a:graphicData>
        </a:graphic>
      </p:graphicFrame>
      <p:sp>
        <p:nvSpPr>
          <p:cNvPr id="7" name="TextBox 6"/>
          <p:cNvSpPr txBox="1"/>
          <p:nvPr/>
        </p:nvSpPr>
        <p:spPr>
          <a:xfrm>
            <a:off x="609600" y="333990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정적 조건의 실패 하나는 두 쪽 모두 bumps_potholes s6의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이다. Guidance가 좁은 틈으로 경로를 낸 장면으로, 0선과는 무관하다(TP-0118). plant의 exact 쪽 실패는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7건이 모두 치명이고,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7건은 치명 5건과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 2건(bumps_potholes s6, s11)이다. 보행자 최소 여유는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exact 쪽이 0.30 m로 rim 쪽(0.18 m)보다 넓었다. CLAUDE.md 기준표(보행자 3명, seed 0–2)는 네 스택 모두 12/12, 충돌 0, 최대 pitch 7.8°, GT cost 평균 0.016 이하로 통과다.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5/11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59 / 112</a:t>
            </a:r>
          </a:p>
        </p:txBody>
      </p:sp>
      <p:pic>
        <p:nvPicPr>
          <p:cNvPr id="5" name="Picture 4" descr="image.jpg"/>
          <p:cNvPicPr>
            <a:picLocks noChangeAspect="1"/>
          </p:cNvPicPr>
          <p:nvPr/>
        </p:nvPicPr>
        <p:blipFill>
          <a:blip r:embed="rId3"/>
          <a:stretch>
            <a:fillRect/>
          </a:stretch>
        </p:blipFill>
        <p:spPr>
          <a:xfrm>
            <a:off x="1016000" y="1244600"/>
            <a:ext cx="10160000" cy="3060700"/>
          </a:xfrm>
          <a:prstGeom prst="rect">
            <a:avLst/>
          </a:prstGeom>
        </p:spPr>
      </p:pic>
      <p:sp>
        <p:nvSpPr>
          <p:cNvPr id="6" name="TextBox 5"/>
          <p:cNvSpPr txBox="1"/>
          <p:nvPr/>
        </p:nvSpPr>
        <p:spPr>
          <a:xfrm>
            <a:off x="1016000" y="43434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세 조건에서 rim(주황)과 exact(파랑)의 성공 비율. 회색이 기준 MPPI다. 정적·보행자는 같고, plant(seed 0–23)에서 exact가 두 스택 모두 89/96이다. 차이는 유의하지 않다. 원자료 results/p2-controller-followups.tsv(python -m scripts.collect_followups로 모은다).</a:t>
            </a:r>
          </a:p>
        </p:txBody>
      </p:sp>
      <p:sp>
        <p:nvSpPr>
          <p:cNvPr id="7" name="TextBox 6"/>
          <p:cNvSpPr txBox="1"/>
          <p:nvPr/>
        </p:nvSpPr>
        <p:spPr>
          <a:xfrm>
            <a:off x="609600" y="47166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남은 실패의 원인.</a:t>
            </a:r>
            <a:r>
              <a:rPr sz="1050" b="0" i="0">
                <a:solidFill>
                  <a:srgbClr val="16213A"/>
                </a:solidFill>
                <a:latin typeface="Arial"/>
                <a:ea typeface="Malgun Gothic"/>
                <a:cs typeface="Malgun Gothic"/>
              </a:rPr>
              <a:t> exact 쪽 치명 실패 12건과,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에서 exact가 고친 rim 쪽 치명 실패 5건을 다시 돌려 스텝마다 기록했다 (</a:t>
            </a:r>
            <a:r>
              <a:rPr sz="1050" b="0" i="0">
                <a:solidFill>
                  <a:srgbClr val="16213A"/>
                </a:solidFill>
                <a:latin typeface="Consolas"/>
                <a:ea typeface="Malgun Gothic"/>
                <a:cs typeface="Malgun Gothic"/>
              </a:rPr>
              <a:t>scripts/eval_failure_boundary.py attribute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에서 exact가 고친 8건은 돌리지 않았다. 판정은 위에서부터 차례로 보고, 처음 맞는 것을 붙인다. 인식과 기하는 마지막 0.8 s 가운데 로봇이 참 경계 5 cm 안에 있던 스텝만 본다. 그보다 멀면 믿음 지도의 몇 cm 차이는 흔하고 해가 없다.</a:t>
            </a:r>
          </a:p>
        </p:txBody>
      </p:sp>
      <p:graphicFrame>
        <p:nvGraphicFramePr>
          <p:cNvPr id="8" name="Table 7"/>
          <p:cNvGraphicFramePr>
            <a:graphicFrameLocks noGrp="1"/>
          </p:cNvGraphicFramePr>
          <p:nvPr/>
        </p:nvGraphicFramePr>
        <p:xfrm>
          <a:off x="609600" y="5455047"/>
          <a:ext cx="10966946" cy="591264"/>
        </p:xfrm>
        <a:graphic>
          <a:graphicData uri="http://schemas.openxmlformats.org/drawingml/2006/table">
            <a:tbl>
              <a:tblPr firstRow="1" bandRow="1">
                <a:tableStyleId>{5C22544A-7EE6-4342-B048-85BDC9FD1C3A}</a:tableStyleId>
              </a:tblPr>
              <a:tblGrid>
                <a:gridCol w="1198860"/>
                <a:gridCol w="6428085"/>
                <a:gridCol w="1849041"/>
                <a:gridCol w="1490960"/>
              </a:tblGrid>
              <a:tr h="197088">
                <a:tc>
                  <a:txBody>
                    <a:bodyPr wrap="square"/>
                    <a:lstStyle/>
                    <a:p>
                      <a:r>
                        <a:rPr sz="800" b="1" i="0">
                          <a:solidFill>
                            <a:srgbClr val="F4F1EA"/>
                          </a:solidFill>
                          <a:latin typeface="Arial"/>
                          <a:ea typeface="Malgun Gothic"/>
                          <a:cs typeface="Malgun Gothic"/>
                        </a:rPr>
                        <a:t>판정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exact 쪽 (12건)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rim 쪽 (5건)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믿음 지도의 경계가 GT와 1 cm 넘게 다르다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 쪽 필드가 로봇 위치를 실제보다 1 cm 넘게 멀다고 읽었다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6/11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60 / 112</a:t>
            </a:r>
          </a:p>
        </p:txBody>
      </p:sp>
      <p:graphicFrame>
        <p:nvGraphicFramePr>
          <p:cNvPr id="5" name="Table 4"/>
          <p:cNvGraphicFramePr>
            <a:graphicFrameLocks noGrp="1"/>
          </p:cNvGraphicFramePr>
          <p:nvPr/>
        </p:nvGraphicFramePr>
        <p:xfrm>
          <a:off x="609600" y="1244600"/>
          <a:ext cx="10966946" cy="788352"/>
        </p:xfrm>
        <a:graphic>
          <a:graphicData uri="http://schemas.openxmlformats.org/drawingml/2006/table">
            <a:tbl>
              <a:tblPr firstRow="1" bandRow="1">
                <a:tableStyleId>{5C22544A-7EE6-4342-B048-85BDC9FD1C3A}</a:tableStyleId>
              </a:tblPr>
              <a:tblGrid>
                <a:gridCol w="1198860"/>
                <a:gridCol w="6428085"/>
                <a:gridCol w="1849041"/>
                <a:gridCol w="1490960"/>
              </a:tblGrid>
              <a:tr h="197088">
                <a:tc>
                  <a:txBody>
                    <a:bodyPr wrap="square"/>
                    <a:lstStyle/>
                    <a:p>
                      <a:r>
                        <a:rPr sz="800" b="1" i="0">
                          <a:solidFill>
                            <a:srgbClr val="F4F1EA"/>
                          </a:solidFill>
                          <a:latin typeface="Arial"/>
                          <a:ea typeface="Malgun Gothic"/>
                          <a:cs typeface="Malgun Gothic"/>
                        </a:rPr>
                        <a:t>판정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exact 쪽 (12건)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rim 쪽 (5건)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불가능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마지막 3스텝 가운데 제약을 지키는 샘플이 하나도 없던 스텝이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계획 위험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마지막 스텝에서 계획의 다음 점이 GT로 이미 실패다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계획의 다음 점은 GT로 안전했는데, 실제로 간 점이 실패했다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r>
            </a:tbl>
          </a:graphicData>
        </a:graphic>
      </p:graphicFrame>
      <p:sp>
        <p:nvSpPr>
          <p:cNvPr id="6" name="TextBox 5"/>
          <p:cNvSpPr txBox="1"/>
          <p:nvPr/>
        </p:nvSpPr>
        <p:spPr>
          <a:xfrm>
            <a:off x="609600" y="2325291"/>
            <a:ext cx="10972800" cy="1298972"/>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exact 쪽에서 필드가 실제보다 멀다고 읽은 양은 최대 0.20 cm였다. rim 쪽 다섯 건 가운데 넷은 0.8–4.1 cm였다(1 cm를 넘은 것은 둘).</a:t>
            </a:r>
            <a:r>
              <a:rPr sz="1050" b="0" i="0">
                <a:solidFill>
                  <a:srgbClr val="16213A"/>
                </a:solidFill>
                <a:latin typeface="Arial"/>
                <a:ea typeface="Malgun Gothic"/>
                <a:cs typeface="Malgun Gothic"/>
              </a:rPr>
              <a:t> 남은 실패의 원인은 이제 기하가 아니다. "지연" 6건은 모두 마지막 스텝에서 계획의 다음 점이 참값으로 0.23–0.69 cm 안전했다. 실제로 간 점은 그보다 0.36–1.01 cm 경계 쪽에 떨어져 실패했다. 그 앞 7스텝에서도 실제 위치는 대부분(42점 가운데 37점) 계획한 위치보다 조금 경계 쪽이다(아래 그림). 이 6건에서 마지막 0.8 s의 1스텝 예측 오차는 최대 1.0–1.6 cm, 중앙값 0.8–1.0 cm인데 스텝 1 튜브는 0–0.5 cm다. 지연이 만드는 계통 편향은 분산(튜브)으로 덮을 수 없다. GP의 </a:t>
            </a:r>
            <a:r>
              <a:rPr sz="1050" b="1" i="0">
                <a:solidFill>
                  <a:srgbClr val="16213A"/>
                </a:solidFill>
                <a:latin typeface="Arial"/>
                <a:ea typeface="Malgun Gothic"/>
                <a:cs typeface="Malgun Gothic"/>
              </a:rPr>
              <a:t>평균</a:t>
            </a:r>
            <a:r>
              <a:rPr sz="1050" b="0" i="0">
                <a:solidFill>
                  <a:srgbClr val="16213A"/>
                </a:solidFill>
                <a:latin typeface="Arial"/>
                <a:ea typeface="Malgun Gothic"/>
                <a:cs typeface="Malgun Gothic"/>
              </a:rPr>
              <a:t>을 rollout에 넣어야 갚을 수 있고, 그것이 TP-0120이다. 가장 큰 분류는 "불가능"(6건)이라, 지연 편향이 남은 실패의 주원인이라는 것은 아직 추정이다. 근거는 있다. "불가능" 7건 가운데 6건에서도 벽 15 cm 안의 스텝마다 실행이 계획보다 평균적으로 벽 쪽으로 밀렸다. 편향을 모른 채 벽 쪽으로 붙은 뒤에는 어떤 샘플도 제약을 지킬 수 없다. 이 추정은 TP-0120에서 확인한다.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7/11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61 / 112</a:t>
            </a:r>
          </a:p>
        </p:txBody>
      </p:sp>
      <p:pic>
        <p:nvPicPr>
          <p:cNvPr id="5" name="Picture 4" descr="image.jpg"/>
          <p:cNvPicPr>
            <a:picLocks noChangeAspect="1"/>
          </p:cNvPicPr>
          <p:nvPr/>
        </p:nvPicPr>
        <p:blipFill>
          <a:blip r:embed="rId3"/>
          <a:stretch>
            <a:fillRect/>
          </a:stretch>
        </p:blipFill>
        <p:spPr>
          <a:xfrm>
            <a:off x="1016000" y="1244600"/>
            <a:ext cx="10160000" cy="2273300"/>
          </a:xfrm>
          <a:prstGeom prst="rect">
            <a:avLst/>
          </a:prstGeom>
        </p:spPr>
      </p:pic>
      <p:sp>
        <p:nvSpPr>
          <p:cNvPr id="6" name="TextBox 5"/>
          <p:cNvSpPr txBox="1"/>
          <p:nvPr/>
        </p:nvSpPr>
        <p:spPr>
          <a:xfrm>
            <a:off x="1016000" y="35560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"지연"으로 판정된 6건의 마지막 0.8 s(가로축 0이 실패 지점 ×). 회색은 실제로 간 위치의 참 여유, 파랑은 계획이 예측한 그 시각 위치의 참 여유, 점선은 스텝 1 튜브다. 파랑은 48점 가운데 43점에서 회색 위에 있고, 실패 직전 스텝에서는 6건 모두 위다. 실행이 계획보다 경계 쪽으로 밀리는 계통 편향이다. 원자료 results/tp0119/attribution.tsv, attribution_steps.tsv.</a:t>
            </a:r>
          </a:p>
        </p:txBody>
      </p:sp>
      <p:sp>
        <p:nvSpPr>
          <p:cNvPr id="7" name="TextBox 6"/>
          <p:cNvSpPr txBox="1"/>
          <p:nvPr/>
        </p:nvSpPr>
        <p:spPr>
          <a:xfrm>
            <a:off x="609600" y="3929261"/>
            <a:ext cx="10972800" cy="20718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s5, </a:t>
            </a:r>
            <a:r>
              <a:rPr sz="1050" b="0" i="1">
                <a:solidFill>
                  <a:srgbClr val="16213A"/>
                </a:solidFill>
                <a:latin typeface="Consolas"/>
                <a:ea typeface="Malgun Gothic"/>
                <a:cs typeface="Malgun Gothic"/>
              </a:rPr>
              <a:t>guidance+mppi_ccgp</a:t>
            </a:r>
            <a:r>
              <a:rPr sz="1050" b="0" i="1">
                <a:solidFill>
                  <a:srgbClr val="16213A"/>
                </a:solidFill>
                <a:latin typeface="Arial"/>
                <a:ea typeface="Malgun Gothic"/>
                <a:cs typeface="Malgun Gothic"/>
              </a:rPr>
              <a:t>. 왼쪽이 rim, 오른쪽이 exact다. 회색은 MPPI 샘플, 노란 선은 실행할 계획이며 제목에 계획의 첫 1 s 최소 여유와 튜브 폭이 나온다. rim은 램프 벽을 0선 안쪽으로 믿고 붙다가 30.8 s에 실패하고, exact는 벽 앞에서 물러났다가 43.9 s에 도달한다.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8/11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62 / 112</a:t>
            </a:r>
          </a:p>
        </p:txBody>
      </p:sp>
      <p:sp>
        <p:nvSpPr>
          <p:cNvPr id="5" name="TextBox 4"/>
          <p:cNvSpPr txBox="1"/>
          <p:nvPr/>
        </p:nvSpPr>
        <p:spPr>
          <a:xfrm>
            <a:off x="609600" y="1244600"/>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같은 비교, curb_ramp s7. rim이 실패 지점을 +3.8 cm로 읽던 장면이다. rim은 32.3 s에 실패하고 exact는 47.0 s에 도달한다.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9/11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63 / 112</a:t>
            </a:r>
          </a:p>
        </p:txBody>
      </p:sp>
      <p:pic>
        <p:nvPicPr>
          <p:cNvPr id="5" name="Picture 4" descr="image.jpg"/>
          <p:cNvPicPr>
            <a:picLocks noChangeAspect="1"/>
          </p:cNvPicPr>
          <p:nvPr/>
        </p:nvPicPr>
        <p:blipFill>
          <a:blip r:embed="rId3"/>
          <a:stretch>
            <a:fillRect/>
          </a:stretch>
        </p:blipFill>
        <p:spPr>
          <a:xfrm>
            <a:off x="1066800" y="1244600"/>
            <a:ext cx="10058400" cy="4445000"/>
          </a:xfrm>
          <a:prstGeom prst="rect">
            <a:avLst/>
          </a:prstGeom>
        </p:spPr>
      </p:pic>
      <p:sp>
        <p:nvSpPr>
          <p:cNvPr id="6" name="TextBox 5"/>
          <p:cNvSpPr txBox="1"/>
          <p:nvPr/>
        </p:nvSpPr>
        <p:spPr>
          <a:xfrm>
            <a:off x="1066800" y="5727700"/>
            <a:ext cx="10058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두 장면의 마지막 12 s. 회색은 실행한 위치의 참 여유, 색 선은 그 쪽 필드가 계획의 첫 1 s에서 믿은 최소 여유, 점선은 스텝 1의 튜브다. 실패 직전 0.8 s 동안 참 여유가 0 아래로 떨어지는 사이에도 rim은 계획 여유를 양수로 믿었다(s7에서 +1.9 – +7.3 cm). s7 rim의 31.0–31.4 s에 계획 여유가 음수로 떨어진 것은 그때 모든 샘플이 rim 0선을 어겼기 때문이다.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10/11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64 / 112</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메커니즘.</a:t>
            </a:r>
            <a:r>
              <a:rPr sz="1050" b="0" i="0">
                <a:solidFill>
                  <a:srgbClr val="16213A"/>
                </a:solidFill>
                <a:latin typeface="Arial"/>
                <a:ea typeface="Malgun Gothic"/>
                <a:cs typeface="Malgun Gothic"/>
              </a:rPr>
              <a:t> 성공 수 대신, 실행한 위치가 참 경계에 얼마나 바짝 붙었는지를 모든 plant 스텝(실패 스텝 제외)에서 셌다.</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1507133"/>
                <a:gridCol w="900609"/>
                <a:gridCol w="4364137"/>
                <a:gridCol w="2451298"/>
                <a:gridCol w="1743273"/>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에피소드별 최소 참 여유, 중앙값 / 하위 10%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참 여유 1 cm 미만 스텝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2 cm 미만 스텝</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mppi_ccgp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14.25 / 1.22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mppi_ccgp</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exact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15.63 / 2.01 cm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24</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mppi_cc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13.79 / 1.46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exact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13.09 / 0.87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77</a:t>
                      </a:r>
                    </a:p>
                  </a:txBody>
                  <a:tcPr marL="63500" marR="63500" marT="12700" marB="12700">
                    <a:solidFill>
                      <a:srgbClr val="F3F0E8"/>
                    </a:solidFill>
                  </a:tcPr>
                </a:tc>
              </a:tr>
            </a:tbl>
          </a:graphicData>
        </a:graphic>
      </p:graphicFrame>
      <p:sp>
        <p:nvSpPr>
          <p:cNvPr id="7" name="TextBox 6"/>
          <p:cNvSpPr txBox="1"/>
          <p:nvPr/>
        </p:nvSpPr>
        <p:spPr>
          <a:xfrm>
            <a:off x="609600" y="287704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튜브가 있는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에서는 exact가 바짝 붙는 스텝을 65% 줄였다. 튜브가 없는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에서는 반대로 늘었다. 여유가 0이고 튜브도 없으면, 정확한 0선은 로봇이 </a:t>
            </a:r>
            <a:r>
              <a:rPr sz="1050" b="1" i="0">
                <a:solidFill>
                  <a:srgbClr val="16213A"/>
                </a:solidFill>
                <a:latin typeface="Arial"/>
                <a:ea typeface="Malgun Gothic"/>
                <a:cs typeface="Malgun Gothic"/>
              </a:rPr>
              <a:t>진짜 경계에 바로 붙는 것</a:t>
            </a:r>
            <a:r>
              <a:rPr sz="1050" b="0" i="0">
                <a:solidFill>
                  <a:srgbClr val="16213A"/>
                </a:solidFill>
                <a:latin typeface="Arial"/>
                <a:ea typeface="Malgun Gothic"/>
                <a:cs typeface="Malgun Gothic"/>
              </a:rPr>
              <a:t>을 허용하기 때문이다. rim은 일부 기하(오목한 모서리)에서 실제보다 엄격해, 의도하지 않은 여유를 주고 있었다. 정확한 0선 위에서는 추종 오차 몫을 튜브가 맡아야 한다. 튜브가 없다면 작은 고정 여유가 맡아야 한다.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의 기본값도 exact로 바꿨지만, 이 스택의 성공 수 변화(87 → 89)는 잡음 범위이고 바짝 붙는 스텝은 늘었다는 점을 함께 적어 둔다.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M.3.14 확률 제약의 0선을 실패 경계에 맞췄다 (TP-0119)</a:t>
            </a:r>
            <a:r>
              <a:rPr sz="1050" b="0" i="0">
                <a:solidFill>
                  <a:srgbClr val="5A6478"/>
                </a:solidFill>
                <a:latin typeface="Arial"/>
                <a:ea typeface="Malgun Gothic"/>
                <a:cs typeface="Malgun Gothic"/>
              </a:rPr>
              <a:t>  11/11</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65 / 112</a:t>
            </a:r>
          </a:p>
        </p:txBody>
      </p:sp>
      <p:pic>
        <p:nvPicPr>
          <p:cNvPr id="5" name="Picture 4" descr="image.jpg"/>
          <p:cNvPicPr>
            <a:picLocks noChangeAspect="1"/>
          </p:cNvPicPr>
          <p:nvPr/>
        </p:nvPicPr>
        <p:blipFill>
          <a:blip r:embed="rId3"/>
          <a:stretch>
            <a:fillRect/>
          </a:stretch>
        </p:blipFill>
        <p:spPr>
          <a:xfrm>
            <a:off x="1016000" y="1244600"/>
            <a:ext cx="10160000" cy="2527300"/>
          </a:xfrm>
          <a:prstGeom prst="rect">
            <a:avLst/>
          </a:prstGeom>
        </p:spPr>
      </p:pic>
      <p:sp>
        <p:nvSpPr>
          <p:cNvPr id="6" name="TextBox 5"/>
          <p:cNvSpPr txBox="1"/>
          <p:nvPr/>
        </p:nvSpPr>
        <p:spPr>
          <a:xfrm>
            <a:off x="1016000" y="38100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실행한 위치의 참 여유 누적 분포(0–10 cm, plant seed 0–23). 왼쪽 mppi_ccgp에서는 exact(파랑)가 rim(주황 점선)보다 아래라 바짝 붙는 스텝이 적고, 오른쪽 mppi_cc에서는 반대다.</a:t>
            </a:r>
          </a:p>
        </p:txBody>
      </p:sp>
      <p:sp>
        <p:nvSpPr>
          <p:cNvPr id="7" name="TextBox 6"/>
          <p:cNvSpPr txBox="1"/>
          <p:nvPr/>
        </p:nvSpPr>
        <p:spPr>
          <a:xfrm>
            <a:off x="609600" y="40410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a:t>
            </a:r>
            <a:r>
              <a:rPr sz="1050" b="0" i="0">
                <a:solidFill>
                  <a:srgbClr val="16213A"/>
                </a:solidFill>
                <a:latin typeface="Arial"/>
                <a:ea typeface="Malgun Gothic"/>
                <a:cs typeface="Malgun Gothic"/>
              </a:rPr>
              <a:t> 같은 요청을 두 쪽에 차례로 넣어 짝지어 쟀다(plant bumps_potholes s0, 145 스텝, 부하 평균 3, 순서는 스텝마다 바꿈). 중앙값으로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는 17.3 ms에서 19.3 ms,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는 34.6 ms에서 36.7 ms다. 둘 다 2 ms 남짓 늘었고, 거리장 생성 차이(1.3–1.6 ms)가 대부분이다. 둘 다 제어 주기 100 ms 안이다. 컨트롤러가 내는 </a:t>
            </a:r>
            <a:r>
              <a:rPr sz="1050" b="0" i="0">
                <a:solidFill>
                  <a:srgbClr val="16213A"/>
                </a:solidFill>
                <a:latin typeface="Consolas"/>
                <a:ea typeface="Malgun Gothic"/>
                <a:cs typeface="Malgun Gothic"/>
              </a:rPr>
              <a:t>control_ms</a:t>
            </a:r>
            <a:r>
              <a:rPr sz="1050" b="0" i="0">
                <a:solidFill>
                  <a:srgbClr val="16213A"/>
                </a:solidFill>
                <a:latin typeface="Arial"/>
                <a:ea typeface="Malgun Gothic"/>
                <a:cs typeface="Malgun Gothic"/>
              </a:rPr>
              <a:t>는 이제 거리장 생성을 포함한 전체 호출 시간이다(전에는 MPPI 최적화만 셌다). 원자료는 </a:t>
            </a:r>
            <a:r>
              <a:rPr sz="1050" b="0" i="0">
                <a:solidFill>
                  <a:srgbClr val="16213A"/>
                </a:solidFill>
                <a:latin typeface="Consolas"/>
                <a:ea typeface="Malgun Gothic"/>
                <a:cs typeface="Malgun Gothic"/>
              </a:rPr>
              <a:t>results/tp0119/control_timing.tsv</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eval_failure_boundary.py control-timing</a:t>
            </a:r>
            <a:r>
              <a:rPr sz="1050" b="0" i="0">
                <a:solidFill>
                  <a:srgbClr val="16213A"/>
                </a:solidFill>
                <a:latin typeface="Arial"/>
                <a:ea typeface="Malgun Gothic"/>
                <a:cs typeface="Malgun Gothic"/>
              </a:rPr>
              <a:t>)다.</a:t>
            </a:r>
          </a:p>
        </p:txBody>
      </p:sp>
      <p:sp>
        <p:nvSpPr>
          <p:cNvPr id="8" name="TextBox 7"/>
          <p:cNvSpPr txBox="1"/>
          <p:nvPr/>
        </p:nvSpPr>
        <p:spPr>
          <a:xfrm>
            <a:off x="609600" y="477946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MPC 쪽은 TP-0117에서 다룬다.</a:t>
            </a:r>
            <a:r>
              <a:rPr sz="1050" b="0" i="0">
                <a:solidFill>
                  <a:srgbClr val="16213A"/>
                </a:solidFill>
                <a:latin typeface="Arial"/>
                <a:ea typeface="Malgun Gothic"/>
                <a:cs typeface="Malgun Gothic"/>
              </a:rPr>
              <a:t> 같은 거리장을 MPC 반평면의 오프셋에 쓸 수 있다. 하지만 MPC는 고정 여유 0.15 m를 쓰고, 지형 비용을 더하는 TP-0117이 바로 그 여유를 다시 정한다. 그래서 두 변경을 함께 재는 편이 맞다. 헬퍼(</a:t>
            </a:r>
            <a:r>
              <a:rPr sz="1050" b="0" i="0">
                <a:solidFill>
                  <a:srgbClr val="16213A"/>
                </a:solidFill>
                <a:latin typeface="Consolas"/>
                <a:ea typeface="Malgun Gothic"/>
                <a:cs typeface="Malgun Gothic"/>
              </a:rPr>
              <a:t>control/failure_sdf.py</a:t>
            </a:r>
            <a:r>
              <a:rPr sz="1050" b="0" i="0">
                <a:solidFill>
                  <a:srgbClr val="16213A"/>
                </a:solidFill>
                <a:latin typeface="Arial"/>
                <a:ea typeface="Malgun Gothic"/>
                <a:cs typeface="Malgun Gothic"/>
              </a:rPr>
              <a:t>)는 이미 두 Controller가 함께 쓸 수 있는 자리에 있다. (결과: 명령을 고친 MPC는 여유 0에서도 정적 40/40이라, 0선의 정밀도가 성공을 가르지 않았다. 그래서 MPC에는 넣지 않았다. M.3.15–M.3.16)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M.3.15 명목 MPC는 계획한 가속의 절반만 내고 있었다 (TP-0122)</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66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명목 MPC의 명령을 구간 평균에서 다음 노드 twist로 바꾸자 정적 실패가 모두 사라졌다.</a:t>
            </a:r>
            <a:r>
              <a:rPr sz="1050" b="0" i="0">
                <a:solidFill>
                  <a:srgbClr val="16213A"/>
                </a:solidFill>
                <a:latin typeface="Arial"/>
                <a:ea typeface="Malgun Gothic"/>
                <a:cs typeface="Malgun Gothic"/>
              </a:rPr>
              <a:t> 정적 seed 0–9에서 </a:t>
            </a:r>
            <a:r>
              <a:rPr sz="1050" b="0" i="0">
                <a:solidFill>
                  <a:srgbClr val="16213A"/>
                </a:solidFill>
                <a:latin typeface="Consolas"/>
                <a:ea typeface="Malgun Gothic"/>
                <a:cs typeface="Malgun Gothic"/>
              </a:rPr>
              <a:t>guidance+mpc</a:t>
            </a:r>
            <a:r>
              <a:rPr sz="1050" b="0" i="0">
                <a:solidFill>
                  <a:srgbClr val="16213A"/>
                </a:solidFill>
                <a:latin typeface="Arial"/>
                <a:ea typeface="Malgun Gothic"/>
                <a:cs typeface="Malgun Gothic"/>
              </a:rPr>
              <a:t>는 여유 0–0.15 m의 모든 값에서 40/40이다(이전 31–39/40). 보행자 3명은 24/24(이전 23/24), plant는 44/48(이전 37/48)이고, 보류 seed 10–19도 40/40(이전 39/40)이다. 대가는 jerk다. 정적 rms jerk가 3.1에서 6.7로 두 배가 됐다(기준 MPPI 4.4). 기본값을 </a:t>
            </a:r>
            <a:r>
              <a:rPr sz="1050" b="0" i="0">
                <a:solidFill>
                  <a:srgbClr val="16213A"/>
                </a:solidFill>
                <a:latin typeface="Consolas"/>
                <a:ea typeface="Malgun Gothic"/>
                <a:cs typeface="Malgun Gothic"/>
              </a:rPr>
              <a:t>command="next"</a:t>
            </a:r>
            <a:r>
              <a:rPr sz="1050" b="0" i="0">
                <a:solidFill>
                  <a:srgbClr val="16213A"/>
                </a:solidFill>
                <a:latin typeface="Arial"/>
                <a:ea typeface="Malgun Gothic"/>
                <a:cs typeface="Malgun Gothic"/>
              </a:rPr>
              <a:t>로 바꿨고, 이전 표는 </a:t>
            </a:r>
            <a:r>
              <a:rPr sz="1050" b="0" i="0">
                <a:solidFill>
                  <a:srgbClr val="16213A"/>
                </a:solidFill>
                <a:latin typeface="Consolas"/>
                <a:ea typeface="Malgun Gothic"/>
                <a:cs typeface="Malgun Gothic"/>
              </a:rPr>
              <a:t>--ctrl-cfg command=mean</a:t>
            </a:r>
            <a:r>
              <a:rPr sz="1050" b="0" i="0">
                <a:solidFill>
                  <a:srgbClr val="16213A"/>
                </a:solidFill>
                <a:latin typeface="Arial"/>
                <a:ea typeface="Malgun Gothic"/>
                <a:cs typeface="Malgun Gothic"/>
              </a:rPr>
              <a:t>으로 그대로 재현된다(정적 seed 0–9 40건이 경로 길이 1e-9까지 같다).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틀렸나.</a:t>
            </a:r>
            <a:r>
              <a:rPr sz="1050" b="0" i="0">
                <a:solidFill>
                  <a:srgbClr val="16213A"/>
                </a:solidFill>
                <a:latin typeface="Arial"/>
                <a:ea typeface="Malgun Gothic"/>
                <a:cs typeface="Malgun Gothic"/>
              </a:rPr>
              <a:t> 명목 분기는 각 구간의 평균 twist </a:t>
            </a:r>
            <a:r>
              <a:rPr sz="1050" b="0" i="1">
                <a:solidFill>
                  <a:srgbClr val="16213A"/>
                </a:solidFill>
                <a:latin typeface="Arial"/>
                <a:ea typeface="Malgun Gothic"/>
                <a:cs typeface="Malgun Gothic"/>
              </a:rPr>
              <a:t>Zₖ + 1/2 uₖ Δ t</a:t>
            </a:r>
            <a:r>
              <a:rPr sz="1050" b="0" i="0">
                <a:solidFill>
                  <a:srgbClr val="16213A"/>
                </a:solidFill>
                <a:latin typeface="Arial"/>
                <a:ea typeface="Malgun Gothic"/>
                <a:cs typeface="Malgun Gothic"/>
              </a:rPr>
              <a:t>를 보냈다. 시뮬레이터는 받은 명령을(가속 한계로 자른 뒤) 그대로 새 twist로 쓴다. 그래서 계획한 가속 </a:t>
            </a:r>
            <a:r>
              <a:rPr sz="1050" b="0" i="1">
                <a:solidFill>
                  <a:srgbClr val="16213A"/>
                </a:solidFill>
                <a:latin typeface="Arial"/>
                <a:ea typeface="Malgun Gothic"/>
                <a:cs typeface="Malgun Gothic"/>
              </a:rPr>
              <a:t>uₖ</a:t>
            </a:r>
            <a:r>
              <a:rPr sz="1050" b="0" i="0">
                <a:solidFill>
                  <a:srgbClr val="16213A"/>
                </a:solidFill>
                <a:latin typeface="Arial"/>
                <a:ea typeface="Malgun Gothic"/>
                <a:cs typeface="Malgun Gothic"/>
              </a:rPr>
              <a:t>의 절반만 실현됐다. 감속도 절반이라 같은 속도에서 정지 거리가 두 배가 된다. GP 분기는 M.3.12에서 이미 </a:t>
            </a:r>
            <a:r>
              <a:rPr sz="1050" b="0" i="1">
                <a:solidFill>
                  <a:srgbClr val="16213A"/>
                </a:solidFill>
                <a:latin typeface="Arial"/>
                <a:ea typeface="Malgun Gothic"/>
                <a:cs typeface="Malgun Gothic"/>
              </a:rPr>
              <a:t>Zₖ + uₖ Δ t</a:t>
            </a:r>
            <a:r>
              <a:rPr sz="1050" b="0" i="0">
                <a:solidFill>
                  <a:srgbClr val="16213A"/>
                </a:solidFill>
                <a:latin typeface="Arial"/>
                <a:ea typeface="Malgun Gothic"/>
                <a:cs typeface="Malgun Gothic"/>
              </a:rPr>
              <a:t>를 보내도록 고쳤다. 명목 분기만 구간 평균에 남아 있었다. 명령만 고친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도 plant 44/48로 M.3.12의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(44/48)와 같다. M.3.12의 37/48 대 44/48 격차의 상당 부분은 GP가 아니라 이 명령 차이였던 셈이다.</a:t>
            </a:r>
          </a:p>
        </p:txBody>
      </p:sp>
      <p:sp>
        <p:nvSpPr>
          <p:cNvPr id="7" name="TextBox 6"/>
          <p:cNvSpPr txBox="1"/>
          <p:nvPr/>
        </p:nvSpPr>
        <p:spPr>
          <a:xfrm>
            <a:off x="609600" y="272137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E0 진단.</a:t>
            </a:r>
            <a:r>
              <a:rPr sz="1050" b="0" i="0">
                <a:solidFill>
                  <a:srgbClr val="16213A"/>
                </a:solidFill>
                <a:latin typeface="Arial"/>
                <a:ea typeface="Malgun Gothic"/>
                <a:cs typeface="Malgun Gothic"/>
              </a:rPr>
              <a:t> M.3.10의 여유 스윕에서 실패한 9개 장면을 스텝마다 계측했다. 아홉 장면 모두 실현 가속/계획 가속의 중앙값이 정확히 0.50이었다. 추적한 curb_ramp 치명 실패 다섯 건(여유 0의 s0, 0.05의 s1, 0.10의 s0·s6, 0.125의 s5)은 모두 경사로 동쪽 1–4 m의 도로 쪽 연석면 (y ≈ 2.53 m, 팽창된 치명 띠의 경계)에서 났다. 다섯 건 모두 직전 2 s 안에 Guidance 경로가 135–174° 뒤집혔고, 로봇은 벽 쪽으로 0.64–0.88 m/s로 다가가고 있었다. 돌아서는 동안 계획한 감속의 절반만 실현돼 연석면을 넘어간 것이다. 스윕의 curb_ramp 치명 실패는 모두 10건이다. 추적하지 않은 다섯 건(여유 0의 s1·s4·s6·s8·s9) 가운데 s1·s6·s8은 끝 위치가 같은 연석면이다. s4는 경사로를 오르다 그 동쪽 모서리에서, s9는 경사로 서쪽 5 m에서 경로 반전 없이(직전 2 s 최대 39°) 실패했다. 그래서 M.3.10의 "램프 모서리"는 열 건 가운데 한 건에만 맞는다. 명령 탓이라는 결론은 그대로다.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M.3.15 명목 MPC는 계획한 가속의 절반만 내고 있었다 (TP-0122)</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67 / 112</a:t>
            </a:r>
          </a:p>
        </p:txBody>
      </p:sp>
      <p:pic>
        <p:nvPicPr>
          <p:cNvPr id="5" name="Picture 4" descr="image.jpg"/>
          <p:cNvPicPr>
            <a:picLocks noChangeAspect="1"/>
          </p:cNvPicPr>
          <p:nvPr/>
        </p:nvPicPr>
        <p:blipFill>
          <a:blip r:embed="rId3"/>
          <a:stretch>
            <a:fillRect/>
          </a:stretch>
        </p:blipFill>
        <p:spPr>
          <a:xfrm>
            <a:off x="1016000" y="1244600"/>
            <a:ext cx="10160000" cy="2774950"/>
          </a:xfrm>
          <a:prstGeom prst="rect">
            <a:avLst/>
          </a:prstGeom>
        </p:spPr>
      </p:pic>
      <p:sp>
        <p:nvSpPr>
          <p:cNvPr id="6" name="TextBox 5"/>
          <p:cNvSpPr txBox="1"/>
          <p:nvPr/>
        </p:nvSpPr>
        <p:spPr>
          <a:xfrm>
            <a:off x="1016000" y="40576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curb_ramp s0, 여유 0.10 m. (a) 가장 가까운 치명 칸과의 여유, (b) 벽 쪽 접근 속도, (c) 계획한 첫 가속이 0.3 m/s²를 넘는 모든 스텝의 계획 가속과 실현 가속. 구간 평균 명령(회색)은 실현/계획 비가 0.50이라 점이 "절반" 선 위에 놓이고, 경로가 뒤집힌 뒤 연석면을 넘어 11.9 s에 실패한다. 다음 노드 명령(주황)은 비가 1.00이다. 경로가 뒤집히기 전에는 같은 연석면에 16.7 cm까지 다가가지만, 뒤집힌 뒤에는 다가가지 않고 18.8 s에 도달한다.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M.3.15 명목 MPC는 계획한 가속의 절반만 내고 있었다 (TP-0122)</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68 / 112</a:t>
            </a:r>
          </a:p>
        </p:txBody>
      </p:sp>
      <p:sp>
        <p:nvSpPr>
          <p:cNvPr id="5" name="TextBox 4"/>
          <p:cNvSpPr txBox="1"/>
          <p:nvPr/>
        </p:nvSpPr>
        <p:spPr>
          <a:xfrm>
            <a:off x="609600" y="1244600"/>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같은 장면. 왼쪽이 구간 평균 명령, 오른쪽이 다음 노드 명령이다. 흰 선이 실행한 경로, 색 선이 4 s 예측이다. 두 패널 모두 왼쪽 로봇을 따라간다.</a:t>
            </a:r>
          </a:p>
        </p:txBody>
      </p:sp>
      <p:sp>
        <p:nvSpPr>
          <p:cNvPr id="6" name="TextBox 5"/>
          <p:cNvSpPr txBox="1"/>
          <p:nvPr/>
        </p:nvSpPr>
        <p:spPr>
          <a:xfrm>
            <a:off x="609600" y="31888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고침.</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MPCConfig.command</a:t>
            </a:r>
            <a:r>
              <a:rPr sz="1050" b="0" i="0">
                <a:solidFill>
                  <a:srgbClr val="16213A"/>
                </a:solidFill>
                <a:latin typeface="Arial"/>
                <a:ea typeface="Malgun Gothic"/>
                <a:cs typeface="Malgun Gothic"/>
              </a:rPr>
              <a:t>를 두었다. </a:t>
            </a:r>
            <a:r>
              <a:rPr sz="1050" b="0" i="0">
                <a:solidFill>
                  <a:srgbClr val="16213A"/>
                </a:solidFill>
                <a:latin typeface="Consolas"/>
                <a:ea typeface="Malgun Gothic"/>
                <a:cs typeface="Malgun Gothic"/>
              </a:rPr>
              <a:t>"next"</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Zₖ₊₁ = Zₖ + uₖ Δ t</a:t>
            </a:r>
            <a:r>
              <a:rPr sz="1050" b="0" i="0">
                <a:solidFill>
                  <a:srgbClr val="16213A"/>
                </a:solidFill>
                <a:latin typeface="Arial"/>
                <a:ea typeface="Malgun Gothic"/>
                <a:cs typeface="Malgun Gothic"/>
              </a:rPr>
              <a:t>를 보낸다. 모델이 정확히 이 식이라, 시뮬레이터가 계획한 가속을 그대로 실현한다. 테스트 두 개를 더했다. 정지에서 출발할 때 첫 명령이 </a:t>
            </a:r>
            <a:r>
              <a:rPr sz="1050" b="0" i="0">
                <a:solidFill>
                  <a:srgbClr val="16213A"/>
                </a:solidFill>
                <a:latin typeface="Consolas"/>
                <a:ea typeface="Malgun Gothic"/>
                <a:cs typeface="Malgun Gothic"/>
              </a:rPr>
              <a:t>next</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aₘₐₓΔ 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mean</a:t>
            </a:r>
            <a:r>
              <a:rPr sz="1050" b="0" i="0">
                <a:solidFill>
                  <a:srgbClr val="16213A"/>
                </a:solidFill>
                <a:latin typeface="Arial"/>
                <a:ea typeface="Malgun Gothic"/>
                <a:cs typeface="Malgun Gothic"/>
              </a:rPr>
              <a:t>은 그 절반이다. 시뮬레이터의 twist 갱신으로 5스텝 폐루프를 돌리면 </a:t>
            </a:r>
            <a:r>
              <a:rPr sz="1050" b="0" i="0">
                <a:solidFill>
                  <a:srgbClr val="16213A"/>
                </a:solidFill>
                <a:latin typeface="Consolas"/>
                <a:ea typeface="Malgun Gothic"/>
                <a:cs typeface="Malgun Gothic"/>
              </a:rPr>
              <a:t>next</a:t>
            </a:r>
            <a:r>
              <a:rPr sz="1050" b="0" i="0">
                <a:solidFill>
                  <a:srgbClr val="16213A"/>
                </a:solidFill>
                <a:latin typeface="Arial"/>
                <a:ea typeface="Malgun Gothic"/>
                <a:cs typeface="Malgun Gothic"/>
              </a:rPr>
              <a:t>만 계획한 속도에 닿는다.</a:t>
            </a:r>
          </a:p>
        </p:txBody>
      </p:sp>
      <p:sp>
        <p:nvSpPr>
          <p:cNvPr id="7" name="TextBox 6"/>
          <p:cNvSpPr txBox="1"/>
          <p:nvPr/>
        </p:nvSpPr>
        <p:spPr>
          <a:xfrm>
            <a:off x="609600" y="37107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E1 결과.</a:t>
            </a:r>
            <a:r>
              <a:rPr sz="1050" b="0" i="0">
                <a:solidFill>
                  <a:srgbClr val="16213A"/>
                </a:solidFill>
                <a:latin typeface="Arial"/>
                <a:ea typeface="Malgun Gothic"/>
                <a:cs typeface="Malgun Gothic"/>
              </a:rPr>
              <a:t> 같은 코드에서 두 명령을 여유별로 다시 돌렸다(</a:t>
            </a:r>
            <a:r>
              <a:rPr sz="1050" b="0" i="0">
                <a:solidFill>
                  <a:srgbClr val="16213A"/>
                </a:solidFill>
                <a:latin typeface="Consolas"/>
                <a:ea typeface="Malgun Gothic"/>
                <a:cs typeface="Malgun Gothic"/>
              </a:rPr>
              <a:t>mean</a:t>
            </a:r>
            <a:r>
              <a:rPr sz="1050" b="0" i="0">
                <a:solidFill>
                  <a:srgbClr val="16213A"/>
                </a:solidFill>
                <a:latin typeface="Arial"/>
                <a:ea typeface="Malgun Gothic"/>
                <a:cs typeface="Malgun Gothic"/>
              </a:rPr>
              <a:t>의 0.15 m는 TP-0093 실행이며 이 코드에서 비트 단위로 재현된다).</a:t>
            </a:r>
          </a:p>
        </p:txBody>
      </p:sp>
      <p:graphicFrame>
        <p:nvGraphicFramePr>
          <p:cNvPr id="8" name="Table 7"/>
          <p:cNvGraphicFramePr>
            <a:graphicFrameLocks noGrp="1"/>
          </p:cNvGraphicFramePr>
          <p:nvPr/>
        </p:nvGraphicFramePr>
        <p:xfrm>
          <a:off x="609600" y="4016177"/>
          <a:ext cx="10966450" cy="1182528"/>
        </p:xfrm>
        <a:graphic>
          <a:graphicData uri="http://schemas.openxmlformats.org/drawingml/2006/table">
            <a:tbl>
              <a:tblPr firstRow="1" bandRow="1">
                <a:tableStyleId>{5C22544A-7EE6-4342-B048-85BDC9FD1C3A}</a:tableStyleId>
              </a:tblPr>
              <a:tblGrid>
                <a:gridCol w="2766715"/>
                <a:gridCol w="5450582"/>
                <a:gridCol w="2749153"/>
              </a:tblGrid>
              <a:tr h="197088">
                <a:tc>
                  <a:txBody>
                    <a:bodyPr wrap="square"/>
                    <a:lstStyle/>
                    <a:p>
                      <a:r>
                        <a:rPr sz="800" b="1" i="0">
                          <a:solidFill>
                            <a:srgbClr val="F4F1EA"/>
                          </a:solidFill>
                          <a:latin typeface="Arial"/>
                          <a:ea typeface="Malgun Gothic"/>
                          <a:cs typeface="Malgun Gothic"/>
                        </a:rPr>
                        <a:t>여유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구간 평균 명령 (정적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다음 노드 명령</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31/40 (치명 8, timeout 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0.05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37/40 (치명 2, timeout 1)</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0.10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 (치명 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0.125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 (치명 1)</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0.15 m (기본)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 (timeout 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FFDF8"/>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M.3.15 명목 MPC는 계획한 가속의 절반만 내고 있었다 (TP-0122)</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69 / 112</a:t>
            </a:r>
          </a:p>
        </p:txBody>
      </p:sp>
      <p:graphicFrame>
        <p:nvGraphicFramePr>
          <p:cNvPr id="5" name="Table 4"/>
          <p:cNvGraphicFramePr>
            <a:graphicFrameLocks noGrp="1"/>
          </p:cNvGraphicFramePr>
          <p:nvPr/>
        </p:nvGraphicFramePr>
        <p:xfrm>
          <a:off x="609600" y="1244600"/>
          <a:ext cx="10966451" cy="985440"/>
        </p:xfrm>
        <a:graphic>
          <a:graphicData uri="http://schemas.openxmlformats.org/drawingml/2006/table">
            <a:tbl>
              <a:tblPr firstRow="1" bandRow="1">
                <a:tableStyleId>{5C22544A-7EE6-4342-B048-85BDC9FD1C3A}</a:tableStyleId>
              </a:tblPr>
              <a:tblGrid>
                <a:gridCol w="3368477"/>
                <a:gridCol w="2822476"/>
                <a:gridCol w="4775498"/>
              </a:tblGrid>
              <a:tr h="197088">
                <a:tc>
                  <a:txBody>
                    <a:bodyPr wrap="square"/>
                    <a:lstStyle/>
                    <a:p>
                      <a:r>
                        <a:rPr sz="800" b="1" i="0">
                          <a:solidFill>
                            <a:srgbClr val="F4F1EA"/>
                          </a:solidFill>
                          <a:latin typeface="Arial"/>
                          <a:ea typeface="Malgun Gothic"/>
                          <a:cs typeface="Malgun Gothic"/>
                        </a:rPr>
                        <a:t>조건 (여유 0.15 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구간 평균 명령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다음 노드 명령</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보행자 3명, seed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23/24, 충돌 0, 최소 여유 0.08 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24/24</a:t>
                      </a:r>
                      <a:r>
                        <a:rPr sz="800" b="0" i="0">
                          <a:solidFill>
                            <a:srgbClr val="16213A"/>
                          </a:solidFill>
                          <a:latin typeface="Arial"/>
                          <a:ea typeface="Malgun Gothic"/>
                          <a:cs typeface="Malgun Gothic"/>
                        </a:rPr>
                        <a:t>, 충돌 0, 최소 여유 0.17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seed 0–11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37/48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44/48</a:t>
                      </a:r>
                      <a:r>
                        <a:rPr sz="800" b="0" i="0">
                          <a:solidFill>
                            <a:srgbClr val="16213A"/>
                          </a:solidFill>
                          <a:latin typeface="Arial"/>
                          <a:ea typeface="Malgun Gothic"/>
                          <a:cs typeface="Malgun Gothic"/>
                        </a:rPr>
                        <a:t> (고침 9, 새 실패 2: curb s0 timeout, curb s5 치명)</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정적 보류 seed 10–19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정적 rms jerk / GT cost 평균 / 도달 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 / 0.025 / 17.9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6.7 / 0.027 / 16.1 s</a:t>
                      </a:r>
                    </a:p>
                  </a:txBody>
                  <a:tcPr marL="63500" marR="63500" marT="12700" marB="12700">
                    <a:solidFill>
                      <a:srgbClr val="F3F0E8"/>
                    </a:solidFill>
                  </a:tcPr>
                </a:tc>
              </a:tr>
            </a:tbl>
          </a:graphicData>
        </a:graphic>
      </p:graphicFrame>
      <p:sp>
        <p:nvSpPr>
          <p:cNvPr id="6" name="TextBox 5"/>
          <p:cNvSpPr txBox="1"/>
          <p:nvPr/>
        </p:nvSpPr>
        <p:spPr>
          <a:xfrm>
            <a:off x="609600" y="257165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bumps_potholes s6·s7의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(M.3.10이 "Guidance가 고른 좁은 틈" 탓으로 돌린 것)도 다음 노드 명령에서는 풀렸다. 틈 앞에서 멈춘 메커니즘은 따로 재지 않았다. CLAUDE.md 기준표(보행자 3명, seed 0–2)는 12/12, 충돌 0, 최대 pitch 7.6°, GT cost 평균 0.028로 통과다.</a:t>
            </a:r>
          </a:p>
        </p:txBody>
      </p:sp>
      <p:sp>
        <p:nvSpPr>
          <p:cNvPr id="7" name="TextBox 6"/>
          <p:cNvSpPr txBox="1"/>
          <p:nvPr/>
        </p:nvSpPr>
        <p:spPr>
          <a:xfrm>
            <a:off x="609600" y="309354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jerk.</a:t>
            </a:r>
            <a:r>
              <a:rPr sz="1050" b="0" i="0">
                <a:solidFill>
                  <a:srgbClr val="16213A"/>
                </a:solidFill>
                <a:latin typeface="Arial"/>
                <a:ea typeface="Malgun Gothic"/>
                <a:cs typeface="Malgun Gothic"/>
              </a:rPr>
              <a:t> 실현 가속이 두 배가 되니 jerk도 두 배다(모든 시나리오에서 2.1배). 줄이는 방법을 둘 시험했다.</a:t>
            </a:r>
          </a:p>
        </p:txBody>
      </p:sp>
      <p:graphicFrame>
        <p:nvGraphicFramePr>
          <p:cNvPr id="8" name="Table 7"/>
          <p:cNvGraphicFramePr>
            <a:graphicFrameLocks noGrp="1"/>
          </p:cNvGraphicFramePr>
          <p:nvPr/>
        </p:nvGraphicFramePr>
        <p:xfrm>
          <a:off x="609600" y="3398937"/>
          <a:ext cx="10966450" cy="1182528"/>
        </p:xfrm>
        <a:graphic>
          <a:graphicData uri="http://schemas.openxmlformats.org/drawingml/2006/table">
            <a:tbl>
              <a:tblPr firstRow="1" bandRow="1">
                <a:tableStyleId>{5C22544A-7EE6-4342-B048-85BDC9FD1C3A}</a:tableStyleId>
              </a:tblPr>
              <a:tblGrid>
                <a:gridCol w="2856210"/>
                <a:gridCol w="1536601"/>
                <a:gridCol w="1048742"/>
                <a:gridCol w="1375073"/>
                <a:gridCol w="4149824"/>
              </a:tblGrid>
              <a:tr h="197088">
                <a:tc>
                  <a:txBody>
                    <a:bodyPr wrap="square"/>
                    <a:lstStyle/>
                    <a:p>
                      <a:r>
                        <a:rPr sz="800" b="1" i="0">
                          <a:solidFill>
                            <a:srgbClr val="F4F1EA"/>
                          </a:solidFill>
                          <a:latin typeface="Arial"/>
                          <a:ea typeface="Malgun Gothic"/>
                          <a:cs typeface="Malgun Gothic"/>
                        </a:rPr>
                        <a:t>구성 (여유 0.15 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rms 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GT cost 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next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기본값</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next</a:t>
                      </a:r>
                      <a:r>
                        <a:rPr sz="800" b="0" i="0">
                          <a:solidFill>
                            <a:srgbClr val="16213A"/>
                          </a:solidFill>
                          <a:latin typeface="Arial"/>
                          <a:ea typeface="Malgun Gothic"/>
                          <a:cs typeface="Malgun Gothic"/>
                        </a:rPr>
                        <a:t> + 가속 가중치 ×2 (</a:t>
                      </a:r>
                      <a:r>
                        <a:rPr sz="800" b="0" i="0">
                          <a:solidFill>
                            <a:srgbClr val="16213A"/>
                          </a:solidFill>
                          <a:latin typeface="Consolas"/>
                          <a:ea typeface="Malgun Gothic"/>
                          <a:cs typeface="Malgun Gothic"/>
                        </a:rPr>
                        <a:t>w_a</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0.027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보행자에서 충돌 1</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next</a:t>
                      </a:r>
                      <a:r>
                        <a:rPr sz="800" b="0" i="0">
                          <a:solidFill>
                            <a:srgbClr val="16213A"/>
                          </a:solidFill>
                          <a:latin typeface="Arial"/>
                          <a:ea typeface="Malgun Gothic"/>
                          <a:cs typeface="Malgun Gothic"/>
                        </a:rPr>
                        <a:t> + Δu 비용 </a:t>
                      </a:r>
                      <a:r>
                        <a:rPr sz="800" b="0" i="0">
                          <a:solidFill>
                            <a:srgbClr val="16213A"/>
                          </a:solidFill>
                          <a:latin typeface="Consolas"/>
                          <a:ea typeface="Malgun Gothic"/>
                          <a:cs typeface="Malgun Gothic"/>
                        </a:rPr>
                        <a:t>w_du=1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24/24, 보류 seed 40/40, </a:t>
                      </a:r>
                      <a:r>
                        <a:rPr sz="800" b="1" i="0">
                          <a:solidFill>
                            <a:srgbClr val="16213A"/>
                          </a:solidFill>
                          <a:latin typeface="Arial"/>
                          <a:ea typeface="Malgun Gothic"/>
                          <a:cs typeface="Malgun Gothic"/>
                        </a:rPr>
                        <a:t>plant 23/48</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next</a:t>
                      </a:r>
                      <a:r>
                        <a:rPr sz="800" b="0" i="0">
                          <a:solidFill>
                            <a:srgbClr val="16213A"/>
                          </a:solidFill>
                          <a:latin typeface="Arial"/>
                          <a:ea typeface="Malgun Gothic"/>
                          <a:cs typeface="Malgun Gothic"/>
                        </a:rPr>
                        <a:t> + Δu 비용 </a:t>
                      </a:r>
                      <a:r>
                        <a:rPr sz="800" b="0" i="0">
                          <a:solidFill>
                            <a:srgbClr val="16213A"/>
                          </a:solidFill>
                          <a:latin typeface="Consolas"/>
                          <a:ea typeface="Malgun Gothic"/>
                          <a:cs typeface="Malgun Gothic"/>
                        </a:rPr>
                        <a:t>w_du=2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0.045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curb s4 timeout</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next</a:t>
                      </a:r>
                      <a:r>
                        <a:rPr sz="800" b="0" i="0">
                          <a:solidFill>
                            <a:srgbClr val="16213A"/>
                          </a:solidFill>
                          <a:latin typeface="Arial"/>
                          <a:ea typeface="Malgun Gothic"/>
                          <a:cs typeface="Malgun Gothic"/>
                        </a:rPr>
                        <a:t> + Δu 비용 </a:t>
                      </a:r>
                      <a:r>
                        <a:rPr sz="800" b="0" i="0">
                          <a:solidFill>
                            <a:srgbClr val="16213A"/>
                          </a:solidFill>
                          <a:latin typeface="Consolas"/>
                          <a:ea typeface="Malgun Gothic"/>
                          <a:cs typeface="Malgun Gothic"/>
                        </a:rPr>
                        <a:t>w_du=5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bumps s1 치명, 도달 21.1 s</a:t>
                      </a:r>
                    </a:p>
                  </a:txBody>
                  <a:tcPr marL="63500" marR="63500" marT="12700" marB="12700">
                    <a:solidFill>
                      <a:srgbClr val="FFFDF8"/>
                    </a:solidFill>
                  </a:tcPr>
                </a:tc>
              </a:tr>
            </a:tbl>
          </a:graphicData>
        </a:graphic>
      </p:graphicFrame>
      <p:sp>
        <p:nvSpPr>
          <p:cNvPr id="9" name="TextBox 8"/>
          <p:cNvSpPr txBox="1"/>
          <p:nvPr/>
        </p:nvSpPr>
        <p:spPr>
          <a:xfrm>
            <a:off x="609600" y="4972348"/>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폐루프 jerk는 스텝마다 새로 푼 첫 가속 </a:t>
            </a:r>
            <a:r>
              <a:rPr sz="1050" b="0" i="1">
                <a:solidFill>
                  <a:srgbClr val="16213A"/>
                </a:solidFill>
                <a:latin typeface="Arial"/>
                <a:ea typeface="Malgun Gothic"/>
                <a:cs typeface="Malgun Gothic"/>
              </a:rPr>
              <a:t>u₀</a:t>
            </a:r>
            <a:r>
              <a:rPr sz="1050" b="0" i="0">
                <a:solidFill>
                  <a:srgbClr val="16213A"/>
                </a:solidFill>
                <a:latin typeface="Arial"/>
                <a:ea typeface="Malgun Gothic"/>
                <a:cs typeface="Malgun Gothic"/>
              </a:rPr>
              <a:t>가 바뀌는 만큼이다. 그래서 첫 스테이지의 가속 기준을 0 대신 직전 스텝의 </a:t>
            </a:r>
            <a:r>
              <a:rPr sz="1050" b="0" i="1">
                <a:solidFill>
                  <a:srgbClr val="16213A"/>
                </a:solidFill>
                <a:latin typeface="Arial"/>
                <a:ea typeface="Malgun Gothic"/>
                <a:cs typeface="Malgun Gothic"/>
              </a:rPr>
              <a:t>u₀</a:t>
            </a:r>
            <a:r>
              <a:rPr sz="1050" b="0" i="0">
                <a:solidFill>
                  <a:srgbClr val="16213A"/>
                </a:solidFill>
                <a:latin typeface="Arial"/>
                <a:ea typeface="Malgun Gothic"/>
                <a:cs typeface="Malgun Gothic"/>
              </a:rPr>
              <a:t>로 두는 Δu 비용 (</a:t>
            </a:r>
            <a:r>
              <a:rPr sz="1050" b="0" i="0">
                <a:solidFill>
                  <a:srgbClr val="16213A"/>
                </a:solidFill>
                <a:latin typeface="Consolas"/>
                <a:ea typeface="Malgun Gothic"/>
                <a:cs typeface="Malgun Gothic"/>
              </a:rPr>
              <a:t>MPCConfig.w_du</a:t>
            </a:r>
            <a:r>
              <a:rPr sz="1050" b="0" i="0">
                <a:solidFill>
                  <a:srgbClr val="16213A"/>
                </a:solidFill>
                <a:latin typeface="Arial"/>
                <a:ea typeface="Malgun Gothic"/>
                <a:cs typeface="Malgun Gothic"/>
              </a:rPr>
              <a:t>)을 넣었다. jerk는 줄지만 GT cost가 오르고 도달이 늦어진다. </a:t>
            </a:r>
            <a:r>
              <a:rPr sz="1050" b="0" i="0">
                <a:solidFill>
                  <a:srgbClr val="16213A"/>
                </a:solidFill>
                <a:latin typeface="Consolas"/>
                <a:ea typeface="Malgun Gothic"/>
                <a:cs typeface="Malgun Gothic"/>
              </a:rPr>
              <a:t>w_du=1</a:t>
            </a:r>
            <a:r>
              <a:rPr sz="1050" b="0" i="0">
                <a:solidFill>
                  <a:srgbClr val="16213A"/>
                </a:solidFill>
                <a:latin typeface="Arial"/>
                <a:ea typeface="Malgun Gothic"/>
                <a:cs typeface="Malgun Gothic"/>
              </a:rPr>
              <a:t>은 정적·보행자·보류 seed에서는 성공을 지켰지만, 지연·슬립이 있는 plant에서 23/48로 무너졌다(curb_ramp 12건 가운데 11건 실패). 미리 정한 품질 기준(GT cost ≤ 0.030, jerk ≤ 4.4)으로 봐도 </a:t>
            </a:r>
            <a:r>
              <a:rPr sz="1050" b="0" i="0">
                <a:solidFill>
                  <a:srgbClr val="16213A"/>
                </a:solidFill>
                <a:latin typeface="Consolas"/>
                <a:ea typeface="Malgun Gothic"/>
                <a:cs typeface="Malgun Gothic"/>
              </a:rPr>
              <a:t>next</a:t>
            </a:r>
            <a:r>
              <a:rPr sz="1050" b="0" i="0">
                <a:solidFill>
                  <a:srgbClr val="16213A"/>
                </a:solidFill>
                <a:latin typeface="Arial"/>
                <a:ea typeface="Malgun Gothic"/>
                <a:cs typeface="Malgun Gothic"/>
              </a:rPr>
              <a:t> 단독은 jerk 하나를, </a:t>
            </a:r>
            <a:r>
              <a:rPr sz="1050" b="0" i="0">
                <a:solidFill>
                  <a:srgbClr val="16213A"/>
                </a:solidFill>
                <a:latin typeface="Consolas"/>
                <a:ea typeface="Malgun Gothic"/>
                <a:cs typeface="Malgun Gothic"/>
              </a:rPr>
              <a:t>w_du=1</a:t>
            </a:r>
            <a:r>
              <a:rPr sz="1050" b="0" i="0">
                <a:solidFill>
                  <a:srgbClr val="16213A"/>
                </a:solidFill>
                <a:latin typeface="Arial"/>
                <a:ea typeface="Malgun Gothic"/>
                <a:cs typeface="Malgun Gothic"/>
              </a:rPr>
              <a:t>은 둘 다 넘지 못한다. 그래서 기본값은 </a:t>
            </a:r>
            <a:r>
              <a:rPr sz="1050" b="0" i="0">
                <a:solidFill>
                  <a:srgbClr val="16213A"/>
                </a:solidFill>
                <a:latin typeface="Consolas"/>
                <a:ea typeface="Malgun Gothic"/>
                <a:cs typeface="Malgun Gothic"/>
              </a:rPr>
              <a:t>w_du=0</a:t>
            </a:r>
            <a:r>
              <a:rPr sz="1050" b="0" i="0">
                <a:solidFill>
                  <a:srgbClr val="16213A"/>
                </a:solidFill>
                <a:latin typeface="Arial"/>
                <a:ea typeface="Malgun Gothic"/>
                <a:cs typeface="Malgun Gothic"/>
              </a:rPr>
              <a:t>으로 두고 장단을 여기 적는다. jerk를 GT cost와 plant 성공을 잃지 않고 줄이는 일은 후속 과제다(TP-0123).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M.3.15 명목 MPC는 계획한 가속의 절반만 내고 있었다 (TP-0122)</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70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검증에서 고친 것 하나: acados의 </a:t>
            </a:r>
            <a:r>
              <a:rPr sz="1050" b="0" i="0">
                <a:solidFill>
                  <a:srgbClr val="16213A"/>
                </a:solidFill>
                <a:latin typeface="Consolas"/>
                <a:ea typeface="Malgun Gothic"/>
                <a:cs typeface="Malgun Gothic"/>
              </a:rPr>
              <a:t>cost_set</a:t>
            </a:r>
            <a:r>
              <a:rPr sz="1050" b="0" i="0">
                <a:solidFill>
                  <a:srgbClr val="16213A"/>
                </a:solidFill>
                <a:latin typeface="Arial"/>
                <a:ea typeface="Malgun Gothic"/>
                <a:cs typeface="Malgun Gothic"/>
              </a:rPr>
              <a:t>은 solver에 남는다. 같은 컨트롤러에서 </a:t>
            </a:r>
            <a:r>
              <a:rPr sz="1050" b="0" i="0">
                <a:solidFill>
                  <a:srgbClr val="16213A"/>
                </a:solidFill>
                <a:latin typeface="Consolas"/>
                <a:ea typeface="Malgun Gothic"/>
                <a:cs typeface="Malgun Gothic"/>
              </a:rPr>
              <a:t>w_du</a:t>
            </a:r>
            <a:r>
              <a:rPr sz="1050" b="0" i="0">
                <a:solidFill>
                  <a:srgbClr val="16213A"/>
                </a:solidFill>
                <a:latin typeface="Arial"/>
                <a:ea typeface="Malgun Gothic"/>
                <a:cs typeface="Malgun Gothic"/>
              </a:rPr>
              <a:t>를 켰다 끄면 첫 스테이지에 </a:t>
            </a:r>
            <a:r>
              <a:rPr sz="1050" b="0" i="0">
                <a:solidFill>
                  <a:srgbClr val="16213A"/>
                </a:solidFill>
                <a:latin typeface="Consolas"/>
                <a:ea typeface="Malgun Gothic"/>
                <a:cs typeface="Malgun Gothic"/>
              </a:rPr>
              <a:t>w_du</a:t>
            </a:r>
            <a:r>
              <a:rPr sz="1050" b="0" i="0">
                <a:solidFill>
                  <a:srgbClr val="16213A"/>
                </a:solidFill>
                <a:latin typeface="Arial"/>
                <a:ea typeface="Malgun Gothic"/>
                <a:cs typeface="Malgun Gothic"/>
              </a:rPr>
              <a:t> 가중치가 그대로 남았다. 지금은 끌 때 빌드 때의 가중치로 되돌린다. 위 표의 실행은 </a:t>
            </a:r>
            <a:r>
              <a:rPr sz="1050" b="0" i="0">
                <a:solidFill>
                  <a:srgbClr val="16213A"/>
                </a:solidFill>
                <a:latin typeface="Consolas"/>
                <a:ea typeface="Malgun Gothic"/>
                <a:cs typeface="Malgun Gothic"/>
              </a:rPr>
              <a:t>w_du</a:t>
            </a:r>
            <a:r>
              <a:rPr sz="1050" b="0" i="0">
                <a:solidFill>
                  <a:srgbClr val="16213A"/>
                </a:solidFill>
                <a:latin typeface="Arial"/>
                <a:ea typeface="Malgun Gothic"/>
                <a:cs typeface="Malgun Gothic"/>
              </a:rPr>
              <a:t>를 실행 내내 바꾸지 않아 이 문제를 겪지 않았다. 켰다 끈 뒤의 출력이 처음과 같다는 것과, </a:t>
            </a:r>
            <a:r>
              <a:rPr sz="1050" b="0" i="0">
                <a:solidFill>
                  <a:srgbClr val="16213A"/>
                </a:solidFill>
                <a:latin typeface="Consolas"/>
                <a:ea typeface="Malgun Gothic"/>
                <a:cs typeface="Malgun Gothic"/>
              </a:rPr>
              <a:t>w_du</a:t>
            </a:r>
            <a:r>
              <a:rPr sz="1050" b="0" i="0">
                <a:solidFill>
                  <a:srgbClr val="16213A"/>
                </a:solidFill>
                <a:latin typeface="Arial"/>
                <a:ea typeface="Malgun Gothic"/>
                <a:cs typeface="Malgun Gothic"/>
              </a:rPr>
              <a:t>를 크게 주면 첫 가속이 직전 가속으로 당겨진다는 것을 테스트로 확인한다(</a:t>
            </a:r>
            <a:r>
              <a:rPr sz="1050" b="0" i="0">
                <a:solidFill>
                  <a:srgbClr val="16213A"/>
                </a:solidFill>
                <a:latin typeface="Consolas"/>
                <a:ea typeface="Malgun Gothic"/>
                <a:cs typeface="Malgun Gothic"/>
              </a:rPr>
              <a:t>tests/test_acados_mpc.py</a:t>
            </a:r>
            <a:r>
              <a:rPr sz="1050" b="0" i="0">
                <a:solidFill>
                  <a:srgbClr val="16213A"/>
                </a:solidFill>
                <a:latin typeface="Arial"/>
                <a:ea typeface="Malgun Gothic"/>
                <a:cs typeface="Malgun Gothic"/>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M.3.16 부드러운 여유 행은 최악 여유를 넓히지만 성공 수는 더하지 않는다 (TP-0117)</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71 / 112</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명령을 고친 MPC는 이미 정적 40/40이라, 부드러운 여유 행이 보탤 것은 여유였고 실제로 그것만 보탰다.</a:t>
            </a:r>
            <a:r>
              <a:rPr sz="1050" b="0" i="0">
                <a:solidFill>
                  <a:srgbClr val="16213A"/>
                </a:solidFill>
                <a:latin typeface="Arial"/>
                <a:ea typeface="Malgun Gothic"/>
                <a:cs typeface="Malgun Gothic"/>
              </a:rPr>
              <a:t> 정적 seed 0–9에서 같은 hard 여유 0.10 m끼리 비교하면, 에피소드별 최소 GT 여유(치명 칸 가장자리까지)의 5% 분위가 10.2 cm에서 12.2 cm로, 최솟값이 5.6 cm에서 9.5 cm로 올랐다(여유 0.15 m끼리는 9.7 → 12.9 cm, 1.1 → 2.7 cm). 최솟값은 한 에피소드가 정하므로 5% 분위가 더 믿을 만하다. 하지만 성공은 늘지 않았다. 스택 기본값(여유 0.10, ℓ 0.3)은 정적 39/40(</a:t>
            </a:r>
            <a:r>
              <a:rPr sz="1050" b="0" i="0">
                <a:solidFill>
                  <a:srgbClr val="16213A"/>
                </a:solidFill>
                <a:latin typeface="Consolas"/>
                <a:ea typeface="Malgun Gothic"/>
                <a:cs typeface="Malgun Gothic"/>
              </a:rPr>
              <a:t>next</a:t>
            </a:r>
            <a:r>
              <a:rPr sz="1050" b="0" i="0">
                <a:solidFill>
                  <a:srgbClr val="16213A"/>
                </a:solidFill>
                <a:latin typeface="Arial"/>
                <a:ea typeface="Malgun Gothic"/>
                <a:cs typeface="Malgun Gothic"/>
              </a:rPr>
              <a:t> 40/40), 보류 seed 10–19 39/40(40/40), 보행자 3명 23/24(24/24), plant 41/48(44/48)이다. 미리 정한 기본값 기준은 정적(A4: 39/40 이상, 치명 0), 보류 seed(A5: 기준 MPC 이상), 보행자(A6: 23/24 이상, 충돌 0), plant(A7: 기준 MPC에 없던 치명 실패가 생기지 않을 것)였다. 이 설정은 A5와 A7을 넘지 못했다. 고친 코드에서 규칙이 새로 고르는 (0.10, ℓ 0.2, 50)은 정적 40/40, 보류 seed 40/40, 보행자 24/24로 A4–A6을 넘지만, plant 41/48에서 기준 MPC에 없던 치명 실패가 다섯 건(curb_ramp s2·s4·s6·s9, bumps_potholes s6) 생겨 A7을 넘지 못했다. 그래서 두 설정 모두 기본값으로 켜지 않고 선택 스택 </a:t>
            </a:r>
            <a:r>
              <a:rPr sz="1050" b="0" i="0">
                <a:solidFill>
                  <a:srgbClr val="16213A"/>
                </a:solidFill>
                <a:latin typeface="Consolas"/>
                <a:ea typeface="Malgun Gothic"/>
                <a:cs typeface="Malgun Gothic"/>
              </a:rPr>
              <a:t>mpc_sc</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mpc_gp_sc</a:t>
            </a:r>
            <a:r>
              <a:rPr sz="1050" b="0" i="0">
                <a:solidFill>
                  <a:srgbClr val="16213A"/>
                </a:solidFill>
                <a:latin typeface="Arial"/>
                <a:ea typeface="Malgun Gothic"/>
                <a:cs typeface="Malgun Gothic"/>
              </a:rPr>
              <a:t>로 둔다(스택 기본값은 ℓ 0.3). GP 평균과 함께 쓴 </a:t>
            </a:r>
            <a:r>
              <a:rPr sz="1050" b="0" i="0">
                <a:solidFill>
                  <a:srgbClr val="16213A"/>
                </a:solidFill>
                <a:latin typeface="Consolas"/>
                <a:ea typeface="Malgun Gothic"/>
                <a:cs typeface="Malgun Gothic"/>
              </a:rPr>
              <a:t>mpc_gp_sc</a:t>
            </a:r>
            <a:r>
              <a:rPr sz="1050" b="0" i="0">
                <a:solidFill>
                  <a:srgbClr val="16213A"/>
                </a:solidFill>
                <a:latin typeface="Arial"/>
                <a:ea typeface="Malgun Gothic"/>
                <a:cs typeface="Malgun Gothic"/>
              </a:rPr>
              <a:t>는 plant 45/48(ℓ 0.2는 44/48)로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(44/48)와 한 건 이내다. 하지만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에 없던 치명 실패가 설정마다 한 건씩 있다 (ℓ 0.3은 curb_ramp s4, ℓ 0.2는 bumps_potholes s11).</a:t>
            </a:r>
          </a:p>
        </p:txBody>
      </p:sp>
      <p:sp>
        <p:nvSpPr>
          <p:cNvPr id="6" name="TextBox 5"/>
          <p:cNvSpPr txBox="1"/>
          <p:nvPr/>
        </p:nvSpPr>
        <p:spPr>
          <a:xfrm>
            <a:off x="609600" y="30654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넣었나.</a:t>
            </a:r>
            <a:r>
              <a:rPr sz="1050" b="0" i="0">
                <a:solidFill>
                  <a:srgbClr val="16213A"/>
                </a:solidFill>
                <a:latin typeface="Arial"/>
                <a:ea typeface="Malgun Gothic"/>
                <a:cs typeface="Malgun Gothic"/>
              </a:rPr>
              <a:t> 지형 행과 같은 법선 위에 한쪽 2차 퍼텐셜을 하나 더 세웠다. 소프트 행의 slack을 2차로만 벌하면 그것이 곧 비용이다.</a:t>
            </a:r>
          </a:p>
        </p:txBody>
      </p:sp>
      <p:pic>
        <p:nvPicPr>
          <p:cNvPr id="7" name="Picture 6" descr="image.png"/>
          <p:cNvPicPr>
            <a:picLocks noChangeAspect="1"/>
          </p:cNvPicPr>
          <p:nvPr/>
        </p:nvPicPr>
        <p:blipFill>
          <a:blip r:embed="rId3"/>
          <a:stretch>
            <a:fillRect/>
          </a:stretch>
        </p:blipFill>
        <p:spPr>
          <a:xfrm>
            <a:off x="609600" y="3370858"/>
            <a:ext cx="3162300" cy="279400"/>
          </a:xfrm>
          <a:prstGeom prst="rect">
            <a:avLst/>
          </a:prstGeom>
        </p:spPr>
      </p:pic>
      <p:sp>
        <p:nvSpPr>
          <p:cNvPr id="8" name="TextBox 7"/>
          <p:cNvSpPr txBox="1"/>
          <p:nvPr/>
        </p:nvSpPr>
        <p:spPr>
          <a:xfrm>
            <a:off x="609600" y="3681512"/>
            <a:ext cx="10972800" cy="1082477"/>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dₖ</a:t>
            </a:r>
            <a:r>
              <a:rPr sz="1050" b="0" i="0">
                <a:solidFill>
                  <a:srgbClr val="16213A"/>
                </a:solidFill>
                <a:latin typeface="Arial"/>
                <a:ea typeface="Malgun Gothic"/>
                <a:cs typeface="Malgun Gothic"/>
              </a:rPr>
              <a:t>는 노드에서 가장 가까운 치명 칸 가장자리까지의 거리, </a:t>
            </a:r>
            <a:r>
              <a:rPr sz="1050" b="0" i="1">
                <a:solidFill>
                  <a:srgbClr val="16213A"/>
                </a:solidFill>
                <a:latin typeface="Arial"/>
                <a:ea typeface="Malgun Gothic"/>
                <a:cs typeface="Malgun Gothic"/>
              </a:rPr>
              <a:t>Wₖ</a:t>
            </a:r>
            <a:r>
              <a:rPr sz="1050" b="0" i="0">
                <a:solidFill>
                  <a:srgbClr val="16213A"/>
                </a:solidFill>
                <a:latin typeface="Arial"/>
                <a:ea typeface="Malgun Gothic"/>
                <a:cs typeface="Malgun Gothic"/>
              </a:rPr>
              <a:t>는 그 법선을 따라 잰 자유 폭이다(</a:t>
            </a:r>
            <a:r>
              <a:rPr sz="1050" b="0" i="0">
                <a:solidFill>
                  <a:srgbClr val="16213A"/>
                </a:solidFill>
                <a:latin typeface="Consolas"/>
                <a:ea typeface="Malgun Gothic"/>
                <a:cs typeface="Malgun Gothic"/>
              </a:rPr>
              <a:t>LethalField.free_width</a:t>
            </a:r>
            <a:r>
              <a:rPr sz="1050" b="0" i="0">
                <a:solidFill>
                  <a:srgbClr val="16213A"/>
                </a:solidFill>
                <a:latin typeface="Arial"/>
                <a:ea typeface="Malgun Gothic"/>
                <a:cs typeface="Malgun Gothic"/>
              </a:rPr>
              <a:t>, res/4 간격 광선, 지도 테두리 포함). 벽이 하나뿐이면 목표는 벽에서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2ℓ</a:t>
            </a:r>
            <a:r>
              <a:rPr sz="1050" b="0" i="0">
                <a:solidFill>
                  <a:srgbClr val="16213A"/>
                </a:solidFill>
                <a:latin typeface="Arial"/>
                <a:ea typeface="Malgun Gothic"/>
                <a:cs typeface="Malgun Gothic"/>
              </a:rPr>
              <a:t>보다 좁은 통로에서는 가운데 선이 목표라, hard 행이 들여보내는 통로를 소프트 행이 막는 일이 없다. 가우스-뉴턴 헤시안이 정확하고 볼록하다. 종단 노드에는 진행 가중치 </a:t>
            </a:r>
            <a:r>
              <a:rPr sz="1050" b="0" i="1">
                <a:solidFill>
                  <a:srgbClr val="16213A"/>
                </a:solidFill>
                <a:latin typeface="Arial"/>
                <a:ea typeface="Malgun Gothic"/>
                <a:cs typeface="Malgun Gothic"/>
              </a:rPr>
              <a:t>w_(xy,e)</a:t>
            </a:r>
            <a:r>
              <a:rPr sz="1050" b="0" i="0">
                <a:solidFill>
                  <a:srgbClr val="16213A"/>
                </a:solidFill>
                <a:latin typeface="Arial"/>
                <a:ea typeface="Malgun Gothic"/>
                <a:cs typeface="Malgun Gothic"/>
              </a:rPr>
              <a:t>와 같은 비율의 가중치로 같은 행을 둔다. ℓ = 0이면 OCP·파라미터·solver 이름이 이전과 비트 단위로 같다. 켜면 solver 이름에 구조를 정하는 필드의 해시가 붙는다. 그래서 한 프로세스에서 두 구조가 같은 이름의 라이브러리를 나눠 쓰는 일이 없다. solver의 slack이 노드마다 </a:t>
            </a:r>
            <a:r>
              <a:rPr sz="1050" b="0" i="1">
                <a:solidFill>
                  <a:srgbClr val="16213A"/>
                </a:solidFill>
                <a:latin typeface="Arial"/>
                <a:ea typeface="Malgun Gothic"/>
                <a:cs typeface="Malgun Gothic"/>
              </a:rPr>
              <a:t>(bₛ - n· p)₊</a:t>
            </a:r>
            <a:r>
              <a:rPr sz="1050" b="0" i="0">
                <a:solidFill>
                  <a:srgbClr val="16213A"/>
                </a:solidFill>
                <a:latin typeface="Arial"/>
                <a:ea typeface="Malgun Gothic"/>
                <a:cs typeface="Malgun Gothic"/>
              </a:rPr>
              <a:t>와 같고, solver 비용이 위 식(stage는 </a:t>
            </a:r>
            <a:r>
              <a:rPr sz="1050" b="0" i="1">
                <a:solidFill>
                  <a:srgbClr val="16213A"/>
                </a:solidFill>
                <a:latin typeface="Arial"/>
                <a:ea typeface="Malgun Gothic"/>
                <a:cs typeface="Malgun Gothic"/>
              </a:rPr>
              <a:t>Δ t</a:t>
            </a:r>
            <a:r>
              <a:rPr sz="1050" b="0" i="0">
                <a:solidFill>
                  <a:srgbClr val="16213A"/>
                </a:solidFill>
                <a:latin typeface="Arial"/>
                <a:ea typeface="Malgun Gothic"/>
                <a:cs typeface="Malgun Gothic"/>
              </a:rPr>
              <a:t>배, 종단은 가중치 비율)과 소수 여덟째 자리까지 같다는 것을 테스트로 확인한다.</a:t>
            </a:r>
          </a:p>
        </p:txBody>
      </p:sp>
      <p:sp>
        <p:nvSpPr>
          <p:cNvPr id="9" name="TextBox 8"/>
          <p:cNvSpPr txBox="1"/>
          <p:nvPr/>
        </p:nvSpPr>
        <p:spPr>
          <a:xfrm>
            <a:off x="609600" y="485288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검증에서 고친 것과 다시 잰 것.</a:t>
            </a:r>
            <a:r>
              <a:rPr sz="1050" b="0" i="0">
                <a:solidFill>
                  <a:srgbClr val="16213A"/>
                </a:solidFill>
                <a:latin typeface="Arial"/>
                <a:ea typeface="Malgun Gothic"/>
                <a:cs typeface="Malgun Gothic"/>
              </a:rPr>
              <a:t> 자유 폭 광선이 계단형 벽에서 같은 벽의 다음 칸에 걸려 폭을 0으로 읽는 경우가 있었다. 그러면 그 노드의 목표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가 0이 되어 소프트 행이 꺼진다. 발에서 반 칸 안의 히트는 같은 벽이므로 건너뛰게 고쳤다(테스트: 기울기 세 가지의 계단형 벽). 벽에서 한두 칸 안에서는 칸 중심 법선이 벽을 따라 기울어 폭을 아직 작게 읽을 수 있다. hard 여유(0.10 m) 밖의 노드는 실제 폭을 읽는다. 고친 코드로 </a:t>
            </a:r>
            <a:r>
              <a:rPr sz="1050" b="0" i="0">
                <a:solidFill>
                  <a:srgbClr val="16213A"/>
                </a:solidFill>
                <a:latin typeface="Consolas"/>
                <a:ea typeface="Malgun Gothic"/>
                <a:cs typeface="Malgun Gothic"/>
              </a:rPr>
              <a:t>mpc_sc</a:t>
            </a:r>
            <a:r>
              <a:rPr sz="1050" b="0" i="0">
                <a:solidFill>
                  <a:srgbClr val="16213A"/>
                </a:solidFill>
                <a:latin typeface="Arial"/>
                <a:ea typeface="Malgun Gothic"/>
                <a:cs typeface="Malgun Gothic"/>
              </a:rPr>
              <a:t>의 실행을 모두 다시 돌렸다(스윕 440, 확인 160 에피소드). 정적 (0.10, 0.3, 50)은 40개 가운데 38개가 그대로였고, curb_ramp s9가 도달(17.4 s)에서 timeout으로 바뀌었다. 두 실행의 첫 차이는 98번째 스텝의 종단 노드 하나였다 (벽에서 1 cm,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 0.010 → 0.030 m). 그 2 cm가 폐루프에서 커져, 로봇이 램프 출구까지 올라갔다가 되돌아와 입구 모서리 앞에서 멈췄다. 체계적 차이라기보다 이 장면이 그만큼 아슬아슬하다는 뜻이다. 이 절의 숫자는 모두 고친 코드의 것이다. 고치기 전 숫자는 정적 40/40, 보류 seed 39/40, 보행자 23/24, plant 42/48, </a:t>
            </a:r>
            <a:r>
              <a:rPr sz="1050" b="0" i="0">
                <a:solidFill>
                  <a:srgbClr val="16213A"/>
                </a:solidFill>
                <a:latin typeface="Consolas"/>
                <a:ea typeface="Malgun Gothic"/>
                <a:cs typeface="Malgun Gothic"/>
              </a:rPr>
              <a:t>mpc_gp_sc</a:t>
            </a:r>
            <a:r>
              <a:rPr sz="1050" b="0" i="0">
                <a:solidFill>
                  <a:srgbClr val="16213A"/>
                </a:solidFill>
                <a:latin typeface="Arial"/>
                <a:ea typeface="Malgun Gothic"/>
                <a:cs typeface="Malgun Gothic"/>
              </a:rPr>
              <a:t> plant 45/48이었다.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M.3.16 부드러운 여유 행은 최악 여유를 넓히지만 성공 수는 더하지 않는다 (TP-0117)</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72 / 112</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스윕(E2, 정적 seed 0–9, </a:t>
            </a:r>
            <a:r>
              <a:rPr sz="1050" b="1" i="0">
                <a:solidFill>
                  <a:srgbClr val="16213A"/>
                </a:solidFill>
                <a:latin typeface="Consolas"/>
                <a:ea typeface="Malgun Gothic"/>
                <a:cs typeface="Malgun Gothic"/>
              </a:rPr>
              <a:t>mpc_sc</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미리 정한 규칙은 치명 0 → 최다 성공 → 인접 여유가 (최다 − 1) 이상인 평탄 구간 → 큰 여유 → 최소 여유 5% 분위 → 도달 시간 순이다. 고치기 전 코드의 1단계(여유 0.025–0.10 m, ℓ 0.2·0.3, </a:t>
            </a:r>
            <a:r>
              <a:rPr sz="1050" b="0" i="1">
                <a:solidFill>
                  <a:srgbClr val="16213A"/>
                </a:solidFill>
                <a:latin typeface="Arial"/>
                <a:ea typeface="Malgun Gothic"/>
                <a:cs typeface="Malgun Gothic"/>
              </a:rPr>
              <a:t>w_c</a:t>
            </a:r>
            <a:r>
              <a:rPr sz="1050" b="0" i="0">
                <a:solidFill>
                  <a:srgbClr val="16213A"/>
                </a:solidFill>
                <a:latin typeface="Arial"/>
                <a:ea typeface="Malgun Gothic"/>
                <a:cs typeface="Malgun Gothic"/>
              </a:rPr>
              <a:t> = 50)에서도 (0.10, 0.2)와 (0.10, 0.3)은 모두 40/40, 치명 0이었다. 그러니 규칙의 다음 단계인 5% 분위가 둘을 갈랐어야 했고, ℓ 0.2가 근소하게 높았다(12.3 대 12.2 cm). 그런데도 (0.10, 0.3, 50)을 골라 2·3단계(</a:t>
            </a:r>
            <a:r>
              <a:rPr sz="1050" b="0" i="1">
                <a:solidFill>
                  <a:srgbClr val="16213A"/>
                </a:solidFill>
                <a:latin typeface="Arial"/>
                <a:ea typeface="Malgun Gothic"/>
                <a:cs typeface="Malgun Gothic"/>
              </a:rPr>
              <a:t>w_c</a:t>
            </a:r>
            <a:r>
              <a:rPr sz="1050" b="0" i="0">
                <a:solidFill>
                  <a:srgbClr val="16213A"/>
                </a:solidFill>
                <a:latin typeface="Arial"/>
                <a:ea typeface="Malgun Gothic"/>
                <a:cs typeface="Malgun Gothic"/>
              </a:rPr>
              <a:t> 20·100, 여유 0.075–0.15 m)와 확인(E4)을 그 설정으로 돌렸고, 그 설정이 스택 </a:t>
            </a:r>
            <a:r>
              <a:rPr sz="1050" b="0" i="0">
                <a:solidFill>
                  <a:srgbClr val="16213A"/>
                </a:solidFill>
                <a:latin typeface="Consolas"/>
                <a:ea typeface="Malgun Gothic"/>
                <a:cs typeface="Malgun Gothic"/>
              </a:rPr>
              <a:t>mpc_sc</a:t>
            </a:r>
            <a:r>
              <a:rPr sz="1050" b="0" i="0">
                <a:solidFill>
                  <a:srgbClr val="16213A"/>
                </a:solidFill>
                <a:latin typeface="Arial"/>
                <a:ea typeface="Malgun Gothic"/>
                <a:cs typeface="Malgun Gothic"/>
              </a:rPr>
              <a:t>의 기본값이다(도달 시간은 ℓ 0.3이 15.3 s로 ℓ 0.2의 15.6 s보다 짧다). 선택을 잘못 적용한 것이다. 고친 코드에서는 (0.10, 0.3)이 39/40이 되어, 규칙이 성공 수만으로 (0.10, 0.2, 50)을 고른다. 규칙의 선택인 ℓ 0.2의 확인을 E5로 더 돌렸다(위 판정). 2·3단계는 그 설정에서 다시 돌리지 않았다.</a:t>
            </a:r>
          </a:p>
        </p:txBody>
      </p:sp>
      <p:graphicFrame>
        <p:nvGraphicFramePr>
          <p:cNvPr id="6" name="Table 5"/>
          <p:cNvGraphicFramePr>
            <a:graphicFrameLocks noGrp="1"/>
          </p:cNvGraphicFramePr>
          <p:nvPr/>
        </p:nvGraphicFramePr>
        <p:xfrm>
          <a:off x="609600" y="2415977"/>
          <a:ext cx="10966451" cy="788352"/>
        </p:xfrm>
        <a:graphic>
          <a:graphicData uri="http://schemas.openxmlformats.org/drawingml/2006/table">
            <a:tbl>
              <a:tblPr firstRow="1" bandRow="1">
                <a:tableStyleId>{5C22544A-7EE6-4342-B048-85BDC9FD1C3A}</a:tableStyleId>
              </a:tblPr>
              <a:tblGrid>
                <a:gridCol w="3296642"/>
                <a:gridCol w="1394718"/>
                <a:gridCol w="958354"/>
                <a:gridCol w="958354"/>
                <a:gridCol w="2441377"/>
                <a:gridCol w="958354"/>
                <a:gridCol w="958652"/>
              </a:tblGrid>
              <a:tr h="197088">
                <a:tc>
                  <a:txBody>
                    <a:bodyPr wrap="square"/>
                    <a:lstStyle/>
                    <a:p>
                      <a:r>
                        <a:rPr sz="800" b="1" i="0">
                          <a:solidFill>
                            <a:srgbClr val="F4F1EA"/>
                          </a:solidFill>
                          <a:latin typeface="Arial"/>
                          <a:ea typeface="Malgun Gothic"/>
                          <a:cs typeface="Malgun Gothic"/>
                        </a:rPr>
                        <a:t>ℓ (m) / </a:t>
                      </a:r>
                      <a:r>
                        <a:rPr sz="800" b="1" i="1">
                          <a:solidFill>
                            <a:srgbClr val="F4F1EA"/>
                          </a:solidFill>
                          <a:latin typeface="Arial"/>
                          <a:ea typeface="Malgun Gothic"/>
                          <a:cs typeface="Malgun Gothic"/>
                        </a:rPr>
                        <a:t>w_c</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여유 0.025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0.075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0.10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0.125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0.15</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0.3 / 50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0.2 / 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0.3 / 20, 0.3 / 100 (여유 0.10)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39/40(치명 1), 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M.3.16 부드러운 여유 행은 최악 여유를 넓히지만 성공 수는 더하지 않는다 (TP-0117)</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73 / 112</a:t>
            </a:r>
          </a:p>
        </p:txBody>
      </p:sp>
      <p:pic>
        <p:nvPicPr>
          <p:cNvPr id="5" name="Picture 4" descr="image.jpg"/>
          <p:cNvPicPr>
            <a:picLocks noChangeAspect="1"/>
          </p:cNvPicPr>
          <p:nvPr/>
        </p:nvPicPr>
        <p:blipFill>
          <a:blip r:embed="rId3"/>
          <a:stretch>
            <a:fillRect/>
          </a:stretch>
        </p:blipFill>
        <p:spPr>
          <a:xfrm>
            <a:off x="609600" y="1244600"/>
            <a:ext cx="5410200" cy="1390650"/>
          </a:xfrm>
          <a:prstGeom prst="rect">
            <a:avLst/>
          </a:prstGeom>
        </p:spPr>
      </p:pic>
      <p:sp>
        <p:nvSpPr>
          <p:cNvPr id="6" name="TextBox 5"/>
          <p:cNvSpPr txBox="1"/>
          <p:nvPr/>
        </p:nvSpPr>
        <p:spPr>
          <a:xfrm>
            <a:off x="609600" y="26733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 hard 여유별 정적 성공 수. 회색 점선이 구간 평균 명령(TP-0093), 주황이 다음 노드 명령(TP-0122), 파랑 실선이 부드러운 여유 행을 더한 mpc_sc(ℓ 0.3), 파랑 점선이 ℓ 0.2다. (b) 에피소드별 최소 GT 여유의 5% 분위. 원자료 results/p2-controller-followups.tsv.</a:t>
            </a:r>
          </a:p>
        </p:txBody>
      </p:sp>
      <p:pic>
        <p:nvPicPr>
          <p:cNvPr id="7" name="Picture 6" descr="image.jpg"/>
          <p:cNvPicPr>
            <a:picLocks noChangeAspect="1"/>
          </p:cNvPicPr>
          <p:nvPr/>
        </p:nvPicPr>
        <p:blipFill>
          <a:blip r:embed="rId4"/>
          <a:stretch>
            <a:fillRect/>
          </a:stretch>
        </p:blipFill>
        <p:spPr>
          <a:xfrm>
            <a:off x="6172200" y="1244600"/>
            <a:ext cx="5410200" cy="2203450"/>
          </a:xfrm>
          <a:prstGeom prst="rect">
            <a:avLst/>
          </a:prstGeom>
        </p:spPr>
      </p:pic>
      <p:sp>
        <p:nvSpPr>
          <p:cNvPr id="8" name="TextBox 7"/>
          <p:cNvSpPr txBox="1"/>
          <p:nvPr/>
        </p:nvSpPr>
        <p:spPr>
          <a:xfrm>
            <a:off x="6172200" y="3486150"/>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벽 60 cm 안에서 실행한 위치의 GT 여유 누적 분포(정적 seed 0–9). 부드러운 여유 행(파랑)은 15–30 cm 구간을 오른쪽으로 민다. 10 cm 미만 스텝 비율은 구간 평균 명령(여유 0.15) 3.6%, 다음 노드 명령 1.4%(0.15)·0.7%(0.10), 여유 행 0.7%(0.10)다. 같은 hard 여유에서는 여유 행이 10 cm 미만 스텝을 줄이지 않는다. 바뀌는 것은 15–30 cm 구간이다. 원자료 results/tp0117/edge_clearance_steps.npz.</a:t>
            </a:r>
          </a:p>
        </p:txBody>
      </p:sp>
      <p:graphicFrame>
        <p:nvGraphicFramePr>
          <p:cNvPr id="9" name="Table 8"/>
          <p:cNvGraphicFramePr>
            <a:graphicFrameLocks noGrp="1"/>
          </p:cNvGraphicFramePr>
          <p:nvPr/>
        </p:nvGraphicFramePr>
        <p:xfrm>
          <a:off x="609600" y="4143772"/>
          <a:ext cx="10966450" cy="985440"/>
        </p:xfrm>
        <a:graphic>
          <a:graphicData uri="http://schemas.openxmlformats.org/drawingml/2006/table">
            <a:tbl>
              <a:tblPr firstRow="1" bandRow="1">
                <a:tableStyleId>{5C22544A-7EE6-4342-B048-85BDC9FD1C3A}</a:tableStyleId>
              </a:tblPr>
              <a:tblGrid>
                <a:gridCol w="3141365"/>
                <a:gridCol w="1506041"/>
                <a:gridCol w="1506041"/>
                <a:gridCol w="1549003"/>
                <a:gridCol w="1631752"/>
                <a:gridCol w="1632248"/>
              </a:tblGrid>
              <a:tr h="197088">
                <a:tc>
                  <a:txBody>
                    <a:bodyPr wrap="square"/>
                    <a:lstStyle/>
                    <a:p>
                      <a:r>
                        <a:rPr sz="800" b="1" i="0">
                          <a:solidFill>
                            <a:srgbClr val="F4F1EA"/>
                          </a:solidFill>
                          <a:latin typeface="Arial"/>
                          <a:ea typeface="Malgun Gothic"/>
                          <a:cs typeface="Malgun Gothic"/>
                        </a:rPr>
                        <a:t>지표 (정적 seed 0–9)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구간 평균, 0.15</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next</a:t>
                      </a:r>
                      <a:r>
                        <a:rPr sz="800" b="1" i="0">
                          <a:solidFill>
                            <a:srgbClr val="F4F1EA"/>
                          </a:solidFill>
                          <a:latin typeface="Arial"/>
                          <a:ea typeface="Malgun Gothic"/>
                          <a:cs typeface="Malgun Gothic"/>
                        </a:rPr>
                        <a:t>, 0.15</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next</a:t>
                      </a:r>
                      <a:r>
                        <a:rPr sz="800" b="1" i="0">
                          <a:solidFill>
                            <a:srgbClr val="F4F1EA"/>
                          </a:solidFill>
                          <a:latin typeface="Arial"/>
                          <a:ea typeface="Malgun Gothic"/>
                          <a:cs typeface="Malgun Gothic"/>
                        </a:rPr>
                        <a:t>, 0.10</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mpc_sc</a:t>
                      </a:r>
                      <a:r>
                        <a:rPr sz="800" b="1" i="0">
                          <a:solidFill>
                            <a:srgbClr val="F4F1EA"/>
                          </a:solidFill>
                          <a:latin typeface="Arial"/>
                          <a:ea typeface="Malgun Gothic"/>
                          <a:cs typeface="Malgun Gothic"/>
                        </a:rPr>
                        <a:t>, 0.10 / ℓ 0.3</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mpc_sc</a:t>
                      </a:r>
                      <a:r>
                        <a:rPr sz="800" b="1" i="0">
                          <a:solidFill>
                            <a:srgbClr val="F4F1EA"/>
                          </a:solidFill>
                          <a:latin typeface="Arial"/>
                          <a:ea typeface="Malgun Gothic"/>
                          <a:cs typeface="Malgun Gothic"/>
                        </a:rPr>
                        <a:t>, 0.10 / ℓ 0.2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성공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에피소드별 최소 여유: 최솟값 / 5% 분위 / 중앙값</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 / 2.8 / 17.6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 / 9.7 / 21.9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5.6 / 10.2 / 17.5 cm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9.5 / 12.2 / 22.2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9.5 / 12.3 / 18.3 cm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curb_ramp 에피소드의 최소 여유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17.5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13.3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15.4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12.7 cm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도달 시간 / GT cost 평균 / rms jerk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17.9 s / 0.025 / 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16.1 s / 0.027 / 6.7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15.6 s / 0.028 / 6.3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15.2 s / 0.033 / 6.3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15.5 s / 0.027 / 6.3</a:t>
                      </a:r>
                    </a:p>
                  </a:txBody>
                  <a:tcPr marL="63500" marR="63500" marT="12700" marB="12700">
                    <a:solidFill>
                      <a:srgbClr val="F3F0E8"/>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M.3.16 부드러운 여유 행은 최악 여유를 넓히지만 성공 수는 더하지 않는다 (TP-0117)</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74 / 112</a:t>
            </a:r>
          </a:p>
        </p:txBody>
      </p:sp>
      <p:pic>
        <p:nvPicPr>
          <p:cNvPr id="5" name="Picture 4" descr="image.jpg"/>
          <p:cNvPicPr>
            <a:picLocks noChangeAspect="1"/>
          </p:cNvPicPr>
          <p:nvPr/>
        </p:nvPicPr>
        <p:blipFill>
          <a:blip r:embed="rId3"/>
          <a:stretch>
            <a:fillRect/>
          </a:stretch>
        </p:blipFill>
        <p:spPr>
          <a:xfrm>
            <a:off x="1016000" y="1244600"/>
            <a:ext cx="10160000" cy="2368550"/>
          </a:xfrm>
          <a:prstGeom prst="rect">
            <a:avLst/>
          </a:prstGeom>
        </p:spPr>
      </p:pic>
      <p:sp>
        <p:nvSpPr>
          <p:cNvPr id="6" name="TextBox 5"/>
          <p:cNvSpPr txBox="1"/>
          <p:nvPr/>
        </p:nvSpPr>
        <p:spPr>
          <a:xfrm>
            <a:off x="1016000" y="36512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네 조건에서 MPC 변형과 MPPI의 성공 비율. 보류 seed 10–19는 seed 0–9로 고른 설정을 그대로 돌린 것이다. 회색은 이번 작업 전의 결과(TP-0093의 MPC, TP-0068의 MPC + GP)다. GP 분기는 M.3.12부터 다음 노드 꼴의 명령을 보낸다. 연한 파랑은 미리 정한 규칙이 고르는 ℓ 0.2다(E5).</a:t>
            </a:r>
          </a:p>
        </p:txBody>
      </p:sp>
      <p:sp>
        <p:nvSpPr>
          <p:cNvPr id="7" name="TextBox 6"/>
          <p:cNvSpPr txBox="1"/>
          <p:nvPr/>
        </p:nvSpPr>
        <p:spPr>
          <a:xfrm>
            <a:off x="609600" y="4024511"/>
            <a:ext cx="10972800" cy="20718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bumps_potholes s7, 블록 사이 폭 0.70 m 통로(양쪽 hard 여유 0.15 m를 빼면 0.40 m) 앞. 구간 평균 명령은 통로 앞에서 약 40 s 멈췄다가 52 s에 통로를 빠져나가지만 목표 1.9 m 앞에서 60 s timeout이다. 다음 노드 명령은 같은 자리에서 약 7 s 멈춘 뒤 지나가 23.9 s에 도달한다. 여유 행(</a:t>
            </a:r>
            <a:r>
              <a:rPr sz="1050" b="0" i="1">
                <a:solidFill>
                  <a:srgbClr val="16213A"/>
                </a:solidFill>
                <a:latin typeface="Consolas"/>
                <a:ea typeface="Malgun Gothic"/>
                <a:cs typeface="Malgun Gothic"/>
              </a:rPr>
              <a:t>mpc_sc</a:t>
            </a:r>
            <a:r>
              <a:rPr sz="1050" b="0" i="1">
                <a:solidFill>
                  <a:srgbClr val="16213A"/>
                </a:solidFill>
                <a:latin typeface="Arial"/>
                <a:ea typeface="Malgun Gothic"/>
                <a:cs typeface="Malgun Gothic"/>
              </a:rPr>
              <a:t>)은 이 통로에 들어가지 않고 가운데 블록 위쪽으로 돌아 13.6 s에 도달한다. 세 패널 모두 왼쪽 로봇이 있는 곳을 보여 준다.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M.3.16 부드러운 여유 행은 최악 여유를 넓히지만 성공 수는 더하지 않는다 (TP-0117)</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75 / 112</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성공 수가 늘지 않았나.</a:t>
            </a:r>
            <a:r>
              <a:rPr sz="1050" b="0" i="0">
                <a:solidFill>
                  <a:srgbClr val="16213A"/>
                </a:solidFill>
                <a:latin typeface="Arial"/>
                <a:ea typeface="Malgun Gothic"/>
                <a:cs typeface="Malgun Gothic"/>
              </a:rPr>
              <a:t> 여유 행은 벽에서 떨어지게 하지만, 남은 실패는 벽에 붙어서가 아니다. 정적·보류 seed의 실패는 curb_ramp s9·s10의 </a:t>
            </a:r>
            <a:r>
              <a:rPr sz="1050" b="0" i="0">
                <a:solidFill>
                  <a:srgbClr val="16213A"/>
                </a:solidFill>
                <a:latin typeface="Consolas"/>
                <a:ea typeface="Malgun Gothic"/>
                <a:cs typeface="Malgun Gothic"/>
              </a:rPr>
              <a:t>timeout</a:t>
            </a:r>
            <a:r>
              <a:rPr sz="1050" b="0" i="0">
                <a:solidFill>
                  <a:srgbClr val="16213A"/>
                </a:solidFill>
                <a:latin typeface="Arial"/>
                <a:ea typeface="Malgun Gothic"/>
                <a:cs typeface="Malgun Gothic"/>
              </a:rPr>
              <a:t>이고, plant에서는 여유 행만 실패한 장면이 넷(curb s6·s9 치명, curb s7 timeout, bumps s6 치명)이고 여유 행이 고친 장면은 curb s0 하나다. 네 장면의 원인은 따로 재지 않았다. Part C(경사·거칠기의 연속 비용 행)는 고친 코드에서 발동 조건 하나가 걸렸다. 정적 GT cost 평균이 0.033으로 문턱 0.030을 넘는다. 이 값은 curb_ramp s9 한 건이 입구 모서리 앞에서 40 s 멈추는 동안 0.21을 쌓은 탓이고, 성공한 에피소드만 평균하면 0.028이다. 여유 행을 기본값으로 켜지 않으므로 Part C는 여기서 짓지 않고, 그 내용은 TP-0123(jerk와 경사·거칠기 비용)으로 넘긴다. M.1.1 표의 </a:t>
            </a:r>
            <a:r>
              <a:rPr sz="1050" b="0" i="0">
                <a:solidFill>
                  <a:srgbClr val="16213A"/>
                </a:solidFill>
                <a:latin typeface="Consolas"/>
                <a:ea typeface="Malgun Gothic"/>
                <a:cs typeface="Malgun Gothic"/>
              </a:rPr>
              <a:t>TraversabilityCost</a:t>
            </a:r>
            <a:r>
              <a:rPr sz="1050" b="0" i="0">
                <a:solidFill>
                  <a:srgbClr val="16213A"/>
                </a:solidFill>
                <a:latin typeface="Arial"/>
                <a:ea typeface="Malgun Gothic"/>
                <a:cs typeface="Malgun Gothic"/>
              </a:rPr>
              <a:t> 줄은 그대로 열어 둔다. TODO의 TP-0117 제목(노드별 cost 기울기 항)과 실제로 넣은 것(부드러운 여유 행)이 다르다. 기울기·거칠기 항은 TP-0123에서 jerk와 함께 다룬다.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a:t>
            </a:r>
            <a:r>
              <a:rPr sz="1050" b="0" i="0">
                <a:solidFill>
                  <a:srgbClr val="16213A"/>
                </a:solidFill>
                <a:latin typeface="Arial"/>
                <a:ea typeface="Malgun Gothic"/>
                <a:cs typeface="Malgun Gothic"/>
              </a:rPr>
              <a:t> 같은 요청에 여섯 컨트롤러를 차례로 넣어 쟀다(plant bumps_potholes s0, 145 스텝, 부하 평균 1.2, 순서는 스텝마다 돌림, </a:t>
            </a:r>
            <a:r>
              <a:rPr sz="1050" b="0" i="0">
                <a:solidFill>
                  <a:srgbClr val="16213A"/>
                </a:solidFill>
                <a:latin typeface="Consolas"/>
                <a:ea typeface="Malgun Gothic"/>
                <a:cs typeface="Malgun Gothic"/>
              </a:rPr>
              <a:t>python -m scripts.time_controllers</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results/tp0117/control_timing.tsv</a:t>
            </a:r>
            <a:r>
              <a:rPr sz="1050" b="0" i="0">
                <a:solidFill>
                  <a:srgbClr val="16213A"/>
                </a:solidFill>
                <a:latin typeface="Arial"/>
                <a:ea typeface="Malgun Gothic"/>
                <a:cs typeface="Malgun Gothic"/>
              </a:rPr>
              <a:t>). 여유 행은 중앙값 0.4–0.7 ms를 더한다. QP가 실패(status ≠ 0)한 풀이는 없었다.</a:t>
            </a:r>
          </a:p>
        </p:txBody>
      </p:sp>
      <p:graphicFrame>
        <p:nvGraphicFramePr>
          <p:cNvPr id="7" name="Table 6"/>
          <p:cNvGraphicFramePr>
            <a:graphicFrameLocks noGrp="1"/>
          </p:cNvGraphicFramePr>
          <p:nvPr/>
        </p:nvGraphicFramePr>
        <p:xfrm>
          <a:off x="609600" y="2937867"/>
          <a:ext cx="10966450" cy="1379616"/>
        </p:xfrm>
        <a:graphic>
          <a:graphicData uri="http://schemas.openxmlformats.org/drawingml/2006/table">
            <a:tbl>
              <a:tblPr firstRow="1" bandRow="1">
                <a:tableStyleId>{5C22544A-7EE6-4342-B048-85BDC9FD1C3A}</a:tableStyleId>
              </a:tblPr>
              <a:tblGrid>
                <a:gridCol w="4849416"/>
                <a:gridCol w="1973362"/>
                <a:gridCol w="2170013"/>
                <a:gridCol w="1973659"/>
              </a:tblGrid>
              <a:tr h="197088">
                <a:tc>
                  <a:txBody>
                    <a:bodyPr wrap="square"/>
                    <a:lstStyle/>
                    <a:p>
                      <a:r>
                        <a:rPr sz="800" b="1" i="0">
                          <a:solidFill>
                            <a:srgbClr val="F4F1EA"/>
                          </a:solidFill>
                          <a:latin typeface="Arial"/>
                          <a:ea typeface="Malgun Gothic"/>
                          <a:cs typeface="Malgun Gothic"/>
                        </a:rPr>
                        <a:t>컨트롤러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중앙값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95% 분위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최대</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(구간 평균 명령)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8.8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13.0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mpc</a:t>
                      </a:r>
                      <a:r>
                        <a:rPr sz="800" b="0" i="0">
                          <a:solidFill>
                            <a:srgbClr val="16213A"/>
                          </a:solidFill>
                          <a:latin typeface="Arial"/>
                          <a:ea typeface="Malgun Gothic"/>
                          <a:cs typeface="Malgun Gothic"/>
                        </a:rPr>
                        <a:t> (다음 노드 명령, 기본)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6.4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13.3 ms</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mpc_sc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9.3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15.4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mpc_gp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16.6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18.1 ms</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mpc_gp_sc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16.8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34.0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24.1 ms</a:t>
                      </a:r>
                    </a:p>
                  </a:txBody>
                  <a:tcPr marL="63500" marR="63500" marT="12700" marB="12700">
                    <a:solidFill>
                      <a:srgbClr val="F3F0E8"/>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76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여유를 아는 Guidance(</a:t>
            </a:r>
            <a:r>
              <a:rPr sz="1050" b="1" i="0">
                <a:solidFill>
                  <a:srgbClr val="16213A"/>
                </a:solidFill>
                <a:latin typeface="Consolas"/>
                <a:ea typeface="Malgun Gothic"/>
                <a:cs typeface="Malgun Gothic"/>
              </a:rPr>
              <a:t>guidance_c</a:t>
            </a:r>
            <a:r>
              <a:rPr sz="1050" b="1" i="0">
                <a:solidFill>
                  <a:srgbClr val="16213A"/>
                </a:solidFill>
                <a:latin typeface="Arial"/>
                <a:ea typeface="Malgun Gothic"/>
                <a:cs typeface="Malgun Gothic"/>
              </a:rPr>
              <a:t>)는 다섯 컨트롤러 모두에서 성공을 지키거나 늘렸다.</a:t>
            </a:r>
            <a:r>
              <a:rPr sz="1050" b="0" i="0">
                <a:solidFill>
                  <a:srgbClr val="16213A"/>
                </a:solidFill>
                <a:latin typeface="Arial"/>
                <a:ea typeface="Malgun Gothic"/>
                <a:cs typeface="Malgun Gothic"/>
              </a:rPr>
              <a:t> 같은 seed끼리 짝지어 비교하면 정적 159 → 160/160, 보류 seed 160 → 160/160, 보행자 72 → 72/72(충돌 0), plant 221 → 228/240이다. 짝지은 도달 시간은 정적에서 0.6–5.3% 줄었다. </a:t>
            </a:r>
            <a:r>
              <a:rPr sz="1050" b="1" i="0">
                <a:solidFill>
                  <a:srgbClr val="C2410C"/>
                </a:solidFill>
                <a:latin typeface="Arial"/>
                <a:ea typeface="Malgun Gothic"/>
                <a:cs typeface="Malgun Gothic"/>
              </a:rPr>
              <a:t>벽을 덜 끼고 도는 경로가 Controller를 덜 멈추게 해서, 여유를 사는 비용(경로 +1.6%)보다 빨라진 몫이 크다.</a:t>
            </a:r>
            <a:r>
              <a:rPr sz="1050" b="0" i="0">
                <a:solidFill>
                  <a:srgbClr val="16213A"/>
                </a:solidFill>
                <a:latin typeface="Arial"/>
                <a:ea typeface="Malgun Gothic"/>
                <a:cs typeface="Malgun Gothic"/>
              </a:rPr>
              <a:t> 기본값은 바꾸지 않는다. Playground의 JS Guidance와 Planner D 입력을 함께 바꿔야 하기 때문이다(TP-0121).</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넣었나.</a:t>
            </a:r>
            <a:r>
              <a:rPr sz="1050" b="0" i="0">
                <a:solidFill>
                  <a:srgbClr val="16213A"/>
                </a:solidFill>
                <a:latin typeface="Arial"/>
                <a:ea typeface="Malgun Gothic"/>
                <a:cs typeface="Malgun Gothic"/>
              </a:rPr>
              <a:t> Dijkstra 칸 가중치에 치명 칸까지의 거리 힌지를 더했다.</a:t>
            </a:r>
          </a:p>
        </p:txBody>
      </p:sp>
      <p:pic>
        <p:nvPicPr>
          <p:cNvPr id="7" name="Picture 6" descr="image.png"/>
          <p:cNvPicPr>
            <a:picLocks noChangeAspect="1"/>
          </p:cNvPicPr>
          <p:nvPr/>
        </p:nvPicPr>
        <p:blipFill>
          <a:blip r:embed="rId3"/>
          <a:stretch>
            <a:fillRect/>
          </a:stretch>
        </p:blipFill>
        <p:spPr>
          <a:xfrm>
            <a:off x="609600" y="2288381"/>
            <a:ext cx="5451475" cy="241300"/>
          </a:xfrm>
          <a:prstGeom prst="rect">
            <a:avLst/>
          </a:prstGeom>
        </p:spPr>
      </p:pic>
      <p:sp>
        <p:nvSpPr>
          <p:cNvPr id="8" name="TextBox 7"/>
          <p:cNvSpPr txBox="1"/>
          <p:nvPr/>
        </p:nvSpPr>
        <p:spPr>
          <a:xfrm>
            <a:off x="609600" y="2565896"/>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e_c</a:t>
            </a:r>
            <a:r>
              <a:rPr sz="1050" b="0" i="0">
                <a:solidFill>
                  <a:srgbClr val="16213A"/>
                </a:solidFill>
                <a:latin typeface="Arial"/>
                <a:ea typeface="Malgun Gothic"/>
                <a:cs typeface="Malgun Gothic"/>
              </a:rPr>
              <a:t>는 칸 중심에서 가장 가까운 치명 칸 중심(또는 지도 테두리)까지의 거리다. MPC가 쓰는 </a:t>
            </a:r>
            <a:r>
              <a:rPr sz="1050" b="0" i="0">
                <a:solidFill>
                  <a:srgbClr val="16213A"/>
                </a:solidFill>
                <a:latin typeface="Consolas"/>
                <a:ea typeface="Malgun Gothic"/>
                <a:cs typeface="Malgun Gothic"/>
              </a:rPr>
              <a:t>LethalField.dist</a:t>
            </a:r>
            <a:r>
              <a:rPr sz="1050" b="0" i="0">
                <a:solidFill>
                  <a:srgbClr val="16213A"/>
                </a:solidFill>
                <a:latin typeface="Arial"/>
                <a:ea typeface="Malgun Gothic"/>
                <a:cs typeface="Malgun Gothic"/>
              </a:rPr>
              <a:t>와 같은 장임을 테스트가 고정한다. 간선은 더하거나 빼지 않으므로 도달 가능성은 그대로이고, 다른 길이 없으면 좁은 틈도 그대로 쓴다.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(기본)이면 거리 변환을 아예 계산하지 않아 경로가 비트 단위로 같다. 러너는 이제 Planner 자신의 Guidance를 쓴다. 전에는 러너가 기본 Guidance를 따로 계산해 넘겨서, Planner 쪽 설정이 조용히 무시됐다. 벤치마크에서는 Planner 이름 </a:t>
            </a:r>
            <a:r>
              <a:rPr sz="1050" b="0" i="0">
                <a:solidFill>
                  <a:srgbClr val="16213A"/>
                </a:solidFill>
                <a:latin typeface="Consolas"/>
                <a:ea typeface="Malgun Gothic"/>
                <a:cs typeface="Malgun Gothic"/>
              </a:rPr>
              <a:t>guidance_c</a:t>
            </a:r>
            <a:r>
              <a:rPr sz="1050" b="0" i="0">
                <a:solidFill>
                  <a:srgbClr val="16213A"/>
                </a:solidFill>
                <a:latin typeface="Arial"/>
                <a:ea typeface="Malgun Gothic"/>
                <a:cs typeface="Malgun Gothic"/>
              </a:rPr>
              <a:t>로 고른다.</a:t>
            </a:r>
          </a:p>
        </p:txBody>
      </p:sp>
      <p:sp>
        <p:nvSpPr>
          <p:cNvPr id="9" name="TextBox 8"/>
          <p:cNvSpPr txBox="1"/>
          <p:nvPr/>
        </p:nvSpPr>
        <p:spPr>
          <a:xfrm>
            <a:off x="609600" y="330428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필요했나 (오프라인).</a:t>
            </a:r>
            <a:r>
              <a:rPr sz="1050" b="0" i="0">
                <a:solidFill>
                  <a:srgbClr val="16213A"/>
                </a:solidFill>
                <a:latin typeface="Arial"/>
                <a:ea typeface="Malgun Gothic"/>
                <a:cs typeface="Malgun Gothic"/>
              </a:rPr>
              <a:t> 치명 특징은 로봇 반폭만큼 팽창돼 있어 cost가 0.95 이상에서 곧바로 0 근처로 떨어진다. 그래서 기본 경로는 치명 띠의 가장자리에 붙고 한 칸짜리 틈도 지난다. GT 지도 48장(4 시나리오 × seed 0–11)에서 기본 경로가 MPC 노드 한계(여유 0.15 m + 반 칸 = 0.175 m)를 지키는 지도는 17장뿐이었다. 넓은 길이 없어서가 아니다. 출발과 목표를 잇는 길 가운데 가장 넓은 것의 병목은 모든 지도에서 0.269 m 이상이다. </a:t>
            </a:r>
            <a:r>
              <a:rPr sz="1050" b="0" i="0">
                <a:solidFill>
                  <a:srgbClr val="16213A"/>
                </a:solidFill>
                <a:latin typeface="Consolas"/>
                <a:ea typeface="Malgun Gothic"/>
                <a:cs typeface="Malgun Gothic"/>
              </a:rPr>
              <a:t>guidance_c</a:t>
            </a:r>
            <a:r>
              <a:rPr sz="1050" b="0" i="0">
                <a:solidFill>
                  <a:srgbClr val="16213A"/>
                </a:solidFill>
                <a:latin typeface="Arial"/>
                <a:ea typeface="Malgun Gothic"/>
                <a:cs typeface="Malgun Gothic"/>
              </a:rPr>
              <a:t>는 48장 모두에서 0.175 m를, 46장에서 0.30 m를 지킨다. 경로 길이는 평균 1.6%(최대 16%, 2.8 m) 늘었다.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77 / 112</a:t>
            </a:r>
          </a:p>
        </p:txBody>
      </p:sp>
      <p:pic>
        <p:nvPicPr>
          <p:cNvPr id="5" name="Picture 4" descr="image.jpg"/>
          <p:cNvPicPr>
            <a:picLocks noChangeAspect="1"/>
          </p:cNvPicPr>
          <p:nvPr/>
        </p:nvPicPr>
        <p:blipFill>
          <a:blip r:embed="rId3"/>
          <a:stretch>
            <a:fillRect/>
          </a:stretch>
        </p:blipFill>
        <p:spPr>
          <a:xfrm>
            <a:off x="1263650" y="1244600"/>
            <a:ext cx="9664700" cy="4445000"/>
          </a:xfrm>
          <a:prstGeom prst="rect">
            <a:avLst/>
          </a:prstGeom>
        </p:spPr>
      </p:pic>
      <p:sp>
        <p:nvSpPr>
          <p:cNvPr id="6" name="TextBox 5"/>
          <p:cNvSpPr txBox="1"/>
          <p:nvPr/>
        </p:nvSpPr>
        <p:spPr>
          <a:xfrm>
            <a:off x="1263650" y="5727700"/>
            <a:ext cx="96647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GT 지도의 기본 경로(흰 점선)와 여유 경로(파랑). 회색 띠는 치명 칸 중심에서 0.30 m 안이다. 제목의 "최소"는 출발·목표 0.5 m 밖에서 잰 경로 최소 여유다. 원자료 results/tp0118/routes.tsv.</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78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실제로 받은 경로 (폐루프 재현).</a:t>
            </a:r>
            <a:r>
              <a:rPr sz="1050" b="0" i="0">
                <a:solidFill>
                  <a:srgbClr val="16213A"/>
                </a:solidFill>
                <a:latin typeface="Arial"/>
                <a:ea typeface="Malgun Gothic"/>
                <a:cs typeface="Malgun Gothic"/>
              </a:rPr>
              <a:t> 각 실행이 1 Hz마다 받은 경로를 그대로 다시 만들었다. L0 belief는 지나간 위치와 sim의 잡음 생성기에만 달려 있어서, 기록된 궤적을 따라 다시 관측하면 매 스텝의 belief가 정확히 같아진다(재현한 경로 42개가 실행 중 스냅숏과 모두 같다). 앞 0.3–6 m 구간의 최소 여유가 0.175 m보다 작은 갱신의 비율은 다음과 같다.</a:t>
            </a:r>
          </a:p>
        </p:txBody>
      </p:sp>
      <p:graphicFrame>
        <p:nvGraphicFramePr>
          <p:cNvPr id="6" name="Table 5"/>
          <p:cNvGraphicFramePr>
            <a:graphicFrameLocks noGrp="1"/>
          </p:cNvGraphicFramePr>
          <p:nvPr/>
        </p:nvGraphicFramePr>
        <p:xfrm>
          <a:off x="609600" y="1766491"/>
          <a:ext cx="10966450" cy="788352"/>
        </p:xfrm>
        <a:graphic>
          <a:graphicData uri="http://schemas.openxmlformats.org/drawingml/2006/table">
            <a:tbl>
              <a:tblPr firstRow="1" bandRow="1">
                <a:tableStyleId>{5C22544A-7EE6-4342-B048-85BDC9FD1C3A}</a:tableStyleId>
              </a:tblPr>
              <a:tblGrid>
                <a:gridCol w="4250730"/>
                <a:gridCol w="3357761"/>
                <a:gridCol w="3357959"/>
              </a:tblGrid>
              <a:tr h="197088">
                <a:tc>
                  <a:txBody>
                    <a:bodyPr wrap="square"/>
                    <a:lstStyle/>
                    <a:p>
                      <a:r>
                        <a:rPr sz="800" b="1" i="0">
                          <a:solidFill>
                            <a:srgbClr val="F4F1EA"/>
                          </a:solidFill>
                          <a:latin typeface="Arial"/>
                          <a:ea typeface="Malgun Gothic"/>
                          <a:cs typeface="Malgun Gothic"/>
                        </a:rPr>
                        <a:t>측정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기본 경로 (정적 seed 0–19 / plant)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여유 경로 (정적 seed 0–19 / plant)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관측한 칸에서 잰 GT 여유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44.6% / 46.7%</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4.5% / 3.7%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belief의 치명 칸 기준 (Planner가 알 수 있는 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51.3% / 53.0%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 / 1.8%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GT 전체 (아직 못 본 칸 포함)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53.2% / 54.5%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22.1% / 19.0%</a:t>
                      </a:r>
                    </a:p>
                  </a:txBody>
                  <a:tcPr marL="63500" marR="63500" marT="12700" marB="12700">
                    <a:solidFill>
                      <a:srgbClr val="FFFDF8"/>
                    </a:solidFill>
                  </a:tcPr>
                </a:tc>
              </a:tr>
            </a:tbl>
          </a:graphicData>
        </a:graphic>
      </p:graphicFrame>
      <p:sp>
        <p:nvSpPr>
          <p:cNvPr id="7" name="TextBox 6"/>
          <p:cNvSpPr txBox="1"/>
          <p:nvPr/>
        </p:nvSpPr>
        <p:spPr>
          <a:xfrm>
            <a:off x="609600" y="28471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미리 정한 기준은 "</a:t>
            </a:r>
            <a:r>
              <a:rPr sz="1050" b="0" i="0">
                <a:solidFill>
                  <a:srgbClr val="16213A"/>
                </a:solidFill>
                <a:latin typeface="Consolas"/>
                <a:ea typeface="Malgun Gothic"/>
                <a:cs typeface="Malgun Gothic"/>
              </a:rPr>
              <a:t>guidance_c+mpc</a:t>
            </a:r>
            <a:r>
              <a:rPr sz="1050" b="0" i="0">
                <a:solidFill>
                  <a:srgbClr val="16213A"/>
                </a:solidFill>
                <a:latin typeface="Arial"/>
                <a:ea typeface="Malgun Gothic"/>
                <a:cs typeface="Malgun Gothic"/>
              </a:rPr>
              <a:t> 정적 재현에서 GT 기준 5% 이하"였다. 그 값이 21.4%(네 컨트롤러·seed 0–19를 모으면 22.1%)라 이 기준은 </a:t>
            </a:r>
            <a:r>
              <a:rPr sz="1050" b="1" i="0">
                <a:solidFill>
                  <a:srgbClr val="16213A"/>
                </a:solidFill>
                <a:latin typeface="Arial"/>
                <a:ea typeface="Malgun Gothic"/>
                <a:cs typeface="Malgun Gothic"/>
              </a:rPr>
              <a:t>넘지 못했다</a:t>
            </a:r>
            <a:r>
              <a:rPr sz="1050" b="0" i="0">
                <a:solidFill>
                  <a:srgbClr val="16213A"/>
                </a:solidFill>
                <a:latin typeface="Arial"/>
                <a:ea typeface="Malgun Gothic"/>
                <a:cs typeface="Malgun Gothic"/>
              </a:rPr>
              <a:t>. 남은 부분은 Planner가 아직 보지 못한 칸에서 나온다. 정적 MPC 실행에서 이런 갱신의 87%는 최솟점이 미관측 칸이고, 최솟점은 중앙값으로 5.7 m 앞이다(센서 범위 5 m). 관측한 칸만 재면 4.2%다(모으면 4.5%). 그래서 미리 정한 단계적 재시도(</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 = 20, 5, </a:t>
            </a:r>
            <a:r>
              <a:rPr sz="1050" b="0" i="1">
                <a:solidFill>
                  <a:srgbClr val="16213A"/>
                </a:solidFill>
                <a:latin typeface="Arial"/>
                <a:ea typeface="Malgun Gothic"/>
                <a:cs typeface="Malgun Gothic"/>
              </a:rPr>
              <a:t>d₀</a:t>
            </a:r>
            <a:r>
              <a:rPr sz="1050" b="0" i="0">
                <a:solidFill>
                  <a:srgbClr val="16213A"/>
                </a:solidFill>
                <a:latin typeface="Arial"/>
                <a:ea typeface="Malgun Gothic"/>
                <a:cs typeface="Malgun Gothic"/>
              </a:rPr>
              <a:t> = 0.45)는 돌리지 않았다. 셋 다 Planner가 본 칸의 경로만 바꾸고, 그 비율은 이미 1.7%다. 기준을 정할 때 미관측 칸을 빼지 않은 것이 잘못이었다.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79 / 112</a:t>
            </a:r>
          </a:p>
        </p:txBody>
      </p:sp>
      <p:pic>
        <p:nvPicPr>
          <p:cNvPr id="5" name="Picture 4" descr="image.jpg"/>
          <p:cNvPicPr>
            <a:picLocks noChangeAspect="1"/>
          </p:cNvPicPr>
          <p:nvPr/>
        </p:nvPicPr>
        <p:blipFill>
          <a:blip r:embed="rId3"/>
          <a:stretch>
            <a:fillRect/>
          </a:stretch>
        </p:blipFill>
        <p:spPr>
          <a:xfrm>
            <a:off x="1016000" y="1244600"/>
            <a:ext cx="10160000" cy="3136900"/>
          </a:xfrm>
          <a:prstGeom prst="rect">
            <a:avLst/>
          </a:prstGeom>
        </p:spPr>
      </p:pic>
      <p:sp>
        <p:nvSpPr>
          <p:cNvPr id="6" name="TextBox 5"/>
          <p:cNvSpPr txBox="1"/>
          <p:nvPr/>
        </p:nvSpPr>
        <p:spPr>
          <a:xfrm>
            <a:off x="1016000" y="44196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1 Hz 경로 갱신마다 앞 0.3–6 m 구간의 최소 여유 누적 분포. 실선은 관측한 칸만, 점선은 GT 전체다. 회색이 기본 경로, 파랑이 여유 경로다. 65 cm를 넘는 갱신은 오른쪽 밖에 있다. 원자료 results/tp0118/route_ahead.tsv(python -m scripts.eval_guidance_clearance replay).</a:t>
            </a:r>
          </a:p>
        </p:txBody>
      </p:sp>
      <p:sp>
        <p:nvSpPr>
          <p:cNvPr id="7" name="TextBox 6"/>
          <p:cNvSpPr txBox="1"/>
          <p:nvPr/>
        </p:nvSpPr>
        <p:spPr>
          <a:xfrm>
            <a:off x="609600" y="47928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폐루프 결과.</a:t>
            </a:r>
            <a:r>
              <a:rPr sz="1050" b="0" i="0">
                <a:solidFill>
                  <a:srgbClr val="16213A"/>
                </a:solidFill>
                <a:latin typeface="Arial"/>
                <a:ea typeface="Malgun Gothic"/>
                <a:cs typeface="Malgun Gothic"/>
              </a:rPr>
              <a:t> 같은 명령으로 </a:t>
            </a:r>
            <a:r>
              <a:rPr sz="1050" b="0" i="0">
                <a:solidFill>
                  <a:srgbClr val="16213A"/>
                </a:solidFill>
                <a:latin typeface="Consolas"/>
                <a:ea typeface="Malgun Gothic"/>
                <a:cs typeface="Malgun Gothic"/>
              </a:rPr>
              <a:t>guidance+X</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guidance_c+X</a:t>
            </a:r>
            <a:r>
              <a:rPr sz="1050" b="0" i="0">
                <a:solidFill>
                  <a:srgbClr val="16213A"/>
                </a:solidFill>
                <a:latin typeface="Arial"/>
                <a:ea typeface="Malgun Gothic"/>
                <a:cs typeface="Malgun Gothic"/>
              </a:rPr>
              <a:t>를 짝지어 돌렸다. 기본 경로 쪽은 이전 결과(TP-0119·TP-0122·TP-0117·TP-0068 행)를 에피소드마다 재현했다(성공·실패 유형이 같고 시간 차 0.3 s 이내, 참조가 있는 552개 모두). 러너 변경이 기본 동작을 바꾸지 않았다는 확인이다.</a:t>
            </a:r>
          </a:p>
        </p:txBody>
      </p:sp>
      <p:graphicFrame>
        <p:nvGraphicFramePr>
          <p:cNvPr id="8" name="Table 7"/>
          <p:cNvGraphicFramePr>
            <a:graphicFrameLocks noGrp="1"/>
          </p:cNvGraphicFramePr>
          <p:nvPr/>
        </p:nvGraphicFramePr>
        <p:xfrm>
          <a:off x="609600" y="5314752"/>
          <a:ext cx="10966451" cy="591264"/>
        </p:xfrm>
        <a:graphic>
          <a:graphicData uri="http://schemas.openxmlformats.org/drawingml/2006/table">
            <a:tbl>
              <a:tblPr firstRow="1" bandRow="1">
                <a:tableStyleId>{5C22544A-7EE6-4342-B048-85BDC9FD1C3A}</a:tableStyleId>
              </a:tblPr>
              <a:tblGrid>
                <a:gridCol w="2959695"/>
                <a:gridCol w="1483916"/>
                <a:gridCol w="1628775"/>
                <a:gridCol w="1925241"/>
                <a:gridCol w="1483916"/>
                <a:gridCol w="1484908"/>
              </a:tblGrid>
              <a:tr h="197088">
                <a:tc>
                  <a:txBody>
                    <a:bodyPr wrap="square"/>
                    <a:lstStyle/>
                    <a:p>
                      <a:r>
                        <a:rPr sz="800" b="1" i="0">
                          <a:solidFill>
                            <a:srgbClr val="F4F1EA"/>
                          </a:solidFill>
                          <a:latin typeface="Arial"/>
                          <a:ea typeface="Malgun Gothic"/>
                          <a:cs typeface="Malgun Gothic"/>
                        </a:rPr>
                        <a:t>성공 (기본 → 여유)</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mppi_cc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mppi_ccgp</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mpc_gp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정적 seed 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 → </a:t>
                      </a:r>
                      <a:r>
                        <a:rPr sz="800" b="1" i="0">
                          <a:solidFill>
                            <a:srgbClr val="16213A"/>
                          </a:solidFill>
                          <a:latin typeface="Arial"/>
                          <a:ea typeface="Malgun Gothic"/>
                          <a:cs typeface="Malgun Gothic"/>
                        </a:rPr>
                        <a:t>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보류 seed 10–19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80 / 112</a:t>
            </a:r>
          </a:p>
        </p:txBody>
      </p:sp>
      <p:graphicFrame>
        <p:nvGraphicFramePr>
          <p:cNvPr id="5" name="Table 4"/>
          <p:cNvGraphicFramePr>
            <a:graphicFrameLocks noGrp="1"/>
          </p:cNvGraphicFramePr>
          <p:nvPr/>
        </p:nvGraphicFramePr>
        <p:xfrm>
          <a:off x="609600" y="1244600"/>
          <a:ext cx="10966451" cy="788352"/>
        </p:xfrm>
        <a:graphic>
          <a:graphicData uri="http://schemas.openxmlformats.org/drawingml/2006/table">
            <a:tbl>
              <a:tblPr firstRow="1" bandRow="1">
                <a:tableStyleId>{5C22544A-7EE6-4342-B048-85BDC9FD1C3A}</a:tableStyleId>
              </a:tblPr>
              <a:tblGrid>
                <a:gridCol w="2959695"/>
                <a:gridCol w="1483916"/>
                <a:gridCol w="1628775"/>
                <a:gridCol w="1925241"/>
                <a:gridCol w="1483916"/>
                <a:gridCol w="1484908"/>
              </a:tblGrid>
              <a:tr h="197088">
                <a:tc>
                  <a:txBody>
                    <a:bodyPr wrap="square"/>
                    <a:lstStyle/>
                    <a:p>
                      <a:r>
                        <a:rPr sz="800" b="1" i="0">
                          <a:solidFill>
                            <a:srgbClr val="F4F1EA"/>
                          </a:solidFill>
                          <a:latin typeface="Arial"/>
                          <a:ea typeface="Malgun Gothic"/>
                          <a:cs typeface="Malgun Gothic"/>
                        </a:rPr>
                        <a:t>성공 (기본 → 여유)</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mppi_cc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mppi_ccgp</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mpc_gp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보행자 3명 seed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 →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 →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 →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보행자가 여유 경로 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 seed 0–11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 → </a:t>
                      </a:r>
                      <a:r>
                        <a:rPr sz="800" b="1" i="0">
                          <a:solidFill>
                            <a:srgbClr val="16213A"/>
                          </a:solidFill>
                          <a:latin typeface="Arial"/>
                          <a:ea typeface="Malgun Gothic"/>
                          <a:cs typeface="Malgun Gothic"/>
                        </a:rPr>
                        <a:t>47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 → 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 → 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 → </a:t>
                      </a:r>
                      <a:r>
                        <a:rPr sz="800" b="1" i="0">
                          <a:solidFill>
                            <a:srgbClr val="16213A"/>
                          </a:solidFill>
                          <a:latin typeface="Arial"/>
                          <a:ea typeface="Malgun Gothic"/>
                          <a:cs typeface="Malgun Gothic"/>
                        </a:rPr>
                        <a:t>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 → </a:t>
                      </a:r>
                      <a:r>
                        <a:rPr sz="800" b="1" i="0">
                          <a:solidFill>
                            <a:srgbClr val="16213A"/>
                          </a:solidFill>
                          <a:latin typeface="Arial"/>
                          <a:ea typeface="Malgun Gothic"/>
                          <a:cs typeface="Malgun Gothic"/>
                        </a:rPr>
                        <a:t>47</a:t>
                      </a:r>
                    </a:p>
                  </a:txBody>
                  <a:tcPr marL="63500" marR="63500" marT="12700" marB="12700">
                    <a:solidFill>
                      <a:srgbClr val="FFFDF8"/>
                    </a:solidFill>
                  </a:tcPr>
                </a:tc>
              </a:tr>
            </a:tbl>
          </a:graphicData>
        </a:graphic>
      </p:graphicFrame>
      <p:pic>
        <p:nvPicPr>
          <p:cNvPr id="6" name="Picture 5" descr="image.jpg"/>
          <p:cNvPicPr>
            <a:picLocks noChangeAspect="1"/>
          </p:cNvPicPr>
          <p:nvPr/>
        </p:nvPicPr>
        <p:blipFill>
          <a:blip r:embed="rId3"/>
          <a:stretch>
            <a:fillRect/>
          </a:stretch>
        </p:blipFill>
        <p:spPr>
          <a:xfrm>
            <a:off x="1016000" y="2325291"/>
            <a:ext cx="10160000" cy="3168650"/>
          </a:xfrm>
          <a:prstGeom prst="rect">
            <a:avLst/>
          </a:prstGeom>
        </p:spPr>
      </p:pic>
      <p:sp>
        <p:nvSpPr>
          <p:cNvPr id="7" name="TextBox 6"/>
          <p:cNvSpPr txBox="1"/>
          <p:nvPr/>
        </p:nvSpPr>
        <p:spPr>
          <a:xfrm>
            <a:off x="1016000" y="553204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컨트롤러와 조건별 성공 수, 기본 경로 → 여유 경로. 파랑은 늘어난 칸, 회색은 같은 칸이다. 줄어든 칸은 없다. 원자료 results/p2-controller-followups.tsv(TP-0118 행).</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81 / 112</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여유 경로는 실행한 경로의 여유도 넓혔다. 에피소드별 최소 GT 여유의 중앙값이 정적에서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13.0 → 15.3 cm,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11.6 → 16.6 cm,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21.9 → 24.9 cm로, plant에서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10.9 → 19.6 cm,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15.6 → 22.7 cm로 올랐다. 보행자 조건에서도 1 m 안으로 마주친 에피소드 수는 거의 같았다(23 → 22–23/24). 여유 경로가 보행자를 피해서 이긴 것이 아니다. 짝지은 시간과 길이는 보류 seed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의 −9.9%부터 plant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의 +2.2%까지, 길이는 −1.3%부터 +2.5%까지였다. 미리 정한 한도(시간 +10%, 길이 +8%) 안이다. 조건별 평균 GT cost는 0.051 이하, 최대 pitch는 9.4° 이하, 충돌은 0이다. 에피소드 단위로는 셋이 0.24 안팎이다. plant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curb_ramp s5 0.241(timeout)과, random_mix s6의 plant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0.239·</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0.237이다. random_mix s6에서는 여유 경로가 기본 경로(0.141·0.184)보다 GT cost가 높고 pitch도 2.9–3.0°에서 5.3–5.5°로 올랐다. 치명 칸을 멀리 돌아가는 길이 언덕 비탈을 지나기 때문이다(그림 경로의 random_mix s6 패널).</a:t>
            </a:r>
          </a:p>
        </p:txBody>
      </p:sp>
      <p:pic>
        <p:nvPicPr>
          <p:cNvPr id="6" name="Picture 5" descr="image.jpg"/>
          <p:cNvPicPr>
            <a:picLocks noChangeAspect="1"/>
          </p:cNvPicPr>
          <p:nvPr/>
        </p:nvPicPr>
        <p:blipFill>
          <a:blip r:embed="rId3"/>
          <a:stretch>
            <a:fillRect/>
          </a:stretch>
        </p:blipFill>
        <p:spPr>
          <a:xfrm>
            <a:off x="609600" y="2632472"/>
            <a:ext cx="5410200" cy="1670050"/>
          </a:xfrm>
          <a:prstGeom prst="rect">
            <a:avLst/>
          </a:prstGeom>
        </p:spPr>
      </p:pic>
      <p:sp>
        <p:nvSpPr>
          <p:cNvPr id="7" name="TextBox 6"/>
          <p:cNvSpPr txBox="1"/>
          <p:nvPr/>
        </p:nvSpPr>
        <p:spPr>
          <a:xfrm>
            <a:off x="609600" y="4340622"/>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에피소드별 최소 GT 여유(치명 칸 가장자리까지)의 누적 분포, 컨트롤러를 모두 모은 것(정적은 mpc_gp를 뺀 넷, plant는 다섯). 중앙값이 정적 seed 0–19(보류 포함) 17.4 → 23.2 cm, plant 15.8 → 20.8 cm이고, 5 cm 미만 에피소드가 정적 10% → 2%, plant 24% → 19%다. 원자료 results/p2-controller-followups.tsv.</a:t>
            </a:r>
          </a:p>
        </p:txBody>
      </p:sp>
      <p:pic>
        <p:nvPicPr>
          <p:cNvPr id="8" name="Picture 7" descr="image.jpg"/>
          <p:cNvPicPr>
            <a:picLocks noChangeAspect="1"/>
          </p:cNvPicPr>
          <p:nvPr/>
        </p:nvPicPr>
        <p:blipFill>
          <a:blip r:embed="rId4"/>
          <a:stretch>
            <a:fillRect/>
          </a:stretch>
        </p:blipFill>
        <p:spPr>
          <a:xfrm>
            <a:off x="6172200" y="2632472"/>
            <a:ext cx="5410200" cy="1828800"/>
          </a:xfrm>
          <a:prstGeom prst="rect">
            <a:avLst/>
          </a:prstGeom>
        </p:spPr>
      </p:pic>
      <p:sp>
        <p:nvSpPr>
          <p:cNvPr id="9" name="TextBox 8"/>
          <p:cNvSpPr txBox="1"/>
          <p:nvPr/>
        </p:nvSpPr>
        <p:spPr>
          <a:xfrm>
            <a:off x="6172200" y="4499372"/>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두 경로가 모두 도달한 에피소드의 짝지은 도달 시간과 경로 길이. 대각선 아래는 여유 경로가 빠르거나 짧은 에피소드다. 평균 시간 변화는 정적 −2.8%, 보류 seed −4.3%, plant −1.3%다.</a:t>
            </a:r>
          </a:p>
        </p:txBody>
      </p:sp>
      <p:sp>
        <p:nvSpPr>
          <p:cNvPr id="10" name="TextBox 9"/>
          <p:cNvSpPr txBox="1"/>
          <p:nvPr/>
        </p:nvSpPr>
        <p:spPr>
          <a:xfrm>
            <a:off x="609600" y="487263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plant에서 무엇이 바뀌었나.</a:t>
            </a:r>
            <a:r>
              <a:rPr sz="1050" b="0" i="0">
                <a:solidFill>
                  <a:srgbClr val="16213A"/>
                </a:solidFill>
                <a:latin typeface="Arial"/>
                <a:ea typeface="Malgun Gothic"/>
                <a:cs typeface="Malgun Gothic"/>
              </a:rPr>
              <a:t> bumps_potholes의 실패가 거의 사라졌다. 기본 경로의 plant 실패 가운데 bumps_potholes는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1,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2,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2,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2건, 합계 7건이었다. 여유 경로에서는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1건(s0 timeout)만 남았다. curb_ramp는 합계가 11 → 11로 같지만 컨트롤러마다 갈렸다.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(3 → 1)와 MPC 계열(6 → 3)은 줄었고, 확률 제약 MPPI 두 스택(2 → 7)은 늘었다. 두 스택에서 새로 실패한 일곱 건 가운데 다섯은 램프 입구(y ≈ 2.16 m)의 치명 실패이고, 여유 경로가 고친 것은 두 건이다. seed 12개의 짝 비교라 우연과 구별되지 않는다(</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 4 대 1, 단측 부호 검정 p ≈ 0.19). 원인은 재지 않았고 후속 과제로 둔다(TP-0127).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82 / 112</a:t>
            </a:r>
          </a:p>
        </p:txBody>
      </p:sp>
      <p:sp>
        <p:nvSpPr>
          <p:cNvPr id="5" name="TextBox 4"/>
          <p:cNvSpPr txBox="1"/>
          <p:nvPr/>
        </p:nvSpPr>
        <p:spPr>
          <a:xfrm>
            <a:off x="609600" y="1244600"/>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정적 bumps_potholes s6, </a:t>
            </a:r>
            <a:r>
              <a:rPr sz="1050" b="0" i="1">
                <a:solidFill>
                  <a:srgbClr val="16213A"/>
                </a:solidFill>
                <a:latin typeface="Consolas"/>
                <a:ea typeface="Malgun Gothic"/>
                <a:cs typeface="Malgun Gothic"/>
              </a:rPr>
              <a:t>mppi_ccgp</a:t>
            </a:r>
            <a:r>
              <a:rPr sz="1050" b="0" i="1">
                <a:solidFill>
                  <a:srgbClr val="16213A"/>
                </a:solidFill>
                <a:latin typeface="Arial"/>
                <a:ea typeface="Malgun Gothic"/>
                <a:cs typeface="Malgun Gothic"/>
              </a:rPr>
              <a:t>. 점선은 1 Hz Guidance 경로의 앞부분, 색 선은 MPPI의 4 s 예측이다. 기본 경로(왼쪽)는 두 블록 사이의 좁은 틈으로 내려가고, 로봇은 틈 앞에서 멈춰 60 s에 timeout이다. 여유 경로(오른쪽)는 오른쪽 블록 위로 돌아 14.9 s에 도달한다.</a:t>
            </a:r>
          </a:p>
        </p:txBody>
      </p:sp>
      <p:sp>
        <p:nvSpPr>
          <p:cNvPr id="6" name="TextBox 5"/>
          <p:cNvSpPr txBox="1"/>
          <p:nvPr/>
        </p:nvSpPr>
        <p:spPr>
          <a:xfrm>
            <a:off x="609600" y="3188891"/>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s6, </a:t>
            </a:r>
            <a:r>
              <a:rPr sz="1050" b="0" i="1">
                <a:solidFill>
                  <a:srgbClr val="16213A"/>
                </a:solidFill>
                <a:latin typeface="Consolas"/>
                <a:ea typeface="Malgun Gothic"/>
                <a:cs typeface="Malgun Gothic"/>
              </a:rPr>
              <a:t>mppi</a:t>
            </a:r>
            <a:r>
              <a:rPr sz="1050" b="0" i="1">
                <a:solidFill>
                  <a:srgbClr val="16213A"/>
                </a:solidFill>
                <a:latin typeface="Arial"/>
                <a:ea typeface="Malgun Gothic"/>
                <a:cs typeface="Malgun Gothic"/>
              </a:rPr>
              <a:t>. 지연 때문에 두 실행 모두 램프 입구를 지나쳤다가 고리를 그리며 돌아온다. 기본 경로 쪽은 돌아 들어오다 입구 모서리의 연석면에 닿아 26.9 s에 치명 실패한다. 여유 경로 쪽은 입구 가운데로 들어가 37.7 s에 도달한다.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M.3.17 Guidance 경로에 여유를 주면 plant 실패가 줄고 도달은 빨라진다 (TP-0118)</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83 / 112</a:t>
            </a:r>
          </a:p>
        </p:txBody>
      </p:sp>
      <p:sp>
        <p:nvSpPr>
          <p:cNvPr id="5" name="TextBox 4"/>
          <p:cNvSpPr txBox="1"/>
          <p:nvPr/>
        </p:nvSpPr>
        <p:spPr>
          <a:xfrm>
            <a:off x="609600" y="1244600"/>
            <a:ext cx="10972800" cy="20718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s7, </a:t>
            </a:r>
            <a:r>
              <a:rPr sz="1050" b="0" i="1">
                <a:solidFill>
                  <a:srgbClr val="16213A"/>
                </a:solidFill>
                <a:latin typeface="Consolas"/>
                <a:ea typeface="Malgun Gothic"/>
                <a:cs typeface="Malgun Gothic"/>
              </a:rPr>
              <a:t>mppi_cc</a:t>
            </a:r>
            <a:r>
              <a:rPr sz="1050" b="0" i="1">
                <a:solidFill>
                  <a:srgbClr val="16213A"/>
                </a:solidFill>
                <a:latin typeface="Arial"/>
                <a:ea typeface="Malgun Gothic"/>
                <a:cs typeface="Malgun Gothic"/>
              </a:rPr>
              <a:t>, 여유 경로가 진 장면. 여기서도 두 실행 모두 입구를 지나쳐 고리를 그린다. 여유 경로 쪽은 돌아 들어오는 각이 급해 입구 오른쪽 모서리를 베고 26.0 s에 치명 실패한다. 기본 경로 쪽은 41.8 s에 도달한다. plant의 curb_ramp에서는 이 고리의 모양이 성패를 가른다.</a:t>
            </a:r>
          </a:p>
        </p:txBody>
      </p:sp>
      <p:sp>
        <p:nvSpPr>
          <p:cNvPr id="6" name="TextBox 5"/>
          <p:cNvSpPr txBox="1"/>
          <p:nvPr/>
        </p:nvSpPr>
        <p:spPr>
          <a:xfrm>
            <a:off x="609600" y="3405386"/>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판정.</a:t>
            </a:r>
            <a:r>
              <a:rPr sz="1050" b="0" i="0">
                <a:solidFill>
                  <a:srgbClr val="16213A"/>
                </a:solidFill>
                <a:latin typeface="Arial"/>
                <a:ea typeface="Malgun Gothic"/>
                <a:cs typeface="Malgun Gothic"/>
              </a:rPr>
              <a:t> 미리 정한 필수 기준 10개 가운데 아홉은 넘었다. 넘지 못한 것은 메커니즘 기준(Must 9)이다. 네 항목 가운데 앞쪽 경로 여유를 GT 전체로 잰 항목 (</a:t>
            </a:r>
            <a:r>
              <a:rPr sz="1050" b="0" i="0">
                <a:solidFill>
                  <a:srgbClr val="16213A"/>
                </a:solidFill>
                <a:latin typeface="Consolas"/>
                <a:ea typeface="Malgun Gothic"/>
                <a:cs typeface="Malgun Gothic"/>
              </a:rPr>
              <a:t>guidance_c+mpc</a:t>
            </a:r>
            <a:r>
              <a:rPr sz="1050" b="0" i="0">
                <a:solidFill>
                  <a:srgbClr val="16213A"/>
                </a:solidFill>
                <a:latin typeface="Arial"/>
                <a:ea typeface="Malgun Gothic"/>
                <a:cs typeface="Malgun Gothic"/>
              </a:rPr>
              <a:t> 정적 재현)이 21.4%로 한도 5%를 넘었고, 경로 전환 횟수 항목은 재지 않았다. 앞의 것은 위에서 본 대로 기준을 잘못 정한 것이고, 관측한 칸으로는 4.2%로 넘는다. 그래서 규칙대로 </a:t>
            </a:r>
            <a:r>
              <a:rPr sz="1050" b="0" i="0">
                <a:solidFill>
                  <a:srgbClr val="16213A"/>
                </a:solidFill>
                <a:latin typeface="Consolas"/>
                <a:ea typeface="Malgun Gothic"/>
                <a:cs typeface="Malgun Gothic"/>
              </a:rPr>
              <a:t>guidance_c</a:t>
            </a:r>
            <a:r>
              <a:rPr sz="1050" b="0" i="0">
                <a:solidFill>
                  <a:srgbClr val="16213A"/>
                </a:solidFill>
                <a:latin typeface="Arial"/>
                <a:ea typeface="Malgun Gothic"/>
                <a:cs typeface="Malgun Gothic"/>
              </a:rPr>
              <a:t>는 선택 스택으로 두고, Controller 비교의 Guidance로 권한다. 다만 plant curb_ramp에서 확률 제약 MPPI가 지는 장면이 있으니 그 비교에는 두 경로를 함께 싣는다. 기본값 전환은 TP-0121(Planner D 입력)과 Playground JS를 함께 바꿀 때 한다. 계산은 Guidance 한 번에 중앙값 약 +1.9 ms다(GT 지도 48장, 기본·여유를 번갈아 9회씩, 부하 평균 2.3; 지도별 +0.5 ~ +3.0 ms, 치명 거리 변환만 약 1.7 ms). 한도 3 ms 안이지만 여유는 1 ms쯤이다. </a:t>
            </a:r>
            <a:r>
              <a:rPr sz="1050" b="0" i="0">
                <a:solidFill>
                  <a:srgbClr val="16213A"/>
                </a:solidFill>
                <a:latin typeface="Consolas"/>
                <a:ea typeface="Malgun Gothic"/>
                <a:cs typeface="Malgun Gothic"/>
              </a:rPr>
              <a:t>routes.tsv</a:t>
            </a:r>
            <a:r>
              <a:rPr sz="1050" b="0" i="0">
                <a:solidFill>
                  <a:srgbClr val="16213A"/>
                </a:solidFill>
                <a:latin typeface="Arial"/>
                <a:ea typeface="Malgun Gothic"/>
                <a:cs typeface="Malgun Gothic"/>
              </a:rPr>
              <a:t>의 compute_ms는 부하 중 3회 측정이라 이 비교에 쓰지 않는다.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M.3.18 GP 분산 튜브는 1번 노드에서 맞지만 여유도 성공도 늘리지 않았다 (TP-0069)</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84 / 112</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잔차 GP의 분산으로 MPC 제약을 조이는 3단계는 측정되는 효과가 없었다.</a:t>
            </a:r>
            <a:r>
              <a:rPr sz="1050" b="0" i="0">
                <a:solidFill>
                  <a:srgbClr val="16213A"/>
                </a:solidFill>
                <a:latin typeface="Arial"/>
                <a:ea typeface="Malgun Gothic"/>
                <a:cs typeface="Malgun Gothic"/>
              </a:rPr>
              <a:t> 튜브는 1번 노드에서 잘 보정돼 있다(한쪽 coverage 97.4%, 목표 95%). 하지만 같은 여유끼리 짝지어 보면 실행 여유가 늘지 않았다. 짝지은 최소 GT 여유의 중앙값 차이가 0.00 cm이고, 95% 신뢰구간이 두 여유 모두에서 0을 포함한다. </a:t>
            </a:r>
            <a:r>
              <a:rPr sz="1050" b="1" i="0">
                <a:solidFill>
                  <a:srgbClr val="C2410C"/>
                </a:solidFill>
                <a:latin typeface="Arial"/>
                <a:ea typeface="Malgun Gothic"/>
                <a:cs typeface="Malgun Gothic"/>
              </a:rPr>
              <a:t>튜브는 계획을 조금 더 조심스럽게 만들 뿐, 실제 경로를 벽에서 떼지 못했다.</a:t>
            </a:r>
            <a:r>
              <a:rPr sz="1050" b="0" i="0">
                <a:solidFill>
                  <a:srgbClr val="16213A"/>
                </a:solidFill>
                <a:latin typeface="Arial"/>
                <a:ea typeface="Malgun Gothic"/>
                <a:cs typeface="Malgun Gothic"/>
              </a:rPr>
              <a:t> 설계안(여유 0.10 + 튜브)은 plant 42/48로 기준(</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44/48)에 못 미쳤다. 미리 정한 재시도 두 번도 기준을 넘지 못했다. 여유 0.125 + 튜브는 plant 46/48을 냈지만 보행자에서 22/24였고, 작은 튜브는 plant 40/48이었다. 그래서 </a:t>
            </a:r>
            <a:r>
              <a:rPr sz="1050" b="0" i="0">
                <a:solidFill>
                  <a:srgbClr val="16213A"/>
                </a:solidFill>
                <a:latin typeface="Consolas"/>
                <a:ea typeface="Malgun Gothic"/>
                <a:cs typeface="Malgun Gothic"/>
              </a:rPr>
              <a:t>MPCConfig.tube_eps</a:t>
            </a:r>
            <a:r>
              <a:rPr sz="1050" b="0" i="0">
                <a:solidFill>
                  <a:srgbClr val="16213A"/>
                </a:solidFill>
                <a:latin typeface="Arial"/>
                <a:ea typeface="Malgun Gothic"/>
                <a:cs typeface="Malgun Gothic"/>
              </a:rPr>
              <a:t>는 0(꺼짐)이 기본값이고, 튜브는 선택 스택 </a:t>
            </a:r>
            <a:r>
              <a:rPr sz="1050" b="0" i="0">
                <a:solidFill>
                  <a:srgbClr val="16213A"/>
                </a:solidFill>
                <a:latin typeface="Consolas"/>
                <a:ea typeface="Malgun Gothic"/>
                <a:cs typeface="Malgun Gothic"/>
              </a:rPr>
              <a:t>mpc_gpcc</a:t>
            </a:r>
            <a:r>
              <a:rPr sz="1050" b="0" i="0">
                <a:solidFill>
                  <a:srgbClr val="16213A"/>
                </a:solidFill>
                <a:latin typeface="Arial"/>
                <a:ea typeface="Malgun Gothic"/>
                <a:cs typeface="Malgun Gothic"/>
              </a:rPr>
              <a:t>로만 둔다.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넣었나.</a:t>
            </a:r>
            <a:r>
              <a:rPr sz="1050" b="0" i="0">
                <a:solidFill>
                  <a:srgbClr val="16213A"/>
                </a:solidFill>
                <a:latin typeface="Arial"/>
                <a:ea typeface="Malgun Gothic"/>
                <a:cs typeface="Malgun Gothic"/>
              </a:rPr>
              <a:t> MPC는 TP-0068부터 스텝마다 잔차 SGPR을 한 번 불러 평균을 쓰고 분산은 버렸다. 그 같은 호출의 분산을 노드별 조임으로 바꿨다.</a:t>
            </a:r>
          </a:p>
        </p:txBody>
      </p:sp>
      <p:pic>
        <p:nvPicPr>
          <p:cNvPr id="7" name="Picture 6" descr="image.png"/>
          <p:cNvPicPr>
            <a:picLocks noChangeAspect="1"/>
          </p:cNvPicPr>
          <p:nvPr/>
        </p:nvPicPr>
        <p:blipFill>
          <a:blip r:embed="rId3"/>
          <a:stretch>
            <a:fillRect/>
          </a:stretch>
        </p:blipFill>
        <p:spPr>
          <a:xfrm>
            <a:off x="609600" y="2504877"/>
            <a:ext cx="4498975" cy="241300"/>
          </a:xfrm>
          <a:prstGeom prst="rect">
            <a:avLst/>
          </a:prstGeom>
        </p:spPr>
      </p:pic>
      <p:sp>
        <p:nvSpPr>
          <p:cNvPr id="8" name="TextBox 7"/>
          <p:cNvSpPr txBox="1"/>
          <p:nvPr/>
        </p:nvSpPr>
        <p:spPr>
          <a:xfrm>
            <a:off x="609600" y="2782391"/>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σₖ</a:t>
            </a:r>
            <a:r>
              <a:rPr sz="1050" b="0" i="0">
                <a:solidFill>
                  <a:srgbClr val="16213A"/>
                </a:solidFill>
                <a:latin typeface="Arial"/>
                <a:ea typeface="Malgun Gothic"/>
                <a:cs typeface="Malgun Gothic"/>
              </a:rPr>
              <a:t>는 twist 잔차의 분산을 위치로 옮긴 것이다. 위치 오차는 스텝마다 쌓이고, 방향 오차는 속도만큼 옆으로 밀며, 재계획이 그것을 시상수 1 s로 되돌린다 (MPPI 확률 제약의 튜브와 같은 모델, </a:t>
            </a:r>
            <a:r>
              <a:rPr sz="1050" b="0" i="0">
                <a:solidFill>
                  <a:srgbClr val="16213A"/>
                </a:solidFill>
                <a:latin typeface="Consolas"/>
                <a:ea typeface="Malgun Gothic"/>
                <a:cs typeface="Malgun Gothic"/>
              </a:rPr>
              <a:t>control/acados_mpc/tube.py</a:t>
            </a:r>
            <a:r>
              <a:rPr sz="1050" b="0" i="0">
                <a:solidFill>
                  <a:srgbClr val="16213A"/>
                </a:solidFill>
                <a:latin typeface="Arial"/>
                <a:ea typeface="Malgun Gothic"/>
                <a:cs typeface="Malgun Gothic"/>
              </a:rPr>
              <a:t>). 조임은 지형 행과 보행자 행의 오프셋에만 들어간다. 파라미터이므로 0차이고, 코드 생성을 다시 하지 않으며, RTI 반복 동안 평균처럼 고정한다. CBF 감쇠와는 합으로 묶는다(조인 경계 위의 CBF).</a:t>
            </a:r>
          </a:p>
        </p:txBody>
      </p:sp>
      <p:sp>
        <p:nvSpPr>
          <p:cNvPr id="9" name="TextBox 8"/>
          <p:cNvSpPr txBox="1"/>
          <p:nvPr/>
        </p:nvSpPr>
        <p:spPr>
          <a:xfrm>
            <a:off x="609600" y="3520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요인 실험.</a:t>
            </a:r>
            <a:r>
              <a:rPr sz="1050" b="0" i="0">
                <a:solidFill>
                  <a:srgbClr val="16213A"/>
                </a:solidFill>
                <a:latin typeface="Arial"/>
                <a:ea typeface="Malgun Gothic"/>
                <a:cs typeface="Malgun Gothic"/>
              </a:rPr>
              <a:t> 같은 GP 평균 모델에서 여유와 튜브를 따로 바꿨다(plant seed 0–11, 정적 seed 0–9, 보행자 3명 seed 0–5).</a:t>
            </a:r>
          </a:p>
        </p:txBody>
      </p:sp>
      <p:graphicFrame>
        <p:nvGraphicFramePr>
          <p:cNvPr id="10" name="Table 9"/>
          <p:cNvGraphicFramePr>
            <a:graphicFrameLocks noGrp="1"/>
          </p:cNvGraphicFramePr>
          <p:nvPr/>
        </p:nvGraphicFramePr>
        <p:xfrm>
          <a:off x="609600" y="3826173"/>
          <a:ext cx="10966450" cy="1576704"/>
        </p:xfrm>
        <a:graphic>
          <a:graphicData uri="http://schemas.openxmlformats.org/drawingml/2006/table">
            <a:tbl>
              <a:tblPr firstRow="1" bandRow="1">
                <a:tableStyleId>{5C22544A-7EE6-4342-B048-85BDC9FD1C3A}</a:tableStyleId>
              </a:tblPr>
              <a:tblGrid>
                <a:gridCol w="2249091"/>
                <a:gridCol w="1036241"/>
                <a:gridCol w="2725142"/>
                <a:gridCol w="1945878"/>
                <a:gridCol w="1063823"/>
                <a:gridCol w="1946275"/>
              </a:tblGrid>
              <a:tr h="197088">
                <a:tc>
                  <a:txBody>
                    <a:bodyPr wrap="square"/>
                    <a:lstStyle/>
                    <a:p>
                      <a:r>
                        <a:rPr sz="800" b="1" i="0">
                          <a:solidFill>
                            <a:srgbClr val="F4F1EA"/>
                          </a:solidFill>
                          <a:latin typeface="Arial"/>
                          <a:ea typeface="Malgun Gothic"/>
                          <a:cs typeface="Malgun Gothic"/>
                        </a:rPr>
                        <a:t>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여유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튜브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3명</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 (</a:t>
                      </a:r>
                      <a:r>
                        <a:rPr sz="800" b="0" i="0">
                          <a:solidFill>
                            <a:srgbClr val="16213A"/>
                          </a:solidFill>
                          <a:latin typeface="Consolas"/>
                          <a:ea typeface="Malgun Gothic"/>
                          <a:cs typeface="Malgun Gothic"/>
                        </a:rPr>
                        <a:t>mpc_gp</a:t>
                      </a:r>
                      <a:r>
                        <a:rPr sz="800" b="0" i="0">
                          <a:solidFill>
                            <a:srgbClr val="16213A"/>
                          </a:solidFill>
                          <a:latin typeface="Arial"/>
                          <a:ea typeface="Malgun Gothic"/>
                          <a:cs typeface="Malgun Gothic"/>
                        </a:rPr>
                        <a:t>, 기준)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 (치명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46/48 (치명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42/48 (치명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D (설계안)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42/48 (치명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B125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44/48 (치명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R1 (재시도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46/48 (치명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22/24 (치명 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R2 (재시도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작게 (</a:t>
                      </a:r>
                      <a:r>
                        <a:rPr sz="800" b="0" i="1">
                          <a:solidFill>
                            <a:srgbClr val="16213A"/>
                          </a:solidFill>
                          <a:latin typeface="Arial"/>
                          <a:ea typeface="Malgun Gothic"/>
                          <a:cs typeface="Malgun Gothic"/>
                        </a:rPr>
                        <a:t>ε</a:t>
                      </a:r>
                      <a:r>
                        <a:rPr sz="800" b="0" i="0">
                          <a:solidFill>
                            <a:srgbClr val="16213A"/>
                          </a:solidFill>
                          <a:latin typeface="Arial"/>
                          <a:ea typeface="Malgun Gothic"/>
                          <a:cs typeface="Malgun Gothic"/>
                        </a:rPr>
                        <a:t> 0.2, 상한 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40/48 (치명 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M.3.18 GP 분산 튜브는 1번 노드에서 맞지만 여유도 성공도 늘리지 않았다 (TP-0069)</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85 / 112</a:t>
            </a:r>
          </a:p>
        </p:txBody>
      </p:sp>
      <p:pic>
        <p:nvPicPr>
          <p:cNvPr id="5" name="Picture 4" descr="image.jpg"/>
          <p:cNvPicPr>
            <a:picLocks noChangeAspect="1"/>
          </p:cNvPicPr>
          <p:nvPr/>
        </p:nvPicPr>
        <p:blipFill>
          <a:blip r:embed="rId3"/>
          <a:stretch>
            <a:fillRect/>
          </a:stretch>
        </p:blipFill>
        <p:spPr>
          <a:xfrm>
            <a:off x="1016000" y="1244600"/>
            <a:ext cx="10160000" cy="2609850"/>
          </a:xfrm>
          <a:prstGeom prst="rect">
            <a:avLst/>
          </a:prstGeom>
        </p:spPr>
      </p:pic>
      <p:sp>
        <p:nvSpPr>
          <p:cNvPr id="6" name="TextBox 5"/>
          <p:cNvSpPr txBox="1"/>
          <p:nvPr/>
        </p:nvSpPr>
        <p:spPr>
          <a:xfrm>
            <a:off x="1016000" y="38925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팔별 성공 수. 원자료 results/p2-controller-followups.tsv(TP-0069 행).</a:t>
            </a:r>
          </a:p>
        </p:txBody>
      </p:sp>
      <p:sp>
        <p:nvSpPr>
          <p:cNvPr id="7" name="TextBox 6"/>
          <p:cNvSpPr txBox="1"/>
          <p:nvPr/>
        </p:nvSpPr>
        <p:spPr>
          <a:xfrm>
            <a:off x="609600" y="412363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미리 정한 기준.</a:t>
            </a:r>
            <a:r>
              <a:rPr sz="1050" b="0" i="0">
                <a:solidFill>
                  <a:srgbClr val="16213A"/>
                </a:solidFill>
                <a:latin typeface="Arial"/>
                <a:ea typeface="Malgun Gothic"/>
                <a:cs typeface="Malgun Gothic"/>
              </a:rPr>
              <a:t> 설계안 D는 plant 기준(AC1: 44/48 이상, 치명이 A 이하)을 넘지 못했다. 정적(AC2)과 보행자(AC3: 24/24, 충돌 0, 보행자 여유 중앙값 0.207 m ≥ A의 0.183 m)는 넘었다. 튜브 자체의 효과(AC4)는 같은 여유의 짝으로 잰다. D − B는 짝지은 최소 여유 중앙값 차이 0.00 cm(95% CI [−0.00, 1.61])이고, R1 − B125는 0.00 cm([−0.00, 0.53])다. 둘 다 0보다 크지 않으므로, 미리 정한 대로 "측정되는 튜브 효과 없음"으로 적고 성공 수의 차이는 여유 몫으로 돌린다. 여유 0.125에서 튜브가 고친 장면 셋(모두 timeout)과 망친 장면 하나는 부호 검정으로 우연과 구별되지 않는다(p ≈ 0.31). 재시도 1(R1)은 plant 46/48, 치명 1로 AC1을 넘었지만 보행자에서 22/24(bumps s4 치명)로 AC3을 넘지 못했다. 재시도 2(R2)는 plant 40/48, 치명 5다. 두 여유 모두에서 튜브 효과가 0이라 세 번째 재시도는 돌리지 않았다.</a:t>
            </a:r>
          </a:p>
        </p:txBody>
      </p:sp>
      <p:sp>
        <p:nvSpPr>
          <p:cNvPr id="8" name="TextBox 7"/>
          <p:cNvSpPr txBox="1"/>
          <p:nvPr/>
        </p:nvSpPr>
        <p:spPr>
          <a:xfrm>
            <a:off x="609600" y="529500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solver는 건강하다. plant seed 0–5의 24 에피소드씩을 스텝마다 계측했다. QP status ≠ 0인 풀이는 </a:t>
            </a:r>
            <a:r>
              <a:rPr sz="1050" b="0" i="0">
                <a:solidFill>
                  <a:srgbClr val="16213A"/>
                </a:solidFill>
                <a:latin typeface="Consolas"/>
                <a:ea typeface="Malgun Gothic"/>
                <a:cs typeface="Malgun Gothic"/>
              </a:rPr>
              <a:t>mpc_gpcc</a:t>
            </a:r>
            <a:r>
              <a:rPr sz="1050" b="0" i="0">
                <a:solidFill>
                  <a:srgbClr val="16213A"/>
                </a:solidFill>
                <a:latin typeface="Arial"/>
                <a:ea typeface="Malgun Gothic"/>
                <a:cs typeface="Malgun Gothic"/>
              </a:rPr>
              <a:t> 0.02%,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0.00%다. 튜브가 상한(8 cm)에 닿은 스텝(k ≤ 20)은 2.2%로 한도 10% 아래다(AC6). 1번 노드의 한쪽 coverage(벽 쪽 오차가 </a:t>
            </a:r>
            <a:r>
              <a:rPr sz="1050" b="0" i="1">
                <a:solidFill>
                  <a:srgbClr val="16213A"/>
                </a:solidFill>
                <a:latin typeface="Arial"/>
                <a:ea typeface="Malgun Gothic"/>
                <a:cs typeface="Malgun Gothic"/>
              </a:rPr>
              <a:t>t₁</a:t>
            </a:r>
            <a:r>
              <a:rPr sz="1050" b="0" i="0">
                <a:solidFill>
                  <a:srgbClr val="16213A"/>
                </a:solidFill>
                <a:latin typeface="Arial"/>
                <a:ea typeface="Malgun Gothic"/>
                <a:cs typeface="Malgun Gothic"/>
              </a:rPr>
              <a:t> 안인 비율)는 97.4%다(AC9, 목표 90% 이상). 먼 노드(k ≥ 5)의 coverage는 재지 않았다. 재계획이 몇 스텝 안에 오차를 되돌리므로, 먼 노드의 폭은 보정된 확률이라기보다 속도에 비례한 조심성이다.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M.3.18 GP 분산 튜브는 1번 노드에서 맞지만 여유도 성공도 늘리지 않았다 (TP-0069)</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86 / 112</a:t>
            </a:r>
          </a:p>
        </p:txBody>
      </p:sp>
      <p:pic>
        <p:nvPicPr>
          <p:cNvPr id="5" name="Picture 4" descr="image.jpg"/>
          <p:cNvPicPr>
            <a:picLocks noChangeAspect="1"/>
          </p:cNvPicPr>
          <p:nvPr/>
        </p:nvPicPr>
        <p:blipFill>
          <a:blip r:embed="rId3"/>
          <a:stretch>
            <a:fillRect/>
          </a:stretch>
        </p:blipFill>
        <p:spPr>
          <a:xfrm>
            <a:off x="609600" y="1244600"/>
            <a:ext cx="5410200" cy="1346200"/>
          </a:xfrm>
          <a:prstGeom prst="rect">
            <a:avLst/>
          </a:prstGeom>
        </p:spPr>
      </p:pic>
      <p:sp>
        <p:nvSpPr>
          <p:cNvPr id="6" name="TextBox 5"/>
          <p:cNvSpPr txBox="1"/>
          <p:nvPr/>
        </p:nvSpPr>
        <p:spPr>
          <a:xfrm>
            <a:off x="609600" y="26289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 plant curb_ramp s0(R1 설정, 도달)에서 스텝마다 계산한 노드별 튜브 폭, (b) 예측 시간별 중앙값과 90% 분위. 튜브는 4 s 끝에서 중앙값 4 cm, 90% 분위 8 cm(상한)다. 빨리 달릴 때 넓다.</a:t>
            </a:r>
          </a:p>
        </p:txBody>
      </p:sp>
      <p:pic>
        <p:nvPicPr>
          <p:cNvPr id="7" name="Picture 6" descr="image.jpg"/>
          <p:cNvPicPr>
            <a:picLocks noChangeAspect="1"/>
          </p:cNvPicPr>
          <p:nvPr/>
        </p:nvPicPr>
        <p:blipFill>
          <a:blip r:embed="rId4"/>
          <a:stretch>
            <a:fillRect/>
          </a:stretch>
        </p:blipFill>
        <p:spPr>
          <a:xfrm>
            <a:off x="6172200" y="1244600"/>
            <a:ext cx="5410200" cy="2451100"/>
          </a:xfrm>
          <a:prstGeom prst="rect">
            <a:avLst/>
          </a:prstGeom>
        </p:spPr>
      </p:pic>
      <p:sp>
        <p:nvSpPr>
          <p:cNvPr id="8" name="TextBox 7"/>
          <p:cNvSpPr txBox="1"/>
          <p:nvPr/>
        </p:nvSpPr>
        <p:spPr>
          <a:xfrm>
            <a:off x="6172200" y="37338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plant 에피소드별 최소 GT 여유의 누적 분포. 곡선은 여유 값(0.10·0.125·0.15)끼리 모이고, 같은 여유에서 튜브가 있고 없음은 거의 겹친다.</a:t>
            </a:r>
          </a:p>
        </p:txBody>
      </p:sp>
      <p:sp>
        <p:nvSpPr>
          <p:cNvPr id="9" name="TextBox 8"/>
          <p:cNvSpPr txBox="1"/>
          <p:nvPr/>
        </p:nvSpPr>
        <p:spPr>
          <a:xfrm>
            <a:off x="609600" y="4107061"/>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s11. 점선은 1 Hz Guidance 경로, 색 선은 MPC의 4 s 예측이다. A(여유 0.15, 튜브 없음)는 30 s쯤 램프에 들어가 41.7 s에 도달한다. D(여유 0.10 + 튜브)는 램프 입구 앞에서 고리를 거듭 그리다 60 s에 timeout이다. 원인은 따로 재지 않았다.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M.3.18 GP 분산 튜브는 1번 노드에서 맞지만 여유도 성공도 늘리지 않았다 (TP-0069)</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87 / 112</a:t>
            </a:r>
          </a:p>
        </p:txBody>
      </p:sp>
      <p:sp>
        <p:nvSpPr>
          <p:cNvPr id="5" name="TextBox 4"/>
          <p:cNvSpPr txBox="1"/>
          <p:nvPr/>
        </p:nvSpPr>
        <p:spPr>
          <a:xfrm>
            <a:off x="609600" y="1244600"/>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bumps_potholes s6. A(여유 0.15)는 블록 사이 틈 앞에서 멈춰 60 s에 timeout이고, R1(여유 0.125 + 튜브)은 그 틈을 지나 49.5 s에 도달한다. 같은 여유에서 튜브를 끈 B125도 이 장면을 지나므로, 차이는 튜브가 아니라 여유다.</a:t>
            </a:r>
          </a:p>
        </p:txBody>
      </p:sp>
      <p:sp>
        <p:nvSpPr>
          <p:cNvPr id="6" name="TextBox 5"/>
          <p:cNvSpPr txBox="1"/>
          <p:nvPr/>
        </p:nvSpPr>
        <p:spPr>
          <a:xfrm>
            <a:off x="609600" y="31888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a:t>
            </a:r>
            <a:r>
              <a:rPr sz="1050" b="0" i="0">
                <a:solidFill>
                  <a:srgbClr val="16213A"/>
                </a:solidFill>
                <a:latin typeface="Arial"/>
                <a:ea typeface="Malgun Gothic"/>
                <a:cs typeface="Malgun Gothic"/>
              </a:rPr>
              <a:t> 같은 요청에 네 컨트롤러를 차례로 넣어 쟀다(plant bumps_potholes s0, 145 스텝, 부하 평균 4.5, 순서는 스텝마다 돌림, </a:t>
            </a:r>
            <a:r>
              <a:rPr sz="1050" b="0" i="0">
                <a:solidFill>
                  <a:srgbClr val="16213A"/>
                </a:solidFill>
                <a:latin typeface="Consolas"/>
                <a:ea typeface="Malgun Gothic"/>
                <a:cs typeface="Malgun Gothic"/>
              </a:rPr>
              <a:t>python -m scripts.time_controllers --set tp0069</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results/tp0069/control_timing.tsv</a:t>
            </a:r>
            <a:r>
              <a:rPr sz="1050" b="0" i="0">
                <a:solidFill>
                  <a:srgbClr val="16213A"/>
                </a:solidFill>
                <a:latin typeface="Arial"/>
                <a:ea typeface="Malgun Gothic"/>
                <a:cs typeface="Malgun Gothic"/>
              </a:rPr>
              <a:t>). 튜브는 중앙값을 바꾸지 않는다.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10.0 ms, 설계안 D 9.8 ms, R1 9.9 ms이고, 명목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는 7.1 ms다. 95% 분위는 셋 다 20 ms 안팎인데, 이미 있던 SGPR 갱신 스파이크가 그 값을 정한다. QP가 실패(status ≠ 0)한 풀이는 없었다.</a:t>
            </a:r>
          </a:p>
        </p:txBody>
      </p:sp>
      <p:sp>
        <p:nvSpPr>
          <p:cNvPr id="7" name="TextBox 6"/>
          <p:cNvSpPr txBox="1"/>
          <p:nvPr/>
        </p:nvSpPr>
        <p:spPr>
          <a:xfrm>
            <a:off x="609600" y="39272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a:t>
            </a:r>
            <a:r>
              <a:rPr sz="1050" b="0" i="0">
                <a:solidFill>
                  <a:srgbClr val="16213A"/>
                </a:solidFill>
                <a:latin typeface="Arial"/>
                <a:ea typeface="Malgun Gothic"/>
                <a:cs typeface="Malgun Gothic"/>
              </a:rPr>
              <a:t> 튜브를 기본값으로 켜지 않는다. 남은 질문은 두 가지다. 먼 노드의 폭을 보정하는 일(재계획 피드백을 넣은 닫힌 루프 튜브)과, 분산의 원천을 GP 하나에서 예측 모델 계층(TP-0124의 동역학·학습 층)으로 넓히는 일이다. 여유를 0.15에서 0.10–0.125로 줄이면 plant에서 두 건 늘지만(44 → 46/48), 보행자·최소 여유와 함께 따져야 해 여기서 기본값을 바꾸지는 않는다. TODO의 TP-0069 제목(σ로 Planner D rollout·선택기의 여유 키우기)과 여기서 한 것(M.3.2의 3단계, MPC 제약 조이기)이 다르다. Planner D 쪽은 TP-0121에서 다룬다.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M.3.19 GP 평균을 MPPI rollout에 넣으면 램프의 치명 실패가 사라지고, GP 경로는 두 배 빨라졌다 (TP-0120)</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88 / 112</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가지를 했다.</a:t>
            </a:r>
            <a:r>
              <a:rPr sz="1050" b="0" i="0">
                <a:solidFill>
                  <a:srgbClr val="16213A"/>
                </a:solidFill>
                <a:latin typeface="Arial"/>
                <a:ea typeface="Malgun Gothic"/>
                <a:cs typeface="Malgun Gothic"/>
              </a:rPr>
              <a:t> 첫째, 확률 제약 MPPI의 GP 경로를 결과를 바꾸지 않고 빠르게 했다(A1). control() 한 번이 42.9 ms에서 22.2 ms로 1.93배 빨라졌고, 그 가운데 GP 질의가 21.1 ms에서 3.9 ms가 됐다. 둘째, 잔차 GP의 평균을 rollout에 넣었다(M1, 선택 스택 </a:t>
            </a:r>
            <a:r>
              <a:rPr sz="1050" b="0" i="0">
                <a:solidFill>
                  <a:srgbClr val="16213A"/>
                </a:solidFill>
                <a:latin typeface="Consolas"/>
                <a:ea typeface="Malgun Gothic"/>
                <a:cs typeface="Malgun Gothic"/>
              </a:rPr>
              <a:t>mppi_ccgpm</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GP 평균을 넣으면 plant curb_ramp의 치명 실패가 모두 사라진다(12/12).</a:t>
            </a:r>
            <a:r>
              <a:rPr sz="1050" b="0" i="0">
                <a:solidFill>
                  <a:srgbClr val="16213A"/>
                </a:solidFill>
                <a:latin typeface="Arial"/>
                <a:ea typeface="Malgun Gothic"/>
                <a:cs typeface="Malgun Gothic"/>
              </a:rPr>
              <a:t> M.3.14에서 남은 치명 실패의 가장 유력한 원인으로 짚은 지연 편향을 뒷받침한다. 하지만 bumps_potholes·random_mix에서 멈춤(timeout)이 셋 늘어 성공 수는 A1과 같은 43/48이다. 미리 정한 승격 기준(A1 + 2 이상, 44/48 이상)을 넘지 못해 선택 스택으로 둔다.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빠른 경로(A1)의 네 가지.</a:t>
            </a:r>
          </a:p>
        </p:txBody>
      </p:sp>
      <p:sp>
        <p:nvSpPr>
          <p:cNvPr id="7" name="TextBox 6"/>
          <p:cNvSpPr txBox="1"/>
          <p:nvPr/>
        </p:nvSpPr>
        <p:spPr>
          <a:xfrm>
            <a:off x="609600" y="2504877"/>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SGPR 질의를 float32 한 번의 행렬 곱으로 합쳤다(</a:t>
            </a:r>
            <a:r>
              <a:rPr sz="1050" b="0" i="1">
                <a:solidFill>
                  <a:srgbClr val="16213A"/>
                </a:solidFill>
                <a:latin typeface="Arial"/>
                <a:ea typeface="Malgun Gothic"/>
                <a:cs typeface="Malgun Gothic"/>
              </a:rPr>
              <a:t>M = Kᵤᵤ⁻¹ - A⁻¹</a:t>
            </a:r>
            <a:r>
              <a:rPr sz="1050" b="0" i="0">
                <a:solidFill>
                  <a:srgbClr val="16213A"/>
                </a:solidFill>
                <a:latin typeface="Arial"/>
                <a:ea typeface="Malgun Gothic"/>
                <a:cs typeface="Malgun Gothic"/>
              </a:rPr>
              <a:t>를 고유분해해 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모든 샘플의 최소 여유가 </a:t>
            </a:r>
            <a:r>
              <a:rPr sz="1050" b="0" i="1">
                <a:solidFill>
                  <a:srgbClr val="16213A"/>
                </a:solidFill>
                <a:latin typeface="Arial"/>
                <a:ea typeface="Malgun Gothic"/>
                <a:cs typeface="Malgun Gothic"/>
              </a:rPr>
              <a:t>m + zσₘₐₓ</a:t>
            </a:r>
            <a:r>
              <a:rPr sz="1050" b="0" i="0">
                <a:solidFill>
                  <a:srgbClr val="16213A"/>
                </a:solidFill>
                <a:latin typeface="Arial"/>
                <a:ea typeface="Malgun Gothic"/>
                <a:cs typeface="Malgun Gothic"/>
              </a:rPr>
              <a:t> 이상이면 분산을 계산하지 않는다(결과가 같은 가지치기).</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튜브 재귀를 감쇠 행렬 두 개의 곱으로 바꿨다.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롤아웃 모델을 상수를 미리 계산한 </a:t>
            </a:r>
            <a:r>
              <a:rPr sz="1050" b="0" i="0">
                <a:solidFill>
                  <a:srgbClr val="16213A"/>
                </a:solidFill>
                <a:latin typeface="Consolas"/>
                <a:ea typeface="Malgun Gothic"/>
                <a:cs typeface="Malgun Gothic"/>
              </a:rPr>
              <a:t>FastSwerveModel</a:t>
            </a:r>
            <a:r>
              <a:rPr sz="1050" b="0" i="0">
                <a:solidFill>
                  <a:srgbClr val="16213A"/>
                </a:solidFill>
                <a:latin typeface="Arial"/>
                <a:ea typeface="Malgun Gothic"/>
                <a:cs typeface="Malgun Gothic"/>
              </a:rPr>
              <a:t>로 바꿨다.</a:t>
            </a:r>
          </a:p>
        </p:txBody>
      </p:sp>
      <p:sp>
        <p:nvSpPr>
          <p:cNvPr id="8" name="TextBox 7"/>
          <p:cNvSpPr txBox="1"/>
          <p:nvPr/>
        </p:nvSpPr>
        <p:spPr>
          <a:xfrm>
            <a:off x="609600" y="3535958"/>
            <a:ext cx="10972800" cy="216495"/>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고치지 않았다. 모델은 </a:t>
            </a:r>
            <a:r>
              <a:rPr sz="1050" b="0" i="0">
                <a:solidFill>
                  <a:srgbClr val="16213A"/>
                </a:solidFill>
                <a:latin typeface="Consolas"/>
                <a:ea typeface="Malgun Gothic"/>
                <a:cs typeface="Malgun Gothic"/>
              </a:rPr>
              <a:t>MPPIController.model</a:t>
            </a:r>
            <a:r>
              <a:rPr sz="1050" b="0" i="0">
                <a:solidFill>
                  <a:srgbClr val="16213A"/>
                </a:solidFill>
                <a:latin typeface="Arial"/>
                <a:ea typeface="Malgun Gothic"/>
                <a:cs typeface="Malgun Gothic"/>
              </a:rPr>
              <a:t>로 주입한다.</a:t>
            </a:r>
          </a:p>
        </p:txBody>
      </p:sp>
      <p:sp>
        <p:nvSpPr>
          <p:cNvPr id="9" name="TextBox 8"/>
          <p:cNvSpPr txBox="1"/>
          <p:nvPr/>
        </p:nvSpPr>
        <p:spPr>
          <a:xfrm>
            <a:off x="609600" y="384135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rollout 문맥에서 이전 경로(f64)와 나란히 재면(그림자 실행, 3 장면 × 200 스텝), 다음 차이가 나온다.</a:t>
            </a:r>
          </a:p>
        </p:txBody>
      </p:sp>
      <p:sp>
        <p:nvSpPr>
          <p:cNvPr id="10" name="TextBox 9"/>
          <p:cNvSpPr txBox="1"/>
          <p:nvPr/>
        </p:nvSpPr>
        <p:spPr>
          <a:xfrm>
            <a:off x="609600" y="4146748"/>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σ 차이: 99% 분위 0.006 mm, 최대 0.022 mm</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판정이 바뀐 샘플: 중앙값 0%, 최대 0.13%(</a:t>
            </a:r>
            <a:r>
              <a:rPr sz="1050" b="0" i="0">
                <a:solidFill>
                  <a:srgbClr val="16213A"/>
                </a:solidFill>
                <a:latin typeface="Consolas"/>
                <a:ea typeface="Malgun Gothic"/>
                <a:cs typeface="Malgun Gothic"/>
              </a:rPr>
              <a:t>results/tp0120/shadow.tsv</a:t>
            </a:r>
            <a:r>
              <a:rPr sz="1050" b="0" i="0">
                <a:solidFill>
                  <a:srgbClr val="16213A"/>
                </a:solidFill>
                <a:latin typeface="Arial"/>
                <a:ea typeface="Malgun Gothic"/>
                <a:cs typeface="Malgun Gothic"/>
              </a:rPr>
              <a:t>)</a:t>
            </a:r>
          </a:p>
        </p:txBody>
      </p:sp>
      <p:graphicFrame>
        <p:nvGraphicFramePr>
          <p:cNvPr id="11" name="Table 10"/>
          <p:cNvGraphicFramePr>
            <a:graphicFrameLocks noGrp="1"/>
          </p:cNvGraphicFramePr>
          <p:nvPr/>
        </p:nvGraphicFramePr>
        <p:xfrm>
          <a:off x="609600" y="4694039"/>
          <a:ext cx="10966451" cy="1182528"/>
        </p:xfrm>
        <a:graphic>
          <a:graphicData uri="http://schemas.openxmlformats.org/drawingml/2006/table">
            <a:tbl>
              <a:tblPr firstRow="1" bandRow="1">
                <a:tableStyleId>{5C22544A-7EE6-4342-B048-85BDC9FD1C3A}</a:tableStyleId>
              </a:tblPr>
              <a:tblGrid>
                <a:gridCol w="6822877"/>
                <a:gridCol w="1346200"/>
                <a:gridCol w="1464866"/>
                <a:gridCol w="1332508"/>
              </a:tblGrid>
              <a:tr h="197088">
                <a:tc>
                  <a:txBody>
                    <a:bodyPr wrap="square"/>
                    <a:lstStyle/>
                    <a:p>
                      <a:r>
                        <a:rPr sz="800" b="1" i="0">
                          <a:solidFill>
                            <a:srgbClr val="F4F1EA"/>
                          </a:solidFill>
                          <a:latin typeface="Arial"/>
                          <a:ea typeface="Malgun Gothic"/>
                          <a:cs typeface="Malgun Gothic"/>
                        </a:rPr>
                        <a:t>시간 (plant bumps_potholes s0, 145 스텝, 부하 평균 4.2)</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중앙값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90% 분위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 질의</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mppi_ccgp</a:t>
                      </a:r>
                      <a:r>
                        <a:rPr sz="800" b="0" i="0">
                          <a:solidFill>
                            <a:srgbClr val="16213A"/>
                          </a:solidFill>
                          <a:latin typeface="Arial"/>
                          <a:ea typeface="Malgun Gothic"/>
                          <a:cs typeface="Malgun Gothic"/>
                        </a:rPr>
                        <a:t>, 이전 경로 (f64 + 명목 rollout)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21.1 ms</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mppi_ccgp</a:t>
                      </a:r>
                      <a:r>
                        <a:rPr sz="800" b="0" i="0">
                          <a:solidFill>
                            <a:srgbClr val="16213A"/>
                          </a:solidFill>
                          <a:latin typeface="Arial"/>
                          <a:ea typeface="Malgun Gothic"/>
                          <a:cs typeface="Malgun Gothic"/>
                        </a:rPr>
                        <a:t>, 빠른 경로 (A1, 이제 기본)</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22.2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ms</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mppi_ccgpm</a:t>
                      </a:r>
                      <a:r>
                        <a:rPr sz="800" b="0" i="0">
                          <a:solidFill>
                            <a:srgbClr val="16213A"/>
                          </a:solidFill>
                          <a:latin typeface="Arial"/>
                          <a:ea typeface="Malgun Gothic"/>
                          <a:cs typeface="Malgun Gothic"/>
                        </a:rPr>
                        <a:t> (M1)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 ms</a:t>
                      </a:r>
                    </a:p>
                  </a:txBody>
                  <a:tcPr marL="63500" marR="63500" marT="12700" marB="12700">
                    <a:solidFill>
                      <a:srgbClr val="FFFDF8"/>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M.3.19 GP 평균을 MPPI rollout에 넣으면 램프의 치명 실패가 사라지고, GP 경로는 두 배 빨라졌다 (TP-0120)</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89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미리 정한 시간 기준 가운데 이전 경로 대비 1.8배 이상은 넘었다. 그러나 중앙값 20 ms 미만과 90% 분위 28 ms 이하는 넘지 못했다. GP를 뺀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가 이미 19.7 ms라(TP-0119 측정 19.3 ms), GP 몫을 줄여도 20 ms 아래로 가지 못한다. 설계 때의 예상(14.5–16.5 ms)은 이 기본 비용을 낮게 잡았다. GP가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에 더하는 몫은 23.2 ms에서 2.5 ms로 줄었다.</a:t>
            </a:r>
          </a:p>
        </p:txBody>
      </p:sp>
      <p:pic>
        <p:nvPicPr>
          <p:cNvPr id="6" name="Picture 5" descr="image.jpg"/>
          <p:cNvPicPr>
            <a:picLocks noChangeAspect="1"/>
          </p:cNvPicPr>
          <p:nvPr/>
        </p:nvPicPr>
        <p:blipFill>
          <a:blip r:embed="rId3"/>
          <a:stretch>
            <a:fillRect/>
          </a:stretch>
        </p:blipFill>
        <p:spPr>
          <a:xfrm>
            <a:off x="1441450" y="1766491"/>
            <a:ext cx="9309100" cy="3270250"/>
          </a:xfrm>
          <a:prstGeom prst="rect">
            <a:avLst/>
          </a:prstGeom>
        </p:spPr>
      </p:pic>
      <p:sp>
        <p:nvSpPr>
          <p:cNvPr id="7" name="TextBox 6"/>
          <p:cNvSpPr txBox="1"/>
          <p:nvPr/>
        </p:nvSpPr>
        <p:spPr>
          <a:xfrm>
            <a:off x="1441450" y="5074841"/>
            <a:ext cx="9309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같은 요청에 다섯 컨트롤러를 차례로 넣어 잰 control() 시간의 중앙값. 파랑이 GP 질의 몫, 세로선이 90% 분위다. python -m scripts.eval_chance_gp timing → results/tp0120/control_timing.tsv.</a:t>
            </a:r>
          </a:p>
        </p:txBody>
      </p:sp>
      <p:sp>
        <p:nvSpPr>
          <p:cNvPr id="8" name="TextBox 7"/>
          <p:cNvSpPr txBox="1"/>
          <p:nvPr/>
        </p:nvSpPr>
        <p:spPr>
          <a:xfrm>
            <a:off x="609600" y="530592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폐루프.</a:t>
            </a:r>
            <a:r>
              <a:rPr sz="1050" b="0" i="0">
                <a:solidFill>
                  <a:srgbClr val="16213A"/>
                </a:solidFill>
                <a:latin typeface="Arial"/>
                <a:ea typeface="Malgun Gothic"/>
                <a:cs typeface="Malgun Gothic"/>
              </a:rPr>
              <a:t> 이전 경로를 다시 돌리면 TP-0119의 행을 에피소드마다 그대로 재현한다(plant seed 0–11, 48/48). 빠른 경로(A1)는 seed 0–11에서 43/48로 이전 경로 45/48보다 curb_ramp에서 두 건 적었다. 미리 정한 "시나리오마다 1건 넘게 나쁘지 않을 것"을 넘지 못해 seed 12–23을 더 돌렸다. 이전 경로는 TP-0119 행으로 갈음했다. seed 12–23에서는 44/48로 같고, 24 seed를 모으면 87/96 대 89/96이다. 엇갈린 짝이 4 대 6이라 우연과 구별되지 않고(부호 검정 p ≈ 0.38), 시나리오마다 차이는 1건 이내다. 그래서 빠른 경로를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의 기본값으로 두었다(이전 경로는 </a:t>
            </a:r>
            <a:r>
              <a:rPr sz="1050" b="0" i="0">
                <a:solidFill>
                  <a:srgbClr val="16213A"/>
                </a:solidFill>
                <a:latin typeface="Consolas"/>
                <a:ea typeface="Malgun Gothic"/>
                <a:cs typeface="Malgun Gothic"/>
              </a:rPr>
              <a:t>gp_impl=f64 fast_rollout=false</a:t>
            </a:r>
            <a:r>
              <a:rPr sz="1050" b="0" i="0">
                <a:solidFill>
                  <a:srgbClr val="16213A"/>
                </a:solidFill>
                <a:latin typeface="Arial"/>
                <a:ea typeface="Malgun Gothic"/>
                <a:cs typeface="Malgun Gothic"/>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M.3.19 GP 평균을 MPPI rollout에 넣으면 램프의 치명 실패가 사라지고, GP 경로는 두 배 빨라졌다 (TP-0120)</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90 / 112</a:t>
            </a:r>
          </a:p>
        </p:txBody>
      </p:sp>
      <p:graphicFrame>
        <p:nvGraphicFramePr>
          <p:cNvPr id="5" name="Table 4"/>
          <p:cNvGraphicFramePr>
            <a:graphicFrameLocks noGrp="1"/>
          </p:cNvGraphicFramePr>
          <p:nvPr/>
        </p:nvGraphicFramePr>
        <p:xfrm>
          <a:off x="609600" y="1244600"/>
          <a:ext cx="10966450" cy="985440"/>
        </p:xfrm>
        <a:graphic>
          <a:graphicData uri="http://schemas.openxmlformats.org/drawingml/2006/table">
            <a:tbl>
              <a:tblPr firstRow="1" bandRow="1">
                <a:tableStyleId>{5C22544A-7EE6-4342-B048-85BDC9FD1C3A}</a:tableStyleId>
              </a:tblPr>
              <a:tblGrid>
                <a:gridCol w="2971998"/>
                <a:gridCol w="2642295"/>
                <a:gridCol w="2151658"/>
                <a:gridCol w="3200499"/>
              </a:tblGrid>
              <a:tr h="197088">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이전 경로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빠른 경로 (A1)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 평균 rollout (M1)</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plant seed 0–11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43/48 (치명 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seed 12–23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44/48 (TP-0119)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44/48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정적 seed 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 (보정 끔 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보행자 3명 seed 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r>
            </a:tbl>
          </a:graphicData>
        </a:graphic>
      </p:graphicFrame>
      <p:pic>
        <p:nvPicPr>
          <p:cNvPr id="6" name="Picture 5" descr="image.jpg"/>
          <p:cNvPicPr>
            <a:picLocks noChangeAspect="1"/>
          </p:cNvPicPr>
          <p:nvPr/>
        </p:nvPicPr>
        <p:blipFill>
          <a:blip r:embed="rId3"/>
          <a:stretch>
            <a:fillRect/>
          </a:stretch>
        </p:blipFill>
        <p:spPr>
          <a:xfrm>
            <a:off x="1016000" y="2571651"/>
            <a:ext cx="10160000" cy="1879600"/>
          </a:xfrm>
          <a:prstGeom prst="rect">
            <a:avLst/>
          </a:prstGeom>
        </p:spPr>
      </p:pic>
      <p:sp>
        <p:nvSpPr>
          <p:cNvPr id="7" name="TextBox 6"/>
          <p:cNvSpPr txBox="1"/>
          <p:nvPr/>
        </p:nvSpPr>
        <p:spPr>
          <a:xfrm>
            <a:off x="1016000" y="448935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GP 경로별 성공 비율. 원자료 results/p2-controller-followups.tsv(TP-0120 행, 이전 경로의 seed 12–23은 TP-0119 행).</a:t>
            </a:r>
          </a:p>
        </p:txBody>
      </p:sp>
      <p:sp>
        <p:nvSpPr>
          <p:cNvPr id="8" name="TextBox 7"/>
          <p:cNvSpPr txBox="1"/>
          <p:nvPr/>
        </p:nvSpPr>
        <p:spPr>
          <a:xfrm>
            <a:off x="609600" y="472043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M1이 무엇을 바꿨나.</a:t>
            </a:r>
            <a:r>
              <a:rPr sz="1050" b="0" i="0">
                <a:solidFill>
                  <a:srgbClr val="16213A"/>
                </a:solidFill>
                <a:latin typeface="Arial"/>
                <a:ea typeface="Malgun Gothic"/>
                <a:cs typeface="Malgun Gothic"/>
              </a:rPr>
              <a:t> M1의 rollout은 명령을 그대로 실현한다고 보지 않는다. GP 평균을 지금 계획 주변에서 선형화해, 지연된 실제 twist를 예측한다 (</a:t>
            </a:r>
            <a:r>
              <a:rPr sz="1050" b="0" i="0">
                <a:solidFill>
                  <a:srgbClr val="16213A"/>
                </a:solidFill>
                <a:latin typeface="Consolas"/>
                <a:ea typeface="Malgun Gothic"/>
                <a:cs typeface="Malgun Gothic"/>
              </a:rPr>
              <a:t>control/mppi/residual.py::ResidualSwerveModel</a:t>
            </a:r>
            <a:r>
              <a:rPr sz="1050" b="0" i="0">
                <a:solidFill>
                  <a:srgbClr val="16213A"/>
                </a:solidFill>
                <a:latin typeface="Arial"/>
                <a:ea typeface="Malgun Gothic"/>
                <a:cs typeface="Malgun Gothic"/>
              </a:rPr>
              <a:t>, 앞 2 s). 그러면 MPPI가 감속과 회전을 일찍 시작한다. plant의 curb_ramp에서 A1의 치명 실패 셋(s2·s8·s11)은 모두 램프를 다 올라간 위쪽 끝, 인도 쪽 모서리(y ≈ 3.3 m)에서 났다. s8에서는 입구를 지나쳐 고리를 그린 뒤 비스듬히 들어가 그 모서리를 벤다(애니메이션). M1에서는 셋 다 도달한다. 대신 bumps s1·s3, random_mix s6에서 멈춰 60 s에 timeout이다. M1의 plant 실패 다섯은 모두 timeout이고 치명 실패는 0이다(A1은 치명 셋). 그 멈춤의 원인은 따로 재지 않았다. 미리 정한 메커니즘 지표(실행 계획의 1 s·2 s 위치 오차, 보정 계수 λ의 분포)도 재지 않았다.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M.3.19 GP 평균을 MPPI rollout에 넣으면 램프의 치명 실패가 사라지고, GP 경로는 두 배 빨라졌다 (TP-0120)</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91 / 112</a:t>
            </a:r>
          </a:p>
        </p:txBody>
      </p:sp>
      <p:sp>
        <p:nvSpPr>
          <p:cNvPr id="5" name="TextBox 4"/>
          <p:cNvSpPr txBox="1"/>
          <p:nvPr/>
        </p:nvSpPr>
        <p:spPr>
          <a:xfrm>
            <a:off x="609600" y="1244600"/>
            <a:ext cx="10972800" cy="20718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s8. 회색은 MPPI 샘플 일부, 색 선은 가중 평균 예측, 점선은 Guidance 경로다. 빠른 경로(A1, 명목 rollout)는 입구를 지나쳐 고리를 그린 뒤 비스듬히 들어가, 34.3 s에 램프 위쪽 끝의 모서리에서 치명 실패한다. GP 평균 rollout(M1)은 일찍 꺾어 고리 없이 들어가 48.8 s에 도달한다.</a:t>
            </a:r>
          </a:p>
        </p:txBody>
      </p:sp>
      <p:sp>
        <p:nvSpPr>
          <p:cNvPr id="6" name="TextBox 5"/>
          <p:cNvSpPr txBox="1"/>
          <p:nvPr/>
        </p:nvSpPr>
        <p:spPr>
          <a:xfrm>
            <a:off x="609600" y="3405386"/>
            <a:ext cx="10972800" cy="18553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bumps_potholes s1. A1은 36.7 s에 도달한다. M1은 21 s부터 블록 옆 통로 입구에서 거의 움직이지 않다가 60 s에 timeout이다.</a:t>
            </a:r>
          </a:p>
        </p:txBody>
      </p:sp>
      <p:sp>
        <p:nvSpPr>
          <p:cNvPr id="7" name="TextBox 6"/>
          <p:cNvSpPr txBox="1"/>
          <p:nvPr/>
        </p:nvSpPr>
        <p:spPr>
          <a:xfrm>
            <a:off x="609600" y="53496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다음.</a:t>
            </a:r>
            <a:r>
              <a:rPr sz="1050" b="0" i="0">
                <a:solidFill>
                  <a:srgbClr val="16213A"/>
                </a:solidFill>
                <a:latin typeface="Arial"/>
                <a:ea typeface="Malgun Gothic"/>
                <a:cs typeface="Malgun Gothic"/>
              </a:rPr>
              <a:t> 지연을 아는 rollout이 램프의 치명 실패를 없앤다는 것은 예측 모델 계층(TP-0124)의 첫 근거다. 기구학 rollout에 지연만 더한 동역학 층이 같은 이득을 내면서 멈춤을 늘리지 않는지 보는 것이 그 다음이다.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92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미리 정한 기준 G0가 실패해 MPOT 변형은 만들지 않는다.</a:t>
            </a:r>
            <a:r>
              <a:rPr sz="1050" b="0" i="0">
                <a:solidFill>
                  <a:srgbClr val="16213A"/>
                </a:solidFill>
                <a:latin typeface="Arial"/>
                <a:ea typeface="Malgun Gothic"/>
                <a:cs typeface="Malgun Gothic"/>
              </a:rPr>
              <a:t> MPOT식 Sinkhorn Step(O2)이 '센' 멈춤 장면은 10개 중 둘이다. 그 두 장면에서는 같은 예산의 MPPI(B)도 셌다. </a:t>
            </a:r>
            <a:r>
              <a:rPr sz="1050" b="1" i="0">
                <a:solidFill>
                  <a:srgbClr val="C2410C"/>
                </a:solidFill>
                <a:latin typeface="Arial"/>
                <a:ea typeface="Malgun Gothic"/>
                <a:cs typeface="Malgun Gothic"/>
              </a:rPr>
              <a:t>더 센 최적화기가 찾은 계획은 대부분 목적함수를 3% 안쪽으로만 낮추고, 4 s에 0.4 m를 넘게 나아가지 못했다.</a:t>
            </a:r>
            <a:r>
              <a:rPr sz="1050" b="0" i="0">
                <a:solidFill>
                  <a:srgbClr val="16213A"/>
                </a:solidFill>
                <a:latin typeface="Arial"/>
                <a:ea typeface="Malgun Gothic"/>
                <a:cs typeface="Malgun Gothic"/>
              </a:rPr>
              <a:t> 멈춤의 원인은 가설로 좁혔다. curb_ramp에서는 접힌 참조가 거짓 진행을 만든다. bumps·random_mix의 멈춤은 GP 분산 튜브를 쓰는 두 스택에서만 난다. 치명 실패 직전의 계획은 Controller의 모델에서는 안전하지만, plant에서 개루프로 돌리면 대부분 치명적이다.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쟀나.</a:t>
            </a:r>
            <a:r>
              <a:rPr sz="1050" b="0" i="0">
                <a:solidFill>
                  <a:srgbClr val="16213A"/>
                </a:solidFill>
                <a:latin typeface="Arial"/>
                <a:ea typeface="Malgun Gothic"/>
                <a:cs typeface="Malgun Gothic"/>
              </a:rPr>
              <a:t> MPOT(최적 수송으로 샘플을 옮기는 최적화기, Controller 문서 E.11)를 넣기 전에, MPPI 계열이 멈춘 장면에 더 센 최적화기가 쓸 여지가 있는지 쟀다. 현재 기본 경로에서 MPPI 계열이 timeout한 plant 장면 10개를 골랐다(</a:t>
            </a:r>
            <a:r>
              <a:rPr sz="1050" b="0" i="0">
                <a:solidFill>
                  <a:srgbClr val="16213A"/>
                </a:solidFill>
                <a:latin typeface="Consolas"/>
                <a:ea typeface="Malgun Gothic"/>
                <a:cs typeface="Malgun Gothic"/>
              </a:rPr>
              <a:t>mppi_ccgpm</a:t>
            </a:r>
            <a:r>
              <a:rPr sz="1050" b="0" i="0">
                <a:solidFill>
                  <a:srgbClr val="16213A"/>
                </a:solidFill>
                <a:latin typeface="Arial"/>
                <a:ea typeface="Malgun Gothic"/>
                <a:cs typeface="Malgun Gothic"/>
              </a:rPr>
              <a:t> 다섯,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 넷,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하나). 대조로 GP 평균이 없는 스택의 치명 실패 8개를 더했다. 장면마다 벤치마크와 똑같이 두 번 돌린다. 1회차로 구간을 찾고 2회차에서 탐침을 꽂는다. 2회차는 18 장면 모두 1회차와 같은 결과를 냈다.</a:t>
            </a:r>
          </a:p>
        </p:txBody>
      </p:sp>
      <p:sp>
        <p:nvSpPr>
          <p:cNvPr id="7" name="TextBox 6"/>
          <p:cNvSpPr txBox="1"/>
          <p:nvPr/>
        </p:nvSpPr>
        <p:spPr>
          <a:xfrm>
            <a:off x="609600" y="2721372"/>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멈춘 구간: 지난 3 s의 순변위가 0.3 m 미만이고 목표까지 1 m 넘게 남은 스텝. 1 s마다 탐침 하나를 두고, 장면당 20개까지 고르게 뽑는다(모두 184개).</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치명 구간: 치명 실패 전 3 s. 0.5 s마다 탐침 하나를 둔다(56개).</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탐침에서는 Controller를 그 스텝의 호출 직전 상태로 복사한다. 오라클 다섯이 Controller가 방금 푼 것과 같은 목적함수를 다시 푼다. 같은 CostTerm, rollout 모델, 확률 제약, warm start를 쓴다.</a:t>
            </a:r>
          </a:p>
        </p:txBody>
      </p:sp>
      <p:graphicFrame>
        <p:nvGraphicFramePr>
          <p:cNvPr id="8" name="Table 7"/>
          <p:cNvGraphicFramePr>
            <a:graphicFrameLocks noGrp="1"/>
          </p:cNvGraphicFramePr>
          <p:nvPr/>
        </p:nvGraphicFramePr>
        <p:xfrm>
          <a:off x="609600" y="3727053"/>
          <a:ext cx="10966451" cy="1182528"/>
        </p:xfrm>
        <a:graphic>
          <a:graphicData uri="http://schemas.openxmlformats.org/drawingml/2006/table">
            <a:tbl>
              <a:tblPr firstRow="1" bandRow="1">
                <a:tableStyleId>{5C22544A-7EE6-4342-B048-85BDC9FD1C3A}</a:tableStyleId>
              </a:tblPr>
              <a:tblGrid>
                <a:gridCol w="994767"/>
                <a:gridCol w="5050830"/>
                <a:gridCol w="2581077"/>
                <a:gridCol w="2339777"/>
              </a:tblGrid>
              <a:tr h="197088">
                <a:tc>
                  <a:txBody>
                    <a:bodyPr wrap="square"/>
                    <a:lstStyle/>
                    <a:p>
                      <a:r>
                        <a:rPr sz="800" b="1" i="0">
                          <a:solidFill>
                            <a:srgbClr val="F4F1EA"/>
                          </a:solidFill>
                          <a:latin typeface="Arial"/>
                          <a:ea typeface="Malgun Gothic"/>
                          <a:cs typeface="Malgun Gothic"/>
                        </a:rPr>
                        <a:t>오라클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rollout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탐침당 시간 (중앙값)</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생산 MPPI를 다른 seed로 다시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768 ×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두 번 반복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384 ×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 ms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O2와 같은 예산의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1,961 × 12 = 23,532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658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큰 MPPI (생산의 107배)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16,384 × 5 = 81,920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2.57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MPOT식 Sinkhorn Step, 명령 knot 공간 (E.11)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step, 23,528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 s</a:t>
                      </a:r>
                    </a:p>
                  </a:txBody>
                  <a:tcPr marL="63500" marR="63500" marT="12700" marB="12700">
                    <a:solidFill>
                      <a:srgbClr val="FFFDF8"/>
                    </a:solidFill>
                  </a:tcPr>
                </a:tc>
              </a:tr>
            </a:tbl>
          </a:graphicData>
        </a:graphic>
      </p:graphicFrame>
      <p:sp>
        <p:nvSpPr>
          <p:cNvPr id="9" name="TextBox 8"/>
          <p:cNvSpPr txBox="1"/>
          <p:nvPr/>
        </p:nvSpPr>
        <p:spPr>
          <a:xfrm>
            <a:off x="609600" y="530046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시간은 24코어에 2스레드 프로세스 18개를 함께 돌린 값이다. 같은 rollout 수에서 O2는 B보다 2.1배 오래 걸린다. O2의 한 스텝은 rollout 384개와 8개를 차례로 돌리고 Sinkhorn을 50번 반복한다. 그 스텝을 60번 차례로 밟는다.</a:t>
            </a:r>
          </a:p>
        </p:txBody>
      </p:sp>
      <p:sp>
        <p:nvSpPr>
          <p:cNvPr id="10" name="TextBox 9"/>
          <p:cNvSpPr txBox="1"/>
          <p:nvPr/>
        </p:nvSpPr>
        <p:spPr>
          <a:xfrm>
            <a:off x="609600" y="582235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판정 규칙(실행 전에 정함).</a:t>
            </a:r>
            <a:r>
              <a:rPr sz="1050" b="0" i="0">
                <a:solidFill>
                  <a:srgbClr val="16213A"/>
                </a:solidFill>
                <a:latin typeface="Arial"/>
                <a:ea typeface="Malgun Gothic"/>
                <a:cs typeface="Malgun Gothic"/>
              </a:rPr>
              <a:t> 오라클이 찾은 계획이 셋을 모두 만족하면 그 탐침에서 '탈출'이다.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93 / 112</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Controller의 모델에서 실행 가능하다. 치명 셀, 자세 한계, 확률 제약 위반이 없어야 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참조를 따라 4 s 안에 0.3 m 이상 나아간다.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실행한 계획보다 목적함수가 낮다.</a:t>
            </a:r>
          </a:p>
        </p:txBody>
      </p:sp>
      <p:sp>
        <p:nvSpPr>
          <p:cNvPr id="6" name="TextBox 5"/>
          <p:cNvSpPr txBox="1"/>
          <p:nvPr/>
        </p:nvSpPr>
        <p:spPr>
          <a:xfrm>
            <a:off x="609600" y="20337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실행한 계획이 이미 0.3 m 이상 나아가는 탐침(plan_go)은 최적화기에 묻는 질문이 아니라서 따로 센다. 탈출은 나머지 탐침(plan_stop)에서만 센다. 오라클이 한 장면의 plan_stop 탐침(3개 이상) 가운데 절반 이상에서 탈출하면 그 장면에서 '센다'. G0는 O2가 3 장면 이상에서 세고, 그 장면마다 B는 세지 않을 때만 통과다. 해석도 미리 적었다. O2가 센 곳마다 B나 O1도 세면 표본 수의 문제이고, 값싼 MPPI 변경이 먼저다. P가 세면 표본 운이다. 실행 전에 두 가지를 고쳤고, 둘 다 도구의 설명에 적었다. 멈춘 구간의 정의를 속도에서 순변위로 바꿨다(첫 장면의 1회차 자료만 보고). plan_go 분류는 탐침 두 개의 시험 실행 뒤, 본 실행 전에 넣었다.</a:t>
            </a:r>
          </a:p>
        </p:txBody>
      </p:sp>
      <p:sp>
        <p:nvSpPr>
          <p:cNvPr id="7" name="TextBox 6"/>
          <p:cNvSpPr txBox="1"/>
          <p:nvPr/>
        </p:nvSpPr>
        <p:spPr>
          <a:xfrm>
            <a:off x="609600" y="29886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 1: G0는 실패했다.</a:t>
            </a:r>
            <a:r>
              <a:rPr sz="1050" b="0" i="0">
                <a:solidFill>
                  <a:srgbClr val="16213A"/>
                </a:solidFill>
                <a:latin typeface="Arial"/>
                <a:ea typeface="Malgun Gothic"/>
                <a:cs typeface="Malgun Gothic"/>
              </a:rPr>
              <a:t> O2는 두 장면(ccgp bumps s6·s11)에서 셌고, B는 그 둘과 ccgpm bumps s6에서 셌다. G0의 두 조건이 모두 깨졌다. plan_go 분류를 빼고 모든 탐침으로 세어도 실패다. O2가 7 장면, B가 9 장면에서 세고, B의 장면이 O2의 장면을 모두 덮는다.</a:t>
            </a:r>
          </a:p>
        </p:txBody>
      </p:sp>
      <p:graphicFrame>
        <p:nvGraphicFramePr>
          <p:cNvPr id="8" name="Table 7"/>
          <p:cNvGraphicFramePr>
            <a:graphicFrameLocks noGrp="1"/>
          </p:cNvGraphicFramePr>
          <p:nvPr/>
        </p:nvGraphicFramePr>
        <p:xfrm>
          <a:off x="609600" y="3510558"/>
          <a:ext cx="10966450" cy="591264"/>
        </p:xfrm>
        <a:graphic>
          <a:graphicData uri="http://schemas.openxmlformats.org/drawingml/2006/table">
            <a:tbl>
              <a:tblPr firstRow="1" bandRow="1">
                <a:tableStyleId>{5C22544A-7EE6-4342-B048-85BDC9FD1C3A}</a:tableStyleId>
              </a:tblPr>
              <a:tblGrid>
                <a:gridCol w="6950571"/>
                <a:gridCol w="673398"/>
                <a:gridCol w="887313"/>
                <a:gridCol w="680343"/>
                <a:gridCol w="887313"/>
                <a:gridCol w="887512"/>
              </a:tblGrid>
              <a:tr h="197088">
                <a:tc>
                  <a:txBody>
                    <a:bodyPr wrap="square"/>
                    <a:lstStyle/>
                    <a:p>
                      <a:r>
                        <a:rPr sz="800" b="1" i="0">
                          <a:solidFill>
                            <a:srgbClr val="F4F1EA"/>
                          </a:solidFill>
                          <a:latin typeface="Arial"/>
                          <a:ea typeface="Malgun Gothic"/>
                          <a:cs typeface="Malgun Gothic"/>
                        </a:rPr>
                        <a:t>'센' 장면 수 (멈춘 장면 10개 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탈출 전진 0.3 m 이상 (사전 등록)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탈출 전진 1.0 m 이상 (사후, 같은 plan_stop 탐침)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r>
            </a:tbl>
          </a:graphicData>
        </a:graphic>
      </p:graphicFrame>
      <p:sp>
        <p:nvSpPr>
          <p:cNvPr id="9" name="TextBox 8"/>
          <p:cNvSpPr txBox="1"/>
          <p:nvPr/>
        </p:nvSpPr>
        <p:spPr>
          <a:xfrm>
            <a:off x="609600" y="434488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미리 적은 해석대로라면 표본 수의 문제다. P도 ccgp bumps s6에서 셌으므로(8/14), 그 장면의 멈춤은 일부 표본 운이기도 하다. 다만 탈출은 대부분 작다. 탐침마다 가장 나은 오라클을 골라도 목적함수 감소의 장면별 중앙값은 1.2–3.2%다. 그 계획은 대부분 4 s에 0.2–0.4 m만 나아간다. 탈출 전진을 0.6 m나 1.0 m로 올리면 O1만 한 장면(ccgpm bumps s3)에서 센다.</a:t>
            </a:r>
          </a:p>
        </p:txBody>
      </p:sp>
      <p:sp>
        <p:nvSpPr>
          <p:cNvPr id="10" name="TextBox 9"/>
          <p:cNvSpPr txBox="1"/>
          <p:nvPr/>
        </p:nvSpPr>
        <p:spPr>
          <a:xfrm>
            <a:off x="609600" y="486677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예외가 하나 있다. ccgpm bumps s3·s11의 plan_stop 탐침 33개 가운데 14개에는 1 m 넘게 나아가면서 목적함수도 낮은 계획이 있었다. 감소의 중앙값은 5.2%(1.8–12.5%)다. O1이 9개, O2가 8개, B가 5개에서 찾았고 P와 O3는 하나도 찾지 못했다. 생산 예산(768)에서의 탐색 실패다. MPOT가 B를 앞선 유일한 신호도 여기 있다. ccgpm bumps s11에서 O2만 탈출한 탐침이 5개, B만 탈출한 탐침이 0개다(부호 검정 p ≈ 0.06). 탐침이 1 s 간격으로 이어져 서로 독립이 아니므로, 이 p는 낙관적이다.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94 / 112</a:t>
            </a:r>
          </a:p>
        </p:txBody>
      </p:sp>
      <p:pic>
        <p:nvPicPr>
          <p:cNvPr id="5" name="Picture 4" descr="image.jpg"/>
          <p:cNvPicPr>
            <a:picLocks noChangeAspect="1"/>
          </p:cNvPicPr>
          <p:nvPr/>
        </p:nvPicPr>
        <p:blipFill>
          <a:blip r:embed="rId3"/>
          <a:stretch>
            <a:fillRect/>
          </a:stretch>
        </p:blipFill>
        <p:spPr>
          <a:xfrm>
            <a:off x="1016000" y="1244600"/>
            <a:ext cx="10160000" cy="3454400"/>
          </a:xfrm>
          <a:prstGeom prst="rect">
            <a:avLst/>
          </a:prstGeom>
        </p:spPr>
      </p:pic>
      <p:sp>
        <p:nvSpPr>
          <p:cNvPr id="6" name="TextBox 5"/>
          <p:cNvSpPr txBox="1"/>
          <p:nvPr/>
        </p:nvSpPr>
        <p:spPr>
          <a:xfrm>
            <a:off x="1016000" y="47371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멈춘 장면(행)과 오라클(열)마다 plan_stop 탐침에서 탈출한 비율. (a)는 사전 등록 기준(전진 0.3 m 이상)이다. (b)는 같은 탐침에서 탈출 전진을 1.0 m로 올린 값이다(사후, 저장한 최선 후보만 봐서 하한). (c)는 오라클이 찾은 최선 계획의 목적함수 감소 중앙값이다. 굵은 테두리가 그 장면에서 '센다'는 뜻이다. 아래 다섯 행은 plan_stop 탐침이 없어 최적화기 질문이 성립하지 않는 장면이다. 원자료 results/tp0130/headroom_probes.tsv.</a:t>
            </a:r>
          </a:p>
        </p:txBody>
      </p:sp>
      <p:sp>
        <p:nvSpPr>
          <p:cNvPr id="7" name="TextBox 6"/>
          <p:cNvSpPr txBox="1"/>
          <p:nvPr/>
        </p:nvSpPr>
        <p:spPr>
          <a:xfrm>
            <a:off x="609600" y="51103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 2: 멈춤 원인의 가설.</a:t>
            </a:r>
            <a:r>
              <a:rPr sz="1050" b="0" i="0">
                <a:solidFill>
                  <a:srgbClr val="16213A"/>
                </a:solidFill>
                <a:latin typeface="Arial"/>
                <a:ea typeface="Malgun Gothic"/>
                <a:cs typeface="Malgun Gothic"/>
              </a:rPr>
              <a:t> 멈춘 구간의 모든 스텝에서 계획의 속도 윤곽을 기록했다. 탐침마다 실행한 계획을 plant에서 4 s 개루프로 돌려도 봤다. 둘 다 실행 뒤에 더한 기록이다(</a:t>
            </a:r>
            <a:r>
              <a:rPr sz="1050" b="0" i="0">
                <a:solidFill>
                  <a:srgbClr val="16213A"/>
                </a:solidFill>
                <a:latin typeface="Consolas"/>
                <a:ea typeface="Malgun Gothic"/>
                <a:cs typeface="Malgun Gothic"/>
              </a:rPr>
              <a:t>results/tp0130/stall_profile.tsv</a:t>
            </a:r>
            <a:r>
              <a:rPr sz="1050" b="0" i="0">
                <a:solidFill>
                  <a:srgbClr val="16213A"/>
                </a:solidFill>
                <a:latin typeface="Arial"/>
                <a:ea typeface="Malgun Gothic"/>
                <a:cs typeface="Malgun Gothic"/>
              </a:rPr>
              <a:t>). 항별 비용 기록과 반사실 재채점은 하지 않았으므로, 아래 표의 오른쪽 열은 원인이 아니라 가설이다.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95 / 112</a:t>
            </a:r>
          </a:p>
        </p:txBody>
      </p:sp>
      <p:graphicFrame>
        <p:nvGraphicFramePr>
          <p:cNvPr id="5" name="Table 4"/>
          <p:cNvGraphicFramePr>
            <a:graphicFrameLocks noGrp="1"/>
          </p:cNvGraphicFramePr>
          <p:nvPr/>
        </p:nvGraphicFramePr>
        <p:xfrm>
          <a:off x="609600" y="1244600"/>
          <a:ext cx="10966451" cy="1348104"/>
        </p:xfrm>
        <a:graphic>
          <a:graphicData uri="http://schemas.openxmlformats.org/drawingml/2006/table">
            <a:tbl>
              <a:tblPr firstRow="1" bandRow="1">
                <a:tableStyleId>{5C22544A-7EE6-4342-B048-85BDC9FD1C3A}</a:tableStyleId>
              </a:tblPr>
              <a:tblGrid>
                <a:gridCol w="1922066"/>
                <a:gridCol w="5953820"/>
                <a:gridCol w="3090565"/>
              </a:tblGrid>
              <a:tr h="197088">
                <a:tc>
                  <a:txBody>
                    <a:bodyPr wrap="square"/>
                    <a:lstStyle/>
                    <a:p>
                      <a:r>
                        <a:rPr sz="800" b="1" i="0">
                          <a:solidFill>
                            <a:srgbClr val="F4F1EA"/>
                          </a:solidFill>
                          <a:latin typeface="Arial"/>
                          <a:ea typeface="Malgun Gothic"/>
                          <a:cs typeface="Malgun Gothic"/>
                        </a:rPr>
                        <a:t>장면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관찰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가설</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curb_ramp s18 (</a:t>
                      </a:r>
                      <a:r>
                        <a:rPr sz="800" b="0" i="0">
                          <a:solidFill>
                            <a:srgbClr val="16213A"/>
                          </a:solidFill>
                          <a:latin typeface="Consolas"/>
                          <a:ea typeface="Malgun Gothic"/>
                          <a:cs typeface="Malgun Gothic"/>
                        </a:rPr>
                        <a:t>mppi_ccgp</a:t>
                      </a:r>
                      <a:r>
                        <a:rPr sz="800" b="0" i="0">
                          <a:solidFill>
                            <a:srgbClr val="16213A"/>
                          </a:solidFill>
                          <a:latin typeface="Arial"/>
                          <a:ea typeface="Malgun Gothic"/>
                          <a:cs typeface="Malgun Gothic"/>
                        </a:rPr>
                        <a:t>), s19 (</a:t>
                      </a:r>
                      <a:r>
                        <a:rPr sz="800" b="0" i="0">
                          <a:solidFill>
                            <a:srgbClr val="16213A"/>
                          </a:solidFill>
                          <a:latin typeface="Consolas"/>
                          <a:ea typeface="Malgun Gothic"/>
                          <a:cs typeface="Malgun Gothic"/>
                        </a:rPr>
                        <a:t>mppi</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탐침 20개 중 14·15개에서 참조 위 전진이 계획 길이보다 길다(그 탐침의 중앙값 7.9·7.9 m, 계획 길이 1.7·2.6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진행 항이 끝점을 접힌 참조의 되돌아오는 구간에 투영한다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bumps s1 (</a:t>
                      </a:r>
                      <a:r>
                        <a:rPr sz="800" b="0" i="0">
                          <a:solidFill>
                            <a:srgbClr val="16213A"/>
                          </a:solidFill>
                          <a:latin typeface="Consolas"/>
                          <a:ea typeface="Malgun Gothic"/>
                          <a:cs typeface="Malgun Gothic"/>
                        </a:rPr>
                        <a:t>mppi_ccgpm</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계획은 4 s에 2.2 m 가고, 같은 계획을 plant에서 개루프로 돌려도 1.1 m 간다. 실행한 첫 명령은 0.06 m/s다. 멈춘 스텝의 68%에서 계획이 1.9–2.2 s에 처음 0.5 m/s에 닿는다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M1이 GP 평균을 앞 2 s에만 쓰는 경계</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bumps 다섯 (ccgp s6·s11, ccgpm s3·s6·s11)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계획 자체가 4 s에 0.17–0.37 m 간다. 계획 속도는 3.3–3.5 s에서 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 분산 튜브가 움직임을 비싸게 하고, 진행 항이 지평 끝만 보므로 움직임이 끝으로 밀린다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 s6 (</a:t>
                      </a:r>
                      <a:r>
                        <a:rPr sz="800" b="0" i="0">
                          <a:solidFill>
                            <a:srgbClr val="16213A"/>
                          </a:solidFill>
                          <a:latin typeface="Consolas"/>
                          <a:ea typeface="Malgun Gothic"/>
                          <a:cs typeface="Malgun Gothic"/>
                        </a:rPr>
                        <a:t>mppi_ccgpm</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plan_go로 분류되지만 계획이 4 s에 0.6 m(plant 개루프 0.43 m)만 가는 느린 계획이다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위와 같다</a:t>
                      </a:r>
                    </a:p>
                  </a:txBody>
                  <a:tcPr marL="63500" marR="63500" marT="12700" marB="12700">
                    <a:solidFill>
                      <a:srgbClr val="F3F0E8"/>
                    </a:solidFill>
                  </a:tcPr>
                </a:tc>
              </a:tr>
            </a:tbl>
          </a:graphicData>
        </a:graphic>
      </p:graphicFrame>
      <p:sp>
        <p:nvSpPr>
          <p:cNvPr id="6" name="TextBox 5"/>
          <p:cNvSpPr txBox="1"/>
          <p:nvPr/>
        </p:nvSpPr>
        <p:spPr>
          <a:xfrm>
            <a:off x="609600" y="30249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curb_ramp s14(</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)는 멈춘 구간이 2.8 s뿐이라 어느 쪽으로도 나누지 않았다.</a:t>
            </a:r>
          </a:p>
        </p:txBody>
      </p:sp>
      <p:sp>
        <p:nvSpPr>
          <p:cNvPr id="7" name="TextBox 6"/>
          <p:cNvSpPr txBox="1"/>
          <p:nvPr/>
        </p:nvSpPr>
        <p:spPr>
          <a:xfrm>
            <a:off x="609600" y="333037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bumps·random_mix의 멈춤은 GP 분산 튜브를 쓰는 스택에서만 난다.</a:t>
            </a:r>
            <a:r>
              <a:rPr sz="1050" b="0" i="0">
                <a:solidFill>
                  <a:srgbClr val="16213A"/>
                </a:solidFill>
                <a:latin typeface="Arial"/>
                <a:ea typeface="Malgun Gothic"/>
                <a:cs typeface="Malgun Gothic"/>
              </a:rPr>
              <a:t> 같은 seed에서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는 timeout이 없다(각 48 에피소드).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는 2/48, </a:t>
            </a:r>
            <a:r>
              <a:rPr sz="1050" b="0" i="0">
                <a:solidFill>
                  <a:srgbClr val="16213A"/>
                </a:solidFill>
                <a:latin typeface="Consolas"/>
                <a:ea typeface="Malgun Gothic"/>
                <a:cs typeface="Malgun Gothic"/>
              </a:rPr>
              <a:t>mppi_ccgpm</a:t>
            </a:r>
            <a:r>
              <a:rPr sz="1050" b="0" i="0">
                <a:solidFill>
                  <a:srgbClr val="16213A"/>
                </a:solidFill>
                <a:latin typeface="Arial"/>
                <a:ea typeface="Malgun Gothic"/>
                <a:cs typeface="Malgun Gothic"/>
              </a:rPr>
              <a:t>은 5/24다(</a:t>
            </a:r>
            <a:r>
              <a:rPr sz="1050" b="0" i="0">
                <a:solidFill>
                  <a:srgbClr val="16213A"/>
                </a:solidFill>
                <a:latin typeface="Consolas"/>
                <a:ea typeface="Malgun Gothic"/>
                <a:cs typeface="Malgun Gothic"/>
              </a:rPr>
              <a:t>results/p2-controller-followups.tsv</a:t>
            </a:r>
            <a:r>
              <a:rPr sz="1050" b="0" i="0">
                <a:solidFill>
                  <a:srgbClr val="16213A"/>
                </a:solidFill>
                <a:latin typeface="Arial"/>
                <a:ea typeface="Malgun Gothic"/>
                <a:cs typeface="Malgun Gothic"/>
              </a:rPr>
              <a:t>의 TP-0119·0120 행). 진행 항은 모든 스택에 같다. 그러니 지평 끝에서만 세는 진행 항은 멈춤을 허용할 뿐이다. 멈춤과 도달을 가르는 차이는 GP 분산 튜브와 M1의 평균 창 쪽에 있다. GP 분산 튜브는 지평 전체에 걸리고, 속도가 빠를수록 넓어진다. 진행 항은 지평 끝 한 점만 보므로, 움직임을 지평 끝으로 미뤄도 손해가 없다. 선 계획의 속도가 3.3–3.5 s에서야 뛰는 것은 이 해석과 맞는다. 그러나 항별 비용으로 확인하지는 못했다. M1의 rollout은 GP 평균을 앞 2 s에만 쓴다(</a:t>
            </a:r>
            <a:r>
              <a:rPr sz="1050" b="0" i="0">
                <a:solidFill>
                  <a:srgbClr val="16213A"/>
                </a:solidFill>
                <a:latin typeface="Consolas"/>
                <a:ea typeface="Malgun Gothic"/>
                <a:cs typeface="Malgun Gothic"/>
              </a:rPr>
              <a:t>ResidualSwerveModel</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mean_horizon_s</a:t>
            </a:r>
            <a:r>
              <a:rPr sz="1050" b="0" i="0">
                <a:solidFill>
                  <a:srgbClr val="16213A"/>
                </a:solidFill>
                <a:latin typeface="Arial"/>
                <a:ea typeface="Malgun Gothic"/>
                <a:cs typeface="Malgun Gothic"/>
              </a:rPr>
              <a:t> 2.0). bumps s1의 계획은 바로 그 경계에서 빨라진다. 지연을 아는 앞 2 s에는 거의 서 있고, 지연을 모르는 뒤 2 s에 움직이는 계획이다. 이 경계가 미루기를 만드는지는 확인하지 못했다. M.3.19가 남긴 질문(M1이 늘린 멈춤 셋)에는 증상까지만 답했다. bumps s1은 2 s 경계에서 미루는 계획이고, bumps s3와 random_mix s6은 느리거나 서는 계획이다.</a:t>
            </a:r>
          </a:p>
        </p:txBody>
      </p:sp>
      <p:sp>
        <p:nvSpPr>
          <p:cNvPr id="8" name="TextBox 7"/>
          <p:cNvSpPr txBox="1"/>
          <p:nvPr/>
        </p:nvSpPr>
        <p:spPr>
          <a:xfrm>
            <a:off x="609600" y="471824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접힌 참조.</a:t>
            </a:r>
            <a:r>
              <a:rPr sz="1050" b="0" i="0">
                <a:solidFill>
                  <a:srgbClr val="16213A"/>
                </a:solidFill>
                <a:latin typeface="Arial"/>
                <a:ea typeface="Malgun Gothic"/>
                <a:cs typeface="Malgun Gothic"/>
              </a:rPr>
              <a:t> curb_ramp에서 Guidance 경로는 로봇 뒤쪽 램프로 돌아가 올라간 다음, 연석 위를 따라 되돌아온다. Controller가 보는 앞 8 m 참조도 그래서 접혀 있다. 되돌아오는 구간이 로봇 바로 위, 치명 셀인 연석 너머 2–3 m에 있다.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의 진행 항은 rollout의 끝점을 참조 전체에서 가장 가까운 점에 투영한다. 그래서 연석 바로 아래에서 끝나는 계획이 되돌아오는 구간에 투영되어 7–8 m 나아간 것으로 계산된다. 계획은 램프로 가는 참 경로와 연석 아래의 거짓 지름길 사이를 오간다. 두 로봇은 약 30 s 맴돈 뒤(s19 23–53 s, s18 22–49 s) 램프로 돌아간다. 59 s에 램프 위로 올라섰지만, 목표 5.1 m 앞에서 60 s가 지나 timeout이다(애니메이션). 이 두 장면의 plan_go 판정은 대부분 이 투영이 만든 것이다. 더 센 최적화기는 같은 거짓 최소점을 더 잘 찾을 뿐이다. 접힌 참조가 거짓 진행을 만든다는 것은 기하로 확인했다. 그것이 timeout의 원인인지는 투영을 고쳐 봐야 안다. curb_ramp의 timeout은 경로에 민감하다. 같은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도 이전 GP 경로(f64)에서는 s14·s18이 timeout이 아니었다.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96 / 112</a:t>
            </a:r>
          </a:p>
        </p:txBody>
      </p:sp>
      <p:pic>
        <p:nvPicPr>
          <p:cNvPr id="5" name="Picture 4" descr="image.jpg"/>
          <p:cNvPicPr>
            <a:picLocks noChangeAspect="1"/>
          </p:cNvPicPr>
          <p:nvPr/>
        </p:nvPicPr>
        <p:blipFill>
          <a:blip r:embed="rId3"/>
          <a:stretch>
            <a:fillRect/>
          </a:stretch>
        </p:blipFill>
        <p:spPr>
          <a:xfrm>
            <a:off x="1016000" y="1244600"/>
            <a:ext cx="10160000" cy="3892550"/>
          </a:xfrm>
          <a:prstGeom prst="rect">
            <a:avLst/>
          </a:prstGeom>
        </p:spPr>
      </p:pic>
      <p:sp>
        <p:nvSpPr>
          <p:cNvPr id="6" name="TextBox 5"/>
          <p:cNvSpPr txBox="1"/>
          <p:nvPr/>
        </p:nvSpPr>
        <p:spPr>
          <a:xfrm>
            <a:off x="1016000" y="51752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멈춤 원인의 세 가설. (a) curb_ramp s19의 35.3 s다. 하늘색이 Controller의 앞 8 m 참조, 노란 선이 모델 계획, 초록 선이 같은 계획을 plant에서 개루프로 돌린 길이다. 계획의 끝점(점선)이 연석 너머 되돌아오는 구간에 투영된다. (b)와 (c)의 위는 스텝마다 계획 속도의 윤곽이고(가로가 시간, 세로가 계획 안의 시점), 아래는 실행한 첫 명령과 실제 속도다. (b) bumps s1(M1)은 계획 속도가 GP 평균 창이 끝나는 2 s(주황 점선)에서 뛴다. (c) bumps s11(M1)은 계획 자체가 느리다.</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97 / 112</a:t>
            </a:r>
          </a:p>
        </p:txBody>
      </p:sp>
      <p:sp>
        <p:nvSpPr>
          <p:cNvPr id="5" name="TextBox 4"/>
          <p:cNvSpPr txBox="1"/>
          <p:nvPr/>
        </p:nvSpPr>
        <p:spPr>
          <a:xfrm>
            <a:off x="609600" y="1244600"/>
            <a:ext cx="10972800" cy="20718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애니메이션 — plant curb_ramp s19(</a:t>
            </a:r>
            <a:r>
              <a:rPr sz="1050" b="0" i="1">
                <a:solidFill>
                  <a:srgbClr val="16213A"/>
                </a:solidFill>
                <a:latin typeface="Consolas"/>
                <a:ea typeface="Malgun Gothic"/>
                <a:cs typeface="Malgun Gothic"/>
              </a:rPr>
              <a:t>mppi</a:t>
            </a:r>
            <a:r>
              <a:rPr sz="1050" b="0" i="1">
                <a:solidFill>
                  <a:srgbClr val="16213A"/>
                </a:solidFill>
                <a:latin typeface="Arial"/>
                <a:ea typeface="Malgun Gothic"/>
                <a:cs typeface="Malgun Gothic"/>
              </a:rPr>
              <a:t>, 왼쪽)와 s18(</a:t>
            </a:r>
            <a:r>
              <a:rPr sz="1050" b="0" i="1">
                <a:solidFill>
                  <a:srgbClr val="16213A"/>
                </a:solidFill>
                <a:latin typeface="Consolas"/>
                <a:ea typeface="Malgun Gothic"/>
                <a:cs typeface="Malgun Gothic"/>
              </a:rPr>
              <a:t>mppi_ccgp</a:t>
            </a:r>
            <a:r>
              <a:rPr sz="1050" b="0" i="1">
                <a:solidFill>
                  <a:srgbClr val="16213A"/>
                </a:solidFill>
                <a:latin typeface="Arial"/>
                <a:ea typeface="Malgun Gothic"/>
                <a:cs typeface="Malgun Gothic"/>
              </a:rPr>
              <a:t>, 오른쪽), 18 s부터. 점선이 Guidance 경로, 색 선이 4 s 예측, 회색이 MPPI 샘플 일부다. 예측이 램프 쪽(왼쪽 아래로 돌아감)과 연석 쪽(위)을 오간다. 두 로봇 모두 약 30 s 맴돈 뒤 램프로 돌아가 59 s에 올라서지만, 60 s에 timeout이다.</a:t>
            </a:r>
          </a:p>
        </p:txBody>
      </p:sp>
      <p:sp>
        <p:nvSpPr>
          <p:cNvPr id="6" name="TextBox 5"/>
          <p:cNvSpPr txBox="1"/>
          <p:nvPr/>
        </p:nvSpPr>
        <p:spPr>
          <a:xfrm>
            <a:off x="609600" y="34053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 3: 치명 실패 직전의 계획은 모델에서는 안전하고 plant에서는 대부분 치명적이다.</a:t>
            </a:r>
            <a:r>
              <a:rPr sz="1050" b="0" i="0">
                <a:solidFill>
                  <a:srgbClr val="16213A"/>
                </a:solidFill>
                <a:latin typeface="Arial"/>
                <a:ea typeface="Malgun Gothic"/>
                <a:cs typeface="Malgun Gothic"/>
              </a:rPr>
              <a:t> 사전 예측과 맞는다. 치명 구간 8 장면 × 7 탐침에서, 오라클이 찾은 계획 가운데 모델 안에서 실행 가능한 것을 plant에서 4 s 개루프로 돌렸다.</a:t>
            </a:r>
          </a:p>
        </p:txBody>
      </p:sp>
      <p:graphicFrame>
        <p:nvGraphicFramePr>
          <p:cNvPr id="7" name="Table 6"/>
          <p:cNvGraphicFramePr>
            <a:graphicFrameLocks noGrp="1"/>
          </p:cNvGraphicFramePr>
          <p:nvPr/>
        </p:nvGraphicFramePr>
        <p:xfrm>
          <a:off x="609600" y="3927277"/>
          <a:ext cx="10966449" cy="394176"/>
        </p:xfrm>
        <a:graphic>
          <a:graphicData uri="http://schemas.openxmlformats.org/drawingml/2006/table">
            <a:tbl>
              <a:tblPr firstRow="1" bandRow="1">
                <a:tableStyleId>{5C22544A-7EE6-4342-B048-85BDC9FD1C3A}</a:tableStyleId>
              </a:tblPr>
              <a:tblGrid>
                <a:gridCol w="3622675"/>
                <a:gridCol w="1468735"/>
                <a:gridCol w="1468735"/>
                <a:gridCol w="1468735"/>
                <a:gridCol w="1468735"/>
                <a:gridCol w="1468834"/>
              </a:tblGrid>
              <a:tr h="197088">
                <a:tc>
                  <a:txBody>
                    <a:bodyPr wrap="square"/>
                    <a:lstStyle/>
                    <a:p>
                      <a:r>
                        <a:rPr sz="800" b="1" i="0">
                          <a:solidFill>
                            <a:srgbClr val="F4F1EA"/>
                          </a:solidFill>
                          <a:latin typeface="Arial"/>
                          <a:ea typeface="Malgun Gothic"/>
                          <a:cs typeface="Malgun Gothic"/>
                        </a:rPr>
                        <a:t>오라클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O2</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plant 개루프에서 실패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45/54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46/54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48/54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49/54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49/54</a:t>
                      </a:r>
                    </a:p>
                  </a:txBody>
                  <a:tcPr marL="63500" marR="63500" marT="12700" marB="12700">
                    <a:solidFill>
                      <a:srgbClr val="FFFDF8"/>
                    </a:solidFill>
                  </a:tcPr>
                </a:tc>
              </a:tr>
            </a:tbl>
          </a:graphicData>
        </a:graphic>
      </p:graphicFrame>
      <p:sp>
        <p:nvSpPr>
          <p:cNvPr id="8" name="TextBox 7"/>
          <p:cNvSpPr txBox="1"/>
          <p:nvPr/>
        </p:nvSpPr>
        <p:spPr>
          <a:xfrm>
            <a:off x="609600" y="4515247"/>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더 센 최적화기의 계획이 덜 실패하지 않았다. 사후 참조로 같은 시점에 두 가지를 더 돌렸다. Controller가 실행한 계획은 49/56이 실패했다. 정지 명령은 16/56만 실패했고, 그중 14건이 실패 0.5 s 전 이후다. 멈춘 구간의 실행 계획은 같은 재생에서 2/184만 실패했다. 재생 자체가 늘 치명적인 것은 아니다. 예측은 8 장면 가운데 여섯에서 맞았다. mppi bumps s11에서는 P와 O3 계획의 절반이 살아남았다. mppi random_mix s23에서는 모든 계획이 실패 1.5 s 전까지 살아남고, 1.0 s 전부터 모두 실패한다. 그 장면의 실패는 마지막 1 s 안에 정해졌다. 이 재생은 동역학(지연·슬립)과 지도(belief 대신 실제 지형)를 함께 바꾸고, 재계획 없이 돈다. 그래서 둘 가운데 무엇이 계획을 치명적으로 만드는지는 가르지 못한다.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98 / 112</a:t>
            </a:r>
          </a:p>
        </p:txBody>
      </p:sp>
      <p:pic>
        <p:nvPicPr>
          <p:cNvPr id="5" name="Picture 4" descr="image.jpg"/>
          <p:cNvPicPr>
            <a:picLocks noChangeAspect="1"/>
          </p:cNvPicPr>
          <p:nvPr/>
        </p:nvPicPr>
        <p:blipFill>
          <a:blip r:embed="rId3"/>
          <a:stretch>
            <a:fillRect/>
          </a:stretch>
        </p:blipFill>
        <p:spPr>
          <a:xfrm>
            <a:off x="2114550" y="1244600"/>
            <a:ext cx="7962900" cy="3943350"/>
          </a:xfrm>
          <a:prstGeom prst="rect">
            <a:avLst/>
          </a:prstGeom>
        </p:spPr>
      </p:pic>
      <p:sp>
        <p:nvSpPr>
          <p:cNvPr id="6" name="TextBox 5"/>
          <p:cNvSpPr txBox="1"/>
          <p:nvPr/>
        </p:nvSpPr>
        <p:spPr>
          <a:xfrm>
            <a:off x="2114550" y="5226050"/>
            <a:ext cx="79629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치명 실패 전 3 s의 탐침에서, 모델 안에서 실행 가능한 계획을 plant에서 4 s 개루프로 돌렸을 때 실패한 비율. 오라클 다섯 선은 62.5–100%에 있고, O3가 2.5 s 전에 62.5%로 가장 낮다. 점선의 정지 명령은 실패 1 s 전까지 0–12.5%다. 실행한 계획과 정지 명령은 실행 뒤에 더한 참조다. 원자료 results/tp0130/headroom.tsv·headroom_probes.tsv.</a:t>
            </a:r>
          </a:p>
        </p:txBody>
      </p:sp>
      <p:sp>
        <p:nvSpPr>
          <p:cNvPr id="7" name="TextBox 6"/>
          <p:cNvSpPr txBox="1"/>
          <p:nvPr/>
        </p:nvSpPr>
        <p:spPr>
          <a:xfrm>
            <a:off x="609600" y="55993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M.3.20 멈춘 장면에서 MPOT식 최적화기는 같은 예산의 MPPI를 넘지 못했다 — MPOT 변형은 만들지 않는다 (TP-0130)</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99 / 112</a:t>
            </a:r>
          </a:p>
        </p:txBody>
      </p:sp>
      <p:sp>
        <p:nvSpPr>
          <p:cNvPr id="5" name="TextBox 4"/>
          <p:cNvSpPr txBox="1"/>
          <p:nvPr/>
        </p:nvSpPr>
        <p:spPr>
          <a:xfrm>
            <a:off x="609600" y="1244600"/>
            <a:ext cx="10972800" cy="18843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MPOT 변형은 만들지 않는다. 근거는 G0의 실패다. 조사는 Controller 문서 E.11에 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미리 적은 해석은 "표본 수의 문제이니 값싼 MPPI 변경이 먼저"다. 이 갈래는 따르지 않고 원인 분리를 먼저 한다. 1 m 넘는 탈출이 생산 예산의 30–107배(B·O2·O1)에서만 나왔기 때문이다. 이 이탈은 실행 뒤에 정했다.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다시 열 조건은 하나다. TP-0131·0132 뒤에도 plan_stop 멈춤이 남고, 거기서 O2가 B보다 자주 탈출하면 다시 연다. ccgpm bumps s11이 그 방향의 약한 신호를 이미 보였다(5:0).</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접힌 참조는 TP-0131로 넘긴다. 진행 항의 끝점 투영을 rollout이 닿을 수 있는 호 구간으로 제한한다.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만 고치고 </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건드리지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bumps·random_mix의 멈춤은 TP-0132로 넘긴다. 탐침에서 항별 비용을 기록하고, GP 분산 튜브와 M1의 평균 창과 진행 항을 하나씩 바꿔 다시 채점해 원인을 가른다.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치명 실패 쪽은 예측 모델 계층(TP-0124)의 순서를 그대로 둔다. 동역학과 지도를 나눠 재생하는 대조가 그 첫 확인이다.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탐침 도구는 다음 비용·모델 변경의 확인에 그대로 쓴다.</a:t>
            </a:r>
          </a:p>
        </p:txBody>
      </p:sp>
      <p:sp>
        <p:nvSpPr>
          <p:cNvPr id="6" name="TextBox 5"/>
          <p:cNvSpPr txBox="1"/>
          <p:nvPr/>
        </p:nvSpPr>
        <p:spPr>
          <a:xfrm>
            <a:off x="609600" y="3217862"/>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python -m scripts.eval_stall_headroom run --scene plant:mppi_ccgpm:bumps_potholes:1   # 18 장면, 장면당 1.4–5 분(2스레드)</a:t>
            </a:r>
          </a:p>
          <a:p>
            <a:r>
              <a:rPr sz="750" b="0" i="0">
                <a:solidFill>
                  <a:srgbClr val="F4F1EA"/>
                </a:solidFill>
                <a:latin typeface="Consolas"/>
                <a:ea typeface="Malgun Gothic"/>
                <a:cs typeface="Malgun Gothic"/>
              </a:rPr>
              <a:t>python -m scripts.eval_stall_headroom replay      # 사후 참조: 실행한 계획·정지 명령의 plant 재생, 계획 속도 윤곽</a:t>
            </a:r>
          </a:p>
          <a:p>
            <a:r>
              <a:rPr sz="750" b="0" i="0">
                <a:solidFill>
                  <a:srgbClr val="F4F1EA"/>
                </a:solidFill>
                <a:latin typeface="Consolas"/>
                <a:ea typeface="Malgun Gothic"/>
                <a:cs typeface="Malgun Gothic"/>
              </a:rPr>
              <a:t>python -m scripts.eval_stall_headroom summary     # → results/tp0130/headroom.tsv, headroom_probes.tsv, stall_profile.tsv</a:t>
            </a:r>
          </a:p>
          <a:p>
            <a:r>
              <a:rPr sz="750" b="0" i="0">
                <a:solidFill>
                  <a:srgbClr val="F4F1EA"/>
                </a:solidFill>
                <a:latin typeface="Consolas"/>
                <a:ea typeface="Malgun Gothic"/>
                <a:cs typeface="Malgun Gothic"/>
              </a:rPr>
              <a:t>python scripts/make_doc_figures.py --followup TP-0130 TP-0130-episodes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M.3.21 접힌 참조에서 진행 항의 끝점 투영을 닿을 수 있는 호로 제한한다 (TP-0131)</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100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MPPI 진행 항이 rollout 끝점을 그 rollout이 실제로 달린 거리 + 0.5 m 안의 호에만 투영하게 했다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ReferenceCost(reach_margin_m=0.5)</a:t>
            </a:r>
            <a:r>
              <a:rPr sz="1050" b="0" i="0">
                <a:solidFill>
                  <a:srgbClr val="16213A"/>
                </a:solidFill>
                <a:latin typeface="Arial"/>
                <a:ea typeface="Malgun Gothic"/>
                <a:cs typeface="Malgun Gothic"/>
              </a:rPr>
              <a:t>, 선택). 접힌 경로에서 생기던 맴돌기가 풀린다. 운동학 curb_ramp 레벨 3에서는 Guidance 폴백 스택의 도달이 30/30이 되고, 짝지어 9.9 s 빨라진다(23 : 6, p = 0.002). plant curb_ramp 72 에피소드의 도달 수는 잡음 안이다(57 대 52, 짝 비교 p = 0.38). 그래서 기본값은 끈 채 둔다.</a:t>
            </a:r>
          </a:p>
        </p:txBody>
      </p:sp>
      <p:pic>
        <p:nvPicPr>
          <p:cNvPr id="6" name="Picture 5" descr="image.jpg"/>
          <p:cNvPicPr>
            <a:picLocks noChangeAspect="1"/>
          </p:cNvPicPr>
          <p:nvPr/>
        </p:nvPicPr>
        <p:blipFill>
          <a:blip r:embed="rId3"/>
          <a:stretch>
            <a:fillRect/>
          </a:stretch>
        </p:blipFill>
        <p:spPr>
          <a:xfrm>
            <a:off x="1016000" y="1982986"/>
            <a:ext cx="10160000" cy="3829050"/>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M.3.21 접힌 참조에서 진행 항의 끝점 투영을 닿을 수 있는 호로 제한한다 (TP-0131)</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101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TP-0131 (Fig. 1): 왼쪽은 plant curb_ramp seed 19(guidance+mppi)다. 끄면(빨강) 경사로 왼쪽 아래에서 맴돌다 60 s를 넘기고, 켜면(초록) 40.3 s에 도달한다. 오른쪽은 스택별 도달 비율과 도달 시간 평균이다. 출처: scripts/make_evidence_figures.py --only tp0131</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문제였나.</a:t>
            </a:r>
            <a:r>
              <a:rPr sz="1050" b="0" i="0">
                <a:solidFill>
                  <a:srgbClr val="16213A"/>
                </a:solidFill>
                <a:latin typeface="Arial"/>
                <a:ea typeface="Malgun Gothic"/>
                <a:cs typeface="Malgun Gothic"/>
              </a:rPr>
              <a:t> Guidance 경로가 경사로로 돌아간 뒤 보도에서 로봇 바로 위로 되돌아오면 경로가 접힌다. 연석 아래에서 끝나는 rollout의 가장 가까운 참조점은 되돌아오는 구간에 있다. 진행 항은 그 rollout이 7–8 m 나아갔다고 셈한다(TP-0130, M.3.20). 그래서 계획이 경사로 쪽과 연석 쪽을 오가며 맴돈다. Guidance 폴백(TP-0078) 뒤의 Planner D도 같은 자리에서 시간을 썼다.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바꿨나.</a:t>
            </a:r>
          </a:p>
        </p:txBody>
      </p:sp>
      <p:sp>
        <p:nvSpPr>
          <p:cNvPr id="8" name="TextBox 7"/>
          <p:cNvSpPr txBox="1"/>
          <p:nvPr/>
        </p:nvSpPr>
        <p:spPr>
          <a:xfrm>
            <a:off x="609600" y="2593777"/>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끝점 투영을 호 </a:t>
            </a:r>
            <a:r>
              <a:rPr sz="1050" b="0" i="1">
                <a:solidFill>
                  <a:srgbClr val="16213A"/>
                </a:solidFill>
                <a:latin typeface="Arial"/>
                <a:ea typeface="Malgun Gothic"/>
                <a:cs typeface="Malgun Gothic"/>
              </a:rPr>
              <a:t>s ≤ s₀ + L + m</a:t>
            </a:r>
            <a:r>
              <a:rPr sz="1050" b="0" i="0">
                <a:solidFill>
                  <a:srgbClr val="16213A"/>
                </a:solidFill>
                <a:latin typeface="Arial"/>
                <a:ea typeface="Malgun Gothic"/>
                <a:cs typeface="Malgun Gothic"/>
              </a:rPr>
              <a:t>으로 제한한다. </a:t>
            </a:r>
            <a:r>
              <a:rPr sz="1050" b="0" i="1">
                <a:solidFill>
                  <a:srgbClr val="16213A"/>
                </a:solidFill>
                <a:latin typeface="Arial"/>
                <a:ea typeface="Malgun Gothic"/>
                <a:cs typeface="Malgun Gothic"/>
              </a:rPr>
              <a:t>s₀</a:t>
            </a:r>
            <a:r>
              <a:rPr sz="1050" b="0" i="0">
                <a:solidFill>
                  <a:srgbClr val="16213A"/>
                </a:solidFill>
                <a:latin typeface="Arial"/>
                <a:ea typeface="Malgun Gothic"/>
                <a:cs typeface="Malgun Gothic"/>
              </a:rPr>
              <a:t>은 로봇 자신의 투영,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은 그 rollout이 달린 거리,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여유 0.5 m다. 투영점까지의 거리도 그 점까지로 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편차 항(경로까지 거리의 평균)은 참조 전체를 그대로 쓴다. 처음에는 스텝마다 같은 창을 걸었는데, 정적 bumps_potholes s6이 시간 초과로, plant curb_ramp s18이 치명으로 바뀌었다. 끝점만 제한하면 둘 다 도달한다.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reach_margin_m=None</a:t>
            </a:r>
            <a:r>
              <a:rPr sz="1050" b="0" i="0">
                <a:solidFill>
                  <a:srgbClr val="16213A"/>
                </a:solidFill>
                <a:latin typeface="Arial"/>
                <a:ea typeface="Malgun Gothic"/>
                <a:cs typeface="Malgun Gothic"/>
              </a:rPr>
              <a:t>(기본)이면 예전 항과 비트 단위로 같다. </a:t>
            </a:r>
            <a:r>
              <a:rPr sz="1050" b="0" i="0">
                <a:solidFill>
                  <a:srgbClr val="16213A"/>
                </a:solidFill>
                <a:latin typeface="Consolas"/>
                <a:ea typeface="Malgun Gothic"/>
                <a:cs typeface="Malgun Gothic"/>
              </a:rPr>
              <a:t>--ctrl-cfg reach_margin_m=0.5</a:t>
            </a:r>
            <a:r>
              <a:rPr sz="1050" b="0" i="0">
                <a:solidFill>
                  <a:srgbClr val="16213A"/>
                </a:solidFill>
                <a:latin typeface="Arial"/>
                <a:ea typeface="Malgun Gothic"/>
                <a:cs typeface="Malgun Gothic"/>
              </a:rPr>
              <a:t>로 켠다. </a:t>
            </a:r>
            <a:r>
              <a:rPr sz="1050" b="0" i="0">
                <a:solidFill>
                  <a:srgbClr val="16213A"/>
                </a:solidFill>
                <a:latin typeface="Consolas"/>
                <a:ea typeface="Malgun Gothic"/>
                <a:cs typeface="Malgun Gothic"/>
              </a:rPr>
              <a:t>--ctrl-cfg</a:t>
            </a:r>
            <a:r>
              <a:rPr sz="1050" b="0" i="0">
                <a:solidFill>
                  <a:srgbClr val="16213A"/>
                </a:solidFill>
                <a:latin typeface="Arial"/>
                <a:ea typeface="Malgun Gothic"/>
                <a:cs typeface="Malgun Gothic"/>
              </a:rPr>
              <a:t>는 이제 CostTerm의 필드에도 닿는다.</a:t>
            </a:r>
          </a:p>
        </p:txBody>
      </p:sp>
      <p:sp>
        <p:nvSpPr>
          <p:cNvPr id="9" name="TextBox 8"/>
          <p:cNvSpPr txBox="1"/>
          <p:nvPr/>
        </p:nvSpPr>
        <p:spPr>
          <a:xfrm>
            <a:off x="609600" y="35994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p>
        </p:txBody>
      </p:sp>
      <p:graphicFrame>
        <p:nvGraphicFramePr>
          <p:cNvPr id="10" name="Table 9"/>
          <p:cNvGraphicFramePr>
            <a:graphicFrameLocks noGrp="1"/>
          </p:cNvGraphicFramePr>
          <p:nvPr/>
        </p:nvGraphicFramePr>
        <p:xfrm>
          <a:off x="609600" y="3904853"/>
          <a:ext cx="10966450" cy="985440"/>
        </p:xfrm>
        <a:graphic>
          <a:graphicData uri="http://schemas.openxmlformats.org/drawingml/2006/table">
            <a:tbl>
              <a:tblPr firstRow="1" bandRow="1">
                <a:tableStyleId>{5C22544A-7EE6-4342-B048-85BDC9FD1C3A}</a:tableStyleId>
              </a:tblPr>
              <a:tblGrid>
                <a:gridCol w="5149751"/>
                <a:gridCol w="2055614"/>
                <a:gridCol w="2055614"/>
                <a:gridCol w="1705471"/>
              </a:tblGrid>
              <a:tr h="197088">
                <a:tc>
                  <a:txBody>
                    <a:bodyPr wrap="square"/>
                    <a:lstStyle/>
                    <a:p>
                      <a:r>
                        <a:rPr sz="800" b="1" i="0">
                          <a:solidFill>
                            <a:srgbClr val="F4F1EA"/>
                          </a:solidFill>
                          <a:latin typeface="Arial"/>
                          <a:ea typeface="Malgun Gothic"/>
                          <a:cs typeface="Malgun Gothic"/>
                        </a:rPr>
                        <a:t>장면 (guidance+mppi)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끄기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스텝마다 제한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끝점만 제한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plant curb_ramp s19 (TP-0130의 멈춤)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s 시간 초과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41.0 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curb_ramp s18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46.6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42.1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 curb_ramp s14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49.0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41.4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43.6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정적 bumps_potholes s6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24.9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 s 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27.1 s</a:t>
                      </a:r>
                    </a:p>
                  </a:txBody>
                  <a:tcPr marL="63500" marR="63500" marT="12700" marB="12700">
                    <a:solidFill>
                      <a:srgbClr val="F3F0E8"/>
                    </a:solidFill>
                  </a:tcPr>
                </a:tc>
              </a:tr>
            </a:tbl>
          </a:graphicData>
        </a:graphic>
      </p:graphicFrame>
      <p:graphicFrame>
        <p:nvGraphicFramePr>
          <p:cNvPr id="11" name="Table 10"/>
          <p:cNvGraphicFramePr>
            <a:graphicFrameLocks noGrp="1"/>
          </p:cNvGraphicFramePr>
          <p:nvPr/>
        </p:nvGraphicFramePr>
        <p:xfrm>
          <a:off x="609600" y="5231904"/>
          <a:ext cx="10966451" cy="788352"/>
        </p:xfrm>
        <a:graphic>
          <a:graphicData uri="http://schemas.openxmlformats.org/drawingml/2006/table">
            <a:tbl>
              <a:tblPr firstRow="1" bandRow="1">
                <a:tableStyleId>{5C22544A-7EE6-4342-B048-85BDC9FD1C3A}</a:tableStyleId>
              </a:tblPr>
              <a:tblGrid>
                <a:gridCol w="4417913"/>
                <a:gridCol w="1517452"/>
                <a:gridCol w="1517452"/>
                <a:gridCol w="3513634"/>
              </a:tblGrid>
              <a:tr h="197088">
                <a:tc>
                  <a:txBody>
                    <a:bodyPr wrap="square"/>
                    <a:lstStyle/>
                    <a:p>
                      <a:r>
                        <a:rPr sz="800" b="1" i="0">
                          <a:solidFill>
                            <a:srgbClr val="F4F1EA"/>
                          </a:solidFill>
                          <a:latin typeface="Arial"/>
                          <a:ea typeface="Malgun Gothic"/>
                          <a:cs typeface="Malgun Gothic"/>
                        </a:rPr>
                        <a:t>운동학 curb_ramp 레벨 3 (seed 0–9 × 오프셋 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끄기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켜기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짝지은 도달 시간 차 (켜기가 빠름 : 느림)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29/30, 28.0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 26.0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 s (15 : 14, p = 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planner_df+mppi (DAgger)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29/30, 36.3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30/30, 26.3 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−9.9 s (23 : 6, p = 0.002)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planner_df+mppi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 28.9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 25.6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−3.2 s (20 : 10, p = 0.10)</a:t>
                      </a:r>
                    </a:p>
                  </a:txBody>
                  <a:tcPr marL="63500" marR="63500" marT="12700" marB="12700">
                    <a:solidFill>
                      <a:srgbClr val="FFFDF8"/>
                    </a:solidFill>
                  </a:tcPr>
                </a:tc>
              </a:tr>
            </a:tbl>
          </a:graphicData>
        </a:graphic>
      </p:graphicFrame>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M.3.21 접힌 참조에서 진행 항의 끝점 투영을 닿을 수 있는 호로 제한한다 (TP-0131)</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102 / 112</a:t>
            </a:r>
          </a:p>
        </p:txBody>
      </p:sp>
      <p:graphicFrame>
        <p:nvGraphicFramePr>
          <p:cNvPr id="5" name="Table 4"/>
          <p:cNvGraphicFramePr>
            <a:graphicFrameLocks noGrp="1"/>
          </p:cNvGraphicFramePr>
          <p:nvPr/>
        </p:nvGraphicFramePr>
        <p:xfrm>
          <a:off x="609600" y="1244600"/>
          <a:ext cx="10966450" cy="1182528"/>
        </p:xfrm>
        <a:graphic>
          <a:graphicData uri="http://schemas.openxmlformats.org/drawingml/2006/table">
            <a:tbl>
              <a:tblPr firstRow="1" bandRow="1">
                <a:tableStyleId>{5C22544A-7EE6-4342-B048-85BDC9FD1C3A}</a:tableStyleId>
              </a:tblPr>
              <a:tblGrid>
                <a:gridCol w="4568428"/>
                <a:gridCol w="3198912"/>
                <a:gridCol w="3199110"/>
              </a:tblGrid>
              <a:tr h="197088">
                <a:tc>
                  <a:txBody>
                    <a:bodyPr wrap="square"/>
                    <a:lstStyle/>
                    <a:p>
                      <a:r>
                        <a:rPr sz="800" b="1" i="0">
                          <a:solidFill>
                            <a:srgbClr val="F4F1EA"/>
                          </a:solidFill>
                          <a:latin typeface="Arial"/>
                          <a:ea typeface="Malgun Gothic"/>
                          <a:cs typeface="Malgun Gothic"/>
                        </a:rPr>
                        <a:t>지키는 기준 (guidance+mppi)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끄기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켜기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정적 4 지형 × seed 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보행자 3명 × seed 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 bumps·slope·random × seed 0–11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34/36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curb_ramp × seed 0–23 × 오프셋 3, </a:t>
                      </a:r>
                      <a:r>
                        <a:rPr sz="800" b="0" i="0">
                          <a:solidFill>
                            <a:srgbClr val="16213A"/>
                          </a:solidFill>
                          <a:latin typeface="Consolas"/>
                          <a:ea typeface="Malgun Gothic"/>
                          <a:cs typeface="Malgun Gothic"/>
                        </a:rPr>
                        <a:t>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57/72 (치명 14, 시간 초과 1), 44.3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52/72 (치명 17, 시간 초과 3), 42.7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 curb_ramp × seed 0–23 × 오프셋 3, </a:t>
                      </a:r>
                      <a:r>
                        <a:rPr sz="800" b="0" i="0">
                          <a:solidFill>
                            <a:srgbClr val="16213A"/>
                          </a:solidFill>
                          <a:latin typeface="Consolas"/>
                          <a:ea typeface="Malgun Gothic"/>
                          <a:cs typeface="Malgun Gothic"/>
                        </a:rPr>
                        <a:t>mppi_cc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59/72 (치명 12, 시간 초과 1), 43.3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56/72 (치명 15, 시간 초과 1), 42.1 s</a:t>
                      </a:r>
                    </a:p>
                  </a:txBody>
                  <a:tcPr marL="63500" marR="63500" marT="12700" marB="12700">
                    <a:solidFill>
                      <a:srgbClr val="FFFDF8"/>
                    </a:solidFill>
                  </a:tcPr>
                </a:tc>
              </a:tr>
            </a:tbl>
          </a:graphicData>
        </a:graphic>
      </p:graphicFrame>
      <p:sp>
        <p:nvSpPr>
          <p:cNvPr id="6" name="TextBox 5"/>
          <p:cNvSpPr txBox="1"/>
          <p:nvPr/>
        </p:nvSpPr>
        <p:spPr>
          <a:xfrm>
            <a:off x="609600" y="281801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운동학에서는 폴백 스택의 맴돌기가 사라진다. Planner D가 경사로를 지나친 뒤 Guidance 경로를 넘겨받는 장면이 가장 접힌 경로이기 때문이다.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plant의 도달 수 차이는 잡음 안이다. 같은 설정을 난수만 바꿔 다시 돌리면 24 에피소드 가운데 7–10개가 뒤집힌다. 짝 비교는 13 : 8(p = 0.38)과 13 : 10(p = 0.68)이다.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plant의 시간 초과는 성격이 바뀐다. 끄면 하나(s19)가 접힌 경로의 맴돌기다. 켜면 셋 모두 목표 0.30–0.37 m 앞에서 10 s 넘게 머문다(도달 판정 0.3 m). 목표 근처에서 마스크가 끝점 투영을 바꾼 rollout은 0%다(s14 오프셋 2000을 다시 돌려 확인). 그 앞의 다른 길이 plant의 목표 접근 약점에 닿은 것으로 본다(TP-0140).</a:t>
            </a:r>
          </a:p>
        </p:txBody>
      </p:sp>
      <p:sp>
        <p:nvSpPr>
          <p:cNvPr id="7" name="TextBox 6"/>
          <p:cNvSpPr txBox="1"/>
          <p:nvPr/>
        </p:nvSpPr>
        <p:spPr>
          <a:xfrm>
            <a:off x="609600" y="382369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기본값은 끈 채 둔다. Guidance 폴백 스택(</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)과 함께 운동학 평가에서 켜기를 권한다(</a:t>
            </a:r>
            <a:r>
              <a:rPr sz="1050" b="0" i="0">
                <a:solidFill>
                  <a:srgbClr val="16213A"/>
                </a:solidFill>
                <a:latin typeface="Consolas"/>
                <a:ea typeface="Malgun Gothic"/>
                <a:cs typeface="Malgun Gothic"/>
              </a:rPr>
              <a:t>--ctrl-cfg reach_margin_m=0.5</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의 TP-0130 장면(s14·s18)은 잔차 GP 체크포인트가 이 PC에 없어 돌리지 못했다. GP가 있는 PC에서 같은 명령으로 확인한다.</a:t>
            </a:r>
          </a:p>
        </p:txBody>
      </p:sp>
      <p:sp>
        <p:nvSpPr>
          <p:cNvPr id="8" name="TextBox 7"/>
          <p:cNvSpPr txBox="1"/>
          <p:nvPr/>
        </p:nvSpPr>
        <p:spPr>
          <a:xfrm>
            <a:off x="609600" y="4345583"/>
            <a:ext cx="10972800" cy="432991"/>
          </a:xfrm>
          <a:prstGeom prst="rect">
            <a:avLst/>
          </a:prstGeom>
          <a:noFill/>
        </p:spPr>
        <p:txBody>
          <a:bodyPr wrap="square" lIns="0" rIns="0" tIns="0" bIns="0" anchor="t">
            <a:spAutoFit/>
            <a:normAutofit/>
          </a:bodyPr>
          <a:lstStyle/>
          <a:p>
            <a:r>
              <a:rPr sz="1050" b="1" i="0">
                <a:solidFill>
                  <a:srgbClr val="16213A"/>
                </a:solidFill>
                <a:latin typeface="Consolas"/>
                <a:ea typeface="Malgun Gothic"/>
                <a:cs typeface="Malgun Gothic"/>
              </a:rPr>
              <a:t>mppi_ccgp</a:t>
            </a:r>
            <a:r>
              <a:rPr sz="1050" b="1" i="0">
                <a:solidFill>
                  <a:srgbClr val="16213A"/>
                </a:solidFill>
                <a:latin typeface="Arial"/>
                <a:ea typeface="Malgun Gothic"/>
                <a:cs typeface="Malgun Gothic"/>
              </a:rPr>
              <a:t> 확인(2026-10-03, 사용자 결정 6 뒤).</a:t>
            </a:r>
            <a:r>
              <a:rPr sz="1050" b="0" i="0">
                <a:solidFill>
                  <a:srgbClr val="16213A"/>
                </a:solidFill>
                <a:latin typeface="Arial"/>
                <a:ea typeface="Malgun Gothic"/>
                <a:cs typeface="Malgun Gothic"/>
              </a:rPr>
              <a:t> 이 PC에 casadi를 깔고 잔차 GP를 다시 맞춰(</a:t>
            </a:r>
            <a:r>
              <a:rPr sz="1050" b="0" i="0">
                <a:solidFill>
                  <a:srgbClr val="16213A"/>
                </a:solidFill>
                <a:latin typeface="Consolas"/>
                <a:ea typeface="Malgun Gothic"/>
                <a:cs typeface="Malgun Gothic"/>
              </a:rPr>
              <a:t>residual_sgp_wide_refit-2026-10-03.pt</a:t>
            </a:r>
            <a:r>
              <a:rPr sz="1050" b="0" i="0">
                <a:solidFill>
                  <a:srgbClr val="16213A"/>
                </a:solidFill>
                <a:latin typeface="Arial"/>
                <a:ea typeface="Malgun Gothic"/>
                <a:cs typeface="Malgun Gothic"/>
              </a:rPr>
              <a:t>, 릴리스 </a:t>
            </a:r>
            <a:r>
              <a:rPr sz="1050" b="0" i="0">
                <a:solidFill>
                  <a:srgbClr val="16213A"/>
                </a:solidFill>
                <a:latin typeface="Consolas"/>
                <a:ea typeface="Malgun Gothic"/>
                <a:cs typeface="Malgun Gothic"/>
              </a:rPr>
              <a:t>ckpt-2026-10-03</a:t>
            </a:r>
            <a:r>
              <a:rPr sz="1050" b="0" i="0">
                <a:solidFill>
                  <a:srgbClr val="16213A"/>
                </a:solidFill>
                <a:latin typeface="Arial"/>
                <a:ea typeface="Malgun Gothic"/>
                <a:cs typeface="Malgun Gothic"/>
              </a:rPr>
              <a:t>) 남은 스택을 쟀다. plant curb_ramp × seed 0–23 × 난수 오프셋 3, 72 에피소드다.</a:t>
            </a:r>
          </a:p>
        </p:txBody>
      </p:sp>
      <p:graphicFrame>
        <p:nvGraphicFramePr>
          <p:cNvPr id="9" name="Table 8"/>
          <p:cNvGraphicFramePr>
            <a:graphicFrameLocks noGrp="1"/>
          </p:cNvGraphicFramePr>
          <p:nvPr/>
        </p:nvGraphicFramePr>
        <p:xfrm>
          <a:off x="609600" y="4867473"/>
          <a:ext cx="10966451" cy="985440"/>
        </p:xfrm>
        <a:graphic>
          <a:graphicData uri="http://schemas.openxmlformats.org/drawingml/2006/table">
            <a:tbl>
              <a:tblPr firstRow="1" bandRow="1">
                <a:tableStyleId>{5C22544A-7EE6-4342-B048-85BDC9FD1C3A}</a:tableStyleId>
              </a:tblPr>
              <a:tblGrid>
                <a:gridCol w="4040188"/>
                <a:gridCol w="3519686"/>
                <a:gridCol w="3406577"/>
              </a:tblGrid>
              <a:tr h="197088">
                <a:tc>
                  <a:txBody>
                    <a:bodyPr wrap="square"/>
                    <a:lstStyle/>
                    <a:p>
                      <a:r>
                        <a:rPr sz="800" b="1" i="0">
                          <a:solidFill>
                            <a:srgbClr val="F4F1EA"/>
                          </a:solidFill>
                          <a:latin typeface="Consolas"/>
                          <a:ea typeface="Malgun Gothic"/>
                          <a:cs typeface="Malgun Gothic"/>
                        </a:rPr>
                        <a:t>guidance+mppi_ccgp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끄기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켜기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56/72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65/72</a:t>
                      </a:r>
                      <a:r>
                        <a:rPr sz="800" b="0" i="0">
                          <a:solidFill>
                            <a:srgbClr val="16213A"/>
                          </a:solidFill>
                          <a:latin typeface="Arial"/>
                          <a:ea typeface="Malgun Gothic"/>
                          <a:cs typeface="Malgun Gothic"/>
                        </a:rPr>
                        <a:t> (짝 5 : 14, p = 0.064)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치명 · 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 · 3</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7 · 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도달 시간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44.3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42.2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TP-0130 장면 s14 · s18 (오프셋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 s 시간 초과 · 60 s 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 s · 51.7 s</a:t>
                      </a:r>
                    </a:p>
                  </a:txBody>
                  <a:tcPr marL="63500" marR="63500" marT="12700" marB="12700">
                    <a:solidFill>
                      <a:srgbClr val="F3F0E8"/>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M.3.21 접힌 참조에서 진행 항의 끝점 투영을 닿을 수 있는 호로 제한한다 (TP-0131)</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103 / 112</a:t>
            </a:r>
          </a:p>
        </p:txBody>
      </p:sp>
      <p:sp>
        <p:nvSpPr>
          <p:cNvPr id="5" name="TextBox 4"/>
          <p:cNvSpPr txBox="1"/>
          <p:nvPr/>
        </p:nvSpPr>
        <p:spPr>
          <a:xfrm>
            <a:off x="609600" y="124460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다시 맞춘 GP에서도 TP-0130의 두 멈춤 장면이 그대로 재현되고, 끝점 제한을 켜면 둘 다 도달한다. TP-0131의 원래 판정("두 장면 해소")을 이 스택에서 채운다.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에서는 치명이 줄어(13 → 7) 안전 원칙(</a:t>
            </a:r>
            <a:r>
              <a:rPr sz="1050" b="0" i="0">
                <a:solidFill>
                  <a:srgbClr val="16213A"/>
                </a:solidFill>
                <a:latin typeface="Consolas"/>
                <a:ea typeface="Malgun Gothic"/>
                <a:cs typeface="Malgun Gothic"/>
              </a:rPr>
              <a:t>docs/prd.md</a:t>
            </a:r>
            <a:r>
              <a:rPr sz="1050" b="0" i="0">
                <a:solidFill>
                  <a:srgbClr val="16213A"/>
                </a:solidFill>
                <a:latin typeface="Arial"/>
                <a:ea typeface="Malgun Gothic"/>
                <a:cs typeface="Malgun Gothic"/>
              </a:rPr>
              <a:t> 7절)에 걸리지 않는다.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mppi_cc</a:t>
            </a:r>
            <a:r>
              <a:rPr sz="1050" b="0" i="0">
                <a:solidFill>
                  <a:srgbClr val="16213A"/>
                </a:solidFill>
                <a:latin typeface="Arial"/>
                <a:ea typeface="Malgun Gothic"/>
                <a:cs typeface="Malgun Gothic"/>
              </a:rPr>
              <a:t>에서는 치명이 각각 3건 늘었으므로 그 둘의 기본값은 끈 채 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기본값은 아직 바꾸지 않는다. 이 GP는 다른 PC의 원본(</a:t>
            </a:r>
            <a:r>
              <a:rPr sz="1050" b="0" i="0">
                <a:solidFill>
                  <a:srgbClr val="16213A"/>
                </a:solidFill>
                <a:latin typeface="Consolas"/>
                <a:ea typeface="Malgun Gothic"/>
                <a:cs typeface="Malgun Gothic"/>
              </a:rPr>
              <a:t>residual_sgp_wide.pt</a:t>
            </a:r>
            <a:r>
              <a:rPr sz="1050" b="0" i="0">
                <a:solidFill>
                  <a:srgbClr val="16213A"/>
                </a:solidFill>
                <a:latin typeface="Arial"/>
                <a:ea typeface="Malgun Gothic"/>
                <a:cs typeface="Malgun Gothic"/>
              </a:rPr>
              <a:t>, TP-0068–0130 결과에 쓴 것)과 같지 않을 수 있다(랩탑의 이 GP는 2026-10-06에 릴리스 </a:t>
            </a:r>
            <a:r>
              <a:rPr sz="1050" b="0" i="0">
                <a:solidFill>
                  <a:srgbClr val="16213A"/>
                </a:solidFill>
                <a:latin typeface="Consolas"/>
                <a:ea typeface="Malgun Gothic"/>
                <a:cs typeface="Malgun Gothic"/>
              </a:rPr>
              <a:t>ckpt-2026-10-06</a:t>
            </a:r>
            <a:r>
              <a:rPr sz="1050" b="0" i="0">
                <a:solidFill>
                  <a:srgbClr val="16213A"/>
                </a:solidFill>
                <a:latin typeface="Arial"/>
                <a:ea typeface="Malgun Gothic"/>
                <a:cs typeface="Malgun Gothic"/>
              </a:rPr>
              <a:t>에 올렸다. 처음 파일이 지워진 뒤 같은 스크립트로 결정적으로 다시 맞춘 판이다). 원본 GP로 같은 72 에피소드를 다시 재고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의 기본값을 정한다(TP-0144).</a:t>
            </a:r>
          </a:p>
        </p:txBody>
      </p:sp>
      <p:sp>
        <p:nvSpPr>
          <p:cNvPr id="6" name="TextBox 5"/>
          <p:cNvSpPr txBox="1"/>
          <p:nvPr/>
        </p:nvSpPr>
        <p:spPr>
          <a:xfrm>
            <a:off x="609600" y="2250281"/>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python scripts/run_benchmark.py --plant --scenarios curb_ramp --seeds $(seq -s ' ' 0 23) --stacks guidance+mppi guidance+mppi_cc \</a:t>
            </a:r>
          </a:p>
          <a:p>
            <a:r>
              <a:rPr sz="750" b="0" i="0">
                <a:solidFill>
                  <a:srgbClr val="F4F1EA"/>
                </a:solidFill>
                <a:latin typeface="Consolas"/>
                <a:ea typeface="Malgun Gothic"/>
                <a:cs typeface="Malgun Gothic"/>
              </a:rPr>
              <a:t>    --ctrl-cfg reach_margin_m=0.5 --rng-offset 0 --out results/tp0131/plant_cr_on     # 끄기는 reach_margin_m=none</a:t>
            </a:r>
          </a:p>
          <a:p>
            <a:r>
              <a:rPr sz="750" b="0" i="0">
                <a:solidFill>
                  <a:srgbClr val="F4F1EA"/>
                </a:solidFill>
                <a:latin typeface="Consolas"/>
                <a:ea typeface="Malgun Gothic"/>
                <a:cs typeface="Malgun Gothic"/>
              </a:rPr>
              <a:t>python scripts/run_benchmark.py --stacks planner_df+mppi --ckpt-d checkpoints/planner_d_L0123_dagger.pt --scenarios curb_ramp --levels 3 \</a:t>
            </a:r>
          </a:p>
          <a:p>
            <a:r>
              <a:rPr sz="750" b="0" i="0">
                <a:solidFill>
                  <a:srgbClr val="F4F1EA"/>
                </a:solidFill>
                <a:latin typeface="Consolas"/>
                <a:ea typeface="Malgun Gothic"/>
                <a:cs typeface="Malgun Gothic"/>
              </a:rPr>
              <a:t>    --seeds 0 1 2 3 4 5 6 7 8 9 --rng-offset 0 --ctrl-cfg reach_margin_m=0.5 --out results/tp0131/cr3_df_on_o0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M.3.22 MPPI rollout에 스워브 plant의 지연을 넣는다 — 레벨 3 plant 치명 55 → 4 (TP-0150)</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104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MPPI rollout이 스워브 plant의 액추에이터 지연을 알게 하면, 권장 L1 + plant 레벨 3의 치명이 55 → 4로 줄고 도달은 221 → 239/360으로 는다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최적화기는 그대로 두고 rollout 모델만 바꿨다. 미끄럼까지 예측하면 치명은 같이 줄지만 진행이 막힌다(도달 189). 레벨 3 경사로(폭 1.1 m)는 plant에서 여전히 거의 지나가지 못한다(1/90).</a:t>
            </a:r>
          </a:p>
        </p:txBody>
      </p:sp>
      <p:pic>
        <p:nvPicPr>
          <p:cNvPr id="6" name="Picture 5" descr="image.jpg"/>
          <p:cNvPicPr>
            <a:picLocks noChangeAspect="1"/>
          </p:cNvPicPr>
          <p:nvPr/>
        </p:nvPicPr>
        <p:blipFill>
          <a:blip r:embed="rId3"/>
          <a:stretch>
            <a:fillRect/>
          </a:stretch>
        </p:blipFill>
        <p:spPr>
          <a:xfrm>
            <a:off x="1016000" y="1766491"/>
            <a:ext cx="10160000" cy="3314700"/>
          </a:xfrm>
          <a:prstGeom prst="rect">
            <a:avLst/>
          </a:prstGeom>
        </p:spPr>
      </p:pic>
      <p:sp>
        <p:nvSpPr>
          <p:cNvPr id="7" name="TextBox 6"/>
          <p:cNvSpPr txBox="1"/>
          <p:nvPr/>
        </p:nvSpPr>
        <p:spPr>
          <a:xfrm>
            <a:off x="609600" y="517009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TP-0150 (Fig. 1): 권장 L1 + 스워브 plant 레벨 3(4 지형 × seed 0–9 × 오프셋 3)의 도달 수다. 회색은 </a:t>
            </a:r>
            <a:r>
              <a:rPr sz="1050" b="0" i="1">
                <a:solidFill>
                  <a:srgbClr val="16213A"/>
                </a:solidFill>
                <a:latin typeface="Consolas"/>
                <a:ea typeface="Malgun Gothic"/>
                <a:cs typeface="Malgun Gothic"/>
              </a:rPr>
              <a:t>mppi</a:t>
            </a:r>
            <a:r>
              <a:rPr sz="1050" b="0" i="1">
                <a:solidFill>
                  <a:srgbClr val="16213A"/>
                </a:solidFill>
                <a:latin typeface="Arial"/>
                <a:ea typeface="Malgun Gothic"/>
                <a:cs typeface="Malgun Gothic"/>
              </a:rPr>
              <a:t>, 주황은 지연 + 미끄럼 예측, 파랑은 지연만 예측한 rollout이다. 왼쪽은 스택별, 오른쪽은 지형별이다.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M.3.22 MPPI rollout에 스워브 plant의 지연을 넣는다 — 레벨 3 plant 치명 55 → 4 (TP-0150)</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105 / 112</a:t>
            </a:r>
          </a:p>
        </p:txBody>
      </p:sp>
      <p:sp>
        <p:nvSpPr>
          <p:cNvPr id="5" name="TextBox 4"/>
          <p:cNvSpPr txBox="1"/>
          <p:nvPr/>
        </p:nvSpPr>
        <p:spPr>
          <a:xfrm>
            <a:off x="609600" y="1244600"/>
            <a:ext cx="10972800" cy="23173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무엇이 문제였나(TP-0149, 인식 문서 A.13.19).</a:t>
            </a:r>
            <a:r>
              <a:rPr sz="1050" b="0" i="0">
                <a:solidFill>
                  <a:srgbClr val="16213A"/>
                </a:solidFill>
                <a:latin typeface="Arial"/>
                <a:ea typeface="Malgun Gothic"/>
                <a:cs typeface="Malgun Gothic"/>
              </a:rPr>
              <a:t> MPPI rollout은 명령이 곧 속도라고 본다(가속 1.0 m/s²). 시뮬은 명령의 가속 한계를 실현 속도 기준으로 걸고, plant가 그 차이를 1차 지연(0.2 s, 한 스텝에 3분의 1)으로 따라간다. 그래서 실제 가속은 약 0.33 m/s²다. plant는 경사·거칠기에 비례해 이동 속도도 깎는다(최대 35 %, 회전은 그대로). 권장 L1 레벨 3이 335 → 221/360(치명 6 → 55)이 된 이유다.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무엇을 바꿨나.</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control/mppi/plant_aware.py</a:t>
            </a:r>
            <a:r>
              <a:rPr sz="1050" b="0" i="0">
                <a:solidFill>
                  <a:srgbClr val="16213A"/>
                </a:solidFill>
                <a:latin typeface="Arial"/>
                <a:ea typeface="Malgun Gothic"/>
                <a:cs typeface="Malgun Gothic"/>
              </a:rPr>
              <a:t>)이 rollout의 자세를 plant가 실현할 속도로 적분한다.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MPPI가 평균하고 보내는 </a:t>
            </a:r>
            <a:r>
              <a:rPr sz="1050" b="0" i="0">
                <a:solidFill>
                  <a:srgbClr val="16213A"/>
                </a:solidFill>
                <a:latin typeface="Consolas"/>
                <a:ea typeface="Malgun Gothic"/>
                <a:cs typeface="Malgun Gothic"/>
              </a:rPr>
              <a:t>applied</a:t>
            </a:r>
            <a:r>
              <a:rPr sz="1050" b="0" i="0">
                <a:solidFill>
                  <a:srgbClr val="16213A"/>
                </a:solidFill>
                <a:latin typeface="Arial"/>
                <a:ea typeface="Malgun Gothic"/>
                <a:cs typeface="Malgun Gothic"/>
              </a:rPr>
              <a:t>는 그대로 '시뮬처럼 가속 한계를 건 명령'이다. 최적화기(</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그대로이고, </a:t>
            </a:r>
            <a:r>
              <a:rPr sz="1050" b="0" i="0">
                <a:solidFill>
                  <a:srgbClr val="16213A"/>
                </a:solidFill>
                <a:latin typeface="Consolas"/>
                <a:ea typeface="Malgun Gothic"/>
                <a:cs typeface="Malgun Gothic"/>
              </a:rPr>
              <a:t>MPPIController.model</a:t>
            </a:r>
            <a:r>
              <a:rPr sz="1050" b="0" i="0">
                <a:solidFill>
                  <a:srgbClr val="16213A"/>
                </a:solidFill>
                <a:latin typeface="Arial"/>
                <a:ea typeface="Malgun Gothic"/>
                <a:cs typeface="Malgun Gothic"/>
              </a:rPr>
              <a:t>만 바꿔 끼운다.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지연: 실현 속도가 명령을 한 스텝에 </a:t>
            </a:r>
            <a:r>
              <a:rPr sz="1050" b="0" i="1">
                <a:solidFill>
                  <a:srgbClr val="16213A"/>
                </a:solidFill>
                <a:latin typeface="Arial"/>
                <a:ea typeface="Malgun Gothic"/>
                <a:cs typeface="Malgun Gothic"/>
              </a:rPr>
              <a:t>Δ t / (τ + Δ t)</a:t>
            </a:r>
            <a:r>
              <a:rPr sz="1050" b="0" i="0">
                <a:solidFill>
                  <a:srgbClr val="16213A"/>
                </a:solidFill>
                <a:latin typeface="Arial"/>
                <a:ea typeface="Malgun Gothic"/>
                <a:cs typeface="Malgun Gothic"/>
              </a:rPr>
              <a:t>만큼 따라간다(</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 = 0.2 s). 평지에서 30 스텝 위치가 plant와 5 cm 안에서 맞는다(테스트로 고정).</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미끄럼(선택): belief 지도의 경사·거칠기로 plant와 같은 식의 이동 감속을 건다. </a:t>
            </a:r>
            <a:r>
              <a:rPr sz="1050" b="0" i="0">
                <a:solidFill>
                  <a:srgbClr val="16213A"/>
                </a:solidFill>
                <a:latin typeface="Consolas"/>
                <a:ea typeface="Malgun Gothic"/>
                <a:cs typeface="Malgun Gothic"/>
              </a:rPr>
              <a:t>PlantAwareMPPIController</a:t>
            </a:r>
            <a:r>
              <a:rPr sz="1050" b="0" i="0">
                <a:solidFill>
                  <a:srgbClr val="16213A"/>
                </a:solidFill>
                <a:latin typeface="Arial"/>
                <a:ea typeface="Malgun Gothic"/>
                <a:cs typeface="Malgun Gothic"/>
              </a:rPr>
              <a:t>가 매 제어 전에 belief 지도를 모델에 넘긴다.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0" i="0">
                <a:solidFill>
                  <a:srgbClr val="16213A"/>
                </a:solidFill>
                <a:latin typeface="Arial"/>
                <a:ea typeface="Malgun Gothic"/>
                <a:cs typeface="Malgun Gothic"/>
              </a:rPr>
              <a:t>두 Controller를 벤치마크에 넣었다: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(지연 + 미끄럼)와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(지연만).</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벤치마크(권장 L1 + </a:t>
            </a:r>
            <a:r>
              <a:rPr sz="1050" b="1" i="0">
                <a:solidFill>
                  <a:srgbClr val="16213A"/>
                </a:solidFill>
                <a:latin typeface="Consolas"/>
                <a:ea typeface="Malgun Gothic"/>
                <a:cs typeface="Malgun Gothic"/>
              </a:rPr>
              <a:t>--plant</a:t>
            </a:r>
            <a:r>
              <a:rPr sz="1050" b="1" i="0">
                <a:solidFill>
                  <a:srgbClr val="16213A"/>
                </a:solidFill>
                <a:latin typeface="Arial"/>
                <a:ea typeface="Malgun Gothic"/>
                <a:cs typeface="Malgun Gothic"/>
              </a:rPr>
              <a:t>, seed 0–9 × 오프셋 3, 같은 (seed, 오프셋)끼리 짝 비교).</a:t>
            </a:r>
            <a:r>
              <a:rPr sz="1050" b="0" i="0">
                <a:solidFill>
                  <a:srgbClr val="16213A"/>
                </a:solidFill>
                <a:latin typeface="Arial"/>
                <a:ea typeface="Malgun Gothic"/>
                <a:cs typeface="Malgun Gothic"/>
              </a:rPr>
              <a:t> 결과는 </a:t>
            </a:r>
            <a:r>
              <a:rPr sz="1050" b="0" i="0">
                <a:solidFill>
                  <a:srgbClr val="16213A"/>
                </a:solidFill>
                <a:latin typeface="Consolas"/>
                <a:ea typeface="Malgun Gothic"/>
                <a:cs typeface="Malgun Gothic"/>
              </a:rPr>
              <a:t>results/tp0149/l1_plant</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results/tp0150/plant_aware</a:t>
            </a:r>
            <a:r>
              <a:rPr sz="1050" b="0" i="0">
                <a:solidFill>
                  <a:srgbClr val="16213A"/>
                </a:solidFill>
                <a:latin typeface="Arial"/>
                <a:ea typeface="Malgun Gothic"/>
                <a:cs typeface="Malgun Gothic"/>
              </a:rPr>
              <a:t>(지연 + 미끄럼), </a:t>
            </a:r>
            <a:r>
              <a:rPr sz="1050" b="0" i="0">
                <a:solidFill>
                  <a:srgbClr val="16213A"/>
                </a:solidFill>
                <a:latin typeface="Consolas"/>
                <a:ea typeface="Malgun Gothic"/>
                <a:cs typeface="Malgun Gothic"/>
              </a:rPr>
              <a:t>results/tp0150/plant_lag</a:t>
            </a:r>
            <a:r>
              <a:rPr sz="1050" b="0" i="0">
                <a:solidFill>
                  <a:srgbClr val="16213A"/>
                </a:solidFill>
                <a:latin typeface="Arial"/>
                <a:ea typeface="Malgun Gothic"/>
                <a:cs typeface="Malgun Gothic"/>
              </a:rPr>
              <a:t>(지연만)다.</a:t>
            </a:r>
            <a:r>
              <a:rPr sz="1050" b="0" i="0">
                <a:solidFill>
                  <a:srgbClr val="16213A"/>
                </a:solidFill>
                <a:latin typeface="Arial"/>
                <a:ea typeface="Malgun Gothic"/>
                <a:cs typeface="Malgun Gothic"/>
              </a:rPr>
              <a:t> </a:t>
            </a:r>
          </a:p>
        </p:txBody>
      </p:sp>
      <p:graphicFrame>
        <p:nvGraphicFramePr>
          <p:cNvPr id="6" name="Table 5"/>
          <p:cNvGraphicFramePr>
            <a:graphicFrameLocks noGrp="1"/>
          </p:cNvGraphicFramePr>
          <p:nvPr/>
        </p:nvGraphicFramePr>
        <p:xfrm>
          <a:off x="609600" y="3650853"/>
          <a:ext cx="10966450" cy="985440"/>
        </p:xfrm>
        <a:graphic>
          <a:graphicData uri="http://schemas.openxmlformats.org/drawingml/2006/table">
            <a:tbl>
              <a:tblPr firstRow="1" bandRow="1">
                <a:tableStyleId>{5C22544A-7EE6-4342-B048-85BDC9FD1C3A}</a:tableStyleId>
              </a:tblPr>
              <a:tblGrid>
                <a:gridCol w="4490244"/>
                <a:gridCol w="2506563"/>
                <a:gridCol w="1399183"/>
                <a:gridCol w="2570460"/>
              </a:tblGrid>
              <a:tr h="197088">
                <a:tc>
                  <a:txBody>
                    <a:bodyPr wrap="square"/>
                    <a:lstStyle/>
                    <a:p>
                      <a:r>
                        <a:rPr sz="800" b="1" i="0">
                          <a:solidFill>
                            <a:srgbClr val="F4F1EA"/>
                          </a:solidFill>
                          <a:latin typeface="Arial"/>
                          <a:ea typeface="Malgun Gothic"/>
                          <a:cs typeface="Malgun Gothic"/>
                        </a:rPr>
                        <a:t>레벨 3 (스택마다 120)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지연 + 미끄럼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지연만 (</a:t>
                      </a:r>
                      <a:r>
                        <a:rPr sz="800" b="1" i="0">
                          <a:solidFill>
                            <a:srgbClr val="F4F1EA"/>
                          </a:solidFill>
                          <a:latin typeface="Consolas"/>
                          <a:ea typeface="Malgun Gothic"/>
                          <a:cs typeface="Malgun Gothic"/>
                        </a:rPr>
                        <a:t>mppi_plant_lag</a:t>
                      </a:r>
                      <a:r>
                        <a:rPr sz="800" b="1" i="0">
                          <a:solidFill>
                            <a:srgbClr val="F4F1EA"/>
                          </a:solidFill>
                          <a:latin typeface="Arial"/>
                          <a:ea typeface="Malgun Gothic"/>
                          <a:cs typeface="Malgun Gothic"/>
                        </a:rPr>
                        <a: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65 (치명 20, 시간 초과 35)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47 (0, 73)</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79 (1, 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77 (22, 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73 (1, 46)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81 (3, 36)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79 (13, 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69 (3, 48)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79 (0, 41)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레벨 0 (40씩, guidance · planner_df · planner_d)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 36 · 37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 · 28 · 28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39 · 40 · 37</a:t>
                      </a:r>
                    </a:p>
                  </a:txBody>
                  <a:tcPr marL="63500" marR="63500" marT="12700" marB="12700">
                    <a:solidFill>
                      <a:srgbClr val="F3F0E8"/>
                    </a:solidFill>
                  </a:tcPr>
                </a:tc>
              </a:tr>
            </a:tbl>
          </a:graphicData>
        </a:graphic>
      </p:graphicFrame>
      <p:sp>
        <p:nvSpPr>
          <p:cNvPr id="7" name="TextBox 6"/>
          <p:cNvSpPr txBox="1"/>
          <p:nvPr/>
        </p:nvSpPr>
        <p:spPr>
          <a:xfrm>
            <a:off x="609600" y="4977904"/>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지연만 대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의 짝 비교는 레벨 3에서 41 : 23(p = 0.03), 레벨 0에서 7 : 3이다.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지형별 레벨 3(세 스택 합 90)은 bumps_potholes 60 → 78, random_mix 62 → 70, slope_crossfall 84 → 90, curb_ramp 15 → 1이다.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안전 원칙: 스택·레벨별 치명 수가 는 곳이 없다(레벨 3 guidance 20 → 1, planner_d 13 → 0, planner_df 22 → 3, 레벨 0은 4 → 0). 새로 생긴 치명은 레벨 3에서 3건이다(guidance 1, planner_df 2, 모두 curb_ramp·bumps_potholes).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M.3.22 MPPI rollout에 스워브 plant의 지연을 넣는다 — 레벨 3 plant 치명 55 → 4 (TP-0150)</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106 / 112</a:t>
            </a:r>
          </a:p>
        </p:txBody>
      </p:sp>
      <p:sp>
        <p:nvSpPr>
          <p:cNvPr id="5" name="TextBox 4"/>
          <p:cNvSpPr txBox="1"/>
          <p:nvPr/>
        </p:nvSpPr>
        <p:spPr>
          <a:xfrm>
            <a:off x="609600" y="1244600"/>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미끄럼 예측이 진행을 막은 이유.</a:t>
            </a:r>
            <a:r>
              <a:rPr sz="1050" b="0" i="0">
                <a:solidFill>
                  <a:srgbClr val="16213A"/>
                </a:solidFill>
                <a:latin typeface="Arial"/>
                <a:ea typeface="Malgun Gothic"/>
                <a:cs typeface="Malgun Gothic"/>
              </a:rPr>
              <a:t> guidance + 지연 + 미끄럼은 bumps_potholes 레벨 3에서 30개 중 28개가 첫 과속방지턱 0.8 m 앞에서 멈췄다. 멈춘 자리에서 보면, 추종 기준 명령의 rollout이 지연 + 미끄럼 모델에서는 치명 칸에 닿는다(비용 1,045). 기존 모델에서는 닿지 않는다(25). 미끄럼은 이동만 깎고 회전은 그대로라 rollout이 더 휘고, 포트홀에 붙은 Guidance 경로에서는 앞으로 가는 표본이 모두 치명이 된다. 그래서 멈춤만 남는다. 미끄럼 예측은 선택 항목(</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)으로만 남긴다.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경사로 레벨 3.</a:t>
            </a:r>
            <a:r>
              <a:rPr sz="1050" b="0" i="0">
                <a:solidFill>
                  <a:srgbClr val="16213A"/>
                </a:solidFill>
                <a:latin typeface="Arial"/>
                <a:ea typeface="Malgun Gothic"/>
                <a:cs typeface="Malgun Gothic"/>
              </a:rPr>
              <a:t> plant에서는 세 Controller 모두 거의 지나가지 못한다(</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15/90, 지연만 1/90). 중심이 지날 띠가 0.2 m인 경사로를 굼뜬 동역학으로 지나는 것은 설계 한계로 본다.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가 지나간 15개 가운데 일부는 치명과 맞바꾼 통과다(같은 지형에서 치명 15).</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a:t>
            </a:r>
            <a:r>
              <a:rPr sz="1050" b="0" i="0">
                <a:solidFill>
                  <a:srgbClr val="16213A"/>
                </a:solidFill>
                <a:latin typeface="Arial"/>
                <a:ea typeface="Malgun Gothic"/>
                <a:cs typeface="Malgun Gothic"/>
              </a:rPr>
              <a:t> TP-0150의 기준(plant 레벨 3 치명 55 → 절반 이하, plant 없는 권장 L1 벤치마크 유지)을 넘었다. 기본 Controller(</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)는 바뀌지 않으므로 plant 없는 벤치마크는 그대로다. 시도는 두 번이었다(지연 + 미끄럼, 지연만).</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쓰는 법.</a:t>
            </a:r>
            <a:r>
              <a:rPr sz="1050" b="0" i="0">
                <a:solidFill>
                  <a:srgbClr val="16213A"/>
                </a:solidFill>
                <a:latin typeface="Arial"/>
                <a:ea typeface="Malgun Gothic"/>
                <a:cs typeface="Malgun Gothic"/>
              </a:rPr>
              <a:t> plant가 있는 조건(실물에 가까운 조건)에서는 </a:t>
            </a:r>
            <a:r>
              <a:rPr sz="1050" b="0" i="0">
                <a:solidFill>
                  <a:srgbClr val="16213A"/>
                </a:solidFill>
                <a:latin typeface="Consolas"/>
                <a:ea typeface="Malgun Gothic"/>
                <a:cs typeface="Malgun Gothic"/>
              </a:rPr>
              <a:t>--stacks &lt;planner&gt;+mppi_plant_lag --plant</a:t>
            </a:r>
            <a:r>
              <a:rPr sz="1050" b="0" i="0">
                <a:solidFill>
                  <a:srgbClr val="16213A"/>
                </a:solidFill>
                <a:latin typeface="Arial"/>
                <a:ea typeface="Malgun Gothic"/>
                <a:cs typeface="Malgun Gothic"/>
              </a:rPr>
              <a:t>로 돌린다. 배포 스택을 </a:t>
            </a:r>
            <a:r>
              <a:rPr sz="1050" b="0" i="0">
                <a:solidFill>
                  <a:srgbClr val="16213A"/>
                </a:solidFill>
                <a:latin typeface="Consolas"/>
                <a:ea typeface="Malgun Gothic"/>
                <a:cs typeface="Malgun Gothic"/>
              </a:rPr>
              <a:t>planner_df+mppi_plant_lag</a:t>
            </a:r>
            <a:r>
              <a:rPr sz="1050" b="0" i="0">
                <a:solidFill>
                  <a:srgbClr val="16213A"/>
                </a:solidFill>
                <a:latin typeface="Arial"/>
                <a:ea typeface="Malgun Gothic"/>
                <a:cs typeface="Malgun Gothic"/>
              </a:rPr>
              <a:t>로 볼지는 사용자 결정으로 남긴다(STATE).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M.3.23 plant에서 레벨 3 경사로를 지나는 MPPI를 찾지 못했다 — 다섯 시도 뒤 멈추고 plant 모델을 묻는다 (TP-0151)</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107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스워브 plant에서 레벨 3 경사로(폭 1.1 m, 중심 통로 0.2 m)는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로 </a:t>
            </a:r>
            <a:r>
              <a:rPr sz="1050" b="1" i="0">
                <a:solidFill>
                  <a:srgbClr val="C2410C"/>
                </a:solidFill>
                <a:latin typeface="Arial"/>
                <a:ea typeface="Malgun Gothic"/>
                <a:cs typeface="Malgun Gothic"/>
              </a:rPr>
              <a:t>1/90만 지나간다. 다섯 가지를 시도했지만 하나도 열지 못했다.</a:t>
            </a:r>
            <a:r>
              <a:rPr sz="1050" b="0" i="0">
                <a:solidFill>
                  <a:srgbClr val="16213A"/>
                </a:solidFill>
                <a:latin typeface="Arial"/>
                <a:ea typeface="Malgun Gothic"/>
                <a:cs typeface="Malgun Gothic"/>
              </a:rPr>
              <a:t> 경사로 자체는 오를 수 있다(가운데 미끄럼 0.07, 정상 속도 0.44 m/s). 로봇은 경사로 발치까지 오지만 그 앞에서 제자리 회전만 한다. 그러다 시뮬 plant에 의도하지 않은 것으로 보이는 겹침을 찾았다. 명령의 가속 한계를 실현 속도 기준으로 걸어 지연과 겹친다. 그래서 plant 모델을 사용자에게 묻고 멈춘다.</a:t>
            </a:r>
          </a:p>
        </p:txBody>
      </p:sp>
      <p:sp>
        <p:nvSpPr>
          <p:cNvPr id="6" name="TextBox 5"/>
          <p:cNvSpPr txBox="1"/>
          <p:nvPr/>
        </p:nvSpPr>
        <p:spPr>
          <a:xfrm>
            <a:off x="609600" y="1982986"/>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멈춘 모습(L0 인식 + plant, seed 0).</a:t>
            </a:r>
            <a:r>
              <a:rPr sz="1050" b="0" i="0">
                <a:solidFill>
                  <a:srgbClr val="16213A"/>
                </a:solidFill>
                <a:latin typeface="Arial"/>
                <a:ea typeface="Malgun Gothic"/>
                <a:cs typeface="Malgun Gothic"/>
              </a:rPr>
              <a:t> 로봇은 경사로 입구를 한 번 지나쳤다가 돌아온다. 35초부터 60초까지 경사로 발치 0.5 m 앞에서 0.2 rad/s로 돈다. 그 순간 표본의 68 %는 치명이 아니고 진행 비용도 멈춤보다 낮다. 하지만 경사로 위로 들어가는 표본은 모두 치명이다. 중심 통로가 ±0.1 m라 정밀한 정렬이 필요한데, 지연이 있는 표본으로는 거기에 들어가지 못한다.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시도(L0 인식 + plant, curb_ramp 레벨 3 seed 0–3, </a:t>
            </a:r>
            <a:r>
              <a:rPr sz="1050" b="1" i="0">
                <a:solidFill>
                  <a:srgbClr val="16213A"/>
                </a:solidFill>
                <a:latin typeface="Consolas"/>
                <a:ea typeface="Malgun Gothic"/>
                <a:cs typeface="Malgun Gothic"/>
              </a:rPr>
              <a:t>results/tp0151</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모두 시간 초과다.</a:t>
            </a:r>
          </a:p>
        </p:txBody>
      </p:sp>
      <p:graphicFrame>
        <p:nvGraphicFramePr>
          <p:cNvPr id="7" name="Table 6"/>
          <p:cNvGraphicFramePr>
            <a:graphicFrameLocks noGrp="1"/>
          </p:cNvGraphicFramePr>
          <p:nvPr/>
        </p:nvGraphicFramePr>
        <p:xfrm>
          <a:off x="609600" y="2746772"/>
          <a:ext cx="10966450" cy="1182528"/>
        </p:xfrm>
        <a:graphic>
          <a:graphicData uri="http://schemas.openxmlformats.org/drawingml/2006/table">
            <a:tbl>
              <a:tblPr firstRow="1" bandRow="1">
                <a:tableStyleId>{5C22544A-7EE6-4342-B048-85BDC9FD1C3A}</a:tableStyleId>
              </a:tblPr>
              <a:tblGrid>
                <a:gridCol w="8854877"/>
                <a:gridCol w="2111573"/>
              </a:tblGrid>
              <a:tr h="197088">
                <a:tc>
                  <a:txBody>
                    <a:bodyPr wrap="square"/>
                    <a:lstStyle/>
                    <a:p>
                      <a:r>
                        <a:rPr sz="800" b="1" i="0">
                          <a:solidFill>
                            <a:srgbClr val="F4F1EA"/>
                          </a:solidFill>
                          <a:latin typeface="Arial"/>
                          <a:ea typeface="Malgun Gothic"/>
                          <a:cs typeface="Malgun Gothic"/>
                        </a:rPr>
                        <a:t>시도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여유를 두는 Guidance 경로(</a:t>
                      </a:r>
                      <a:r>
                        <a:rPr sz="800" b="0" i="0">
                          <a:solidFill>
                            <a:srgbClr val="16213A"/>
                          </a:solidFill>
                          <a:latin typeface="Consolas"/>
                          <a:ea typeface="Malgun Gothic"/>
                          <a:cs typeface="Malgun Gothic"/>
                        </a:rPr>
                        <a:t>guidance_c</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rollout에 모듈 조향 한계(±56.2°)를 넣음(</a:t>
                      </a:r>
                      <a:r>
                        <a:rPr sz="800" b="0" i="0">
                          <a:solidFill>
                            <a:srgbClr val="16213A"/>
                          </a:solidFill>
                          <a:latin typeface="Consolas"/>
                          <a:ea typeface="Malgun Gothic"/>
                          <a:cs typeface="Malgun Gothic"/>
                        </a:rPr>
                        <a:t>mppi_plant_steer</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온도 0.1 · 반복 3 · 표본 1,536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각각 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지평 6 s · 8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각각 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지연을 아는 추종기로 사전 표본을 만듦(</a:t>
                      </a:r>
                      <a:r>
                        <a:rPr sz="800" b="0" i="0">
                          <a:solidFill>
                            <a:srgbClr val="16213A"/>
                          </a:solidFill>
                          <a:latin typeface="Consolas"/>
                          <a:ea typeface="Malgun Gothic"/>
                          <a:cs typeface="Malgun Gothic"/>
                        </a:rPr>
                        <a:t>mppi_plant_prior</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 (치명 1)</a:t>
                      </a:r>
                    </a:p>
                  </a:txBody>
                  <a:tcPr marL="63500" marR="63500" marT="12700" marB="12700">
                    <a:solidFill>
                      <a:srgbClr val="FFFDF8"/>
                    </a:solidFill>
                  </a:tcPr>
                </a:tc>
              </a:tr>
            </a:tbl>
          </a:graphicData>
        </a:graphic>
      </p:graphicFrame>
      <p:sp>
        <p:nvSpPr>
          <p:cNvPr id="8" name="TextBox 7"/>
          <p:cNvSpPr txBox="1"/>
          <p:nvPr/>
        </p:nvSpPr>
        <p:spPr>
          <a:xfrm>
            <a:off x="609600" y="4320183"/>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조향 한계: plant는 옆걸음 명령을 그대로 못 한다. 옆으로 0.5 m/s를 명령하면 모듈이 56.2°에서 멈춰 앞으로 0.23, 옆으로 0.35 m/s의 대각선으로 간다. </a:t>
            </a:r>
            <a:r>
              <a:rPr sz="1050" b="0" i="0">
                <a:solidFill>
                  <a:srgbClr val="16213A"/>
                </a:solidFill>
                <a:latin typeface="Consolas"/>
                <a:ea typeface="Malgun Gothic"/>
                <a:cs typeface="Malgun Gothic"/>
              </a:rPr>
              <a:t>steer_project</a:t>
            </a:r>
            <a:r>
              <a:rPr sz="1050" b="0" i="0">
                <a:solidFill>
                  <a:srgbClr val="16213A"/>
                </a:solidFill>
                <a:latin typeface="Arial"/>
                <a:ea typeface="Malgun Gothic"/>
                <a:cs typeface="Malgun Gothic"/>
              </a:rPr>
              <a:t>가 모듈마다 이 투영을 하고 최소제곱으로 차체 속도를 되돌린다. 정상 상태에서 plant와 0.02 m/s 안으로 맞는다(테스트로 고정). 그래도 경사로는 열리지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지연을 아는 추종기(</a:t>
            </a:r>
            <a:r>
              <a:rPr sz="1050" b="0" i="0">
                <a:solidFill>
                  <a:srgbClr val="16213A"/>
                </a:solidFill>
                <a:latin typeface="Consolas"/>
                <a:ea typeface="Malgun Gothic"/>
                <a:cs typeface="Malgun Gothic"/>
              </a:rPr>
              <a:t>LagAwareTracker</a:t>
            </a:r>
            <a:r>
              <a:rPr sz="1050" b="0" i="0">
                <a:solidFill>
                  <a:srgbClr val="16213A"/>
                </a:solidFill>
                <a:latin typeface="Arial"/>
                <a:ea typeface="Malgun Gothic"/>
                <a:cs typeface="Malgun Gothic"/>
              </a:rPr>
              <a:t>): pure pursuit를 지연 모델의 예측 상태로 굴려 사전 명령열을 만든다. 그 명령열을 지연 모델로 다시 굴리면 같은 궤적이 나온다(테스트로 고정).</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plant 모델에서 찾은 겹침.</a:t>
            </a:r>
            <a:r>
              <a:rPr sz="1050" b="0" i="0">
                <a:solidFill>
                  <a:srgbClr val="16213A"/>
                </a:solidFill>
                <a:latin typeface="Arial"/>
                <a:ea typeface="Malgun Gothic"/>
                <a:cs typeface="Malgun Gothic"/>
              </a:rPr>
              <a:t> 시뮬은 </a:t>
            </a:r>
            <a:r>
              <a:rPr sz="1050" b="0" i="0">
                <a:solidFill>
                  <a:srgbClr val="16213A"/>
                </a:solidFill>
                <a:latin typeface="Consolas"/>
                <a:ea typeface="Malgun Gothic"/>
                <a:cs typeface="Malgun Gothic"/>
              </a:rPr>
              <a:t>step</a:t>
            </a:r>
            <a:r>
              <a:rPr sz="1050" b="0" i="0">
                <a:solidFill>
                  <a:srgbClr val="16213A"/>
                </a:solidFill>
                <a:latin typeface="Arial"/>
                <a:ea typeface="Malgun Gothic"/>
                <a:cs typeface="Malgun Gothic"/>
              </a:rPr>
              <a:t>에서 명령의 가속 한계를 직전 </a:t>
            </a:r>
            <a:r>
              <a:rPr sz="1050" b="1" i="0">
                <a:solidFill>
                  <a:srgbClr val="16213A"/>
                </a:solidFill>
                <a:latin typeface="Arial"/>
                <a:ea typeface="Malgun Gothic"/>
                <a:cs typeface="Malgun Gothic"/>
              </a:rPr>
              <a:t>실현</a:t>
            </a:r>
            <a:r>
              <a:rPr sz="1050" b="0" i="0">
                <a:solidFill>
                  <a:srgbClr val="16213A"/>
                </a:solidFill>
                <a:latin typeface="Arial"/>
                <a:ea typeface="Malgun Gothic"/>
                <a:cs typeface="Malgun Gothic"/>
              </a:rPr>
              <a:t> 속도 기준으로 건다. 그 뒤 plant가 1차 지연으로 따라간다. plant가 없으면 실현 속도가 곧 직전 명령이라 문제가 없다. plant가 있으면 두 한계가 겹쳐 실제 가속이 1.0이 아니라 약 0.33 m/s²가 된다. 미끄럼이 있으면 더 심해서, 미끄럼 0.2에서는 1 m/s 명령의 정상 속도가 0.13 m/s, 0.35에서는 0.06 m/s다. 실물의 속도 제어기는 보통 자기 명령을 기준으로 변화율을 제한한다. 이것이 의도한 모델인지에 따라 plant 결과 전부(TP-0068·0120·0131·0149·0150)의 해석이 달라진다.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비평가 재시도 규칙에 따라 멈춘다. 다음을 사용자에게 묻는다(STATE).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M.3.23 plant에서 레벨 3 경사로를 지나는 MPPI를 찾지 못했다 — 다섯 시도 뒤 멈추고 plant 모델을 묻는다 (TP-0151)</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108 / 112</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plant의 명령 한계를 직전 명령 기준으로 바꿀지.</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경사로를 이 로봇의 설계 한계로 둘지.</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NMPC 갈래를 이 PC에서 돌리려면 acados 설치가 필요하다. </a:t>
            </a:r>
            <a:r>
              <a:rPr sz="1050" b="0" i="0">
                <a:solidFill>
                  <a:srgbClr val="16213A"/>
                </a:solidFill>
                <a:latin typeface="Consolas"/>
                <a:ea typeface="Malgun Gothic"/>
                <a:cs typeface="Malgun Gothic"/>
              </a:rPr>
              <a:t>mppi_plant_steer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mppi_plant_prior</a:t>
            </a:r>
            <a:r>
              <a:rPr sz="1050" b="0" i="0">
                <a:solidFill>
                  <a:srgbClr val="16213A"/>
                </a:solidFill>
                <a:latin typeface="Arial"/>
                <a:ea typeface="Malgun Gothic"/>
                <a:cs typeface="Malgun Gothic"/>
              </a:rPr>
              <a:t>는 선택 항목으로만 남긴다.</a:t>
            </a:r>
          </a:p>
        </p:txBody>
      </p:sp>
      <p:sp>
        <p:nvSpPr>
          <p:cNvPr id="6" name="TextBox 5"/>
          <p:cNvSpPr txBox="1"/>
          <p:nvPr/>
        </p:nvSpPr>
        <p:spPr>
          <a:xfrm>
            <a:off x="609600" y="20337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추가(2026-10-04): 명령 한계의 기준을 바꿔 보면.</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SimConfig(plant_rate_limit="command")</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--plant-rate-limit command</a:t>
            </a:r>
            <a:r>
              <a:rPr sz="1050" b="0" i="0">
                <a:solidFill>
                  <a:srgbClr val="16213A"/>
                </a:solidFill>
                <a:latin typeface="Arial"/>
                <a:ea typeface="Malgun Gothic"/>
                <a:cs typeface="Malgun Gothic"/>
              </a:rPr>
              <a:t>, 선택)는 명령의 가속 한계를 직전 명령 기준으로 건다. 그러면 1 m/s 명령의 1초 뒤 속도가 0.33 → 0.80 m/s로 오른다. 하지만 권장 L1 + plant의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는 같은 에피소드에서 레벨 3 221 → 220/360(치명 55 → 53, 짝 32 : 31), 레벨 0 112 → 114/120으로 그대로다(</a:t>
            </a:r>
            <a:r>
              <a:rPr sz="1050" b="0" i="0">
                <a:solidFill>
                  <a:srgbClr val="16213A"/>
                </a:solidFill>
                <a:latin typeface="Consolas"/>
                <a:ea typeface="Malgun Gothic"/>
                <a:cs typeface="Malgun Gothic"/>
              </a:rPr>
              <a:t>results/tp0151/l1_plant_cmdlimit</a:t>
            </a:r>
            <a:r>
              <a:rPr sz="1050" b="0" i="0">
                <a:solidFill>
                  <a:srgbClr val="16213A"/>
                </a:solidFill>
                <a:latin typeface="Arial"/>
                <a:ea typeface="Malgun Gothic"/>
                <a:cs typeface="Malgun Gothic"/>
              </a:rPr>
              <a:t>). 가속 겹침은 plant 격차의 원인이 아니다. 경사로를 막는 것은 지연·조향 한계·미끄럼이 만드는 추종 오차다. 그래서 기본값은 그대로(실현 기준) 두고 결정 A는 닫았다.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M.3.24 plant 조건에서 NMPC 갈래는 지연을 아는 MPPI보다 치명이 여덟 배 많다 (TP-0152)</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109 / 112</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권장 L1 + 스워브 plant의 레벨 3에서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는 222/360(치명 34),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는 215/360(치명 32)이다. rollout에 지연을 넣은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239/360(치명 4)이다. NMPC 갈래는 plant를 모르는 명목 MPPI(221/360, 치명 55)와 비슷하다. 잔차 GP도, 명령에서 지연을 되돌리는 방법도 그 차이를 메우지 못했다. 그래서 plant 조건의 배포 Controller는 그대로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다(2026-10-04 사용자 결정과 같다).</a:t>
            </a:r>
          </a:p>
        </p:txBody>
      </p:sp>
      <p:pic>
        <p:nvPicPr>
          <p:cNvPr id="6" name="Picture 5" descr="image.jpg"/>
          <p:cNvPicPr>
            <a:picLocks noChangeAspect="1"/>
          </p:cNvPicPr>
          <p:nvPr/>
        </p:nvPicPr>
        <p:blipFill>
          <a:blip r:embed="rId3"/>
          <a:stretch>
            <a:fillRect/>
          </a:stretch>
        </p:blipFill>
        <p:spPr>
          <a:xfrm>
            <a:off x="1016000" y="1982986"/>
            <a:ext cx="10160000" cy="4064000"/>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M.3.24 plant 조건에서 NMPC 갈래는 지연을 아는 MPPI보다 치명이 여덟 배 많다 (TP-0152)</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110 / 112</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TP-0152: 권장 L1 + 스워브 plant, 레벨 3. 왼쪽은 네 지형 전체, 오른쪽은 설계 한계로 정한 경사로를 뺀 값이다. 주황 글자가 NMPC 갈래다. guidance의 NMPC 두 줄은 결정적이라 서로 다른 에피소드 40개를 세 번 센 것이다(본문).</a:t>
            </a:r>
          </a:p>
        </p:txBody>
      </p:sp>
      <p:sp>
        <p:nvSpPr>
          <p:cNvPr id="6" name="TextBox 5"/>
          <p:cNvSpPr txBox="1"/>
          <p:nvPr/>
        </p:nvSpPr>
        <p:spPr>
          <a:xfrm>
            <a:off x="609600" y="1766491"/>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권장 L1(</a:t>
            </a:r>
            <a:r>
              <a:rPr sz="1050" b="0" i="0">
                <a:solidFill>
                  <a:srgbClr val="16213A"/>
                </a:solidFill>
                <a:latin typeface="Consolas"/>
                <a:ea typeface="Malgun Gothic"/>
                <a:cs typeface="Malgun Gothic"/>
              </a:rPr>
              <a:t>--perception l1 --shadow-ceiling --shadow-depth 0.10 --stereo --unknown-near 1.5 --shadow-low-fill --pit-margin 0.05</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--plant</a:t>
            </a:r>
            <a:r>
              <a:rPr sz="1050" b="0" i="0">
                <a:solidFill>
                  <a:srgbClr val="16213A"/>
                </a:solidFill>
                <a:latin typeface="Arial"/>
                <a:ea typeface="Malgun Gothic"/>
                <a:cs typeface="Malgun Gothic"/>
              </a:rPr>
              <a:t>. 레벨 3은 seed 0–9 × 오프셋 0·1000·2000, 레벨 0은 seed 0–9다.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NMPC는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(명목)와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다.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는 잔차 GP 평균을 쓰고(이 PC에서 다시 맞춘 </a:t>
            </a:r>
            <a:r>
              <a:rPr sz="1050" b="0" i="0">
                <a:solidFill>
                  <a:srgbClr val="16213A"/>
                </a:solidFill>
                <a:latin typeface="Consolas"/>
                <a:ea typeface="Malgun Gothic"/>
                <a:cs typeface="Malgun Gothic"/>
              </a:rPr>
              <a:t>residual_sgp_wide_refit-2026-10-03.pt</a:t>
            </a:r>
            <a:r>
              <a:rPr sz="1050" b="0" i="0">
                <a:solidFill>
                  <a:srgbClr val="16213A"/>
                </a:solidFill>
                <a:latin typeface="Arial"/>
                <a:ea typeface="Malgun Gothic"/>
                <a:cs typeface="Malgun Gothic"/>
              </a:rPr>
              <a:t>) 실행 중에도 갱신한다. 이 GP는 plant의 잔차를 배운 것이다.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MPPI 기준은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(TP-0149)와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(TP-0150)다. 원자료는 </a:t>
            </a:r>
            <a:r>
              <a:rPr sz="1050" b="0" i="0">
                <a:solidFill>
                  <a:srgbClr val="16213A"/>
                </a:solidFill>
                <a:latin typeface="Consolas"/>
                <a:ea typeface="Malgun Gothic"/>
                <a:cs typeface="Malgun Gothic"/>
              </a:rPr>
              <a:t>results/tp0152/mpc</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results/tp0152/mpc_gp</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acados는 이번에 이 PC에 깔았다(M.3.1). 레벨 0의 slope_crossfall·random_mix는 TP-0153의 GPU 경로로 돌렸다. 결과는 CPU와 비트 단위로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guidance + NMPC는 결정적이다.</a:t>
            </a:r>
            <a:r>
              <a:rPr sz="1050" b="0" i="0">
                <a:solidFill>
                  <a:srgbClr val="16213A"/>
                </a:solidFill>
                <a:latin typeface="Arial"/>
                <a:ea typeface="Malgun Gothic"/>
                <a:cs typeface="Malgun Gothic"/>
              </a:rPr>
              <a:t> 오프셋은 Planner와 Controller의 난수만 바꾼다. guidance와 NMPC는 둘 다 난수를 쓰지 않으므로 세 오프셋이 같은 에피소드다(끝난 에피소드 전부에서 확인). 그래서 guidance 줄의 120은 서로 다른 에피소드 40개를 세 번 센 것이다. 오프셋 0만 세면 레벨 3 도달은 </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20,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27,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25,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25/40이다.</a:t>
            </a:r>
          </a:p>
        </p:txBody>
      </p:sp>
      <p:graphicFrame>
        <p:nvGraphicFramePr>
          <p:cNvPr id="7" name="Table 6"/>
          <p:cNvGraphicFramePr>
            <a:graphicFrameLocks noGrp="1"/>
          </p:cNvGraphicFramePr>
          <p:nvPr/>
        </p:nvGraphicFramePr>
        <p:xfrm>
          <a:off x="609600" y="3688953"/>
          <a:ext cx="10966449" cy="1576704"/>
        </p:xfrm>
        <a:graphic>
          <a:graphicData uri="http://schemas.openxmlformats.org/drawingml/2006/table">
            <a:tbl>
              <a:tblPr firstRow="1" bandRow="1">
                <a:tableStyleId>{5C22544A-7EE6-4342-B048-85BDC9FD1C3A}</a:tableStyleId>
              </a:tblPr>
              <a:tblGrid>
                <a:gridCol w="2544266"/>
                <a:gridCol w="2749252"/>
                <a:gridCol w="2135287"/>
                <a:gridCol w="1768673"/>
                <a:gridCol w="1768971"/>
              </a:tblGrid>
              <a:tr h="197088">
                <a:tc>
                  <a:txBody>
                    <a:bodyPr wrap="square"/>
                    <a:lstStyle/>
                    <a:p>
                      <a:r>
                        <a:rPr sz="800" b="1" i="0">
                          <a:solidFill>
                            <a:srgbClr val="F4F1EA"/>
                          </a:solidFill>
                          <a:latin typeface="Arial"/>
                          <a:ea typeface="Malgun Gothic"/>
                          <a:cs typeface="Malgun Gothic"/>
                        </a:rPr>
                        <a:t>레벨 3 (지형마다 90)</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mppi_plant_lag</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mpc_gp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bumps_potholes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(치명 22, 시간 초과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 (1,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(19,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56 (17, 17)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curb_ramp (설계 한계)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 (15, 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(3, 86)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(8, 82)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(10, 80)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random_mix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62 (12,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70 (0, 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75 (7,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69 (5, 16)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slope_crossfall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84 (6,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 (0,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87 (0,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 (0, 0)</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합 (360)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221 (55, 84)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239 (4, 117)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222 (34, 104)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215 (32, 113)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경사로 제외 (270)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206 (40, 24)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238 (1, 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222 (26, 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215 (22, 33)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레벨 0 (120)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112 (4, 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116 (0, 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109 (3,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108 (0, 12)</a:t>
                      </a:r>
                    </a:p>
                  </a:txBody>
                  <a:tcPr marL="63500" marR="63500" marT="12700" marB="12700">
                    <a:solidFill>
                      <a:srgbClr val="FFFDF8"/>
                    </a:solidFill>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M.3.24 plant 조건에서 NMPC 갈래는 지연을 아는 MPPI보다 치명이 여덟 배 많다 (TP-0152)</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111 / 112</a:t>
            </a:r>
          </a:p>
        </p:txBody>
      </p:sp>
      <p:sp>
        <p:nvSpPr>
          <p:cNvPr id="5" name="TextBox 4"/>
          <p:cNvSpPr txBox="1"/>
          <p:nvPr/>
        </p:nvSpPr>
        <p:spPr>
          <a:xfrm>
            <a:off x="609600" y="1244600"/>
            <a:ext cx="10972800" cy="21008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짝 비교(대 </a:t>
            </a:r>
            <a:r>
              <a:rPr sz="1050" b="1" i="0">
                <a:solidFill>
                  <a:srgbClr val="16213A"/>
                </a:solidFill>
                <a:latin typeface="Consolas"/>
                <a:ea typeface="Malgun Gothic"/>
                <a:cs typeface="Malgun Gothic"/>
              </a:rPr>
              <a:t>mppi_plant_lag</a:t>
            </a:r>
            <a:r>
              <a:rPr sz="1050" b="1" i="0">
                <a:solidFill>
                  <a:srgbClr val="16213A"/>
                </a:solidFill>
                <a:latin typeface="Arial"/>
                <a:ea typeface="Malgun Gothic"/>
                <a:cs typeface="Malgun Gothic"/>
              </a:rPr>
              <a:t>, </a:t>
            </a:r>
            <a:r>
              <a:rPr sz="1050" b="1" i="0">
                <a:solidFill>
                  <a:srgbClr val="16213A"/>
                </a:solidFill>
                <a:latin typeface="Consolas"/>
                <a:ea typeface="Malgun Gothic"/>
                <a:cs typeface="Malgun Gothic"/>
              </a:rPr>
              <a:t>mppi_plant_lag</a:t>
            </a:r>
            <a:r>
              <a:rPr sz="1050" b="1" i="0">
                <a:solidFill>
                  <a:srgbClr val="16213A"/>
                </a:solidFill>
                <a:latin typeface="Arial"/>
                <a:ea typeface="Malgun Gothic"/>
                <a:cs typeface="Malgun Gothic"/>
              </a:rPr>
              <a:t>만 : 상대만).</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34 : 17(p = 0.024),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34 : 10(p = 0.0004).</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경사로 제외: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33 : 17(p = 0.033),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33 : 10(p = 0.0006).</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0: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10 : 3(p = 0.09),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10 : 2(p = 0.039).</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스택별로 보면 배포 스택(planner_df)이 레벨 3에서 81 대 72·71로 가장 크게 진다(14 : 5, 14 : 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어디서 지나.</a:t>
            </a:r>
            <a:r>
              <a:rPr sz="1050" b="0" i="0">
                <a:solidFill>
                  <a:srgbClr val="16213A"/>
                </a:solidFill>
                <a:latin typeface="Arial"/>
                <a:ea typeface="Malgun Gothic"/>
                <a:cs typeface="Malgun Gothic"/>
              </a:rPr>
              <a:t> 치명은 bumps_potholes(19·17)와 경사로(8·10)에 몰린다. 레벨 3에서 NMPC가 나은 곳은 random_mix의 시간 초과뿐이다(</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8 대 20). 대신 치명 7이 생긴다.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보다 낫지 않다(215 대 222). GP는 레벨 0 지형에서 모은 plant 잔차로 맞췄다. 그래서 레벨 3의 경사 미끄럼과 좁은 회피에서는 듣지 않는 것으로 본다(TP-0149의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와 같은 해석).</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제어 시간.</a:t>
            </a:r>
            <a:r>
              <a:rPr sz="1050" b="0" i="0">
                <a:solidFill>
                  <a:srgbClr val="16213A"/>
                </a:solidFill>
                <a:latin typeface="Arial"/>
                <a:ea typeface="Malgun Gothic"/>
                <a:cs typeface="Malgun Gothic"/>
              </a:rPr>
              <a:t> 부하 상태에서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 24 ms,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 80 ms,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35 ms였다. 실행마다 부하가 달라 비교는 대략이다.</a:t>
            </a:r>
          </a:p>
        </p:txBody>
      </p:sp>
      <p:sp>
        <p:nvSpPr>
          <p:cNvPr id="6" name="TextBox 5"/>
          <p:cNvSpPr txBox="1"/>
          <p:nvPr/>
        </p:nvSpPr>
        <p:spPr>
          <a:xfrm>
            <a:off x="609600" y="34343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지연을 아는 NMPC(</a:t>
            </a:r>
            <a:r>
              <a:rPr sz="1050" b="1" i="0">
                <a:solidFill>
                  <a:srgbClr val="16213A"/>
                </a:solidFill>
                <a:latin typeface="Consolas"/>
                <a:ea typeface="Malgun Gothic"/>
                <a:cs typeface="Malgun Gothic"/>
              </a:rPr>
              <a:t>mpc_lag</a:t>
            </a:r>
            <a:r>
              <a:rPr sz="1050" b="1" i="0">
                <a:solidFill>
                  <a:srgbClr val="16213A"/>
                </a:solidFill>
                <a:latin typeface="Arial"/>
                <a:ea typeface="Malgun Gothic"/>
                <a:cs typeface="Malgun Gothic"/>
              </a:rPr>
              <a:t>)는 오히려 나빠졌다.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와 같은 정보를 가진 NMPC를 만들어 공정하게 비교하려 했다.</a:t>
            </a:r>
          </a:p>
        </p:txBody>
      </p:sp>
      <p:sp>
        <p:nvSpPr>
          <p:cNvPr id="7" name="TextBox 6"/>
          <p:cNvSpPr txBox="1"/>
          <p:nvPr/>
        </p:nvSpPr>
        <p:spPr>
          <a:xfrm>
            <a:off x="609600" y="3739753"/>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설계.</a:t>
            </a:r>
            <a:r>
              <a:rPr sz="1050" b="0" i="0">
                <a:solidFill>
                  <a:srgbClr val="16213A"/>
                </a:solidFill>
                <a:latin typeface="Arial"/>
                <a:ea typeface="Malgun Gothic"/>
                <a:cs typeface="Malgun Gothic"/>
              </a:rPr>
              <a:t> plant는 명령을 </a:t>
            </a:r>
            <a:r>
              <a:rPr sz="1050" b="0" i="1">
                <a:solidFill>
                  <a:srgbClr val="16213A"/>
                </a:solidFill>
                <a:latin typeface="Arial"/>
                <a:ea typeface="Malgun Gothic"/>
                <a:cs typeface="Malgun Gothic"/>
              </a:rPr>
              <a:t>v' = v + a(c - v)</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 = Δ t / (τ + Δ t) = 1/3</a:t>
            </a:r>
            <a:r>
              <a:rPr sz="1050" b="0" i="0">
                <a:solidFill>
                  <a:srgbClr val="16213A"/>
                </a:solidFill>
                <a:latin typeface="Arial"/>
                <a:ea typeface="Malgun Gothic"/>
                <a:cs typeface="Malgun Gothic"/>
              </a:rPr>
              <a:t>으로 따른다. 시뮬은 </a:t>
            </a:r>
            <a:r>
              <a:rPr sz="1050" b="0" i="1">
                <a:solidFill>
                  <a:srgbClr val="16213A"/>
                </a:solidFill>
                <a:latin typeface="Arial"/>
                <a:ea typeface="Malgun Gothic"/>
                <a:cs typeface="Malgun Gothic"/>
              </a:rPr>
              <a:t>c - v</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aₘₐₓΔ t</a:t>
            </a:r>
            <a:r>
              <a:rPr sz="1050" b="0" i="0">
                <a:solidFill>
                  <a:srgbClr val="16213A"/>
                </a:solidFill>
                <a:latin typeface="Arial"/>
                <a:ea typeface="Malgun Gothic"/>
                <a:cs typeface="Malgun Gothic"/>
              </a:rPr>
              <a:t>로 자른다. 그래서 OCP의 가속 상자에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를 곱하고, 명령을 </a:t>
            </a:r>
            <a:r>
              <a:rPr sz="1050" b="0" i="1">
                <a:solidFill>
                  <a:srgbClr val="16213A"/>
                </a:solidFill>
                <a:latin typeface="Arial"/>
                <a:ea typeface="Malgun Gothic"/>
                <a:cs typeface="Malgun Gothic"/>
              </a:rPr>
              <a:t>c = Zₖ + uₖ Δ t / a</a:t>
            </a:r>
            <a:r>
              <a:rPr sz="1050" b="0" i="0">
                <a:solidFill>
                  <a:srgbClr val="16213A"/>
                </a:solidFill>
                <a:latin typeface="Arial"/>
                <a:ea typeface="Malgun Gothic"/>
                <a:cs typeface="Malgun Gothic"/>
              </a:rPr>
              <a:t>로 보낸다. 그러면 지연만 있는 plant에서 계획한 </a:t>
            </a:r>
            <a:r>
              <a:rPr sz="1050" b="0" i="1">
                <a:solidFill>
                  <a:srgbClr val="16213A"/>
                </a:solidFill>
                <a:latin typeface="Arial"/>
                <a:ea typeface="Malgun Gothic"/>
                <a:cs typeface="Malgun Gothic"/>
              </a:rPr>
              <a:t>Zₖ₊₁</a:t>
            </a:r>
            <a:r>
              <a:rPr sz="1050" b="0" i="0">
                <a:solidFill>
                  <a:srgbClr val="16213A"/>
                </a:solidFill>
                <a:latin typeface="Arial"/>
                <a:ea typeface="Malgun Gothic"/>
                <a:cs typeface="Malgun Gothic"/>
              </a:rPr>
              <a:t>이 그대로 실현된다(테스트로 고정). 가속 한계가 실현 속도 기준이라 지연 상태를 따로 둘 필요가 없다(M.1.3의 "지연 상태 3개"는 명령 기준 한계일 때만 필요하다).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결과(bumps_potholes 레벨 3, 같은 에피소드끼리 짝).</a:t>
            </a:r>
          </a:p>
        </p:txBody>
      </p:sp>
      <p:graphicFrame>
        <p:nvGraphicFramePr>
          <p:cNvPr id="8" name="Table 7"/>
          <p:cNvGraphicFramePr>
            <a:graphicFrameLocks noGrp="1"/>
          </p:cNvGraphicFramePr>
          <p:nvPr/>
        </p:nvGraphicFramePr>
        <p:xfrm>
          <a:off x="609600" y="4720034"/>
          <a:ext cx="10966450" cy="591264"/>
        </p:xfrm>
        <a:graphic>
          <a:graphicData uri="http://schemas.openxmlformats.org/drawingml/2006/table">
            <a:tbl>
              <a:tblPr firstRow="1" bandRow="1">
                <a:tableStyleId>{5C22544A-7EE6-4342-B048-85BDC9FD1C3A}</a:tableStyleId>
              </a:tblPr>
              <a:tblGrid>
                <a:gridCol w="3966071"/>
                <a:gridCol w="1021159"/>
                <a:gridCol w="2989461"/>
                <a:gridCol w="2989759"/>
              </a:tblGrid>
              <a:tr h="197088">
                <a:tc>
                  <a:txBody>
                    <a:bodyPr wrap="square"/>
                    <a:lstStyle/>
                    <a:p>
                      <a:r>
                        <a:rPr sz="800" b="1" i="0">
                          <a:solidFill>
                            <a:srgbClr val="F4F1EA"/>
                          </a:solidFill>
                          <a:latin typeface="Arial"/>
                          <a:ea typeface="Malgun Gothic"/>
                          <a:cs typeface="Malgun Gothic"/>
                        </a:rPr>
                        <a:t>시도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명목 </a:t>
                      </a:r>
                      <a:r>
                        <a:rPr sz="800" b="1" i="0">
                          <a:solidFill>
                            <a:srgbClr val="F4F1EA"/>
                          </a:solidFill>
                          <a:latin typeface="Consolas"/>
                          <a:ea typeface="Malgun Gothic"/>
                          <a:cs typeface="Malgun Gothic"/>
                        </a:rPr>
                        <a:t>mpc</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mpc_lag</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 지연 역변환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 도달, 치명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 도달, 치명 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 + 가속 비용 </a:t>
                      </a:r>
                      <a:r>
                        <a:rPr sz="800" b="0" i="1">
                          <a:solidFill>
                            <a:srgbClr val="16213A"/>
                          </a:solidFill>
                          <a:latin typeface="Arial"/>
                          <a:ea typeface="Malgun Gothic"/>
                          <a:cs typeface="Malgun Gothic"/>
                        </a:rPr>
                        <a:t>1/a²</a:t>
                      </a:r>
                      <a:r>
                        <a:rPr sz="800" b="0" i="0">
                          <a:solidFill>
                            <a:srgbClr val="16213A"/>
                          </a:solidFill>
                          <a:latin typeface="Arial"/>
                          <a:ea typeface="Malgun Gothic"/>
                          <a:cs typeface="Malgun Gothic"/>
                        </a:rPr>
                        <a:t>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 도달, 치명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도달, 치명 8</a:t>
                      </a:r>
                    </a:p>
                  </a:txBody>
                  <a:tcPr marL="63500" marR="63500" marT="12700" marB="12700">
                    <a:solidFill>
                      <a:srgbClr val="F3F0E8"/>
                    </a:solidFill>
                  </a:tcPr>
                </a:tc>
              </a:tr>
            </a:tbl>
          </a:graphicData>
        </a:graphic>
      </p:graphicFrame>
      <p:sp>
        <p:nvSpPr>
          <p:cNvPr id="9" name="TextBox 8"/>
          <p:cNvSpPr txBox="1"/>
          <p:nvPr/>
        </p:nvSpPr>
        <p:spPr>
          <a:xfrm>
            <a:off x="609600" y="555436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치명이 늘었으므로 안전 원칙에 따라 둘 다 기본값으로 쓰지 않는다. 시도 1은 경사로에서 치명 3 → 0, 경사 지형에서 27 → 29/29였지만 판단은 같다.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MPC 구축 · 작업 기록 · M.3 진행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M.3.24 plant 조건에서 NMPC 갈래는 지연을 아는 MPPI보다 치명이 여덟 배 많다 (TP-0152)</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MPC 구축 (docs/research-mpc.md)    112 / 112</a:t>
            </a:r>
          </a:p>
        </p:txBody>
      </p:sp>
      <p:sp>
        <p:nvSpPr>
          <p:cNvPr id="5" name="TextBox 4"/>
          <p:cNvSpPr txBox="1"/>
          <p:nvPr/>
        </p:nvSpPr>
        <p:spPr>
          <a:xfrm>
            <a:off x="609600" y="1244600"/>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원인.</a:t>
            </a:r>
            <a:r>
              <a:rPr sz="1050" b="0" i="0">
                <a:solidFill>
                  <a:srgbClr val="16213A"/>
                </a:solidFill>
                <a:latin typeface="Arial"/>
                <a:ea typeface="Malgun Gothic"/>
                <a:cs typeface="Malgun Gothic"/>
              </a:rPr>
              <a:t> 지연 모델은 맞았다. 실패 에피소드(bumps_potholes s1, guidance)를 다시 돌리면 계획한 속도 변화와 실현된 변화가 평균으로 같다. 명목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는 계획한 변화의 3분의 1만 실현한다. 문제는 다른 데 있다. 두 NMPC 모두 계획이 가속 상한에 붙는 bang-bang이다. 명목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에서는 plant의 지연이 이 계획을 저역 통과로 거른다. </a:t>
            </a:r>
            <a:r>
              <a:rPr sz="1050" b="0" i="0">
                <a:solidFill>
                  <a:srgbClr val="16213A"/>
                </a:solidFill>
                <a:latin typeface="Consolas"/>
                <a:ea typeface="Malgun Gothic"/>
                <a:cs typeface="Malgun Gothic"/>
              </a:rPr>
              <a:t>mpc_lag</a:t>
            </a:r>
            <a:r>
              <a:rPr sz="1050" b="0" i="0">
                <a:solidFill>
                  <a:srgbClr val="16213A"/>
                </a:solidFill>
                <a:latin typeface="Arial"/>
                <a:ea typeface="Malgun Gothic"/>
                <a:cs typeface="Malgun Gothic"/>
              </a:rPr>
              <a:t>는 지연을 되돌리면서 이 필터까지 없앴다. 그래서 명령이 스텝마다 한계 양끝을 오간다.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모듈 조향 속도 한계에 걸리는 스텝이 6 %에서 20 %로 늘었다. 실패 직전 2초에는 실현된 회전이 계획과 반대 방향이 된 스텝도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시도 1의 실패(bumps_potholes s1, guidance)에서 로봇은 좁은 틈에서 90° 꺾다가 벽에 닿았다.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시도 2의 실패(bumps_potholes s0, guidance)를 slack을 기록하며 다시 돌리면, slack은 마지막 0.8초에만 생긴다. 계획은 끝까지 성립했고, 실현된 경로가 계획을 벗어났다.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가속 비용을 키우면(시도 2) 떨림은 줄었다(조향 속도 한계 14 %). 대신 회피가 굼떠져 치명이 더 늘었다.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NMPC 갈래에서 plant의 지연은 병목이 아니다. 명목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가 bumps_potholes 레벨 3에서 이미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에 가깝다. 세 번째 시도는 하지 않고 </a:t>
            </a:r>
            <a:r>
              <a:rPr sz="1050" b="0" i="0">
                <a:solidFill>
                  <a:srgbClr val="16213A"/>
                </a:solidFill>
                <a:latin typeface="Consolas"/>
                <a:ea typeface="Malgun Gothic"/>
                <a:cs typeface="Malgun Gothic"/>
              </a:rPr>
              <a:t>mpc_lag</a:t>
            </a:r>
            <a:r>
              <a:rPr sz="1050" b="0" i="0">
                <a:solidFill>
                  <a:srgbClr val="16213A"/>
                </a:solidFill>
                <a:latin typeface="Arial"/>
                <a:ea typeface="Malgun Gothic"/>
                <a:cs typeface="Malgun Gothic"/>
              </a:rPr>
              <a:t>는 선택 스택으로만 남긴다(</a:t>
            </a:r>
            <a:r>
              <a:rPr sz="1050" b="0" i="0">
                <a:solidFill>
                  <a:srgbClr val="16213A"/>
                </a:solidFill>
                <a:latin typeface="Consolas"/>
                <a:ea typeface="Malgun Gothic"/>
                <a:cs typeface="Malgun Gothic"/>
              </a:rPr>
              <a:t>MPCConfig.lag_s</a:t>
            </a:r>
            <a:r>
              <a:rPr sz="1050" b="0" i="0">
                <a:solidFill>
                  <a:srgbClr val="16213A"/>
                </a:solidFill>
                <a:latin typeface="Arial"/>
                <a:ea typeface="Malgun Gothic"/>
                <a:cs typeface="Malgun Gothic"/>
              </a:rPr>
              <a:t>, 기본 0).</a:t>
            </a:r>
          </a:p>
        </p:txBody>
      </p:sp>
      <p:sp>
        <p:nvSpPr>
          <p:cNvPr id="6" name="TextBox 5"/>
          <p:cNvSpPr txBox="1"/>
          <p:nvPr/>
        </p:nvSpPr>
        <p:spPr>
          <a:xfrm>
            <a:off x="609600" y="34089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plant 조건의 배포 Controller는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로 둔다. NMPC 갈래는 치명이 여덟 배라 안전 원칙에서 탈락이다. NMPC가 plant를 다루려면 다음 후보는 지연 상태 모델이다(TP-0124의 MPC 쪽). 명령을 상태로 두고 명령 변화율에 비용을 걸면, 지연을 알면서도 명령이 떨리지 않는다. 이 방향을 이어 갈지는 사용자가 정한다(STATE).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MPC 구축</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