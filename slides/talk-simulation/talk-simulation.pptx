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리서치 문서의 시뮬레이션 챕터를 30–40분 이야기로 옮긴 것입니다. 질문은 하나입니다. 시뮬에서 나온 12/12가 실물에서 무엇을 뜻하는가. 엔진, 장면, 보행자, 센서, 바퀴 순서로 살펴보고, 마지막에 최근 연구 비교와 권고 로드맵을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결론을 먼저 말씀드립니다. 엔진은 바꾸지 않고, 지금 돌고 있는 운동학 시뮬의 빈틈을 하나씩 메우는 것이 가장 싸고 효과가 큽니다. 여섯 부분은 각각 이 결론 하나씩을 뒷받침합니다. 마지막 권고 로드맵이 이 순서를 TP 번호로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시뮬레이션을 하나로 보지 않고 네 층으로 나눕니다. L0는 싸고 빨라서 학습과 스택 비교를 맡고, L1은 실제 LiDAR에서 TravMap까지 이어지는 인식 경로를 검증합니다. L2는 장면과 보행자의 다양성을, L3는 시뮬 순위가 실물 순위를 맞히는지를 검증합니다. 벤치마크의 --perception l1은 운동학 시뮬 안에서 합성 LiDAR를 쓰는 인식 단계라서, 시뮬 층 L1(Isaac)과 이름이 겹치니 주의하세요.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실제로 쓰는 시뮬은 운동학 시뮬 하나입니다. 지형 정의를 sim/terrain.py 한 곳에 두어서, 같은 지형을 Isaac으로 내보낼 수 있게 해 두었습니다. 가림, 합성 LiDAR, plant, 보행자, 지연 같은 현실성은 선택 항목으로 하나씩 켭니다. 오른쪽은 같은 시뮬을 브라우저로 옮긴 Playground 화면입니다.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부분은 엔진입니다. 결론은 Isaac Sim 유지이고, 근거는 보도 시뮬 생태계가 이미 그 위에 있다는 점입니다. 여기에 더해 엔진 비교 벤치마크가 말해 주는 교훈, 그리고 오늘 바로 띄울 수 있는 ROS 2 리그를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엔진을 비교한 표입니다. URBAN-SIM, UrbanVerse, SidewalkBench, CostNav가 모두 Isaac Sim 위에 있어서 장면과 평가를 빌려 오려면 Isaac이 자연스럽습니다. Newton과 Chrono는 잔디나 자갈 같은 변형 지면이 요구 사항이 될 때만 검토합니다. Isaac Lab 3.0은 Newton과 PhysX를 한 API로 고르게 해서, 학습은 Isaac Sim을 띄우지 않는 kit-less 경로로 돌릴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시뮬 일곱 개를 한 장비에서 잰 결과입니다. 처리량 1위이고 결정론적인 Genesis가 실물 일치에서는 다섯째였습니다. Isaac Lab은 재실행 변동은 0이지만 병렬 환경끼리는 달랐습니다. 우리 1층 스모크 게이트는 같은 설정이면 12 에피소드가 전부 같다는 재현성 위에 서 있으므로, Isaac으로 옮길 때는 ROS 2 토픽 타이밍까지 포함해 뒤집히는 수부터 재야 합니다. 참고로 Genesis의 4,300만 FPS 주장은 팔이 거의 움직이지 않는 장면에서 잰 값이었습니다.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아니라 로봇·세계·센서가 한 세트로 갖춰져 있어 오늘 띄우면 토픽이 나오는 리그를 비교했습니다. antbot_gazebo는 대상 로봇 그 자체지만 2D LiDAR 두 대뿐이라 TravMapBuilder에 넣을 높이가 없습니다. CMU 환경은 점군과 지형 비용이 바로 나오지만 비용이 평탄도 하나라 0.07 m 턱과 0.24 m 턱을 가르지 못합니다. 그래서 질문마다 리그를 고르고, Gazebo를 쓴다면 PRD 결정의 예외로 둘지부터 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부분은 장면과 보행자입니다. 보도 전용 시뮬레이터 연구가 어디까지 왔는지, 거기서 travplan 평가에 무엇을 빌려 왔는지 살펴봅니다. 그리고 보행자 모델의 갈래와 travplan에서 잰 보행자 결과를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보도 전용 시뮬레이터는 자동차 시뮬레이터 MetaDrive에서 시작한 UCLA 한 연구실의 계보입니다. 실물 실험은 보도 배달로봇 회사 Coco Robotics와 함께 해서, travplan과 같은 문제를 푸는 가장 가까운 연구 계열입니다. 별도 계보로 Unity 기반 Vid2Sim과 서울대·MAUM.AI의 CostNav가 있습니다. MetaUrban의 네 기능 구역은 우리 시나리오를 늘릴 때 물체를 어디에 둘지 정하는 규칙으로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URBAN-SIM은 MetaUrban을 Isaac Sim으로 옮기고 세 가지를 더했습니다. 지형을 타일 단위로 잇는 Wave Function Collapse, 로봇에 반응하는 GPU ORCA 보행자, 환경마다 다른 장면을 쓰는 비동기 샘플링입니다. 권장 사양 때문에 이 작업은 데스크톱에서 해야 합니다. WFC 지형 생성은 Isaac 없이도 우리 시나리오를 절차적으로 늘리는 데 바로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UrbanVerse는 유튜브 도시 여행 영상에서 장면 배치를 뽑아 Isaac Sim 장면을 만듭니다. 핵심 결과는 배치 수에 따른 멱법칙입니다. 현실 분포를 따르는 배치는 늘릴수록 성능이 오르지만, 템플릿 절차 생성은 거의 오르지 않았습니다. 하나 더, UrbanVerse도 바퀴형 로봇을 관절 물리가 아니라 차동 구동 운동학 모델로 시뮬레이션했는데 실물 zero-shot이 됐습니다. Isaac에서 스워브를 운동학 프록시로 두는 우리 설계(TP-0004)와 같은 판단입니다.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SidewalkBench는 보도 시각 내비 모델 아홉 개를 같은 조건으로 비교한 벤치마크입니다. 총 36.5 km의 시나리오를 세 층으로 나누고, 장거리는 100 m당 실패 횟수로 잽니다. 우리에게 가장 중요한 결과는 절차 생성 장면의 성능이 실제 스캔 장면 성능과 강하게 상관했다는 점입니다. 이것이 운동학 시뮬 벤치마크를 계속 쓰는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성공률이 포화되면 다른 축이 필요합니다. CostNav는 시뮬 로그를 공개 수치로 비용과 수익으로 바꿔, 성공률 대신 돈으로 채점합니다. MIT의 사전식 조종 연구는 넘을 수 없는 턱과 피하고 싶은 잔디를 따로 세는데, 이것이 TravMap의 치명 셀과 cost의 구분과 같습니다. 우리 Planner D 선택기는 이미 치명 후보를 먼저 버리므로, 가져올 것은 샘플을 만드는 단계의 동적 장벽 안내입니다.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보행자 모델을 다섯 갈래로 나눴습니다. 위로 갈수록 싸고 재현되고, 아래로 갈수록 다양하지만 비쌉니다. 학습된 보행자는 Planner를 학습시킬 때 가치가 크고, 평가에는 사건 기반이 더 공정합니다. travplan은 L0에서 ORCA 반응형을 선택 항목으로 먼저 넣었고, 데이터 기반은 Isaac 단계로 미룹니다.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ORCA는 이웃마다 충돌 없는 속도의 반평면을 만들고 원하는 속도에 가장 가까운 속도를 고릅니다. 모두가 같은 규칙을 따르면 충돌이 없다는 보장이 있지만, 바로 그 상호 협조 가정 때문에 군중이 부자연스럽게 맞춰 움직입니다. 우리 측정에서도 SHARE 값은 거의 효과가 없었고 horizon τ가 실제로 효과 있는 파라미터였습니다. DynBench는 반응 대신 멈춰 서기, 둘러보기 같은 상태 전환을 넣는데, 이것이 시도 순서 3번 후보입니다.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travplan에서 실제로 잰 보행자 결과입니다. 권장 L1 인식과 스워브 plant에 보행자 5명을 얹으면 충돌은 720 에피소드 중 8건, 1.1 %입니다. 등급화 페널티는 기준의 충돌 4건을 모두 피하고 나머지 716 에피소드는 결과가 같았습니다. 도달 차이는 둘 다 잡음 바닥 안이라 판정이 아니고, 기본값으로 바꿀지는 사용자 결정으로 남아 있습니다. 이 충돌들이 비키지 않는 보행자의 인공물인지는 ORCA 짝 비교 TP-0167이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부분은 센서와 sim-to-real입니다. travplan의 인식 경로는 LiDAR 기하라서 사진 같은 렌더링보다 관측 모델이 먼저입니다. 실제로 L0의 허점 하나가 벤치마크를 낙관적으로 만들고 있었던 사례부터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운동학 시뮬은 원래 5 m 원 안의 참 높이를 가림 없이 봤습니다. 2.5D 시선 검사로 가림을 켜자 성공률이 떨어졌고, 실패는 모두 포트홀 둘레였습니다. 낮은 센서에서는 포트홀 앞쪽 턱이 바닥을 가려 음의 장애물이 얕은 오목으로만 보였기 때문입니다. 그림자 상한과 깊이 prior로 다시 40/40이 됐지만, 핵심은 허점 하나가 실제로 숫자를 부풀리고 있었다는 사실입니다.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장소를 시뮬에 넣는 연구들은 공통으로 외형은 3DGS, 충돌은 메시로 나눕니다. 3DGS의 기하가 흐리기 때문입니다. Wanderland는 기하가 부정확한 장면에서는 평가도 fine-tuning도 흔들린다는 것을 보였습니다. TravMap은 높이에서 나오므로 travplan은 카메라보다 기하가 먼저이고, 0.07 m 턱과 0.24 m 턱을 가르려면 LiDAR 융합 스캔이 필요합니다. 사진 같은 렌더링 자체는 카메라 모듈(TP-0022, TP-0011)을 폐루프로 시험할 때 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sim-to-real은 세 가지 일입니다. 넓게 흔들기, 현실에 맞추기, 그리고 시뮬 결과가 현실 순위를 맞히는지 재기입니다. SRCC는 방법별 시뮬 성능과 실물 성능의 Pearson 상관입니다. Habitat에서는 충돌하면 벽을 따라 미끄러지는 허점 하나로 SRCC가 0.18이었고, 고치자 0.844가 됐습니다. 예측력을 재지 않으면 우리 벤치마크의 12/12가 실물에서 무엇을 뜻하는지 알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Habitat의 벽 미끄러짐처럼, 우리 운동학 시뮬에도 낙관적 가정이 일곱 가지 있습니다. 각 가정이 숫자를 얼마나 부풀리는지는 하나씩 켜 보고 재야 압니다. 가림은 이미 재서 대책까지 넣었고, 지연과 드리프트는 선택 항목으로 들어가 한 판에서 치명 실패를 만들었습니다. 다만 한 판의 차이는 잡음 바닥 안일 수 있어서, 판정은 TP-0169의 짝 비교로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부분은 지형과 바퀴입니다. 지형 생성과 난이도 커리큘럼은 성숙했지만, GPU 물리의 바퀴 접촉은 아직 불안정합니다. 그래서 travplan은 바퀴를 물리로 풀지 않고, 운동학 모델에 모듈 한계와 지연을 넣는 쪽을 택합니다.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Isaac Lab의 지형 생성기는 하위 지형을 격자로 깔고 행마다 난이도를 올립니다. 우리도 손으로 만든 시나리오에 난이도 파라미터를 열어 레벨 0에서 3까지 만들었습니다. 레벨 3에서 세 스택이 36–39/40으로 내려왔고, 실패는 모두 시간 초과였으며 같은 몇 지형에 모였습니다. 한 번씩만 돌린 차이라 스택 간 우열은 잡음 바닥 안입니다.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자신도 바퀴형 로봇을 운동학으로 시뮬레이션했습니다. GPU 물리의 바퀴 접촉이 오랫동안 다각형 기둥 근사였기 때문입니다. Sim2Dust는 입자 대신 단단한 면과 랜덤화로 학습해 자갈 위 실물로 옮겼고, 비싼 입자 fine-tuning은 거의 이득이 없었습니다. 다만 자갈 위를 느리게 가는 스키드 스티어 rover 결과라 보도 스워브에 옮길 수 있는 범위는 좁습니다. 변형 지면 엔진(Chrono, Newton MPM)은 잔디·자갈이 요구 사항이 될 때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비동축이라는 한 단어가 두 기구를 가리킵니다. 트레일링 캐스터는 옆으로 더 자유롭지만, AntBot은 오프셋이 바퀴 회전축 방향이라 조향하면 타이어가 끌립니다. 실측해 보니 이 오차는 주로 yaw에 나타나고 제어기의 스크럽 보상 스위치 하나로 12배 줄었습니다. 벤치마크 궤적에서는 조향 범위 한계에 걸리지 않았지만, 정면 보행자를 비켜야 하는 장면에서는 56.2° 한계가 충돌의 원인이었습니다.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기구학은 배울 것이 아니라 식을 쓰면 됩니다. 배울 것은 동역학인데, 설계 문서에서 잰 바로는 스워브 잔차를 지배하는 것이 타이어가 아니라 액추에이터 지연이었습니다. 실제로 MPPI rollout에 지연을 넣자 plant 레벨 3의 치명 실패가 55에서 4로 줄었습니다. 시뮬에서 배운 잔차는 로봇이 아니라 그 시뮬의 타이어 모델일 수 있으므로 다른 엔진으로 교차 검증하는 순서가 중요합니다. AntBot 저장소의 관성값은 차체 Ixx = Iyy = 5.0처럼 placeholder라서, 실물 값이 먼저입니다.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최근 연구 16편을 두 장으로 나눠 살펴봅니다. 엔진 자체를 더 빠르게 만드는 연구보다, 평가를 믿을 수 있게 만드는 장면과 보행자 모델 연구가 많아졌습니다. 첫 장은 엔진, 보도 장면·평가, 보행자 쪽입니다. 사전식 조종과 GROVE는 실물 실험이 없다는 점을 표에 함께 적었습니다.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장은 실측 장면, 바퀴, 변형 지면, sim-to-real 쪽입니다. 바퀴 쪽은 Verti-WM과 Sim2Dust처럼 비싼 접촉 물리 대신 학습 모델과 랜덤화로 실물에 갔습니다. 실측 장면 쪽은 기하 정확도가 평가 신뢰도를 정한다는 결과가 반복됩니다. EmbodiedSplat의 상관은 종류와 샘플 수를 문서에서 확인하지 못했다는 점을 덧붙입니다.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16편의 공통점을 다섯 가지로 정리했습니다. 외형과 충돌의 분리, Isaac 계열이라는 공통 기반, 바퀴 접촉을 정밀하게 풀지 않는 태도, 평가 신뢰도의 별도 측정, 그리고 ORCA 상호 협조 가정에서 벗어나려는 시도입니다. travplan은 엔진과 바퀴에서는 이미 같은 쪽에 있고, 평가 신뢰도 측정이 남은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차이점은 다섯 축으로 정리했습니다. 동역학을 엔진에서 얻느냐 학습하느냐, 장면을 생성하느냐 스캔하느냐, 스캔을 영상으로 하느냐 LiDAR로 하느냐, 보행자를 사건으로 두느냐 반응으로 두느냐, 제약을 가중합으로 두느냐 순위로 나누느냐입니다. 각 축의 오른쪽이 늘 낫지는 않습니다. travplan은 장면은 절차 생성과 실측을 둘 다, 보행자는 평가용 사건과 반응형을 둘 다 쓰는 쪽입니다.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최근 연구에서 가져올 것은 네 가지이고, 가장 먼저는 Isaac 폐루프로 옮길 때의 재현성 측정입니다. 같은 설정을 두 번 돌려 뒤집히는 에피소드가 0이 아니면, Isaac 결과에는 2층 짝 비교만 씁니다. 가져오지 않을 것도 분명히 했습니다. 지형 조건 plant는 이미 rollout 자세마다 slope와 rough로 미끄럼을 넣고 있어서 다시 만들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권고 로드맵은 비용이 싸고 효과가 큰 순서입니다. 1번부터 3번은 CPU에서 도는 L0 작업이라 이미 많이 진행됐고, 지연·드리프트와 반응형 보행자는 짝 비교를 기다립니다. 4번 Isaac 폐루프는 GPU가 복구돼 사용자 실행만 남았습니다. 변형 지면, 관절 물리, world model, 엔진 교체는 요구 사항이 생기기 전까지 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세 문장입니다. 엔진은 Isaac Sim을 유지합니다. 운동학 시뮬의 빈틈은 하나씩 켜서 짝 비교로 잽니다. 실물이 생기면 예측력을 처음부터 재도록 설계합니다. 산업 쪽에서는 Coco Robotics가 같은 엔진을 골랐지만, Coco 공동 저자의 MIMIC 논문은 시뮬 없이 원격조종 로그를 증강했다는 점도 같이 기억해 두면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본문에 단 번호의 참고문헌입니다. 엔진, 장면, 보행자, 렌더링, sim-to-real, 바퀴 순서입니다. 전체 목록과 링크는 리서치 탭 참고문헌 문서의 시뮬레이션 탭에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TRAVPLAN · 챕터 발표 · 시뮬레이션 (§S)</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시뮬레이션은</a:t>
            </a:r>
          </a:p>
          <a:p>
            <a:pPr>
              <a:lnSpc>
                <a:spcPct val="105800"/>
              </a:lnSpc>
            </a:pPr>
            <a:r>
              <a:rPr sz="4600" b="1" i="0">
                <a:solidFill>
                  <a:srgbClr val="F4F1EA"/>
                </a:solidFill>
                <a:latin typeface="Arial"/>
                <a:ea typeface="Malgun Gothic"/>
                <a:cs typeface="Malgun Gothic"/>
              </a:rPr>
              <a:t>네 층이다</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운동학 시뮬, Isaac Sim, 보도 장면, 실물과의 짝 평가 —</a:t>
            </a:r>
          </a:p>
          <a:p>
            <a:pPr>
              <a:lnSpc>
                <a:spcPct val="133400"/>
              </a:lnSpc>
            </a:pPr>
            <a:r>
              <a:rPr sz="1650" b="0" i="0">
                <a:solidFill>
                  <a:srgbClr val="C9D1E0"/>
                </a:solidFill>
                <a:latin typeface="Arial"/>
                <a:ea typeface="Malgun Gothic"/>
                <a:cs typeface="Malgun Gothic"/>
              </a:rPr>
              <a:t>무엇을 믿고, 무엇부터 고칠까</a:t>
            </a:r>
          </a:p>
        </p:txBody>
      </p:sp>
      <p:sp>
        <p:nvSpPr>
          <p:cNvPr id="5" name="Rounded Rectangle 4"/>
          <p:cNvSpPr/>
          <p:nvPr/>
        </p:nvSpPr>
        <p:spPr>
          <a:xfrm>
            <a:off x="812800" y="5765800"/>
            <a:ext cx="1168400"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941070"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§S 시뮬레이션</a:t>
            </a:r>
          </a:p>
        </p:txBody>
      </p:sp>
      <p:sp>
        <p:nvSpPr>
          <p:cNvPr id="7" name="Rounded Rectangle 6"/>
          <p:cNvSpPr/>
          <p:nvPr/>
        </p:nvSpPr>
        <p:spPr>
          <a:xfrm>
            <a:off x="2082800" y="5765800"/>
            <a:ext cx="872927"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2222500" y="5816600"/>
            <a:ext cx="63673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엔진·리그</a:t>
            </a:r>
          </a:p>
        </p:txBody>
      </p:sp>
      <p:sp>
        <p:nvSpPr>
          <p:cNvPr id="9" name="Rounded Rectangle 8"/>
          <p:cNvSpPr/>
          <p:nvPr/>
        </p:nvSpPr>
        <p:spPr>
          <a:xfrm>
            <a:off x="3057327" y="5765800"/>
            <a:ext cx="1316633"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197027" y="5816600"/>
            <a:ext cx="1093750"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보도 장면·보행자</a:t>
            </a:r>
          </a:p>
        </p:txBody>
      </p:sp>
      <p:sp>
        <p:nvSpPr>
          <p:cNvPr id="11" name="Rounded Rectangle 10"/>
          <p:cNvSpPr/>
          <p:nvPr/>
        </p:nvSpPr>
        <p:spPr>
          <a:xfrm>
            <a:off x="4475559" y="5765800"/>
            <a:ext cx="1047849"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615259" y="5816600"/>
            <a:ext cx="816903"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sim-to-real</a:t>
            </a:r>
          </a:p>
        </p:txBody>
      </p:sp>
      <p:sp>
        <p:nvSpPr>
          <p:cNvPr id="13" name="Rounded Rectangle 12"/>
          <p:cNvSpPr/>
          <p:nvPr/>
        </p:nvSpPr>
        <p:spPr>
          <a:xfrm>
            <a:off x="5625009" y="5765800"/>
            <a:ext cx="872927"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5764709" y="5816600"/>
            <a:ext cx="63673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지형·바퀴</a:t>
            </a:r>
          </a:p>
        </p:txBody>
      </p:sp>
      <p:sp>
        <p:nvSpPr>
          <p:cNvPr id="15" name="Rounded Rectangle 14"/>
          <p:cNvSpPr/>
          <p:nvPr/>
        </p:nvSpPr>
        <p:spPr>
          <a:xfrm>
            <a:off x="6599535" y="5765800"/>
            <a:ext cx="1213941" cy="330200"/>
          </a:xfrm>
          <a:prstGeom prst="roundRect">
            <a:avLst>
              <a:gd name="adj" fmla="val 50000"/>
            </a:avLst>
          </a:prstGeom>
          <a:solidFill>
            <a:srgbClr val="C9D1E0"/>
          </a:solidFill>
          <a:ln>
            <a:noFill/>
          </a:ln>
        </p:spPr>
        <p:txBody>
          <a:bodyPr rtlCol="0" anchor="ctr"/>
          <a:lstStyle/>
          <a:p>
            <a:pPr algn="ctr"/>
          </a:p>
        </p:txBody>
      </p:sp>
      <p:sp>
        <p:nvSpPr>
          <p:cNvPr id="16" name="TextBox 15"/>
          <p:cNvSpPr txBox="1"/>
          <p:nvPr/>
        </p:nvSpPr>
        <p:spPr>
          <a:xfrm>
            <a:off x="6739235" y="5816600"/>
            <a:ext cx="98797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최근 연구 16편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목차 · 결론 먼저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지금 가장 값싼 개선은 운동학 시뮬의 빈틈을 메우는 일이다</a:t>
            </a:r>
          </a:p>
        </p:txBody>
      </p:sp>
      <p:sp>
        <p:nvSpPr>
          <p:cNvPr id="4" name="Rounded Rectangle 3"/>
          <p:cNvSpPr/>
          <p:nvPr/>
        </p:nvSpPr>
        <p:spPr>
          <a:xfrm>
            <a:off x="711200" y="1361678"/>
            <a:ext cx="3488234"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856059"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72400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 · 엔진·리그</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Isaac Sim을 유지한다</a:t>
            </a:r>
          </a:p>
        </p:txBody>
      </p:sp>
      <p:sp>
        <p:nvSpPr>
          <p:cNvPr id="12" name="TextBox 11"/>
          <p:cNvSpPr txBox="1"/>
          <p:nvPr/>
        </p:nvSpPr>
        <p:spPr>
          <a:xfrm>
            <a:off x="927100"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엔진 속도와 재현성은 우리 작업으로 직접 잰다.</a:t>
            </a:r>
          </a:p>
        </p:txBody>
      </p:sp>
      <p:sp>
        <p:nvSpPr>
          <p:cNvPr id="13" name="Rounded Rectangle 12"/>
          <p:cNvSpPr/>
          <p:nvPr/>
        </p:nvSpPr>
        <p:spPr>
          <a:xfrm>
            <a:off x="4351834" y="1361678"/>
            <a:ext cx="3488234"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4351834" y="271412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5880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1225848"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110488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보도 장면·보행자</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평가 틀을 빌린다</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SidewalkBench의 세 층. 보행자는 반응과 재현성 사이에서 고른다.</a:t>
            </a:r>
          </a:p>
        </p:txBody>
      </p:sp>
      <p:sp>
        <p:nvSpPr>
          <p:cNvPr id="22" name="Rounded Rectangle 21"/>
          <p:cNvSpPr/>
          <p:nvPr/>
        </p:nvSpPr>
        <p:spPr>
          <a:xfrm>
            <a:off x="7992467" y="1361678"/>
            <a:ext cx="3488234"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992467" y="271412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8208367" y="1507728"/>
            <a:ext cx="1291034"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8297267" y="1533128"/>
            <a:ext cx="117203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3 · 센서·sim-to-real</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허점이 숫자를 부풀린다</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L0의 가림이 그랬다. 예측력(SRCC)을 먼저 설계한다.</a:t>
            </a:r>
          </a:p>
        </p:txBody>
      </p:sp>
      <p:sp>
        <p:nvSpPr>
          <p:cNvPr id="31" name="Rounded Rectangle 30"/>
          <p:cNvSpPr/>
          <p:nvPr/>
        </p:nvSpPr>
        <p:spPr>
          <a:xfrm>
            <a:off x="711200" y="2872879"/>
            <a:ext cx="3488234" cy="1137841"/>
          </a:xfrm>
          <a:prstGeom prst="roundRect">
            <a:avLst>
              <a:gd name="adj" fmla="val 6696"/>
            </a:avLst>
          </a:prstGeom>
          <a:solidFill>
            <a:srgbClr val="FFFDF8"/>
          </a:solidFill>
          <a:ln>
            <a:noFill/>
          </a:ln>
        </p:spPr>
        <p:txBody>
          <a:bodyPr rtlCol="0" anchor="ctr"/>
          <a:lstStyle/>
          <a:p>
            <a:pPr algn="ctr"/>
          </a:p>
        </p:txBody>
      </p:sp>
      <p:sp>
        <p:nvSpPr>
          <p:cNvPr id="32" name="Rectangle 31"/>
          <p:cNvSpPr/>
          <p:nvPr/>
        </p:nvSpPr>
        <p:spPr>
          <a:xfrm>
            <a:off x="711200" y="2872879"/>
            <a:ext cx="3488234" cy="6350"/>
          </a:xfrm>
          <a:prstGeom prst="rect">
            <a:avLst/>
          </a:prstGeom>
          <a:solidFill>
            <a:srgbClr val="D9D4C7"/>
          </a:solidFill>
          <a:ln>
            <a:noFill/>
          </a:ln>
        </p:spPr>
        <p:txBody>
          <a:bodyPr rtlCol="0" anchor="ctr"/>
          <a:lstStyle/>
          <a:p>
            <a:pPr algn="ctr"/>
          </a:p>
        </p:txBody>
      </p:sp>
      <p:sp>
        <p:nvSpPr>
          <p:cNvPr id="33" name="Rectangle 32"/>
          <p:cNvSpPr/>
          <p:nvPr/>
        </p:nvSpPr>
        <p:spPr>
          <a:xfrm>
            <a:off x="4193084" y="2872879"/>
            <a:ext cx="6350" cy="1137841"/>
          </a:xfrm>
          <a:prstGeom prst="rect">
            <a:avLst/>
          </a:prstGeom>
          <a:solidFill>
            <a:srgbClr val="D9D4C7"/>
          </a:solidFill>
          <a:ln>
            <a:noFill/>
          </a:ln>
        </p:spPr>
        <p:txBody>
          <a:bodyPr rtlCol="0" anchor="ctr"/>
          <a:lstStyle/>
          <a:p>
            <a:pPr algn="ctr"/>
          </a:p>
        </p:txBody>
      </p:sp>
      <p:sp>
        <p:nvSpPr>
          <p:cNvPr id="34" name="Rectangle 33"/>
          <p:cNvSpPr/>
          <p:nvPr/>
        </p:nvSpPr>
        <p:spPr>
          <a:xfrm>
            <a:off x="711200" y="4004370"/>
            <a:ext cx="3488234"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2872879"/>
            <a:ext cx="50800" cy="1137841"/>
          </a:xfrm>
          <a:prstGeom prst="roundRect">
            <a:avLst>
              <a:gd name="adj" fmla="val 50000"/>
            </a:avLst>
          </a:prstGeom>
          <a:solidFill>
            <a:srgbClr val="C2410C"/>
          </a:solidFill>
          <a:ln>
            <a:noFill/>
          </a:ln>
        </p:spPr>
        <p:txBody>
          <a:bodyPr rtlCol="0" anchor="ctr"/>
          <a:lstStyle/>
          <a:p>
            <a:pPr algn="ctr"/>
          </a:p>
        </p:txBody>
      </p:sp>
      <p:sp>
        <p:nvSpPr>
          <p:cNvPr id="36" name="Rounded Rectangle 35"/>
          <p:cNvSpPr/>
          <p:nvPr/>
        </p:nvSpPr>
        <p:spPr>
          <a:xfrm>
            <a:off x="927100" y="3018929"/>
            <a:ext cx="856059" cy="241300"/>
          </a:xfrm>
          <a:prstGeom prst="roundRect">
            <a:avLst>
              <a:gd name="adj" fmla="val 50000"/>
            </a:avLst>
          </a:prstGeom>
          <a:solidFill>
            <a:srgbClr val="FDE7C8"/>
          </a:solidFill>
          <a:ln>
            <a:noFill/>
          </a:ln>
        </p:spPr>
        <p:txBody>
          <a:bodyPr rtlCol="0" anchor="ctr"/>
          <a:lstStyle/>
          <a:p>
            <a:pPr algn="ctr"/>
          </a:p>
        </p:txBody>
      </p:sp>
      <p:sp>
        <p:nvSpPr>
          <p:cNvPr id="37" name="TextBox 36"/>
          <p:cNvSpPr txBox="1"/>
          <p:nvPr/>
        </p:nvSpPr>
        <p:spPr>
          <a:xfrm>
            <a:off x="1016000" y="3044329"/>
            <a:ext cx="72400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4 · 지형·바퀴</a:t>
            </a:r>
          </a:p>
        </p:txBody>
      </p:sp>
      <p:sp>
        <p:nvSpPr>
          <p:cNvPr id="38" name="TextBox 37"/>
          <p:cNvSpPr txBox="1"/>
          <p:nvPr/>
        </p:nvSpPr>
        <p:spPr>
          <a:xfrm>
            <a:off x="927100" y="33364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바퀴 접촉은 아직 못 믿는다</a:t>
            </a:r>
          </a:p>
        </p:txBody>
      </p:sp>
      <p:sp>
        <p:nvSpPr>
          <p:cNvPr id="39" name="TextBox 38"/>
          <p:cNvSpPr txBox="1"/>
          <p:nvPr/>
        </p:nvSpPr>
        <p:spPr>
          <a:xfrm>
            <a:off x="927100" y="36437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운동학 모델에 모듈 한계와 지연을 넣고 보정한다.</a:t>
            </a:r>
          </a:p>
        </p:txBody>
      </p:sp>
      <p:sp>
        <p:nvSpPr>
          <p:cNvPr id="40" name="Rounded Rectangle 39"/>
          <p:cNvSpPr/>
          <p:nvPr/>
        </p:nvSpPr>
        <p:spPr>
          <a:xfrm>
            <a:off x="4351834" y="2872879"/>
            <a:ext cx="3488234" cy="1137841"/>
          </a:xfrm>
          <a:prstGeom prst="roundRect">
            <a:avLst>
              <a:gd name="adj" fmla="val 6696"/>
            </a:avLst>
          </a:prstGeom>
          <a:solidFill>
            <a:srgbClr val="FFFDF8"/>
          </a:solidFill>
          <a:ln>
            <a:noFill/>
          </a:ln>
        </p:spPr>
        <p:txBody>
          <a:bodyPr rtlCol="0" anchor="ctr"/>
          <a:lstStyle/>
          <a:p>
            <a:pPr algn="ctr"/>
          </a:p>
        </p:txBody>
      </p:sp>
      <p:sp>
        <p:nvSpPr>
          <p:cNvPr id="41" name="Rectangle 40"/>
          <p:cNvSpPr/>
          <p:nvPr/>
        </p:nvSpPr>
        <p:spPr>
          <a:xfrm>
            <a:off x="4351834" y="2872879"/>
            <a:ext cx="3488234" cy="6350"/>
          </a:xfrm>
          <a:prstGeom prst="rect">
            <a:avLst/>
          </a:prstGeom>
          <a:solidFill>
            <a:srgbClr val="D9D4C7"/>
          </a:solidFill>
          <a:ln>
            <a:noFill/>
          </a:ln>
        </p:spPr>
        <p:txBody>
          <a:bodyPr rtlCol="0" anchor="ctr"/>
          <a:lstStyle/>
          <a:p>
            <a:pPr algn="ctr"/>
          </a:p>
        </p:txBody>
      </p:sp>
      <p:sp>
        <p:nvSpPr>
          <p:cNvPr id="42" name="Rectangle 41"/>
          <p:cNvSpPr/>
          <p:nvPr/>
        </p:nvSpPr>
        <p:spPr>
          <a:xfrm>
            <a:off x="7833717" y="2872879"/>
            <a:ext cx="6350" cy="1137841"/>
          </a:xfrm>
          <a:prstGeom prst="rect">
            <a:avLst/>
          </a:prstGeom>
          <a:solidFill>
            <a:srgbClr val="D9D4C7"/>
          </a:solidFill>
          <a:ln>
            <a:noFill/>
          </a:ln>
        </p:spPr>
        <p:txBody>
          <a:bodyPr rtlCol="0" anchor="ctr"/>
          <a:lstStyle/>
          <a:p>
            <a:pPr algn="ctr"/>
          </a:p>
        </p:txBody>
      </p:sp>
      <p:sp>
        <p:nvSpPr>
          <p:cNvPr id="43" name="Rectangle 42"/>
          <p:cNvSpPr/>
          <p:nvPr/>
        </p:nvSpPr>
        <p:spPr>
          <a:xfrm>
            <a:off x="4351834" y="4004370"/>
            <a:ext cx="3488234" cy="6350"/>
          </a:xfrm>
          <a:prstGeom prst="rect">
            <a:avLst/>
          </a:prstGeom>
          <a:solidFill>
            <a:srgbClr val="D9D4C7"/>
          </a:solidFill>
          <a:ln>
            <a:noFill/>
          </a:ln>
        </p:spPr>
        <p:txBody>
          <a:bodyPr rtlCol="0" anchor="ctr"/>
          <a:lstStyle/>
          <a:p>
            <a:pPr algn="ctr"/>
          </a:p>
        </p:txBody>
      </p:sp>
      <p:sp>
        <p:nvSpPr>
          <p:cNvPr id="44" name="Rounded Rectangle 43"/>
          <p:cNvSpPr/>
          <p:nvPr/>
        </p:nvSpPr>
        <p:spPr>
          <a:xfrm>
            <a:off x="4351834" y="2872879"/>
            <a:ext cx="50800" cy="1137841"/>
          </a:xfrm>
          <a:prstGeom prst="roundRect">
            <a:avLst>
              <a:gd name="adj" fmla="val 50000"/>
            </a:avLst>
          </a:prstGeom>
          <a:solidFill>
            <a:srgbClr val="1D4ED8"/>
          </a:solidFill>
          <a:ln>
            <a:noFill/>
          </a:ln>
        </p:spPr>
        <p:txBody>
          <a:bodyPr rtlCol="0" anchor="ctr"/>
          <a:lstStyle/>
          <a:p>
            <a:pPr algn="ctr"/>
          </a:p>
        </p:txBody>
      </p:sp>
      <p:sp>
        <p:nvSpPr>
          <p:cNvPr id="45" name="Rounded Rectangle 44"/>
          <p:cNvSpPr/>
          <p:nvPr/>
        </p:nvSpPr>
        <p:spPr>
          <a:xfrm>
            <a:off x="4567734" y="3018929"/>
            <a:ext cx="1137245" cy="241300"/>
          </a:xfrm>
          <a:prstGeom prst="roundRect">
            <a:avLst>
              <a:gd name="adj" fmla="val 50000"/>
            </a:avLst>
          </a:prstGeom>
          <a:solidFill>
            <a:srgbClr val="DBE5FB"/>
          </a:solidFill>
          <a:ln>
            <a:noFill/>
          </a:ln>
        </p:spPr>
        <p:txBody>
          <a:bodyPr rtlCol="0" anchor="ctr"/>
          <a:lstStyle/>
          <a:p>
            <a:pPr algn="ctr"/>
          </a:p>
        </p:txBody>
      </p:sp>
      <p:sp>
        <p:nvSpPr>
          <p:cNvPr id="46" name="TextBox 45"/>
          <p:cNvSpPr txBox="1"/>
          <p:nvPr/>
        </p:nvSpPr>
        <p:spPr>
          <a:xfrm>
            <a:off x="4656634" y="3044329"/>
            <a:ext cx="101362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5 · 최근 연구 16편</a:t>
            </a:r>
          </a:p>
        </p:txBody>
      </p:sp>
      <p:sp>
        <p:nvSpPr>
          <p:cNvPr id="47" name="TextBox 46"/>
          <p:cNvSpPr txBox="1"/>
          <p:nvPr/>
        </p:nvSpPr>
        <p:spPr>
          <a:xfrm>
            <a:off x="4567734" y="33364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무게 중심이 평가로 옮겨 갔다</a:t>
            </a:r>
          </a:p>
        </p:txBody>
      </p:sp>
      <p:sp>
        <p:nvSpPr>
          <p:cNvPr id="48" name="TextBox 47"/>
          <p:cNvSpPr txBox="1"/>
          <p:nvPr/>
        </p:nvSpPr>
        <p:spPr>
          <a:xfrm>
            <a:off x="4567734" y="36437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"더 빠른 엔진"에서 "믿을 수 있는 평가"로.</a:t>
            </a:r>
          </a:p>
        </p:txBody>
      </p:sp>
      <p:sp>
        <p:nvSpPr>
          <p:cNvPr id="49" name="Rounded Rectangle 48"/>
          <p:cNvSpPr/>
          <p:nvPr/>
        </p:nvSpPr>
        <p:spPr>
          <a:xfrm>
            <a:off x="7992467" y="2872879"/>
            <a:ext cx="3488234" cy="1137841"/>
          </a:xfrm>
          <a:prstGeom prst="roundRect">
            <a:avLst>
              <a:gd name="adj" fmla="val 6696"/>
            </a:avLst>
          </a:prstGeom>
          <a:solidFill>
            <a:srgbClr val="FFFDF8"/>
          </a:solidFill>
          <a:ln>
            <a:noFill/>
          </a:ln>
        </p:spPr>
        <p:txBody>
          <a:bodyPr rtlCol="0" anchor="ctr"/>
          <a:lstStyle/>
          <a:p>
            <a:pPr algn="ctr"/>
          </a:p>
        </p:txBody>
      </p:sp>
      <p:sp>
        <p:nvSpPr>
          <p:cNvPr id="50" name="Rectangle 49"/>
          <p:cNvSpPr/>
          <p:nvPr/>
        </p:nvSpPr>
        <p:spPr>
          <a:xfrm>
            <a:off x="7992467" y="2872879"/>
            <a:ext cx="3488234" cy="6350"/>
          </a:xfrm>
          <a:prstGeom prst="rect">
            <a:avLst/>
          </a:prstGeom>
          <a:solidFill>
            <a:srgbClr val="D9D4C7"/>
          </a:solidFill>
          <a:ln>
            <a:noFill/>
          </a:ln>
        </p:spPr>
        <p:txBody>
          <a:bodyPr rtlCol="0" anchor="ctr"/>
          <a:lstStyle/>
          <a:p>
            <a:pPr algn="ctr"/>
          </a:p>
        </p:txBody>
      </p:sp>
      <p:sp>
        <p:nvSpPr>
          <p:cNvPr id="51" name="Rectangle 50"/>
          <p:cNvSpPr/>
          <p:nvPr/>
        </p:nvSpPr>
        <p:spPr>
          <a:xfrm>
            <a:off x="11474351" y="2872879"/>
            <a:ext cx="6350" cy="1137841"/>
          </a:xfrm>
          <a:prstGeom prst="rect">
            <a:avLst/>
          </a:prstGeom>
          <a:solidFill>
            <a:srgbClr val="D9D4C7"/>
          </a:solidFill>
          <a:ln>
            <a:noFill/>
          </a:ln>
        </p:spPr>
        <p:txBody>
          <a:bodyPr rtlCol="0" anchor="ctr"/>
          <a:lstStyle/>
          <a:p>
            <a:pPr algn="ctr"/>
          </a:p>
        </p:txBody>
      </p:sp>
      <p:sp>
        <p:nvSpPr>
          <p:cNvPr id="52" name="Rectangle 51"/>
          <p:cNvSpPr/>
          <p:nvPr/>
        </p:nvSpPr>
        <p:spPr>
          <a:xfrm>
            <a:off x="7992467" y="4004370"/>
            <a:ext cx="3488234" cy="6350"/>
          </a:xfrm>
          <a:prstGeom prst="rect">
            <a:avLst/>
          </a:prstGeom>
          <a:solidFill>
            <a:srgbClr val="D9D4C7"/>
          </a:solidFill>
          <a:ln>
            <a:noFill/>
          </a:ln>
        </p:spPr>
        <p:txBody>
          <a:bodyPr rtlCol="0" anchor="ctr"/>
          <a:lstStyle/>
          <a:p>
            <a:pPr algn="ctr"/>
          </a:p>
        </p:txBody>
      </p:sp>
      <p:sp>
        <p:nvSpPr>
          <p:cNvPr id="53" name="Rounded Rectangle 52"/>
          <p:cNvSpPr/>
          <p:nvPr/>
        </p:nvSpPr>
        <p:spPr>
          <a:xfrm>
            <a:off x="7992467" y="2872879"/>
            <a:ext cx="50800" cy="1137841"/>
          </a:xfrm>
          <a:prstGeom prst="roundRect">
            <a:avLst>
              <a:gd name="adj" fmla="val 50000"/>
            </a:avLst>
          </a:prstGeom>
          <a:solidFill>
            <a:srgbClr val="15803D"/>
          </a:solidFill>
          <a:ln>
            <a:noFill/>
          </a:ln>
        </p:spPr>
        <p:txBody>
          <a:bodyPr rtlCol="0" anchor="ctr"/>
          <a:lstStyle/>
          <a:p>
            <a:pPr algn="ctr"/>
          </a:p>
        </p:txBody>
      </p:sp>
      <p:sp>
        <p:nvSpPr>
          <p:cNvPr id="54" name="Rounded Rectangle 53"/>
          <p:cNvSpPr/>
          <p:nvPr/>
        </p:nvSpPr>
        <p:spPr>
          <a:xfrm>
            <a:off x="8208367" y="3018929"/>
            <a:ext cx="584994" cy="241300"/>
          </a:xfrm>
          <a:prstGeom prst="roundRect">
            <a:avLst>
              <a:gd name="adj" fmla="val 50000"/>
            </a:avLst>
          </a:prstGeom>
          <a:solidFill>
            <a:srgbClr val="D7EFDD"/>
          </a:solidFill>
          <a:ln>
            <a:noFill/>
          </a:ln>
        </p:spPr>
        <p:txBody>
          <a:bodyPr rtlCol="0" anchor="ctr"/>
          <a:lstStyle/>
          <a:p>
            <a:pPr algn="ctr"/>
          </a:p>
        </p:txBody>
      </p:sp>
      <p:sp>
        <p:nvSpPr>
          <p:cNvPr id="55" name="TextBox 54"/>
          <p:cNvSpPr txBox="1"/>
          <p:nvPr/>
        </p:nvSpPr>
        <p:spPr>
          <a:xfrm>
            <a:off x="8297267" y="3044329"/>
            <a:ext cx="44481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6 · 권고</a:t>
            </a:r>
          </a:p>
        </p:txBody>
      </p:sp>
      <p:sp>
        <p:nvSpPr>
          <p:cNvPr id="56" name="TextBox 55"/>
          <p:cNvSpPr txBox="1"/>
          <p:nvPr/>
        </p:nvSpPr>
        <p:spPr>
          <a:xfrm>
            <a:off x="8208367" y="33364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L0 → L1 → L2 → L3</a:t>
            </a:r>
          </a:p>
        </p:txBody>
      </p:sp>
      <p:sp>
        <p:nvSpPr>
          <p:cNvPr id="57" name="TextBox 56"/>
          <p:cNvSpPr txBox="1"/>
          <p:nvPr/>
        </p:nvSpPr>
        <p:spPr>
          <a:xfrm>
            <a:off x="8208367" y="36437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싸고 효과가 큰 순서로 간다. TP 번호로 정리했다.</a:t>
            </a:r>
          </a:p>
        </p:txBody>
      </p:sp>
      <p:sp>
        <p:nvSpPr>
          <p:cNvPr id="58" name="Rounded Rectangle 57"/>
          <p:cNvSpPr/>
          <p:nvPr/>
        </p:nvSpPr>
        <p:spPr>
          <a:xfrm>
            <a:off x="711200" y="4188520"/>
            <a:ext cx="10769600" cy="502543"/>
          </a:xfrm>
          <a:prstGeom prst="roundRect">
            <a:avLst>
              <a:gd name="adj" fmla="val 15162"/>
            </a:avLst>
          </a:prstGeom>
          <a:solidFill>
            <a:srgbClr val="16213A"/>
          </a:solidFill>
          <a:ln>
            <a:noFill/>
          </a:ln>
        </p:spPr>
        <p:txBody>
          <a:bodyPr rtlCol="0" anchor="ctr"/>
          <a:lstStyle/>
          <a:p>
            <a:pPr algn="ctr"/>
          </a:p>
        </p:txBody>
      </p:sp>
      <p:sp>
        <p:nvSpPr>
          <p:cNvPr id="59" name="TextBox 58"/>
          <p:cNvSpPr txBox="1"/>
          <p:nvPr/>
        </p:nvSpPr>
        <p:spPr>
          <a:xfrm>
            <a:off x="889000" y="431552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질문은 하나다 — 시뮬의 12/12가 실물에서 무엇을 뜻하는가.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S.0 · 네 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travplan에 필요한 시뮬레이션은 하나가 아니라 네 층이다</a:t>
            </a:r>
          </a:p>
        </p:txBody>
      </p:sp>
      <p:graphicFrame>
        <p:nvGraphicFramePr>
          <p:cNvPr id="4" name="Table 3"/>
          <p:cNvGraphicFramePr>
            <a:graphicFrameLocks noGrp="1"/>
          </p:cNvGraphicFramePr>
          <p:nvPr/>
        </p:nvGraphicFramePr>
        <p:xfrm>
          <a:off x="711200" y="1361678"/>
          <a:ext cx="10769600" cy="1436072"/>
        </p:xfrm>
        <a:graphic>
          <a:graphicData uri="http://schemas.openxmlformats.org/drawingml/2006/table">
            <a:tbl>
              <a:tblPr firstRow="0" bandRow="0">
                <a:tableStyleId>{5C22544A-7EE6-4342-B048-85BDC9FD1C3A}</a:tableStyleId>
              </a:tblPr>
              <a:tblGrid>
                <a:gridCol w="495300"/>
                <a:gridCol w="4156670"/>
                <a:gridCol w="4005957"/>
                <a:gridCol w="2111673"/>
              </a:tblGrid>
              <a:tr h="263634">
                <a:tc>
                  <a:txBody>
                    <a:bodyPr wrap="square"/>
                    <a:lstStyle/>
                    <a:p>
                      <a:r>
                        <a:rPr sz="10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무엇으로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무엇을 검증하나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비용</a:t>
                      </a:r>
                    </a:p>
                  </a:txBody>
                  <a:tcPr marL="76200" marR="76200" marT="25400" marB="25400">
                    <a:solidFill>
                      <a:srgbClr val="16213A"/>
                    </a:solidFill>
                  </a:tcPr>
                </a:tc>
              </a:tr>
              <a:tr h="255538">
                <a:tc>
                  <a:txBody>
                    <a:bodyPr wrap="square"/>
                    <a:lstStyle/>
                    <a:p>
                      <a:r>
                        <a:rPr sz="1000" b="1" i="0">
                          <a:solidFill>
                            <a:srgbClr val="16213A"/>
                          </a:solidFill>
                          <a:latin typeface="Arial"/>
                          <a:ea typeface="Malgun Gothic"/>
                          <a:cs typeface="Malgun Gothic"/>
                        </a:rPr>
                        <a:t>L0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운동학 시뮬 </a:t>
                      </a:r>
                      <a:r>
                        <a:rPr sz="850" b="0" i="0">
                          <a:solidFill>
                            <a:srgbClr val="7C2D12"/>
                          </a:solidFill>
                          <a:latin typeface="Consolas"/>
                          <a:ea typeface="Malgun Gothic"/>
                          <a:cs typeface="Malgun Gothic"/>
                        </a:rPr>
                        <a:t>sim/kinematic_sim.py</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Planner 학습 데이터, 스택 폐루프 비교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에피소드당 수 초, CPU</a:t>
                      </a:r>
                    </a:p>
                  </a:txBody>
                  <a:tcPr marL="76200" marR="76200" marT="25400" marB="25400">
                    <a:solidFill>
                      <a:srgbClr val="F1EDE4"/>
                    </a:solidFill>
                  </a:tcPr>
                </a:tc>
              </a:tr>
              <a:tr h="255538">
                <a:tc>
                  <a:txBody>
                    <a:bodyPr wrap="square"/>
                    <a:lstStyle/>
                    <a:p>
                      <a:r>
                        <a:rPr sz="1000" b="1" i="0">
                          <a:solidFill>
                            <a:srgbClr val="16213A"/>
                          </a:solidFill>
                          <a:latin typeface="Arial"/>
                          <a:ea typeface="Malgun Gothic"/>
                          <a:cs typeface="Malgun Gothic"/>
                        </a:rPr>
                        <a:t>L1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Isaac Sim 6.x + ROS 2 Jazzy (P1)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LiDAR → elevation map → TravMap → 스택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실시간, GPU 1장</a:t>
                      </a:r>
                    </a:p>
                  </a:txBody>
                  <a:tcPr marL="76200" marR="76200" marT="25400" marB="25400">
                    <a:solidFill>
                      <a:srgbClr val="FFFDF8"/>
                    </a:solidFill>
                  </a:tcPr>
                </a:tc>
              </a:tr>
              <a:tr h="408523">
                <a:tc>
                  <a:txBody>
                    <a:bodyPr wrap="square"/>
                    <a:lstStyle/>
                    <a:p>
                      <a:r>
                        <a:rPr sz="1000" b="1" i="0">
                          <a:solidFill>
                            <a:srgbClr val="16213A"/>
                          </a:solidFill>
                          <a:latin typeface="Arial"/>
                          <a:ea typeface="Malgun Gothic"/>
                          <a:cs typeface="Malgun Gothic"/>
                        </a:rPr>
                        <a:t>L2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보도 전용 장면·벤치마크</a:t>
                      </a:r>
                    </a:p>
                    <a:p>
                      <a:r>
                        <a:rPr sz="1000" b="0" i="0">
                          <a:solidFill>
                            <a:srgbClr val="16213A"/>
                          </a:solidFill>
                          <a:latin typeface="Arial"/>
                          <a:ea typeface="Malgun Gothic"/>
                          <a:cs typeface="Malgun Gothic"/>
                        </a:rPr>
                        <a:t>(URBAN-SIM, UrbanVerse, SidewalkBench)</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장면 다양성, 보행자 상호작용, 장거리 주행</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GPU 12 GB 이상</a:t>
                      </a:r>
                    </a:p>
                  </a:txBody>
                  <a:tcPr marL="76200" marR="76200" marT="25400" marB="25400">
                    <a:solidFill>
                      <a:srgbClr val="F1EDE4"/>
                    </a:solidFill>
                  </a:tcPr>
                </a:tc>
              </a:tr>
              <a:tr h="252839">
                <a:tc>
                  <a:txBody>
                    <a:bodyPr wrap="square"/>
                    <a:lstStyle/>
                    <a:p>
                      <a:r>
                        <a:rPr sz="1000" b="1" i="0">
                          <a:solidFill>
                            <a:srgbClr val="16213A"/>
                          </a:solidFill>
                          <a:latin typeface="Arial"/>
                          <a:ea typeface="Malgun Gothic"/>
                          <a:cs typeface="Malgun Gothic"/>
                        </a:rPr>
                        <a:t>L3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실물과 시뮬의 짝 평가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시뮬 순위가 실물 순위를 맞히는가 (SRCC)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실물 로봇 필요</a:t>
                      </a:r>
                    </a:p>
                  </a:txBody>
                  <a:tcPr marL="76200" marR="76200" marT="25400" marB="25400">
                    <a:solidFill>
                      <a:srgbClr val="FFFDF8"/>
                    </a:solidFill>
                  </a:tcPr>
                </a:tc>
              </a:tr>
            </a:tbl>
          </a:graphicData>
        </a:graphic>
      </p:graphicFrame>
      <p:sp>
        <p:nvSpPr>
          <p:cNvPr id="5" name="Rounded Rectangle 4"/>
          <p:cNvSpPr/>
          <p:nvPr/>
        </p:nvSpPr>
        <p:spPr>
          <a:xfrm>
            <a:off x="711200" y="3228975"/>
            <a:ext cx="2418358" cy="741660"/>
          </a:xfrm>
          <a:prstGeom prst="roundRect">
            <a:avLst>
              <a:gd name="adj" fmla="val 8561"/>
            </a:avLst>
          </a:prstGeom>
          <a:solidFill>
            <a:srgbClr val="FFFDF8"/>
          </a:solidFill>
          <a:ln>
            <a:noFill/>
          </a:ln>
        </p:spPr>
        <p:txBody>
          <a:bodyPr rtlCol="0" anchor="ctr"/>
          <a:lstStyle/>
          <a:p>
            <a:pPr algn="ctr"/>
          </a:p>
        </p:txBody>
      </p:sp>
      <p:sp>
        <p:nvSpPr>
          <p:cNvPr id="6" name="Rectangle 5"/>
          <p:cNvSpPr/>
          <p:nvPr/>
        </p:nvSpPr>
        <p:spPr>
          <a:xfrm>
            <a:off x="711200" y="3228975"/>
            <a:ext cx="2418358" cy="38100"/>
          </a:xfrm>
          <a:prstGeom prst="rect">
            <a:avLst/>
          </a:prstGeom>
          <a:solidFill>
            <a:srgbClr val="C2410C"/>
          </a:solidFill>
          <a:ln>
            <a:noFill/>
          </a:ln>
        </p:spPr>
        <p:txBody>
          <a:bodyPr rtlCol="0" anchor="ctr"/>
          <a:lstStyle/>
          <a:p>
            <a:pPr algn="ctr"/>
          </a:p>
        </p:txBody>
      </p:sp>
      <p:sp>
        <p:nvSpPr>
          <p:cNvPr id="7" name="Rectangle 6"/>
          <p:cNvSpPr/>
          <p:nvPr/>
        </p:nvSpPr>
        <p:spPr>
          <a:xfrm>
            <a:off x="3123208" y="3228975"/>
            <a:ext cx="6350" cy="741660"/>
          </a:xfrm>
          <a:prstGeom prst="rect">
            <a:avLst/>
          </a:prstGeom>
          <a:solidFill>
            <a:srgbClr val="D9D4C7"/>
          </a:solidFill>
          <a:ln>
            <a:noFill/>
          </a:ln>
        </p:spPr>
        <p:txBody>
          <a:bodyPr rtlCol="0" anchor="ctr"/>
          <a:lstStyle/>
          <a:p>
            <a:pPr algn="ctr"/>
          </a:p>
        </p:txBody>
      </p:sp>
      <p:sp>
        <p:nvSpPr>
          <p:cNvPr id="8" name="Rectangle 7"/>
          <p:cNvSpPr/>
          <p:nvPr/>
        </p:nvSpPr>
        <p:spPr>
          <a:xfrm>
            <a:off x="711200" y="3964285"/>
            <a:ext cx="2418358" cy="6350"/>
          </a:xfrm>
          <a:prstGeom prst="rect">
            <a:avLst/>
          </a:prstGeom>
          <a:solidFill>
            <a:srgbClr val="D9D4C7"/>
          </a:solidFill>
          <a:ln>
            <a:noFill/>
          </a:ln>
        </p:spPr>
        <p:txBody>
          <a:bodyPr rtlCol="0" anchor="ctr"/>
          <a:lstStyle/>
          <a:p>
            <a:pPr algn="ctr"/>
          </a:p>
        </p:txBody>
      </p:sp>
      <p:sp>
        <p:nvSpPr>
          <p:cNvPr id="9" name="Rectangle 8"/>
          <p:cNvSpPr/>
          <p:nvPr/>
        </p:nvSpPr>
        <p:spPr>
          <a:xfrm>
            <a:off x="711200" y="3228975"/>
            <a:ext cx="6350" cy="741660"/>
          </a:xfrm>
          <a:prstGeom prst="rect">
            <a:avLst/>
          </a:prstGeom>
          <a:solidFill>
            <a:srgbClr val="D9D4C7"/>
          </a:solidFill>
          <a:ln>
            <a:noFill/>
          </a:ln>
        </p:spPr>
        <p:txBody>
          <a:bodyPr rtlCol="0" anchor="ctr"/>
          <a:lstStyle/>
          <a:p>
            <a:pPr algn="ctr"/>
          </a:p>
        </p:txBody>
      </p:sp>
      <p:sp>
        <p:nvSpPr>
          <p:cNvPr id="10" name="TextBox 9"/>
          <p:cNvSpPr txBox="1"/>
          <p:nvPr/>
        </p:nvSpPr>
        <p:spPr>
          <a:xfrm>
            <a:off x="831850" y="3368675"/>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L0 운동학</a:t>
            </a:r>
          </a:p>
        </p:txBody>
      </p:sp>
      <p:sp>
        <p:nvSpPr>
          <p:cNvPr id="11" name="TextBox 10"/>
          <p:cNvSpPr txBox="1"/>
          <p:nvPr/>
        </p:nvSpPr>
        <p:spPr>
          <a:xfrm>
            <a:off x="831850" y="3667125"/>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벤치마크가 매일 돈다</a:t>
            </a:r>
          </a:p>
        </p:txBody>
      </p:sp>
      <p:sp>
        <p:nvSpPr>
          <p:cNvPr id="12" name="TextBox 11"/>
          <p:cNvSpPr txBox="1"/>
          <p:nvPr/>
        </p:nvSpPr>
        <p:spPr>
          <a:xfrm>
            <a:off x="3218458" y="342830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3" name="Rounded Rectangle 12"/>
          <p:cNvSpPr/>
          <p:nvPr/>
        </p:nvSpPr>
        <p:spPr>
          <a:xfrm>
            <a:off x="3494881" y="3228975"/>
            <a:ext cx="2418457" cy="741660"/>
          </a:xfrm>
          <a:prstGeom prst="roundRect">
            <a:avLst>
              <a:gd name="adj" fmla="val 8561"/>
            </a:avLst>
          </a:prstGeom>
          <a:solidFill>
            <a:srgbClr val="FFFDF8"/>
          </a:solidFill>
          <a:ln>
            <a:noFill/>
          </a:ln>
        </p:spPr>
        <p:txBody>
          <a:bodyPr rtlCol="0" anchor="ctr"/>
          <a:lstStyle/>
          <a:p>
            <a:pPr algn="ctr"/>
          </a:p>
        </p:txBody>
      </p:sp>
      <p:sp>
        <p:nvSpPr>
          <p:cNvPr id="14" name="Rectangle 13"/>
          <p:cNvSpPr/>
          <p:nvPr/>
        </p:nvSpPr>
        <p:spPr>
          <a:xfrm>
            <a:off x="3494881" y="3228975"/>
            <a:ext cx="2418457" cy="38100"/>
          </a:xfrm>
          <a:prstGeom prst="rect">
            <a:avLst/>
          </a:prstGeom>
          <a:solidFill>
            <a:srgbClr val="C2410C"/>
          </a:solidFill>
          <a:ln>
            <a:noFill/>
          </a:ln>
        </p:spPr>
        <p:txBody>
          <a:bodyPr rtlCol="0" anchor="ctr"/>
          <a:lstStyle/>
          <a:p>
            <a:pPr algn="ctr"/>
          </a:p>
        </p:txBody>
      </p:sp>
      <p:sp>
        <p:nvSpPr>
          <p:cNvPr id="15" name="Rectangle 14"/>
          <p:cNvSpPr/>
          <p:nvPr/>
        </p:nvSpPr>
        <p:spPr>
          <a:xfrm>
            <a:off x="5906988" y="3228975"/>
            <a:ext cx="6350" cy="741660"/>
          </a:xfrm>
          <a:prstGeom prst="rect">
            <a:avLst/>
          </a:prstGeom>
          <a:solidFill>
            <a:srgbClr val="D9D4C7"/>
          </a:solidFill>
          <a:ln>
            <a:noFill/>
          </a:ln>
        </p:spPr>
        <p:txBody>
          <a:bodyPr rtlCol="0" anchor="ctr"/>
          <a:lstStyle/>
          <a:p>
            <a:pPr algn="ctr"/>
          </a:p>
        </p:txBody>
      </p:sp>
      <p:sp>
        <p:nvSpPr>
          <p:cNvPr id="16" name="Rectangle 15"/>
          <p:cNvSpPr/>
          <p:nvPr/>
        </p:nvSpPr>
        <p:spPr>
          <a:xfrm>
            <a:off x="3494881" y="3964285"/>
            <a:ext cx="2418457" cy="6350"/>
          </a:xfrm>
          <a:prstGeom prst="rect">
            <a:avLst/>
          </a:prstGeom>
          <a:solidFill>
            <a:srgbClr val="D9D4C7"/>
          </a:solidFill>
          <a:ln>
            <a:noFill/>
          </a:ln>
        </p:spPr>
        <p:txBody>
          <a:bodyPr rtlCol="0" anchor="ctr"/>
          <a:lstStyle/>
          <a:p>
            <a:pPr algn="ctr"/>
          </a:p>
        </p:txBody>
      </p:sp>
      <p:sp>
        <p:nvSpPr>
          <p:cNvPr id="17" name="Rectangle 16"/>
          <p:cNvSpPr/>
          <p:nvPr/>
        </p:nvSpPr>
        <p:spPr>
          <a:xfrm>
            <a:off x="3494881" y="3228975"/>
            <a:ext cx="6350" cy="741660"/>
          </a:xfrm>
          <a:prstGeom prst="rect">
            <a:avLst/>
          </a:prstGeom>
          <a:solidFill>
            <a:srgbClr val="D9D4C7"/>
          </a:solidFill>
          <a:ln>
            <a:noFill/>
          </a:ln>
        </p:spPr>
        <p:txBody>
          <a:bodyPr rtlCol="0" anchor="ctr"/>
          <a:lstStyle/>
          <a:p>
            <a:pPr algn="ctr"/>
          </a:p>
        </p:txBody>
      </p:sp>
      <p:sp>
        <p:nvSpPr>
          <p:cNvPr id="18" name="TextBox 17"/>
          <p:cNvSpPr txBox="1"/>
          <p:nvPr/>
        </p:nvSpPr>
        <p:spPr>
          <a:xfrm>
            <a:off x="3615531" y="3368675"/>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L1 Isaac</a:t>
            </a:r>
          </a:p>
        </p:txBody>
      </p:sp>
      <p:sp>
        <p:nvSpPr>
          <p:cNvPr id="19" name="TextBox 18"/>
          <p:cNvSpPr txBox="1"/>
          <p:nvPr/>
        </p:nvSpPr>
        <p:spPr>
          <a:xfrm>
            <a:off x="3615531" y="3667125"/>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TP-0005 사용자 실행 대기</a:t>
            </a:r>
          </a:p>
        </p:txBody>
      </p:sp>
      <p:sp>
        <p:nvSpPr>
          <p:cNvPr id="20" name="TextBox 19"/>
          <p:cNvSpPr txBox="1"/>
          <p:nvPr/>
        </p:nvSpPr>
        <p:spPr>
          <a:xfrm>
            <a:off x="6002238" y="342830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1" name="Rounded Rectangle 20"/>
          <p:cNvSpPr/>
          <p:nvPr/>
        </p:nvSpPr>
        <p:spPr>
          <a:xfrm>
            <a:off x="6278662" y="3228975"/>
            <a:ext cx="2418358" cy="741660"/>
          </a:xfrm>
          <a:prstGeom prst="roundRect">
            <a:avLst>
              <a:gd name="adj" fmla="val 8561"/>
            </a:avLst>
          </a:prstGeom>
          <a:solidFill>
            <a:srgbClr val="FFFDF8"/>
          </a:solidFill>
          <a:ln>
            <a:noFill/>
          </a:ln>
        </p:spPr>
        <p:txBody>
          <a:bodyPr rtlCol="0" anchor="ctr"/>
          <a:lstStyle/>
          <a:p>
            <a:pPr algn="ctr"/>
          </a:p>
        </p:txBody>
      </p:sp>
      <p:sp>
        <p:nvSpPr>
          <p:cNvPr id="22" name="Rectangle 21"/>
          <p:cNvSpPr/>
          <p:nvPr/>
        </p:nvSpPr>
        <p:spPr>
          <a:xfrm>
            <a:off x="6278662" y="3228975"/>
            <a:ext cx="2418358" cy="38100"/>
          </a:xfrm>
          <a:prstGeom prst="rect">
            <a:avLst/>
          </a:prstGeom>
          <a:solidFill>
            <a:srgbClr val="C2410C"/>
          </a:solidFill>
          <a:ln>
            <a:noFill/>
          </a:ln>
        </p:spPr>
        <p:txBody>
          <a:bodyPr rtlCol="0" anchor="ctr"/>
          <a:lstStyle/>
          <a:p>
            <a:pPr algn="ctr"/>
          </a:p>
        </p:txBody>
      </p:sp>
      <p:sp>
        <p:nvSpPr>
          <p:cNvPr id="23" name="Rectangle 22"/>
          <p:cNvSpPr/>
          <p:nvPr/>
        </p:nvSpPr>
        <p:spPr>
          <a:xfrm>
            <a:off x="8690670" y="3228975"/>
            <a:ext cx="6350" cy="741660"/>
          </a:xfrm>
          <a:prstGeom prst="rect">
            <a:avLst/>
          </a:prstGeom>
          <a:solidFill>
            <a:srgbClr val="D9D4C7"/>
          </a:solidFill>
          <a:ln>
            <a:noFill/>
          </a:ln>
        </p:spPr>
        <p:txBody>
          <a:bodyPr rtlCol="0" anchor="ctr"/>
          <a:lstStyle/>
          <a:p>
            <a:pPr algn="ctr"/>
          </a:p>
        </p:txBody>
      </p:sp>
      <p:sp>
        <p:nvSpPr>
          <p:cNvPr id="24" name="Rectangle 23"/>
          <p:cNvSpPr/>
          <p:nvPr/>
        </p:nvSpPr>
        <p:spPr>
          <a:xfrm>
            <a:off x="6278662" y="3964285"/>
            <a:ext cx="2418358" cy="6350"/>
          </a:xfrm>
          <a:prstGeom prst="rect">
            <a:avLst/>
          </a:prstGeom>
          <a:solidFill>
            <a:srgbClr val="D9D4C7"/>
          </a:solidFill>
          <a:ln>
            <a:noFill/>
          </a:ln>
        </p:spPr>
        <p:txBody>
          <a:bodyPr rtlCol="0" anchor="ctr"/>
          <a:lstStyle/>
          <a:p>
            <a:pPr algn="ctr"/>
          </a:p>
        </p:txBody>
      </p:sp>
      <p:sp>
        <p:nvSpPr>
          <p:cNvPr id="25" name="Rectangle 24"/>
          <p:cNvSpPr/>
          <p:nvPr/>
        </p:nvSpPr>
        <p:spPr>
          <a:xfrm>
            <a:off x="6278662" y="3228975"/>
            <a:ext cx="6350" cy="741660"/>
          </a:xfrm>
          <a:prstGeom prst="rect">
            <a:avLst/>
          </a:prstGeom>
          <a:solidFill>
            <a:srgbClr val="D9D4C7"/>
          </a:solidFill>
          <a:ln>
            <a:noFill/>
          </a:ln>
        </p:spPr>
        <p:txBody>
          <a:bodyPr rtlCol="0" anchor="ctr"/>
          <a:lstStyle/>
          <a:p>
            <a:pPr algn="ctr"/>
          </a:p>
        </p:txBody>
      </p:sp>
      <p:sp>
        <p:nvSpPr>
          <p:cNvPr id="26" name="TextBox 25"/>
          <p:cNvSpPr txBox="1"/>
          <p:nvPr/>
        </p:nvSpPr>
        <p:spPr>
          <a:xfrm>
            <a:off x="6399312" y="3368675"/>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L2 보도 장면</a:t>
            </a:r>
          </a:p>
        </p:txBody>
      </p:sp>
      <p:sp>
        <p:nvSpPr>
          <p:cNvPr id="27" name="TextBox 26"/>
          <p:cNvSpPr txBox="1"/>
          <p:nvPr/>
        </p:nvSpPr>
        <p:spPr>
          <a:xfrm>
            <a:off x="6399312" y="3667125"/>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TP-0041 조사·PoC</a:t>
            </a:r>
          </a:p>
        </p:txBody>
      </p:sp>
      <p:sp>
        <p:nvSpPr>
          <p:cNvPr id="28" name="TextBox 27"/>
          <p:cNvSpPr txBox="1"/>
          <p:nvPr/>
        </p:nvSpPr>
        <p:spPr>
          <a:xfrm>
            <a:off x="8785920" y="342830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9" name="Rounded Rectangle 28"/>
          <p:cNvSpPr/>
          <p:nvPr/>
        </p:nvSpPr>
        <p:spPr>
          <a:xfrm>
            <a:off x="9062343" y="3228975"/>
            <a:ext cx="2418457" cy="741660"/>
          </a:xfrm>
          <a:prstGeom prst="roundRect">
            <a:avLst>
              <a:gd name="adj" fmla="val 8561"/>
            </a:avLst>
          </a:prstGeom>
          <a:solidFill>
            <a:srgbClr val="FFFDF8"/>
          </a:solidFill>
          <a:ln>
            <a:noFill/>
          </a:ln>
        </p:spPr>
        <p:txBody>
          <a:bodyPr rtlCol="0" anchor="ctr"/>
          <a:lstStyle/>
          <a:p>
            <a:pPr algn="ctr"/>
          </a:p>
        </p:txBody>
      </p:sp>
      <p:sp>
        <p:nvSpPr>
          <p:cNvPr id="30" name="Rectangle 29"/>
          <p:cNvSpPr/>
          <p:nvPr/>
        </p:nvSpPr>
        <p:spPr>
          <a:xfrm>
            <a:off x="9062343" y="3228975"/>
            <a:ext cx="2418457" cy="38100"/>
          </a:xfrm>
          <a:prstGeom prst="rect">
            <a:avLst/>
          </a:prstGeom>
          <a:solidFill>
            <a:srgbClr val="C2410C"/>
          </a:solidFill>
          <a:ln>
            <a:noFill/>
          </a:ln>
        </p:spPr>
        <p:txBody>
          <a:bodyPr rtlCol="0" anchor="ctr"/>
          <a:lstStyle/>
          <a:p>
            <a:pPr algn="ctr"/>
          </a:p>
        </p:txBody>
      </p:sp>
      <p:sp>
        <p:nvSpPr>
          <p:cNvPr id="31" name="Rectangle 30"/>
          <p:cNvSpPr/>
          <p:nvPr/>
        </p:nvSpPr>
        <p:spPr>
          <a:xfrm>
            <a:off x="11474450" y="3228975"/>
            <a:ext cx="6350" cy="741660"/>
          </a:xfrm>
          <a:prstGeom prst="rect">
            <a:avLst/>
          </a:prstGeom>
          <a:solidFill>
            <a:srgbClr val="D9D4C7"/>
          </a:solidFill>
          <a:ln>
            <a:noFill/>
          </a:ln>
        </p:spPr>
        <p:txBody>
          <a:bodyPr rtlCol="0" anchor="ctr"/>
          <a:lstStyle/>
          <a:p>
            <a:pPr algn="ctr"/>
          </a:p>
        </p:txBody>
      </p:sp>
      <p:sp>
        <p:nvSpPr>
          <p:cNvPr id="32" name="Rectangle 31"/>
          <p:cNvSpPr/>
          <p:nvPr/>
        </p:nvSpPr>
        <p:spPr>
          <a:xfrm>
            <a:off x="9062343" y="3964285"/>
            <a:ext cx="2418457" cy="6350"/>
          </a:xfrm>
          <a:prstGeom prst="rect">
            <a:avLst/>
          </a:prstGeom>
          <a:solidFill>
            <a:srgbClr val="D9D4C7"/>
          </a:solidFill>
          <a:ln>
            <a:noFill/>
          </a:ln>
        </p:spPr>
        <p:txBody>
          <a:bodyPr rtlCol="0" anchor="ctr"/>
          <a:lstStyle/>
          <a:p>
            <a:pPr algn="ctr"/>
          </a:p>
        </p:txBody>
      </p:sp>
      <p:sp>
        <p:nvSpPr>
          <p:cNvPr id="33" name="Rectangle 32"/>
          <p:cNvSpPr/>
          <p:nvPr/>
        </p:nvSpPr>
        <p:spPr>
          <a:xfrm>
            <a:off x="9062343" y="3228975"/>
            <a:ext cx="6350" cy="741660"/>
          </a:xfrm>
          <a:prstGeom prst="rect">
            <a:avLst/>
          </a:prstGeom>
          <a:solidFill>
            <a:srgbClr val="D9D4C7"/>
          </a:solidFill>
          <a:ln>
            <a:noFill/>
          </a:ln>
        </p:spPr>
        <p:txBody>
          <a:bodyPr rtlCol="0" anchor="ctr"/>
          <a:lstStyle/>
          <a:p>
            <a:pPr algn="ctr"/>
          </a:p>
        </p:txBody>
      </p:sp>
      <p:sp>
        <p:nvSpPr>
          <p:cNvPr id="34" name="TextBox 33"/>
          <p:cNvSpPr txBox="1"/>
          <p:nvPr/>
        </p:nvSpPr>
        <p:spPr>
          <a:xfrm>
            <a:off x="9182993" y="3368675"/>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L3 실물</a:t>
            </a:r>
          </a:p>
        </p:txBody>
      </p:sp>
      <p:sp>
        <p:nvSpPr>
          <p:cNvPr id="35" name="TextBox 34"/>
          <p:cNvSpPr txBox="1"/>
          <p:nvPr/>
        </p:nvSpPr>
        <p:spPr>
          <a:xfrm>
            <a:off x="9182993" y="3667125"/>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TP-0043 SRCC 프로토콜</a:t>
            </a:r>
          </a:p>
        </p:txBody>
      </p:sp>
      <p:sp>
        <p:nvSpPr>
          <p:cNvPr id="36" name="TextBox 35"/>
          <p:cNvSpPr txBox="1"/>
          <p:nvPr/>
        </p:nvSpPr>
        <p:spPr>
          <a:xfrm>
            <a:off x="711200" y="4148435"/>
            <a:ext cx="11118088"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주의: 여기의 L0–L3는 시뮬 층이다. 벤치마크의 인식 단계 </a:t>
            </a:r>
            <a:r>
              <a:rPr sz="900" b="0" i="0">
                <a:solidFill>
                  <a:srgbClr val="7C2D12"/>
                </a:solidFill>
                <a:latin typeface="Consolas"/>
                <a:ea typeface="Malgun Gothic"/>
                <a:cs typeface="Malgun Gothic"/>
              </a:rPr>
              <a:t>--perception l0</a:t>
            </a:r>
            <a:r>
              <a:rPr sz="1050" b="0" i="0">
                <a:solidFill>
                  <a:srgbClr val="5A6478"/>
                </a:solidFill>
                <a:latin typeface="Arial"/>
                <a:ea typeface="Malgun Gothic"/>
                <a:cs typeface="Malgun Gothic"/>
              </a:rPr>
              <a:t>·</a:t>
            </a:r>
            <a:r>
              <a:rPr sz="900" b="0" i="0">
                <a:solidFill>
                  <a:srgbClr val="7C2D12"/>
                </a:solidFill>
                <a:latin typeface="Consolas"/>
                <a:ea typeface="Malgun Gothic"/>
                <a:cs typeface="Malgun Gothic"/>
              </a:rPr>
              <a:t>l1</a:t>
            </a:r>
            <a:r>
              <a:rPr sz="1050" b="0" i="0">
                <a:solidFill>
                  <a:srgbClr val="5A6478"/>
                </a:solidFill>
                <a:latin typeface="Arial"/>
                <a:ea typeface="Malgun Gothic"/>
                <a:cs typeface="Malgun Gothic"/>
              </a:rPr>
              <a:t>(합성 LiDAR → elevation_mapping_cupy)과는 다른 축이다.</a:t>
            </a:r>
          </a:p>
        </p:txBody>
      </p:sp>
      <p:sp>
        <p:nvSpPr>
          <p:cNvPr id="37" name="Rounded Rectangle 36"/>
          <p:cNvSpPr/>
          <p:nvPr/>
        </p:nvSpPr>
        <p:spPr>
          <a:xfrm>
            <a:off x="711200" y="4521795"/>
            <a:ext cx="10769600" cy="502543"/>
          </a:xfrm>
          <a:prstGeom prst="roundRect">
            <a:avLst>
              <a:gd name="adj" fmla="val 15162"/>
            </a:avLst>
          </a:prstGeom>
          <a:solidFill>
            <a:srgbClr val="16213A"/>
          </a:solidFill>
          <a:ln>
            <a:noFill/>
          </a:ln>
        </p:spPr>
        <p:txBody>
          <a:bodyPr rtlCol="0" anchor="ctr"/>
          <a:lstStyle/>
          <a:p>
            <a:pPr algn="ctr"/>
          </a:p>
        </p:txBody>
      </p:sp>
      <p:sp>
        <p:nvSpPr>
          <p:cNvPr id="38" name="TextBox 37"/>
          <p:cNvSpPr txBox="1"/>
          <p:nvPr/>
        </p:nvSpPr>
        <p:spPr>
          <a:xfrm>
            <a:off x="889000" y="464879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지금 도는 것은 L0다. L1 Isaac 폐루프(TP-0005)는 사용자 실행 대기다.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S.0 · 오늘의 L0</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오늘의 L0는 운동학 시뮬이고, 지형은 Isaac과 한 곳에서 정의한다</a:t>
            </a:r>
          </a:p>
        </p:txBody>
      </p:sp>
      <p:sp>
        <p:nvSpPr>
          <p:cNvPr id="4" name="TextBox 3"/>
          <p:cNvSpPr txBox="1"/>
          <p:nvPr/>
        </p:nvSpPr>
        <p:spPr>
          <a:xfrm>
            <a:off x="749300" y="136167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벤치마크 시나리오 4개(연석·램프, 요철·포트홀, 경사·횡경사, 혼합), 0.05 m 높이장</a:t>
            </a:r>
          </a:p>
        </p:txBody>
      </p:sp>
      <p:sp>
        <p:nvSpPr>
          <p:cNvPr id="5" name="TextBox 4"/>
          <p:cNvSpPr txBox="1"/>
          <p:nvPr/>
        </p:nvSpPr>
        <p:spPr>
          <a:xfrm>
            <a:off x="749300" y="192047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지형은 </a:t>
            </a:r>
            <a:r>
              <a:rPr sz="1050" b="0" i="0">
                <a:solidFill>
                  <a:srgbClr val="7C2D12"/>
                </a:solidFill>
                <a:latin typeface="Consolas"/>
                <a:ea typeface="Malgun Gothic"/>
                <a:cs typeface="Malgun Gothic"/>
              </a:rPr>
              <a:t>sim/terrain.py</a:t>
            </a:r>
            <a:r>
              <a:rPr sz="1250" b="0" i="0">
                <a:solidFill>
                  <a:srgbClr val="16213A"/>
                </a:solidFill>
                <a:latin typeface="Arial"/>
                <a:ea typeface="Malgun Gothic"/>
                <a:cs typeface="Malgun Gothic"/>
              </a:rPr>
              <a:t> 한 곳. </a:t>
            </a:r>
            <a:r>
              <a:rPr sz="1050" b="0" i="0">
                <a:solidFill>
                  <a:srgbClr val="7C2D12"/>
                </a:solidFill>
                <a:latin typeface="Consolas"/>
                <a:ea typeface="Malgun Gothic"/>
                <a:cs typeface="Malgun Gothic"/>
              </a:rPr>
              <a:t>sim/isaac/terrain_export.py</a:t>
            </a:r>
            <a:r>
              <a:rPr sz="1250" b="0" i="0">
                <a:solidFill>
                  <a:srgbClr val="16213A"/>
                </a:solidFill>
                <a:latin typeface="Arial"/>
                <a:ea typeface="Malgun Gothic"/>
                <a:cs typeface="Malgun Gothic"/>
              </a:rPr>
              <a:t>가 OBJ·NPZ·USD로 내보낸다</a:t>
            </a:r>
          </a:p>
        </p:txBody>
      </p:sp>
      <p:sp>
        <p:nvSpPr>
          <p:cNvPr id="6" name="TextBox 5"/>
          <p:cNvSpPr txBox="1"/>
          <p:nvPr/>
        </p:nvSpPr>
        <p:spPr>
          <a:xfrm>
            <a:off x="749300" y="247927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선택 항목: 가림(TP-0031), 합성 LiDAR 인식(TP-0053), 스워브 plant, 보행자, 지연·드리프트(TP-0032)</a:t>
            </a:r>
          </a:p>
        </p:txBody>
      </p:sp>
      <p:sp>
        <p:nvSpPr>
          <p:cNvPr id="7" name="TextBox 6"/>
          <p:cNvSpPr txBox="1"/>
          <p:nvPr/>
        </p:nvSpPr>
        <p:spPr>
          <a:xfrm>
            <a:off x="749300" y="30380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Playground: 같은 시뮬을 JS로 옮겨 브라우저에서 돌린다</a:t>
            </a:r>
          </a:p>
        </p:txBody>
      </p:sp>
      <p:sp>
        <p:nvSpPr>
          <p:cNvPr id="8" name="Rounded Rectangle 7"/>
          <p:cNvSpPr/>
          <p:nvPr/>
        </p:nvSpPr>
        <p:spPr>
          <a:xfrm>
            <a:off x="6223000" y="1361678"/>
            <a:ext cx="5257800" cy="3175000"/>
          </a:xfrm>
          <a:prstGeom prst="roundRect">
            <a:avLst>
              <a:gd name="adj" fmla="val 1600"/>
            </a:avLst>
          </a:prstGeom>
          <a:solidFill>
            <a:srgbClr val="FFFFFF"/>
          </a:solidFill>
          <a:ln w="6350">
            <a:solidFill>
              <a:srgbClr val="D9D4C7"/>
            </a:solidFill>
          </a:ln>
        </p:spPr>
        <p:txBody>
          <a:bodyPr rtlCol="0" anchor="ctr"/>
          <a:lstStyle/>
          <a:p>
            <a:pPr algn="ctr"/>
          </a:p>
        </p:txBody>
      </p:sp>
      <p:pic>
        <p:nvPicPr>
          <p:cNvPr id="9" name="Picture 8" descr="image.jpg"/>
          <p:cNvPicPr>
            <a:picLocks noChangeAspect="1"/>
          </p:cNvPicPr>
          <p:nvPr/>
        </p:nvPicPr>
        <p:blipFill>
          <a:blip r:embed="rId2"/>
          <a:stretch>
            <a:fillRect/>
          </a:stretch>
        </p:blipFill>
        <p:spPr>
          <a:xfrm>
            <a:off x="6557825" y="1361678"/>
            <a:ext cx="4588150" cy="3175000"/>
          </a:xfrm>
          <a:prstGeom prst="rect">
            <a:avLst/>
          </a:prstGeom>
        </p:spPr>
      </p:pic>
      <p:sp>
        <p:nvSpPr>
          <p:cNvPr id="10" name="TextBox 9"/>
          <p:cNvSpPr txBox="1"/>
          <p:nvPr/>
        </p:nvSpPr>
        <p:spPr>
          <a:xfrm>
            <a:off x="6223000" y="4600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travplan Playground — 가림을 켠 L0 위의 Guidance 경로와 MPPI 샘플</a:t>
            </a:r>
          </a:p>
        </p:txBody>
      </p:sp>
      <p:sp>
        <p:nvSpPr>
          <p:cNvPr id="11" name="Rounded Rectangle 10"/>
          <p:cNvSpPr/>
          <p:nvPr/>
        </p:nvSpPr>
        <p:spPr>
          <a:xfrm>
            <a:off x="711200" y="4955778"/>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5082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수 초짜리 에피소드로 Planner를 학습하고 스택을 비교한다. 대신 빈틈이 있다(S.6.5).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47273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엔진과 리그 (S.1, S.9)</a:t>
            </a:r>
          </a:p>
        </p:txBody>
      </p:sp>
      <p:sp>
        <p:nvSpPr>
          <p:cNvPr id="3" name="TextBox 2"/>
          <p:cNvSpPr txBox="1"/>
          <p:nvPr/>
        </p:nvSpPr>
        <p:spPr>
          <a:xfrm>
            <a:off x="812800" y="2910880"/>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엔진은 Isaac Sim을 유지한다</a:t>
            </a:r>
          </a:p>
        </p:txBody>
      </p:sp>
      <p:sp>
        <p:nvSpPr>
          <p:cNvPr id="4" name="TextBox 3"/>
          <p:cNvSpPr txBox="1"/>
          <p:nvPr/>
        </p:nvSpPr>
        <p:spPr>
          <a:xfrm>
            <a:off x="812800" y="375920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보도 시뮬레이터가 모두 그 위에 있다. 다른 엔진은 목적이 생길 때 쓴다.</a:t>
            </a:r>
          </a:p>
          <a:p>
            <a:pPr>
              <a:lnSpc>
                <a:spcPct val="133400"/>
              </a:lnSpc>
            </a:pPr>
            <a:r>
              <a:rPr sz="1650" b="0" i="0">
                <a:solidFill>
                  <a:srgbClr val="C9D1E0"/>
                </a:solidFill>
                <a:latin typeface="Arial"/>
                <a:ea typeface="Malgun Gothic"/>
                <a:cs typeface="Malgun Gothic"/>
              </a:rPr>
              <a:t>엔진 속도와 재현성은 남의 숫자가 아니라 우리 작업으로 직접 잰다.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S.1 · 물리 엔진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보도 생태계가 Isaac Sim 위에 있어 엔진을 바꿀 이유가 없다</a:t>
            </a:r>
          </a:p>
        </p:txBody>
      </p:sp>
      <p:graphicFrame>
        <p:nvGraphicFramePr>
          <p:cNvPr id="4" name="Table 3"/>
          <p:cNvGraphicFramePr>
            <a:graphicFrameLocks noGrp="1"/>
          </p:cNvGraphicFramePr>
          <p:nvPr/>
        </p:nvGraphicFramePr>
        <p:xfrm>
          <a:off x="711200" y="1361678"/>
          <a:ext cx="10769600" cy="2049701"/>
        </p:xfrm>
        <a:graphic>
          <a:graphicData uri="http://schemas.openxmlformats.org/drawingml/2006/table">
            <a:tbl>
              <a:tblPr firstRow="0" bandRow="0">
                <a:tableStyleId>{5C22544A-7EE6-4342-B048-85BDC9FD1C3A}</a:tableStyleId>
              </a:tblPr>
              <a:tblGrid>
                <a:gridCol w="2714228"/>
                <a:gridCol w="3349724"/>
                <a:gridCol w="1535212"/>
                <a:gridCol w="1085751"/>
                <a:gridCol w="2084685"/>
              </a:tblGrid>
              <a:tr h="263634">
                <a:tc>
                  <a:txBody>
                    <a:bodyPr wrap="square"/>
                    <a:lstStyle/>
                    <a:p>
                      <a:r>
                        <a:rPr sz="1000" b="1" i="0">
                          <a:solidFill>
                            <a:srgbClr val="F4F1EA"/>
                          </a:solidFill>
                          <a:latin typeface="Arial"/>
                          <a:ea typeface="Malgun Gothic"/>
                          <a:cs typeface="Malgun Gothic"/>
                        </a:rPr>
                        <a:t>엔진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강점</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GPU 병렬 학습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ROS 2</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 역할</a:t>
                      </a:r>
                    </a:p>
                  </a:txBody>
                  <a:tcPr marL="76200" marR="76200" marT="25400" marB="25400">
                    <a:solidFill>
                      <a:srgbClr val="16213A"/>
                    </a:solidFill>
                  </a:tcPr>
                </a:tc>
              </a:tr>
              <a:tr h="255538">
                <a:tc>
                  <a:txBody>
                    <a:bodyPr wrap="square"/>
                    <a:lstStyle/>
                    <a:p>
                      <a:r>
                        <a:rPr sz="1000" b="1" i="0">
                          <a:solidFill>
                            <a:srgbClr val="16213A"/>
                          </a:solidFill>
                          <a:latin typeface="Arial"/>
                          <a:ea typeface="Malgun Gothic"/>
                          <a:cs typeface="Malgun Gothic"/>
                        </a:rPr>
                        <a:t>Isaac Sim 6.x + Isaac Lab</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PhysX·Newton, RTX LiDAR, 3DGS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 수천 환경</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 브릿지</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L1 주 엔진</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Newton</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MuJoCo Warp, MPM 변형 지면</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변형 지면이 필요할 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MuJoCo · Playground</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정확한 접촉</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쓰지 않음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Genesis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자체 엔진 (속도 논란)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쓰지 않음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Gazebo Harmonic · Jetty</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ROS 표준, CPU</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 표준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GPU 없는 통합 시험</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Chrono</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SCM·DEM·SPH 지형</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일부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일부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변형 지면이 필요할 때</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CARLA</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UE5 차량</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쓰지 않음</a:t>
                      </a:r>
                    </a:p>
                  </a:txBody>
                  <a:tcPr marL="76200" marR="76200" marT="25400" marB="25400">
                    <a:solidFill>
                      <a:srgbClr val="F1EDE4"/>
                    </a:solidFill>
                  </a:tcPr>
                </a:tc>
              </a:tr>
            </a:tbl>
          </a:graphicData>
        </a:graphic>
      </p:graphicFrame>
      <p:sp>
        <p:nvSpPr>
          <p:cNvPr id="5" name="TextBox 4"/>
          <p:cNvSpPr txBox="1"/>
          <p:nvPr/>
        </p:nvSpPr>
        <p:spPr>
          <a:xfrm>
            <a:off x="711200" y="3950891"/>
            <a:ext cx="1111808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Isaac Lab 3.0(Early Access)은 백엔드를 설정 한 줄로 고른다: </a:t>
            </a:r>
            <a:r>
              <a:rPr sz="900" b="0" i="0">
                <a:solidFill>
                  <a:srgbClr val="7C2D12"/>
                </a:solidFill>
                <a:latin typeface="Consolas"/>
                <a:ea typeface="Malgun Gothic"/>
                <a:cs typeface="Malgun Gothic"/>
              </a:rPr>
              <a:t>newton_mjwarp</a:t>
            </a:r>
            <a:r>
              <a:rPr sz="1050" b="0" i="0">
                <a:solidFill>
                  <a:srgbClr val="16213A"/>
                </a:solidFill>
                <a:latin typeface="Arial"/>
                <a:ea typeface="Malgun Gothic"/>
                <a:cs typeface="Malgun Gothic"/>
              </a:rPr>
              <a:t>·</a:t>
            </a:r>
            <a:r>
              <a:rPr sz="900" b="0" i="0">
                <a:solidFill>
                  <a:srgbClr val="7C2D12"/>
                </a:solidFill>
                <a:latin typeface="Consolas"/>
                <a:ea typeface="Malgun Gothic"/>
                <a:cs typeface="Malgun Gothic"/>
              </a:rPr>
              <a:t>ovphysx</a:t>
            </a:r>
            <a:r>
              <a:rPr sz="1050" b="0" i="0">
                <a:solidFill>
                  <a:srgbClr val="16213A"/>
                </a:solidFill>
                <a:latin typeface="Arial"/>
                <a:ea typeface="Malgun Gothic"/>
                <a:cs typeface="Malgun Gothic"/>
              </a:rPr>
              <a:t>(kit-less), </a:t>
            </a:r>
            <a:r>
              <a:rPr sz="900" b="0" i="0">
                <a:solidFill>
                  <a:srgbClr val="7C2D12"/>
                </a:solidFill>
                <a:latin typeface="Consolas"/>
                <a:ea typeface="Malgun Gothic"/>
                <a:cs typeface="Malgun Gothic"/>
              </a:rPr>
              <a:t>isaacsim_physx</a:t>
            </a:r>
            <a:r>
              <a:rPr sz="1050" b="0" i="0">
                <a:solidFill>
                  <a:srgbClr val="16213A"/>
                </a:solidFill>
                <a:latin typeface="Arial"/>
                <a:ea typeface="Malgun Gothic"/>
                <a:cs typeface="Malgun Gothic"/>
              </a:rPr>
              <a:t>(ROS 2·RTX 센서).</a:t>
            </a:r>
          </a:p>
        </p:txBody>
      </p:sp>
      <p:sp>
        <p:nvSpPr>
          <p:cNvPr id="6" name="Rounded Rectangle 5"/>
          <p:cNvSpPr/>
          <p:nvPr/>
        </p:nvSpPr>
        <p:spPr>
          <a:xfrm>
            <a:off x="711200" y="4324251"/>
            <a:ext cx="10769600" cy="502543"/>
          </a:xfrm>
          <a:prstGeom prst="roundRect">
            <a:avLst>
              <a:gd name="adj" fmla="val 15162"/>
            </a:avLst>
          </a:prstGeom>
          <a:solidFill>
            <a:srgbClr val="16213A"/>
          </a:solidFill>
          <a:ln>
            <a:noFill/>
          </a:ln>
        </p:spPr>
        <p:txBody>
          <a:bodyPr rtlCol="0" anchor="ctr"/>
          <a:lstStyle/>
          <a:p>
            <a:pPr algn="ctr"/>
          </a:p>
        </p:txBody>
      </p:sp>
      <p:sp>
        <p:nvSpPr>
          <p:cNvPr id="7" name="TextBox 6"/>
          <p:cNvSpPr txBox="1"/>
          <p:nvPr/>
        </p:nvSpPr>
        <p:spPr>
          <a:xfrm>
            <a:off x="889000" y="445125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P1(TP-0005)은 ROS 2 브릿지가 필요해 Isaac Sim 6.0을 쓴다. 학습 루프는 Isaac Lab 3.0의 kit-less 경로로 옮긴다.</a:t>
            </a:r>
          </a:p>
        </p:txBody>
      </p:sp>
      <p:sp>
        <p:nvSpPr>
          <p:cNvPr id="8" name="Rectangle 7"/>
          <p:cNvSpPr/>
          <p:nvPr/>
        </p:nvSpPr>
        <p:spPr>
          <a:xfrm>
            <a:off x="711200" y="6424315"/>
            <a:ext cx="10769600" cy="230485"/>
          </a:xfrm>
          <a:prstGeom prst="rect">
            <a:avLst/>
          </a:prstGeom>
          <a:noFill/>
          <a:ln>
            <a:noFill/>
          </a:ln>
        </p:spPr>
        <p:txBody>
          <a:bodyPr rtlCol="0" anchor="ctr"/>
          <a:lstStyle/>
          <a:p>
            <a:pPr algn="ctr"/>
          </a:p>
        </p:txBody>
      </p:sp>
      <p:sp>
        <p:nvSpPr>
          <p:cNvPr id="9" name="Rectangle 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0" name="TextBox 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Isaac Lab, NVIDIA — arXiv:2511.04831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S.1.4 · GPUSimBench [2]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빠르고 재현되는 엔진이 실물에 가깝다는 보장은 없다</a:t>
            </a:r>
          </a:p>
        </p:txBody>
      </p:sp>
      <p:graphicFrame>
        <p:nvGraphicFramePr>
          <p:cNvPr id="4" name="Table 3"/>
          <p:cNvGraphicFramePr>
            <a:graphicFrameLocks noGrp="1"/>
          </p:cNvGraphicFramePr>
          <p:nvPr/>
        </p:nvGraphicFramePr>
        <p:xfrm>
          <a:off x="711200" y="1361678"/>
          <a:ext cx="5257800" cy="1283087"/>
        </p:xfrm>
        <a:graphic>
          <a:graphicData uri="http://schemas.openxmlformats.org/drawingml/2006/table">
            <a:tbl>
              <a:tblPr firstRow="0" bandRow="0">
                <a:tableStyleId>{5C22544A-7EE6-4342-B048-85BDC9FD1C3A}</a:tableStyleId>
              </a:tblPr>
              <a:tblGrid>
                <a:gridCol w="1350268"/>
                <a:gridCol w="1375370"/>
                <a:gridCol w="974527"/>
                <a:gridCol w="1557635"/>
              </a:tblGrid>
              <a:tr h="263634">
                <a:tc>
                  <a:txBody>
                    <a:bodyPr wrap="square"/>
                    <a:lstStyle/>
                    <a:p>
                      <a:r>
                        <a:rPr sz="1000" b="1" i="0">
                          <a:solidFill>
                            <a:srgbClr val="F4F1EA"/>
                          </a:solidFill>
                          <a:latin typeface="Arial"/>
                          <a:ea typeface="Malgun Gothic"/>
                          <a:cs typeface="Malgun Gothic"/>
                        </a:rPr>
                        <a:t>엔진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Franka 처리량</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실물 EMD</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병렬 / 재실행 변동</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Genesis</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1.11×10⁷ FPS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4.78 cm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 / 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MuJoCo Warp</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3.54×10⁶ FPS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있음 / 있음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Isaac Lab</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1.85×10⁶ FPS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5.40 cm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있음 / 0</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ManiSkill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2.52 cm</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있음 / 0</a:t>
                      </a:r>
                    </a:p>
                  </a:txBody>
                  <a:tcPr marL="76200" marR="76200" marT="25400" marB="25400">
                    <a:solidFill>
                      <a:srgbClr val="FFFDF8"/>
                    </a:solidFill>
                  </a:tcPr>
                </a:tc>
              </a:tr>
            </a:tbl>
          </a:graphicData>
        </a:graphic>
      </p:graphicFrame>
      <p:sp>
        <p:nvSpPr>
          <p:cNvPr id="5" name="Rounded Rectangle 4"/>
          <p:cNvSpPr/>
          <p:nvPr/>
        </p:nvSpPr>
        <p:spPr>
          <a:xfrm>
            <a:off x="711200" y="2985492"/>
            <a:ext cx="5257800" cy="1041301"/>
          </a:xfrm>
          <a:prstGeom prst="roundRect">
            <a:avLst>
              <a:gd name="adj" fmla="val 7317"/>
            </a:avLst>
          </a:prstGeom>
          <a:solidFill>
            <a:srgbClr val="FFFDF8"/>
          </a:solidFill>
          <a:ln>
            <a:noFill/>
          </a:ln>
        </p:spPr>
        <p:txBody>
          <a:bodyPr rtlCol="0" anchor="ctr"/>
          <a:lstStyle/>
          <a:p>
            <a:pPr algn="ctr"/>
          </a:p>
        </p:txBody>
      </p:sp>
      <p:sp>
        <p:nvSpPr>
          <p:cNvPr id="6" name="Rectangle 5"/>
          <p:cNvSpPr/>
          <p:nvPr/>
        </p:nvSpPr>
        <p:spPr>
          <a:xfrm>
            <a:off x="711200" y="2985492"/>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2985492"/>
            <a:ext cx="6350" cy="1041301"/>
          </a:xfrm>
          <a:prstGeom prst="rect">
            <a:avLst/>
          </a:prstGeom>
          <a:solidFill>
            <a:srgbClr val="D9D4C7"/>
          </a:solidFill>
          <a:ln>
            <a:noFill/>
          </a:ln>
        </p:spPr>
        <p:txBody>
          <a:bodyPr rtlCol="0" anchor="ctr"/>
          <a:lstStyle/>
          <a:p>
            <a:pPr algn="ctr"/>
          </a:p>
        </p:txBody>
      </p:sp>
      <p:sp>
        <p:nvSpPr>
          <p:cNvPr id="8" name="Rectangle 7"/>
          <p:cNvSpPr/>
          <p:nvPr/>
        </p:nvSpPr>
        <p:spPr>
          <a:xfrm>
            <a:off x="711200" y="4020443"/>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2985492"/>
            <a:ext cx="50800" cy="1041301"/>
          </a:xfrm>
          <a:prstGeom prst="roundRect">
            <a:avLst>
              <a:gd name="adj" fmla="val 50000"/>
            </a:avLst>
          </a:prstGeom>
          <a:solidFill>
            <a:srgbClr val="C2410C"/>
          </a:solidFill>
          <a:ln>
            <a:noFill/>
          </a:ln>
        </p:spPr>
        <p:txBody>
          <a:bodyPr rtlCol="0" anchor="ctr"/>
          <a:lstStyle/>
          <a:p>
            <a:pPr algn="ctr"/>
          </a:p>
        </p:txBody>
      </p:sp>
      <p:sp>
        <p:nvSpPr>
          <p:cNvPr id="10" name="TextBox 9"/>
          <p:cNvSpPr txBox="1"/>
          <p:nvPr/>
        </p:nvSpPr>
        <p:spPr>
          <a:xfrm>
            <a:off x="927100" y="3131542"/>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travplan 1층 게이트는 재현성 위에 서 있다</a:t>
            </a:r>
          </a:p>
        </p:txBody>
      </p:sp>
      <p:sp>
        <p:nvSpPr>
          <p:cNvPr id="11" name="TextBox 10"/>
          <p:cNvSpPr txBox="1"/>
          <p:nvPr/>
        </p:nvSpPr>
        <p:spPr>
          <a:xfrm>
            <a:off x="927100" y="3438823"/>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설정이면 12 에피소드가 전부 같다(TP-0156). Isaac Lab은 병렬 환경끼리 달랐다. 병렬 환경을 "반복"으로 세면 잡음이 섞인다.</a:t>
            </a:r>
          </a:p>
        </p:txBody>
      </p:sp>
      <p:sp>
        <p:nvSpPr>
          <p:cNvPr id="12" name="TextBox 11"/>
          <p:cNvSpPr txBox="1"/>
          <p:nvPr/>
        </p:nvSpPr>
        <p:spPr>
          <a:xfrm>
            <a:off x="711200" y="4141093"/>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RTX 5070 한 장. 실물 일치는 경사 충돌 실험 16회와의 EMD다. Genesis는 실물 일치 다섯째였다. 조작 장면만 쟀고 바퀴 접촉은 없다.</a:t>
            </a:r>
          </a:p>
        </p:txBody>
      </p:sp>
      <p:sp>
        <p:nvSpPr>
          <p:cNvPr id="13" name="Rounded Rectangle 12"/>
          <p:cNvSpPr/>
          <p:nvPr/>
        </p:nvSpPr>
        <p:spPr>
          <a:xfrm>
            <a:off x="6223000" y="1361678"/>
            <a:ext cx="5257800" cy="2984500"/>
          </a:xfrm>
          <a:prstGeom prst="roundRect">
            <a:avLst>
              <a:gd name="adj" fmla="val 1702"/>
            </a:avLst>
          </a:prstGeom>
          <a:solidFill>
            <a:srgbClr val="FFFFFF"/>
          </a:solidFill>
          <a:ln w="6350">
            <a:solidFill>
              <a:srgbClr val="D9D4C7"/>
            </a:solidFill>
          </a:ln>
        </p:spPr>
        <p:txBody>
          <a:bodyPr rtlCol="0" anchor="ctr"/>
          <a:lstStyle/>
          <a:p>
            <a:pPr algn="ctr"/>
          </a:p>
        </p:txBody>
      </p:sp>
      <p:pic>
        <p:nvPicPr>
          <p:cNvPr id="14" name="Picture 13" descr="image.jpg"/>
          <p:cNvPicPr>
            <a:picLocks noChangeAspect="1"/>
          </p:cNvPicPr>
          <p:nvPr/>
        </p:nvPicPr>
        <p:blipFill>
          <a:blip r:embed="rId2"/>
          <a:stretch>
            <a:fillRect/>
          </a:stretch>
        </p:blipFill>
        <p:spPr>
          <a:xfrm>
            <a:off x="6261188" y="1361678"/>
            <a:ext cx="5181424" cy="2984500"/>
          </a:xfrm>
          <a:prstGeom prst="rect">
            <a:avLst/>
          </a:prstGeom>
        </p:spPr>
      </p:pic>
      <p:sp>
        <p:nvSpPr>
          <p:cNvPr id="15" name="TextBox 14"/>
          <p:cNvSpPr txBox="1"/>
          <p:nvPr/>
        </p:nvSpPr>
        <p:spPr>
          <a:xfrm>
            <a:off x="6223000" y="44096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GPUSimBench Fig. 3 — 정육면체 최종 위치 밀도. 엔진마다, 실물과도 다르다</a:t>
            </a:r>
          </a:p>
        </p:txBody>
      </p:sp>
      <p:sp>
        <p:nvSpPr>
          <p:cNvPr id="16" name="Rounded Rectangle 15"/>
          <p:cNvSpPr/>
          <p:nvPr/>
        </p:nvSpPr>
        <p:spPr>
          <a:xfrm>
            <a:off x="711200" y="4765278"/>
            <a:ext cx="10769600" cy="502543"/>
          </a:xfrm>
          <a:prstGeom prst="roundRect">
            <a:avLst>
              <a:gd name="adj" fmla="val 15162"/>
            </a:avLst>
          </a:prstGeom>
          <a:solidFill>
            <a:srgbClr val="16213A"/>
          </a:solidFill>
          <a:ln>
            <a:noFill/>
          </a:ln>
        </p:spPr>
        <p:txBody>
          <a:bodyPr rtlCol="0" anchor="ctr"/>
          <a:lstStyle/>
          <a:p>
            <a:pPr algn="ctr"/>
          </a:p>
        </p:txBody>
      </p:sp>
      <p:sp>
        <p:nvSpPr>
          <p:cNvPr id="17" name="TextBox 16"/>
          <p:cNvSpPr txBox="1"/>
          <p:nvPr/>
        </p:nvSpPr>
        <p:spPr>
          <a:xfrm>
            <a:off x="889000" y="48922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Isaac 폐루프(TP-0005)는 게이트를 쓰기 전에 같은 설정 재실행으로 잡음 바닥부터 잰다.</a:t>
            </a:r>
          </a:p>
        </p:txBody>
      </p:sp>
      <p:sp>
        <p:nvSpPr>
          <p:cNvPr id="18" name="Rectangle 17"/>
          <p:cNvSpPr/>
          <p:nvPr/>
        </p:nvSpPr>
        <p:spPr>
          <a:xfrm>
            <a:off x="711200" y="6424315"/>
            <a:ext cx="10769600" cy="230485"/>
          </a:xfrm>
          <a:prstGeom prst="rect">
            <a:avLst/>
          </a:prstGeom>
          <a:noFill/>
          <a:ln>
            <a:noFill/>
          </a:ln>
        </p:spPr>
        <p:txBody>
          <a:bodyPr rtlCol="0" anchor="ctr"/>
          <a:lstStyle/>
          <a:p>
            <a:pPr algn="ctr"/>
          </a:p>
        </p:txBody>
      </p:sp>
      <p:sp>
        <p:nvSpPr>
          <p:cNvPr id="19" name="Rectangle 1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0" name="TextBox 1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 GPUSimBench, Shanghai AI Lab 외, IROS 2026 — arXiv:2607.13059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S.9 · 지금 띄울 수 있는 ROS 2 리그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다섯 기준을 모두 만족하는 리그는 없어서 질문마다 고른다</a:t>
            </a:r>
          </a:p>
        </p:txBody>
      </p:sp>
      <p:sp>
        <p:nvSpPr>
          <p:cNvPr id="4" name="Rounded Rectangle 3"/>
          <p:cNvSpPr/>
          <p:nvPr/>
        </p:nvSpPr>
        <p:spPr>
          <a:xfrm>
            <a:off x="711200" y="1361678"/>
            <a:ext cx="780951" cy="330200"/>
          </a:xfrm>
          <a:prstGeom prst="roundRect">
            <a:avLst>
              <a:gd name="adj" fmla="val 50000"/>
            </a:avLst>
          </a:prstGeom>
          <a:solidFill>
            <a:srgbClr val="F59E5B"/>
          </a:solidFill>
          <a:ln>
            <a:noFill/>
          </a:ln>
        </p:spPr>
        <p:txBody>
          <a:bodyPr rtlCol="0" anchor="ctr"/>
          <a:lstStyle/>
          <a:p>
            <a:pPr algn="ctr"/>
          </a:p>
        </p:txBody>
      </p:sp>
      <p:sp>
        <p:nvSpPr>
          <p:cNvPr id="5" name="TextBox 4"/>
          <p:cNvSpPr txBox="1"/>
          <p:nvPr/>
        </p:nvSpPr>
        <p:spPr>
          <a:xfrm>
            <a:off x="850900" y="1412478"/>
            <a:ext cx="54199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3D 점군</a:t>
            </a:r>
          </a:p>
        </p:txBody>
      </p:sp>
      <p:sp>
        <p:nvSpPr>
          <p:cNvPr id="6" name="Rounded Rectangle 5"/>
          <p:cNvSpPr/>
          <p:nvPr/>
        </p:nvSpPr>
        <p:spPr>
          <a:xfrm>
            <a:off x="1593751" y="1361678"/>
            <a:ext cx="995164" cy="330200"/>
          </a:xfrm>
          <a:prstGeom prst="roundRect">
            <a:avLst>
              <a:gd name="adj" fmla="val 50000"/>
            </a:avLst>
          </a:prstGeom>
          <a:solidFill>
            <a:srgbClr val="F59E5B"/>
          </a:solidFill>
          <a:ln>
            <a:noFill/>
          </a:ln>
        </p:spPr>
        <p:txBody>
          <a:bodyPr rtlCol="0" anchor="ctr"/>
          <a:lstStyle/>
          <a:p>
            <a:pPr algn="ctr"/>
          </a:p>
        </p:txBody>
      </p:sp>
      <p:sp>
        <p:nvSpPr>
          <p:cNvPr id="7" name="TextBox 6"/>
          <p:cNvSpPr txBox="1"/>
          <p:nvPr/>
        </p:nvSpPr>
        <p:spPr>
          <a:xfrm>
            <a:off x="1733451" y="1412478"/>
            <a:ext cx="76263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보도급 지형</a:t>
            </a:r>
          </a:p>
        </p:txBody>
      </p:sp>
      <p:sp>
        <p:nvSpPr>
          <p:cNvPr id="8" name="Rounded Rectangle 7"/>
          <p:cNvSpPr/>
          <p:nvPr/>
        </p:nvSpPr>
        <p:spPr>
          <a:xfrm>
            <a:off x="2690515" y="1361678"/>
            <a:ext cx="995164" cy="330200"/>
          </a:xfrm>
          <a:prstGeom prst="roundRect">
            <a:avLst>
              <a:gd name="adj" fmla="val 50000"/>
            </a:avLst>
          </a:prstGeom>
          <a:solidFill>
            <a:srgbClr val="F59E5B"/>
          </a:solidFill>
          <a:ln>
            <a:noFill/>
          </a:ln>
        </p:spPr>
        <p:txBody>
          <a:bodyPr rtlCol="0" anchor="ctr"/>
          <a:lstStyle/>
          <a:p>
            <a:pPr algn="ctr"/>
          </a:p>
        </p:txBody>
      </p:sp>
      <p:sp>
        <p:nvSpPr>
          <p:cNvPr id="9" name="TextBox 8"/>
          <p:cNvSpPr txBox="1"/>
          <p:nvPr/>
        </p:nvSpPr>
        <p:spPr>
          <a:xfrm>
            <a:off x="2830215" y="1412478"/>
            <a:ext cx="76263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스워브 구동</a:t>
            </a:r>
          </a:p>
        </p:txBody>
      </p:sp>
      <p:sp>
        <p:nvSpPr>
          <p:cNvPr id="10" name="Rounded Rectangle 9"/>
          <p:cNvSpPr/>
          <p:nvPr/>
        </p:nvSpPr>
        <p:spPr>
          <a:xfrm>
            <a:off x="3787279" y="1361678"/>
            <a:ext cx="1167011" cy="330200"/>
          </a:xfrm>
          <a:prstGeom prst="roundRect">
            <a:avLst>
              <a:gd name="adj" fmla="val 50000"/>
            </a:avLst>
          </a:prstGeom>
          <a:solidFill>
            <a:srgbClr val="F59E5B"/>
          </a:solidFill>
          <a:ln>
            <a:noFill/>
          </a:ln>
        </p:spPr>
        <p:txBody>
          <a:bodyPr rtlCol="0" anchor="ctr"/>
          <a:lstStyle/>
          <a:p>
            <a:pPr algn="ctr"/>
          </a:p>
        </p:txBody>
      </p:sp>
      <p:sp>
        <p:nvSpPr>
          <p:cNvPr id="11" name="TextBox 10"/>
          <p:cNvSpPr txBox="1"/>
          <p:nvPr/>
        </p:nvSpPr>
        <p:spPr>
          <a:xfrm>
            <a:off x="3926979" y="1412478"/>
            <a:ext cx="939639"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손에 있는 장비</a:t>
            </a:r>
          </a:p>
        </p:txBody>
      </p:sp>
      <p:sp>
        <p:nvSpPr>
          <p:cNvPr id="12" name="Rounded Rectangle 11"/>
          <p:cNvSpPr/>
          <p:nvPr/>
        </p:nvSpPr>
        <p:spPr>
          <a:xfrm>
            <a:off x="5055890" y="1361678"/>
            <a:ext cx="1131094" cy="330200"/>
          </a:xfrm>
          <a:prstGeom prst="roundRect">
            <a:avLst>
              <a:gd name="adj" fmla="val 50000"/>
            </a:avLst>
          </a:prstGeom>
          <a:solidFill>
            <a:srgbClr val="F59E5B"/>
          </a:solidFill>
          <a:ln>
            <a:noFill/>
          </a:ln>
        </p:spPr>
        <p:txBody>
          <a:bodyPr rtlCol="0" anchor="ctr"/>
          <a:lstStyle/>
          <a:p>
            <a:pPr algn="ctr"/>
          </a:p>
        </p:txBody>
      </p:sp>
      <p:sp>
        <p:nvSpPr>
          <p:cNvPr id="13" name="TextBox 12"/>
          <p:cNvSpPr txBox="1"/>
          <p:nvPr/>
        </p:nvSpPr>
        <p:spPr>
          <a:xfrm>
            <a:off x="5195590" y="1412478"/>
            <a:ext cx="90264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지형 내보내기</a:t>
            </a:r>
          </a:p>
        </p:txBody>
      </p:sp>
      <p:graphicFrame>
        <p:nvGraphicFramePr>
          <p:cNvPr id="14" name="Table 13"/>
          <p:cNvGraphicFramePr>
            <a:graphicFrameLocks noGrp="1"/>
          </p:cNvGraphicFramePr>
          <p:nvPr/>
        </p:nvGraphicFramePr>
        <p:xfrm>
          <a:off x="711200" y="1869678"/>
          <a:ext cx="10769601" cy="1283087"/>
        </p:xfrm>
        <a:graphic>
          <a:graphicData uri="http://schemas.openxmlformats.org/drawingml/2006/table">
            <a:tbl>
              <a:tblPr firstRow="0" bandRow="0">
                <a:tableStyleId>{5C22544A-7EE6-4342-B048-85BDC9FD1C3A}</a:tableStyleId>
              </a:tblPr>
              <a:tblGrid>
                <a:gridCol w="4141391"/>
                <a:gridCol w="3914676"/>
                <a:gridCol w="2713534"/>
              </a:tblGrid>
              <a:tr h="263634">
                <a:tc>
                  <a:txBody>
                    <a:bodyPr wrap="square"/>
                    <a:lstStyle/>
                    <a:p>
                      <a:r>
                        <a:rPr sz="1000" b="1" i="0">
                          <a:solidFill>
                            <a:srgbClr val="F4F1EA"/>
                          </a:solidFill>
                          <a:latin typeface="Arial"/>
                          <a:ea typeface="Malgun Gothic"/>
                          <a:cs typeface="Malgun Gothic"/>
                        </a:rPr>
                        <a:t>답해야 할 질문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맞는 리그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포기하는 것</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ROS 2 파이프라인이 도는가 (브릿지, TF, 주기)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CMU 탐사 개발 환경</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지형을 못 바꾼다</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우리 지형에서 2.5D가 이기는가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Isaac Sim + </a:t>
                      </a:r>
                      <a:r>
                        <a:rPr sz="850" b="0" i="0">
                          <a:solidFill>
                            <a:srgbClr val="7C2D12"/>
                          </a:solidFill>
                          <a:latin typeface="Consolas"/>
                          <a:ea typeface="Malgun Gothic"/>
                          <a:cs typeface="Malgun Gothic"/>
                        </a:rPr>
                        <a:t>terrain_export</a:t>
                      </a:r>
                      <a:r>
                        <a:rPr sz="1000" b="0" i="0">
                          <a:solidFill>
                            <a:srgbClr val="16213A"/>
                          </a:solidFill>
                          <a:latin typeface="Arial"/>
                          <a:ea typeface="Malgun Gothic"/>
                          <a:cs typeface="Malgun Gothic"/>
                        </a:rPr>
                        <a:t> (TP-0005)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Ubuntu 24.04 + Jazzy 장비</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스워브 기구학이 실물과 맞는가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antbot_gazebo (대상 로봇)</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3D 센서를 직접 붙여야 한다</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3D 점군 스택과 비교해 이기는가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dddmr 내비 스택 + 아무 리그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지형이 보도가 아니다</a:t>
                      </a:r>
                    </a:p>
                  </a:txBody>
                  <a:tcPr marL="76200" marR="76200" marT="25400" marB="25400">
                    <a:solidFill>
                      <a:srgbClr val="FFFDF8"/>
                    </a:solidFill>
                  </a:tcPr>
                </a:tc>
              </a:tr>
            </a:tbl>
          </a:graphicData>
        </a:graphic>
      </p:graphicFrame>
      <p:sp>
        <p:nvSpPr>
          <p:cNvPr id="15" name="Rounded Rectangle 14"/>
          <p:cNvSpPr/>
          <p:nvPr/>
        </p:nvSpPr>
        <p:spPr>
          <a:xfrm>
            <a:off x="711200" y="3556992"/>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11200" y="3556992"/>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6013450" y="3556992"/>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11200" y="4602162"/>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11200" y="3556992"/>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927100" y="3703042"/>
            <a:ext cx="1062831"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1016000" y="3728442"/>
            <a:ext cx="93698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antbot_gazebo</a:t>
            </a:r>
          </a:p>
        </p:txBody>
      </p:sp>
      <p:sp>
        <p:nvSpPr>
          <p:cNvPr id="22" name="TextBox 21"/>
          <p:cNvSpPr txBox="1"/>
          <p:nvPr/>
        </p:nvSpPr>
        <p:spPr>
          <a:xfrm>
            <a:off x="927100" y="402054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대상 로봇 그 자체(4륜 스워브)지만 2D LiDAR 두 대와 IMU뿐이다. URDF의 </a:t>
            </a:r>
            <a:r>
              <a:rPr sz="1000" b="0" i="0">
                <a:solidFill>
                  <a:srgbClr val="7C2D12"/>
                </a:solidFill>
                <a:latin typeface="Consolas"/>
                <a:ea typeface="Malgun Gothic"/>
                <a:cs typeface="Malgun Gothic"/>
              </a:rPr>
              <a:t>lidar_3d_link</a:t>
            </a:r>
            <a:r>
              <a:rPr sz="1150" b="0" i="0">
                <a:solidFill>
                  <a:srgbClr val="16213A"/>
                </a:solidFill>
                <a:latin typeface="Arial"/>
                <a:ea typeface="Malgun Gothic"/>
                <a:cs typeface="Malgun Gothic"/>
              </a:rPr>
              <a:t>에 </a:t>
            </a:r>
            <a:r>
              <a:rPr sz="1000" b="0" i="0">
                <a:solidFill>
                  <a:srgbClr val="7C2D12"/>
                </a:solidFill>
                <a:latin typeface="Consolas"/>
                <a:ea typeface="Malgun Gothic"/>
                <a:cs typeface="Malgun Gothic"/>
              </a:rPr>
              <a:t>gpu_lidar</a:t>
            </a:r>
            <a:r>
              <a:rPr sz="1150" b="0" i="0">
                <a:solidFill>
                  <a:srgbClr val="16213A"/>
                </a:solidFill>
                <a:latin typeface="Arial"/>
                <a:ea typeface="Malgun Gothic"/>
                <a:cs typeface="Malgun Gothic"/>
              </a:rPr>
              <a:t>를 더하면 점군이 나온다.</a:t>
            </a:r>
          </a:p>
        </p:txBody>
      </p:sp>
      <p:sp>
        <p:nvSpPr>
          <p:cNvPr id="23" name="Rounded Rectangle 22"/>
          <p:cNvSpPr/>
          <p:nvPr/>
        </p:nvSpPr>
        <p:spPr>
          <a:xfrm>
            <a:off x="6172200" y="3556992"/>
            <a:ext cx="5308600"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6172200" y="3556992"/>
            <a:ext cx="5308600" cy="6350"/>
          </a:xfrm>
          <a:prstGeom prst="rect">
            <a:avLst/>
          </a:prstGeom>
          <a:solidFill>
            <a:srgbClr val="D9D4C7"/>
          </a:solidFill>
          <a:ln>
            <a:noFill/>
          </a:ln>
        </p:spPr>
        <p:txBody>
          <a:bodyPr rtlCol="0" anchor="ctr"/>
          <a:lstStyle/>
          <a:p>
            <a:pPr algn="ctr"/>
          </a:p>
        </p:txBody>
      </p:sp>
      <p:sp>
        <p:nvSpPr>
          <p:cNvPr id="25" name="Rectangle 24"/>
          <p:cNvSpPr/>
          <p:nvPr/>
        </p:nvSpPr>
        <p:spPr>
          <a:xfrm>
            <a:off x="11474450" y="3556992"/>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6172200" y="4602162"/>
            <a:ext cx="5308600" cy="6350"/>
          </a:xfrm>
          <a:prstGeom prst="rect">
            <a:avLst/>
          </a:prstGeom>
          <a:solidFill>
            <a:srgbClr val="D9D4C7"/>
          </a:solidFill>
          <a:ln>
            <a:noFill/>
          </a:ln>
        </p:spPr>
        <p:txBody>
          <a:bodyPr rtlCol="0" anchor="ctr"/>
          <a:lstStyle/>
          <a:p>
            <a:pPr algn="ctr"/>
          </a:p>
        </p:txBody>
      </p:sp>
      <p:sp>
        <p:nvSpPr>
          <p:cNvPr id="27" name="Rounded Rectangle 26"/>
          <p:cNvSpPr/>
          <p:nvPr/>
        </p:nvSpPr>
        <p:spPr>
          <a:xfrm>
            <a:off x="6172200" y="3556992"/>
            <a:ext cx="50800" cy="1051520"/>
          </a:xfrm>
          <a:prstGeom prst="roundRect">
            <a:avLst>
              <a:gd name="adj" fmla="val 50000"/>
            </a:avLst>
          </a:prstGeom>
          <a:solidFill>
            <a:srgbClr val="1D4ED8"/>
          </a:solidFill>
          <a:ln>
            <a:noFill/>
          </a:ln>
        </p:spPr>
        <p:txBody>
          <a:bodyPr rtlCol="0" anchor="ctr"/>
          <a:lstStyle/>
          <a:p>
            <a:pPr algn="ctr"/>
          </a:p>
        </p:txBody>
      </p:sp>
      <p:sp>
        <p:nvSpPr>
          <p:cNvPr id="28" name="Rounded Rectangle 27"/>
          <p:cNvSpPr/>
          <p:nvPr/>
        </p:nvSpPr>
        <p:spPr>
          <a:xfrm>
            <a:off x="6388100" y="3703042"/>
            <a:ext cx="1220291" cy="241300"/>
          </a:xfrm>
          <a:prstGeom prst="roundRect">
            <a:avLst>
              <a:gd name="adj" fmla="val 50000"/>
            </a:avLst>
          </a:prstGeom>
          <a:solidFill>
            <a:srgbClr val="DBE5FB"/>
          </a:solidFill>
          <a:ln>
            <a:noFill/>
          </a:ln>
        </p:spPr>
        <p:txBody>
          <a:bodyPr rtlCol="0" anchor="ctr"/>
          <a:lstStyle/>
          <a:p>
            <a:pPr algn="ctr"/>
          </a:p>
        </p:txBody>
      </p:sp>
      <p:sp>
        <p:nvSpPr>
          <p:cNvPr id="29" name="TextBox 28"/>
          <p:cNvSpPr txBox="1"/>
          <p:nvPr/>
        </p:nvSpPr>
        <p:spPr>
          <a:xfrm>
            <a:off x="6477000" y="3728442"/>
            <a:ext cx="10991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CMU 탐사 개발 환경</a:t>
            </a:r>
          </a:p>
        </p:txBody>
      </p:sp>
      <p:sp>
        <p:nvSpPr>
          <p:cNvPr id="30" name="TextBox 29"/>
          <p:cNvSpPr txBox="1"/>
          <p:nvPr/>
        </p:nvSpPr>
        <p:spPr>
          <a:xfrm>
            <a:off x="6388100" y="402054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점군(5 Hz)과 </a:t>
            </a:r>
            <a:r>
              <a:rPr sz="1000" b="0" i="0">
                <a:solidFill>
                  <a:srgbClr val="7C2D12"/>
                </a:solidFill>
                <a:latin typeface="Consolas"/>
                <a:ea typeface="Malgun Gothic"/>
                <a:cs typeface="Malgun Gothic"/>
              </a:rPr>
              <a:t>/terrain_map</a:t>
            </a:r>
            <a:r>
              <a:rPr sz="1150" b="0" i="0">
                <a:solidFill>
                  <a:srgbClr val="16213A"/>
                </a:solidFill>
                <a:latin typeface="Arial"/>
                <a:ea typeface="Malgun Gothic"/>
                <a:cs typeface="Malgun Gothic"/>
              </a:rPr>
              <a:t>이 바로 나온다. 비용이 평탄도 하나라 0.07 m 턱과 0.24 m 턱을 가르지 못한다.</a:t>
            </a:r>
          </a:p>
        </p:txBody>
      </p:sp>
      <p:sp>
        <p:nvSpPr>
          <p:cNvPr id="31" name="Rounded Rectangle 30"/>
          <p:cNvSpPr/>
          <p:nvPr/>
        </p:nvSpPr>
        <p:spPr>
          <a:xfrm>
            <a:off x="711200" y="4786312"/>
            <a:ext cx="10769600" cy="502543"/>
          </a:xfrm>
          <a:prstGeom prst="roundRect">
            <a:avLst>
              <a:gd name="adj" fmla="val 15162"/>
            </a:avLst>
          </a:prstGeom>
          <a:solidFill>
            <a:srgbClr val="16213A"/>
          </a:solidFill>
          <a:ln>
            <a:noFill/>
          </a:ln>
        </p:spPr>
        <p:txBody>
          <a:bodyPr rtlCol="0" anchor="ctr"/>
          <a:lstStyle/>
          <a:p>
            <a:pPr algn="ctr"/>
          </a:p>
        </p:txBody>
      </p:sp>
      <p:sp>
        <p:nvSpPr>
          <p:cNvPr id="32" name="TextBox 31"/>
          <p:cNvSpPr txBox="1"/>
          <p:nvPr/>
        </p:nvSpPr>
        <p:spPr>
          <a:xfrm>
            <a:off x="889000" y="4913312"/>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Gazebo 계열 리그를 쓰려면 PRD의 "Gazebo 주력 안 함" 결정의 예외로 둘지 먼저 정한다.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47273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보도 장면과 보행자 (S.2, S.3)</a:t>
            </a:r>
          </a:p>
        </p:txBody>
      </p:sp>
      <p:sp>
        <p:nvSpPr>
          <p:cNvPr id="3" name="TextBox 2"/>
          <p:cNvSpPr txBox="1"/>
          <p:nvPr/>
        </p:nvSpPr>
        <p:spPr>
          <a:xfrm>
            <a:off x="812800" y="2910880"/>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평가 틀은 보도 벤치마크에서 빌린다</a:t>
            </a:r>
          </a:p>
        </p:txBody>
      </p:sp>
      <p:sp>
        <p:nvSpPr>
          <p:cNvPr id="4" name="TextBox 3"/>
          <p:cNvSpPr txBox="1"/>
          <p:nvPr/>
        </p:nvSpPr>
        <p:spPr>
          <a:xfrm>
            <a:off x="812800" y="375920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보도 전용 시뮬레이터는 한 계보다. 보행자 모델은</a:t>
            </a:r>
          </a:p>
          <a:p>
            <a:pPr>
              <a:lnSpc>
                <a:spcPct val="133400"/>
              </a:lnSpc>
            </a:pPr>
            <a:r>
              <a:rPr sz="1650" b="0" i="0">
                <a:solidFill>
                  <a:srgbClr val="C9D1E0"/>
                </a:solidFill>
                <a:latin typeface="Arial"/>
                <a:ea typeface="Malgun Gothic"/>
                <a:cs typeface="Malgun Gothic"/>
              </a:rPr>
              <a:t>반응하는 다양성과 재현되는 공정성 사이에서 고른다.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S.2 · 보도·도시 시뮬레이터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보도 전용 시뮬레이터는 사실상 UCLA VAIL 한 계보다</a:t>
            </a:r>
          </a:p>
        </p:txBody>
      </p:sp>
      <p:sp>
        <p:nvSpPr>
          <p:cNvPr id="4" name="Rounded Rectangle 3"/>
          <p:cNvSpPr/>
          <p:nvPr/>
        </p:nvSpPr>
        <p:spPr>
          <a:xfrm>
            <a:off x="711200" y="1361678"/>
            <a:ext cx="1861641" cy="937220"/>
          </a:xfrm>
          <a:prstGeom prst="roundRect">
            <a:avLst>
              <a:gd name="adj" fmla="val 6775"/>
            </a:avLst>
          </a:prstGeom>
          <a:solidFill>
            <a:srgbClr val="FFFDF8"/>
          </a:solidFill>
          <a:ln>
            <a:noFill/>
          </a:ln>
        </p:spPr>
        <p:txBody>
          <a:bodyPr rtlCol="0" anchor="ctr"/>
          <a:lstStyle/>
          <a:p>
            <a:pPr algn="ctr"/>
          </a:p>
        </p:txBody>
      </p:sp>
      <p:sp>
        <p:nvSpPr>
          <p:cNvPr id="5" name="Rectangle 4"/>
          <p:cNvSpPr/>
          <p:nvPr/>
        </p:nvSpPr>
        <p:spPr>
          <a:xfrm>
            <a:off x="711200" y="1361678"/>
            <a:ext cx="1861641" cy="38100"/>
          </a:xfrm>
          <a:prstGeom prst="rect">
            <a:avLst/>
          </a:prstGeom>
          <a:solidFill>
            <a:srgbClr val="C2410C"/>
          </a:solidFill>
          <a:ln>
            <a:noFill/>
          </a:ln>
        </p:spPr>
        <p:txBody>
          <a:bodyPr rtlCol="0" anchor="ctr"/>
          <a:lstStyle/>
          <a:p>
            <a:pPr algn="ctr"/>
          </a:p>
        </p:txBody>
      </p:sp>
      <p:sp>
        <p:nvSpPr>
          <p:cNvPr id="6" name="Rectangle 5"/>
          <p:cNvSpPr/>
          <p:nvPr/>
        </p:nvSpPr>
        <p:spPr>
          <a:xfrm>
            <a:off x="2566491" y="1361678"/>
            <a:ext cx="6350" cy="937220"/>
          </a:xfrm>
          <a:prstGeom prst="rect">
            <a:avLst/>
          </a:prstGeom>
          <a:solidFill>
            <a:srgbClr val="D9D4C7"/>
          </a:solidFill>
          <a:ln>
            <a:noFill/>
          </a:ln>
        </p:spPr>
        <p:txBody>
          <a:bodyPr rtlCol="0" anchor="ctr"/>
          <a:lstStyle/>
          <a:p>
            <a:pPr algn="ctr"/>
          </a:p>
        </p:txBody>
      </p:sp>
      <p:sp>
        <p:nvSpPr>
          <p:cNvPr id="7" name="Rectangle 6"/>
          <p:cNvSpPr/>
          <p:nvPr/>
        </p:nvSpPr>
        <p:spPr>
          <a:xfrm>
            <a:off x="711200" y="2292548"/>
            <a:ext cx="1861641"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372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MetaDrive</a:t>
            </a:r>
          </a:p>
        </p:txBody>
      </p:sp>
      <p:sp>
        <p:nvSpPr>
          <p:cNvPr id="10" name="TextBox 9"/>
          <p:cNvSpPr txBox="1"/>
          <p:nvPr/>
        </p:nvSpPr>
        <p:spPr>
          <a:xfrm>
            <a:off x="831850"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2021, 자동차</a:t>
            </a:r>
          </a:p>
        </p:txBody>
      </p:sp>
      <p:sp>
        <p:nvSpPr>
          <p:cNvPr id="11" name="TextBox 10"/>
          <p:cNvSpPr txBox="1"/>
          <p:nvPr/>
        </p:nvSpPr>
        <p:spPr>
          <a:xfrm>
            <a:off x="2661741"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2938165" y="1361678"/>
            <a:ext cx="1861741" cy="937220"/>
          </a:xfrm>
          <a:prstGeom prst="roundRect">
            <a:avLst>
              <a:gd name="adj" fmla="val 6775"/>
            </a:avLst>
          </a:prstGeom>
          <a:solidFill>
            <a:srgbClr val="FFFDF8"/>
          </a:solidFill>
          <a:ln>
            <a:noFill/>
          </a:ln>
        </p:spPr>
        <p:txBody>
          <a:bodyPr rtlCol="0" anchor="ctr"/>
          <a:lstStyle/>
          <a:p>
            <a:pPr algn="ctr"/>
          </a:p>
        </p:txBody>
      </p:sp>
      <p:sp>
        <p:nvSpPr>
          <p:cNvPr id="13" name="Rectangle 12"/>
          <p:cNvSpPr/>
          <p:nvPr/>
        </p:nvSpPr>
        <p:spPr>
          <a:xfrm>
            <a:off x="2938165" y="1361678"/>
            <a:ext cx="1861741" cy="38100"/>
          </a:xfrm>
          <a:prstGeom prst="rect">
            <a:avLst/>
          </a:prstGeom>
          <a:solidFill>
            <a:srgbClr val="C2410C"/>
          </a:solidFill>
          <a:ln>
            <a:noFill/>
          </a:ln>
        </p:spPr>
        <p:txBody>
          <a:bodyPr rtlCol="0" anchor="ctr"/>
          <a:lstStyle/>
          <a:p>
            <a:pPr algn="ctr"/>
          </a:p>
        </p:txBody>
      </p:sp>
      <p:sp>
        <p:nvSpPr>
          <p:cNvPr id="14" name="Rectangle 13"/>
          <p:cNvSpPr/>
          <p:nvPr/>
        </p:nvSpPr>
        <p:spPr>
          <a:xfrm>
            <a:off x="4793555" y="1361678"/>
            <a:ext cx="6350" cy="937220"/>
          </a:xfrm>
          <a:prstGeom prst="rect">
            <a:avLst/>
          </a:prstGeom>
          <a:solidFill>
            <a:srgbClr val="D9D4C7"/>
          </a:solidFill>
          <a:ln>
            <a:noFill/>
          </a:ln>
        </p:spPr>
        <p:txBody>
          <a:bodyPr rtlCol="0" anchor="ctr"/>
          <a:lstStyle/>
          <a:p>
            <a:pPr algn="ctr"/>
          </a:p>
        </p:txBody>
      </p:sp>
      <p:sp>
        <p:nvSpPr>
          <p:cNvPr id="15" name="Rectangle 14"/>
          <p:cNvSpPr/>
          <p:nvPr/>
        </p:nvSpPr>
        <p:spPr>
          <a:xfrm>
            <a:off x="2938165" y="2292548"/>
            <a:ext cx="1861741" cy="6350"/>
          </a:xfrm>
          <a:prstGeom prst="rect">
            <a:avLst/>
          </a:prstGeom>
          <a:solidFill>
            <a:srgbClr val="D9D4C7"/>
          </a:solidFill>
          <a:ln>
            <a:noFill/>
          </a:ln>
        </p:spPr>
        <p:txBody>
          <a:bodyPr rtlCol="0" anchor="ctr"/>
          <a:lstStyle/>
          <a:p>
            <a:pPr algn="ctr"/>
          </a:p>
        </p:txBody>
      </p:sp>
      <p:sp>
        <p:nvSpPr>
          <p:cNvPr id="16" name="Rectangle 15"/>
          <p:cNvSpPr/>
          <p:nvPr/>
        </p:nvSpPr>
        <p:spPr>
          <a:xfrm>
            <a:off x="2938165" y="1361678"/>
            <a:ext cx="6350" cy="937220"/>
          </a:xfrm>
          <a:prstGeom prst="rect">
            <a:avLst/>
          </a:prstGeom>
          <a:solidFill>
            <a:srgbClr val="D9D4C7"/>
          </a:solidFill>
          <a:ln>
            <a:noFill/>
          </a:ln>
        </p:spPr>
        <p:txBody>
          <a:bodyPr rtlCol="0" anchor="ctr"/>
          <a:lstStyle/>
          <a:p>
            <a:pPr algn="ctr"/>
          </a:p>
        </p:txBody>
      </p:sp>
      <p:sp>
        <p:nvSpPr>
          <p:cNvPr id="17" name="TextBox 16"/>
          <p:cNvSpPr txBox="1"/>
          <p:nvPr/>
        </p:nvSpPr>
        <p:spPr>
          <a:xfrm>
            <a:off x="3058815" y="1501378"/>
            <a:ext cx="1694454"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MetaUrban</a:t>
            </a:r>
          </a:p>
        </p:txBody>
      </p:sp>
      <p:sp>
        <p:nvSpPr>
          <p:cNvPr id="18" name="TextBox 17"/>
          <p:cNvSpPr txBox="1"/>
          <p:nvPr/>
        </p:nvSpPr>
        <p:spPr>
          <a:xfrm>
            <a:off x="3058815" y="1799828"/>
            <a:ext cx="169445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ICLR 2025, 보도 절차 생성</a:t>
            </a:r>
          </a:p>
        </p:txBody>
      </p:sp>
      <p:sp>
        <p:nvSpPr>
          <p:cNvPr id="19" name="TextBox 18"/>
          <p:cNvSpPr txBox="1"/>
          <p:nvPr/>
        </p:nvSpPr>
        <p:spPr>
          <a:xfrm>
            <a:off x="4888805"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5165229" y="1361678"/>
            <a:ext cx="1861641" cy="937220"/>
          </a:xfrm>
          <a:prstGeom prst="roundRect">
            <a:avLst>
              <a:gd name="adj" fmla="val 6775"/>
            </a:avLst>
          </a:prstGeom>
          <a:solidFill>
            <a:srgbClr val="FFFDF8"/>
          </a:solidFill>
          <a:ln>
            <a:noFill/>
          </a:ln>
        </p:spPr>
        <p:txBody>
          <a:bodyPr rtlCol="0" anchor="ctr"/>
          <a:lstStyle/>
          <a:p>
            <a:pPr algn="ctr"/>
          </a:p>
        </p:txBody>
      </p:sp>
      <p:sp>
        <p:nvSpPr>
          <p:cNvPr id="21" name="Rectangle 20"/>
          <p:cNvSpPr/>
          <p:nvPr/>
        </p:nvSpPr>
        <p:spPr>
          <a:xfrm>
            <a:off x="5165229" y="1361678"/>
            <a:ext cx="1861641" cy="38100"/>
          </a:xfrm>
          <a:prstGeom prst="rect">
            <a:avLst/>
          </a:prstGeom>
          <a:solidFill>
            <a:srgbClr val="C2410C"/>
          </a:solidFill>
          <a:ln>
            <a:noFill/>
          </a:ln>
        </p:spPr>
        <p:txBody>
          <a:bodyPr rtlCol="0" anchor="ctr"/>
          <a:lstStyle/>
          <a:p>
            <a:pPr algn="ctr"/>
          </a:p>
        </p:txBody>
      </p:sp>
      <p:sp>
        <p:nvSpPr>
          <p:cNvPr id="22" name="Rectangle 21"/>
          <p:cNvSpPr/>
          <p:nvPr/>
        </p:nvSpPr>
        <p:spPr>
          <a:xfrm>
            <a:off x="7020520" y="1361678"/>
            <a:ext cx="6350" cy="937220"/>
          </a:xfrm>
          <a:prstGeom prst="rect">
            <a:avLst/>
          </a:prstGeom>
          <a:solidFill>
            <a:srgbClr val="D9D4C7"/>
          </a:solidFill>
          <a:ln>
            <a:noFill/>
          </a:ln>
        </p:spPr>
        <p:txBody>
          <a:bodyPr rtlCol="0" anchor="ctr"/>
          <a:lstStyle/>
          <a:p>
            <a:pPr algn="ctr"/>
          </a:p>
        </p:txBody>
      </p:sp>
      <p:sp>
        <p:nvSpPr>
          <p:cNvPr id="23" name="Rectangle 22"/>
          <p:cNvSpPr/>
          <p:nvPr/>
        </p:nvSpPr>
        <p:spPr>
          <a:xfrm>
            <a:off x="5165229" y="2292548"/>
            <a:ext cx="1861641" cy="6350"/>
          </a:xfrm>
          <a:prstGeom prst="rect">
            <a:avLst/>
          </a:prstGeom>
          <a:solidFill>
            <a:srgbClr val="D9D4C7"/>
          </a:solidFill>
          <a:ln>
            <a:noFill/>
          </a:ln>
        </p:spPr>
        <p:txBody>
          <a:bodyPr rtlCol="0" anchor="ctr"/>
          <a:lstStyle/>
          <a:p>
            <a:pPr algn="ctr"/>
          </a:p>
        </p:txBody>
      </p:sp>
      <p:sp>
        <p:nvSpPr>
          <p:cNvPr id="24" name="Rectangle 23"/>
          <p:cNvSpPr/>
          <p:nvPr/>
        </p:nvSpPr>
        <p:spPr>
          <a:xfrm>
            <a:off x="5165229" y="1361678"/>
            <a:ext cx="6350" cy="937220"/>
          </a:xfrm>
          <a:prstGeom prst="rect">
            <a:avLst/>
          </a:prstGeom>
          <a:solidFill>
            <a:srgbClr val="D9D4C7"/>
          </a:solidFill>
          <a:ln>
            <a:noFill/>
          </a:ln>
        </p:spPr>
        <p:txBody>
          <a:bodyPr rtlCol="0" anchor="ctr"/>
          <a:lstStyle/>
          <a:p>
            <a:pPr algn="ctr"/>
          </a:p>
        </p:txBody>
      </p:sp>
      <p:sp>
        <p:nvSpPr>
          <p:cNvPr id="25" name="TextBox 24"/>
          <p:cNvSpPr txBox="1"/>
          <p:nvPr/>
        </p:nvSpPr>
        <p:spPr>
          <a:xfrm>
            <a:off x="528587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URBAN-SIM</a:t>
            </a:r>
          </a:p>
        </p:txBody>
      </p:sp>
      <p:sp>
        <p:nvSpPr>
          <p:cNvPr id="26" name="TextBox 25"/>
          <p:cNvSpPr txBox="1"/>
          <p:nvPr/>
        </p:nvSpPr>
        <p:spPr>
          <a:xfrm>
            <a:off x="5285879" y="1799828"/>
            <a:ext cx="169435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CVPR 2025, Isaac Sim, GPU 병렬</a:t>
            </a:r>
          </a:p>
        </p:txBody>
      </p:sp>
      <p:sp>
        <p:nvSpPr>
          <p:cNvPr id="27" name="TextBox 26"/>
          <p:cNvSpPr txBox="1"/>
          <p:nvPr/>
        </p:nvSpPr>
        <p:spPr>
          <a:xfrm>
            <a:off x="7115770"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7392194" y="1361678"/>
            <a:ext cx="1861641" cy="937220"/>
          </a:xfrm>
          <a:prstGeom prst="roundRect">
            <a:avLst>
              <a:gd name="adj" fmla="val 6775"/>
            </a:avLst>
          </a:prstGeom>
          <a:solidFill>
            <a:srgbClr val="FFFDF8"/>
          </a:solidFill>
          <a:ln>
            <a:noFill/>
          </a:ln>
        </p:spPr>
        <p:txBody>
          <a:bodyPr rtlCol="0" anchor="ctr"/>
          <a:lstStyle/>
          <a:p>
            <a:pPr algn="ctr"/>
          </a:p>
        </p:txBody>
      </p:sp>
      <p:sp>
        <p:nvSpPr>
          <p:cNvPr id="29" name="Rectangle 28"/>
          <p:cNvSpPr/>
          <p:nvPr/>
        </p:nvSpPr>
        <p:spPr>
          <a:xfrm>
            <a:off x="7392194" y="1361678"/>
            <a:ext cx="1861641" cy="38100"/>
          </a:xfrm>
          <a:prstGeom prst="rect">
            <a:avLst/>
          </a:prstGeom>
          <a:solidFill>
            <a:srgbClr val="C2410C"/>
          </a:solidFill>
          <a:ln>
            <a:noFill/>
          </a:ln>
        </p:spPr>
        <p:txBody>
          <a:bodyPr rtlCol="0" anchor="ctr"/>
          <a:lstStyle/>
          <a:p>
            <a:pPr algn="ctr"/>
          </a:p>
        </p:txBody>
      </p:sp>
      <p:sp>
        <p:nvSpPr>
          <p:cNvPr id="30" name="Rectangle 29"/>
          <p:cNvSpPr/>
          <p:nvPr/>
        </p:nvSpPr>
        <p:spPr>
          <a:xfrm>
            <a:off x="9247485" y="1361678"/>
            <a:ext cx="6350" cy="937220"/>
          </a:xfrm>
          <a:prstGeom prst="rect">
            <a:avLst/>
          </a:prstGeom>
          <a:solidFill>
            <a:srgbClr val="D9D4C7"/>
          </a:solidFill>
          <a:ln>
            <a:noFill/>
          </a:ln>
        </p:spPr>
        <p:txBody>
          <a:bodyPr rtlCol="0" anchor="ctr"/>
          <a:lstStyle/>
          <a:p>
            <a:pPr algn="ctr"/>
          </a:p>
        </p:txBody>
      </p:sp>
      <p:sp>
        <p:nvSpPr>
          <p:cNvPr id="31" name="Rectangle 30"/>
          <p:cNvSpPr/>
          <p:nvPr/>
        </p:nvSpPr>
        <p:spPr>
          <a:xfrm>
            <a:off x="7392194" y="2292548"/>
            <a:ext cx="1861641" cy="6350"/>
          </a:xfrm>
          <a:prstGeom prst="rect">
            <a:avLst/>
          </a:prstGeom>
          <a:solidFill>
            <a:srgbClr val="D9D4C7"/>
          </a:solidFill>
          <a:ln>
            <a:noFill/>
          </a:ln>
        </p:spPr>
        <p:txBody>
          <a:bodyPr rtlCol="0" anchor="ctr"/>
          <a:lstStyle/>
          <a:p>
            <a:pPr algn="ctr"/>
          </a:p>
        </p:txBody>
      </p:sp>
      <p:sp>
        <p:nvSpPr>
          <p:cNvPr id="32" name="Rectangle 31"/>
          <p:cNvSpPr/>
          <p:nvPr/>
        </p:nvSpPr>
        <p:spPr>
          <a:xfrm>
            <a:off x="7392194" y="1361678"/>
            <a:ext cx="6350" cy="937220"/>
          </a:xfrm>
          <a:prstGeom prst="rect">
            <a:avLst/>
          </a:prstGeom>
          <a:solidFill>
            <a:srgbClr val="D9D4C7"/>
          </a:solidFill>
          <a:ln>
            <a:noFill/>
          </a:ln>
        </p:spPr>
        <p:txBody>
          <a:bodyPr rtlCol="0" anchor="ctr"/>
          <a:lstStyle/>
          <a:p>
            <a:pPr algn="ctr"/>
          </a:p>
        </p:txBody>
      </p:sp>
      <p:sp>
        <p:nvSpPr>
          <p:cNvPr id="33" name="TextBox 32"/>
          <p:cNvSpPr txBox="1"/>
          <p:nvPr/>
        </p:nvSpPr>
        <p:spPr>
          <a:xfrm>
            <a:off x="7512844"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UrbanVerse</a:t>
            </a:r>
          </a:p>
        </p:txBody>
      </p:sp>
      <p:sp>
        <p:nvSpPr>
          <p:cNvPr id="34" name="TextBox 33"/>
          <p:cNvSpPr txBox="1"/>
          <p:nvPr/>
        </p:nvSpPr>
        <p:spPr>
          <a:xfrm>
            <a:off x="7512844"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ICLR 2026, 영상 → 장면</a:t>
            </a:r>
          </a:p>
        </p:txBody>
      </p:sp>
      <p:sp>
        <p:nvSpPr>
          <p:cNvPr id="35" name="TextBox 34"/>
          <p:cNvSpPr txBox="1"/>
          <p:nvPr/>
        </p:nvSpPr>
        <p:spPr>
          <a:xfrm>
            <a:off x="9342735"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6" name="Rounded Rectangle 35"/>
          <p:cNvSpPr/>
          <p:nvPr/>
        </p:nvSpPr>
        <p:spPr>
          <a:xfrm>
            <a:off x="9619159" y="1361678"/>
            <a:ext cx="1861641" cy="937220"/>
          </a:xfrm>
          <a:prstGeom prst="roundRect">
            <a:avLst>
              <a:gd name="adj" fmla="val 6775"/>
            </a:avLst>
          </a:prstGeom>
          <a:solidFill>
            <a:srgbClr val="FFFDF8"/>
          </a:solidFill>
          <a:ln>
            <a:noFill/>
          </a:ln>
        </p:spPr>
        <p:txBody>
          <a:bodyPr rtlCol="0" anchor="ctr"/>
          <a:lstStyle/>
          <a:p>
            <a:pPr algn="ctr"/>
          </a:p>
        </p:txBody>
      </p:sp>
      <p:sp>
        <p:nvSpPr>
          <p:cNvPr id="37" name="Rectangle 36"/>
          <p:cNvSpPr/>
          <p:nvPr/>
        </p:nvSpPr>
        <p:spPr>
          <a:xfrm>
            <a:off x="9619159" y="1361678"/>
            <a:ext cx="1861641" cy="38100"/>
          </a:xfrm>
          <a:prstGeom prst="rect">
            <a:avLst/>
          </a:prstGeom>
          <a:solidFill>
            <a:srgbClr val="C2410C"/>
          </a:solidFill>
          <a:ln>
            <a:noFill/>
          </a:ln>
        </p:spPr>
        <p:txBody>
          <a:bodyPr rtlCol="0" anchor="ctr"/>
          <a:lstStyle/>
          <a:p>
            <a:pPr algn="ctr"/>
          </a:p>
        </p:txBody>
      </p:sp>
      <p:sp>
        <p:nvSpPr>
          <p:cNvPr id="38" name="Rectangle 37"/>
          <p:cNvSpPr/>
          <p:nvPr/>
        </p:nvSpPr>
        <p:spPr>
          <a:xfrm>
            <a:off x="11474450" y="1361678"/>
            <a:ext cx="6350" cy="937220"/>
          </a:xfrm>
          <a:prstGeom prst="rect">
            <a:avLst/>
          </a:prstGeom>
          <a:solidFill>
            <a:srgbClr val="D9D4C7"/>
          </a:solidFill>
          <a:ln>
            <a:noFill/>
          </a:ln>
        </p:spPr>
        <p:txBody>
          <a:bodyPr rtlCol="0" anchor="ctr"/>
          <a:lstStyle/>
          <a:p>
            <a:pPr algn="ctr"/>
          </a:p>
        </p:txBody>
      </p:sp>
      <p:sp>
        <p:nvSpPr>
          <p:cNvPr id="39" name="Rectangle 38"/>
          <p:cNvSpPr/>
          <p:nvPr/>
        </p:nvSpPr>
        <p:spPr>
          <a:xfrm>
            <a:off x="9619159" y="2292548"/>
            <a:ext cx="1861641" cy="6350"/>
          </a:xfrm>
          <a:prstGeom prst="rect">
            <a:avLst/>
          </a:prstGeom>
          <a:solidFill>
            <a:srgbClr val="D9D4C7"/>
          </a:solidFill>
          <a:ln>
            <a:noFill/>
          </a:ln>
        </p:spPr>
        <p:txBody>
          <a:bodyPr rtlCol="0" anchor="ctr"/>
          <a:lstStyle/>
          <a:p>
            <a:pPr algn="ctr"/>
          </a:p>
        </p:txBody>
      </p:sp>
      <p:sp>
        <p:nvSpPr>
          <p:cNvPr id="40" name="Rectangle 39"/>
          <p:cNvSpPr/>
          <p:nvPr/>
        </p:nvSpPr>
        <p:spPr>
          <a:xfrm>
            <a:off x="9619159" y="1361678"/>
            <a:ext cx="6350" cy="937220"/>
          </a:xfrm>
          <a:prstGeom prst="rect">
            <a:avLst/>
          </a:prstGeom>
          <a:solidFill>
            <a:srgbClr val="D9D4C7"/>
          </a:solidFill>
          <a:ln>
            <a:noFill/>
          </a:ln>
        </p:spPr>
        <p:txBody>
          <a:bodyPr rtlCol="0" anchor="ctr"/>
          <a:lstStyle/>
          <a:p>
            <a:pPr algn="ctr"/>
          </a:p>
        </p:txBody>
      </p:sp>
      <p:sp>
        <p:nvSpPr>
          <p:cNvPr id="41" name="TextBox 40"/>
          <p:cNvSpPr txBox="1"/>
          <p:nvPr/>
        </p:nvSpPr>
        <p:spPr>
          <a:xfrm>
            <a:off x="973980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SidewalkBench</a:t>
            </a:r>
          </a:p>
        </p:txBody>
      </p:sp>
      <p:sp>
        <p:nvSpPr>
          <p:cNvPr id="42" name="TextBox 41"/>
          <p:cNvSpPr txBox="1"/>
          <p:nvPr/>
        </p:nvSpPr>
        <p:spPr>
          <a:xfrm>
            <a:off x="9739809"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CoRL 2026, 평가</a:t>
            </a:r>
          </a:p>
        </p:txBody>
      </p:sp>
      <p:sp>
        <p:nvSpPr>
          <p:cNvPr id="43" name="Rounded Rectangle 42"/>
          <p:cNvSpPr/>
          <p:nvPr/>
        </p:nvSpPr>
        <p:spPr>
          <a:xfrm>
            <a:off x="711200" y="2476698"/>
            <a:ext cx="107696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44" name="Picture 43" descr="image.jpg"/>
          <p:cNvPicPr>
            <a:picLocks noChangeAspect="1"/>
          </p:cNvPicPr>
          <p:nvPr/>
        </p:nvPicPr>
        <p:blipFill>
          <a:blip r:embed="rId2"/>
          <a:stretch>
            <a:fillRect/>
          </a:stretch>
        </p:blipFill>
        <p:spPr>
          <a:xfrm>
            <a:off x="2432538" y="2476698"/>
            <a:ext cx="7326923" cy="2667000"/>
          </a:xfrm>
          <a:prstGeom prst="rect">
            <a:avLst/>
          </a:prstGeom>
        </p:spPr>
      </p:pic>
      <p:sp>
        <p:nvSpPr>
          <p:cNvPr id="45" name="TextBox 44"/>
          <p:cNvSpPr txBox="1"/>
          <p:nvPr/>
        </p:nvSpPr>
        <p:spPr>
          <a:xfrm>
            <a:off x="711200" y="520719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MetaUrban Fig. 4 — 보도를 건물·전면·통행·시설 네 구역으로 나누고, 보도 형태 7가지를 템플릿으로 쓴다 [3]</a:t>
            </a:r>
          </a:p>
        </p:txBody>
      </p:sp>
      <p:sp>
        <p:nvSpPr>
          <p:cNvPr id="46" name="Rounded Rectangle 45"/>
          <p:cNvSpPr/>
          <p:nvPr/>
        </p:nvSpPr>
        <p:spPr>
          <a:xfrm>
            <a:off x="711200" y="5562798"/>
            <a:ext cx="10769600" cy="502543"/>
          </a:xfrm>
          <a:prstGeom prst="roundRect">
            <a:avLst>
              <a:gd name="adj" fmla="val 15162"/>
            </a:avLst>
          </a:prstGeom>
          <a:solidFill>
            <a:srgbClr val="16213A"/>
          </a:solidFill>
          <a:ln>
            <a:noFill/>
          </a:ln>
        </p:spPr>
        <p:txBody>
          <a:bodyPr rtlCol="0" anchor="ctr"/>
          <a:lstStyle/>
          <a:p>
            <a:pPr algn="ctr"/>
          </a:p>
        </p:txBody>
      </p:sp>
      <p:sp>
        <p:nvSpPr>
          <p:cNvPr id="47" name="TextBox 46"/>
          <p:cNvSpPr txBox="1"/>
          <p:nvPr/>
        </p:nvSpPr>
        <p:spPr>
          <a:xfrm>
            <a:off x="889000" y="56897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네 구역은 배치 규칙의 틀이다. 연석·램프는 전면·통행 경계에, 화분·볼라드는 시설 구역에 둔다.</a:t>
            </a:r>
          </a:p>
        </p:txBody>
      </p:sp>
      <p:sp>
        <p:nvSpPr>
          <p:cNvPr id="48" name="Rectangle 47"/>
          <p:cNvSpPr/>
          <p:nvPr/>
        </p:nvSpPr>
        <p:spPr>
          <a:xfrm>
            <a:off x="711200" y="6424315"/>
            <a:ext cx="10769600" cy="230485"/>
          </a:xfrm>
          <a:prstGeom prst="rect">
            <a:avLst/>
          </a:prstGeom>
          <a:noFill/>
          <a:ln>
            <a:noFill/>
          </a:ln>
        </p:spPr>
        <p:txBody>
          <a:bodyPr rtlCol="0" anchor="ctr"/>
          <a:lstStyle/>
          <a:p>
            <a:pPr algn="ctr"/>
          </a:p>
        </p:txBody>
      </p:sp>
      <p:sp>
        <p:nvSpPr>
          <p:cNvPr id="49" name="Rectangle 4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50" name="TextBox 4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[3] MetaUrban, ICLR 2025 — arXiv:2407.08725 · [4] URBAN-SIM, CVPR 2025 — arXiv:2505.00690 · [5] UrbanVerse, ICLR 2026 — arXiv:2510.15018 · [6] SidewalkBench, CoRL 2026 — arXiv:2606.16953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S.2.2 · URBAN-SIM [4]</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URBAN-SIM은 GPU 한 장에서 보도 환경 256개를 병렬로 돌린다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WFC 지형</a:t>
            </a:r>
            <a:r>
              <a:rPr sz="1250" b="0" i="0">
                <a:solidFill>
                  <a:srgbClr val="16213A"/>
                </a:solidFill>
                <a:latin typeface="Arial"/>
                <a:ea typeface="Malgun Gothic"/>
                <a:cs typeface="Malgun Gothic"/>
              </a:rPr>
              <a:t>: 평지·계단·경사·요철 타일 단위로 잇는다</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JAX ORCA</a:t>
            </a:r>
            <a:r>
              <a:rPr sz="1250" b="0" i="0">
                <a:solidFill>
                  <a:srgbClr val="16213A"/>
                </a:solidFill>
                <a:latin typeface="Arial"/>
                <a:ea typeface="Malgun Gothic"/>
                <a:cs typeface="Malgun Gothic"/>
              </a:rPr>
              <a:t>: 보행자가 학습 중인 로봇에 실시간 반응한다</a:t>
            </a:r>
          </a:p>
        </p:txBody>
      </p:sp>
      <p:sp>
        <p:nvSpPr>
          <p:cNvPr id="6" name="TextBox 5"/>
          <p:cNvSpPr txBox="1"/>
          <p:nvPr/>
        </p:nvSpPr>
        <p:spPr>
          <a:xfrm>
            <a:off x="749300" y="19839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비동기 장면 샘플링</a:t>
            </a:r>
            <a:r>
              <a:rPr sz="1250" b="0" i="0">
                <a:solidFill>
                  <a:srgbClr val="16213A"/>
                </a:solidFill>
                <a:latin typeface="Arial"/>
                <a:ea typeface="Malgun Gothic"/>
                <a:cs typeface="Malgun Gothic"/>
              </a:rPr>
              <a:t>: 환경 256개, RGB-D를 켜고 1,800–2,600 fps</a:t>
            </a:r>
          </a:p>
        </p:txBody>
      </p:sp>
      <p:sp>
        <p:nvSpPr>
          <p:cNvPr id="7" name="TextBox 6"/>
          <p:cNvSpPr txBox="1"/>
          <p:nvPr/>
        </p:nvSpPr>
        <p:spPr>
          <a:xfrm>
            <a:off x="749300" y="22951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URBAN-BENCH</a:t>
            </a:r>
            <a:r>
              <a:rPr sz="1250" b="0" i="0">
                <a:solidFill>
                  <a:srgbClr val="16213A"/>
                </a:solidFill>
                <a:latin typeface="Arial"/>
                <a:ea typeface="Malgun Gothic"/>
                <a:cs typeface="Malgun Gothic"/>
              </a:rPr>
              <a:t>: 보행 4과제, 내비 3과제, km 단위 장거리</a:t>
            </a:r>
          </a:p>
        </p:txBody>
      </p:sp>
      <p:sp>
        <p:nvSpPr>
          <p:cNvPr id="8" name="TextBox 7"/>
          <p:cNvSpPr txBox="1"/>
          <p:nvPr/>
        </p:nvSpPr>
        <p:spPr>
          <a:xfrm>
            <a:off x="749300" y="260627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권장 VRAM 12 GB 이상: 데스크톱 RTX 5080(16 GB)은 되고, 랩탑(8 GB)은 못 미친다</a:t>
            </a:r>
          </a:p>
        </p:txBody>
      </p:sp>
      <p:sp>
        <p:nvSpPr>
          <p:cNvPr id="9" name="Rounded Rectangle 8"/>
          <p:cNvSpPr/>
          <p:nvPr/>
        </p:nvSpPr>
        <p:spPr>
          <a:xfrm>
            <a:off x="6223000" y="1361678"/>
            <a:ext cx="5257800" cy="3810000"/>
          </a:xfrm>
          <a:prstGeom prst="roundRect">
            <a:avLst>
              <a:gd name="adj" fmla="val 1333"/>
            </a:avLst>
          </a:prstGeom>
          <a:solidFill>
            <a:srgbClr val="FFFFFF"/>
          </a:solidFill>
          <a:ln w="6350">
            <a:solidFill>
              <a:srgbClr val="D9D4C7"/>
            </a:solidFill>
          </a:ln>
        </p:spPr>
        <p:txBody>
          <a:bodyPr rtlCol="0" anchor="ctr"/>
          <a:lstStyle/>
          <a:p>
            <a:pPr algn="ctr"/>
          </a:p>
        </p:txBody>
      </p:sp>
      <p:pic>
        <p:nvPicPr>
          <p:cNvPr id="10" name="Picture 9" descr="image.jpg"/>
          <p:cNvPicPr>
            <a:picLocks noChangeAspect="1"/>
          </p:cNvPicPr>
          <p:nvPr/>
        </p:nvPicPr>
        <p:blipFill>
          <a:blip r:embed="rId2"/>
          <a:stretch>
            <a:fillRect/>
          </a:stretch>
        </p:blipFill>
        <p:spPr>
          <a:xfrm>
            <a:off x="6294953" y="1361678"/>
            <a:ext cx="5113893" cy="3810000"/>
          </a:xfrm>
          <a:prstGeom prst="rect">
            <a:avLst/>
          </a:prstGeom>
        </p:spPr>
      </p:pic>
      <p:sp>
        <p:nvSpPr>
          <p:cNvPr id="11" name="TextBox 10"/>
          <p:cNvSpPr txBox="1"/>
          <p:nvPr/>
        </p:nvSpPr>
        <p:spPr>
          <a:xfrm>
            <a:off x="6223000" y="5235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URBAN-SIM Fig. 2 — 계층적 도시 생성, 상호작용 동역학, 비동기 샘플링</a:t>
            </a:r>
          </a:p>
        </p:txBody>
      </p:sp>
      <p:sp>
        <p:nvSpPr>
          <p:cNvPr id="12" name="Rounded Rectangle 11"/>
          <p:cNvSpPr/>
          <p:nvPr/>
        </p:nvSpPr>
        <p:spPr>
          <a:xfrm>
            <a:off x="711200" y="5590778"/>
            <a:ext cx="10769600" cy="502543"/>
          </a:xfrm>
          <a:prstGeom prst="roundRect">
            <a:avLst>
              <a:gd name="adj" fmla="val 15162"/>
            </a:avLst>
          </a:prstGeom>
          <a:solidFill>
            <a:srgbClr val="16213A"/>
          </a:solidFill>
          <a:ln>
            <a:noFill/>
          </a:ln>
        </p:spPr>
        <p:txBody>
          <a:bodyPr rtlCol="0" anchor="ctr"/>
          <a:lstStyle/>
          <a:p>
            <a:pPr algn="ctr"/>
          </a:p>
        </p:txBody>
      </p:sp>
      <p:sp>
        <p:nvSpPr>
          <p:cNvPr id="13" name="TextBox 12"/>
          <p:cNvSpPr txBox="1"/>
          <p:nvPr/>
        </p:nvSpPr>
        <p:spPr>
          <a:xfrm>
            <a:off x="889000" y="5717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L2 학습 장면의 첫 후보다. 에셋은 따로 받으므로 라이선스부터 확인한다(TP-0041).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S.2.3 · UrbanVerse [5]</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장면 배치가 현실 분포를 따를 때 학습이 일반화된다</a:t>
            </a:r>
          </a:p>
        </p:txBody>
      </p:sp>
      <p:sp>
        <p:nvSpPr>
          <p:cNvPr id="4" name="TextBox 3"/>
          <p:cNvSpPr txBox="1"/>
          <p:nvPr/>
        </p:nvSpPr>
        <p:spPr>
          <a:xfrm>
            <a:off x="749300" y="13616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도시 여행 영상 → 장면 그래프 → "디지털 사촌" 에셋 → Isaac Sim</a:t>
            </a:r>
          </a:p>
        </p:txBody>
      </p:sp>
      <p:sp>
        <p:nvSpPr>
          <p:cNvPr id="5" name="TextBox 4"/>
          <p:cNvSpPr txBox="1"/>
          <p:nvPr/>
        </p:nvSpPr>
        <p:spPr>
          <a:xfrm>
            <a:off x="749300" y="167282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24개국 영상에서 160장면, 에셋 10만 개 이상</a:t>
            </a:r>
          </a:p>
        </p:txBody>
      </p:sp>
      <p:sp>
        <p:nvSpPr>
          <p:cNvPr id="6" name="TextBox 5"/>
          <p:cNvSpPr txBox="1"/>
          <p:nvPr/>
        </p:nvSpPr>
        <p:spPr>
          <a:xfrm>
            <a:off x="749300" y="19839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배치 수를 늘리면 멱법칙으로 오른다. 템플릿 절차 생성은 거의 안 오른다</a:t>
            </a:r>
          </a:p>
        </p:txBody>
      </p:sp>
      <p:sp>
        <p:nvSpPr>
          <p:cNvPr id="7" name="TextBox 6"/>
          <p:cNvSpPr txBox="1"/>
          <p:nvPr/>
        </p:nvSpPr>
        <p:spPr>
          <a:xfrm>
            <a:off x="6210300" y="13616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PPO 정책: 시뮬 +6.3 %, zero-shot 실물 +30.1 % (논문 표기)</a:t>
            </a:r>
          </a:p>
        </p:txBody>
      </p:sp>
      <p:sp>
        <p:nvSpPr>
          <p:cNvPr id="8" name="TextBox 7"/>
          <p:cNvSpPr txBox="1"/>
          <p:nvPr/>
        </p:nvSpPr>
        <p:spPr>
          <a:xfrm>
            <a:off x="6210300" y="167282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Coco·Go2 실물 최대 89.7 %, 337 m 공공 도로에서 개입 두 번</a:t>
            </a:r>
          </a:p>
        </p:txBody>
      </p:sp>
      <p:sp>
        <p:nvSpPr>
          <p:cNvPr id="9" name="TextBox 8"/>
          <p:cNvSpPr txBox="1"/>
          <p:nvPr/>
        </p:nvSpPr>
        <p:spPr>
          <a:xfrm>
            <a:off x="6210300" y="19839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바퀴형은 차동 구동 운동학 + PD로 시뮬레이션했다</a:t>
            </a:r>
          </a:p>
        </p:txBody>
      </p:sp>
      <p:sp>
        <p:nvSpPr>
          <p:cNvPr id="10" name="Rounded Rectangle 9"/>
          <p:cNvSpPr/>
          <p:nvPr/>
        </p:nvSpPr>
        <p:spPr>
          <a:xfrm>
            <a:off x="711200" y="240942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2"/>
          <a:stretch>
            <a:fillRect/>
          </a:stretch>
        </p:blipFill>
        <p:spPr>
          <a:xfrm>
            <a:off x="3183156" y="2409428"/>
            <a:ext cx="5825688" cy="2540000"/>
          </a:xfrm>
          <a:prstGeom prst="rect">
            <a:avLst/>
          </a:prstGeom>
        </p:spPr>
      </p:pic>
      <p:sp>
        <p:nvSpPr>
          <p:cNvPr id="12" name="TextBox 11"/>
          <p:cNvSpPr txBox="1"/>
          <p:nvPr/>
        </p:nvSpPr>
        <p:spPr>
          <a:xfrm>
            <a:off x="711200" y="501292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UrbanVerse-Gen Fig. 4 — 추출, 디지털 사촌 매칭, 장면 생성</a:t>
            </a:r>
          </a:p>
        </p:txBody>
      </p:sp>
      <p:sp>
        <p:nvSpPr>
          <p:cNvPr id="13" name="Rounded Rectangle 12"/>
          <p:cNvSpPr/>
          <p:nvPr/>
        </p:nvSpPr>
        <p:spPr>
          <a:xfrm>
            <a:off x="711200" y="5368528"/>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549552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손으로 만든 시나리오 4개는 이 곡선의 맨 왼쪽에 있다. Planner D의 일반화를 재려면 현실에서 온 배치가 필요하다.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S.2.5 · SidewalkBench [6]</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SidewalkBench는 평가를 단위 시험·보행자·장거리 세 층으로 나눈다</a:t>
            </a:r>
          </a:p>
        </p:txBody>
      </p:sp>
      <p:graphicFrame>
        <p:nvGraphicFramePr>
          <p:cNvPr id="4" name="Table 3"/>
          <p:cNvGraphicFramePr>
            <a:graphicFrameLocks noGrp="1"/>
          </p:cNvGraphicFramePr>
          <p:nvPr/>
        </p:nvGraphicFramePr>
        <p:xfrm>
          <a:off x="711200" y="1361678"/>
          <a:ext cx="5143500" cy="1027549"/>
        </p:xfrm>
        <a:graphic>
          <a:graphicData uri="http://schemas.openxmlformats.org/drawingml/2006/table">
            <a:tbl>
              <a:tblPr firstRow="0" bandRow="0">
                <a:tableStyleId>{5C22544A-7EE6-4342-B048-85BDC9FD1C3A}</a:tableStyleId>
              </a:tblPr>
              <a:tblGrid>
                <a:gridCol w="2387898"/>
                <a:gridCol w="1120279"/>
                <a:gridCol w="1635323"/>
              </a:tblGrid>
              <a:tr h="263634">
                <a:tc>
                  <a:txBody>
                    <a:bodyPr wrap="square"/>
                    <a:lstStyle/>
                    <a:p>
                      <a:r>
                        <a:rPr sz="10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시나리오</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지표</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단위 시험</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330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경로 완주율</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보행자 반응 (사건 8종)</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800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성공률</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장거리 (100 m 이상)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100 m당 실패</a:t>
                      </a:r>
                    </a:p>
                  </a:txBody>
                  <a:tcPr marL="76200" marR="76200" marT="25400" marB="25400">
                    <a:solidFill>
                      <a:srgbClr val="F1EDE4"/>
                    </a:solidFill>
                  </a:tcPr>
                </a:tc>
              </a:tr>
            </a:tbl>
          </a:graphicData>
        </a:graphic>
      </p:graphicFrame>
      <p:sp>
        <p:nvSpPr>
          <p:cNvPr id="5" name="TextBox 4"/>
          <p:cNvSpPr txBox="1"/>
          <p:nvPr/>
        </p:nvSpPr>
        <p:spPr>
          <a:xfrm>
            <a:off x="6146800" y="13616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보행자 횡단이 가장 어렵다: 평균 성공 0.01, 충돌 0.68</a:t>
            </a:r>
          </a:p>
        </p:txBody>
      </p:sp>
      <p:sp>
        <p:nvSpPr>
          <p:cNvPr id="6" name="TextBox 5"/>
          <p:cNvSpPr txBox="1"/>
          <p:nvPr/>
        </p:nvSpPr>
        <p:spPr>
          <a:xfrm>
            <a:off x="6146800" y="167282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최고 모델도 장거리에서 100 m당 1.34번 실패</a:t>
            </a:r>
          </a:p>
        </p:txBody>
      </p:sp>
      <p:sp>
        <p:nvSpPr>
          <p:cNvPr id="7" name="TextBox 6"/>
          <p:cNvSpPr txBox="1"/>
          <p:nvPr/>
        </p:nvSpPr>
        <p:spPr>
          <a:xfrm>
            <a:off x="6146800" y="1983978"/>
            <a:ext cx="5519420"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절차 생성 장면 성능이 실제 스캔 장면 성능과 강하게 상관</a:t>
            </a:r>
          </a:p>
        </p:txBody>
      </p:sp>
      <p:sp>
        <p:nvSpPr>
          <p:cNvPr id="8" name="Rounded Rectangle 7"/>
          <p:cNvSpPr/>
          <p:nvPr/>
        </p:nvSpPr>
        <p:spPr>
          <a:xfrm>
            <a:off x="711200" y="2748359"/>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9" name="Picture 8" descr="image.jpg"/>
          <p:cNvPicPr>
            <a:picLocks noChangeAspect="1"/>
          </p:cNvPicPr>
          <p:nvPr/>
        </p:nvPicPr>
        <p:blipFill>
          <a:blip r:embed="rId2"/>
          <a:stretch>
            <a:fillRect/>
          </a:stretch>
        </p:blipFill>
        <p:spPr>
          <a:xfrm>
            <a:off x="2127250" y="2748359"/>
            <a:ext cx="7937500" cy="2413000"/>
          </a:xfrm>
          <a:prstGeom prst="rect">
            <a:avLst/>
          </a:prstGeom>
        </p:spPr>
      </p:pic>
      <p:sp>
        <p:nvSpPr>
          <p:cNvPr id="10" name="TextBox 9"/>
          <p:cNvSpPr txBox="1"/>
          <p:nvPr/>
        </p:nvSpPr>
        <p:spPr>
          <a:xfrm>
            <a:off x="711200" y="5224859"/>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SidewalkBench Fig. 3 — 사건 기반 보행자. 파랑은 사건 뒤 보행자, 빨강은 로봇의 기대 경로</a:t>
            </a:r>
          </a:p>
        </p:txBody>
      </p:sp>
      <p:sp>
        <p:nvSpPr>
          <p:cNvPr id="11" name="Rounded Rectangle 10"/>
          <p:cNvSpPr/>
          <p:nvPr/>
        </p:nvSpPr>
        <p:spPr>
          <a:xfrm>
            <a:off x="711200" y="5580459"/>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570745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TP-0027 평가 틀로 빌렸고, 100 m당 실패 지표는 TP-0038로 들어갔다(failure_rate 스크립트).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S.2.6 · S.2.7 · 평가 지표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성공률이 같은 스택은 비용과 제약 순위로 가른다</a:t>
            </a:r>
          </a:p>
        </p:txBody>
      </p:sp>
      <p:sp>
        <p:nvSpPr>
          <p:cNvPr id="4" name="Rounded Rectangle 3"/>
          <p:cNvSpPr/>
          <p:nvPr/>
        </p:nvSpPr>
        <p:spPr>
          <a:xfrm>
            <a:off x="711200" y="1361678"/>
            <a:ext cx="5257800" cy="1927721"/>
          </a:xfrm>
          <a:prstGeom prst="roundRect">
            <a:avLst>
              <a:gd name="adj" fmla="val 3952"/>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927721"/>
          </a:xfrm>
          <a:prstGeom prst="rect">
            <a:avLst/>
          </a:prstGeom>
          <a:solidFill>
            <a:srgbClr val="D9D4C7"/>
          </a:solidFill>
          <a:ln>
            <a:noFill/>
          </a:ln>
        </p:spPr>
        <p:txBody>
          <a:bodyPr rtlCol="0" anchor="ctr"/>
          <a:lstStyle/>
          <a:p>
            <a:pPr algn="ctr"/>
          </a:p>
        </p:txBody>
      </p:sp>
      <p:sp>
        <p:nvSpPr>
          <p:cNvPr id="7" name="Rectangle 6"/>
          <p:cNvSpPr/>
          <p:nvPr/>
        </p:nvSpPr>
        <p:spPr>
          <a:xfrm>
            <a:off x="711200" y="328304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92772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858143"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72615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CostNav [7]</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내비를 손익으로 채점한다</a:t>
            </a:r>
          </a:p>
        </p:txBody>
      </p:sp>
      <p:sp>
        <p:nvSpPr>
          <p:cNvPr id="12" name="TextBox 11"/>
          <p:cNvSpPr txBox="1"/>
          <p:nvPr/>
        </p:nvSpPr>
        <p:spPr>
          <a:xfrm>
            <a:off x="965200" y="21325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보행자 상해(충돌 순간 Δv), 기물 파손, jerk로 상한 음식 환불</a:t>
            </a:r>
          </a:p>
        </p:txBody>
      </p:sp>
      <p:sp>
        <p:nvSpPr>
          <p:cNvPr id="13" name="TextBox 12"/>
          <p:cNvSpPr txBox="1"/>
          <p:nvPr/>
        </p:nvSpPr>
        <p:spPr>
          <a:xfrm>
            <a:off x="965200" y="2416969"/>
            <a:ext cx="5002720" cy="6032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기준선 7개 모두 적자. SLA를 지킨 방법 중 CANVAS −28.40달러/회가 최소 손해, Nav2 −37.34달러</a:t>
            </a:r>
          </a:p>
        </p:txBody>
      </p:sp>
      <p:sp>
        <p:nvSpPr>
          <p:cNvPr id="14" name="TextBox 13"/>
          <p:cNvSpPr txBox="1"/>
          <p:nvPr/>
        </p:nvSpPr>
        <p:spPr>
          <a:xfrm>
            <a:off x="965200" y="292238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travplan: </a:t>
            </a:r>
            <a:r>
              <a:rPr sz="1000" b="0" i="0">
                <a:solidFill>
                  <a:srgbClr val="7C2D12"/>
                </a:solidFill>
                <a:latin typeface="Consolas"/>
                <a:ea typeface="Malgun Gothic"/>
                <a:cs typeface="Malgun Gothic"/>
              </a:rPr>
              <a:t>collision_speed_mps</a:t>
            </a:r>
            <a:r>
              <a:rPr sz="1150" b="0" i="0">
                <a:solidFill>
                  <a:srgbClr val="16213A"/>
                </a:solidFill>
                <a:latin typeface="Arial"/>
                <a:ea typeface="Malgun Gothic"/>
                <a:cs typeface="Malgun Gothic"/>
              </a:rPr>
              <a:t>, </a:t>
            </a:r>
            <a:r>
              <a:rPr sz="1000" b="0" i="0">
                <a:solidFill>
                  <a:srgbClr val="7C2D12"/>
                </a:solidFill>
                <a:latin typeface="Consolas"/>
                <a:ea typeface="Malgun Gothic"/>
                <a:cs typeface="Malgun Gothic"/>
              </a:rPr>
              <a:t>cargo_jerk_cost</a:t>
            </a:r>
            <a:r>
              <a:rPr sz="1150" b="0" i="0">
                <a:solidFill>
                  <a:srgbClr val="16213A"/>
                </a:solidFill>
                <a:latin typeface="Arial"/>
                <a:ea typeface="Malgun Gothic"/>
                <a:cs typeface="Malgun Gothic"/>
              </a:rPr>
              <a:t> 추가(TP-0038)</a:t>
            </a:r>
          </a:p>
        </p:txBody>
      </p:sp>
      <p:sp>
        <p:nvSpPr>
          <p:cNvPr id="15" name="Rounded Rectangle 14"/>
          <p:cNvSpPr/>
          <p:nvPr/>
        </p:nvSpPr>
        <p:spPr>
          <a:xfrm>
            <a:off x="711200" y="3403699"/>
            <a:ext cx="5257800" cy="1927721"/>
          </a:xfrm>
          <a:prstGeom prst="roundRect">
            <a:avLst>
              <a:gd name="adj" fmla="val 3952"/>
            </a:avLst>
          </a:prstGeom>
          <a:solidFill>
            <a:srgbClr val="FFFDF8"/>
          </a:solidFill>
          <a:ln>
            <a:noFill/>
          </a:ln>
        </p:spPr>
        <p:txBody>
          <a:bodyPr rtlCol="0" anchor="ctr"/>
          <a:lstStyle/>
          <a:p>
            <a:pPr algn="ctr"/>
          </a:p>
        </p:txBody>
      </p:sp>
      <p:sp>
        <p:nvSpPr>
          <p:cNvPr id="16" name="Rectangle 15"/>
          <p:cNvSpPr/>
          <p:nvPr/>
        </p:nvSpPr>
        <p:spPr>
          <a:xfrm>
            <a:off x="711200" y="3403699"/>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5962650" y="3403699"/>
            <a:ext cx="6350" cy="1927721"/>
          </a:xfrm>
          <a:prstGeom prst="rect">
            <a:avLst/>
          </a:prstGeom>
          <a:solidFill>
            <a:srgbClr val="D9D4C7"/>
          </a:solidFill>
          <a:ln>
            <a:noFill/>
          </a:ln>
        </p:spPr>
        <p:txBody>
          <a:bodyPr rtlCol="0" anchor="ctr"/>
          <a:lstStyle/>
          <a:p>
            <a:pPr algn="ctr"/>
          </a:p>
        </p:txBody>
      </p:sp>
      <p:sp>
        <p:nvSpPr>
          <p:cNvPr id="18" name="Rectangle 17"/>
          <p:cNvSpPr/>
          <p:nvPr/>
        </p:nvSpPr>
        <p:spPr>
          <a:xfrm>
            <a:off x="711200" y="5325070"/>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11200" y="3403699"/>
            <a:ext cx="50800" cy="1927721"/>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927100" y="3549749"/>
            <a:ext cx="964009"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1016000" y="3575149"/>
            <a:ext cx="83519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사전식 조종 [8]</a:t>
            </a:r>
          </a:p>
        </p:txBody>
      </p:sp>
      <p:sp>
        <p:nvSpPr>
          <p:cNvPr id="22" name="TextBox 21"/>
          <p:cNvSpPr txBox="1"/>
          <p:nvPr/>
        </p:nvSpPr>
        <p:spPr>
          <a:xfrm>
            <a:off x="927100" y="386724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0.10 m 턱은 hard, 잔디는 페널티</a:t>
            </a:r>
          </a:p>
        </p:txBody>
      </p:sp>
      <p:sp>
        <p:nvSpPr>
          <p:cNvPr id="23" name="TextBox 22"/>
          <p:cNvSpPr txBox="1"/>
          <p:nvPr/>
        </p:nvSpPr>
        <p:spPr>
          <a:xfrm>
            <a:off x="965200" y="4174530"/>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동적 장벽 안내로 성공 44.3 → 56.0/60, 턱 실패 12.0 → 2.0개/실행</a:t>
            </a:r>
          </a:p>
        </p:txBody>
      </p:sp>
      <p:sp>
        <p:nvSpPr>
          <p:cNvPr id="24" name="TextBox 23"/>
          <p:cNvSpPr txBox="1"/>
          <p:nvPr/>
        </p:nvSpPr>
        <p:spPr>
          <a:xfrm>
            <a:off x="965200" y="4458990"/>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대가: 주행 거리 27.2 → 36.9 m (약 36 %)</a:t>
            </a:r>
          </a:p>
        </p:txBody>
      </p:sp>
      <p:sp>
        <p:nvSpPr>
          <p:cNvPr id="25" name="TextBox 24"/>
          <p:cNvSpPr txBox="1"/>
          <p:nvPr/>
        </p:nvSpPr>
        <p:spPr>
          <a:xfrm>
            <a:off x="965200" y="4743450"/>
            <a:ext cx="5002720" cy="6032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travplan: Planner D 선택기는 치명 페널티 1,000으로 이미 사전식이다. 남은 것은 샘플 안내</a:t>
            </a:r>
          </a:p>
        </p:txBody>
      </p:sp>
      <p:sp>
        <p:nvSpPr>
          <p:cNvPr id="26" name="Rounded Rectangle 25"/>
          <p:cNvSpPr/>
          <p:nvPr/>
        </p:nvSpPr>
        <p:spPr>
          <a:xfrm>
            <a:off x="6223000" y="1361678"/>
            <a:ext cx="52578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27" name="Picture 26" descr="image.jpg"/>
          <p:cNvPicPr>
            <a:picLocks noChangeAspect="1"/>
          </p:cNvPicPr>
          <p:nvPr/>
        </p:nvPicPr>
        <p:blipFill>
          <a:blip r:embed="rId2"/>
          <a:stretch>
            <a:fillRect/>
          </a:stretch>
        </p:blipFill>
        <p:spPr>
          <a:xfrm>
            <a:off x="6244412" y="1361678"/>
            <a:ext cx="5214976" cy="2159000"/>
          </a:xfrm>
          <a:prstGeom prst="rect">
            <a:avLst/>
          </a:prstGeom>
        </p:spPr>
      </p:pic>
      <p:sp>
        <p:nvSpPr>
          <p:cNvPr id="28" name="TextBox 27"/>
          <p:cNvSpPr txBox="1"/>
          <p:nvPr/>
        </p:nvSpPr>
        <p:spPr>
          <a:xfrm>
            <a:off x="6223000" y="3584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CostNav Fig. 2 — 시뮬 로그의 운영 신호를 비용·수익 모델과 합쳐 손익분기점을 계산한다</a:t>
            </a:r>
          </a:p>
        </p:txBody>
      </p:sp>
      <p:sp>
        <p:nvSpPr>
          <p:cNvPr id="29" name="Rounded Rectangle 28"/>
          <p:cNvSpPr/>
          <p:nvPr/>
        </p:nvSpPr>
        <p:spPr>
          <a:xfrm>
            <a:off x="711200" y="5509220"/>
            <a:ext cx="10769600" cy="502543"/>
          </a:xfrm>
          <a:prstGeom prst="roundRect">
            <a:avLst>
              <a:gd name="adj" fmla="val 15162"/>
            </a:avLst>
          </a:prstGeom>
          <a:solidFill>
            <a:srgbClr val="16213A"/>
          </a:solidFill>
          <a:ln>
            <a:noFill/>
          </a:ln>
        </p:spPr>
        <p:txBody>
          <a:bodyPr rtlCol="0" anchor="ctr"/>
          <a:lstStyle/>
          <a:p>
            <a:pPr algn="ctr"/>
          </a:p>
        </p:txBody>
      </p:sp>
      <p:sp>
        <p:nvSpPr>
          <p:cNvPr id="30" name="TextBox 29"/>
          <p:cNvSpPr txBox="1"/>
          <p:nvPr/>
        </p:nvSpPr>
        <p:spPr>
          <a:xfrm>
            <a:off x="889000" y="563622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guidance+mppi와 planner_d+mppi처럼 둘 다 12/12인 스택을 가를 때 쓴다.</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[7] CostNav, 서울대·MAUM.AI·KAIST — arXiv:2511.20216 · [8] Jia, How, "사전식 선호로 생성 정책 조종", MIT 2026 — arXiv:2609.15014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S.3 · 보행자 모델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보행자 모델은 힘·속도·사건·언어·데이터의 다섯 갈래다</a:t>
            </a:r>
          </a:p>
        </p:txBody>
      </p:sp>
      <p:graphicFrame>
        <p:nvGraphicFramePr>
          <p:cNvPr id="4" name="Table 3"/>
          <p:cNvGraphicFramePr>
            <a:graphicFrameLocks noGrp="1"/>
          </p:cNvGraphicFramePr>
          <p:nvPr/>
        </p:nvGraphicFramePr>
        <p:xfrm>
          <a:off x="711200" y="1361678"/>
          <a:ext cx="10769600" cy="1538625"/>
        </p:xfrm>
        <a:graphic>
          <a:graphicData uri="http://schemas.openxmlformats.org/drawingml/2006/table">
            <a:tbl>
              <a:tblPr firstRow="0" bandRow="0">
                <a:tableStyleId>{5C22544A-7EE6-4342-B048-85BDC9FD1C3A}</a:tableStyleId>
              </a:tblPr>
              <a:tblGrid>
                <a:gridCol w="1974652"/>
                <a:gridCol w="1616174"/>
                <a:gridCol w="2324298"/>
                <a:gridCol w="1838623"/>
                <a:gridCol w="3015853"/>
              </a:tblGrid>
              <a:tr h="263634">
                <a:tc>
                  <a:txBody>
                    <a:bodyPr wrap="square"/>
                    <a:lstStyle/>
                    <a:p>
                      <a:r>
                        <a:rPr sz="100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대표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반응</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비용</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쓰는 곳</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규칙: 힘 모델</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Social Force [9]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로봇·서로·벽에 반응</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CPU, 매우 쌈</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HuNavSim [10], Arena</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규칙: 속도 최적화</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ORCA [11]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충돌 없는 속도 보장</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CPU·GPU(JAX), 쌈</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MetaUrban, URBAN-SIM</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사건 스크립트</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상태 기계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조건이 맞으면 정해진 행동</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쌈, 재현성 최고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SidewalkBench, DynBench [12]</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언어로 만든 행동 트리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LLM + SFM</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트리대로, 국소는 SFM</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생성 때 LLM</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GROVE [13]</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데이터 기반 생성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궤적 diffusion</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학습된 분포대로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GPU, 비쌈</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NavIsaacLab [14]</a:t>
                      </a:r>
                    </a:p>
                  </a:txBody>
                  <a:tcPr marL="76200" marR="76200" marT="25400" marB="25400">
                    <a:solidFill>
                      <a:srgbClr val="F1EDE4"/>
                    </a:solidFill>
                  </a:tcPr>
                </a:tc>
              </a:tr>
            </a:tbl>
          </a:graphicData>
        </a:graphic>
      </p:graphicFrame>
      <p:sp>
        <p:nvSpPr>
          <p:cNvPr id="5" name="TextBox 4"/>
          <p:cNvSpPr txBox="1"/>
          <p:nvPr/>
        </p:nvSpPr>
        <p:spPr>
          <a:xfrm>
            <a:off x="711200" y="3349625"/>
            <a:ext cx="1111808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반응하지 않는 보행자로는 로봇이 멈춰 버리는 문제(freezing)나 보행자가 비켜 주는 상호작용을 잴 수 없다.</a:t>
            </a:r>
          </a:p>
        </p:txBody>
      </p:sp>
      <p:sp>
        <p:nvSpPr>
          <p:cNvPr id="6" name="Rounded Rectangle 5"/>
          <p:cNvSpPr/>
          <p:nvPr/>
        </p:nvSpPr>
        <p:spPr>
          <a:xfrm>
            <a:off x="711200" y="3722985"/>
            <a:ext cx="5308600" cy="1041301"/>
          </a:xfrm>
          <a:prstGeom prst="roundRect">
            <a:avLst>
              <a:gd name="adj" fmla="val 7317"/>
            </a:avLst>
          </a:prstGeom>
          <a:solidFill>
            <a:srgbClr val="FFFDF8"/>
          </a:solidFill>
          <a:ln>
            <a:noFill/>
          </a:ln>
        </p:spPr>
        <p:txBody>
          <a:bodyPr rtlCol="0" anchor="ctr"/>
          <a:lstStyle/>
          <a:p>
            <a:pPr algn="ctr"/>
          </a:p>
        </p:txBody>
      </p:sp>
      <p:sp>
        <p:nvSpPr>
          <p:cNvPr id="7" name="Rectangle 6"/>
          <p:cNvSpPr/>
          <p:nvPr/>
        </p:nvSpPr>
        <p:spPr>
          <a:xfrm>
            <a:off x="711200" y="3722985"/>
            <a:ext cx="5308600" cy="6350"/>
          </a:xfrm>
          <a:prstGeom prst="rect">
            <a:avLst/>
          </a:prstGeom>
          <a:solidFill>
            <a:srgbClr val="D9D4C7"/>
          </a:solidFill>
          <a:ln>
            <a:noFill/>
          </a:ln>
        </p:spPr>
        <p:txBody>
          <a:bodyPr rtlCol="0" anchor="ctr"/>
          <a:lstStyle/>
          <a:p>
            <a:pPr algn="ctr"/>
          </a:p>
        </p:txBody>
      </p:sp>
      <p:sp>
        <p:nvSpPr>
          <p:cNvPr id="8" name="Rectangle 7"/>
          <p:cNvSpPr/>
          <p:nvPr/>
        </p:nvSpPr>
        <p:spPr>
          <a:xfrm>
            <a:off x="6013450" y="3722985"/>
            <a:ext cx="6350" cy="1041301"/>
          </a:xfrm>
          <a:prstGeom prst="rect">
            <a:avLst/>
          </a:prstGeom>
          <a:solidFill>
            <a:srgbClr val="D9D4C7"/>
          </a:solidFill>
          <a:ln>
            <a:noFill/>
          </a:ln>
        </p:spPr>
        <p:txBody>
          <a:bodyPr rtlCol="0" anchor="ctr"/>
          <a:lstStyle/>
          <a:p>
            <a:pPr algn="ctr"/>
          </a:p>
        </p:txBody>
      </p:sp>
      <p:sp>
        <p:nvSpPr>
          <p:cNvPr id="9" name="Rectangle 8"/>
          <p:cNvSpPr/>
          <p:nvPr/>
        </p:nvSpPr>
        <p:spPr>
          <a:xfrm>
            <a:off x="711200" y="4757936"/>
            <a:ext cx="5308600"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3722985"/>
            <a:ext cx="50800" cy="1041301"/>
          </a:xfrm>
          <a:prstGeom prst="roundRect">
            <a:avLst>
              <a:gd name="adj" fmla="val 50000"/>
            </a:avLst>
          </a:prstGeom>
          <a:solidFill>
            <a:srgbClr val="1D4ED8"/>
          </a:solidFill>
          <a:ln>
            <a:noFill/>
          </a:ln>
        </p:spPr>
        <p:txBody>
          <a:bodyPr rtlCol="0" anchor="ctr"/>
          <a:lstStyle/>
          <a:p>
            <a:pPr algn="ctr"/>
          </a:p>
        </p:txBody>
      </p:sp>
      <p:sp>
        <p:nvSpPr>
          <p:cNvPr id="11" name="TextBox 10"/>
          <p:cNvSpPr txBox="1"/>
          <p:nvPr/>
        </p:nvSpPr>
        <p:spPr>
          <a:xfrm>
            <a:off x="927100" y="3869035"/>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평가에는 사건 기반이 공정하다</a:t>
            </a:r>
          </a:p>
        </p:txBody>
      </p:sp>
      <p:sp>
        <p:nvSpPr>
          <p:cNvPr id="12" name="TextBox 11"/>
          <p:cNvSpPr txBox="1"/>
          <p:nvPr/>
        </p:nvSpPr>
        <p:spPr>
          <a:xfrm>
            <a:off x="927100" y="4176316"/>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사건이 같은 조건에서 일어나 스택끼리 공정하다. 목록 밖 상호작용은 못 만든다.</a:t>
            </a:r>
          </a:p>
        </p:txBody>
      </p:sp>
      <p:sp>
        <p:nvSpPr>
          <p:cNvPr id="13" name="Rounded Rectangle 12"/>
          <p:cNvSpPr/>
          <p:nvPr/>
        </p:nvSpPr>
        <p:spPr>
          <a:xfrm>
            <a:off x="6172200" y="3722985"/>
            <a:ext cx="5308600" cy="1041301"/>
          </a:xfrm>
          <a:prstGeom prst="roundRect">
            <a:avLst>
              <a:gd name="adj" fmla="val 7317"/>
            </a:avLst>
          </a:prstGeom>
          <a:solidFill>
            <a:srgbClr val="FFFDF8"/>
          </a:solidFill>
          <a:ln>
            <a:noFill/>
          </a:ln>
        </p:spPr>
        <p:txBody>
          <a:bodyPr rtlCol="0" anchor="ctr"/>
          <a:lstStyle/>
          <a:p>
            <a:pPr algn="ctr"/>
          </a:p>
        </p:txBody>
      </p:sp>
      <p:sp>
        <p:nvSpPr>
          <p:cNvPr id="14" name="Rectangle 13"/>
          <p:cNvSpPr/>
          <p:nvPr/>
        </p:nvSpPr>
        <p:spPr>
          <a:xfrm>
            <a:off x="6172200" y="3722985"/>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3722985"/>
            <a:ext cx="6350" cy="1041301"/>
          </a:xfrm>
          <a:prstGeom prst="rect">
            <a:avLst/>
          </a:prstGeom>
          <a:solidFill>
            <a:srgbClr val="D9D4C7"/>
          </a:solidFill>
          <a:ln>
            <a:noFill/>
          </a:ln>
        </p:spPr>
        <p:txBody>
          <a:bodyPr rtlCol="0" anchor="ctr"/>
          <a:lstStyle/>
          <a:p>
            <a:pPr algn="ctr"/>
          </a:p>
        </p:txBody>
      </p:sp>
      <p:sp>
        <p:nvSpPr>
          <p:cNvPr id="16" name="Rectangle 15"/>
          <p:cNvSpPr/>
          <p:nvPr/>
        </p:nvSpPr>
        <p:spPr>
          <a:xfrm>
            <a:off x="6172200" y="4757936"/>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3722985"/>
            <a:ext cx="50800" cy="1041301"/>
          </a:xfrm>
          <a:prstGeom prst="roundRect">
            <a:avLst>
              <a:gd name="adj" fmla="val 50000"/>
            </a:avLst>
          </a:prstGeom>
          <a:solidFill>
            <a:srgbClr val="9AA6BC"/>
          </a:solidFill>
          <a:ln>
            <a:noFill/>
          </a:ln>
        </p:spPr>
        <p:txBody>
          <a:bodyPr rtlCol="0" anchor="ctr"/>
          <a:lstStyle/>
          <a:p>
            <a:pPr algn="ctr"/>
          </a:p>
        </p:txBody>
      </p:sp>
      <p:sp>
        <p:nvSpPr>
          <p:cNvPr id="18" name="TextBox 17"/>
          <p:cNvSpPr txBox="1"/>
          <p:nvPr/>
        </p:nvSpPr>
        <p:spPr>
          <a:xfrm>
            <a:off x="6388100" y="3869035"/>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학습된 보행자는 학습에 값지다</a:t>
            </a:r>
          </a:p>
        </p:txBody>
      </p:sp>
      <p:sp>
        <p:nvSpPr>
          <p:cNvPr id="19" name="TextBox 18"/>
          <p:cNvSpPr txBox="1"/>
          <p:nvPr/>
        </p:nvSpPr>
        <p:spPr>
          <a:xfrm>
            <a:off x="6388100" y="4176316"/>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NavIsaacLab은 시뮬로만 학습한 정책을 Scout Mini에 올렸다. 비싸서 L2로 미룬다.</a:t>
            </a:r>
          </a:p>
        </p:txBody>
      </p:sp>
      <p:sp>
        <p:nvSpPr>
          <p:cNvPr id="20" name="Rounded Rectangle 19"/>
          <p:cNvSpPr/>
          <p:nvPr/>
        </p:nvSpPr>
        <p:spPr>
          <a:xfrm>
            <a:off x="711200" y="4942086"/>
            <a:ext cx="10769600" cy="502543"/>
          </a:xfrm>
          <a:prstGeom prst="roundRect">
            <a:avLst>
              <a:gd name="adj" fmla="val 15162"/>
            </a:avLst>
          </a:prstGeom>
          <a:solidFill>
            <a:srgbClr val="16213A"/>
          </a:solidFill>
          <a:ln>
            <a:noFill/>
          </a:ln>
        </p:spPr>
        <p:txBody>
          <a:bodyPr rtlCol="0" anchor="ctr"/>
          <a:lstStyle/>
          <a:p>
            <a:pPr algn="ctr"/>
          </a:p>
        </p:txBody>
      </p:sp>
      <p:sp>
        <p:nvSpPr>
          <p:cNvPr id="21" name="TextBox 20"/>
          <p:cNvSpPr txBox="1"/>
          <p:nvPr/>
        </p:nvSpPr>
        <p:spPr>
          <a:xfrm>
            <a:off x="889000" y="506908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기본 보행자는 등속 직선이다. ORCA 반응형은 선택 항목(TP-0036)으로 들어갔다.</a:t>
            </a:r>
          </a:p>
        </p:txBody>
      </p:sp>
      <p:sp>
        <p:nvSpPr>
          <p:cNvPr id="22" name="Rectangle 21"/>
          <p:cNvSpPr/>
          <p:nvPr/>
        </p:nvSpPr>
        <p:spPr>
          <a:xfrm>
            <a:off x="711200" y="6270030"/>
            <a:ext cx="10769600" cy="384770"/>
          </a:xfrm>
          <a:prstGeom prst="rect">
            <a:avLst/>
          </a:prstGeom>
          <a:noFill/>
          <a:ln>
            <a:noFill/>
          </a:ln>
        </p:spPr>
        <p:txBody>
          <a:bodyPr rtlCol="0" anchor="ctr"/>
          <a:lstStyle/>
          <a:p>
            <a:pPr algn="ctr"/>
          </a:p>
        </p:txBody>
      </p:sp>
      <p:sp>
        <p:nvSpPr>
          <p:cNvPr id="23" name="Rectangle 22"/>
          <p:cNvSpPr/>
          <p:nvPr/>
        </p:nvSpPr>
        <p:spPr>
          <a:xfrm>
            <a:off x="711200" y="6270030"/>
            <a:ext cx="10769600" cy="12700"/>
          </a:xfrm>
          <a:prstGeom prst="rect">
            <a:avLst/>
          </a:prstGeom>
          <a:solidFill>
            <a:srgbClr val="D9D4C7"/>
          </a:solidFill>
          <a:ln>
            <a:noFill/>
          </a:ln>
        </p:spPr>
        <p:txBody>
          <a:bodyPr rtlCol="0" anchor="ctr"/>
          <a:lstStyle/>
          <a:p>
            <a:pPr algn="ctr"/>
          </a:p>
        </p:txBody>
      </p:sp>
      <p:sp>
        <p:nvSpPr>
          <p:cNvPr id="24" name="TextBox 23"/>
          <p:cNvSpPr txBox="1"/>
          <p:nvPr/>
        </p:nvSpPr>
        <p:spPr>
          <a:xfrm>
            <a:off x="711200" y="6346230"/>
            <a:ext cx="11118088" cy="436513"/>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[9] Helbing, Molnár 1995 · [10] HuNavSim, RA-L — arXiv:2305.01303 · [11] van den Berg 외, ISRR 2011 · [12] FLUX/DynBench — arXiv:2603.12806 · [13] GROVE, IROS 2026 — arXiv:2606.25504 · [14] NavIsaacLab — arXiv:2606.26265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S.3.2 · ORCA와 DynBench</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ORCA 보행자는 서로 협조한다고 가정해 로봇을 과하게 비켜 줄 수 있다</a:t>
            </a:r>
          </a:p>
        </p:txBody>
      </p:sp>
      <p:sp>
        <p:nvSpPr>
          <p:cNvPr id="4" name="Rounded Rectangle 3"/>
          <p:cNvSpPr/>
          <p:nvPr/>
        </p:nvSpPr>
        <p:spPr>
          <a:xfrm>
            <a:off x="711200" y="1361678"/>
            <a:ext cx="5064125" cy="608608"/>
          </a:xfrm>
          <a:prstGeom prst="roundRect">
            <a:avLst>
              <a:gd name="adj" fmla="val 8346"/>
            </a:avLst>
          </a:prstGeom>
          <a:solidFill>
            <a:srgbClr val="FFFDF8"/>
          </a:solidFill>
          <a:ln>
            <a:noFill/>
          </a:ln>
        </p:spPr>
        <p:txBody>
          <a:bodyPr rtlCol="0" anchor="ctr"/>
          <a:lstStyle/>
          <a:p>
            <a:pPr algn="ctr"/>
          </a:p>
        </p:txBody>
      </p:sp>
      <p:sp>
        <p:nvSpPr>
          <p:cNvPr id="5" name="Rounded Rectangle 4"/>
          <p:cNvSpPr/>
          <p:nvPr/>
        </p:nvSpPr>
        <p:spPr>
          <a:xfrm>
            <a:off x="711200" y="1361678"/>
            <a:ext cx="38100" cy="608608"/>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727575" cy="437158"/>
          </a:xfrm>
          <a:prstGeom prst="rect">
            <a:avLst/>
          </a:prstGeom>
        </p:spPr>
      </p:pic>
      <p:sp>
        <p:nvSpPr>
          <p:cNvPr id="7" name="Rounded Rectangle 6"/>
          <p:cNvSpPr/>
          <p:nvPr/>
        </p:nvSpPr>
        <p:spPr>
          <a:xfrm>
            <a:off x="711200" y="2084586"/>
            <a:ext cx="5064125"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11200" y="2084586"/>
            <a:ext cx="5064125" cy="6350"/>
          </a:xfrm>
          <a:prstGeom prst="rect">
            <a:avLst/>
          </a:prstGeom>
          <a:solidFill>
            <a:srgbClr val="D9D4C7"/>
          </a:solidFill>
          <a:ln>
            <a:noFill/>
          </a:ln>
        </p:spPr>
        <p:txBody>
          <a:bodyPr rtlCol="0" anchor="ctr"/>
          <a:lstStyle/>
          <a:p>
            <a:pPr algn="ctr"/>
          </a:p>
        </p:txBody>
      </p:sp>
      <p:sp>
        <p:nvSpPr>
          <p:cNvPr id="9" name="Rectangle 8"/>
          <p:cNvSpPr/>
          <p:nvPr/>
        </p:nvSpPr>
        <p:spPr>
          <a:xfrm>
            <a:off x="5768975" y="2084586"/>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11200" y="3350716"/>
            <a:ext cx="5064125"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084586"/>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2230636"/>
            <a:ext cx="945356"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2256036"/>
            <a:ext cx="81598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TP-0036 측정</a:t>
            </a:r>
          </a:p>
        </p:txBody>
      </p:sp>
      <p:sp>
        <p:nvSpPr>
          <p:cNvPr id="14" name="TextBox 13"/>
          <p:cNvSpPr txBox="1"/>
          <p:nvPr/>
        </p:nvSpPr>
        <p:spPr>
          <a:xfrm>
            <a:off x="927100" y="2548136"/>
            <a:ext cx="4842478" cy="879401"/>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SHARE는 효과가 약한 파라미터다.</a:t>
            </a:r>
            <a:r>
              <a:rPr sz="1150" b="0" i="0">
                <a:solidFill>
                  <a:srgbClr val="16213A"/>
                </a:solidFill>
                <a:latin typeface="Arial"/>
                <a:ea typeface="Malgun Gothic"/>
                <a:cs typeface="Malgun Gothic"/>
              </a:rPr>
              <a:t> 3 s 뒤 옆 이동이 SHARE 0.25·0.5·1.0에서 0.50·0.49·0.49 m로 같다. 비키는 시점은 horizon τ가 정한다(τ 0.5 → 4 s에서 2 s 뒤 0.02 → 0.37 m).</a:t>
            </a:r>
          </a:p>
        </p:txBody>
      </p:sp>
      <p:sp>
        <p:nvSpPr>
          <p:cNvPr id="15" name="Rounded Rectangle 14"/>
          <p:cNvSpPr/>
          <p:nvPr/>
        </p:nvSpPr>
        <p:spPr>
          <a:xfrm>
            <a:off x="6029325" y="1361678"/>
            <a:ext cx="5451475" cy="1991221"/>
          </a:xfrm>
          <a:prstGeom prst="roundRect">
            <a:avLst>
              <a:gd name="adj" fmla="val 3826"/>
            </a:avLst>
          </a:prstGeom>
          <a:solidFill>
            <a:srgbClr val="FFFDF8"/>
          </a:solidFill>
          <a:ln>
            <a:noFill/>
          </a:ln>
        </p:spPr>
        <p:txBody>
          <a:bodyPr rtlCol="0" anchor="ctr"/>
          <a:lstStyle/>
          <a:p>
            <a:pPr algn="ctr"/>
          </a:p>
        </p:txBody>
      </p:sp>
      <p:sp>
        <p:nvSpPr>
          <p:cNvPr id="16" name="Rectangle 15"/>
          <p:cNvSpPr/>
          <p:nvPr/>
        </p:nvSpPr>
        <p:spPr>
          <a:xfrm>
            <a:off x="6029325" y="1361678"/>
            <a:ext cx="5451475"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1361678"/>
            <a:ext cx="6350" cy="1991221"/>
          </a:xfrm>
          <a:prstGeom prst="rect">
            <a:avLst/>
          </a:prstGeom>
          <a:solidFill>
            <a:srgbClr val="D9D4C7"/>
          </a:solidFill>
          <a:ln>
            <a:noFill/>
          </a:ln>
        </p:spPr>
        <p:txBody>
          <a:bodyPr rtlCol="0" anchor="ctr"/>
          <a:lstStyle/>
          <a:p>
            <a:pPr algn="ctr"/>
          </a:p>
        </p:txBody>
      </p:sp>
      <p:sp>
        <p:nvSpPr>
          <p:cNvPr id="18" name="Rectangle 17"/>
          <p:cNvSpPr/>
          <p:nvPr/>
        </p:nvSpPr>
        <p:spPr>
          <a:xfrm>
            <a:off x="6029325" y="3346549"/>
            <a:ext cx="5451475" cy="6350"/>
          </a:xfrm>
          <a:prstGeom prst="rect">
            <a:avLst/>
          </a:prstGeom>
          <a:solidFill>
            <a:srgbClr val="D9D4C7"/>
          </a:solidFill>
          <a:ln>
            <a:noFill/>
          </a:ln>
        </p:spPr>
        <p:txBody>
          <a:bodyPr rtlCol="0" anchor="ctr"/>
          <a:lstStyle/>
          <a:p>
            <a:pPr algn="ctr"/>
          </a:p>
        </p:txBody>
      </p:sp>
      <p:sp>
        <p:nvSpPr>
          <p:cNvPr id="19" name="Rounded Rectangle 18"/>
          <p:cNvSpPr/>
          <p:nvPr/>
        </p:nvSpPr>
        <p:spPr>
          <a:xfrm>
            <a:off x="6029325" y="1361678"/>
            <a:ext cx="50800" cy="1991221"/>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6245225" y="1507728"/>
            <a:ext cx="1042095"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6334125" y="1533128"/>
            <a:ext cx="91562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DynBench [12]</a:t>
            </a:r>
          </a:p>
        </p:txBody>
      </p:sp>
      <p:sp>
        <p:nvSpPr>
          <p:cNvPr id="22" name="TextBox 21"/>
          <p:cNvSpPr txBox="1"/>
          <p:nvPr/>
        </p:nvSpPr>
        <p:spPr>
          <a:xfrm>
            <a:off x="6245225" y="1825228"/>
            <a:ext cx="5241449"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ORCA 대신 상태 기계 + NavMesh</a:t>
            </a:r>
          </a:p>
        </p:txBody>
      </p:sp>
      <p:sp>
        <p:nvSpPr>
          <p:cNvPr id="23" name="TextBox 22"/>
          <p:cNvSpPr txBox="1"/>
          <p:nvPr/>
        </p:nvSpPr>
        <p:spPr>
          <a:xfrm>
            <a:off x="6283325" y="213250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상태 셋(GoTo·Idle·LookAround), 경유점 사이는 NavMesh A*</a:t>
            </a:r>
          </a:p>
        </p:txBody>
      </p:sp>
      <p:sp>
        <p:nvSpPr>
          <p:cNvPr id="24" name="TextBox 23"/>
          <p:cNvSpPr txBox="1"/>
          <p:nvPr/>
        </p:nvSpPr>
        <p:spPr>
          <a:xfrm>
            <a:off x="6283325" y="241696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보행자 1.1 m/s, 로봇 0.5 m/s</a:t>
            </a:r>
          </a:p>
        </p:txBody>
      </p:sp>
      <p:sp>
        <p:nvSpPr>
          <p:cNvPr id="25" name="TextBox 24"/>
          <p:cNvSpPr txBox="1"/>
          <p:nvPr/>
        </p:nvSpPr>
        <p:spPr>
          <a:xfrm>
            <a:off x="6283325" y="270142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FLUX: SocialNav 성공 59.3 → 64.0, 충돌 21 → 16 (NavDP 대비)</a:t>
            </a:r>
          </a:p>
        </p:txBody>
      </p:sp>
      <p:sp>
        <p:nvSpPr>
          <p:cNvPr id="26" name="TextBox 25"/>
          <p:cNvSpPr txBox="1"/>
          <p:nvPr/>
        </p:nvSpPr>
        <p:spPr>
          <a:xfrm>
            <a:off x="6283325" y="298588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서 있다가 갑자기 걷는 보행자는 등속으로도 ORCA로도 못 만든다</a:t>
            </a:r>
          </a:p>
        </p:txBody>
      </p:sp>
      <p:sp>
        <p:nvSpPr>
          <p:cNvPr id="27" name="Rounded Rectangle 26"/>
          <p:cNvSpPr/>
          <p:nvPr/>
        </p:nvSpPr>
        <p:spPr>
          <a:xfrm>
            <a:off x="711200" y="3534866"/>
            <a:ext cx="10769600" cy="502543"/>
          </a:xfrm>
          <a:prstGeom prst="roundRect">
            <a:avLst>
              <a:gd name="adj" fmla="val 15162"/>
            </a:avLst>
          </a:prstGeom>
          <a:solidFill>
            <a:srgbClr val="16213A"/>
          </a:solidFill>
          <a:ln>
            <a:noFill/>
          </a:ln>
        </p:spPr>
        <p:txBody>
          <a:bodyPr rtlCol="0" anchor="ctr"/>
          <a:lstStyle/>
          <a:p>
            <a:pPr algn="ctr"/>
          </a:p>
        </p:txBody>
      </p:sp>
      <p:sp>
        <p:nvSpPr>
          <p:cNvPr id="28" name="TextBox 27"/>
          <p:cNvSpPr txBox="1"/>
          <p:nvPr/>
        </p:nvSpPr>
        <p:spPr>
          <a:xfrm>
            <a:off x="889000" y="366186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TP-0167 짝 비교에서 충돌이 줄면 Controller 덕인지 ORCA 보행자가 피해 준 덕인지 함께 적는다.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travplan 결과 · TP-0154 · 0161 · 0165</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보행자 5명이면 충돌은 720 중 8건이고, 등급화 페널티가 4건으로 줄인다</a:t>
            </a:r>
          </a:p>
        </p:txBody>
      </p:sp>
      <p:sp>
        <p:nvSpPr>
          <p:cNvPr id="4" name="Rounded Rectangle 3"/>
          <p:cNvSpPr/>
          <p:nvPr/>
        </p:nvSpPr>
        <p:spPr>
          <a:xfrm>
            <a:off x="711200" y="1361678"/>
            <a:ext cx="10769600" cy="2921000"/>
          </a:xfrm>
          <a:prstGeom prst="roundRect">
            <a:avLst>
              <a:gd name="adj" fmla="val 1739"/>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01333" y="1361678"/>
            <a:ext cx="7789333" cy="2921000"/>
          </a:xfrm>
          <a:prstGeom prst="rect">
            <a:avLst/>
          </a:prstGeom>
        </p:spPr>
      </p:pic>
      <p:sp>
        <p:nvSpPr>
          <p:cNvPr id="6" name="TextBox 5"/>
          <p:cNvSpPr txBox="1"/>
          <p:nvPr/>
        </p:nvSpPr>
        <p:spPr>
          <a:xfrm>
            <a:off x="711200" y="4346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권장 L1 + 스워브 plant + 보행자 5명 (TP-0154): 레벨 0 도달 116 → 107/120, 레벨 3은 그대로</a:t>
            </a:r>
          </a:p>
        </p:txBody>
      </p:sp>
      <p:graphicFrame>
        <p:nvGraphicFramePr>
          <p:cNvPr id="7" name="Table 6"/>
          <p:cNvGraphicFramePr>
            <a:graphicFrameLocks noGrp="1"/>
          </p:cNvGraphicFramePr>
          <p:nvPr/>
        </p:nvGraphicFramePr>
        <p:xfrm>
          <a:off x="711200" y="4701778"/>
          <a:ext cx="10769599" cy="1027549"/>
        </p:xfrm>
        <a:graphic>
          <a:graphicData uri="http://schemas.openxmlformats.org/drawingml/2006/table">
            <a:tbl>
              <a:tblPr firstRow="0" bandRow="0">
                <a:tableStyleId>{5C22544A-7EE6-4342-B048-85BDC9FD1C3A}</a:tableStyleId>
              </a:tblPr>
              <a:tblGrid>
                <a:gridCol w="4795937"/>
                <a:gridCol w="905768"/>
                <a:gridCol w="901005"/>
                <a:gridCol w="901005"/>
                <a:gridCol w="3265884"/>
              </a:tblGrid>
              <a:tr h="263634">
                <a:tc>
                  <a:txBody>
                    <a:bodyPr wrap="square"/>
                    <a:lstStyle/>
                    <a:p>
                      <a:r>
                        <a:rPr sz="1000" b="1" i="0">
                          <a:solidFill>
                            <a:srgbClr val="F4F1EA"/>
                          </a:solidFill>
                          <a:latin typeface="Arial"/>
                          <a:ea typeface="Malgun Gothic"/>
                          <a:cs typeface="Malgun Gothic"/>
                        </a:rPr>
                        <a:t>Controller (720 에피소드)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도달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충돌</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치명</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짝 비교 (기준만 : 옵션만)</a:t>
                      </a:r>
                    </a:p>
                  </a:txBody>
                  <a:tcPr marL="76200" marR="76200" marT="25400" marB="25400">
                    <a:solidFill>
                      <a:srgbClr val="16213A"/>
                    </a:solidFill>
                  </a:tcPr>
                </a:tc>
              </a:tr>
              <a:tr h="255538">
                <a:tc>
                  <a:txBody>
                    <a:bodyPr wrap="square"/>
                    <a:lstStyle/>
                    <a:p>
                      <a:r>
                        <a:rPr sz="850" b="0" i="0">
                          <a:solidFill>
                            <a:srgbClr val="7C2D12"/>
                          </a:solidFill>
                          <a:latin typeface="Consolas"/>
                          <a:ea typeface="Malgun Gothic"/>
                          <a:cs typeface="Malgun Gothic"/>
                        </a:rPr>
                        <a:t>mppi_plant_lag</a:t>
                      </a:r>
                      <a:r>
                        <a:rPr sz="1000" b="0" i="0">
                          <a:solidFill>
                            <a:srgbClr val="16213A"/>
                          </a:solidFill>
                          <a:latin typeface="Arial"/>
                          <a:ea typeface="Malgun Gothic"/>
                          <a:cs typeface="Malgun Gothic"/>
                        </a:rPr>
                        <a:t> (기준)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568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r h="255538">
                <a:tc>
                  <a:txBody>
                    <a:bodyPr wrap="square"/>
                    <a:lstStyle/>
                    <a:p>
                      <a:r>
                        <a:rPr sz="850" b="0" i="0">
                          <a:solidFill>
                            <a:srgbClr val="7C2D12"/>
                          </a:solidFill>
                          <a:latin typeface="Consolas"/>
                          <a:ea typeface="Malgun Gothic"/>
                          <a:cs typeface="Malgun Gothic"/>
                        </a:rPr>
                        <a:t>mppi_plant_lag_pg</a:t>
                      </a:r>
                      <a:r>
                        <a:rPr sz="1000" b="0" i="0">
                          <a:solidFill>
                            <a:srgbClr val="16213A"/>
                          </a:solidFill>
                          <a:latin typeface="Arial"/>
                          <a:ea typeface="Malgun Gothic"/>
                          <a:cs typeface="Malgun Gothic"/>
                        </a:rPr>
                        <a:t> (등급화 페널티)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571</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 : 3, p = 0.25</a:t>
                      </a:r>
                    </a:p>
                  </a:txBody>
                  <a:tcPr marL="76200" marR="76200" marT="25400" marB="25400">
                    <a:solidFill>
                      <a:srgbClr val="FFFDF8"/>
                    </a:solidFill>
                  </a:tcPr>
                </a:tc>
              </a:tr>
              <a:tr h="252839">
                <a:tc>
                  <a:txBody>
                    <a:bodyPr wrap="square"/>
                    <a:lstStyle/>
                    <a:p>
                      <a:r>
                        <a:rPr sz="850" b="0" i="0">
                          <a:solidFill>
                            <a:srgbClr val="7C2D12"/>
                          </a:solidFill>
                          <a:latin typeface="Consolas"/>
                          <a:ea typeface="Malgun Gothic"/>
                          <a:cs typeface="Malgun Gothic"/>
                        </a:rPr>
                        <a:t>mppi_plant_yaw</a:t>
                      </a:r>
                      <a:r>
                        <a:rPr sz="1000" b="0" i="0">
                          <a:solidFill>
                            <a:srgbClr val="16213A"/>
                          </a:solidFill>
                          <a:latin typeface="Arial"/>
                          <a:ea typeface="Malgun Gothic"/>
                          <a:cs typeface="Malgun Gothic"/>
                        </a:rPr>
                        <a:t> (몸 먼저 돌리기)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573</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24 : 29, p = 0.58</a:t>
                      </a:r>
                    </a:p>
                  </a:txBody>
                  <a:tcPr marL="76200" marR="76200" marT="25400" marB="25400">
                    <a:solidFill>
                      <a:srgbClr val="F1EDE4"/>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47273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센서·렌더링과 sim-to-real (S.4, S.6)</a:t>
            </a:r>
          </a:p>
        </p:txBody>
      </p:sp>
      <p:sp>
        <p:nvSpPr>
          <p:cNvPr id="3" name="TextBox 2"/>
          <p:cNvSpPr txBox="1"/>
          <p:nvPr/>
        </p:nvSpPr>
        <p:spPr>
          <a:xfrm>
            <a:off x="812800" y="2910880"/>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시뮬의 허점은 학습 정책이 가장 먼저 찾아낸다</a:t>
            </a:r>
          </a:p>
        </p:txBody>
      </p:sp>
      <p:sp>
        <p:nvSpPr>
          <p:cNvPr id="4" name="TextBox 3"/>
          <p:cNvSpPr txBox="1"/>
          <p:nvPr/>
        </p:nvSpPr>
        <p:spPr>
          <a:xfrm>
            <a:off x="812800" y="375920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관측을 현실에 맞추고, 장면 기하를 실측으로 만들고,</a:t>
            </a:r>
          </a:p>
          <a:p>
            <a:pPr>
              <a:lnSpc>
                <a:spcPct val="133400"/>
              </a:lnSpc>
            </a:pPr>
            <a:r>
              <a:rPr sz="1650" b="0" i="0">
                <a:solidFill>
                  <a:srgbClr val="C9D1E0"/>
                </a:solidFill>
                <a:latin typeface="Arial"/>
                <a:ea typeface="Malgun Gothic"/>
                <a:cs typeface="Malgun Gothic"/>
              </a:rPr>
              <a:t>시뮬 순위가 실물 순위를 맞히는지 잰다.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S.4.1 · S.6.5 · 가림 (TP-0031 · 0047)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L0의 가림 허점 하나가 벤치마크를 낙관적으로 만들고 있었다</a:t>
            </a:r>
          </a:p>
        </p:txBody>
      </p:sp>
      <p:sp>
        <p:nvSpPr>
          <p:cNvPr id="4" name="Rounded Rectangle 3"/>
          <p:cNvSpPr/>
          <p:nvPr/>
        </p:nvSpPr>
        <p:spPr>
          <a:xfrm>
            <a:off x="711200" y="1361678"/>
            <a:ext cx="10769600" cy="2984500"/>
          </a:xfrm>
          <a:prstGeom prst="roundRect">
            <a:avLst>
              <a:gd name="adj" fmla="val 170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326957" y="1361678"/>
            <a:ext cx="7538087" cy="2984500"/>
          </a:xfrm>
          <a:prstGeom prst="rect">
            <a:avLst/>
          </a:prstGeom>
        </p:spPr>
      </p:pic>
      <p:sp>
        <p:nvSpPr>
          <p:cNvPr id="6" name="TextBox 5"/>
          <p:cNvSpPr txBox="1"/>
          <p:nvPr/>
        </p:nvSpPr>
        <p:spPr>
          <a:xfrm>
            <a:off x="711200" y="4409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운동학 벤치마크 성공률(4 시나리오 × 10 seed): 인식을 현실에 가깝게 만들 때마다 떨어지고, 대책으로 다시 오른다</a:t>
            </a:r>
          </a:p>
        </p:txBody>
      </p:sp>
      <p:sp>
        <p:nvSpPr>
          <p:cNvPr id="7" name="TextBox 6"/>
          <p:cNvSpPr txBox="1"/>
          <p:nvPr/>
        </p:nvSpPr>
        <p:spPr>
          <a:xfrm>
            <a:off x="749300" y="47652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L0는 5 m 원 안을 가림 없이 본다(높이 잡음 σ = 0.01 m뿐)</a:t>
            </a:r>
          </a:p>
        </p:txBody>
      </p:sp>
      <p:sp>
        <p:nvSpPr>
          <p:cNvPr id="8" name="TextBox 7"/>
          <p:cNvSpPr txBox="1"/>
          <p:nvPr/>
        </p:nvSpPr>
        <p:spPr>
          <a:xfrm>
            <a:off x="749300" y="507642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가림을 켜자 guidance+mppi 40 → 36/40, planner_d+mppi 39 → 38/40</a:t>
            </a:r>
          </a:p>
        </p:txBody>
      </p:sp>
      <p:sp>
        <p:nvSpPr>
          <p:cNvPr id="9" name="TextBox 8"/>
          <p:cNvSpPr txBox="1"/>
          <p:nvPr/>
        </p:nvSpPr>
        <p:spPr>
          <a:xfrm>
            <a:off x="6210300" y="47652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실패는 모두 포트홀 둘레: 센서 0.3 m면 앞쪽 턱이 바닥을 가린다</a:t>
            </a:r>
          </a:p>
        </p:txBody>
      </p:sp>
      <p:sp>
        <p:nvSpPr>
          <p:cNvPr id="10" name="TextBox 9"/>
          <p:cNvSpPr txBox="1"/>
          <p:nvPr/>
        </p:nvSpPr>
        <p:spPr>
          <a:xfrm>
            <a:off x="6210300" y="507642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그림자 상한 + 깊이 prior(TP-0044·0047)로 40/40</a:t>
            </a:r>
          </a:p>
        </p:txBody>
      </p:sp>
      <p:sp>
        <p:nvSpPr>
          <p:cNvPr id="11" name="Rounded Rectangle 10"/>
          <p:cNvSpPr/>
          <p:nvPr/>
        </p:nvSpPr>
        <p:spPr>
          <a:xfrm>
            <a:off x="711200" y="5501878"/>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56288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2.5D 시선 검사가 가장 값싼 충실도 개선이었다. 실제 LiDAR 경로는 Isaac RTX LiDAR(TP-0005)에서 검증한다.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S.4.2 · 3DGS real-to-sim</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보이는 것은 3DGS가, 부딪히는 것은 메시가 맡는다</a:t>
            </a:r>
          </a:p>
        </p:txBody>
      </p:sp>
      <p:sp>
        <p:nvSpPr>
          <p:cNvPr id="4" name="Rounded Rectangle 3"/>
          <p:cNvSpPr/>
          <p:nvPr/>
        </p:nvSpPr>
        <p:spPr>
          <a:xfrm>
            <a:off x="711200" y="1361678"/>
            <a:ext cx="5257800" cy="1272480"/>
          </a:xfrm>
          <a:prstGeom prst="roundRect">
            <a:avLst>
              <a:gd name="adj" fmla="val 5988"/>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272480"/>
          </a:xfrm>
          <a:prstGeom prst="rect">
            <a:avLst/>
          </a:prstGeom>
          <a:solidFill>
            <a:srgbClr val="D9D4C7"/>
          </a:solidFill>
          <a:ln>
            <a:noFill/>
          </a:ln>
        </p:spPr>
        <p:txBody>
          <a:bodyPr rtlCol="0" anchor="ctr"/>
          <a:lstStyle/>
          <a:p>
            <a:pPr algn="ctr"/>
          </a:p>
        </p:txBody>
      </p:sp>
      <p:sp>
        <p:nvSpPr>
          <p:cNvPr id="7" name="Rectangle 6"/>
          <p:cNvSpPr/>
          <p:nvPr/>
        </p:nvSpPr>
        <p:spPr>
          <a:xfrm>
            <a:off x="711200" y="262780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272480"/>
          </a:xfrm>
          <a:prstGeom prst="roundRect">
            <a:avLst>
              <a:gd name="adj" fmla="val 50000"/>
            </a:avLst>
          </a:prstGeom>
          <a:solidFill>
            <a:srgbClr val="9AA6BC"/>
          </a:solidFill>
          <a:ln>
            <a:noFill/>
          </a:ln>
        </p:spPr>
        <p:txBody>
          <a:bodyPr rtlCol="0" anchor="ctr"/>
          <a:lstStyle/>
          <a:p>
            <a:pPr algn="ctr"/>
          </a:p>
        </p:txBody>
      </p:sp>
      <p:sp>
        <p:nvSpPr>
          <p:cNvPr id="9" name="Rounded Rectangle 8"/>
          <p:cNvSpPr/>
          <p:nvPr/>
        </p:nvSpPr>
        <p:spPr>
          <a:xfrm>
            <a:off x="927100" y="1507728"/>
            <a:ext cx="1939727" cy="241300"/>
          </a:xfrm>
          <a:prstGeom prst="roundRect">
            <a:avLst>
              <a:gd name="adj" fmla="val 50000"/>
            </a:avLst>
          </a:prstGeom>
          <a:solidFill>
            <a:srgbClr val="ECE8DF"/>
          </a:solidFill>
          <a:ln>
            <a:noFill/>
          </a:ln>
        </p:spPr>
        <p:txBody>
          <a:bodyPr rtlCol="0" anchor="ctr"/>
          <a:lstStyle/>
          <a:p>
            <a:pPr algn="ctr"/>
          </a:p>
        </p:txBody>
      </p:sp>
      <p:sp>
        <p:nvSpPr>
          <p:cNvPr id="10" name="TextBox 9"/>
          <p:cNvSpPr txBox="1"/>
          <p:nvPr/>
        </p:nvSpPr>
        <p:spPr>
          <a:xfrm>
            <a:off x="1016000" y="1533128"/>
            <a:ext cx="184018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Vid2Sim [16] · GaussGym [17]</a:t>
            </a:r>
          </a:p>
        </p:txBody>
      </p:sp>
      <p:sp>
        <p:nvSpPr>
          <p:cNvPr id="11" name="TextBox 10"/>
          <p:cNvSpPr txBox="1"/>
          <p:nvPr/>
        </p:nvSpPr>
        <p:spPr>
          <a:xfrm>
            <a:off x="927100" y="1825228"/>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영상 → 3DGS + 충돌 메시. Vid2Sim의 메시만 렌더링한 기준선은 실물 과제를 하나도 풀지 못했다. GaussGym은 RTX 4090 한 장에서 4,096개 환경을 돌린다.</a:t>
            </a:r>
          </a:p>
        </p:txBody>
      </p:sp>
      <p:sp>
        <p:nvSpPr>
          <p:cNvPr id="12" name="Rounded Rectangle 11"/>
          <p:cNvSpPr/>
          <p:nvPr/>
        </p:nvSpPr>
        <p:spPr>
          <a:xfrm>
            <a:off x="711200" y="2748459"/>
            <a:ext cx="5257800" cy="1272480"/>
          </a:xfrm>
          <a:prstGeom prst="roundRect">
            <a:avLst>
              <a:gd name="adj" fmla="val 5988"/>
            </a:avLst>
          </a:prstGeom>
          <a:solidFill>
            <a:srgbClr val="FFFDF8"/>
          </a:solidFill>
          <a:ln>
            <a:noFill/>
          </a:ln>
        </p:spPr>
        <p:txBody>
          <a:bodyPr rtlCol="0" anchor="ctr"/>
          <a:lstStyle/>
          <a:p>
            <a:pPr algn="ctr"/>
          </a:p>
        </p:txBody>
      </p:sp>
      <p:sp>
        <p:nvSpPr>
          <p:cNvPr id="13" name="Rectangle 12"/>
          <p:cNvSpPr/>
          <p:nvPr/>
        </p:nvSpPr>
        <p:spPr>
          <a:xfrm>
            <a:off x="711200" y="2748459"/>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748459"/>
            <a:ext cx="6350" cy="1272480"/>
          </a:xfrm>
          <a:prstGeom prst="rect">
            <a:avLst/>
          </a:prstGeom>
          <a:solidFill>
            <a:srgbClr val="D9D4C7"/>
          </a:solidFill>
          <a:ln>
            <a:noFill/>
          </a:ln>
        </p:spPr>
        <p:txBody>
          <a:bodyPr rtlCol="0" anchor="ctr"/>
          <a:lstStyle/>
          <a:p>
            <a:pPr algn="ctr"/>
          </a:p>
        </p:txBody>
      </p:sp>
      <p:sp>
        <p:nvSpPr>
          <p:cNvPr id="15" name="Rectangle 14"/>
          <p:cNvSpPr/>
          <p:nvPr/>
        </p:nvSpPr>
        <p:spPr>
          <a:xfrm>
            <a:off x="711200" y="401458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748459"/>
            <a:ext cx="50800" cy="1272480"/>
          </a:xfrm>
          <a:prstGeom prst="roundRect">
            <a:avLst>
              <a:gd name="adj" fmla="val 50000"/>
            </a:avLst>
          </a:prstGeom>
          <a:solidFill>
            <a:srgbClr val="C2410C"/>
          </a:solidFill>
          <a:ln>
            <a:noFill/>
          </a:ln>
        </p:spPr>
        <p:txBody>
          <a:bodyPr rtlCol="0" anchor="ctr"/>
          <a:lstStyle/>
          <a:p>
            <a:pPr algn="ctr"/>
          </a:p>
        </p:txBody>
      </p:sp>
      <p:sp>
        <p:nvSpPr>
          <p:cNvPr id="17" name="Rounded Rectangle 16"/>
          <p:cNvSpPr/>
          <p:nvPr/>
        </p:nvSpPr>
        <p:spPr>
          <a:xfrm>
            <a:off x="927100" y="2894509"/>
            <a:ext cx="1163141" cy="241300"/>
          </a:xfrm>
          <a:prstGeom prst="roundRect">
            <a:avLst>
              <a:gd name="adj" fmla="val 50000"/>
            </a:avLst>
          </a:prstGeom>
          <a:solidFill>
            <a:srgbClr val="FDE7C8"/>
          </a:solidFill>
          <a:ln>
            <a:noFill/>
          </a:ln>
        </p:spPr>
        <p:txBody>
          <a:bodyPr rtlCol="0" anchor="ctr"/>
          <a:lstStyle/>
          <a:p>
            <a:pPr algn="ctr"/>
          </a:p>
        </p:txBody>
      </p:sp>
      <p:sp>
        <p:nvSpPr>
          <p:cNvPr id="18" name="TextBox 17"/>
          <p:cNvSpPr txBox="1"/>
          <p:nvPr/>
        </p:nvSpPr>
        <p:spPr>
          <a:xfrm>
            <a:off x="1016000" y="2919909"/>
            <a:ext cx="104030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Wanderland [18]</a:t>
            </a:r>
          </a:p>
        </p:txBody>
      </p:sp>
      <p:sp>
        <p:nvSpPr>
          <p:cNvPr id="19" name="TextBox 18"/>
          <p:cNvSpPr txBox="1"/>
          <p:nvPr/>
        </p:nvSpPr>
        <p:spPr>
          <a:xfrm>
            <a:off x="927100" y="3212009"/>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LiDAR·RTK·어안 스캔 530곳. 영상만으로 잡은 궤적 자세는 축척을 맞춘 뒤에도 0.30 m, 5.0° 어긋났다. Vid2Sim 장면 fine-tuning은 CityWalker 성공률을 21 % 떨어뜨렸다.</a:t>
            </a:r>
          </a:p>
        </p:txBody>
      </p:sp>
      <p:sp>
        <p:nvSpPr>
          <p:cNvPr id="20" name="Rounded Rectangle 19"/>
          <p:cNvSpPr/>
          <p:nvPr/>
        </p:nvSpPr>
        <p:spPr>
          <a:xfrm>
            <a:off x="6223000" y="1361678"/>
            <a:ext cx="52578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21" name="Picture 20" descr="image.jpg"/>
          <p:cNvPicPr>
            <a:picLocks noChangeAspect="1"/>
          </p:cNvPicPr>
          <p:nvPr/>
        </p:nvPicPr>
        <p:blipFill>
          <a:blip r:embed="rId2"/>
          <a:stretch>
            <a:fillRect/>
          </a:stretch>
        </p:blipFill>
        <p:spPr>
          <a:xfrm>
            <a:off x="6322020" y="1361678"/>
            <a:ext cx="5059761" cy="2540000"/>
          </a:xfrm>
          <a:prstGeom prst="rect">
            <a:avLst/>
          </a:prstGeom>
        </p:spPr>
      </p:pic>
      <p:sp>
        <p:nvSpPr>
          <p:cNvPr id="22" name="TextBox 21"/>
          <p:cNvSpPr txBox="1"/>
          <p:nvPr/>
        </p:nvSpPr>
        <p:spPr>
          <a:xfrm>
            <a:off x="6223000" y="3965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Wanderland Fig. 7 — 같은 모델도 장면 재현이 다르면 평가 결과가 달라진다</a:t>
            </a:r>
          </a:p>
        </p:txBody>
      </p:sp>
      <p:sp>
        <p:nvSpPr>
          <p:cNvPr id="23" name="Rounded Rectangle 22"/>
          <p:cNvSpPr/>
          <p:nvPr/>
        </p:nvSpPr>
        <p:spPr>
          <a:xfrm>
            <a:off x="711200" y="4320778"/>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4447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서비스 지역 스캔은 LiDAR 융합으로 하고, 메시를 terrain.py 높이장으로 바꿔 L0와 L1이 같은 실측 지형을 쓴다.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[16] Vid2Sim, CVPR 2025 — arXiv:2501.06693 · [17] GaussGym — arXiv:2510.15352 · [18] Wanderland, CVPR 2026 — arXiv:2511.20620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S.6 · sim-to-real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격차 줄이기보다 예측력 측정을 먼저 설계한다</a:t>
            </a:r>
          </a:p>
        </p:txBody>
      </p:sp>
      <p:sp>
        <p:nvSpPr>
          <p:cNvPr id="4" name="Rounded Rectangle 3"/>
          <p:cNvSpPr/>
          <p:nvPr/>
        </p:nvSpPr>
        <p:spPr>
          <a:xfrm>
            <a:off x="711200" y="1361678"/>
            <a:ext cx="3488234" cy="1348680"/>
          </a:xfrm>
          <a:prstGeom prst="roundRect">
            <a:avLst>
              <a:gd name="adj" fmla="val 5649"/>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48680"/>
          </a:xfrm>
          <a:prstGeom prst="rect">
            <a:avLst/>
          </a:prstGeom>
          <a:solidFill>
            <a:srgbClr val="D9D4C7"/>
          </a:solidFill>
          <a:ln>
            <a:noFill/>
          </a:ln>
        </p:spPr>
        <p:txBody>
          <a:bodyPr rtlCol="0" anchor="ctr"/>
          <a:lstStyle/>
          <a:p>
            <a:pPr algn="ctr"/>
          </a:p>
        </p:txBody>
      </p:sp>
      <p:sp>
        <p:nvSpPr>
          <p:cNvPr id="7" name="Rectangle 6"/>
          <p:cNvSpPr/>
          <p:nvPr/>
        </p:nvSpPr>
        <p:spPr>
          <a:xfrm>
            <a:off x="711200" y="270400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48680"/>
          </a:xfrm>
          <a:prstGeom prst="roundRect">
            <a:avLst>
              <a:gd name="adj" fmla="val 50000"/>
            </a:avLst>
          </a:prstGeom>
          <a:solidFill>
            <a:srgbClr val="9AA6BC"/>
          </a:solidFill>
          <a:ln>
            <a:noFill/>
          </a:ln>
        </p:spPr>
        <p:txBody>
          <a:bodyPr rtlCol="0" anchor="ctr"/>
          <a:lstStyle/>
          <a:p>
            <a:pPr algn="ctr"/>
          </a:p>
        </p:txBody>
      </p:sp>
      <p:sp>
        <p:nvSpPr>
          <p:cNvPr id="9" name="Rounded Rectangle 8"/>
          <p:cNvSpPr/>
          <p:nvPr/>
        </p:nvSpPr>
        <p:spPr>
          <a:xfrm>
            <a:off x="927100" y="1507728"/>
            <a:ext cx="1380530" cy="241300"/>
          </a:xfrm>
          <a:prstGeom prst="roundRect">
            <a:avLst>
              <a:gd name="adj" fmla="val 50000"/>
            </a:avLst>
          </a:prstGeom>
          <a:solidFill>
            <a:srgbClr val="ECE8DF"/>
          </a:solidFill>
          <a:ln>
            <a:noFill/>
          </a:ln>
        </p:spPr>
        <p:txBody>
          <a:bodyPr rtlCol="0" anchor="ctr"/>
          <a:lstStyle/>
          <a:p>
            <a:pPr algn="ctr"/>
          </a:p>
        </p:txBody>
      </p:sp>
      <p:sp>
        <p:nvSpPr>
          <p:cNvPr id="10" name="TextBox 9"/>
          <p:cNvSpPr txBox="1"/>
          <p:nvPr/>
        </p:nvSpPr>
        <p:spPr>
          <a:xfrm>
            <a:off x="1016000" y="1533128"/>
            <a:ext cx="1264212"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도메인 랜덤화 [20–22]</a:t>
            </a:r>
          </a:p>
        </p:txBody>
      </p:sp>
      <p:sp>
        <p:nvSpPr>
          <p:cNvPr id="11" name="TextBox 10"/>
          <p:cNvSpPr txBox="1"/>
          <p:nvPr/>
        </p:nvSpPr>
        <p:spPr>
          <a:xfrm>
            <a:off x="927100"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파라미터를 넓게 흔들어 현실을 "또 하나의 샘플"로 만든다. ADR은 잘할수록 범위를 넓힌다.</a:t>
            </a:r>
          </a:p>
        </p:txBody>
      </p:sp>
      <p:sp>
        <p:nvSpPr>
          <p:cNvPr id="12" name="TextBox 11"/>
          <p:cNvSpPr txBox="1"/>
          <p:nvPr/>
        </p:nvSpPr>
        <p:spPr>
          <a:xfrm>
            <a:off x="927100" y="2343348"/>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L0: 지연, 위치 잡음, 슬립, 조향 한계</a:t>
            </a:r>
          </a:p>
        </p:txBody>
      </p:sp>
      <p:sp>
        <p:nvSpPr>
          <p:cNvPr id="13" name="Rounded Rectangle 12"/>
          <p:cNvSpPr/>
          <p:nvPr/>
        </p:nvSpPr>
        <p:spPr>
          <a:xfrm>
            <a:off x="4351834" y="1361678"/>
            <a:ext cx="3488234" cy="1348680"/>
          </a:xfrm>
          <a:prstGeom prst="roundRect">
            <a:avLst>
              <a:gd name="adj" fmla="val 5649"/>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48680"/>
          </a:xfrm>
          <a:prstGeom prst="rect">
            <a:avLst/>
          </a:prstGeom>
          <a:solidFill>
            <a:srgbClr val="D9D4C7"/>
          </a:solidFill>
          <a:ln>
            <a:noFill/>
          </a:ln>
        </p:spPr>
        <p:txBody>
          <a:bodyPr rtlCol="0" anchor="ctr"/>
          <a:lstStyle/>
          <a:p>
            <a:pPr algn="ctr"/>
          </a:p>
        </p:txBody>
      </p:sp>
      <p:sp>
        <p:nvSpPr>
          <p:cNvPr id="16" name="Rectangle 15"/>
          <p:cNvSpPr/>
          <p:nvPr/>
        </p:nvSpPr>
        <p:spPr>
          <a:xfrm>
            <a:off x="4351834" y="270400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4868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7032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32698"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보정 [23]</a:t>
            </a:r>
          </a:p>
        </p:txBody>
      </p:sp>
      <p:sp>
        <p:nvSpPr>
          <p:cNvPr id="20" name="TextBox 19"/>
          <p:cNvSpPr txBox="1"/>
          <p:nvPr/>
        </p:nvSpPr>
        <p:spPr>
          <a:xfrm>
            <a:off x="4567734"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실물 기록으로 모델 파라미터나 잔차를 맞춘다(ANYmal actuator net).</a:t>
            </a:r>
          </a:p>
        </p:txBody>
      </p:sp>
      <p:sp>
        <p:nvSpPr>
          <p:cNvPr id="21" name="TextBox 20"/>
          <p:cNvSpPr txBox="1"/>
          <p:nvPr/>
        </p:nvSpPr>
        <p:spPr>
          <a:xfrm>
            <a:off x="4567734" y="2343348"/>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실물 첫 주행: 명령과 실제 속도 기록</a:t>
            </a:r>
          </a:p>
        </p:txBody>
      </p:sp>
      <p:sp>
        <p:nvSpPr>
          <p:cNvPr id="22" name="Rounded Rectangle 21"/>
          <p:cNvSpPr/>
          <p:nvPr/>
        </p:nvSpPr>
        <p:spPr>
          <a:xfrm>
            <a:off x="7992467" y="1361678"/>
            <a:ext cx="3488234" cy="1348680"/>
          </a:xfrm>
          <a:prstGeom prst="roundRect">
            <a:avLst>
              <a:gd name="adj" fmla="val 5649"/>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48680"/>
          </a:xfrm>
          <a:prstGeom prst="rect">
            <a:avLst/>
          </a:prstGeom>
          <a:solidFill>
            <a:srgbClr val="D9D4C7"/>
          </a:solidFill>
          <a:ln>
            <a:noFill/>
          </a:ln>
        </p:spPr>
        <p:txBody>
          <a:bodyPr rtlCol="0" anchor="ctr"/>
          <a:lstStyle/>
          <a:p>
            <a:pPr algn="ctr"/>
          </a:p>
        </p:txBody>
      </p:sp>
      <p:sp>
        <p:nvSpPr>
          <p:cNvPr id="25" name="Rectangle 24"/>
          <p:cNvSpPr/>
          <p:nvPr/>
        </p:nvSpPr>
        <p:spPr>
          <a:xfrm>
            <a:off x="7992467" y="270400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4868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783630"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649405"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예측력 [19]</a:t>
            </a:r>
          </a:p>
        </p:txBody>
      </p:sp>
      <p:sp>
        <p:nvSpPr>
          <p:cNvPr id="29" name="TextBox 28"/>
          <p:cNvSpPr txBox="1"/>
          <p:nvPr/>
        </p:nvSpPr>
        <p:spPr>
          <a:xfrm>
            <a:off x="8208367"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 순위가 실물 순위를 맞히는가. Habitat은 벽 미끄러짐 허점으로 SRCC 0.18, 막자 0.844.</a:t>
            </a:r>
          </a:p>
        </p:txBody>
      </p:sp>
      <p:sp>
        <p:nvSpPr>
          <p:cNvPr id="30" name="Rounded Rectangle 29"/>
          <p:cNvSpPr/>
          <p:nvPr/>
        </p:nvSpPr>
        <p:spPr>
          <a:xfrm>
            <a:off x="711200" y="2888159"/>
            <a:ext cx="10769600" cy="691753"/>
          </a:xfrm>
          <a:prstGeom prst="roundRect">
            <a:avLst>
              <a:gd name="adj" fmla="val 7343"/>
            </a:avLst>
          </a:prstGeom>
          <a:solidFill>
            <a:srgbClr val="FFFDF8"/>
          </a:solidFill>
          <a:ln>
            <a:noFill/>
          </a:ln>
        </p:spPr>
        <p:txBody>
          <a:bodyPr rtlCol="0" anchor="ctr"/>
          <a:lstStyle/>
          <a:p>
            <a:pPr algn="ctr"/>
          </a:p>
        </p:txBody>
      </p:sp>
      <p:sp>
        <p:nvSpPr>
          <p:cNvPr id="31" name="Rounded Rectangle 30"/>
          <p:cNvSpPr/>
          <p:nvPr/>
        </p:nvSpPr>
        <p:spPr>
          <a:xfrm>
            <a:off x="711200" y="2888159"/>
            <a:ext cx="38100" cy="691753"/>
          </a:xfrm>
          <a:prstGeom prst="roundRect">
            <a:avLst>
              <a:gd name="adj" fmla="val 50000"/>
            </a:avLst>
          </a:prstGeom>
          <a:solidFill>
            <a:srgbClr val="C2410C"/>
          </a:solidFill>
          <a:ln>
            <a:noFill/>
          </a:ln>
        </p:spPr>
        <p:txBody>
          <a:bodyPr rtlCol="0" anchor="ctr"/>
          <a:lstStyle/>
          <a:p>
            <a:pPr algn="ctr"/>
          </a:p>
        </p:txBody>
      </p:sp>
      <p:pic>
        <p:nvPicPr>
          <p:cNvPr id="32" name="Picture 31" descr="image.png"/>
          <p:cNvPicPr>
            <a:picLocks noChangeAspect="1"/>
          </p:cNvPicPr>
          <p:nvPr/>
        </p:nvPicPr>
        <p:blipFill>
          <a:blip r:embed="rId2"/>
          <a:stretch>
            <a:fillRect/>
          </a:stretch>
        </p:blipFill>
        <p:spPr>
          <a:xfrm>
            <a:off x="901700" y="2977059"/>
            <a:ext cx="10433050" cy="520303"/>
          </a:xfrm>
          <a:prstGeom prst="rect">
            <a:avLst/>
          </a:prstGeom>
        </p:spPr>
      </p:pic>
      <p:sp>
        <p:nvSpPr>
          <p:cNvPr id="33" name="Rounded Rectangle 32"/>
          <p:cNvSpPr/>
          <p:nvPr/>
        </p:nvSpPr>
        <p:spPr>
          <a:xfrm>
            <a:off x="711200" y="3757712"/>
            <a:ext cx="5308600" cy="1051520"/>
          </a:xfrm>
          <a:prstGeom prst="roundRect">
            <a:avLst>
              <a:gd name="adj" fmla="val 7246"/>
            </a:avLst>
          </a:prstGeom>
          <a:solidFill>
            <a:srgbClr val="FFFDF8"/>
          </a:solidFill>
          <a:ln>
            <a:noFill/>
          </a:ln>
        </p:spPr>
        <p:txBody>
          <a:bodyPr rtlCol="0" anchor="ctr"/>
          <a:lstStyle/>
          <a:p>
            <a:pPr algn="ctr"/>
          </a:p>
        </p:txBody>
      </p:sp>
      <p:sp>
        <p:nvSpPr>
          <p:cNvPr id="34" name="Rectangle 33"/>
          <p:cNvSpPr/>
          <p:nvPr/>
        </p:nvSpPr>
        <p:spPr>
          <a:xfrm>
            <a:off x="711200" y="3757712"/>
            <a:ext cx="5308600" cy="6350"/>
          </a:xfrm>
          <a:prstGeom prst="rect">
            <a:avLst/>
          </a:prstGeom>
          <a:solidFill>
            <a:srgbClr val="D9D4C7"/>
          </a:solidFill>
          <a:ln>
            <a:noFill/>
          </a:ln>
        </p:spPr>
        <p:txBody>
          <a:bodyPr rtlCol="0" anchor="ctr"/>
          <a:lstStyle/>
          <a:p>
            <a:pPr algn="ctr"/>
          </a:p>
        </p:txBody>
      </p:sp>
      <p:sp>
        <p:nvSpPr>
          <p:cNvPr id="35" name="Rectangle 34"/>
          <p:cNvSpPr/>
          <p:nvPr/>
        </p:nvSpPr>
        <p:spPr>
          <a:xfrm>
            <a:off x="6013450" y="3757712"/>
            <a:ext cx="6350" cy="1051520"/>
          </a:xfrm>
          <a:prstGeom prst="rect">
            <a:avLst/>
          </a:prstGeom>
          <a:solidFill>
            <a:srgbClr val="D9D4C7"/>
          </a:solidFill>
          <a:ln>
            <a:noFill/>
          </a:ln>
        </p:spPr>
        <p:txBody>
          <a:bodyPr rtlCol="0" anchor="ctr"/>
          <a:lstStyle/>
          <a:p>
            <a:pPr algn="ctr"/>
          </a:p>
        </p:txBody>
      </p:sp>
      <p:sp>
        <p:nvSpPr>
          <p:cNvPr id="36" name="Rectangle 35"/>
          <p:cNvSpPr/>
          <p:nvPr/>
        </p:nvSpPr>
        <p:spPr>
          <a:xfrm>
            <a:off x="711200" y="4802882"/>
            <a:ext cx="5308600" cy="6350"/>
          </a:xfrm>
          <a:prstGeom prst="rect">
            <a:avLst/>
          </a:prstGeom>
          <a:solidFill>
            <a:srgbClr val="D9D4C7"/>
          </a:solidFill>
          <a:ln>
            <a:noFill/>
          </a:ln>
        </p:spPr>
        <p:txBody>
          <a:bodyPr rtlCol="0" anchor="ctr"/>
          <a:lstStyle/>
          <a:p>
            <a:pPr algn="ctr"/>
          </a:p>
        </p:txBody>
      </p:sp>
      <p:sp>
        <p:nvSpPr>
          <p:cNvPr id="37" name="Rounded Rectangle 36"/>
          <p:cNvSpPr/>
          <p:nvPr/>
        </p:nvSpPr>
        <p:spPr>
          <a:xfrm>
            <a:off x="711200" y="3757712"/>
            <a:ext cx="50800" cy="1051520"/>
          </a:xfrm>
          <a:prstGeom prst="roundRect">
            <a:avLst>
              <a:gd name="adj" fmla="val 50000"/>
            </a:avLst>
          </a:prstGeom>
          <a:solidFill>
            <a:srgbClr val="9AA6BC"/>
          </a:solidFill>
          <a:ln>
            <a:noFill/>
          </a:ln>
        </p:spPr>
        <p:txBody>
          <a:bodyPr rtlCol="0" anchor="ctr"/>
          <a:lstStyle/>
          <a:p>
            <a:pPr algn="ctr"/>
          </a:p>
        </p:txBody>
      </p:sp>
      <p:sp>
        <p:nvSpPr>
          <p:cNvPr id="38" name="Rounded Rectangle 37"/>
          <p:cNvSpPr/>
          <p:nvPr/>
        </p:nvSpPr>
        <p:spPr>
          <a:xfrm>
            <a:off x="927100" y="3903762"/>
            <a:ext cx="1040209" cy="241300"/>
          </a:xfrm>
          <a:prstGeom prst="roundRect">
            <a:avLst>
              <a:gd name="adj" fmla="val 50000"/>
            </a:avLst>
          </a:prstGeom>
          <a:solidFill>
            <a:srgbClr val="ECE8DF"/>
          </a:solidFill>
          <a:ln>
            <a:noFill/>
          </a:ln>
        </p:spPr>
        <p:txBody>
          <a:bodyPr rtlCol="0" anchor="ctr"/>
          <a:lstStyle/>
          <a:p>
            <a:pPr algn="ctr"/>
          </a:p>
        </p:txBody>
      </p:sp>
      <p:sp>
        <p:nvSpPr>
          <p:cNvPr id="39" name="TextBox 38"/>
          <p:cNvSpPr txBox="1"/>
          <p:nvPr/>
        </p:nvSpPr>
        <p:spPr>
          <a:xfrm>
            <a:off x="1016000" y="3929162"/>
            <a:ext cx="913682"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판정자 방식 [31]</a:t>
            </a:r>
          </a:p>
        </p:txBody>
      </p:sp>
      <p:sp>
        <p:nvSpPr>
          <p:cNvPr id="40" name="TextBox 39"/>
          <p:cNvSpPr txBox="1"/>
          <p:nvPr/>
        </p:nvSpPr>
        <p:spPr>
          <a:xfrm>
            <a:off x="927100" y="422126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 데이터 대신 하위 알고리즘(상태 추정기)의 오차 분포를 시뮬과 실물 사이 W₁ 거리로 비교한다. TravMap 파이프라인이 판정자가 될 수 있다.</a:t>
            </a:r>
          </a:p>
        </p:txBody>
      </p:sp>
      <p:sp>
        <p:nvSpPr>
          <p:cNvPr id="41" name="Rounded Rectangle 40"/>
          <p:cNvSpPr/>
          <p:nvPr/>
        </p:nvSpPr>
        <p:spPr>
          <a:xfrm>
            <a:off x="6172200" y="3757712"/>
            <a:ext cx="5308600" cy="1051520"/>
          </a:xfrm>
          <a:prstGeom prst="roundRect">
            <a:avLst>
              <a:gd name="adj" fmla="val 7246"/>
            </a:avLst>
          </a:prstGeom>
          <a:solidFill>
            <a:srgbClr val="FFFDF8"/>
          </a:solidFill>
          <a:ln>
            <a:noFill/>
          </a:ln>
        </p:spPr>
        <p:txBody>
          <a:bodyPr rtlCol="0" anchor="ctr"/>
          <a:lstStyle/>
          <a:p>
            <a:pPr algn="ctr"/>
          </a:p>
        </p:txBody>
      </p:sp>
      <p:sp>
        <p:nvSpPr>
          <p:cNvPr id="42" name="Rectangle 41"/>
          <p:cNvSpPr/>
          <p:nvPr/>
        </p:nvSpPr>
        <p:spPr>
          <a:xfrm>
            <a:off x="6172200" y="3757712"/>
            <a:ext cx="5308600" cy="6350"/>
          </a:xfrm>
          <a:prstGeom prst="rect">
            <a:avLst/>
          </a:prstGeom>
          <a:solidFill>
            <a:srgbClr val="D9D4C7"/>
          </a:solidFill>
          <a:ln>
            <a:noFill/>
          </a:ln>
        </p:spPr>
        <p:txBody>
          <a:bodyPr rtlCol="0" anchor="ctr"/>
          <a:lstStyle/>
          <a:p>
            <a:pPr algn="ctr"/>
          </a:p>
        </p:txBody>
      </p:sp>
      <p:sp>
        <p:nvSpPr>
          <p:cNvPr id="43" name="Rectangle 42"/>
          <p:cNvSpPr/>
          <p:nvPr/>
        </p:nvSpPr>
        <p:spPr>
          <a:xfrm>
            <a:off x="11474450" y="3757712"/>
            <a:ext cx="6350" cy="1051520"/>
          </a:xfrm>
          <a:prstGeom prst="rect">
            <a:avLst/>
          </a:prstGeom>
          <a:solidFill>
            <a:srgbClr val="D9D4C7"/>
          </a:solidFill>
          <a:ln>
            <a:noFill/>
          </a:ln>
        </p:spPr>
        <p:txBody>
          <a:bodyPr rtlCol="0" anchor="ctr"/>
          <a:lstStyle/>
          <a:p>
            <a:pPr algn="ctr"/>
          </a:p>
        </p:txBody>
      </p:sp>
      <p:sp>
        <p:nvSpPr>
          <p:cNvPr id="44" name="Rectangle 43"/>
          <p:cNvSpPr/>
          <p:nvPr/>
        </p:nvSpPr>
        <p:spPr>
          <a:xfrm>
            <a:off x="6172200" y="4802882"/>
            <a:ext cx="5308600" cy="6350"/>
          </a:xfrm>
          <a:prstGeom prst="rect">
            <a:avLst/>
          </a:prstGeom>
          <a:solidFill>
            <a:srgbClr val="D9D4C7"/>
          </a:solidFill>
          <a:ln>
            <a:noFill/>
          </a:ln>
        </p:spPr>
        <p:txBody>
          <a:bodyPr rtlCol="0" anchor="ctr"/>
          <a:lstStyle/>
          <a:p>
            <a:pPr algn="ctr"/>
          </a:p>
        </p:txBody>
      </p:sp>
      <p:sp>
        <p:nvSpPr>
          <p:cNvPr id="45" name="Rounded Rectangle 44"/>
          <p:cNvSpPr/>
          <p:nvPr/>
        </p:nvSpPr>
        <p:spPr>
          <a:xfrm>
            <a:off x="6172200" y="3757712"/>
            <a:ext cx="50800" cy="1051520"/>
          </a:xfrm>
          <a:prstGeom prst="roundRect">
            <a:avLst>
              <a:gd name="adj" fmla="val 50000"/>
            </a:avLst>
          </a:prstGeom>
          <a:solidFill>
            <a:srgbClr val="9AA6BC"/>
          </a:solidFill>
          <a:ln>
            <a:noFill/>
          </a:ln>
        </p:spPr>
        <p:txBody>
          <a:bodyPr rtlCol="0" anchor="ctr"/>
          <a:lstStyle/>
          <a:p>
            <a:pPr algn="ctr"/>
          </a:p>
        </p:txBody>
      </p:sp>
      <p:sp>
        <p:nvSpPr>
          <p:cNvPr id="46" name="Rounded Rectangle 45"/>
          <p:cNvSpPr/>
          <p:nvPr/>
        </p:nvSpPr>
        <p:spPr>
          <a:xfrm>
            <a:off x="6388100" y="3903762"/>
            <a:ext cx="1347887" cy="241300"/>
          </a:xfrm>
          <a:prstGeom prst="roundRect">
            <a:avLst>
              <a:gd name="adj" fmla="val 50000"/>
            </a:avLst>
          </a:prstGeom>
          <a:solidFill>
            <a:srgbClr val="ECE8DF"/>
          </a:solidFill>
          <a:ln>
            <a:noFill/>
          </a:ln>
        </p:spPr>
        <p:txBody>
          <a:bodyPr rtlCol="0" anchor="ctr"/>
          <a:lstStyle/>
          <a:p>
            <a:pPr algn="ctr"/>
          </a:p>
        </p:txBody>
      </p:sp>
      <p:sp>
        <p:nvSpPr>
          <p:cNvPr id="47" name="TextBox 46"/>
          <p:cNvSpPr txBox="1"/>
          <p:nvPr/>
        </p:nvSpPr>
        <p:spPr>
          <a:xfrm>
            <a:off x="6477000" y="3929162"/>
            <a:ext cx="123058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EmbodiedSplat [24]</a:t>
            </a:r>
          </a:p>
        </p:txBody>
      </p:sp>
      <p:sp>
        <p:nvSpPr>
          <p:cNvPr id="48" name="TextBox 47"/>
          <p:cNvSpPr txBox="1"/>
          <p:nvPr/>
        </p:nvSpPr>
        <p:spPr>
          <a:xfrm>
            <a:off x="6388100" y="422126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iPhone 스캔 3DGS 메시 장면의 sim-real 상관 0.87–0.97. 실내이고, 상관의 종류와 샘플 수는 확인하지 못했다.</a:t>
            </a:r>
          </a:p>
        </p:txBody>
      </p:sp>
      <p:sp>
        <p:nvSpPr>
          <p:cNvPr id="49" name="Rounded Rectangle 48"/>
          <p:cNvSpPr/>
          <p:nvPr/>
        </p:nvSpPr>
        <p:spPr>
          <a:xfrm>
            <a:off x="711200" y="4987032"/>
            <a:ext cx="10769600" cy="502543"/>
          </a:xfrm>
          <a:prstGeom prst="roundRect">
            <a:avLst>
              <a:gd name="adj" fmla="val 15162"/>
            </a:avLst>
          </a:prstGeom>
          <a:solidFill>
            <a:srgbClr val="16213A"/>
          </a:solidFill>
          <a:ln>
            <a:noFill/>
          </a:ln>
        </p:spPr>
        <p:txBody>
          <a:bodyPr rtlCol="0" anchor="ctr"/>
          <a:lstStyle/>
          <a:p>
            <a:pPr algn="ctr"/>
          </a:p>
        </p:txBody>
      </p:sp>
      <p:sp>
        <p:nvSpPr>
          <p:cNvPr id="50" name="TextBox 49"/>
          <p:cNvSpPr txBox="1"/>
          <p:nvPr/>
        </p:nvSpPr>
        <p:spPr>
          <a:xfrm>
            <a:off x="889000" y="5114032"/>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실물이 생기면 스택 여러 개를 같은 코스에서 시뮬과 실물로 돌려 SRCC를 잰다(TP-0043).</a:t>
            </a:r>
          </a:p>
        </p:txBody>
      </p:sp>
      <p:sp>
        <p:nvSpPr>
          <p:cNvPr id="51" name="Rectangle 50"/>
          <p:cNvSpPr/>
          <p:nvPr/>
        </p:nvSpPr>
        <p:spPr>
          <a:xfrm>
            <a:off x="711200" y="6270030"/>
            <a:ext cx="10769600" cy="384770"/>
          </a:xfrm>
          <a:prstGeom prst="rect">
            <a:avLst/>
          </a:prstGeom>
          <a:noFill/>
          <a:ln>
            <a:noFill/>
          </a:ln>
        </p:spPr>
        <p:txBody>
          <a:bodyPr rtlCol="0" anchor="ctr"/>
          <a:lstStyle/>
          <a:p>
            <a:pPr algn="ctr"/>
          </a:p>
        </p:txBody>
      </p:sp>
      <p:sp>
        <p:nvSpPr>
          <p:cNvPr id="52" name="Rectangle 51"/>
          <p:cNvSpPr/>
          <p:nvPr/>
        </p:nvSpPr>
        <p:spPr>
          <a:xfrm>
            <a:off x="711200" y="6270030"/>
            <a:ext cx="10769600" cy="12700"/>
          </a:xfrm>
          <a:prstGeom prst="rect">
            <a:avLst/>
          </a:prstGeom>
          <a:solidFill>
            <a:srgbClr val="D9D4C7"/>
          </a:solidFill>
          <a:ln>
            <a:noFill/>
          </a:ln>
        </p:spPr>
        <p:txBody>
          <a:bodyPr rtlCol="0" anchor="ctr"/>
          <a:lstStyle/>
          <a:p>
            <a:pPr algn="ctr"/>
          </a:p>
        </p:txBody>
      </p:sp>
      <p:sp>
        <p:nvSpPr>
          <p:cNvPr id="53" name="TextBox 52"/>
          <p:cNvSpPr txBox="1"/>
          <p:nvPr/>
        </p:nvSpPr>
        <p:spPr>
          <a:xfrm>
            <a:off x="711200" y="6346230"/>
            <a:ext cx="11118088" cy="436513"/>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[19] Kadian 외, RA-L 2020 — arXiv:1912.06321 · [20] Tobin 외 — arXiv:1703.06907 · [21] Peng 외 — arXiv:1710.06537 · [22] OpenAI ADR — arXiv:1910.07113 · [23] Hwangbo 외 — arXiv:1901.08652 · [24] EmbodiedSplat, ICCV 2025 — arXiv:2509.17430 · [31] Mahajan 외 — arXiv:2403.11000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S.6.5 · L0의 낙관적 가정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L0의 낙관적 가정 일곱 가지를 하나씩 켜서 잰다</a:t>
            </a:r>
          </a:p>
        </p:txBody>
      </p:sp>
      <p:graphicFrame>
        <p:nvGraphicFramePr>
          <p:cNvPr id="4" name="Table 3"/>
          <p:cNvGraphicFramePr>
            <a:graphicFrameLocks noGrp="1"/>
          </p:cNvGraphicFramePr>
          <p:nvPr/>
        </p:nvGraphicFramePr>
        <p:xfrm>
          <a:off x="711200" y="1361678"/>
          <a:ext cx="10769600" cy="2049701"/>
        </p:xfrm>
        <a:graphic>
          <a:graphicData uri="http://schemas.openxmlformats.org/drawingml/2006/table">
            <a:tbl>
              <a:tblPr firstRow="0" bandRow="0">
                <a:tableStyleId>{5C22544A-7EE6-4342-B048-85BDC9FD1C3A}</a:tableStyleId>
              </a:tblPr>
              <a:tblGrid>
                <a:gridCol w="2822178"/>
                <a:gridCol w="2641898"/>
                <a:gridCol w="2080716"/>
                <a:gridCol w="3224808"/>
              </a:tblGrid>
              <a:tr h="263634">
                <a:tc>
                  <a:txBody>
                    <a:bodyPr wrap="square"/>
                    <a:lstStyle/>
                    <a:p>
                      <a:r>
                        <a:rPr sz="1000" b="1" i="0">
                          <a:solidFill>
                            <a:srgbClr val="F4F1EA"/>
                          </a:solidFill>
                          <a:latin typeface="Arial"/>
                          <a:ea typeface="Malgun Gothic"/>
                          <a:cs typeface="Malgun Gothic"/>
                        </a:rPr>
                        <a:t>L0의 가정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실제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보강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 상태</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5 m 원 안을 가림 없이 관측</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연석·물체 뒤 그림자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2.5D 시선 검사</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TP-0031 완료 (선택)</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자기 위치가 정확함</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드리프트, 점프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위치 잡음·드리프트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TP-0032 선택 항목</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지연 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센서·지도·계획·제어 지연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단계별 지연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TP-0032 선택 항목</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조향 모듈이 즉시 돎</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조향 속도 한계, 뒤집기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모듈 모델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TP-0034 (파라미터 TP-0035)</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슬립 없음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경사·젖은 면 슬립</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슬립비 랜덤화</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TP-0033</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보행자가 반응하지 않음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피하거나 막음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ORCA·SFM</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TP-0036 선택 항목</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실패 = 참 지도의 치명 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접촉 물리</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L1 물리 검증</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TP-0005</a:t>
                      </a:r>
                    </a:p>
                  </a:txBody>
                  <a:tcPr marL="76200" marR="76200" marT="25400" marB="25400">
                    <a:solidFill>
                      <a:srgbClr val="F1EDE4"/>
                    </a:solidFill>
                  </a:tcPr>
                </a:tc>
              </a:tr>
            </a:tbl>
          </a:graphicData>
        </a:graphic>
      </p:graphicFrame>
      <p:sp>
        <p:nvSpPr>
          <p:cNvPr id="5" name="TextBox 4"/>
          <p:cNvSpPr txBox="1"/>
          <p:nvPr/>
        </p:nvSpPr>
        <p:spPr>
          <a:xfrm>
            <a:off x="711200" y="3950891"/>
            <a:ext cx="1111808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TP-0032 한 판(guidance+mppi 레벨 0, 12 에피소드): 끔 12/12, 지연 9/12, 드리프트 10/12, 셋 다 6/12. 짝 비교(TP-0169) 전이라 판정이 아니다.</a:t>
            </a:r>
          </a:p>
        </p:txBody>
      </p:sp>
      <p:sp>
        <p:nvSpPr>
          <p:cNvPr id="6" name="Rounded Rectangle 5"/>
          <p:cNvSpPr/>
          <p:nvPr/>
        </p:nvSpPr>
        <p:spPr>
          <a:xfrm>
            <a:off x="711200" y="4324251"/>
            <a:ext cx="10769600" cy="502543"/>
          </a:xfrm>
          <a:prstGeom prst="roundRect">
            <a:avLst>
              <a:gd name="adj" fmla="val 15162"/>
            </a:avLst>
          </a:prstGeom>
          <a:solidFill>
            <a:srgbClr val="16213A"/>
          </a:solidFill>
          <a:ln>
            <a:noFill/>
          </a:ln>
        </p:spPr>
        <p:txBody>
          <a:bodyPr rtlCol="0" anchor="ctr"/>
          <a:lstStyle/>
          <a:p>
            <a:pPr algn="ctr"/>
          </a:p>
        </p:txBody>
      </p:sp>
      <p:sp>
        <p:nvSpPr>
          <p:cNvPr id="7" name="TextBox 6"/>
          <p:cNvSpPr txBox="1"/>
          <p:nvPr/>
        </p:nvSpPr>
        <p:spPr>
          <a:xfrm>
            <a:off x="889000" y="445125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하나 켤 때마다 1층 스모크로 변화를 보고, 2층 짝 비교로 판정한다.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47273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지형과 바퀴 (S.5)</a:t>
            </a:r>
          </a:p>
        </p:txBody>
      </p:sp>
      <p:sp>
        <p:nvSpPr>
          <p:cNvPr id="3" name="TextBox 2"/>
          <p:cNvSpPr txBox="1"/>
          <p:nvPr/>
        </p:nvSpPr>
        <p:spPr>
          <a:xfrm>
            <a:off x="812800" y="2910880"/>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지형 기하는 쉽고 바퀴 접촉은 어렵다</a:t>
            </a:r>
          </a:p>
        </p:txBody>
      </p:sp>
      <p:sp>
        <p:nvSpPr>
          <p:cNvPr id="4" name="TextBox 3"/>
          <p:cNvSpPr txBox="1"/>
          <p:nvPr/>
        </p:nvSpPr>
        <p:spPr>
          <a:xfrm>
            <a:off x="812800" y="375920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스워브는 운동학으로 두되, 조향 모듈의 한계와</a:t>
            </a:r>
          </a:p>
          <a:p>
            <a:pPr>
              <a:lnSpc>
                <a:spcPct val="133400"/>
              </a:lnSpc>
            </a:pPr>
            <a:r>
              <a:rPr sz="1650" b="0" i="0">
                <a:solidFill>
                  <a:srgbClr val="C9D1E0"/>
                </a:solidFill>
                <a:latin typeface="Arial"/>
                <a:ea typeface="Malgun Gothic"/>
                <a:cs typeface="Malgun Gothic"/>
              </a:rPr>
              <a:t>액추에이터 지연을 모델에 넣는다.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S.5.1 · 지형 커리큘럼 (TP-0039)</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난이도를 올리면 실패는 같은 몇 지형에 모인다</a:t>
            </a:r>
          </a:p>
        </p:txBody>
      </p:sp>
      <p:sp>
        <p:nvSpPr>
          <p:cNvPr id="4" name="TextBox 3"/>
          <p:cNvSpPr txBox="1"/>
          <p:nvPr/>
        </p:nvSpPr>
        <p:spPr>
          <a:xfrm>
            <a:off x="749300" y="1361678"/>
            <a:ext cx="5454015" cy="669925"/>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Isaac Lab TerrainGenerator: 높이장 8종 + 메시 13종, 행마다 난이도를 올린다</a:t>
            </a:r>
          </a:p>
        </p:txBody>
      </p:sp>
      <p:sp>
        <p:nvSpPr>
          <p:cNvPr id="5" name="TextBox 4"/>
          <p:cNvSpPr txBox="1"/>
          <p:nvPr/>
        </p:nvSpPr>
        <p:spPr>
          <a:xfrm>
            <a:off x="749300" y="19204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게임식 커리큘럼 [25]: 넘으면 어렵게, 절반도 못 가면 쉽게</a:t>
            </a:r>
          </a:p>
        </p:txBody>
      </p:sp>
      <p:sp>
        <p:nvSpPr>
          <p:cNvPr id="6" name="TextBox 5"/>
          <p:cNvSpPr txBox="1"/>
          <p:nvPr/>
        </p:nvSpPr>
        <p:spPr>
          <a:xfrm>
            <a:off x="6210300" y="136167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travplan: 연석 높이·램프 폭·포트홀 간격·경사각을 레벨 0–3으로 열었다</a:t>
            </a:r>
          </a:p>
        </p:txBody>
      </p:sp>
      <p:sp>
        <p:nvSpPr>
          <p:cNvPr id="7" name="TextBox 6"/>
          <p:cNvSpPr txBox="1"/>
          <p:nvPr/>
        </p:nvSpPr>
        <p:spPr>
          <a:xfrm>
            <a:off x="6210300" y="1672828"/>
            <a:ext cx="545401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12/12로 포화된 벤치마크에서 실패 경계를 찾는 방법이다</a:t>
            </a:r>
          </a:p>
        </p:txBody>
      </p:sp>
      <p:sp>
        <p:nvSpPr>
          <p:cNvPr id="8" name="Rounded Rectangle 7"/>
          <p:cNvSpPr/>
          <p:nvPr/>
        </p:nvSpPr>
        <p:spPr>
          <a:xfrm>
            <a:off x="711200" y="2345928"/>
            <a:ext cx="107696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9" name="Picture 8" descr="image.jpg"/>
          <p:cNvPicPr>
            <a:picLocks noChangeAspect="1"/>
          </p:cNvPicPr>
          <p:nvPr/>
        </p:nvPicPr>
        <p:blipFill>
          <a:blip r:embed="rId2"/>
          <a:stretch>
            <a:fillRect/>
          </a:stretch>
        </p:blipFill>
        <p:spPr>
          <a:xfrm>
            <a:off x="1915749" y="2345928"/>
            <a:ext cx="8360502" cy="2667000"/>
          </a:xfrm>
          <a:prstGeom prst="rect">
            <a:avLst/>
          </a:prstGeom>
        </p:spPr>
      </p:pic>
      <p:sp>
        <p:nvSpPr>
          <p:cNvPr id="10" name="TextBox 9"/>
          <p:cNvSpPr txBox="1"/>
          <p:nvPr/>
        </p:nvSpPr>
        <p:spPr>
          <a:xfrm>
            <a:off x="711200" y="507642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레벨 0–3 × 4 지형 × seed 0–9: 세 스택의 도달 수(실패는 모두 시간 초과)와 Planner D 진단</a:t>
            </a:r>
          </a:p>
        </p:txBody>
      </p:sp>
      <p:sp>
        <p:nvSpPr>
          <p:cNvPr id="11" name="Rounded Rectangle 10"/>
          <p:cNvSpPr/>
          <p:nvPr/>
        </p:nvSpPr>
        <p:spPr>
          <a:xfrm>
            <a:off x="711200" y="5432028"/>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555902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레벨 3에서 세 스택 36–39/40(한 번씩, 잡음 바닥 안). 실패는 같은 몇 지형에 모였다.</a:t>
            </a:r>
          </a:p>
        </p:txBody>
      </p:sp>
      <p:sp>
        <p:nvSpPr>
          <p:cNvPr id="13" name="Rectangle 12"/>
          <p:cNvSpPr/>
          <p:nvPr/>
        </p:nvSpPr>
        <p:spPr>
          <a:xfrm>
            <a:off x="711200" y="6424315"/>
            <a:ext cx="10769600" cy="230485"/>
          </a:xfrm>
          <a:prstGeom prst="rect">
            <a:avLst/>
          </a:prstGeom>
          <a:noFill/>
          <a:ln>
            <a:noFill/>
          </a:ln>
        </p:spPr>
        <p:txBody>
          <a:bodyPr rtlCol="0" anchor="ctr"/>
          <a:lstStyle/>
          <a:p>
            <a:pPr algn="ctr"/>
          </a:p>
        </p:txBody>
      </p:sp>
      <p:sp>
        <p:nvSpPr>
          <p:cNvPr id="14" name="Rectangle 1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5" name="TextBox 1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[25] Rudin 외, 게임식 커리큘럼 — arXiv:2109.11978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S.5.2 · S.5.4 · 바퀴 물리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바퀴 접촉은 풀지 않고 운동학 모델과 랜덤화로 대신한다</a:t>
            </a:r>
          </a:p>
        </p:txBody>
      </p:sp>
      <p:graphicFrame>
        <p:nvGraphicFramePr>
          <p:cNvPr id="4" name="Table 3"/>
          <p:cNvGraphicFramePr>
            <a:graphicFrameLocks noGrp="1"/>
          </p:cNvGraphicFramePr>
          <p:nvPr/>
        </p:nvGraphicFramePr>
        <p:xfrm>
          <a:off x="711200" y="1361678"/>
          <a:ext cx="5064125" cy="1283087"/>
        </p:xfrm>
        <a:graphic>
          <a:graphicData uri="http://schemas.openxmlformats.org/drawingml/2006/table">
            <a:tbl>
              <a:tblPr firstRow="0" bandRow="0">
                <a:tableStyleId>{5C22544A-7EE6-4342-B048-85BDC9FD1C3A}</a:tableStyleId>
              </a:tblPr>
              <a:tblGrid>
                <a:gridCol w="2222500"/>
                <a:gridCol w="2841625"/>
              </a:tblGrid>
              <a:tr h="263634">
                <a:tc>
                  <a:txBody>
                    <a:bodyPr wrap="square"/>
                    <a:lstStyle/>
                    <a:p>
                      <a:r>
                        <a:rPr sz="10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바퀴형 로봇을 시뮬레이션한 방법</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COMPASS (NVIDIA)</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속도로 루트 상태를 직접 옮김</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UrbanVerse</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차동 구동 운동학 + PD</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Vid2Sim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자전거 모델 (휠베이스 0.8 m)</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travplan P1 (TP-0004)</a:t>
                      </a:r>
                    </a:p>
                  </a:txBody>
                  <a:tcPr marL="76200" marR="76200" marT="25400" marB="25400">
                    <a:solidFill>
                      <a:srgbClr val="FFFDF8"/>
                    </a:solidFill>
                  </a:tcPr>
                </a:tc>
                <a:tc>
                  <a:txBody>
                    <a:bodyPr wrap="square"/>
                    <a:lstStyle/>
                    <a:p>
                      <a:r>
                        <a:rPr sz="850" b="0" i="0">
                          <a:solidFill>
                            <a:srgbClr val="7C2D12"/>
                          </a:solidFill>
                          <a:latin typeface="Consolas"/>
                          <a:ea typeface="Malgun Gothic"/>
                          <a:cs typeface="Malgun Gothic"/>
                        </a:rPr>
                        <a:t>SwerveModel</a:t>
                      </a:r>
                      <a:r>
                        <a:rPr sz="1000" b="0" i="0">
                          <a:solidFill>
                            <a:srgbClr val="16213A"/>
                          </a:solidFill>
                          <a:latin typeface="Arial"/>
                          <a:ea typeface="Malgun Gothic"/>
                          <a:cs typeface="Malgun Gothic"/>
                        </a:rPr>
                        <a:t> 운동학 프록시</a:t>
                      </a:r>
                    </a:p>
                  </a:txBody>
                  <a:tcPr marL="76200" marR="76200" marT="25400" marB="25400">
                    <a:solidFill>
                      <a:srgbClr val="FFFDF8"/>
                    </a:solidFill>
                  </a:tcPr>
                </a:tc>
              </a:tr>
            </a:tbl>
          </a:graphicData>
        </a:graphic>
      </p:graphicFrame>
      <p:sp>
        <p:nvSpPr>
          <p:cNvPr id="5" name="TextBox 4"/>
          <p:cNvSpPr txBox="1"/>
          <p:nvPr/>
        </p:nvSpPr>
        <p:spPr>
          <a:xfrm>
            <a:off x="711200" y="2985492"/>
            <a:ext cx="5241449"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PhysX GPU는 바퀴를 18각형(최대 64각형) 기둥으로 근사했고, 원기둥 지원은 2025-02에 들어갔다.</a:t>
            </a:r>
          </a:p>
        </p:txBody>
      </p:sp>
      <p:sp>
        <p:nvSpPr>
          <p:cNvPr id="6" name="Rounded Rectangle 5"/>
          <p:cNvSpPr/>
          <p:nvPr/>
        </p:nvSpPr>
        <p:spPr>
          <a:xfrm>
            <a:off x="711200" y="3490912"/>
            <a:ext cx="5064125" cy="1051520"/>
          </a:xfrm>
          <a:prstGeom prst="roundRect">
            <a:avLst>
              <a:gd name="adj" fmla="val 7246"/>
            </a:avLst>
          </a:prstGeom>
          <a:solidFill>
            <a:srgbClr val="FFFDF8"/>
          </a:solidFill>
          <a:ln>
            <a:noFill/>
          </a:ln>
        </p:spPr>
        <p:txBody>
          <a:bodyPr rtlCol="0" anchor="ctr"/>
          <a:lstStyle/>
          <a:p>
            <a:pPr algn="ctr"/>
          </a:p>
        </p:txBody>
      </p:sp>
      <p:sp>
        <p:nvSpPr>
          <p:cNvPr id="7" name="Rectangle 6"/>
          <p:cNvSpPr/>
          <p:nvPr/>
        </p:nvSpPr>
        <p:spPr>
          <a:xfrm>
            <a:off x="711200" y="3490912"/>
            <a:ext cx="5064125" cy="6350"/>
          </a:xfrm>
          <a:prstGeom prst="rect">
            <a:avLst/>
          </a:prstGeom>
          <a:solidFill>
            <a:srgbClr val="D9D4C7"/>
          </a:solidFill>
          <a:ln>
            <a:noFill/>
          </a:ln>
        </p:spPr>
        <p:txBody>
          <a:bodyPr rtlCol="0" anchor="ctr"/>
          <a:lstStyle/>
          <a:p>
            <a:pPr algn="ctr"/>
          </a:p>
        </p:txBody>
      </p:sp>
      <p:sp>
        <p:nvSpPr>
          <p:cNvPr id="8" name="Rectangle 7"/>
          <p:cNvSpPr/>
          <p:nvPr/>
        </p:nvSpPr>
        <p:spPr>
          <a:xfrm>
            <a:off x="5768975" y="3490912"/>
            <a:ext cx="6350" cy="1051520"/>
          </a:xfrm>
          <a:prstGeom prst="rect">
            <a:avLst/>
          </a:prstGeom>
          <a:solidFill>
            <a:srgbClr val="D9D4C7"/>
          </a:solidFill>
          <a:ln>
            <a:noFill/>
          </a:ln>
        </p:spPr>
        <p:txBody>
          <a:bodyPr rtlCol="0" anchor="ctr"/>
          <a:lstStyle/>
          <a:p>
            <a:pPr algn="ctr"/>
          </a:p>
        </p:txBody>
      </p:sp>
      <p:sp>
        <p:nvSpPr>
          <p:cNvPr id="9" name="Rectangle 8"/>
          <p:cNvSpPr/>
          <p:nvPr/>
        </p:nvSpPr>
        <p:spPr>
          <a:xfrm>
            <a:off x="711200" y="4536083"/>
            <a:ext cx="5064125"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3490912"/>
            <a:ext cx="50800" cy="1051520"/>
          </a:xfrm>
          <a:prstGeom prst="roundRect">
            <a:avLst>
              <a:gd name="adj" fmla="val 50000"/>
            </a:avLst>
          </a:prstGeom>
          <a:solidFill>
            <a:srgbClr val="1D4ED8"/>
          </a:solidFill>
          <a:ln>
            <a:noFill/>
          </a:ln>
        </p:spPr>
        <p:txBody>
          <a:bodyPr rtlCol="0" anchor="ctr"/>
          <a:lstStyle/>
          <a:p>
            <a:pPr algn="ctr"/>
          </a:p>
        </p:txBody>
      </p:sp>
      <p:sp>
        <p:nvSpPr>
          <p:cNvPr id="11" name="Rounded Rectangle 10"/>
          <p:cNvSpPr/>
          <p:nvPr/>
        </p:nvSpPr>
        <p:spPr>
          <a:xfrm>
            <a:off x="927100" y="3636962"/>
            <a:ext cx="2292747" cy="241300"/>
          </a:xfrm>
          <a:prstGeom prst="roundRect">
            <a:avLst>
              <a:gd name="adj" fmla="val 50000"/>
            </a:avLst>
          </a:prstGeom>
          <a:solidFill>
            <a:srgbClr val="DBE5FB"/>
          </a:solidFill>
          <a:ln>
            <a:noFill/>
          </a:ln>
        </p:spPr>
        <p:txBody>
          <a:bodyPr rtlCol="0" anchor="ctr"/>
          <a:lstStyle/>
          <a:p>
            <a:pPr algn="ctr"/>
          </a:p>
        </p:txBody>
      </p:sp>
      <p:sp>
        <p:nvSpPr>
          <p:cNvPr id="12" name="TextBox 11"/>
          <p:cNvSpPr txBox="1"/>
          <p:nvPr/>
        </p:nvSpPr>
        <p:spPr>
          <a:xfrm>
            <a:off x="1016000" y="3662362"/>
            <a:ext cx="220379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Wheeled Lab [26] · TIAGo Omni [27]</a:t>
            </a:r>
          </a:p>
        </p:txBody>
      </p:sp>
      <p:sp>
        <p:nvSpPr>
          <p:cNvPr id="13" name="TextBox 12"/>
          <p:cNvSpPr txBox="1"/>
          <p:nvPr/>
        </p:nvSpPr>
        <p:spPr>
          <a:xfrm>
            <a:off x="927100" y="3954462"/>
            <a:ext cx="484247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Isaac Lab에서 RC카를 GPU당 64–1,024대 돌려 zero-shot. TIAGo는 정밀 모델 + 실물 기록으로 보정한 경량 모델을 둔다.</a:t>
            </a:r>
          </a:p>
        </p:txBody>
      </p:sp>
      <p:sp>
        <p:nvSpPr>
          <p:cNvPr id="14" name="Rounded Rectangle 13"/>
          <p:cNvSpPr/>
          <p:nvPr/>
        </p:nvSpPr>
        <p:spPr>
          <a:xfrm>
            <a:off x="6029325" y="1361678"/>
            <a:ext cx="5451475" cy="3769221"/>
          </a:xfrm>
          <a:prstGeom prst="roundRect">
            <a:avLst>
              <a:gd name="adj" fmla="val 2021"/>
            </a:avLst>
          </a:prstGeom>
          <a:solidFill>
            <a:srgbClr val="FFFDF8"/>
          </a:solidFill>
          <a:ln>
            <a:noFill/>
          </a:ln>
        </p:spPr>
        <p:txBody>
          <a:bodyPr rtlCol="0" anchor="ctr"/>
          <a:lstStyle/>
          <a:p>
            <a:pPr algn="ctr"/>
          </a:p>
        </p:txBody>
      </p:sp>
      <p:sp>
        <p:nvSpPr>
          <p:cNvPr id="15" name="Rectangle 14"/>
          <p:cNvSpPr/>
          <p:nvPr/>
        </p:nvSpPr>
        <p:spPr>
          <a:xfrm>
            <a:off x="6029325" y="1361678"/>
            <a:ext cx="5451475"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361678"/>
            <a:ext cx="6350" cy="3769221"/>
          </a:xfrm>
          <a:prstGeom prst="rect">
            <a:avLst/>
          </a:prstGeom>
          <a:solidFill>
            <a:srgbClr val="D9D4C7"/>
          </a:solidFill>
          <a:ln>
            <a:noFill/>
          </a:ln>
        </p:spPr>
        <p:txBody>
          <a:bodyPr rtlCol="0" anchor="ctr"/>
          <a:lstStyle/>
          <a:p>
            <a:pPr algn="ctr"/>
          </a:p>
        </p:txBody>
      </p:sp>
      <p:sp>
        <p:nvSpPr>
          <p:cNvPr id="17" name="Rectangle 16"/>
          <p:cNvSpPr/>
          <p:nvPr/>
        </p:nvSpPr>
        <p:spPr>
          <a:xfrm>
            <a:off x="6029325" y="5124549"/>
            <a:ext cx="5451475" cy="6350"/>
          </a:xfrm>
          <a:prstGeom prst="rect">
            <a:avLst/>
          </a:prstGeom>
          <a:solidFill>
            <a:srgbClr val="D9D4C7"/>
          </a:solidFill>
          <a:ln>
            <a:noFill/>
          </a:ln>
        </p:spPr>
        <p:txBody>
          <a:bodyPr rtlCol="0" anchor="ctr"/>
          <a:lstStyle/>
          <a:p>
            <a:pPr algn="ctr"/>
          </a:p>
        </p:txBody>
      </p:sp>
      <p:sp>
        <p:nvSpPr>
          <p:cNvPr id="18" name="Rounded Rectangle 17"/>
          <p:cNvSpPr/>
          <p:nvPr/>
        </p:nvSpPr>
        <p:spPr>
          <a:xfrm>
            <a:off x="6029325" y="1361678"/>
            <a:ext cx="50800" cy="3769221"/>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6245225" y="1507728"/>
            <a:ext cx="1017488"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6334125" y="1533128"/>
            <a:ext cx="89027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Sim2Dust [28]</a:t>
            </a:r>
          </a:p>
        </p:txBody>
      </p:sp>
      <p:sp>
        <p:nvSpPr>
          <p:cNvPr id="21" name="TextBox 20"/>
          <p:cNvSpPr txBox="1"/>
          <p:nvPr/>
        </p:nvSpPr>
        <p:spPr>
          <a:xfrm>
            <a:off x="6245225" y="1825228"/>
            <a:ext cx="5241449"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입자 없이 자갈을 넘었다</a:t>
            </a:r>
          </a:p>
        </p:txBody>
      </p:sp>
      <p:sp>
        <p:nvSpPr>
          <p:cNvPr id="22" name="TextBox 21"/>
          <p:cNvSpPr txBox="1"/>
          <p:nvPr/>
        </p:nvSpPr>
        <p:spPr>
          <a:xfrm>
            <a:off x="6283325" y="213250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단단한 면 + 절차 지형 + 지연·잡음 랜덤화, DreamerV3</a:t>
            </a:r>
          </a:p>
        </p:txBody>
      </p:sp>
      <p:sp>
        <p:nvSpPr>
          <p:cNvPr id="23" name="TextBox 22"/>
          <p:cNvSpPr txBox="1"/>
          <p:nvPr/>
        </p:nvSpPr>
        <p:spPr>
          <a:xfrm>
            <a:off x="6283325" y="2416969"/>
            <a:ext cx="5202206"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현무암 자갈 위 Leo Rover zero-shot: 25 cm/s에서 3.6 cm, 2.3°</a:t>
            </a:r>
          </a:p>
        </p:txBody>
      </p:sp>
      <p:sp>
        <p:nvSpPr>
          <p:cNvPr id="24" name="TextBox 23"/>
          <p:cNvSpPr txBox="1"/>
          <p:nvPr/>
        </p:nvSpPr>
        <p:spPr>
          <a:xfrm>
            <a:off x="6283325" y="2701429"/>
            <a:ext cx="5202206" cy="6032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입자 fine-tuning은 약 82시간 더 들고, 25 cm/s에서 3.6 → 4.3 cm로 나빠졌다</a:t>
            </a:r>
          </a:p>
        </p:txBody>
      </p:sp>
      <p:sp>
        <p:nvSpPr>
          <p:cNvPr id="25" name="Rounded Rectangle 24"/>
          <p:cNvSpPr/>
          <p:nvPr/>
        </p:nvSpPr>
        <p:spPr>
          <a:xfrm>
            <a:off x="6245225" y="3219549"/>
            <a:ext cx="5064125" cy="1524000"/>
          </a:xfrm>
          <a:prstGeom prst="roundRect">
            <a:avLst>
              <a:gd name="adj" fmla="val 3333"/>
            </a:avLst>
          </a:prstGeom>
          <a:solidFill>
            <a:srgbClr val="FFFFFF"/>
          </a:solidFill>
          <a:ln w="6350">
            <a:solidFill>
              <a:srgbClr val="D9D4C7"/>
            </a:solidFill>
          </a:ln>
        </p:spPr>
        <p:txBody>
          <a:bodyPr rtlCol="0" anchor="ctr"/>
          <a:lstStyle/>
          <a:p>
            <a:pPr algn="ctr"/>
          </a:p>
        </p:txBody>
      </p:sp>
      <p:pic>
        <p:nvPicPr>
          <p:cNvPr id="26" name="Picture 25" descr="image.jpg"/>
          <p:cNvPicPr>
            <a:picLocks noChangeAspect="1"/>
          </p:cNvPicPr>
          <p:nvPr/>
        </p:nvPicPr>
        <p:blipFill>
          <a:blip r:embed="rId2"/>
          <a:stretch>
            <a:fillRect/>
          </a:stretch>
        </p:blipFill>
        <p:spPr>
          <a:xfrm>
            <a:off x="8015288" y="3219549"/>
            <a:ext cx="1524000" cy="1524000"/>
          </a:xfrm>
          <a:prstGeom prst="rect">
            <a:avLst/>
          </a:prstGeom>
        </p:spPr>
      </p:pic>
      <p:sp>
        <p:nvSpPr>
          <p:cNvPr id="27" name="TextBox 26"/>
          <p:cNvSpPr txBox="1"/>
          <p:nvPr/>
        </p:nvSpPr>
        <p:spPr>
          <a:xfrm>
            <a:off x="6245225" y="4807049"/>
            <a:ext cx="5241449"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Sim2Dust Fig. 3b — 병렬 환경마다 다른 절차 지형</a:t>
            </a:r>
          </a:p>
        </p:txBody>
      </p:sp>
      <p:sp>
        <p:nvSpPr>
          <p:cNvPr id="28" name="Rounded Rectangle 27"/>
          <p:cNvSpPr/>
          <p:nvPr/>
        </p:nvSpPr>
        <p:spPr>
          <a:xfrm>
            <a:off x="711200" y="5308699"/>
            <a:ext cx="10769600" cy="502543"/>
          </a:xfrm>
          <a:prstGeom prst="roundRect">
            <a:avLst>
              <a:gd name="adj" fmla="val 15162"/>
            </a:avLst>
          </a:prstGeom>
          <a:solidFill>
            <a:srgbClr val="16213A"/>
          </a:solidFill>
          <a:ln>
            <a:noFill/>
          </a:ln>
        </p:spPr>
        <p:txBody>
          <a:bodyPr rtlCol="0" anchor="ctr"/>
          <a:lstStyle/>
          <a:p>
            <a:pPr algn="ctr"/>
          </a:p>
        </p:txBody>
      </p:sp>
      <p:sp>
        <p:nvSpPr>
          <p:cNvPr id="29" name="TextBox 28"/>
          <p:cNvSpPr txBox="1"/>
          <p:nvPr/>
        </p:nvSpPr>
        <p:spPr>
          <a:xfrm>
            <a:off x="889000" y="543569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SwerveModel에 모듈 한계를 넣고, 실물이 생기면 조향·구동 응답으로 보정한다.</a:t>
            </a:r>
          </a:p>
        </p:txBody>
      </p:sp>
      <p:sp>
        <p:nvSpPr>
          <p:cNvPr id="30" name="Rectangle 29"/>
          <p:cNvSpPr/>
          <p:nvPr/>
        </p:nvSpPr>
        <p:spPr>
          <a:xfrm>
            <a:off x="711200" y="6424315"/>
            <a:ext cx="10769600" cy="230485"/>
          </a:xfrm>
          <a:prstGeom prst="rect">
            <a:avLst/>
          </a:prstGeom>
          <a:noFill/>
          <a:ln>
            <a:noFill/>
          </a:ln>
        </p:spPr>
        <p:txBody>
          <a:bodyPr rtlCol="0" anchor="ctr"/>
          <a:lstStyle/>
          <a:p>
            <a:pPr algn="ctr"/>
          </a:p>
        </p:txBody>
      </p:sp>
      <p:sp>
        <p:nvSpPr>
          <p:cNvPr id="31" name="Rectangle 3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2" name="TextBox 3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[26] Wheeled Lab, CoRL 2025 — arXiv:2502.07380 · [27] TIAGo Omni, CASE 2025 — arXiv:2510.10273 · [28] Sim2Dust, Univ. of Luxembourg, 2025 — arXiv:2508.11503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S.5.3b · 비동축 스워브</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AntBot의 비동축 오프셋은 조향할 때 타이어를 끈다</a:t>
            </a:r>
          </a:p>
        </p:txBody>
      </p:sp>
      <p:graphicFrame>
        <p:nvGraphicFramePr>
          <p:cNvPr id="4" name="Table 3"/>
          <p:cNvGraphicFramePr>
            <a:graphicFrameLocks noGrp="1"/>
          </p:cNvGraphicFramePr>
          <p:nvPr/>
        </p:nvGraphicFramePr>
        <p:xfrm>
          <a:off x="711200" y="1361678"/>
          <a:ext cx="5257800" cy="1230968"/>
        </p:xfrm>
        <a:graphic>
          <a:graphicData uri="http://schemas.openxmlformats.org/drawingml/2006/table">
            <a:tbl>
              <a:tblPr firstRow="0" bandRow="0">
                <a:tableStyleId>{5C22544A-7EE6-4342-B048-85BDC9FD1C3A}</a:tableStyleId>
              </a:tblPr>
              <a:tblGrid>
                <a:gridCol w="1182588"/>
                <a:gridCol w="792361"/>
                <a:gridCol w="3282851"/>
              </a:tblGrid>
              <a:tr h="416620">
                <a:tc>
                  <a:txBody>
                    <a:bodyPr wrap="square"/>
                    <a:lstStyle/>
                    <a:p>
                      <a:r>
                        <a:rPr sz="1000" b="1" i="0">
                          <a:solidFill>
                            <a:srgbClr val="F4F1EA"/>
                          </a:solidFill>
                          <a:latin typeface="Arial"/>
                          <a:ea typeface="Malgun Gothic"/>
                          <a:cs typeface="Malgun Gothic"/>
                        </a:rPr>
                        <a:t>종류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오프셋 방향</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결과</a:t>
                      </a:r>
                    </a:p>
                  </a:txBody>
                  <a:tcPr marL="76200" marR="76200" marT="25400" marB="25400">
                    <a:solidFill>
                      <a:srgbClr val="16213A"/>
                    </a:solidFill>
                  </a:tcPr>
                </a:tc>
              </a:tr>
              <a:tr h="408523">
                <a:tc>
                  <a:txBody>
                    <a:bodyPr wrap="square"/>
                    <a:lstStyle/>
                    <a:p>
                      <a:r>
                        <a:rPr sz="1000" b="0" i="0">
                          <a:solidFill>
                            <a:srgbClr val="16213A"/>
                          </a:solidFill>
                          <a:latin typeface="Arial"/>
                          <a:ea typeface="Malgun Gothic"/>
                          <a:cs typeface="Malgun Gothic"/>
                        </a:rPr>
                        <a:t>(i) 트레일링 캐스터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구름 방향</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조향 속도가 횡속도를 흡수</a:t>
                      </a:r>
                    </a:p>
                  </a:txBody>
                  <a:tcPr marL="76200" marR="76200" marT="25400" marB="25400">
                    <a:solidFill>
                      <a:srgbClr val="F1EDE4"/>
                    </a:solidFill>
                  </a:tcPr>
                </a:tc>
              </a:tr>
              <a:tr h="405825">
                <a:tc>
                  <a:txBody>
                    <a:bodyPr wrap="square"/>
                    <a:lstStyle/>
                    <a:p>
                      <a:r>
                        <a:rPr sz="1000" b="1" i="0">
                          <a:solidFill>
                            <a:srgbClr val="16213A"/>
                          </a:solidFill>
                          <a:latin typeface="Arial"/>
                          <a:ea typeface="Malgun Gothic"/>
                          <a:cs typeface="Malgun Gothic"/>
                        </a:rPr>
                        <a:t>(ii) AntBot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바퀴 회전축</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횡 구속은 동축과 같다. 조향 속도가 바퀴 속도 식에 들어간다</a:t>
                      </a:r>
                    </a:p>
                  </a:txBody>
                  <a:tcPr marL="76200" marR="76200" marT="25400" marB="25400">
                    <a:solidFill>
                      <a:srgbClr val="FFFDF8"/>
                    </a:solidFill>
                  </a:tcPr>
                </a:tc>
              </a:tr>
            </a:tbl>
          </a:graphicData>
        </a:graphic>
      </p:graphicFrame>
      <p:sp>
        <p:nvSpPr>
          <p:cNvPr id="5" name="TextBox 4"/>
          <p:cNvSpPr txBox="1"/>
          <p:nvPr/>
        </p:nvSpPr>
        <p:spPr>
          <a:xfrm>
            <a:off x="711200" y="2924175"/>
            <a:ext cx="5440934" cy="539700"/>
          </a:xfrm>
          <a:prstGeom prst="rect">
            <a:avLst/>
          </a:prstGeom>
          <a:noFill/>
        </p:spPr>
        <p:txBody>
          <a:bodyPr wrap="square" lIns="0" rIns="0" tIns="0" bIns="0" anchor="t">
            <a:normAutofit/>
          </a:bodyPr>
          <a:lstStyle/>
          <a:p>
            <a:pPr>
              <a:lnSpc>
                <a:spcPct val="128800"/>
              </a:lnSpc>
            </a:pPr>
            <a:r>
              <a:rPr sz="900" b="0" i="0">
                <a:solidFill>
                  <a:srgbClr val="7C2D12"/>
                </a:solidFill>
                <a:latin typeface="Consolas"/>
                <a:ea typeface="Malgun Gothic"/>
                <a:cs typeface="Malgun Gothic"/>
              </a:rPr>
              <a:t>wheel_offset</a:t>
            </a:r>
            <a:r>
              <a:rPr sz="1050" b="0" i="0">
                <a:solidFill>
                  <a:srgbClr val="16213A"/>
                </a:solidFill>
                <a:latin typeface="Arial"/>
                <a:ea typeface="Malgun Gothic"/>
                <a:cs typeface="Malgun Gothic"/>
              </a:rPr>
              <a:t> = 0.0555 m. 조향 범위는 모터 사양 ±56.2°, 제어기 ±60°, URDF ±90°로 셋이 다르다.</a:t>
            </a:r>
          </a:p>
        </p:txBody>
      </p:sp>
      <p:graphicFrame>
        <p:nvGraphicFramePr>
          <p:cNvPr id="6" name="Table 5"/>
          <p:cNvGraphicFramePr>
            <a:graphicFrameLocks noGrp="1"/>
          </p:cNvGraphicFramePr>
          <p:nvPr/>
        </p:nvGraphicFramePr>
        <p:xfrm>
          <a:off x="6223000" y="1361678"/>
          <a:ext cx="5257800" cy="772011"/>
        </p:xfrm>
        <a:graphic>
          <a:graphicData uri="http://schemas.openxmlformats.org/drawingml/2006/table">
            <a:tbl>
              <a:tblPr firstRow="0" bandRow="0">
                <a:tableStyleId>{5C22544A-7EE6-4342-B048-85BDC9FD1C3A}</a:tableStyleId>
              </a:tblPr>
              <a:tblGrid>
                <a:gridCol w="2616299"/>
                <a:gridCol w="1374180"/>
                <a:gridCol w="1267321"/>
              </a:tblGrid>
              <a:tr h="263634">
                <a:tc>
                  <a:txBody>
                    <a:bodyPr wrap="square"/>
                    <a:lstStyle/>
                    <a:p>
                      <a:r>
                        <a:rPr sz="1000" b="1" i="0">
                          <a:solidFill>
                            <a:srgbClr val="F4F1EA"/>
                          </a:solidFill>
                          <a:latin typeface="Arial"/>
                          <a:ea typeface="Malgun Gothic"/>
                          <a:cs typeface="Malgun Gothic"/>
                        </a:rPr>
                        <a:t>2026-09-28 실측 (406 스텝)</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평균 |Δω|</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1초 드리프트</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스크럽 보상 꺼짐 (시뮬 설정)</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0.0237 rad/s</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0.0062 m</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스크럽 보상 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0.0007 rad/s</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0.0005 m</a:t>
                      </a:r>
                    </a:p>
                  </a:txBody>
                  <a:tcPr marL="76200" marR="76200" marT="25400" marB="25400">
                    <a:solidFill>
                      <a:srgbClr val="FFFDF8"/>
                    </a:solidFill>
                  </a:tcPr>
                </a:tc>
              </a:tr>
            </a:tbl>
          </a:graphicData>
        </a:graphic>
      </p:graphicFrame>
      <p:sp>
        <p:nvSpPr>
          <p:cNvPr id="7" name="TextBox 6"/>
          <p:cNvSpPr txBox="1"/>
          <p:nvPr/>
        </p:nvSpPr>
        <p:spPr>
          <a:xfrm>
            <a:off x="6223000" y="2384227"/>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오차는 주로 yaw에 나타나고, 보상 스위치 하나로 12배 준다. 이 궤적들에서는 조향 범위 한계에 걸리지 않았다.</a:t>
            </a:r>
          </a:p>
        </p:txBody>
      </p:sp>
      <p:sp>
        <p:nvSpPr>
          <p:cNvPr id="8" name="Rounded Rectangle 7"/>
          <p:cNvSpPr/>
          <p:nvPr/>
        </p:nvSpPr>
        <p:spPr>
          <a:xfrm>
            <a:off x="711200" y="3493095"/>
            <a:ext cx="10769600" cy="438944"/>
          </a:xfrm>
          <a:prstGeom prst="roundRect">
            <a:avLst>
              <a:gd name="adj" fmla="val 11573"/>
            </a:avLst>
          </a:prstGeom>
          <a:solidFill>
            <a:srgbClr val="FFFDF8"/>
          </a:solidFill>
          <a:ln>
            <a:noFill/>
          </a:ln>
        </p:spPr>
        <p:txBody>
          <a:bodyPr rtlCol="0" anchor="ctr"/>
          <a:lstStyle/>
          <a:p>
            <a:pPr algn="ctr"/>
          </a:p>
        </p:txBody>
      </p:sp>
      <p:sp>
        <p:nvSpPr>
          <p:cNvPr id="9" name="Rounded Rectangle 8"/>
          <p:cNvSpPr/>
          <p:nvPr/>
        </p:nvSpPr>
        <p:spPr>
          <a:xfrm>
            <a:off x="711200" y="3493095"/>
            <a:ext cx="38100" cy="438944"/>
          </a:xfrm>
          <a:prstGeom prst="roundRect">
            <a:avLst>
              <a:gd name="adj" fmla="val 50000"/>
            </a:avLst>
          </a:prstGeom>
          <a:solidFill>
            <a:srgbClr val="C2410C"/>
          </a:solidFill>
          <a:ln>
            <a:noFill/>
          </a:ln>
        </p:spPr>
        <p:txBody>
          <a:bodyPr rtlCol="0" anchor="ctr"/>
          <a:lstStyle/>
          <a:p>
            <a:pPr algn="ctr"/>
          </a:p>
        </p:txBody>
      </p:sp>
      <p:pic>
        <p:nvPicPr>
          <p:cNvPr id="10" name="Picture 9" descr="image.png"/>
          <p:cNvPicPr>
            <a:picLocks noChangeAspect="1"/>
          </p:cNvPicPr>
          <p:nvPr/>
        </p:nvPicPr>
        <p:blipFill>
          <a:blip r:embed="rId2"/>
          <a:stretch>
            <a:fillRect/>
          </a:stretch>
        </p:blipFill>
        <p:spPr>
          <a:xfrm>
            <a:off x="901700" y="3581995"/>
            <a:ext cx="10433050" cy="267494"/>
          </a:xfrm>
          <a:prstGeom prst="rect">
            <a:avLst/>
          </a:prstGeom>
        </p:spPr>
      </p:pic>
      <p:sp>
        <p:nvSpPr>
          <p:cNvPr id="11" name="Rounded Rectangle 10"/>
          <p:cNvSpPr/>
          <p:nvPr/>
        </p:nvSpPr>
        <p:spPr>
          <a:xfrm>
            <a:off x="711200" y="4109839"/>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42368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정면 보행자를 비킬 때는 56.2° 한계에 걸린다. plant 충돌 12/20, 조향 90°면 2/20(TP-0162). 실제 한계 확인은 TP-0163.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S.5.3c · 동역학 plant</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동역학 학습의 첫 표적은 타이어가 아니라 액추에이터 지연이다</a:t>
            </a:r>
          </a:p>
        </p:txBody>
      </p:sp>
      <p:graphicFrame>
        <p:nvGraphicFramePr>
          <p:cNvPr id="4" name="Table 3"/>
          <p:cNvGraphicFramePr>
            <a:graphicFrameLocks noGrp="1"/>
          </p:cNvGraphicFramePr>
          <p:nvPr/>
        </p:nvGraphicFramePr>
        <p:xfrm>
          <a:off x="711200" y="1361678"/>
          <a:ext cx="5257800" cy="1283087"/>
        </p:xfrm>
        <a:graphic>
          <a:graphicData uri="http://schemas.openxmlformats.org/drawingml/2006/table">
            <a:tbl>
              <a:tblPr firstRow="0" bandRow="0">
                <a:tableStyleId>{5C22544A-7EE6-4342-B048-85BDC9FD1C3A}</a:tableStyleId>
              </a:tblPr>
              <a:tblGrid>
                <a:gridCol w="1489670"/>
                <a:gridCol w="1655465"/>
                <a:gridCol w="833438"/>
                <a:gridCol w="1279227"/>
              </a:tblGrid>
              <a:tr h="263634">
                <a:tc>
                  <a:txBody>
                    <a:bodyPr wrap="square"/>
                    <a:lstStyle/>
                    <a:p>
                      <a:r>
                        <a:rPr sz="1000" b="1" i="0">
                          <a:solidFill>
                            <a:srgbClr val="F4F1EA"/>
                          </a:solidFill>
                          <a:latin typeface="Arial"/>
                          <a:ea typeface="Malgun Gothic"/>
                          <a:cs typeface="Malgun Gothic"/>
                        </a:rPr>
                        <a:t>도구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바퀴 접촉</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미분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역할</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MuJoCo Warp</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마찰 원뿔, 강함</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plant 1순위</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Newton</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MuJoCo Warp + 자체</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자체만 ○</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기울기로 맞출 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Isaac Sim (PhysX)</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불안정</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P1 폐루프</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Verti-WM [30]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주행 기록에서 배움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실물 식별 참고</a:t>
                      </a:r>
                    </a:p>
                  </a:txBody>
                  <a:tcPr marL="76200" marR="76200" marT="25400" marB="25400">
                    <a:solidFill>
                      <a:srgbClr val="FFFDF8"/>
                    </a:solidFill>
                  </a:tcPr>
                </a:tc>
              </a:tr>
            </a:tbl>
          </a:graphicData>
        </a:graphic>
      </p:graphicFrame>
      <p:sp>
        <p:nvSpPr>
          <p:cNvPr id="5" name="TextBox 4"/>
          <p:cNvSpPr txBox="1"/>
          <p:nvPr/>
        </p:nvSpPr>
        <p:spPr>
          <a:xfrm>
            <a:off x="711200" y="2985492"/>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모듈 4 × 액추에이터 2 = 입력 8개가 3자유도 차체를 민다. 남는 5차원의 내부 간섭은 물리나 실물에서만 나온다.</a:t>
            </a:r>
          </a:p>
        </p:txBody>
      </p:sp>
      <p:sp>
        <p:nvSpPr>
          <p:cNvPr id="6" name="Rounded Rectangle 5"/>
          <p:cNvSpPr/>
          <p:nvPr/>
        </p:nvSpPr>
        <p:spPr>
          <a:xfrm>
            <a:off x="6223000" y="1361678"/>
            <a:ext cx="5257800" cy="1041301"/>
          </a:xfrm>
          <a:prstGeom prst="roundRect">
            <a:avLst>
              <a:gd name="adj" fmla="val 7317"/>
            </a:avLst>
          </a:prstGeom>
          <a:solidFill>
            <a:srgbClr val="FFFDF8"/>
          </a:solidFill>
          <a:ln>
            <a:noFill/>
          </a:ln>
        </p:spPr>
        <p:txBody>
          <a:bodyPr rtlCol="0" anchor="ctr"/>
          <a:lstStyle/>
          <a:p>
            <a:pPr algn="ctr"/>
          </a:p>
        </p:txBody>
      </p:sp>
      <p:sp>
        <p:nvSpPr>
          <p:cNvPr id="7" name="Rectangle 6"/>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8" name="Rectangle 7"/>
          <p:cNvSpPr/>
          <p:nvPr/>
        </p:nvSpPr>
        <p:spPr>
          <a:xfrm>
            <a:off x="11474450" y="1361678"/>
            <a:ext cx="6350" cy="1041301"/>
          </a:xfrm>
          <a:prstGeom prst="rect">
            <a:avLst/>
          </a:prstGeom>
          <a:solidFill>
            <a:srgbClr val="D9D4C7"/>
          </a:solidFill>
          <a:ln>
            <a:noFill/>
          </a:ln>
        </p:spPr>
        <p:txBody>
          <a:bodyPr rtlCol="0" anchor="ctr"/>
          <a:lstStyle/>
          <a:p>
            <a:pPr algn="ctr"/>
          </a:p>
        </p:txBody>
      </p:sp>
      <p:sp>
        <p:nvSpPr>
          <p:cNvPr id="9" name="Rectangle 8"/>
          <p:cNvSpPr/>
          <p:nvPr/>
        </p:nvSpPr>
        <p:spPr>
          <a:xfrm>
            <a:off x="6223000" y="2396629"/>
            <a:ext cx="5257800" cy="6350"/>
          </a:xfrm>
          <a:prstGeom prst="rect">
            <a:avLst/>
          </a:prstGeom>
          <a:solidFill>
            <a:srgbClr val="D9D4C7"/>
          </a:solidFill>
          <a:ln>
            <a:noFill/>
          </a:ln>
        </p:spPr>
        <p:txBody>
          <a:bodyPr rtlCol="0" anchor="ctr"/>
          <a:lstStyle/>
          <a:p>
            <a:pPr algn="ctr"/>
          </a:p>
        </p:txBody>
      </p:sp>
      <p:sp>
        <p:nvSpPr>
          <p:cNvPr id="10" name="Rounded Rectangle 9"/>
          <p:cNvSpPr/>
          <p:nvPr/>
        </p:nvSpPr>
        <p:spPr>
          <a:xfrm>
            <a:off x="6223000" y="1361678"/>
            <a:ext cx="50800" cy="1041301"/>
          </a:xfrm>
          <a:prstGeom prst="roundRect">
            <a:avLst>
              <a:gd name="adj" fmla="val 50000"/>
            </a:avLst>
          </a:prstGeom>
          <a:solidFill>
            <a:srgbClr val="C2410C"/>
          </a:solidFill>
          <a:ln>
            <a:noFill/>
          </a:ln>
        </p:spPr>
        <p:txBody>
          <a:bodyPr rtlCol="0" anchor="ctr"/>
          <a:lstStyle/>
          <a:p>
            <a:pPr algn="ctr"/>
          </a:p>
        </p:txBody>
      </p:sp>
      <p:sp>
        <p:nvSpPr>
          <p:cNvPr id="11" name="TextBox 10"/>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잔차를 지배하는 항은 지연이다</a:t>
            </a:r>
          </a:p>
        </p:txBody>
      </p:sp>
      <p:sp>
        <p:nvSpPr>
          <p:cNvPr id="12" name="TextBox 11"/>
          <p:cNvSpPr txBox="1"/>
          <p:nvPr/>
        </p:nvSpPr>
        <p:spPr>
          <a:xfrm>
            <a:off x="6438900" y="18150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기구학 6 mm/s 대 지연 56 mm/s. 지연을 rollout에 넣은 </a:t>
            </a:r>
            <a:r>
              <a:rPr sz="1000" b="0" i="0">
                <a:solidFill>
                  <a:srgbClr val="7C2D12"/>
                </a:solidFill>
                <a:latin typeface="Consolas"/>
                <a:ea typeface="Malgun Gothic"/>
                <a:cs typeface="Malgun Gothic"/>
              </a:rPr>
              <a:t>mppi_plant_lag</a:t>
            </a:r>
            <a:r>
              <a:rPr sz="1150" b="0" i="0">
                <a:solidFill>
                  <a:srgbClr val="16213A"/>
                </a:solidFill>
                <a:latin typeface="Arial"/>
                <a:ea typeface="Malgun Gothic"/>
                <a:cs typeface="Malgun Gothic"/>
              </a:rPr>
              <a:t>로 plant 레벨 3 치명 55 → 4 (TP-0150).</a:t>
            </a:r>
          </a:p>
        </p:txBody>
      </p:sp>
      <p:sp>
        <p:nvSpPr>
          <p:cNvPr id="13" name="Rounded Rectangle 12"/>
          <p:cNvSpPr/>
          <p:nvPr/>
        </p:nvSpPr>
        <p:spPr>
          <a:xfrm>
            <a:off x="6223000" y="2517279"/>
            <a:ext cx="5257800" cy="1041301"/>
          </a:xfrm>
          <a:prstGeom prst="roundRect">
            <a:avLst>
              <a:gd name="adj" fmla="val 7317"/>
            </a:avLst>
          </a:prstGeom>
          <a:solidFill>
            <a:srgbClr val="FFFDF8"/>
          </a:solidFill>
          <a:ln>
            <a:noFill/>
          </a:ln>
        </p:spPr>
        <p:txBody>
          <a:bodyPr rtlCol="0" anchor="ctr"/>
          <a:lstStyle/>
          <a:p>
            <a:pPr algn="ctr"/>
          </a:p>
        </p:txBody>
      </p:sp>
      <p:sp>
        <p:nvSpPr>
          <p:cNvPr id="14" name="Rectangle 13"/>
          <p:cNvSpPr/>
          <p:nvPr/>
        </p:nvSpPr>
        <p:spPr>
          <a:xfrm>
            <a:off x="6223000" y="251727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2517279"/>
            <a:ext cx="6350" cy="1041301"/>
          </a:xfrm>
          <a:prstGeom prst="rect">
            <a:avLst/>
          </a:prstGeom>
          <a:solidFill>
            <a:srgbClr val="D9D4C7"/>
          </a:solidFill>
          <a:ln>
            <a:noFill/>
          </a:ln>
        </p:spPr>
        <p:txBody>
          <a:bodyPr rtlCol="0" anchor="ctr"/>
          <a:lstStyle/>
          <a:p>
            <a:pPr algn="ctr"/>
          </a:p>
        </p:txBody>
      </p:sp>
      <p:sp>
        <p:nvSpPr>
          <p:cNvPr id="16" name="Rectangle 15"/>
          <p:cNvSpPr/>
          <p:nvPr/>
        </p:nvSpPr>
        <p:spPr>
          <a:xfrm>
            <a:off x="6223000" y="355223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223000" y="2517279"/>
            <a:ext cx="50800" cy="1041301"/>
          </a:xfrm>
          <a:prstGeom prst="roundRect">
            <a:avLst>
              <a:gd name="adj" fmla="val 50000"/>
            </a:avLst>
          </a:prstGeom>
          <a:solidFill>
            <a:srgbClr val="1D4ED8"/>
          </a:solidFill>
          <a:ln>
            <a:noFill/>
          </a:ln>
        </p:spPr>
        <p:txBody>
          <a:bodyPr rtlCol="0" anchor="ctr"/>
          <a:lstStyle/>
          <a:p>
            <a:pPr algn="ctr"/>
          </a:p>
        </p:txBody>
      </p:sp>
      <p:sp>
        <p:nvSpPr>
          <p:cNvPr id="18" name="TextBox 17"/>
          <p:cNvSpPr txBox="1"/>
          <p:nvPr/>
        </p:nvSpPr>
        <p:spPr>
          <a:xfrm>
            <a:off x="6438900" y="2663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unitree_rl_lab의 표준 파이프라인</a:t>
            </a:r>
          </a:p>
        </p:txBody>
      </p:sp>
      <p:sp>
        <p:nvSpPr>
          <p:cNvPr id="19" name="TextBox 18"/>
          <p:cNvSpPr txBox="1"/>
          <p:nvPr/>
        </p:nvSpPr>
        <p:spPr>
          <a:xfrm>
            <a:off x="6438900" y="2970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Isaac Lab 학습 → MuJoCo sim2sim → 실물. 액추에이터는 지연 PD + 토크-속도 곡선·마찰·armature.</a:t>
            </a:r>
          </a:p>
        </p:txBody>
      </p:sp>
      <p:sp>
        <p:nvSpPr>
          <p:cNvPr id="20" name="Rounded Rectangle 19"/>
          <p:cNvSpPr/>
          <p:nvPr/>
        </p:nvSpPr>
        <p:spPr>
          <a:xfrm>
            <a:off x="6223000" y="3672880"/>
            <a:ext cx="5257800" cy="820341"/>
          </a:xfrm>
          <a:prstGeom prst="roundRect">
            <a:avLst>
              <a:gd name="adj" fmla="val 9288"/>
            </a:avLst>
          </a:prstGeom>
          <a:solidFill>
            <a:srgbClr val="FFFDF8"/>
          </a:solidFill>
          <a:ln>
            <a:noFill/>
          </a:ln>
        </p:spPr>
        <p:txBody>
          <a:bodyPr rtlCol="0" anchor="ctr"/>
          <a:lstStyle/>
          <a:p>
            <a:pPr algn="ctr"/>
          </a:p>
        </p:txBody>
      </p:sp>
      <p:sp>
        <p:nvSpPr>
          <p:cNvPr id="21" name="Rectangle 20"/>
          <p:cNvSpPr/>
          <p:nvPr/>
        </p:nvSpPr>
        <p:spPr>
          <a:xfrm>
            <a:off x="6223000" y="3672880"/>
            <a:ext cx="5257800" cy="6350"/>
          </a:xfrm>
          <a:prstGeom prst="rect">
            <a:avLst/>
          </a:prstGeom>
          <a:solidFill>
            <a:srgbClr val="D9D4C7"/>
          </a:solidFill>
          <a:ln>
            <a:noFill/>
          </a:ln>
        </p:spPr>
        <p:txBody>
          <a:bodyPr rtlCol="0" anchor="ctr"/>
          <a:lstStyle/>
          <a:p>
            <a:pPr algn="ctr"/>
          </a:p>
        </p:txBody>
      </p:sp>
      <p:sp>
        <p:nvSpPr>
          <p:cNvPr id="22" name="Rectangle 21"/>
          <p:cNvSpPr/>
          <p:nvPr/>
        </p:nvSpPr>
        <p:spPr>
          <a:xfrm>
            <a:off x="11474450" y="3672880"/>
            <a:ext cx="6350" cy="820341"/>
          </a:xfrm>
          <a:prstGeom prst="rect">
            <a:avLst/>
          </a:prstGeom>
          <a:solidFill>
            <a:srgbClr val="D9D4C7"/>
          </a:solidFill>
          <a:ln>
            <a:noFill/>
          </a:ln>
        </p:spPr>
        <p:txBody>
          <a:bodyPr rtlCol="0" anchor="ctr"/>
          <a:lstStyle/>
          <a:p>
            <a:pPr algn="ctr"/>
          </a:p>
        </p:txBody>
      </p:sp>
      <p:sp>
        <p:nvSpPr>
          <p:cNvPr id="23" name="Rectangle 22"/>
          <p:cNvSpPr/>
          <p:nvPr/>
        </p:nvSpPr>
        <p:spPr>
          <a:xfrm>
            <a:off x="6223000" y="4486870"/>
            <a:ext cx="52578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6223000" y="3672880"/>
            <a:ext cx="50800" cy="820341"/>
          </a:xfrm>
          <a:prstGeom prst="roundRect">
            <a:avLst>
              <a:gd name="adj" fmla="val 50000"/>
            </a:avLst>
          </a:prstGeom>
          <a:solidFill>
            <a:srgbClr val="9AA6BC"/>
          </a:solidFill>
          <a:ln>
            <a:noFill/>
          </a:ln>
        </p:spPr>
        <p:txBody>
          <a:bodyPr rtlCol="0" anchor="ctr"/>
          <a:lstStyle/>
          <a:p>
            <a:pPr algn="ctr"/>
          </a:p>
        </p:txBody>
      </p:sp>
      <p:sp>
        <p:nvSpPr>
          <p:cNvPr id="25" name="TextBox 24"/>
          <p:cNvSpPr txBox="1"/>
          <p:nvPr/>
        </p:nvSpPr>
        <p:spPr>
          <a:xfrm>
            <a:off x="6438900" y="3818930"/>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Verti-WM: 해석 + 학습을 게이트로 섞는다</a:t>
            </a:r>
          </a:p>
        </p:txBody>
      </p:sp>
      <p:sp>
        <p:nvSpPr>
          <p:cNvPr id="26" name="TextBox 25"/>
          <p:cNvSpPr txBox="1"/>
          <p:nvPr/>
        </p:nvSpPr>
        <p:spPr>
          <a:xfrm>
            <a:off x="6438900" y="412621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게이트만 배워 실물 약 70분으로 맞췄다. β = 0이면 해석 모델로 돌아간다.</a:t>
            </a:r>
          </a:p>
        </p:txBody>
      </p:sp>
      <p:sp>
        <p:nvSpPr>
          <p:cNvPr id="27" name="Rounded Rectangle 26"/>
          <p:cNvSpPr/>
          <p:nvPr/>
        </p:nvSpPr>
        <p:spPr>
          <a:xfrm>
            <a:off x="711200" y="4671020"/>
            <a:ext cx="10769600" cy="502543"/>
          </a:xfrm>
          <a:prstGeom prst="roundRect">
            <a:avLst>
              <a:gd name="adj" fmla="val 15162"/>
            </a:avLst>
          </a:prstGeom>
          <a:solidFill>
            <a:srgbClr val="16213A"/>
          </a:solidFill>
          <a:ln>
            <a:noFill/>
          </a:ln>
        </p:spPr>
        <p:txBody>
          <a:bodyPr rtlCol="0" anchor="ctr"/>
          <a:lstStyle/>
          <a:p>
            <a:pPr algn="ctr"/>
          </a:p>
        </p:txBody>
      </p:sp>
      <p:sp>
        <p:nvSpPr>
          <p:cNvPr id="28" name="TextBox 27"/>
          <p:cNvSpPr txBox="1"/>
          <p:nvPr/>
        </p:nvSpPr>
        <p:spPr>
          <a:xfrm>
            <a:off x="889000" y="479802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동역학을 배우기 전에 관성부터 실물 값이어야 한다(TP-0035). 저장소 값은 placeholder에 가깝다.</a:t>
            </a:r>
          </a:p>
        </p:txBody>
      </p:sp>
      <p:sp>
        <p:nvSpPr>
          <p:cNvPr id="29" name="Rectangle 28"/>
          <p:cNvSpPr/>
          <p:nvPr/>
        </p:nvSpPr>
        <p:spPr>
          <a:xfrm>
            <a:off x="711200" y="6424315"/>
            <a:ext cx="10769600" cy="230485"/>
          </a:xfrm>
          <a:prstGeom prst="rect">
            <a:avLst/>
          </a:prstGeom>
          <a:noFill/>
          <a:ln>
            <a:noFill/>
          </a:ln>
        </p:spPr>
        <p:txBody>
          <a:bodyPr rtlCol="0" anchor="ctr"/>
          <a:lstStyle/>
          <a:p>
            <a:pPr algn="ctr"/>
          </a:p>
        </p:txBody>
      </p:sp>
      <p:sp>
        <p:nvSpPr>
          <p:cNvPr id="30" name="Rectangle 2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1" name="TextBox 3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[30] Verti-WM, George Mason Univ., 2026 — arXiv:2609.23118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S.10 · 최근 연구 비교 (1/2)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2025–2026의 무게는 "빠른 엔진"에서 "믿을 수 있는 평가"로 옮겨 갔다</a:t>
            </a:r>
          </a:p>
        </p:txBody>
      </p:sp>
      <p:graphicFrame>
        <p:nvGraphicFramePr>
          <p:cNvPr id="4" name="Table 3"/>
          <p:cNvGraphicFramePr>
            <a:graphicFrameLocks noGrp="1"/>
          </p:cNvGraphicFramePr>
          <p:nvPr/>
        </p:nvGraphicFramePr>
        <p:xfrm>
          <a:off x="711200" y="1361678"/>
          <a:ext cx="10769600" cy="2305239"/>
        </p:xfrm>
        <a:graphic>
          <a:graphicData uri="http://schemas.openxmlformats.org/drawingml/2006/table">
            <a:tbl>
              <a:tblPr firstRow="0" bandRow="0">
                <a:tableStyleId>{5C22544A-7EE6-4342-B048-85BDC9FD1C3A}</a:tableStyleId>
              </a:tblPr>
              <a:tblGrid>
                <a:gridCol w="3004641"/>
                <a:gridCol w="1407120"/>
                <a:gridCol w="3754041"/>
                <a:gridCol w="2603798"/>
              </a:tblGrid>
              <a:tr h="263634">
                <a:tc>
                  <a:txBody>
                    <a:bodyPr wrap="square"/>
                    <a:lstStyle/>
                    <a:p>
                      <a:r>
                        <a:rPr sz="1000" b="1" i="0">
                          <a:solidFill>
                            <a:srgbClr val="F4F1EA"/>
                          </a:solidFill>
                          <a:latin typeface="Arial"/>
                          <a:ea typeface="Malgun Gothic"/>
                          <a:cs typeface="Malgun Gothic"/>
                        </a:rPr>
                        <a:t>이름 (연 · 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 · 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Isaac Lab (2025-11, arXiv)</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엔진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PhysX·Newton 백엔드, Warp RayCaster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4족·휴머노이드·팔</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GPUSimBench (2026, IROS)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엔진 비교</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처리량·EMD·변동을 한 장비에서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조작 장면만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UrbanVerse (2026, ICLR)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보도 장면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영상에서 에셋 배치로 real-to-sim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Coco·Go2 실물</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SidewalkBench (2026, CoRL)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보도 평가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단위 시험·보행자 사건·장거리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배달로봇</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사전식 조종 (2026-09, arXiv)</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배달 벤치마크</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동적 장벽 안내 + 사전식 선택</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시뮬 60쌍, 실물 없음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DynBench (2026-03, arXiv)</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보행자</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상태 기계 + NavMesh A*</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Go2-W·Go2·G1 zero-shot</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GROVE (2026, IROS)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보행자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LLM 행동 트리 + SFM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시뮬만, VLM 점수</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NavIsaacLab (2026-06, arXiv)</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보행자</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궤적 diffusion + 동작 모방</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Scout Mini zero-shot</a:t>
                      </a:r>
                    </a:p>
                  </a:txBody>
                  <a:tcPr marL="76200" marR="76200" marT="25400" marB="25400">
                    <a:solidFill>
                      <a:srgbClr val="FFFDF8"/>
                    </a:solidFill>
                  </a:tcPr>
                </a:tc>
              </a:tr>
            </a:tbl>
          </a:graphicData>
        </a:graphic>
      </p:graphicFrame>
      <p:sp>
        <p:nvSpPr>
          <p:cNvPr id="5" name="Rounded Rectangle 4"/>
          <p:cNvSpPr/>
          <p:nvPr/>
        </p:nvSpPr>
        <p:spPr>
          <a:xfrm>
            <a:off x="711200" y="425152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37852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엔진·장면·보행자 쪽은 처리량보다 재현성과 공정한 비교로 모인다.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S.10 · 최근 연구 비교 (2/2)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실측 장면과 바퀴 연구는 비싼 물리 대신 기하와 학습 모델로 옮겼다</a:t>
            </a:r>
          </a:p>
        </p:txBody>
      </p:sp>
      <p:graphicFrame>
        <p:nvGraphicFramePr>
          <p:cNvPr id="4" name="Table 3"/>
          <p:cNvGraphicFramePr>
            <a:graphicFrameLocks noGrp="1"/>
          </p:cNvGraphicFramePr>
          <p:nvPr/>
        </p:nvGraphicFramePr>
        <p:xfrm>
          <a:off x="711200" y="1361678"/>
          <a:ext cx="10769601" cy="2305239"/>
        </p:xfrm>
        <a:graphic>
          <a:graphicData uri="http://schemas.openxmlformats.org/drawingml/2006/table">
            <a:tbl>
              <a:tblPr firstRow="0" bandRow="0">
                <a:tableStyleId>{5C22544A-7EE6-4342-B048-85BDC9FD1C3A}</a:tableStyleId>
              </a:tblPr>
              <a:tblGrid>
                <a:gridCol w="3345061"/>
                <a:gridCol w="1382316"/>
                <a:gridCol w="3607098"/>
                <a:gridCol w="2435126"/>
              </a:tblGrid>
              <a:tr h="263634">
                <a:tc>
                  <a:txBody>
                    <a:bodyPr wrap="square"/>
                    <a:lstStyle/>
                    <a:p>
                      <a:r>
                        <a:rPr sz="1000" b="1" i="0">
                          <a:solidFill>
                            <a:srgbClr val="F4F1EA"/>
                          </a:solidFill>
                          <a:latin typeface="Arial"/>
                          <a:ea typeface="Malgun Gothic"/>
                          <a:cs typeface="Malgun Gothic"/>
                        </a:rPr>
                        <a:t>이름 (연 · 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 · 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SocNav Bench (2025-11, arXiv)</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보행자·장면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실측 3DGS 9곳, 협조하지 않는 보행자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Go2 실물 85.0 %</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GaussGym (2025-10, arXiv)</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렌더링</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Isaac Gym에 3DGS 렌더러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A1 계단 zero-shot</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Wanderland (2026, CVPR)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실측 장면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LIV-SLAM 기하 위 3DGS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실외 최고 0.31</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Wheeled Lab (2025, CoRL)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바퀴 물리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서스펜션·접촉 RC카 병렬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RC카 zero-shot</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Verti-WM (2026-09, arXiv)</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지형·바퀴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고정한 전문가 둘 + GRU 게이트</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실물 4/5</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Sim2Dust (2025-08, arXiv)</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변형 지면</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지형 다양성 + 지연·잡음 랜덤화</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Leo Rover 자갈 3.6 cm</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Chrono::CRM (2025-07, arXiv)</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변형 지면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GPU SPH + 다물체 바퀴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NASA MGRU3 rover 등</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EmbodiedSplat (2025, ICCV)</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sim-to-real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iPhone 3DGS 메시, Habitat-Sim</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상관 0.87–0.97, 실내</a:t>
                      </a:r>
                    </a:p>
                  </a:txBody>
                  <a:tcPr marL="76200" marR="76200" marT="25400" marB="25400">
                    <a:solidFill>
                      <a:srgbClr val="FFFDF8"/>
                    </a:solidFill>
                  </a:tcPr>
                </a:tc>
              </a:tr>
            </a:tbl>
          </a:graphicData>
        </a:graphic>
      </p:graphicFrame>
      <p:sp>
        <p:nvSpPr>
          <p:cNvPr id="5" name="Rounded Rectangle 4"/>
          <p:cNvSpPr/>
          <p:nvPr/>
        </p:nvSpPr>
        <p:spPr>
          <a:xfrm>
            <a:off x="711200" y="425152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37852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실측 장면은 기하 정확도가, 바퀴는 지연·랜덤화가 결과를 가른다.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S.10 · 공통점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외형과 충돌을 나누고, Isaac 위에서 평가 신뢰도를 따로 잰다</a:t>
            </a:r>
          </a:p>
        </p:txBody>
      </p:sp>
      <p:sp>
        <p:nvSpPr>
          <p:cNvPr id="4" name="Rounded Rectangle 3"/>
          <p:cNvSpPr/>
          <p:nvPr/>
        </p:nvSpPr>
        <p:spPr>
          <a:xfrm>
            <a:off x="711200" y="1361678"/>
            <a:ext cx="3488234"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3966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4130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 · 외형과 충돌을 나눈다</a:t>
            </a:r>
          </a:p>
        </p:txBody>
      </p:sp>
      <p:sp>
        <p:nvSpPr>
          <p:cNvPr id="10" name="TextBox 9"/>
          <p:cNvSpPr txBox="1"/>
          <p:nvPr/>
        </p:nvSpPr>
        <p:spPr>
          <a:xfrm>
            <a:off x="927100" y="18150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3DGS는 그림만, 충돌은 메시가 맡는다. 3DGS의 기하는 흐리다.</a:t>
            </a:r>
          </a:p>
        </p:txBody>
      </p:sp>
      <p:sp>
        <p:nvSpPr>
          <p:cNvPr id="11" name="Rounded Rectangle 10"/>
          <p:cNvSpPr/>
          <p:nvPr/>
        </p:nvSpPr>
        <p:spPr>
          <a:xfrm>
            <a:off x="4351834" y="1361678"/>
            <a:ext cx="3488234"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3" name="Rectangle 12"/>
          <p:cNvSpPr/>
          <p:nvPr/>
        </p:nvSpPr>
        <p:spPr>
          <a:xfrm>
            <a:off x="7833717" y="1361678"/>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4351834" y="2396629"/>
            <a:ext cx="3488234" cy="6350"/>
          </a:xfrm>
          <a:prstGeom prst="rect">
            <a:avLst/>
          </a:prstGeom>
          <a:solidFill>
            <a:srgbClr val="D9D4C7"/>
          </a:solidFill>
          <a:ln>
            <a:noFill/>
          </a:ln>
        </p:spPr>
        <p:txBody>
          <a:bodyPr rtlCol="0" anchor="ctr"/>
          <a:lstStyle/>
          <a:p>
            <a:pPr algn="ctr"/>
          </a:p>
        </p:txBody>
      </p:sp>
      <p:sp>
        <p:nvSpPr>
          <p:cNvPr id="15" name="Rounded Rectangle 14"/>
          <p:cNvSpPr/>
          <p:nvPr/>
        </p:nvSpPr>
        <p:spPr>
          <a:xfrm>
            <a:off x="4351834" y="1361678"/>
            <a:ext cx="50800" cy="104130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4567734" y="15077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2 · Isaac 계열이 공통 기반</a:t>
            </a:r>
          </a:p>
        </p:txBody>
      </p:sp>
      <p:sp>
        <p:nvSpPr>
          <p:cNvPr id="17" name="TextBox 16"/>
          <p:cNvSpPr txBox="1"/>
          <p:nvPr/>
        </p:nvSpPr>
        <p:spPr>
          <a:xfrm>
            <a:off x="4567734" y="18150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보도·배달 평가가 모두 Isaac Sim이나 Isaac Lab 위에 있다.</a:t>
            </a:r>
          </a:p>
        </p:txBody>
      </p:sp>
      <p:sp>
        <p:nvSpPr>
          <p:cNvPr id="18" name="Rounded Rectangle 17"/>
          <p:cNvSpPr/>
          <p:nvPr/>
        </p:nvSpPr>
        <p:spPr>
          <a:xfrm>
            <a:off x="7992467" y="1361678"/>
            <a:ext cx="3488234" cy="1041301"/>
          </a:xfrm>
          <a:prstGeom prst="roundRect">
            <a:avLst>
              <a:gd name="adj" fmla="val 7317"/>
            </a:avLst>
          </a:prstGeom>
          <a:solidFill>
            <a:srgbClr val="FFFDF8"/>
          </a:solidFill>
          <a:ln>
            <a:noFill/>
          </a:ln>
        </p:spPr>
        <p:txBody>
          <a:bodyPr rtlCol="0" anchor="ctr"/>
          <a:lstStyle/>
          <a:p>
            <a:pPr algn="ctr"/>
          </a:p>
        </p:txBody>
      </p:sp>
      <p:sp>
        <p:nvSpPr>
          <p:cNvPr id="19" name="Rectangle 18"/>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0" name="Rectangle 19"/>
          <p:cNvSpPr/>
          <p:nvPr/>
        </p:nvSpPr>
        <p:spPr>
          <a:xfrm>
            <a:off x="11474351" y="1361678"/>
            <a:ext cx="6350" cy="1041301"/>
          </a:xfrm>
          <a:prstGeom prst="rect">
            <a:avLst/>
          </a:prstGeom>
          <a:solidFill>
            <a:srgbClr val="D9D4C7"/>
          </a:solidFill>
          <a:ln>
            <a:noFill/>
          </a:ln>
        </p:spPr>
        <p:txBody>
          <a:bodyPr rtlCol="0" anchor="ctr"/>
          <a:lstStyle/>
          <a:p>
            <a:pPr algn="ctr"/>
          </a:p>
        </p:txBody>
      </p:sp>
      <p:sp>
        <p:nvSpPr>
          <p:cNvPr id="21" name="Rectangle 20"/>
          <p:cNvSpPr/>
          <p:nvPr/>
        </p:nvSpPr>
        <p:spPr>
          <a:xfrm>
            <a:off x="7992467" y="2396629"/>
            <a:ext cx="3488234" cy="6350"/>
          </a:xfrm>
          <a:prstGeom prst="rect">
            <a:avLst/>
          </a:prstGeom>
          <a:solidFill>
            <a:srgbClr val="D9D4C7"/>
          </a:solidFill>
          <a:ln>
            <a:noFill/>
          </a:ln>
        </p:spPr>
        <p:txBody>
          <a:bodyPr rtlCol="0" anchor="ctr"/>
          <a:lstStyle/>
          <a:p>
            <a:pPr algn="ctr"/>
          </a:p>
        </p:txBody>
      </p:sp>
      <p:sp>
        <p:nvSpPr>
          <p:cNvPr id="22" name="Rounded Rectangle 21"/>
          <p:cNvSpPr/>
          <p:nvPr/>
        </p:nvSpPr>
        <p:spPr>
          <a:xfrm>
            <a:off x="7992467" y="1361678"/>
            <a:ext cx="50800" cy="104130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8208367" y="15077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3 · 바퀴 접촉을 풀지 않는다</a:t>
            </a:r>
          </a:p>
        </p:txBody>
      </p:sp>
      <p:sp>
        <p:nvSpPr>
          <p:cNvPr id="24" name="TextBox 23"/>
          <p:cNvSpPr txBox="1"/>
          <p:nvPr/>
        </p:nvSpPr>
        <p:spPr>
          <a:xfrm>
            <a:off x="8208367" y="18150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모델이나 단단한 면 + 랜덤화로 실물에 갔다.</a:t>
            </a:r>
          </a:p>
        </p:txBody>
      </p:sp>
      <p:sp>
        <p:nvSpPr>
          <p:cNvPr id="25" name="Rounded Rectangle 24"/>
          <p:cNvSpPr/>
          <p:nvPr/>
        </p:nvSpPr>
        <p:spPr>
          <a:xfrm>
            <a:off x="711200" y="2555379"/>
            <a:ext cx="3488234" cy="1041301"/>
          </a:xfrm>
          <a:prstGeom prst="roundRect">
            <a:avLst>
              <a:gd name="adj" fmla="val 7317"/>
            </a:avLst>
          </a:prstGeom>
          <a:solidFill>
            <a:srgbClr val="FFFDF8"/>
          </a:solidFill>
          <a:ln>
            <a:noFill/>
          </a:ln>
        </p:spPr>
        <p:txBody>
          <a:bodyPr rtlCol="0" anchor="ctr"/>
          <a:lstStyle/>
          <a:p>
            <a:pPr algn="ctr"/>
          </a:p>
        </p:txBody>
      </p:sp>
      <p:sp>
        <p:nvSpPr>
          <p:cNvPr id="26" name="Rectangle 25"/>
          <p:cNvSpPr/>
          <p:nvPr/>
        </p:nvSpPr>
        <p:spPr>
          <a:xfrm>
            <a:off x="711200" y="2555379"/>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4193084" y="2555379"/>
            <a:ext cx="6350" cy="1041301"/>
          </a:xfrm>
          <a:prstGeom prst="rect">
            <a:avLst/>
          </a:prstGeom>
          <a:solidFill>
            <a:srgbClr val="D9D4C7"/>
          </a:solidFill>
          <a:ln>
            <a:noFill/>
          </a:ln>
        </p:spPr>
        <p:txBody>
          <a:bodyPr rtlCol="0" anchor="ctr"/>
          <a:lstStyle/>
          <a:p>
            <a:pPr algn="ctr"/>
          </a:p>
        </p:txBody>
      </p:sp>
      <p:sp>
        <p:nvSpPr>
          <p:cNvPr id="28" name="Rectangle 27"/>
          <p:cNvSpPr/>
          <p:nvPr/>
        </p:nvSpPr>
        <p:spPr>
          <a:xfrm>
            <a:off x="711200" y="3590330"/>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11200" y="2555379"/>
            <a:ext cx="50800" cy="1041301"/>
          </a:xfrm>
          <a:prstGeom prst="roundRect">
            <a:avLst>
              <a:gd name="adj" fmla="val 50000"/>
            </a:avLst>
          </a:prstGeom>
          <a:solidFill>
            <a:srgbClr val="9AA6BC"/>
          </a:solidFill>
          <a:ln>
            <a:noFill/>
          </a:ln>
        </p:spPr>
        <p:txBody>
          <a:bodyPr rtlCol="0" anchor="ctr"/>
          <a:lstStyle/>
          <a:p>
            <a:pPr algn="ctr"/>
          </a:p>
        </p:txBody>
      </p:sp>
      <p:sp>
        <p:nvSpPr>
          <p:cNvPr id="30" name="TextBox 29"/>
          <p:cNvSpPr txBox="1"/>
          <p:nvPr/>
        </p:nvSpPr>
        <p:spPr>
          <a:xfrm>
            <a:off x="927100" y="27014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4 · 평가 신뢰도를 잰다</a:t>
            </a:r>
          </a:p>
        </p:txBody>
      </p:sp>
      <p:sp>
        <p:nvSpPr>
          <p:cNvPr id="31" name="TextBox 30"/>
          <p:cNvSpPr txBox="1"/>
          <p:nvPr/>
        </p:nvSpPr>
        <p:spPr>
          <a:xfrm>
            <a:off x="927100" y="30087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실물 일치·결정론, 장면 기하에 따른 변화, 시뮬과 실물의 상관.</a:t>
            </a:r>
          </a:p>
        </p:txBody>
      </p:sp>
      <p:sp>
        <p:nvSpPr>
          <p:cNvPr id="32" name="Rounded Rectangle 31"/>
          <p:cNvSpPr/>
          <p:nvPr/>
        </p:nvSpPr>
        <p:spPr>
          <a:xfrm>
            <a:off x="4351834" y="2555379"/>
            <a:ext cx="3488234" cy="1041301"/>
          </a:xfrm>
          <a:prstGeom prst="roundRect">
            <a:avLst>
              <a:gd name="adj" fmla="val 7317"/>
            </a:avLst>
          </a:prstGeom>
          <a:solidFill>
            <a:srgbClr val="FFFDF8"/>
          </a:solidFill>
          <a:ln>
            <a:noFill/>
          </a:ln>
        </p:spPr>
        <p:txBody>
          <a:bodyPr rtlCol="0" anchor="ctr"/>
          <a:lstStyle/>
          <a:p>
            <a:pPr algn="ctr"/>
          </a:p>
        </p:txBody>
      </p:sp>
      <p:sp>
        <p:nvSpPr>
          <p:cNvPr id="33" name="Rectangle 32"/>
          <p:cNvSpPr/>
          <p:nvPr/>
        </p:nvSpPr>
        <p:spPr>
          <a:xfrm>
            <a:off x="4351834" y="2555379"/>
            <a:ext cx="3488234" cy="6350"/>
          </a:xfrm>
          <a:prstGeom prst="rect">
            <a:avLst/>
          </a:prstGeom>
          <a:solidFill>
            <a:srgbClr val="D9D4C7"/>
          </a:solidFill>
          <a:ln>
            <a:noFill/>
          </a:ln>
        </p:spPr>
        <p:txBody>
          <a:bodyPr rtlCol="0" anchor="ctr"/>
          <a:lstStyle/>
          <a:p>
            <a:pPr algn="ctr"/>
          </a:p>
        </p:txBody>
      </p:sp>
      <p:sp>
        <p:nvSpPr>
          <p:cNvPr id="34" name="Rectangle 33"/>
          <p:cNvSpPr/>
          <p:nvPr/>
        </p:nvSpPr>
        <p:spPr>
          <a:xfrm>
            <a:off x="7833717" y="2555379"/>
            <a:ext cx="6350" cy="1041301"/>
          </a:xfrm>
          <a:prstGeom prst="rect">
            <a:avLst/>
          </a:prstGeom>
          <a:solidFill>
            <a:srgbClr val="D9D4C7"/>
          </a:solidFill>
          <a:ln>
            <a:noFill/>
          </a:ln>
        </p:spPr>
        <p:txBody>
          <a:bodyPr rtlCol="0" anchor="ctr"/>
          <a:lstStyle/>
          <a:p>
            <a:pPr algn="ctr"/>
          </a:p>
        </p:txBody>
      </p:sp>
      <p:sp>
        <p:nvSpPr>
          <p:cNvPr id="35" name="Rectangle 34"/>
          <p:cNvSpPr/>
          <p:nvPr/>
        </p:nvSpPr>
        <p:spPr>
          <a:xfrm>
            <a:off x="4351834" y="3590330"/>
            <a:ext cx="3488234" cy="6350"/>
          </a:xfrm>
          <a:prstGeom prst="rect">
            <a:avLst/>
          </a:prstGeom>
          <a:solidFill>
            <a:srgbClr val="D9D4C7"/>
          </a:solidFill>
          <a:ln>
            <a:noFill/>
          </a:ln>
        </p:spPr>
        <p:txBody>
          <a:bodyPr rtlCol="0" anchor="ctr"/>
          <a:lstStyle/>
          <a:p>
            <a:pPr algn="ctr"/>
          </a:p>
        </p:txBody>
      </p:sp>
      <p:sp>
        <p:nvSpPr>
          <p:cNvPr id="36" name="Rounded Rectangle 35"/>
          <p:cNvSpPr/>
          <p:nvPr/>
        </p:nvSpPr>
        <p:spPr>
          <a:xfrm>
            <a:off x="4351834" y="2555379"/>
            <a:ext cx="50800" cy="104130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4567734" y="270142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5 · ORCA에서 벗어난다</a:t>
            </a:r>
          </a:p>
        </p:txBody>
      </p:sp>
      <p:sp>
        <p:nvSpPr>
          <p:cNvPr id="38" name="TextBox 37"/>
          <p:cNvSpPr txBox="1"/>
          <p:nvPr/>
        </p:nvSpPr>
        <p:spPr>
          <a:xfrm>
            <a:off x="4567734" y="30087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상호 협조 가정 대신 상태 기계, 협조하지 않는 보행자, 학습 궤적.</a:t>
            </a:r>
          </a:p>
        </p:txBody>
      </p:sp>
      <p:sp>
        <p:nvSpPr>
          <p:cNvPr id="39" name="Rounded Rectangle 38"/>
          <p:cNvSpPr/>
          <p:nvPr/>
        </p:nvSpPr>
        <p:spPr>
          <a:xfrm>
            <a:off x="711200" y="3774480"/>
            <a:ext cx="10769600" cy="502543"/>
          </a:xfrm>
          <a:prstGeom prst="roundRect">
            <a:avLst>
              <a:gd name="adj" fmla="val 15162"/>
            </a:avLst>
          </a:prstGeom>
          <a:solidFill>
            <a:srgbClr val="16213A"/>
          </a:solidFill>
          <a:ln>
            <a:noFill/>
          </a:ln>
        </p:spPr>
        <p:txBody>
          <a:bodyPr rtlCol="0" anchor="ctr"/>
          <a:lstStyle/>
          <a:p>
            <a:pPr algn="ctr"/>
          </a:p>
        </p:txBody>
      </p:sp>
      <p:sp>
        <p:nvSpPr>
          <p:cNvPr id="40" name="TextBox 39"/>
          <p:cNvSpPr txBox="1"/>
          <p:nvPr/>
        </p:nvSpPr>
        <p:spPr>
          <a:xfrm>
            <a:off x="889000" y="390148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Isaac 기반과 운동학 바퀴는 이미 같은 쪽이다. 남은 것은 평가 신뢰도 측정이다.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S.10 ·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다섯 축에서 갈리고, 축마다 얻는 것과 잃는 것이 다르다</a:t>
            </a:r>
          </a:p>
        </p:txBody>
      </p:sp>
      <p:graphicFrame>
        <p:nvGraphicFramePr>
          <p:cNvPr id="4" name="Table 3"/>
          <p:cNvGraphicFramePr>
            <a:graphicFrameLocks noGrp="1"/>
          </p:cNvGraphicFramePr>
          <p:nvPr/>
        </p:nvGraphicFramePr>
        <p:xfrm>
          <a:off x="711200" y="1361678"/>
          <a:ext cx="10769600" cy="1538625"/>
        </p:xfrm>
        <a:graphic>
          <a:graphicData uri="http://schemas.openxmlformats.org/drawingml/2006/table">
            <a:tbl>
              <a:tblPr firstRow="0" bandRow="0">
                <a:tableStyleId>{5C22544A-7EE6-4342-B048-85BDC9FD1C3A}</a:tableStyleId>
              </a:tblPr>
              <a:tblGrid>
                <a:gridCol w="1019175"/>
                <a:gridCol w="1225054"/>
                <a:gridCol w="1730177"/>
                <a:gridCol w="5088830"/>
                <a:gridCol w="1706364"/>
              </a:tblGrid>
              <a:tr h="263634">
                <a:tc>
                  <a:txBody>
                    <a:bodyPr wrap="square"/>
                    <a:lstStyle/>
                    <a:p>
                      <a:r>
                        <a:rPr sz="1000" b="1" i="0">
                          <a:solidFill>
                            <a:srgbClr val="F4F1EA"/>
                          </a:solidFill>
                          <a:latin typeface="Arial"/>
                          <a:ea typeface="Malgun Gothic"/>
                          <a:cs typeface="Malgun Gothic"/>
                        </a:rPr>
                        <a:t>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한쪽</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다른 쪽</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얻는 것과 잃는 것</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동역학 출처</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물리 엔진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학습 시뮬 (Verti-WM)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학습 시뮬은 학습 시간 1.36 h 대 33.48 h. 데이터 밖 지형은 보장 없음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해석 plant + 잔차 GP</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장면 출처</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절차 생성</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실측 스캔</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절차는 난이도 파라미터와 양, 실측은 현실 분포. 실측은 수백 곳에 그친다</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절차(L0), 실측은 계획</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실측 센서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영상만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LiDAR 융합</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영상만은 싸다. 궤적 자세 오차 0.30 m (Wanderland)</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LiDAR 융합 권고</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보행자</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사건·상태 기계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반응·생성</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사건은 재현돼 스택 비교에 공정, 반응은 다양하지만 재현이 어렵다</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등속 + ORCA 선택</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제약 처리</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가중합 페널티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우선순위 분리</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사전식 조종은 턱 실패를 줄였지만 주행 거리가 약 36 % 늘었다</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치명 페널티 1,000</a:t>
                      </a:r>
                    </a:p>
                  </a:txBody>
                  <a:tcPr marL="76200" marR="76200" marT="25400" marB="25400">
                    <a:solidFill>
                      <a:srgbClr val="F1EDE4"/>
                    </a:solidFill>
                  </a:tcPr>
                </a:tc>
              </a:tr>
            </a:tbl>
          </a:graphicData>
        </a:graphic>
      </p:graphicFrame>
      <p:sp>
        <p:nvSpPr>
          <p:cNvPr id="5" name="Rounded Rectangle 4"/>
          <p:cNvSpPr/>
          <p:nvPr/>
        </p:nvSpPr>
        <p:spPr>
          <a:xfrm>
            <a:off x="711200" y="3349625"/>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47662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각 축의 오른쪽이 늘 낫지 않다. travplan은 장면과 보행자에서 두 쪽을 함께 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S.10 · travplan에 주는 의미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가져올 것은 엔진 교체가 아니라 Isaac 폐루프의 재현성 측정이다</a:t>
            </a:r>
          </a:p>
        </p:txBody>
      </p:sp>
      <p:sp>
        <p:nvSpPr>
          <p:cNvPr id="4" name="Rounded Rectangle 3"/>
          <p:cNvSpPr/>
          <p:nvPr/>
        </p:nvSpPr>
        <p:spPr>
          <a:xfrm>
            <a:off x="711200" y="1361678"/>
            <a:ext cx="3488234" cy="1904901"/>
          </a:xfrm>
          <a:prstGeom prst="roundRect">
            <a:avLst>
              <a:gd name="adj" fmla="val 4000"/>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904901"/>
          </a:xfrm>
          <a:prstGeom prst="rect">
            <a:avLst/>
          </a:prstGeom>
          <a:solidFill>
            <a:srgbClr val="D9D4C7"/>
          </a:solidFill>
          <a:ln>
            <a:noFill/>
          </a:ln>
        </p:spPr>
        <p:txBody>
          <a:bodyPr rtlCol="0" anchor="ctr"/>
          <a:lstStyle/>
          <a:p>
            <a:pPr algn="ctr"/>
          </a:p>
        </p:txBody>
      </p:sp>
      <p:sp>
        <p:nvSpPr>
          <p:cNvPr id="7" name="Rectangle 6"/>
          <p:cNvSpPr/>
          <p:nvPr/>
        </p:nvSpPr>
        <p:spPr>
          <a:xfrm>
            <a:off x="711200" y="32602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90490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가져올 것</a:t>
            </a:r>
          </a:p>
        </p:txBody>
      </p:sp>
      <p:sp>
        <p:nvSpPr>
          <p:cNvPr id="11" name="TextBox 10"/>
          <p:cNvSpPr txBox="1"/>
          <p:nvPr/>
        </p:nvSpPr>
        <p:spPr>
          <a:xfrm>
            <a:off x="965200" y="182522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Isaac 전에 재현성부터 (GPUSimBench)</a:t>
            </a:r>
          </a:p>
        </p:txBody>
      </p:sp>
      <p:sp>
        <p:nvSpPr>
          <p:cNvPr id="12" name="TextBox 11"/>
          <p:cNvSpPr txBox="1"/>
          <p:nvPr/>
        </p:nvSpPr>
        <p:spPr>
          <a:xfrm>
            <a:off x="965200" y="210968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샘플 안내를 동적 장벽으로 (사전식 조종)</a:t>
            </a:r>
          </a:p>
        </p:txBody>
      </p:sp>
      <p:sp>
        <p:nvSpPr>
          <p:cNvPr id="13" name="TextBox 12"/>
          <p:cNvSpPr txBox="1"/>
          <p:nvPr/>
        </p:nvSpPr>
        <p:spPr>
          <a:xfrm>
            <a:off x="965200" y="239414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실측 장면은 LiDAR 기하로 (Wanderland)</a:t>
            </a:r>
          </a:p>
        </p:txBody>
      </p:sp>
      <p:sp>
        <p:nvSpPr>
          <p:cNvPr id="14" name="TextBox 13"/>
          <p:cNvSpPr txBox="1"/>
          <p:nvPr/>
        </p:nvSpPr>
        <p:spPr>
          <a:xfrm>
            <a:off x="965200" y="2678609"/>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ORCA 과협조를 함께 적기 (DynBench)</a:t>
            </a:r>
          </a:p>
        </p:txBody>
      </p:sp>
      <p:sp>
        <p:nvSpPr>
          <p:cNvPr id="15" name="Rounded Rectangle 14"/>
          <p:cNvSpPr/>
          <p:nvPr/>
        </p:nvSpPr>
        <p:spPr>
          <a:xfrm>
            <a:off x="4351834" y="1361678"/>
            <a:ext cx="3488234" cy="1904901"/>
          </a:xfrm>
          <a:prstGeom prst="roundRect">
            <a:avLst>
              <a:gd name="adj" fmla="val 4000"/>
            </a:avLst>
          </a:prstGeom>
          <a:solidFill>
            <a:srgbClr val="FFFDF8"/>
          </a:solidFill>
          <a:ln>
            <a:noFill/>
          </a:ln>
        </p:spPr>
        <p:txBody>
          <a:bodyPr rtlCol="0" anchor="ctr"/>
          <a:lstStyle/>
          <a:p>
            <a:pPr algn="ctr"/>
          </a:p>
        </p:txBody>
      </p:sp>
      <p:sp>
        <p:nvSpPr>
          <p:cNvPr id="16" name="Rectangle 15"/>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1361678"/>
            <a:ext cx="6350" cy="1904901"/>
          </a:xfrm>
          <a:prstGeom prst="rect">
            <a:avLst/>
          </a:prstGeom>
          <a:solidFill>
            <a:srgbClr val="D9D4C7"/>
          </a:solidFill>
          <a:ln>
            <a:noFill/>
          </a:ln>
        </p:spPr>
        <p:txBody>
          <a:bodyPr rtlCol="0" anchor="ctr"/>
          <a:lstStyle/>
          <a:p>
            <a:pPr algn="ctr"/>
          </a:p>
        </p:txBody>
      </p:sp>
      <p:sp>
        <p:nvSpPr>
          <p:cNvPr id="18" name="Rectangle 17"/>
          <p:cNvSpPr/>
          <p:nvPr/>
        </p:nvSpPr>
        <p:spPr>
          <a:xfrm>
            <a:off x="4351834" y="326022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1361678"/>
            <a:ext cx="50800" cy="1904901"/>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4567734" y="1507728"/>
            <a:ext cx="1030784"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4656634" y="1533128"/>
            <a:ext cx="90397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가져오지 않을 것</a:t>
            </a:r>
          </a:p>
        </p:txBody>
      </p:sp>
      <p:sp>
        <p:nvSpPr>
          <p:cNvPr id="22" name="TextBox 21"/>
          <p:cNvSpPr txBox="1"/>
          <p:nvPr/>
        </p:nvSpPr>
        <p:spPr>
          <a:xfrm>
            <a:off x="4605834" y="182522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엔진 교체</a:t>
            </a:r>
          </a:p>
        </p:txBody>
      </p:sp>
      <p:sp>
        <p:nvSpPr>
          <p:cNvPr id="23" name="TextBox 22"/>
          <p:cNvSpPr txBox="1"/>
          <p:nvPr/>
        </p:nvSpPr>
        <p:spPr>
          <a:xfrm>
            <a:off x="4605834" y="2109688"/>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입자 기반 변형 지면</a:t>
            </a:r>
          </a:p>
        </p:txBody>
      </p:sp>
      <p:sp>
        <p:nvSpPr>
          <p:cNvPr id="24" name="TextBox 23"/>
          <p:cNvSpPr txBox="1"/>
          <p:nvPr/>
        </p:nvSpPr>
        <p:spPr>
          <a:xfrm>
            <a:off x="4605834" y="2394148"/>
            <a:ext cx="3180067" cy="6032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지형 조건 plant 재구현 (</a:t>
            </a:r>
            <a:r>
              <a:rPr sz="1000" b="0" i="0">
                <a:solidFill>
                  <a:srgbClr val="7C2D12"/>
                </a:solidFill>
                <a:latin typeface="Consolas"/>
                <a:ea typeface="Malgun Gothic"/>
                <a:cs typeface="Malgun Gothic"/>
              </a:rPr>
              <a:t>LagSlipSwerveModel</a:t>
            </a:r>
            <a:r>
              <a:rPr sz="1150" b="0" i="0">
                <a:solidFill>
                  <a:srgbClr val="16213A"/>
                </a:solidFill>
                <a:latin typeface="Arial"/>
                <a:ea typeface="Malgun Gothic"/>
                <a:cs typeface="Malgun Gothic"/>
              </a:rPr>
              <a:t>이 이미 있음)</a:t>
            </a:r>
          </a:p>
        </p:txBody>
      </p:sp>
      <p:sp>
        <p:nvSpPr>
          <p:cNvPr id="25" name="TextBox 24"/>
          <p:cNvSpPr txBox="1"/>
          <p:nvPr/>
        </p:nvSpPr>
        <p:spPr>
          <a:xfrm>
            <a:off x="4605834" y="2899569"/>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LLM 보행자의 직접 평가 사용</a:t>
            </a:r>
          </a:p>
        </p:txBody>
      </p:sp>
      <p:sp>
        <p:nvSpPr>
          <p:cNvPr id="26" name="Rounded Rectangle 25"/>
          <p:cNvSpPr/>
          <p:nvPr/>
        </p:nvSpPr>
        <p:spPr>
          <a:xfrm>
            <a:off x="7992467" y="1361678"/>
            <a:ext cx="3488234" cy="1904901"/>
          </a:xfrm>
          <a:prstGeom prst="roundRect">
            <a:avLst>
              <a:gd name="adj" fmla="val 4000"/>
            </a:avLst>
          </a:prstGeom>
          <a:solidFill>
            <a:srgbClr val="FFFDF8"/>
          </a:solidFill>
          <a:ln>
            <a:noFill/>
          </a:ln>
        </p:spPr>
        <p:txBody>
          <a:bodyPr rtlCol="0" anchor="ctr"/>
          <a:lstStyle/>
          <a:p>
            <a:pPr algn="ctr"/>
          </a:p>
        </p:txBody>
      </p:sp>
      <p:sp>
        <p:nvSpPr>
          <p:cNvPr id="27" name="Rectangle 26"/>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1361678"/>
            <a:ext cx="6350" cy="1904901"/>
          </a:xfrm>
          <a:prstGeom prst="rect">
            <a:avLst/>
          </a:prstGeom>
          <a:solidFill>
            <a:srgbClr val="D9D4C7"/>
          </a:solidFill>
          <a:ln>
            <a:noFill/>
          </a:ln>
        </p:spPr>
        <p:txBody>
          <a:bodyPr rtlCol="0" anchor="ctr"/>
          <a:lstStyle/>
          <a:p>
            <a:pPr algn="ctr"/>
          </a:p>
        </p:txBody>
      </p:sp>
      <p:sp>
        <p:nvSpPr>
          <p:cNvPr id="29" name="Rectangle 28"/>
          <p:cNvSpPr/>
          <p:nvPr/>
        </p:nvSpPr>
        <p:spPr>
          <a:xfrm>
            <a:off x="7992467" y="3260229"/>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1361678"/>
            <a:ext cx="50800" cy="1904901"/>
          </a:xfrm>
          <a:prstGeom prst="roundRect">
            <a:avLst>
              <a:gd name="adj" fmla="val 50000"/>
            </a:avLst>
          </a:prstGeom>
          <a:solidFill>
            <a:srgbClr val="C2410C"/>
          </a:solidFill>
          <a:ln>
            <a:noFill/>
          </a:ln>
        </p:spPr>
        <p:txBody>
          <a:bodyPr rtlCol="0" anchor="ctr"/>
          <a:lstStyle/>
          <a:p>
            <a:pPr algn="ctr"/>
          </a:p>
        </p:txBody>
      </p:sp>
      <p:sp>
        <p:nvSpPr>
          <p:cNvPr id="31" name="Rounded Rectangle 30"/>
          <p:cNvSpPr/>
          <p:nvPr/>
        </p:nvSpPr>
        <p:spPr>
          <a:xfrm>
            <a:off x="8208367" y="1507728"/>
            <a:ext cx="1188145" cy="241300"/>
          </a:xfrm>
          <a:prstGeom prst="roundRect">
            <a:avLst>
              <a:gd name="adj" fmla="val 50000"/>
            </a:avLst>
          </a:prstGeom>
          <a:solidFill>
            <a:srgbClr val="FDE7C8"/>
          </a:solidFill>
          <a:ln>
            <a:noFill/>
          </a:ln>
        </p:spPr>
        <p:txBody>
          <a:bodyPr rtlCol="0" anchor="ctr"/>
          <a:lstStyle/>
          <a:p>
            <a:pPr algn="ctr"/>
          </a:p>
        </p:txBody>
      </p:sp>
      <p:sp>
        <p:nvSpPr>
          <p:cNvPr id="32" name="TextBox 31"/>
          <p:cNvSpPr txBox="1"/>
          <p:nvPr/>
        </p:nvSpPr>
        <p:spPr>
          <a:xfrm>
            <a:off x="8297267" y="1533128"/>
            <a:ext cx="1066055"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시도 순서 (TP 후보)</a:t>
            </a:r>
          </a:p>
        </p:txBody>
      </p:sp>
      <p:sp>
        <p:nvSpPr>
          <p:cNvPr id="33" name="TextBox 32"/>
          <p:cNvSpPr txBox="1"/>
          <p:nvPr/>
        </p:nvSpPr>
        <p:spPr>
          <a:xfrm>
            <a:off x="8246467" y="1825228"/>
            <a:ext cx="3180067" cy="603200"/>
          </a:xfrm>
          <a:prstGeom prst="rect">
            <a:avLst/>
          </a:prstGeom>
          <a:noFill/>
        </p:spPr>
        <p:txBody>
          <a:bodyPr wrap="square" lIns="0" rIns="0" tIns="0" bIns="0" anchor="t">
            <a:normAutofit/>
          </a:bodyPr>
          <a:lstStyle/>
          <a:p>
            <a:pPr marL="190500" indent="-190500">
              <a:lnSpc>
                <a:spcPct val="133400"/>
              </a:lnSpc>
              <a:buAutoNum type="arabicPeriod" startAt="1"/>
            </a:pPr>
            <a:r>
              <a:rPr sz="1150" b="0" i="0">
                <a:solidFill>
                  <a:srgbClr val="16213A"/>
                </a:solidFill>
                <a:latin typeface="Arial"/>
                <a:ea typeface="Malgun Gothic"/>
                <a:cs typeface="Malgun Gothic"/>
              </a:rPr>
              <a:t>TP-0005 첫 측정: 재실행 뒤집힘 수, 병렬 환경 차이</a:t>
            </a:r>
          </a:p>
        </p:txBody>
      </p:sp>
      <p:sp>
        <p:nvSpPr>
          <p:cNvPr id="34" name="TextBox 33"/>
          <p:cNvSpPr txBox="1"/>
          <p:nvPr/>
        </p:nvSpPr>
        <p:spPr>
          <a:xfrm>
            <a:off x="8246467" y="2330648"/>
            <a:ext cx="3180067" cy="603200"/>
          </a:xfrm>
          <a:prstGeom prst="rect">
            <a:avLst/>
          </a:prstGeom>
          <a:noFill/>
        </p:spPr>
        <p:txBody>
          <a:bodyPr wrap="square" lIns="0" rIns="0" tIns="0" bIns="0" anchor="t">
            <a:normAutofit/>
          </a:bodyPr>
          <a:lstStyle/>
          <a:p>
            <a:pPr marL="190500" indent="-190500">
              <a:lnSpc>
                <a:spcPct val="133400"/>
              </a:lnSpc>
              <a:buAutoNum type="arabicPeriod" startAt="2"/>
            </a:pPr>
            <a:r>
              <a:rPr sz="1150" b="0" i="0">
                <a:solidFill>
                  <a:srgbClr val="16213A"/>
                </a:solidFill>
                <a:latin typeface="Arial"/>
                <a:ea typeface="Malgun Gothic"/>
                <a:cs typeface="Malgun Gothic"/>
              </a:rPr>
              <a:t>FlowPolicy 안내를 동적 장벽으로, 1층·2층 비교</a:t>
            </a:r>
          </a:p>
        </p:txBody>
      </p:sp>
      <p:sp>
        <p:nvSpPr>
          <p:cNvPr id="35" name="TextBox 34"/>
          <p:cNvSpPr txBox="1"/>
          <p:nvPr/>
        </p:nvSpPr>
        <p:spPr>
          <a:xfrm>
            <a:off x="8246467" y="2836069"/>
            <a:ext cx="3180067" cy="327000"/>
          </a:xfrm>
          <a:prstGeom prst="rect">
            <a:avLst/>
          </a:prstGeom>
          <a:noFill/>
        </p:spPr>
        <p:txBody>
          <a:bodyPr wrap="square" lIns="0" rIns="0" tIns="0" bIns="0" anchor="t">
            <a:normAutofit/>
          </a:bodyPr>
          <a:lstStyle/>
          <a:p>
            <a:pPr marL="190500" indent="-190500">
              <a:lnSpc>
                <a:spcPct val="133400"/>
              </a:lnSpc>
              <a:buAutoNum type="arabicPeriod" startAt="3"/>
            </a:pPr>
            <a:r>
              <a:rPr sz="1150" b="0" i="0">
                <a:solidFill>
                  <a:srgbClr val="16213A"/>
                </a:solidFill>
                <a:latin typeface="Arial"/>
                <a:ea typeface="Malgun Gothic"/>
                <a:cs typeface="Malgun Gothic"/>
              </a:rPr>
              <a:t>멈춰 서기·둘러보기 보행자 (TP-0167 뒤)</a:t>
            </a:r>
          </a:p>
        </p:txBody>
      </p:sp>
      <p:sp>
        <p:nvSpPr>
          <p:cNvPr id="36" name="Rounded Rectangle 35"/>
          <p:cNvSpPr/>
          <p:nvPr/>
        </p:nvSpPr>
        <p:spPr>
          <a:xfrm>
            <a:off x="711200" y="3444379"/>
            <a:ext cx="10769600" cy="502543"/>
          </a:xfrm>
          <a:prstGeom prst="roundRect">
            <a:avLst>
              <a:gd name="adj" fmla="val 15162"/>
            </a:avLst>
          </a:prstGeom>
          <a:solidFill>
            <a:srgbClr val="16213A"/>
          </a:solidFill>
          <a:ln>
            <a:noFill/>
          </a:ln>
        </p:spPr>
        <p:txBody>
          <a:bodyPr rtlCol="0" anchor="ctr"/>
          <a:lstStyle/>
          <a:p>
            <a:pPr algn="ctr"/>
          </a:p>
        </p:txBody>
      </p:sp>
      <p:sp>
        <p:nvSpPr>
          <p:cNvPr id="37" name="TextBox 36"/>
          <p:cNvSpPr txBox="1"/>
          <p:nvPr/>
        </p:nvSpPr>
        <p:spPr>
          <a:xfrm>
            <a:off x="889000" y="357137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같은 설정 재실행에서 뒤집힘이 0이 아니면 Isaac 결과에는 2층 짝 비교만 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S.7 · 권고 로드맵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L0를 먼저 현실에 가깝게, 그다음 L1 폐루프, 그다음 L2 장면이다</a:t>
            </a:r>
          </a:p>
        </p:txBody>
      </p:sp>
      <p:graphicFrame>
        <p:nvGraphicFramePr>
          <p:cNvPr id="4" name="Table 3"/>
          <p:cNvGraphicFramePr>
            <a:graphicFrameLocks noGrp="1"/>
          </p:cNvGraphicFramePr>
          <p:nvPr/>
        </p:nvGraphicFramePr>
        <p:xfrm>
          <a:off x="711200" y="1361678"/>
          <a:ext cx="10769599" cy="2049701"/>
        </p:xfrm>
        <a:graphic>
          <a:graphicData uri="http://schemas.openxmlformats.org/drawingml/2006/table">
            <a:tbl>
              <a:tblPr firstRow="0" bandRow="0">
                <a:tableStyleId>{5C22544A-7EE6-4342-B048-85BDC9FD1C3A}</a:tableStyleId>
              </a:tblPr>
              <a:tblGrid>
                <a:gridCol w="569912"/>
                <a:gridCol w="5431532"/>
                <a:gridCol w="444996"/>
                <a:gridCol w="4323159"/>
              </a:tblGrid>
              <a:tr h="263634">
                <a:tc>
                  <a:txBody>
                    <a:bodyPr wrap="square"/>
                    <a:lstStyle/>
                    <a:p>
                      <a:r>
                        <a:rPr sz="100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할 일</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TODO · 상태</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L0 충실도: 시선 검사, 지연, 위치 잡음, 슬립, 조향 모듈</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TP-0031 완료 · TP-0032 선택 항목 · TP-0033·0034</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반응형 보행자, 사건 시나리오, 100 m당 실패·비용 지표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L0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TP-0036·0038 완료 · TP-0037 · TP-0167 대기</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지형 커리큘럼으로 실패 경계 찾기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L0</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TP-0039 완료</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Isaac 폐루프: RTX LiDAR → elevation mapping → TravMap → 스택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L1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TP-0005 사용자 실행 대기 · TP-0040</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URBAN-SIM·UrbanVerse 장면으로 다양화 (라이선스 먼저)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TP-0041</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서비스 지역 스캔 → NuRec → 카메라 모듈 폐루프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L1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TP-0022, TP-0011 이후</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7</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실물 첫 주행으로 보정, 스택 여러 개로 SRCC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TP-0043, P5</a:t>
                      </a:r>
                    </a:p>
                  </a:txBody>
                  <a:tcPr marL="76200" marR="76200" marT="25400" marB="25400">
                    <a:solidFill>
                      <a:srgbClr val="F1EDE4"/>
                    </a:solidFill>
                  </a:tcPr>
                </a:tc>
              </a:tr>
            </a:tbl>
          </a:graphicData>
        </a:graphic>
      </p:graphicFrame>
      <p:sp>
        <p:nvSpPr>
          <p:cNvPr id="5" name="Rounded Rectangle 4"/>
          <p:cNvSpPr/>
          <p:nvPr/>
        </p:nvSpPr>
        <p:spPr>
          <a:xfrm>
            <a:off x="711200" y="3950891"/>
            <a:ext cx="5308600"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3950891"/>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950891"/>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4996061"/>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950891"/>
            <a:ext cx="50800" cy="1051520"/>
          </a:xfrm>
          <a:prstGeom prst="roundRect">
            <a:avLst>
              <a:gd name="adj" fmla="val 50000"/>
            </a:avLst>
          </a:prstGeom>
          <a:solidFill>
            <a:srgbClr val="9AA6BC"/>
          </a:solidFill>
          <a:ln>
            <a:noFill/>
          </a:ln>
        </p:spPr>
        <p:txBody>
          <a:bodyPr rtlCol="0" anchor="ctr"/>
          <a:lstStyle/>
          <a:p>
            <a:pPr algn="ctr"/>
          </a:p>
        </p:txBody>
      </p:sp>
      <p:sp>
        <p:nvSpPr>
          <p:cNvPr id="10" name="Rounded Rectangle 9"/>
          <p:cNvSpPr/>
          <p:nvPr/>
        </p:nvSpPr>
        <p:spPr>
          <a:xfrm>
            <a:off x="927100" y="4096941"/>
            <a:ext cx="1060748" cy="241300"/>
          </a:xfrm>
          <a:prstGeom prst="roundRect">
            <a:avLst>
              <a:gd name="adj" fmla="val 50000"/>
            </a:avLst>
          </a:prstGeom>
          <a:solidFill>
            <a:srgbClr val="ECE8DF"/>
          </a:solidFill>
          <a:ln>
            <a:noFill/>
          </a:ln>
        </p:spPr>
        <p:txBody>
          <a:bodyPr rtlCol="0" anchor="ctr"/>
          <a:lstStyle/>
          <a:p>
            <a:pPr algn="ctr"/>
          </a:p>
        </p:txBody>
      </p:sp>
      <p:sp>
        <p:nvSpPr>
          <p:cNvPr id="11" name="TextBox 10"/>
          <p:cNvSpPr txBox="1"/>
          <p:nvPr/>
        </p:nvSpPr>
        <p:spPr>
          <a:xfrm>
            <a:off x="1016000" y="4122341"/>
            <a:ext cx="93483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지금 하지 않는 것</a:t>
            </a:r>
          </a:p>
        </p:txBody>
      </p:sp>
      <p:sp>
        <p:nvSpPr>
          <p:cNvPr id="12" name="TextBox 11"/>
          <p:cNvSpPr txBox="1"/>
          <p:nvPr/>
        </p:nvSpPr>
        <p:spPr>
          <a:xfrm>
            <a:off x="927100" y="4414441"/>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변형 지면, 관절 물리 스워브, world model(NWM, Cosmos), 엔진 교체. 요구가 생기면 다시 본다.</a:t>
            </a:r>
          </a:p>
        </p:txBody>
      </p:sp>
      <p:sp>
        <p:nvSpPr>
          <p:cNvPr id="13" name="Rounded Rectangle 12"/>
          <p:cNvSpPr/>
          <p:nvPr/>
        </p:nvSpPr>
        <p:spPr>
          <a:xfrm>
            <a:off x="6172200" y="3950891"/>
            <a:ext cx="5308600"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6172200" y="3950891"/>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3950891"/>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6172200" y="4996061"/>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3950891"/>
            <a:ext cx="50800" cy="1051520"/>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4096941"/>
            <a:ext cx="660995"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4122341"/>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산업 확인</a:t>
            </a:r>
          </a:p>
        </p:txBody>
      </p:sp>
      <p:sp>
        <p:nvSpPr>
          <p:cNvPr id="20" name="TextBox 19"/>
          <p:cNvSpPr txBox="1"/>
          <p:nvPr/>
        </p:nvSpPr>
        <p:spPr>
          <a:xfrm>
            <a:off x="6388100" y="4414441"/>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Coco 2(2026-02-26)의 학습 스택은 Isaac Sim + Isaac Lab + Omniverse + Cosmos다. MIMIC 논문은 시뮬 없이 원격조종 로그를 증강했다.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정리와 다음 할 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엔진은 그대로, 빈틈은 하나씩 켜서 재고, 예측력은 처음부터 설계한다</a:t>
            </a:r>
          </a:p>
        </p:txBody>
      </p:sp>
      <p:sp>
        <p:nvSpPr>
          <p:cNvPr id="4" name="TextBox 3"/>
          <p:cNvSpPr txBox="1"/>
          <p:nvPr/>
        </p:nvSpPr>
        <p:spPr>
          <a:xfrm>
            <a:off x="711200" y="136167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질문은 하나다: 시뮬의 12/12가 실물에서 무엇을 뜻하는가.</a:t>
            </a:r>
          </a:p>
        </p:txBody>
      </p:sp>
      <p:sp>
        <p:nvSpPr>
          <p:cNvPr id="5" name="Rounded Rectangle 4"/>
          <p:cNvSpPr/>
          <p:nvPr/>
        </p:nvSpPr>
        <p:spPr>
          <a:xfrm>
            <a:off x="711200" y="1852513"/>
            <a:ext cx="3488234" cy="1399480"/>
          </a:xfrm>
          <a:prstGeom prst="roundRect">
            <a:avLst>
              <a:gd name="adj" fmla="val 5444"/>
            </a:avLst>
          </a:prstGeom>
          <a:solidFill>
            <a:srgbClr val="FFFDF8"/>
          </a:solidFill>
          <a:ln>
            <a:noFill/>
          </a:ln>
        </p:spPr>
        <p:txBody>
          <a:bodyPr rtlCol="0" anchor="ctr"/>
          <a:lstStyle/>
          <a:p>
            <a:pPr algn="ctr"/>
          </a:p>
        </p:txBody>
      </p:sp>
      <p:sp>
        <p:nvSpPr>
          <p:cNvPr id="6" name="Rectangle 5"/>
          <p:cNvSpPr/>
          <p:nvPr/>
        </p:nvSpPr>
        <p:spPr>
          <a:xfrm>
            <a:off x="711200" y="1852513"/>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1852513"/>
            <a:ext cx="6350" cy="1399480"/>
          </a:xfrm>
          <a:prstGeom prst="rect">
            <a:avLst/>
          </a:prstGeom>
          <a:solidFill>
            <a:srgbClr val="D9D4C7"/>
          </a:solidFill>
          <a:ln>
            <a:noFill/>
          </a:ln>
        </p:spPr>
        <p:txBody>
          <a:bodyPr rtlCol="0" anchor="ctr"/>
          <a:lstStyle/>
          <a:p>
            <a:pPr algn="ctr"/>
          </a:p>
        </p:txBody>
      </p:sp>
      <p:sp>
        <p:nvSpPr>
          <p:cNvPr id="8" name="Rectangle 7"/>
          <p:cNvSpPr/>
          <p:nvPr/>
        </p:nvSpPr>
        <p:spPr>
          <a:xfrm>
            <a:off x="711200" y="3245644"/>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1852513"/>
            <a:ext cx="50800" cy="1399480"/>
          </a:xfrm>
          <a:prstGeom prst="roundRect">
            <a:avLst>
              <a:gd name="adj" fmla="val 50000"/>
            </a:avLst>
          </a:prstGeom>
          <a:solidFill>
            <a:srgbClr val="C2410C"/>
          </a:solidFill>
          <a:ln>
            <a:noFill/>
          </a:ln>
        </p:spPr>
        <p:txBody>
          <a:bodyPr rtlCol="0" anchor="ctr"/>
          <a:lstStyle/>
          <a:p>
            <a:pPr algn="ctr"/>
          </a:p>
        </p:txBody>
      </p:sp>
      <p:sp>
        <p:nvSpPr>
          <p:cNvPr id="10" name="Rounded Rectangle 9"/>
          <p:cNvSpPr/>
          <p:nvPr/>
        </p:nvSpPr>
        <p:spPr>
          <a:xfrm>
            <a:off x="927100" y="1998563"/>
            <a:ext cx="651173" cy="241300"/>
          </a:xfrm>
          <a:prstGeom prst="roundRect">
            <a:avLst>
              <a:gd name="adj" fmla="val 50000"/>
            </a:avLst>
          </a:prstGeom>
          <a:solidFill>
            <a:srgbClr val="FDE7C8"/>
          </a:solidFill>
          <a:ln>
            <a:noFill/>
          </a:ln>
        </p:spPr>
        <p:txBody>
          <a:bodyPr rtlCol="0" anchor="ctr"/>
          <a:lstStyle/>
          <a:p>
            <a:pPr algn="ctr"/>
          </a:p>
        </p:txBody>
      </p:sp>
      <p:sp>
        <p:nvSpPr>
          <p:cNvPr id="11" name="TextBox 10"/>
          <p:cNvSpPr txBox="1"/>
          <p:nvPr/>
        </p:nvSpPr>
        <p:spPr>
          <a:xfrm>
            <a:off x="1016000" y="2023963"/>
            <a:ext cx="51297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지금 · L0</a:t>
            </a:r>
          </a:p>
        </p:txBody>
      </p:sp>
      <p:sp>
        <p:nvSpPr>
          <p:cNvPr id="12" name="TextBox 11"/>
          <p:cNvSpPr txBox="1"/>
          <p:nvPr/>
        </p:nvSpPr>
        <p:spPr>
          <a:xfrm>
            <a:off x="965200" y="2316063"/>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지연·드리프트 짝 비교 (TP-0169)</a:t>
            </a:r>
          </a:p>
        </p:txBody>
      </p:sp>
      <p:sp>
        <p:nvSpPr>
          <p:cNvPr id="13" name="TextBox 12"/>
          <p:cNvSpPr txBox="1"/>
          <p:nvPr/>
        </p:nvSpPr>
        <p:spPr>
          <a:xfrm>
            <a:off x="965200" y="2600523"/>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ORCA 보행자 짝 비교 (TP-0167)</a:t>
            </a:r>
          </a:p>
        </p:txBody>
      </p:sp>
      <p:sp>
        <p:nvSpPr>
          <p:cNvPr id="14" name="TextBox 13"/>
          <p:cNvSpPr txBox="1"/>
          <p:nvPr/>
        </p:nvSpPr>
        <p:spPr>
          <a:xfrm>
            <a:off x="965200" y="2884984"/>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슬립 (TP-0033), 조향 모듈 (TP-0034)</a:t>
            </a:r>
          </a:p>
        </p:txBody>
      </p:sp>
      <p:sp>
        <p:nvSpPr>
          <p:cNvPr id="15" name="Rounded Rectangle 14"/>
          <p:cNvSpPr/>
          <p:nvPr/>
        </p:nvSpPr>
        <p:spPr>
          <a:xfrm>
            <a:off x="4351834" y="1852513"/>
            <a:ext cx="3488234" cy="1399480"/>
          </a:xfrm>
          <a:prstGeom prst="roundRect">
            <a:avLst>
              <a:gd name="adj" fmla="val 5444"/>
            </a:avLst>
          </a:prstGeom>
          <a:solidFill>
            <a:srgbClr val="FFFDF8"/>
          </a:solidFill>
          <a:ln>
            <a:noFill/>
          </a:ln>
        </p:spPr>
        <p:txBody>
          <a:bodyPr rtlCol="0" anchor="ctr"/>
          <a:lstStyle/>
          <a:p>
            <a:pPr algn="ctr"/>
          </a:p>
        </p:txBody>
      </p:sp>
      <p:sp>
        <p:nvSpPr>
          <p:cNvPr id="16" name="Rectangle 15"/>
          <p:cNvSpPr/>
          <p:nvPr/>
        </p:nvSpPr>
        <p:spPr>
          <a:xfrm>
            <a:off x="4351834" y="1852513"/>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1852513"/>
            <a:ext cx="6350" cy="1399480"/>
          </a:xfrm>
          <a:prstGeom prst="rect">
            <a:avLst/>
          </a:prstGeom>
          <a:solidFill>
            <a:srgbClr val="D9D4C7"/>
          </a:solidFill>
          <a:ln>
            <a:noFill/>
          </a:ln>
        </p:spPr>
        <p:txBody>
          <a:bodyPr rtlCol="0" anchor="ctr"/>
          <a:lstStyle/>
          <a:p>
            <a:pPr algn="ctr"/>
          </a:p>
        </p:txBody>
      </p:sp>
      <p:sp>
        <p:nvSpPr>
          <p:cNvPr id="18" name="Rectangle 17"/>
          <p:cNvSpPr/>
          <p:nvPr/>
        </p:nvSpPr>
        <p:spPr>
          <a:xfrm>
            <a:off x="4351834" y="3245644"/>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1852513"/>
            <a:ext cx="50800" cy="139948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1998563"/>
            <a:ext cx="651173"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2023963"/>
            <a:ext cx="51297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다음 · L1</a:t>
            </a:r>
          </a:p>
        </p:txBody>
      </p:sp>
      <p:sp>
        <p:nvSpPr>
          <p:cNvPr id="22" name="TextBox 21"/>
          <p:cNvSpPr txBox="1"/>
          <p:nvPr/>
        </p:nvSpPr>
        <p:spPr>
          <a:xfrm>
            <a:off x="4605834" y="2316063"/>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Isaac 폐루프 (TP-0005)</a:t>
            </a:r>
          </a:p>
        </p:txBody>
      </p:sp>
      <p:sp>
        <p:nvSpPr>
          <p:cNvPr id="23" name="TextBox 22"/>
          <p:cNvSpPr txBox="1"/>
          <p:nvPr/>
        </p:nvSpPr>
        <p:spPr>
          <a:xfrm>
            <a:off x="4605834" y="2600523"/>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첫 측정은 재실행 뒤집힘 수</a:t>
            </a:r>
          </a:p>
        </p:txBody>
      </p:sp>
      <p:sp>
        <p:nvSpPr>
          <p:cNvPr id="24" name="TextBox 23"/>
          <p:cNvSpPr txBox="1"/>
          <p:nvPr/>
        </p:nvSpPr>
        <p:spPr>
          <a:xfrm>
            <a:off x="4605834" y="2884984"/>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RTX LiDAR 비용 오차 (TP-0040)</a:t>
            </a:r>
          </a:p>
        </p:txBody>
      </p:sp>
      <p:sp>
        <p:nvSpPr>
          <p:cNvPr id="25" name="Rounded Rectangle 24"/>
          <p:cNvSpPr/>
          <p:nvPr/>
        </p:nvSpPr>
        <p:spPr>
          <a:xfrm>
            <a:off x="7992467" y="1852513"/>
            <a:ext cx="3488234" cy="1399480"/>
          </a:xfrm>
          <a:prstGeom prst="roundRect">
            <a:avLst>
              <a:gd name="adj" fmla="val 5444"/>
            </a:avLst>
          </a:prstGeom>
          <a:solidFill>
            <a:srgbClr val="FFFDF8"/>
          </a:solidFill>
          <a:ln>
            <a:noFill/>
          </a:ln>
        </p:spPr>
        <p:txBody>
          <a:bodyPr rtlCol="0" anchor="ctr"/>
          <a:lstStyle/>
          <a:p>
            <a:pPr algn="ctr"/>
          </a:p>
        </p:txBody>
      </p:sp>
      <p:sp>
        <p:nvSpPr>
          <p:cNvPr id="26" name="Rectangle 25"/>
          <p:cNvSpPr/>
          <p:nvPr/>
        </p:nvSpPr>
        <p:spPr>
          <a:xfrm>
            <a:off x="7992467" y="1852513"/>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1852513"/>
            <a:ext cx="6350" cy="1399480"/>
          </a:xfrm>
          <a:prstGeom prst="rect">
            <a:avLst/>
          </a:prstGeom>
          <a:solidFill>
            <a:srgbClr val="D9D4C7"/>
          </a:solidFill>
          <a:ln>
            <a:noFill/>
          </a:ln>
        </p:spPr>
        <p:txBody>
          <a:bodyPr rtlCol="0" anchor="ctr"/>
          <a:lstStyle/>
          <a:p>
            <a:pPr algn="ctr"/>
          </a:p>
        </p:txBody>
      </p:sp>
      <p:sp>
        <p:nvSpPr>
          <p:cNvPr id="28" name="Rectangle 27"/>
          <p:cNvSpPr/>
          <p:nvPr/>
        </p:nvSpPr>
        <p:spPr>
          <a:xfrm>
            <a:off x="7992467" y="3245644"/>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1852513"/>
            <a:ext cx="50800" cy="1399480"/>
          </a:xfrm>
          <a:prstGeom prst="roundRect">
            <a:avLst>
              <a:gd name="adj" fmla="val 50000"/>
            </a:avLst>
          </a:prstGeom>
          <a:solidFill>
            <a:srgbClr val="15803D"/>
          </a:solidFill>
          <a:ln>
            <a:noFill/>
          </a:ln>
        </p:spPr>
        <p:txBody>
          <a:bodyPr rtlCol="0" anchor="ctr"/>
          <a:lstStyle/>
          <a:p>
            <a:pPr algn="ctr"/>
          </a:p>
        </p:txBody>
      </p:sp>
      <p:sp>
        <p:nvSpPr>
          <p:cNvPr id="30" name="Rounded Rectangle 29"/>
          <p:cNvSpPr/>
          <p:nvPr/>
        </p:nvSpPr>
        <p:spPr>
          <a:xfrm>
            <a:off x="8208367" y="1998563"/>
            <a:ext cx="651173" cy="241300"/>
          </a:xfrm>
          <a:prstGeom prst="roundRect">
            <a:avLst>
              <a:gd name="adj" fmla="val 50000"/>
            </a:avLst>
          </a:prstGeom>
          <a:solidFill>
            <a:srgbClr val="D7EFDD"/>
          </a:solidFill>
          <a:ln>
            <a:noFill/>
          </a:ln>
        </p:spPr>
        <p:txBody>
          <a:bodyPr rtlCol="0" anchor="ctr"/>
          <a:lstStyle/>
          <a:p>
            <a:pPr algn="ctr"/>
          </a:p>
        </p:txBody>
      </p:sp>
      <p:sp>
        <p:nvSpPr>
          <p:cNvPr id="31" name="TextBox 30"/>
          <p:cNvSpPr txBox="1"/>
          <p:nvPr/>
        </p:nvSpPr>
        <p:spPr>
          <a:xfrm>
            <a:off x="8297267" y="2023963"/>
            <a:ext cx="51297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실물 · L3</a:t>
            </a:r>
          </a:p>
        </p:txBody>
      </p:sp>
      <p:sp>
        <p:nvSpPr>
          <p:cNvPr id="32" name="TextBox 31"/>
          <p:cNvSpPr txBox="1"/>
          <p:nvPr/>
        </p:nvSpPr>
        <p:spPr>
          <a:xfrm>
            <a:off x="8246467" y="2316063"/>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SRCC 프로토콜 (TP-0043)</a:t>
            </a:r>
          </a:p>
        </p:txBody>
      </p:sp>
      <p:sp>
        <p:nvSpPr>
          <p:cNvPr id="33" name="TextBox 32"/>
          <p:cNvSpPr txBox="1"/>
          <p:nvPr/>
        </p:nvSpPr>
        <p:spPr>
          <a:xfrm>
            <a:off x="8246467" y="2600523"/>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스워브 파라미터·관성 (TP-0035)</a:t>
            </a:r>
          </a:p>
        </p:txBody>
      </p:sp>
      <p:sp>
        <p:nvSpPr>
          <p:cNvPr id="34" name="TextBox 33"/>
          <p:cNvSpPr txBox="1"/>
          <p:nvPr/>
        </p:nvSpPr>
        <p:spPr>
          <a:xfrm>
            <a:off x="8246467" y="2884984"/>
            <a:ext cx="3180067"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조향 한계 확인 (TP-0163)</a:t>
            </a:r>
          </a:p>
        </p:txBody>
      </p:sp>
      <p:sp>
        <p:nvSpPr>
          <p:cNvPr id="35" name="Rounded Rectangle 34"/>
          <p:cNvSpPr/>
          <p:nvPr/>
        </p:nvSpPr>
        <p:spPr>
          <a:xfrm>
            <a:off x="711200" y="3429794"/>
            <a:ext cx="10769600" cy="502543"/>
          </a:xfrm>
          <a:prstGeom prst="roundRect">
            <a:avLst>
              <a:gd name="adj" fmla="val 15162"/>
            </a:avLst>
          </a:prstGeom>
          <a:solidFill>
            <a:srgbClr val="16213A"/>
          </a:solidFill>
          <a:ln>
            <a:noFill/>
          </a:ln>
        </p:spPr>
        <p:txBody>
          <a:bodyPr rtlCol="0" anchor="ctr"/>
          <a:lstStyle/>
          <a:p>
            <a:pPr algn="ctr"/>
          </a:p>
        </p:txBody>
      </p:sp>
      <p:sp>
        <p:nvSpPr>
          <p:cNvPr id="36" name="TextBox 35"/>
          <p:cNvSpPr txBox="1"/>
          <p:nvPr/>
        </p:nvSpPr>
        <p:spPr>
          <a:xfrm>
            <a:off x="889000" y="3556794"/>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엔진 비교보다 재현성, 사진 같은 렌더링보다 기하, 바퀴 물리보다 지연 모델이 먼저다.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 전체 목록은 참고문헌 문서의 "시뮬레이션" 탭</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참고문헌</a:t>
            </a:r>
          </a:p>
        </p:txBody>
      </p:sp>
      <p:sp>
        <p:nvSpPr>
          <p:cNvPr id="4" name="TextBox 3"/>
          <p:cNvSpPr txBox="1"/>
          <p:nvPr/>
        </p:nvSpPr>
        <p:spPr>
          <a:xfrm>
            <a:off x="711200" y="1361678"/>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 Isaac Lab, NVIDIA — arXiv:2511.04831</a:t>
            </a:r>
          </a:p>
        </p:txBody>
      </p:sp>
      <p:sp>
        <p:nvSpPr>
          <p:cNvPr id="5" name="TextBox 4"/>
          <p:cNvSpPr txBox="1"/>
          <p:nvPr/>
        </p:nvSpPr>
        <p:spPr>
          <a:xfrm>
            <a:off x="711200" y="1671538"/>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 GPUSimBench, IROS 2026 — arXiv:2607.13059</a:t>
            </a:r>
          </a:p>
        </p:txBody>
      </p:sp>
      <p:sp>
        <p:nvSpPr>
          <p:cNvPr id="6" name="TextBox 5"/>
          <p:cNvSpPr txBox="1"/>
          <p:nvPr/>
        </p:nvSpPr>
        <p:spPr>
          <a:xfrm>
            <a:off x="711200" y="1981398"/>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 MetaUrban, ICLR 2025 — arXiv:2407.08725</a:t>
            </a:r>
          </a:p>
        </p:txBody>
      </p:sp>
      <p:sp>
        <p:nvSpPr>
          <p:cNvPr id="7" name="TextBox 6"/>
          <p:cNvSpPr txBox="1"/>
          <p:nvPr/>
        </p:nvSpPr>
        <p:spPr>
          <a:xfrm>
            <a:off x="711200" y="229125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[4] URBAN-SIM, CVPR 2025 — arXiv:2505.00690</a:t>
            </a:r>
          </a:p>
        </p:txBody>
      </p:sp>
      <p:sp>
        <p:nvSpPr>
          <p:cNvPr id="8" name="TextBox 7"/>
          <p:cNvSpPr txBox="1"/>
          <p:nvPr/>
        </p:nvSpPr>
        <p:spPr>
          <a:xfrm>
            <a:off x="711200" y="260111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[5] UrbanVerse, ICLR 2026 — arXiv:2510.15018</a:t>
            </a:r>
          </a:p>
        </p:txBody>
      </p:sp>
      <p:sp>
        <p:nvSpPr>
          <p:cNvPr id="9" name="TextBox 8"/>
          <p:cNvSpPr txBox="1"/>
          <p:nvPr/>
        </p:nvSpPr>
        <p:spPr>
          <a:xfrm>
            <a:off x="711200" y="291097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[6] SidewalkBench, CoRL 2026 — arXiv:2606.16953</a:t>
            </a:r>
          </a:p>
        </p:txBody>
      </p:sp>
      <p:sp>
        <p:nvSpPr>
          <p:cNvPr id="10" name="TextBox 9"/>
          <p:cNvSpPr txBox="1"/>
          <p:nvPr/>
        </p:nvSpPr>
        <p:spPr>
          <a:xfrm>
            <a:off x="711200" y="322083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[7] CostNav — arXiv:2511.20216</a:t>
            </a:r>
          </a:p>
        </p:txBody>
      </p:sp>
      <p:sp>
        <p:nvSpPr>
          <p:cNvPr id="11" name="TextBox 10"/>
          <p:cNvSpPr txBox="1"/>
          <p:nvPr/>
        </p:nvSpPr>
        <p:spPr>
          <a:xfrm>
            <a:off x="711200" y="353069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[8] Jia, How, 사전식 조종 — arXiv:2609.15014</a:t>
            </a:r>
          </a:p>
        </p:txBody>
      </p:sp>
      <p:sp>
        <p:nvSpPr>
          <p:cNvPr id="12" name="TextBox 11"/>
          <p:cNvSpPr txBox="1"/>
          <p:nvPr/>
        </p:nvSpPr>
        <p:spPr>
          <a:xfrm>
            <a:off x="711200" y="384055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[9] Helbing, Molnár, Social Force, 1995</a:t>
            </a:r>
          </a:p>
        </p:txBody>
      </p:sp>
      <p:sp>
        <p:nvSpPr>
          <p:cNvPr id="13" name="TextBox 12"/>
          <p:cNvSpPr txBox="1"/>
          <p:nvPr/>
        </p:nvSpPr>
        <p:spPr>
          <a:xfrm>
            <a:off x="711200" y="415042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[10] HuNavSim, RA-L — arXiv:2305.01303</a:t>
            </a:r>
          </a:p>
        </p:txBody>
      </p:sp>
      <p:sp>
        <p:nvSpPr>
          <p:cNvPr id="14" name="TextBox 13"/>
          <p:cNvSpPr txBox="1"/>
          <p:nvPr/>
        </p:nvSpPr>
        <p:spPr>
          <a:xfrm>
            <a:off x="711200" y="446028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[11] van den Berg 외, ORCA, ISRR 2011</a:t>
            </a:r>
          </a:p>
        </p:txBody>
      </p:sp>
      <p:sp>
        <p:nvSpPr>
          <p:cNvPr id="15" name="TextBox 14"/>
          <p:cNvSpPr txBox="1"/>
          <p:nvPr/>
        </p:nvSpPr>
        <p:spPr>
          <a:xfrm>
            <a:off x="711200" y="477014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[12] FLUX/DynBench — arXiv:2603.12806</a:t>
            </a:r>
          </a:p>
        </p:txBody>
      </p:sp>
      <p:sp>
        <p:nvSpPr>
          <p:cNvPr id="16" name="TextBox 15"/>
          <p:cNvSpPr txBox="1"/>
          <p:nvPr/>
        </p:nvSpPr>
        <p:spPr>
          <a:xfrm>
            <a:off x="711200" y="508000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[13] GROVE, IROS 2026 — arXiv:2606.25504</a:t>
            </a:r>
          </a:p>
        </p:txBody>
      </p:sp>
      <p:sp>
        <p:nvSpPr>
          <p:cNvPr id="17" name="TextBox 16"/>
          <p:cNvSpPr txBox="1"/>
          <p:nvPr/>
        </p:nvSpPr>
        <p:spPr>
          <a:xfrm>
            <a:off x="711200" y="538986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[14] NavIsaacLab — arXiv:2606.26265</a:t>
            </a:r>
          </a:p>
        </p:txBody>
      </p:sp>
      <p:sp>
        <p:nvSpPr>
          <p:cNvPr id="18" name="TextBox 17"/>
          <p:cNvSpPr txBox="1"/>
          <p:nvPr/>
        </p:nvSpPr>
        <p:spPr>
          <a:xfrm>
            <a:off x="711200" y="569972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[15] SocNav Bench — arXiv:2511.21135</a:t>
            </a:r>
          </a:p>
        </p:txBody>
      </p:sp>
      <p:sp>
        <p:nvSpPr>
          <p:cNvPr id="19" name="TextBox 18"/>
          <p:cNvSpPr txBox="1"/>
          <p:nvPr/>
        </p:nvSpPr>
        <p:spPr>
          <a:xfrm>
            <a:off x="6172200" y="1361678"/>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[16] Vid2Sim, CVPR 2025 — arXiv:2501.06693</a:t>
            </a:r>
          </a:p>
        </p:txBody>
      </p:sp>
      <p:sp>
        <p:nvSpPr>
          <p:cNvPr id="20" name="TextBox 19"/>
          <p:cNvSpPr txBox="1"/>
          <p:nvPr/>
        </p:nvSpPr>
        <p:spPr>
          <a:xfrm>
            <a:off x="6172200" y="1671538"/>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[17] GaussGym — arXiv:2510.15352</a:t>
            </a:r>
          </a:p>
        </p:txBody>
      </p:sp>
      <p:sp>
        <p:nvSpPr>
          <p:cNvPr id="21" name="TextBox 20"/>
          <p:cNvSpPr txBox="1"/>
          <p:nvPr/>
        </p:nvSpPr>
        <p:spPr>
          <a:xfrm>
            <a:off x="6172200" y="1981398"/>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[18] Wanderland, CVPR 2026 — arXiv:2511.20620</a:t>
            </a:r>
          </a:p>
        </p:txBody>
      </p:sp>
      <p:sp>
        <p:nvSpPr>
          <p:cNvPr id="22" name="TextBox 21"/>
          <p:cNvSpPr txBox="1"/>
          <p:nvPr/>
        </p:nvSpPr>
        <p:spPr>
          <a:xfrm>
            <a:off x="6172200" y="229125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[19] Kadian 외, SRCC, RA-L 2020 — arXiv:1912.06321</a:t>
            </a:r>
          </a:p>
        </p:txBody>
      </p:sp>
      <p:sp>
        <p:nvSpPr>
          <p:cNvPr id="23" name="TextBox 22"/>
          <p:cNvSpPr txBox="1"/>
          <p:nvPr/>
        </p:nvSpPr>
        <p:spPr>
          <a:xfrm>
            <a:off x="6172200" y="260111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[20] Tobin 외 — arXiv:1703.06907</a:t>
            </a:r>
          </a:p>
        </p:txBody>
      </p:sp>
      <p:sp>
        <p:nvSpPr>
          <p:cNvPr id="24" name="TextBox 23"/>
          <p:cNvSpPr txBox="1"/>
          <p:nvPr/>
        </p:nvSpPr>
        <p:spPr>
          <a:xfrm>
            <a:off x="6172200" y="291097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[21] Peng 외 — arXiv:1710.06537</a:t>
            </a:r>
          </a:p>
        </p:txBody>
      </p:sp>
      <p:sp>
        <p:nvSpPr>
          <p:cNvPr id="25" name="TextBox 24"/>
          <p:cNvSpPr txBox="1"/>
          <p:nvPr/>
        </p:nvSpPr>
        <p:spPr>
          <a:xfrm>
            <a:off x="6172200" y="322083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[22] OpenAI ADR — arXiv:1910.07113</a:t>
            </a:r>
          </a:p>
        </p:txBody>
      </p:sp>
      <p:sp>
        <p:nvSpPr>
          <p:cNvPr id="26" name="TextBox 25"/>
          <p:cNvSpPr txBox="1"/>
          <p:nvPr/>
        </p:nvSpPr>
        <p:spPr>
          <a:xfrm>
            <a:off x="6172200" y="353069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[23] Hwangbo 외 — arXiv:1901.08652</a:t>
            </a:r>
          </a:p>
        </p:txBody>
      </p:sp>
      <p:sp>
        <p:nvSpPr>
          <p:cNvPr id="27" name="TextBox 26"/>
          <p:cNvSpPr txBox="1"/>
          <p:nvPr/>
        </p:nvSpPr>
        <p:spPr>
          <a:xfrm>
            <a:off x="6172200" y="3840559"/>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[24] EmbodiedSplat, ICCV 2025 — arXiv:2509.17430</a:t>
            </a:r>
          </a:p>
        </p:txBody>
      </p:sp>
      <p:sp>
        <p:nvSpPr>
          <p:cNvPr id="28" name="TextBox 27"/>
          <p:cNvSpPr txBox="1"/>
          <p:nvPr/>
        </p:nvSpPr>
        <p:spPr>
          <a:xfrm>
            <a:off x="6172200" y="415042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[25] Rudin 외 — arXiv:2109.11978</a:t>
            </a:r>
          </a:p>
        </p:txBody>
      </p:sp>
      <p:sp>
        <p:nvSpPr>
          <p:cNvPr id="29" name="TextBox 28"/>
          <p:cNvSpPr txBox="1"/>
          <p:nvPr/>
        </p:nvSpPr>
        <p:spPr>
          <a:xfrm>
            <a:off x="6172200" y="446028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[26] Wheeled Lab, CoRL 2025 — arXiv:2502.07380</a:t>
            </a:r>
          </a:p>
        </p:txBody>
      </p:sp>
      <p:sp>
        <p:nvSpPr>
          <p:cNvPr id="30" name="TextBox 29"/>
          <p:cNvSpPr txBox="1"/>
          <p:nvPr/>
        </p:nvSpPr>
        <p:spPr>
          <a:xfrm>
            <a:off x="6172200" y="477014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[27] TIAGo Omni, CASE 2025 — arXiv:2510.10273</a:t>
            </a:r>
          </a:p>
        </p:txBody>
      </p:sp>
      <p:sp>
        <p:nvSpPr>
          <p:cNvPr id="31" name="TextBox 30"/>
          <p:cNvSpPr txBox="1"/>
          <p:nvPr/>
        </p:nvSpPr>
        <p:spPr>
          <a:xfrm>
            <a:off x="6172200" y="508000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[28] Sim2Dust — arXiv:2508.11503</a:t>
            </a:r>
          </a:p>
        </p:txBody>
      </p:sp>
      <p:sp>
        <p:nvSpPr>
          <p:cNvPr id="32" name="TextBox 31"/>
          <p:cNvSpPr txBox="1"/>
          <p:nvPr/>
        </p:nvSpPr>
        <p:spPr>
          <a:xfrm>
            <a:off x="6172200" y="538986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[29] Chrono::CRM — arXiv:2507.05643</a:t>
            </a:r>
          </a:p>
        </p:txBody>
      </p:sp>
      <p:sp>
        <p:nvSpPr>
          <p:cNvPr id="33" name="TextBox 32"/>
          <p:cNvSpPr txBox="1"/>
          <p:nvPr/>
        </p:nvSpPr>
        <p:spPr>
          <a:xfrm>
            <a:off x="6172200" y="569972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[30] Verti-WM — arXiv:2609.23118</a:t>
            </a:r>
          </a:p>
        </p:txBody>
      </p:sp>
      <p:sp>
        <p:nvSpPr>
          <p:cNvPr id="34" name="TextBox 33"/>
          <p:cNvSpPr txBox="1"/>
          <p:nvPr/>
        </p:nvSpPr>
        <p:spPr>
          <a:xfrm>
            <a:off x="6172200" y="6009580"/>
            <a:ext cx="5493258"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[31] Mahajan 외 — arXiv:2403.11000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챕터 발표 — 시뮬레이션</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