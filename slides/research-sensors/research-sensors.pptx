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원본 docs/research-sensors.md. 대시보드 리서치 탭의 '센서 배치' 문서를 장으로 옮겼다.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머리말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탭 '배치 비교'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H.1 다섯 가지 배치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H.1 다섯 가지 배치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H.2 센서별 장단점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탭 '가격·연산'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H.3 예상 가격 (2026-09 기준)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H.3 예상 가격 (2026-09 기준)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H.4 필요한 연산 성능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탭 '주기·지연'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docs/research-sensors.md · H.5 센서·지도·계획·제어 주기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lectrek.co/2024/10/16/serve-robotics-unveils-gen3-autonomous-delivery-robots-scale-across-us/" TargetMode="External"/><Relationship Id="rId4" Type="http://schemas.openxmlformats.org/officeDocument/2006/relationships/hyperlink" Target="https://ouster.com/insights/blog/os1-32-high-resolution-low-cost-lidar-sensor" TargetMode="External"/><Relationship Id="rId5" Type="http://schemas.openxmlformats.org/officeDocument/2006/relationships/hyperlink" Target="https://www.starship.xyz/faq/" TargetMode="External"/><Relationship Id="rId6" Type="http://schemas.openxmlformats.org/officeDocument/2006/relationships/hyperlink" Target="https://techcrunch.com/2023/03/28/neubility-plans-to-roll-out-400-lidar-free-delivery-and-security-robots-by-year-end/" TargetMode="External"/><Relationship Id="rId7" Type="http://schemas.openxmlformats.org/officeDocument/2006/relationships/hyperlink" Target="https://shop.unitree.com/products/unitree-4d-lidar-l2" TargetMode="External"/><Relationship Id="rId8" Type="http://schemas.openxmlformats.org/officeDocument/2006/relationships/hyperlink" Target="https://www.robosense.ai/en/IncrementalComponents/Airy" TargetMode="External"/><Relationship Id="rId9" Type="http://schemas.openxmlformats.org/officeDocument/2006/relationships/hyperlink" Target="https://www.hesaitech.com/product/jt128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livoxtech.com/mid-360/specs" TargetMode="External"/><Relationship Id="rId4" Type="http://schemas.openxmlformats.org/officeDocument/2006/relationships/hyperlink" Target="https://store.vertexunmanned.com/products/livox-mid-360" TargetMode="External"/><Relationship Id="rId5" Type="http://schemas.openxmlformats.org/officeDocument/2006/relationships/hyperlink" Target="https://shop.unitree.com/products/unitree-4d-lidar-l2" TargetMode="External"/><Relationship Id="rId6" Type="http://schemas.openxmlformats.org/officeDocument/2006/relationships/hyperlink" Target="https://ouster.com/insights/blog/os1-32-high-resolution-low-cost-lidar-sensor" TargetMode="External"/><Relationship Id="rId7" Type="http://schemas.openxmlformats.org/officeDocument/2006/relationships/hyperlink" Target="https://store.robosense.ai/products/airy" TargetMode="External"/><Relationship Id="rId8" Type="http://schemas.openxmlformats.org/officeDocument/2006/relationships/hyperlink" Target="https://www.hesaitech.com/product/jt128/" TargetMode="External"/><Relationship Id="rId9" Type="http://schemas.openxmlformats.org/officeDocument/2006/relationships/hyperlink" Target="https://www.stereolabs.com/store/products/zed-x-mini-stereo-camera" TargetMode="External"/><Relationship Id="rId10" Type="http://schemas.openxmlformats.org/officeDocument/2006/relationships/hyperlink" Target="https://www.stereolabs.com/store/collections/gmsl2-cameras" TargetMode="External"/><Relationship Id="rId11" Type="http://schemas.openxmlformats.org/officeDocument/2006/relationships/hyperlink" Target="https://leopardimaging.com/product-category/automotive-cameras/cameras-by-interface/adi-gmsl2-cameras/li-imx490-gmsl2/" TargetMode="External"/><Relationship Id="rId12" Type="http://schemas.openxmlformats.org/officeDocument/2006/relationships/hyperlink" Target="https://www.cnx-software.com/2026/07/22/nvidia-increases-the-price-of-jetson-modules-and-devkits-by-up-to-101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nvidia-isaac-ros.github.io/performance/index.html" TargetMode="External"/><Relationship Id="rId4" Type="http://schemas.openxmlformats.org/officeDocument/2006/relationships/hyperlink" Target="https://arxiv.org/html/2506.04359v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F59E5B"/>
                </a:solidFill>
                <a:latin typeface="Consolas"/>
                <a:ea typeface="Malgun Gothic"/>
                <a:cs typeface="Malgun Gothic"/>
              </a:rPr>
              <a:t>travplan 리서치 · 센서 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79500"/>
            <a:ext cx="109728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3050" b="1" i="0">
                <a:solidFill>
                  <a:srgbClr val="F4F1EA"/>
                </a:solidFill>
                <a:latin typeface="Arial"/>
                <a:ea typeface="Malgun Gothic"/>
                <a:cs typeface="Malgun Gothic"/>
              </a:rPr>
              <a:t>센서 배치 — 낮은 실외 배달로봇 (§H)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40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250" b="0" i="0">
                <a:solidFill>
                  <a:srgbClr val="C9D1E0"/>
                </a:solidFill>
                <a:latin typeface="Arial"/>
                <a:ea typeface="Malgun Gothic"/>
                <a:cs typeface="Malgun Gothic"/>
              </a:rPr>
              <a:t>센서 배치 문서 · 탭 3개</a:t>
            </a:r>
          </a:p>
          <a:p>
            <a:r>
              <a:rPr sz="1250" b="0" i="0">
                <a:solidFill>
                  <a:srgbClr val="C9D1E0"/>
                </a:solidFill>
                <a:latin typeface="Arial"/>
                <a:ea typeface="Malgun Gothic"/>
                <a:cs typeface="Malgun Gothic"/>
              </a:rPr>
              <a:t>배치 비교 · 가격·연산 · 주기·지연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9AA6BC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  <a:ea typeface="Malgun Gothic"/>
                <a:cs typeface="Malgun Gothic"/>
              </a:rPr>
              <a:t>센서 배치 ·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8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00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센서 배치 — 낮은 실외 배달로봇 (§H)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10972800" cy="64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배달로봇의 센서 배치는 "LiDAR를 어디에 몇 개, 카메라가 무엇을 맡는가"로 갈린다.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이 문서는 다섯 가지 배치를 비교하고, 2026-09 기준 센서·연산 장치 가격, 필요한 연산 성능, 센서·지도·계획·제어 주기를 정리한다. travplan의 권장 배치와 시뮬 근거는 </a:t>
            </a:r>
            <a:r>
              <a:rPr sz="1050" b="0" i="0">
                <a:solidFill>
                  <a:srgbClr val="16213A"/>
                </a:solidFill>
                <a:latin typeface="Consolas"/>
                <a:ea typeface="Malgun Gothic"/>
                <a:cs typeface="Malgun Gothic"/>
              </a:rPr>
              <a:t>docs/design-sensor-layout.md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(TP-0060)에 있다. 가격은 판매처와 시점에 따라 크게 달라지므로 출처를 함께 적었고, 공개 가격이 없는 제품은 "견적"으로 표시했다.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F59E5B"/>
                </a:solidFill>
                <a:latin typeface="Consolas"/>
                <a:ea typeface="Malgun Gothic"/>
                <a:cs typeface="Malgun Gothic"/>
              </a:rPr>
              <a:t>센서 배치 · 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650" b="1" i="0">
                <a:solidFill>
                  <a:srgbClr val="F4F1EA"/>
                </a:solidFill>
                <a:latin typeface="Arial"/>
                <a:ea typeface="Malgun Gothic"/>
                <a:cs typeface="Malgun Gothic"/>
              </a:rPr>
              <a:t>배치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9AA6BC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5283200" cy="5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59E5B"/>
                </a:solidFill>
                <a:latin typeface="Arial"/>
                <a:ea typeface="Malgun Gothic"/>
                <a:cs typeface="Malgun Gothic"/>
              </a:rPr>
              <a:t>H.1 다섯 가지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200" y="1244600"/>
            <a:ext cx="5283200" cy="5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59E5B"/>
                </a:solidFill>
                <a:latin typeface="Arial"/>
                <a:ea typeface="Malgun Gothic"/>
                <a:cs typeface="Malgun Gothic"/>
              </a:rPr>
              <a:t>H.2 센서별 장단점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  <a:ea typeface="Malgun Gothic"/>
                <a:cs typeface="Malgun Gothic"/>
              </a:rPr>
              <a:t>센서 배치 · 배치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8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00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H.1 다섯 가지 배치</a:t>
            </a: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 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10972800" cy="216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49995"/>
            <a:ext cx="10972800" cy="700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pPr>
              <a:spcBef>
                <a:spcPts val="200"/>
              </a:spcBef>
            </a:pP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• 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지금 구성(전면 LiDAR 1 + 카메라 5)은 </a:t>
            </a:r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가격 대비 좋고, 약점은 옆·뒤 지형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이다. 후면에 저가 반구형 LiDAR(약 400달러)를 더하면 가장 싸게 보강된다.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• 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연산은 </a:t>
            </a:r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카메라 5대 검출이 가장 무겁다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(AGX Orin GPU의 55–65%). AGX Orin 32GB 이상을 권한다. Jetson 가격은 2026-07에 최대 101% 올랐다.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• 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주기는 LiDAR·지도 10 Hz, Planner 5–10 Hz, Controller 10–20 Hz, 모듈 100 Hz 이상. </a:t>
            </a:r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센서에서 바퀴까지 300 ms 안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이면 탐지 거리 1.5 m에서 약 1.3 m/s.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339181"/>
            <a:ext cx="10160000" cy="2508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6000" y="4885531"/>
            <a:ext cx="10160000" cy="142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7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그림 — 다섯 가지 배치의 시야 개념도(파랑: LiDAR, 초록: 카메라). 출처: travplan scripts/make_doc_figures.py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116612"/>
            <a:ext cx="10972800" cy="43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결론부터: 사용자 구성(전면 LiDAR 1 + 카메라 5)은 가격 대비 지형 인식이 좋고, 약점은 옆·뒤 지형이다.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360° LiDAR는 그 약점이 없지만 센서값이 몇 배다. 카메라만 쓰는 배치는 가장 싸지만 음의 장애물과 거리 정확도를 학습 모델에 맡긴다.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  <a:ea typeface="Malgun Gothic"/>
                <a:cs typeface="Malgun Gothic"/>
              </a:rPr>
              <a:t>센서 배치 · 배치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8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00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H.1 다섯 가지 배치</a:t>
            </a: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 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5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244600"/>
          <a:ext cx="10966449" cy="118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493"/>
                <a:gridCol w="2053927"/>
                <a:gridCol w="1127621"/>
                <a:gridCol w="801886"/>
                <a:gridCol w="879177"/>
                <a:gridCol w="3334345"/>
              </a:tblGrid>
              <a:tr h="19708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배치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지형(근거리 / 원거리)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사람 360°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옆·뒤 지형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센서 가격대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대표 사례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A. 전면 LiDAR 1 + 카메라 5(전면 스테레오)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숙이면 좋음 / 좋음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카메라로 가능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기억뿐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낮음–중간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사용자 구성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B. 차체 위 360° LiDAR 1 + 스테레오·ToF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좋음 / 좋음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LiDAR + 카메라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좋음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Serve Gen3(Ouster REV7)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C. 카메라 중심(LiDAR 없음) + 초음파·레이더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학습 의존 / 약함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Starship(카메라 12), Neubility(멀티카메라 V-SLAM)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D. 저가 반구형 LiDAR 2(전·후) + 카메라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좋음 / 중간(30 m)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LiDAR + 카메라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좋음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낮음–중간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E. 반구형 LiDAR 1(차체 위) + 카메라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매우 좋음(사각 거의 없음) / 중간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LiDAR + 카메라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좋음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중간(견적)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AMR·휴머노이드용 신제품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2818011"/>
            <a:ext cx="10972800" cy="64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A. 전면 LiDAR 1 + 카메라 5.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전면 LiDAR를 숙이면 앞쪽 근거리와 음의 장애물을 잘 본다. 전면 카메라 두 대를 스테레오로 묶으면 LiDAR 근거리 사각을 메운다. 측면·후면 카메라는 사람을 360°로 보지만 거리는 단안 바닥 평면이라 부정확하다. 옆과 뒤의 지형은 기억뿐이어서, 스워브의 옆·뒤 이동을 제한해야 한다(설계 D5). L1 시뮬에서 15° 숙인 전면 120° 센서는 360° 센서와 비슷한 폐루프 성공률을 냈다(40/40, 37/40).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56397"/>
            <a:ext cx="10972800" cy="43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B. 차체 위 360° LiDAR.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Serve Robotics Gen3은 Ouster REV7 디지털 LiDAR, 스테레오·ToF 카메라, IMU, NVIDIA Jetson Orin을 싣는다 (</a:t>
            </a:r>
            <a:r>
              <a:rPr sz="1050" b="0" i="0">
                <a:solidFill>
                  <a:srgbClr val="1D4ED8"/>
                </a:solidFill>
                <a:latin typeface="Arial"/>
                <a:ea typeface="Malgun Gothic"/>
                <a:cs typeface="Malgun Gothic"/>
                <a:hlinkClick r:id="rId3"/>
              </a:rPr>
              <a:t>Electrek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). 360°를 한 번에 보므로 옆·뒤 이동이 자유롭다. 대신 센서가 비싸고(Ouster 32채널은 6,000달러부터, </a:t>
            </a:r>
            <a:r>
              <a:rPr sz="1050" b="0" i="0">
                <a:solidFill>
                  <a:srgbClr val="1D4ED8"/>
                </a:solidFill>
                <a:latin typeface="Arial"/>
                <a:ea typeface="Malgun Gothic"/>
                <a:cs typeface="Malgun Gothic"/>
                <a:hlinkClick r:id="rId4"/>
              </a:rPr>
              <a:t>Ouster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), 차체 위로 솟아 디자인과 파손 위험을 감수해야 한다. 차체 위 높이 덕분에 사각과 그림자가 작다.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78288"/>
            <a:ext cx="10972800" cy="43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C. 카메라 중심.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Starship은 카메라 12대(ToF 포함), 초음파, 레이더로 장애물을 본다(</a:t>
            </a:r>
            <a:r>
              <a:rPr sz="1050" b="0" i="0">
                <a:solidFill>
                  <a:srgbClr val="1D4ED8"/>
                </a:solidFill>
                <a:latin typeface="Arial"/>
                <a:ea typeface="Malgun Gothic"/>
                <a:cs typeface="Malgun Gothic"/>
                <a:hlinkClick r:id="rId5"/>
              </a:rPr>
              <a:t>Starship FAQ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). Neubility는 LiDAR 없이 멀티카메라 visual SLAM으로 위치를 잡는다(</a:t>
            </a:r>
            <a:r>
              <a:rPr sz="1050" b="0" i="0">
                <a:solidFill>
                  <a:srgbClr val="1D4ED8"/>
                </a:solidFill>
                <a:latin typeface="Arial"/>
                <a:ea typeface="Malgun Gothic"/>
                <a:cs typeface="Malgun Gothic"/>
                <a:hlinkClick r:id="rId6"/>
              </a:rPr>
              <a:t>TechCrunch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). 센서가 싸고 차체에 숨기기 쉽다. 대신 거리와 음의 장애물을 학습 모델과 대량의 주행 데이터에 기댄다. 역광·야간·비에 약하고, 검증에 긴 시간이 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600178"/>
            <a:ext cx="10972800" cy="43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D. 저가 반구형 LiDAR 두 대.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Unitree L2는 360° × 96° 시야, 30 m, 초당 64,000점에 419달러다(</a:t>
            </a:r>
            <a:r>
              <a:rPr sz="1050" b="0" i="0">
                <a:solidFill>
                  <a:srgbClr val="1D4ED8"/>
                </a:solidFill>
                <a:latin typeface="Arial"/>
                <a:ea typeface="Malgun Gothic"/>
                <a:cs typeface="Malgun Gothic"/>
                <a:hlinkClick r:id="rId7"/>
              </a:rPr>
              <a:t>Unitree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). 전·후에 하나씩 달면 A의 옆·뒤 약점이 사라진다. 점이 성겨서 먼 곳의 사람과 작은 턱은 약하므로 카메라가 보완한다.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22069"/>
            <a:ext cx="10972800" cy="43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E. 반구형 LiDAR 한 대.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RoboSense Airy(360° × 90°, 96/192채널, 초당 86만/172만 점, 8 W 이하, </a:t>
            </a:r>
            <a:r>
              <a:rPr sz="1050" b="0" i="0">
                <a:solidFill>
                  <a:srgbClr val="1D4ED8"/>
                </a:solidFill>
                <a:latin typeface="Arial"/>
                <a:ea typeface="Malgun Gothic"/>
                <a:cs typeface="Malgun Gothic"/>
                <a:hlinkClick r:id="rId8"/>
              </a:rPr>
              <a:t>RoboSense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)와 Hesai JT128(360° × 189°, 128채널, 60 m, </a:t>
            </a:r>
            <a:r>
              <a:rPr sz="1050" b="0" i="0">
                <a:solidFill>
                  <a:srgbClr val="1D4ED8"/>
                </a:solidFill>
                <a:latin typeface="Arial"/>
                <a:ea typeface="Malgun Gothic"/>
                <a:cs typeface="Malgun Gothic"/>
                <a:hlinkClick r:id="rId9"/>
              </a:rPr>
              <a:t>Hesai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)은 아래쪽까지 한 번에 봐서 근거리 사각이 거의 없다. 차체 위 중앙에 달면 A와 B의 장점을 합친다. 가격은 공개되지 않아 견적이 필요하다.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643959"/>
            <a:ext cx="10972800" cy="43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travplan에 주는 의미.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050" b="1" i="0">
                <a:solidFill>
                  <a:srgbClr val="C2410C"/>
                </a:solidFill>
                <a:latin typeface="Arial"/>
                <a:ea typeface="Malgun Gothic"/>
                <a:cs typeface="Malgun Gothic"/>
              </a:rPr>
              <a:t>사용자 구성(A)은 유지하되, 옆·뒤 이동이 잦으면 후면에 저가 반구형 LiDAR 하나를 더하는 것(A + D)이 가장 싼 보강이다.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L2급 한 대(약 400달러)면 옆·뒤 지형이 "기억"에서 "관측"으로 바뀐다. 예산이 허락하면 전면 LiDAR를 반구형(E)으로 바꿔 숙이지 않고도 근거리를 본다.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  <a:ea typeface="Malgun Gothic"/>
                <a:cs typeface="Malgun Gothic"/>
              </a:rPr>
              <a:t>센서 배치 · 배치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8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00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H.2 센서별 장단점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6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244600"/>
          <a:ext cx="10966450" cy="157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780"/>
                <a:gridCol w="2517973"/>
                <a:gridCol w="3430191"/>
                <a:gridCol w="2272506"/>
              </a:tblGrid>
              <a:tr h="19708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센서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장점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단점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배달로봇에서의 역할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회전식·반구형 LiDAR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거리가 정확, 조명 무관, 360°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비싸다(회전식), 점이 성김(저가), 비·먼지 반사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지형 기하, 사람 거리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비반복 스캔 LiDAR(Livox Mid-360 등)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싸고 작다, 시간이 지나면 조밀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아래쪽 시야가 좁아(−7°) 숙여 달아야 한다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지형 기하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스테레오 카메라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싸다, 조밀한 깊이와 영상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거리 제곱에 비례하는 오차, 무늬 없는 면·야간 약함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근거리 지형, 사람 검출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단안 카메라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가장 싸다, 의미 정보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거리를 모른다(바닥 평면 가정), 자세 오차에 민감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측면·후면 사람 검출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ToF 카메라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근거리 깊이가 정확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햇빛에 약하다, 거리가 짧다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도킹, 근접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초음파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아주 싸다, 유리·투명체 감지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해상도가 없다, 거리 짧다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근접 안전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레이더(4D 포함)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비·안개·먼지에 강함, 속도 직접 측정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해상도가 낮다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악천후 보조, 움직이는 물체 속도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F59E5B"/>
                </a:solidFill>
                <a:latin typeface="Consolas"/>
                <a:ea typeface="Malgun Gothic"/>
                <a:cs typeface="Malgun Gothic"/>
              </a:rPr>
              <a:t>센서 배치 · 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650" b="1" i="0">
                <a:solidFill>
                  <a:srgbClr val="F4F1EA"/>
                </a:solidFill>
                <a:latin typeface="Arial"/>
                <a:ea typeface="Malgun Gothic"/>
                <a:cs typeface="Malgun Gothic"/>
              </a:rPr>
              <a:t>가격·연산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9AA6BC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5283200" cy="5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59E5B"/>
                </a:solidFill>
                <a:latin typeface="Arial"/>
                <a:ea typeface="Malgun Gothic"/>
                <a:cs typeface="Malgun Gothic"/>
              </a:rPr>
              <a:t>H.3 예상 가격 (2026-09 기준)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200" y="1244600"/>
            <a:ext cx="5283200" cy="5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59E5B"/>
                </a:solidFill>
                <a:latin typeface="Arial"/>
                <a:ea typeface="Malgun Gothic"/>
                <a:cs typeface="Malgun Gothic"/>
              </a:rPr>
              <a:t>H.4 필요한 연산 성능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  <a:ea typeface="Malgun Gothic"/>
                <a:cs typeface="Malgun Gothic"/>
              </a:rPr>
              <a:t>센서 배치 · 가격·연산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8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00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H.3 예상 가격 (2026-09 기준)</a:t>
            </a: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 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10972800" cy="216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가격은 판매처와 시점에 따라 두 배 가까이 차이 난다. 특히 NVIDIA Jetson은 2026-07에 최대 101% 올랐다.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아래는 공개 가격이고, 양산 수량 가격은 별도 견적이다.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549995"/>
          <a:ext cx="10966450" cy="236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9238"/>
                <a:gridCol w="4035723"/>
                <a:gridCol w="2071489"/>
              </a:tblGrid>
              <a:tr h="19708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품목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가격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출처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Livox Mid-360(360° × 59°, 10 Hz, 초당 20만 점)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소매 약 480–1,350달러(판매처별)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3"/>
                        </a:rPr>
                        <a:t>Livox 사양</a:t>
                      </a:r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4"/>
                        </a:rPr>
                        <a:t>Vertex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Unitree 4D LiDAR L2(360° × 96°, 30 m)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419달러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5"/>
                        </a:rPr>
                        <a:t>Unitree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Ouster OS1-32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6,000달러부터(출시 당시)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6"/>
                        </a:rPr>
                        <a:t>Ouster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RoboSense Airy, Hesai JT128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견적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7"/>
                        </a:rPr>
                        <a:t>RoboSense</a:t>
                      </a:r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8"/>
                        </a:rPr>
                        <a:t>Hesai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Stereolabs ZED X Mini(GMSL2 스테레오)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549달러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9"/>
                        </a:rPr>
                        <a:t>Stereolabs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Stereolabs ZED X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599달러부터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10"/>
                        </a:rPr>
                        <a:t>Stereolabs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GMSL2 차량용 카메라(IMX490, 120 dB HDR 등)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견적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11"/>
                        </a:rPr>
                        <a:t>Leopard Imaging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Jetson AGX Orin 64GB 모듈 / 32GB 모듈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2,999 / 1,799달러(인상 전 1,599 / 899)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12"/>
                        </a:rPr>
                        <a:t>CNX Software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Jetson AGX Orin 개발 키트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3,499달러(인상 전 1,999)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Jetson Orin NX 16GB 모듈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999달러(인상 전 599)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Jetson T4000 / T5000(Thor) 모듈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2,999 / 4,999달러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601567"/>
            <a:ext cx="10972800" cy="216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배치별 센서 + 연산 예산(대략).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카메라 한 대를 200–600달러로 보면 다음과 같다.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4906962"/>
          <a:ext cx="10966450" cy="98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2373"/>
                <a:gridCol w="1907977"/>
                <a:gridCol w="3606800"/>
                <a:gridCol w="2019300"/>
              </a:tblGrid>
              <a:tr h="19708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배치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센서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연산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A. 전면 Mid-360 + 스테레오 1 + 카메라 3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1,600–3,700달러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AGX Orin 32GB 1,799달러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3,400–5,500달러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A + D. 위 + 후면 L2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2,000–4,100달러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3,800–5,900달러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B. Ouster 32채널 + 스테레오 + 카메라 3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7,100–8,300달러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8,900–10,100달러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C. 카메라 10대 이상 + 초음파·레이더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2,000–6,000달러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AGX Orin 64GB 2,999달러(학습 모델 부하)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5,000–9,000달러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  <a:ea typeface="Malgun Gothic"/>
                <a:cs typeface="Malgun Gothic"/>
              </a:rPr>
              <a:t>센서 배치 · 가격·연산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8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00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H.3 예상 가격 (2026-09 기준)</a:t>
            </a: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 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10972800" cy="216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합계에는 배선, 캐리어 보드, 보정 장비, 방수 하우징이 빠져 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  <a:ea typeface="Malgun Gothic"/>
                <a:cs typeface="Malgun Gothic"/>
              </a:rPr>
              <a:t>센서 배치 · 가격·연산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8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00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H.4 필요한 연산 성능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10972800" cy="216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카메라 다섯 대의 검출이 가장 큰 부하이고, AGX Orin급이 필요하다.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Isaac ROS 공식 벤치마크(Jetson AGX Orin)와 travplan 실측을 합쳤다.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549995"/>
          <a:ext cx="10966451" cy="177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701"/>
                <a:gridCol w="1136154"/>
                <a:gridCol w="2844701"/>
                <a:gridCol w="1690688"/>
                <a:gridCol w="1815207"/>
              </a:tblGrid>
              <a:tr h="19708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주기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한 번 시간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연산 점유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사람 검출 RT-DETR(720p) × 카메라 5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 Hz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13 ms(87 fps)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GPU 약 55–65%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3"/>
                        </a:rPr>
                        <a:t>Isaac ROS 성능표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스테레오 시차(1080p)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15–30 Hz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8.6 ms(124 fps)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GPU 약 15–25%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학습 스테레오 ESS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15 Hz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약 12 ms(85 fps)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GPU 약 20%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3"/>
                        </a:rPr>
                        <a:t>Isaac ROS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Visual SLAM(cuVSLAM, mono-depth)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30 Hz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15.1 ms(Orin)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CPU·GPU 일부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D4ED8"/>
                          </a:solidFill>
                          <a:latin typeface="Arial"/>
                          <a:ea typeface="Malgun Gothic"/>
                          <a:cs typeface="Malgun Gothic"/>
                          <a:hlinkClick r:id="rId4"/>
                        </a:rPr>
                        <a:t>cuVSLAM 논문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elevation mapping(점군 → 높이 지도)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 Hz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22 ms(RTX 5080, Orin 미측정)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GPU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travplan TP-0053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TravMap 특징·비용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 Hz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수 ms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GPU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travplan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Planner D(flow matching, 후보 16)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5–10 Hz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3.4–5 ms(데스크톱 CPU)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CPU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travplan TP-0025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MPPI Controller(샘플 768)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10–20 Hz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8–11 ms(데스크톱 CPU)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CPU·GPU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travplan 벤치마크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3862487"/>
            <a:ext cx="10972800" cy="1158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pPr>
              <a:spcBef>
                <a:spcPts val="200"/>
              </a:spcBef>
            </a:pP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• </a:t>
            </a:r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AGX Orin 32GB 이상을 권한다.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검출 5대만으로 GPU의 절반을 넘으므로, Orin NX 16GB(AI 연산 100 TOPS, AGX Orin 64GB 275 TOPS의 약 1/3)는 검출 주기나 해상도를 낮춰야 한다. 검출을 카메라마다 번갈아 돌리거나(5 Hz), 측면·후면은 저해상도로 돌리면 NX도 가능하다.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• </a:t>
            </a:r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학습 Planner나 VLA를 올리려면 Thor급이다.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Joint Planner(TP-0049)는 CPU에서 180 ms였다.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• </a:t>
            </a:r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카메라 인터페이스.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USB 카메라 다섯 대는 대역폭과 케이블 신뢰성이 문제다. GMSL2 카메라와 역직렬화 캐리어 보드를 권한다.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• </a:t>
            </a:r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Orin에서 elevation mapping 시간은 아직 모른다.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실측이 필요하다(TP-0053의 매퍼를 Orin에서 돌린다).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F59E5B"/>
                </a:solidFill>
                <a:latin typeface="Consolas"/>
                <a:ea typeface="Malgun Gothic"/>
                <a:cs typeface="Malgun Gothic"/>
              </a:rPr>
              <a:t>센서 배치 · 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650" b="1" i="0">
                <a:solidFill>
                  <a:srgbClr val="F4F1EA"/>
                </a:solidFill>
                <a:latin typeface="Arial"/>
                <a:ea typeface="Malgun Gothic"/>
                <a:cs typeface="Malgun Gothic"/>
              </a:rPr>
              <a:t>주기·지연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9AA6BC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5283200" cy="5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59E5B"/>
                </a:solidFill>
                <a:latin typeface="Arial"/>
                <a:ea typeface="Malgun Gothic"/>
                <a:cs typeface="Malgun Gothic"/>
              </a:rPr>
              <a:t>H.5 센서·지도·계획·제어 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200" y="1244600"/>
            <a:ext cx="5283200" cy="5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30200"/>
            <a:ext cx="10972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  <a:ea typeface="Malgun Gothic"/>
                <a:cs typeface="Malgun Gothic"/>
              </a:rPr>
              <a:t>센서 배치 · 주기·지연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8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200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H.5 센서·지도·계획·제어 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650" b="0" i="0">
                <a:solidFill>
                  <a:srgbClr val="5A6478"/>
                </a:solidFill>
                <a:latin typeface="Arial"/>
                <a:ea typeface="Malgun Gothic"/>
                <a:cs typeface="Malgun Gothic"/>
              </a:rPr>
              <a:t>travplan 리서치 · 센서 배치 (docs/research-sensors.md)   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4600"/>
            <a:ext cx="10972800" cy="216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제어는 10–20 Hz, 계획은 5–10 Hz, 지도는 센서 주기(10 Hz)를 따른다. 전체 지연(센서에서 바퀴까지)은 300 ms 안에 둔다.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이 지연이 설계 D6의 속도 제한식에 들어간다.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549995"/>
          <a:ext cx="10966450" cy="216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760"/>
                <a:gridCol w="2758678"/>
                <a:gridCol w="4888012"/>
              </a:tblGrid>
              <a:tr h="19708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층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권장 주기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4F1E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63500" marR="63500" marT="12700" marB="12700">
                    <a:solidFill>
                      <a:srgbClr val="16213A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LiDAR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 Hz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Mid-360 기본 10 Hz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15–30 fps(검출은 10 Hz)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검출 부하(H.4)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IMU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200 Hz 이상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자세 보정, 카메라 바닥 평면 거리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휠 오도메트리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50–100 Hz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상태 추정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elevation mapping, TravMap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 Hz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LiDAR 주기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사람 추적(칼만)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10–30 Hz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검출 주기, 예측으로 사이를 메움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Planner(Guidance, Planner D)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5–10 Hz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4초 궤적, 재계획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Controller(MPPI)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10–20 Hz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travplan 시뮬 10 Hz(dt 0.1 s), Nav2 기본 20 Hz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스워브 모듈 제어(조향·바퀴 속도)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100 Hz 이상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모터 드라이버, ros2_control</a:t>
                      </a:r>
                    </a:p>
                  </a:txBody>
                  <a:tcPr marL="63500" marR="63500" marT="12700" marB="12700">
                    <a:solidFill>
                      <a:srgbClr val="FFFDF8"/>
                    </a:solidFill>
                  </a:tcPr>
                </a:tc>
              </a:tr>
              <a:tr h="197088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비상 정지(범퍼, 근접 초음파)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하드웨어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16213A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소프트웨어 지연과 무관하게 멈춘다</a:t>
                      </a:r>
                    </a:p>
                  </a:txBody>
                  <a:tcPr marL="63500" marR="63500" marT="12700" marB="12700"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355207"/>
            <a:ext cx="10972800" cy="43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지연 예산.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센서 도착에서 지도 갱신까지 약 100 ms, 계획 50 ms, 제어 한 주기 50–100 ms를 더하면 약 300 ms다. 설계 D6의 식 </a:t>
            </a:r>
            <a:r>
              <a:rPr sz="1050" b="0" i="1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v t + v² / (2a) + m ≤ d_(det)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에서 </a:t>
            </a:r>
            <a:r>
              <a:rPr sz="1050" b="0" i="1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= 0.3 s로 두면, 음의 장애물 탐지 거리 1.5 m에서 최고 속도는 약 1.3 m/s다. 지연이 0.5 s로 늘면 같은 거리에서 약 1.1 m/s로 내려간다.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877098"/>
            <a:ext cx="10972800" cy="43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시간 동기화.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센서 여섯 개(LiDAR 1, 카메라 5)와 IMU를 PTP나 하드웨어 트리거로 맞춘다. 1 m/s로 움직일 때 50 ms 어긋나면 5 cm가 틀리고, 회전 중이면 먼 곳일수록 더 틀린다. 스테레오 두 대는 반드시 같은 트리거로 찍는다.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398988"/>
            <a:ext cx="10972800" cy="216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rmAutofit/>
          </a:bodyPr>
          <a:lstStyle/>
          <a:p>
            <a:r>
              <a:rPr sz="1050" b="1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travplan 시뮬과의 차이.</a:t>
            </a:r>
            <a:r>
              <a:rPr sz="1050" b="0" i="0">
                <a:solidFill>
                  <a:srgbClr val="16213A"/>
                </a:solidFill>
                <a:latin typeface="Arial"/>
                <a:ea typeface="Malgun Gothic"/>
                <a:cs typeface="Malgun Gothic"/>
              </a:rPr>
              <a:t> 운동학 시뮬은 모든 층이 10 Hz(dt 0.1 s)로 같은 순간에 돌고 지연이 없다. 지연·위치 잡음 무작위화(TP-0032)를 켜면 위 지연 예산을 시뮬에서 시험할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travplan 리서치 — 센서 배치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