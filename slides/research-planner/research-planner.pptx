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 · 토글 '자세히: 절 번호로 탭 찾기(표 14행)'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13행)'</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ros-navigation/navigation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OpenDriveLab/UniAD"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hustvl/DiffusionDrive" TargetMode="External"/><Relationship Id="rId6" Type="http://schemas.openxmlformats.org/officeDocument/2006/relationships/hyperlink" Target="https://github.com/hustvl/VAD" TargetMode="External"/><Relationship Id="rId7" Type="http://schemas.openxmlformats.org/officeDocument/2006/relationships/hyperlink" Target="https://github.com/rst-tu-dortmund/teb_local_planner" TargetMode="External"/><Relationship Id="rId8" Type="http://schemas.openxmlformats.org/officeDocument/2006/relationships/hyperlink" Target="https://github.com/robodhruv/visualnav-transformer" TargetMode="External"/><Relationship Id="rId9" Type="http://schemas.openxmlformats.org/officeDocument/2006/relationships/hyperlink" Target="https://github.com/jannerm/diffuser" TargetMode="External"/><Relationship Id="rId10" Type="http://schemas.openxmlformats.org/officeDocument/2006/relationships/hyperlink" Target="https://github.com/InternRobotics/InternNav" TargetMode="External"/><Relationship Id="rId11" Type="http://schemas.openxmlformats.org/officeDocument/2006/relationships/hyperlink" Target="https://github.com/autonomousvision/navsim" TargetMode="External"/><Relationship Id="rId12" Type="http://schemas.openxmlformats.org/officeDocument/2006/relationships/hyperlink" Target="https://github.com/ZhengYinan-AIR/Diffusion-Planner" TargetMode="External"/><Relationship Id="rId13" Type="http://schemas.openxmlformats.org/officeDocument/2006/relationships/hyperlink" Target="https://github.com/swc-17/SparseDrive" TargetMode="External"/><Relationship Id="rId14" Type="http://schemas.openxmlformats.org/officeDocument/2006/relationships/hyperlink" Target="https://github.com/AnjieCheng/NaVILA" TargetMode="External"/><Relationship Id="rId15" Type="http://schemas.openxmlformats.org/officeDocument/2006/relationships/hyperlink" Target="https://github.com/leggedrobotics/viplanner" TargetMode="External"/><Relationship Id="rId16" Type="http://schemas.openxmlformats.org/officeDocument/2006/relationships/hyperlink" Target="https://github.com/YvanYin/GoalFlow" TargetMode="External"/><Relationship Id="rId17" Type="http://schemas.openxmlformats.org/officeDocument/2006/relationships/hyperlink" Target="https://github.com/NVlabs/Hydra-MDP" TargetMode="External"/><Relationship Id="rId18" Type="http://schemas.openxmlformats.org/officeDocument/2006/relationships/hyperlink" Target="https://github.com/leggedrobotics/iPlanner" TargetMode="External"/><Relationship Id="rId19" Type="http://schemas.openxmlformats.org/officeDocument/2006/relationships/hyperlink" Target="https://github.com/jzhzhang/Uni-NaVid" TargetMode="External"/><Relationship Id="rId20" Type="http://schemas.openxmlformats.org/officeDocument/2006/relationships/hyperlink" Target="https://github.com/joaoamcarvalho/mpd-publi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ai4ce/CityWalk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506.21853"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jpg"/><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3.1286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3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42.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3.pn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8.jpg"/><Relationship Id="rId4" Type="http://schemas.openxmlformats.org/officeDocument/2006/relationships/image" Target="../media/image49.jpg"/><Relationship Id="rId5" Type="http://schemas.openxmlformats.org/officeDocument/2006/relationships/image" Target="../media/image50.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1.jpg"/><Relationship Id="rId4" Type="http://schemas.openxmlformats.org/officeDocument/2006/relationships/image" Target="../media/image52.jpg"/><Relationship Id="rId5" Type="http://schemas.openxmlformats.org/officeDocument/2006/relationships/image" Target="../media/image5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4.png"/><Relationship Id="rId4"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4.png"/><Relationship Id="rId4" Type="http://schemas.openxmlformats.org/officeDocument/2006/relationships/image" Target="../media/image6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6.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78.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79.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0.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8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2.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83.jpg"/><Relationship Id="rId4" Type="http://schemas.openxmlformats.org/officeDocument/2006/relationships/image" Target="../media/image84.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603.25937"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87.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407.07775"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88.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603.22527"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89.jpg"/><Relationship Id="rId4" Type="http://schemas.openxmlformats.org/officeDocument/2006/relationships/hyperlink" Target="https://arxiv.org/abs/2606.20458"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90.jpg"/><Relationship Id="rId4" Type="http://schemas.openxmlformats.org/officeDocument/2006/relationships/image" Target="../media/image91.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505.05592"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92.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93.png"/><Relationship Id="rId4" Type="http://schemas.openxmlformats.org/officeDocument/2006/relationships/image" Target="../media/image9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5.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96.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7.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98.png"/><Relationship Id="rId4" Type="http://schemas.openxmlformats.org/officeDocument/2006/relationships/image" Target="../media/image9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100.jpg"/><Relationship Id="rId4" Type="http://schemas.openxmlformats.org/officeDocument/2006/relationships/hyperlink" Target="https://www.youtube.com/watch?v=l_YT4iP0W8Q"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01.png"/><Relationship Id="rId4" Type="http://schemas.openxmlformats.org/officeDocument/2006/relationships/image" Target="../media/image10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3.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arxiv.org/abs/2608.11175"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08.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602.07932"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2.jpg"/><Relationship Id="rId4" Type="http://schemas.openxmlformats.org/officeDocument/2006/relationships/image" Target="../media/image113.jpg"/><Relationship Id="rId5" Type="http://schemas.openxmlformats.org/officeDocument/2006/relationships/hyperlink" Target="https://arxiv.org/abs/2609.39105"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4.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1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image" Target="../media/image116.jp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17.png"/><Relationship Id="rId4" Type="http://schemas.openxmlformats.org/officeDocument/2006/relationships/image" Target="../media/image11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19.jpg"/><Relationship Id="rId8" Type="http://schemas.openxmlformats.org/officeDocument/2006/relationships/image" Target="../media/image120.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hyperlink" Target="https://github.com/autonomousvision/plant" TargetMode="Externa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121.png"/><Relationship Id="rId4" Type="http://schemas.openxmlformats.org/officeDocument/2006/relationships/hyperlink" Target="https://github.com/jchengai/planTF"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122.jpg"/><Relationship Id="rId4" Type="http://schemas.openxmlformats.org/officeDocument/2006/relationships/hyperlink" Target="https://github.com/jchengai/pluto"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123.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2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hyperlink" Target="https://github.com/autonomousvision/CaRL" TargetMode="External"/><Relationship Id="rId4" Type="http://schemas.openxmlformats.org/officeDocument/2006/relationships/image" Target="../media/image12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26.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image" Target="../media/image127.jp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28.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29.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130.jp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4.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hyperlink" Target="https://arxiv.org/abs/1812.03079"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image" Target="../media/image135.jp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136.png"/><Relationship Id="rId4" Type="http://schemas.openxmlformats.org/officeDocument/2006/relationships/image" Target="../media/image137.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38.jp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image" Target="../media/image142.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3.png"/><Relationship Id="rId4" Type="http://schemas.openxmlformats.org/officeDocument/2006/relationships/image" Target="../media/image144.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5.jp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github.com/dfl-rlab/dddmr_navigation" TargetMode="Externa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image" Target="../media/image146.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image" Target="../media/image147.png"/><Relationship Id="rId4" Type="http://schemas.openxmlformats.org/officeDocument/2006/relationships/image" Target="../media/image148.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49.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image" Target="../media/image15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4.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image" Target="../media/image155.png"/><Relationship Id="rId4" Type="http://schemas.openxmlformats.org/officeDocument/2006/relationships/image" Target="../media/image156.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57.jp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58.png"/><Relationship Id="rId4" Type="http://schemas.openxmlformats.org/officeDocument/2006/relationships/image" Target="../media/image159.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60.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image" Target="../media/image161.jp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62.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image" Target="../media/image163.png"/><Relationship Id="rId4" Type="http://schemas.openxmlformats.org/officeDocument/2006/relationships/image" Target="../media/image164.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arxiv.org/abs/1901.08652"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65.jpg"/><Relationship Id="rId4" Type="http://schemas.openxmlformats.org/officeDocument/2006/relationships/image" Target="../media/image166.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67.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68.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69.jpg"/><Relationship Id="rId4" Type="http://schemas.openxmlformats.org/officeDocument/2006/relationships/image" Target="../media/image170.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image" Target="../media/image171.png"/><Relationship Id="rId4" Type="http://schemas.openxmlformats.org/officeDocument/2006/relationships/image" Target="../media/image172.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201.08117"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3.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74.jpg"/><Relationship Id="rId4" Type="http://schemas.openxmlformats.org/officeDocument/2006/relationships/image" Target="../media/image175.jp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hyperlink" Target="https://arxiv.org/abs/2206.14049" TargetMode="Externa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76.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77.jp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78.jp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79.jp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182.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83.jpg"/><Relationship Id="rId4" Type="http://schemas.openxmlformats.org/officeDocument/2006/relationships/image" Target="../media/image184.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85.png"/><Relationship Id="rId4" Type="http://schemas.openxmlformats.org/officeDocument/2006/relationships/image" Target="../media/image186.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187.jpg"/><Relationship Id="rId4" Type="http://schemas.openxmlformats.org/officeDocument/2006/relationships/image" Target="../media/image188.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89.png"/><Relationship Id="rId4" Type="http://schemas.openxmlformats.org/officeDocument/2006/relationships/image" Target="../media/image190.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1.jp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192.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193.jpg"/><Relationship Id="rId4" Type="http://schemas.openxmlformats.org/officeDocument/2006/relationships/image" Target="../media/image194.jp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image" Target="../media/image197.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98.jpg"/><Relationship Id="rId4" Type="http://schemas.openxmlformats.org/officeDocument/2006/relationships/image" Target="../media/image199.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image" Target="../media/image200.png"/><Relationship Id="rId4" Type="http://schemas.openxmlformats.org/officeDocument/2006/relationships/image" Target="../media/image201.png"/><Relationship Id="rId5" Type="http://schemas.openxmlformats.org/officeDocument/2006/relationships/image" Target="../media/image202.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03.jpg"/><Relationship Id="rId4" Type="http://schemas.openxmlformats.org/officeDocument/2006/relationships/image" Target="../media/image204.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image" Target="../media/image205.png"/><Relationship Id="rId4" Type="http://schemas.openxmlformats.org/officeDocument/2006/relationships/image" Target="../media/image206.png"/><Relationship Id="rId5" Type="http://schemas.openxmlformats.org/officeDocument/2006/relationships/image" Target="../media/image207.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208.jp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209.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 Id="rId3" Type="http://schemas.openxmlformats.org/officeDocument/2006/relationships/image" Target="../media/image210.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1.jpg"/><Relationship Id="rId4" Type="http://schemas.openxmlformats.org/officeDocument/2006/relationships/image" Target="../media/image212.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image" Target="../media/image213.jp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214.jpg"/><Relationship Id="rId4" Type="http://schemas.openxmlformats.org/officeDocument/2006/relationships/image" Target="../media/image215.jp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image" Target="../media/image216.jp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image" Target="../media/image217.jp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image" Target="../media/image218.jpg"/><Relationship Id="rId4" Type="http://schemas.openxmlformats.org/officeDocument/2006/relationships/image" Target="../media/image219.jp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20.png"/><Relationship Id="rId4" Type="http://schemas.openxmlformats.org/officeDocument/2006/relationships/image" Target="../media/image221.png"/><Relationship Id="rId5" Type="http://schemas.openxmlformats.org/officeDocument/2006/relationships/image" Target="../media/image2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223.jp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image" Target="../media/image224.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25.jp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image" Target="../media/image226.jpg"/><Relationship Id="rId4" Type="http://schemas.openxmlformats.org/officeDocument/2006/relationships/image" Target="../media/image227.jp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28.png"/><Relationship Id="rId4" Type="http://schemas.openxmlformats.org/officeDocument/2006/relationships/image" Target="../media/image229.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30.jp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31.jp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32.jp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33.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34.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35.jpg"/><Relationship Id="rId4" Type="http://schemas.openxmlformats.org/officeDocument/2006/relationships/image" Target="../media/image236.jp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39.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40.jp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hyperlink" Target="https://arxiv.org/abs/1907.03613" TargetMode="Externa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41.jp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hyperlink" Target="https://arxiv.org/abs/2002.08550" TargetMode="Externa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42.jp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43.jpg"/><Relationship Id="rId4" Type="http://schemas.openxmlformats.org/officeDocument/2006/relationships/image" Target="../media/image244.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45.png"/><Relationship Id="rId4" Type="http://schemas.openxmlformats.org/officeDocument/2006/relationships/image" Target="../media/image246.png"/><Relationship Id="rId5" Type="http://schemas.openxmlformats.org/officeDocument/2006/relationships/image" Target="../media/image247.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8.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image" Target="../media/image249.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50.jpg"/><Relationship Id="rId4" Type="http://schemas.openxmlformats.org/officeDocument/2006/relationships/hyperlink" Target="https://arxiv.org/abs/2206.13631" TargetMode="Externa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51.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2.jpg"/><Relationship Id="rId4" Type="http://schemas.openxmlformats.org/officeDocument/2006/relationships/image" Target="../media/image253.jp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4.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5.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56.jpg"/><Relationship Id="rId4" Type="http://schemas.openxmlformats.org/officeDocument/2006/relationships/image" Target="../media/image257.jp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8.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9.jp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0.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1.jp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image" Target="../media/image262.jp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hyperlink" Target="https://flexion.ai/news/flexion-reflect-v1.0" TargetMode="Externa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hyperlink" Target="https://www.wired.com/story/this-robot-is-going-to-replace-your-interns-flexion/" TargetMode="Externa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65.jp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66.jpg"/><Relationship Id="rId4" Type="http://schemas.openxmlformats.org/officeDocument/2006/relationships/image" Target="../media/image267.jp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68.png"/><Relationship Id="rId4" Type="http://schemas.openxmlformats.org/officeDocument/2006/relationships/image" Target="../media/image269.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0.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71.jp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72.jp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3.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74.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image" Target="../media/image275.jp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76.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image" Target="../media/image277.jpg"/></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78.png"/><Relationship Id="rId4" Type="http://schemas.openxmlformats.org/officeDocument/2006/relationships/image" Target="../media/image279.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280.jpg"/><Relationship Id="rId4" Type="http://schemas.openxmlformats.org/officeDocument/2006/relationships/image" Target="../media/image281.jp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2.png"/><Relationship Id="rId4" Type="http://schemas.openxmlformats.org/officeDocument/2006/relationships/image" Target="../media/image283.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284.jp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image" Target="../media/image285.jp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image" Target="../media/image286.jp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image" Target="../media/image287.jp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hyperlink" Target="https://arxiv.org/abs/2402.13820" TargetMode="External"/><Relationship Id="rId4" Type="http://schemas.openxmlformats.org/officeDocument/2006/relationships/image" Target="../media/image288.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image" Target="../media/image289.jp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0.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image" Target="../media/image291.jp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image" Target="../media/image292.jp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image" Target="../media/image293.jpg"/><Relationship Id="rId4" Type="http://schemas.openxmlformats.org/officeDocument/2006/relationships/image" Target="../media/image294.jp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image" Target="../media/image295.jp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6.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image" Target="../media/image297.jp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98.jp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image" Target="../media/image299.jpg"/></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image" Target="../media/image300.jp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hyperlink" Target="https://bostondynamics.com/blog/large-behavior-models-atlas-find-new-footing/" TargetMode="Externa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image" Target="../media/image301.jp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image" Target="../media/image302.jp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 Id="rId3" Type="http://schemas.openxmlformats.org/officeDocument/2006/relationships/image" Target="../media/image303.jpg"/><Relationship Id="rId4" Type="http://schemas.openxmlformats.org/officeDocument/2006/relationships/image" Target="../media/image304.jp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image" Target="../media/image305.jp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image" Target="../media/image306.jp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7.jpg"/><Relationship Id="rId7" Type="http://schemas.openxmlformats.org/officeDocument/2006/relationships/image" Target="../media/image308.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image" Target="../media/image309.png"/><Relationship Id="rId4" Type="http://schemas.openxmlformats.org/officeDocument/2006/relationships/image" Target="../media/image310.png"/><Relationship Id="rId5" Type="http://schemas.openxmlformats.org/officeDocument/2006/relationships/image" Target="../media/image311.png"/></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2.jpg"/><Relationship Id="rId4" Type="http://schemas.openxmlformats.org/officeDocument/2006/relationships/image" Target="../media/image313.jp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arxiv.org/abs/2605.01516" TargetMode="Externa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 Id="rId3" Type="http://schemas.openxmlformats.org/officeDocument/2006/relationships/image" Target="../media/image314.jpg"/></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15.jp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image" Target="../media/image316.jp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image" Target="../media/image317.jpg"/><Relationship Id="rId4" Type="http://schemas.openxmlformats.org/officeDocument/2006/relationships/image" Target="../media/image318.jp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hyperlink" Target="https://arxiv.org/abs/2608.19955" TargetMode="Externa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19.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image" Target="../media/image320.jpg"/><Relationship Id="rId4" Type="http://schemas.openxmlformats.org/officeDocument/2006/relationships/image" Target="../media/image321.jp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 Id="rId3" Type="http://schemas.openxmlformats.org/officeDocument/2006/relationships/image" Target="../media/image325.jp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 Id="rId3" Type="http://schemas.openxmlformats.org/officeDocument/2006/relationships/image" Target="../media/image326.jpg"/><Relationship Id="rId4" Type="http://schemas.openxmlformats.org/officeDocument/2006/relationships/image" Target="../media/image327.jp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 Id="rId3" Type="http://schemas.openxmlformats.org/officeDocument/2006/relationships/image" Target="../media/image328.pn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29.jp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0.jp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image" Target="../media/image331.jpg"/></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image" Target="../media/image332.jp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image" Target="../media/image333.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4.jpg"/><Relationship Id="rId4" Type="http://schemas.openxmlformats.org/officeDocument/2006/relationships/image" Target="../media/image335.jp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 Id="rId3" Type="http://schemas.openxmlformats.org/officeDocument/2006/relationships/image" Target="../media/image336.png"/><Relationship Id="rId4" Type="http://schemas.openxmlformats.org/officeDocument/2006/relationships/image" Target="../media/image337.png"/><Relationship Id="rId5" Type="http://schemas.openxmlformats.org/officeDocument/2006/relationships/image" Target="../media/image338.png"/><Relationship Id="rId6" Type="http://schemas.openxmlformats.org/officeDocument/2006/relationships/image" Target="../media/image339.png"/><Relationship Id="rId7" Type="http://schemas.openxmlformats.org/officeDocument/2006/relationships/image" Target="../media/image340.png"/></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41.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image" Target="../media/image342.jpg"/></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3.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image" Target="../media/image344.jp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image" Target="../media/image345.jp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image" Target="../media/image346.jpg"/><Relationship Id="rId4" Type="http://schemas.openxmlformats.org/officeDocument/2006/relationships/image" Target="../media/image347.jp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48.png"/><Relationship Id="rId4" Type="http://schemas.openxmlformats.org/officeDocument/2006/relationships/image" Target="../media/image349.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50.jpg"/><Relationship Id="rId4" Type="http://schemas.openxmlformats.org/officeDocument/2006/relationships/image" Target="../media/image351.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image" Target="../media/image352.jp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53.jp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 Id="rId3" Type="http://schemas.openxmlformats.org/officeDocument/2006/relationships/image" Target="../media/image354.jpg"/></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 Id="rId3" Type="http://schemas.openxmlformats.org/officeDocument/2006/relationships/image" Target="../media/image355.jpg"/><Relationship Id="rId4" Type="http://schemas.openxmlformats.org/officeDocument/2006/relationships/image" Target="../media/image356.jpg"/></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 Id="rId3" Type="http://schemas.openxmlformats.org/officeDocument/2006/relationships/image" Target="../media/image357.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 Id="rId3" Type="http://schemas.openxmlformats.org/officeDocument/2006/relationships/image" Target="../media/image358.jpg"/><Relationship Id="rId4" Type="http://schemas.openxmlformats.org/officeDocument/2006/relationships/image" Target="../media/image359.jpg"/></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image" Target="../media/image360.png"/><Relationship Id="rId4" Type="http://schemas.openxmlformats.org/officeDocument/2006/relationships/image" Target="../media/image361.png"/></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62.jp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image" Target="../media/image363.jp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 Id="rId3" Type="http://schemas.openxmlformats.org/officeDocument/2006/relationships/image" Target="../media/image364.jpg"/><Relationship Id="rId4" Type="http://schemas.openxmlformats.org/officeDocument/2006/relationships/image" Target="../media/image365.jpg"/></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 Id="rId3" Type="http://schemas.openxmlformats.org/officeDocument/2006/relationships/image" Target="../media/image366.png"/><Relationship Id="rId4" Type="http://schemas.openxmlformats.org/officeDocument/2006/relationships/image" Target="../media/image367.png"/><Relationship Id="rId5" Type="http://schemas.openxmlformats.org/officeDocument/2006/relationships/image" Target="../media/image368.pn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 Id="rId3" Type="http://schemas.openxmlformats.org/officeDocument/2006/relationships/image" Target="../media/image369.jp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 Id="rId3" Type="http://schemas.openxmlformats.org/officeDocument/2006/relationships/hyperlink" Target="https://arxiv.org/abs/2606.23249" TargetMode="Externa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 Id="rId3" Type="http://schemas.openxmlformats.org/officeDocument/2006/relationships/image" Target="../media/image370.jp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 Id="rId7" Type="http://schemas.openxmlformats.org/officeDocument/2006/relationships/hyperlink" Target="https://nexus-humanoid.github.io/" TargetMode="External"/><Relationship Id="rId8" Type="http://schemas.openxmlformats.org/officeDocument/2006/relationships/hyperlink" Target="https://arxiv.org/abs/2609.39000" TargetMode="Externa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 Id="rId3" Type="http://schemas.openxmlformats.org/officeDocument/2006/relationships/image" Target="../media/image371.jpg"/></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 Id="rId3" Type="http://schemas.openxmlformats.org/officeDocument/2006/relationships/hyperlink" Target="https://doi.org/10.1109/LRA.2026.3734869" TargetMode="External"/><Relationship Id="rId4" Type="http://schemas.openxmlformats.org/officeDocument/2006/relationships/image" Target="../media/image372.png"/><Relationship Id="rId5" Type="http://schemas.openxmlformats.org/officeDocument/2006/relationships/hyperlink" Target="https://arxiv.org/abs/2511.19709" TargetMode="Externa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 Id="rId3" Type="http://schemas.openxmlformats.org/officeDocument/2006/relationships/hyperlink" Target="https://arxiv.org/abs/2604.07457" TargetMode="External"/><Relationship Id="rId4" Type="http://schemas.openxmlformats.org/officeDocument/2006/relationships/hyperlink" Target="https://shepherd1226.github.io/CMP/" TargetMode="External"/><Relationship Id="rId5" Type="http://schemas.openxmlformats.org/officeDocument/2006/relationships/image" Target="../media/image373.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 Id="rId3" Type="http://schemas.openxmlformats.org/officeDocument/2006/relationships/image" Target="../media/image374.jp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 Id="rId3" Type="http://schemas.openxmlformats.org/officeDocument/2006/relationships/hyperlink" Target="https://geonhee-lee.github.io/Elastic-Tracker/lineage.html#domains" TargetMode="Externa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 Id="rId3" Type="http://schemas.openxmlformats.org/officeDocument/2006/relationships/image" Target="../media/image375.jpg"/></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 Id="rId3" Type="http://schemas.openxmlformats.org/officeDocument/2006/relationships/hyperlink" Target="https://arxiv.org/abs/2202.07008" TargetMode="External"/><Relationship Id="rId4" Type="http://schemas.openxmlformats.org/officeDocument/2006/relationships/image" Target="../media/image376.jpg"/><Relationship Id="rId5" Type="http://schemas.openxmlformats.org/officeDocument/2006/relationships/image" Target="../media/image377.jp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303.09463"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www.nature.com/articles/s41586-021-04357-7" TargetMode="Externa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 Id="rId3" Type="http://schemas.openxmlformats.org/officeDocument/2006/relationships/image" Target="../media/image378.jp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 Id="rId3" Type="http://schemas.openxmlformats.org/officeDocument/2006/relationships/hyperlink" Target="https://www.tii.ae/news/world-first-autonomous-racing-leaps-forward-abu-dhabi-a2rl-season-2-showcases-record-speed" TargetMode="External"/><Relationship Id="rId4" Type="http://schemas.openxmlformats.org/officeDocument/2006/relationships/hyperlink" Target="https://arxiv.org/abs/2607.25388" TargetMode="External"/><Relationship Id="rId5" Type="http://schemas.openxmlformats.org/officeDocument/2006/relationships/hyperlink" Target="https://arxiv.org/abs/2501.17311" TargetMode="External"/><Relationship Id="rId6" Type="http://schemas.openxmlformats.org/officeDocument/2006/relationships/hyperlink" Target="https://arxiv.org/abs/2608.10618" TargetMode="External"/><Relationship Id="rId7" Type="http://schemas.openxmlformats.org/officeDocument/2006/relationships/hyperlink" Target="https://arxiv.org/abs/2512.06892" TargetMode="Externa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 Id="rId3" Type="http://schemas.openxmlformats.org/officeDocument/2006/relationships/image" Target="../media/image379.jpg"/></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 Id="rId3" Type="http://schemas.openxmlformats.org/officeDocument/2006/relationships/hyperlink" Target="https://arxiv.org/abs/2401.13078" TargetMode="Externa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 Id="rId3" Type="http://schemas.openxmlformats.org/officeDocument/2006/relationships/image" Target="../media/image380.jpg"/></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 Id="rId3" Type="http://schemas.openxmlformats.org/officeDocument/2006/relationships/hyperlink" Target="https://github.com/ros-navigation/navigation2/blob/main/nav2_bringup/params/nav2_params.yaml" TargetMode="External"/><Relationship Id="rId4" Type="http://schemas.openxmlformats.org/officeDocument/2006/relationships/hyperlink" Target="https://arxiv.org/abs/2404.16162" TargetMode="External"/><Relationship Id="rId5" Type="http://schemas.openxmlformats.org/officeDocument/2006/relationships/hyperlink" Target="https://github.com/MAPF-Competition/Start-Kit" TargetMode="External"/><Relationship Id="rId6" Type="http://schemas.openxmlformats.org/officeDocument/2006/relationships/hyperlink" Target="https://arxiv.org/abs/2407.01862" TargetMode="External"/><Relationship Id="rId7" Type="http://schemas.openxmlformats.org/officeDocument/2006/relationships/hyperlink" Target="https://people.cs.gmu.edu/~xiao/Research/BARN_Challenge/BARN_Challenge25.html" TargetMode="External"/><Relationship Id="rId8" Type="http://schemas.openxmlformats.org/officeDocument/2006/relationships/image" Target="../media/image1.jpg"/><Relationship Id="rId9" Type="http://schemas.openxmlformats.org/officeDocument/2006/relationships/image" Target="../media/image381.jpg"/><Relationship Id="rId10" Type="http://schemas.openxmlformats.org/officeDocument/2006/relationships/hyperlink" Target="https://arxiv.org/abs/2410.21415" TargetMode="External"/><Relationship Id="rId11" Type="http://schemas.openxmlformats.org/officeDocument/2006/relationships/hyperlink" Target="https://arxiv.org/abs/2310.07896" TargetMode="External"/><Relationship Id="rId12" Type="http://schemas.openxmlformats.org/officeDocument/2006/relationships/hyperlink" Target="https://arxiv.org/abs/2505.08712" TargetMode="External"/><Relationship Id="rId13" Type="http://schemas.openxmlformats.org/officeDocument/2006/relationships/hyperlink" Target="https://arxiv.org/abs/2412.04453" TargetMode="External"/><Relationship Id="rId14" Type="http://schemas.openxmlformats.org/officeDocument/2006/relationships/hyperlink" Target="https://arxiv.org/abs/2508.08574" TargetMode="External"/><Relationship Id="rId15" Type="http://schemas.openxmlformats.org/officeDocument/2006/relationships/hyperlink" Target="https://www.darpa.mil/news/2026/racer-finish-line" TargetMode="Externa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 Id="rId3" Type="http://schemas.openxmlformats.org/officeDocument/2006/relationships/image" Target="../media/image382.jpg"/><Relationship Id="rId4" Type="http://schemas.openxmlformats.org/officeDocument/2006/relationships/image" Target="../media/image76.jpg"/><Relationship Id="rId5" Type="http://schemas.openxmlformats.org/officeDocument/2006/relationships/hyperlink" Target="https://arxiv.org/abs/2306.07962" TargetMode="External"/><Relationship Id="rId6" Type="http://schemas.openxmlformats.org/officeDocument/2006/relationships/hyperlink" Target="https://arxiv.org/abs/2411.15139" TargetMode="External"/><Relationship Id="rId7" Type="http://schemas.openxmlformats.org/officeDocument/2006/relationships/hyperlink" Target="https://arxiv.org/abs/2506.06664" TargetMode="Externa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 Id="rId3" Type="http://schemas.openxmlformats.org/officeDocument/2006/relationships/image" Target="../media/image116.jpg"/><Relationship Id="rId4" Type="http://schemas.openxmlformats.org/officeDocument/2006/relationships/image" Target="../media/image50.jpg"/><Relationship Id="rId5" Type="http://schemas.openxmlformats.org/officeDocument/2006/relationships/hyperlink" Target="https://www.xpeng.com/news/019a56f54fe99a2a0a8d8a0282e402b7" TargetMode="External"/><Relationship Id="rId6" Type="http://schemas.openxmlformats.org/officeDocument/2006/relationships/hyperlink" Target="https://waymo.com/blog/2025/12/demonstrably-safe-ai-for-autonomous-driving/" TargetMode="External"/><Relationship Id="rId7" Type="http://schemas.openxmlformats.org/officeDocument/2006/relationships/hyperlink" Target="https://waymo.com/blog/2026/08/10ailessons" TargetMode="External"/><Relationship Id="rId8" Type="http://schemas.openxmlformats.org/officeDocument/2006/relationships/hyperlink" Target="https://blogs.nvidia.com/blog/drive-av-mercedes-benz-cla/" TargetMode="External"/><Relationship Id="rId9" Type="http://schemas.openxmlformats.org/officeDocument/2006/relationships/hyperlink" Target="https://github.com/autowarefoundation/autoware_universe/tree/main/planning/autoware_diffusion_planner" TargetMode="Externa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image" Target="../media/image383.jpg"/><Relationship Id="rId4" Type="http://schemas.openxmlformats.org/officeDocument/2006/relationships/hyperlink" Target="https://arxiv.org/abs/2506.11234" TargetMode="External"/><Relationship Id="rId5" Type="http://schemas.openxmlformats.org/officeDocument/2006/relationships/hyperlink" Target="https://proceedings.mlr.press/v305/jaeger25a.html" TargetMode="External"/><Relationship Id="rId6" Type="http://schemas.openxmlformats.org/officeDocument/2006/relationships/hyperlink" Target="https://www.xpeng.com/news/019a56f54fe99a2a0a8d8a0282e402b7" TargetMode="External"/><Relationship Id="rId7" Type="http://schemas.openxmlformats.org/officeDocument/2006/relationships/hyperlink" Target="https://arxiv.org/abs/2608.04896" TargetMode="Externa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 Id="rId3" Type="http://schemas.openxmlformats.org/officeDocument/2006/relationships/image" Target="../media/image384.jpg"/></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 Id="rId3" Type="http://schemas.openxmlformats.org/officeDocument/2006/relationships/hyperlink" Target="https://www.anybotics.com/news/superior-robot-mobility-where-ai-meets-the-real-world/" TargetMode="External"/><Relationship Id="rId4" Type="http://schemas.openxmlformats.org/officeDocument/2006/relationships/hyperlink" Target="https://bostondynamics.com/blog/starting-on-the-right-foot-with-reinforcement-learning/" TargetMode="External"/><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hyperlink" Target="https://arxiv.org/abs/2607.13579" TargetMode="External"/><Relationship Id="rId8" Type="http://schemas.openxmlformats.org/officeDocument/2006/relationships/hyperlink" Target="https://arxiv.org/abs/2409.15610" TargetMode="External"/><Relationship Id="rId9" Type="http://schemas.openxmlformats.org/officeDocument/2006/relationships/hyperlink" Target="https://bostondynamics.com/blog/put-it-in-context-with-visual-foundation-models/" TargetMode="Externa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 Id="rId3" Type="http://schemas.openxmlformats.org/officeDocument/2006/relationships/image" Target="../media/image174.jpg"/><Relationship Id="rId4" Type="http://schemas.openxmlformats.org/officeDocument/2006/relationships/image" Target="../media/image387.jpg"/><Relationship Id="rId5" Type="http://schemas.openxmlformats.org/officeDocument/2006/relationships/hyperlink" Target="https://arxiv.org/abs/2303.03381" TargetMode="External"/><Relationship Id="rId6" Type="http://schemas.openxmlformats.org/officeDocument/2006/relationships/hyperlink" Target="https://arxiv.org/abs/2502.01143" TargetMode="External"/><Relationship Id="rId7" Type="http://schemas.openxmlformats.org/officeDocument/2006/relationships/hyperlink" Target="https://arxiv.org/abs/2511.07820" TargetMode="External"/><Relationship Id="rId8" Type="http://schemas.openxmlformats.org/officeDocument/2006/relationships/hyperlink" Target="https://arxiv.org/abs/2601.07718" TargetMode="Externa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 Id="rId3" Type="http://schemas.openxmlformats.org/officeDocument/2006/relationships/image" Target="../media/image326.jpg"/><Relationship Id="rId4" Type="http://schemas.openxmlformats.org/officeDocument/2006/relationships/image" Target="../media/image388.jpg"/><Relationship Id="rId5" Type="http://schemas.openxmlformats.org/officeDocument/2006/relationships/hyperlink" Target="https://www.figure.ai/news/helix-02" TargetMode="External"/><Relationship Id="rId6" Type="http://schemas.openxmlformats.org/officeDocument/2006/relationships/hyperlink" Target="https://www.figure.ai/news/reinforcement-learning-walking" TargetMode="External"/><Relationship Id="rId7" Type="http://schemas.openxmlformats.org/officeDocument/2006/relationships/hyperlink" Target="https://www.agilityrobotics.com/content/training-a-whole-body-control-foundation-model" TargetMode="External"/><Relationship Id="rId8" Type="http://schemas.openxmlformats.org/officeDocument/2006/relationships/hyperlink" Target="https://developer.nvidia.com/blog/building-generalist-humanoid-capabilities-with-nvidia-isaac-gr00t-n1-6-using-a-sim-to-real-workflow/" TargetMode="External"/><Relationship Id="rId9" Type="http://schemas.openxmlformats.org/officeDocument/2006/relationships/hyperlink" Target="https://bostondynamics.com/blog/large-behavior-models-atlas-find-new-footing/" TargetMode="Externa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 Id="rId3" Type="http://schemas.openxmlformats.org/officeDocument/2006/relationships/image" Target="../media/image389.jpg"/><Relationship Id="rId4" Type="http://schemas.openxmlformats.org/officeDocument/2006/relationships/hyperlink" Target="https://arxiv.org/abs/2505.03738" TargetMode="External"/><Relationship Id="rId5" Type="http://schemas.openxmlformats.org/officeDocument/2006/relationships/hyperlink" Target="https://arxiv.org/abs/2606.05687" TargetMode="External"/><Relationship Id="rId6" Type="http://schemas.openxmlformats.org/officeDocument/2006/relationships/hyperlink" Target="https://arxiv.org/abs/2509.04722" TargetMode="External"/><Relationship Id="rId7" Type="http://schemas.openxmlformats.org/officeDocument/2006/relationships/hyperlink" Target="https://en.wikipedia.org/wiki/Beijing_E-Town_Half-Marathon" TargetMode="External"/><Relationship Id="rId8" Type="http://schemas.openxmlformats.org/officeDocument/2006/relationships/hyperlink" Target="https://en.wikipedia.org/wiki/World_Humanoid_Robot_Games" TargetMode="Externa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 Id="rId3" Type="http://schemas.openxmlformats.org/officeDocument/2006/relationships/image" Target="../media/image390.jpg"/></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 Id="rId3" Type="http://schemas.openxmlformats.org/officeDocument/2006/relationships/hyperlink" Target="https://arxiv.org/abs/2511.04831" TargetMode="External"/><Relationship Id="rId4" Type="http://schemas.openxmlformats.org/officeDocument/2006/relationships/hyperlink" Target="https://arxiv.org/abs/2502.08844" TargetMode="External"/><Relationship Id="rId5" Type="http://schemas.openxmlformats.org/officeDocument/2006/relationships/hyperlink" Target="https://arxiv.org/abs/2310.10943" TargetMode="External"/><Relationship Id="rId6" Type="http://schemas.openxmlformats.org/officeDocument/2006/relationships/hyperlink" Target="https://developer.nvidia.com/blog/newton-adds-contact-rich-manipulation-and-locomotion-capabilities-for-industrial-robotics/" TargetMode="External"/><Relationship Id="rId7" Type="http://schemas.openxmlformats.org/officeDocument/2006/relationships/hyperlink" Target="https://github.com/unitreerobotics/unitree_rl_mjlab" TargetMode="External"/><Relationship Id="rId8" Type="http://schemas.openxmlformats.org/officeDocument/2006/relationships/hyperlink" Target="https://arxiv.org/abs/2309.15462" TargetMode="External"/><Relationship Id="rId9" Type="http://schemas.openxmlformats.org/officeDocument/2006/relationships/hyperlink" Target="https://waymo.com/blog/2026/08/10ailessons" TargetMode="External"/><Relationship Id="rId10" Type="http://schemas.openxmlformats.org/officeDocument/2006/relationships/hyperlink" Target="https://www.science.org/doi/10.1126/scirobotics.ado6187"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github.com/ros-navigation/navigation2/tree/main/nav2_mppi_controller" TargetMode="External"/><Relationship Id="rId13" Type="http://schemas.openxmlformats.org/officeDocument/2006/relationships/hyperlink" Target="https://arxiv.org/abs/2409.15610" TargetMode="External"/><Relationship Id="rId14" Type="http://schemas.openxmlformats.org/officeDocument/2006/relationships/hyperlink" Target="https://arxiv.org/abs/2506.06664" TargetMode="External"/><Relationship Id="rId15" Type="http://schemas.openxmlformats.org/officeDocument/2006/relationships/hyperlink" Target="https://arxiv.org/abs/2407.01573" TargetMode="External"/><Relationship Id="rId16" Type="http://schemas.openxmlformats.org/officeDocument/2006/relationships/hyperlink" Target="https://arxiv.org/abs/2303.04137" TargetMode="External"/><Relationship Id="rId17" Type="http://schemas.openxmlformats.org/officeDocument/2006/relationships/hyperlink" Target="https://arxiv.org/abs/2410.24164" TargetMode="External"/><Relationship Id="rId18" Type="http://schemas.openxmlformats.org/officeDocument/2006/relationships/hyperlink" Target="https://www.figure.ai/news/helix-02" TargetMode="External"/><Relationship Id="rId19" Type="http://schemas.openxmlformats.org/officeDocument/2006/relationships/hyperlink" Target="https://developer.nvidia.com/blog/building-generalist-humanoid-capabilities-with-nvidia-isaac-gr00t-n1-6-using-a-sim-to-real-workflow/" TargetMode="External"/><Relationship Id="rId20" Type="http://schemas.openxmlformats.org/officeDocument/2006/relationships/hyperlink" Target="https://arxiv.org/abs/2412.04453" TargetMode="External"/><Relationship Id="rId21" Type="http://schemas.openxmlformats.org/officeDocument/2006/relationships/hyperlink" Target="https://arxiv.org/abs/2402.12289" TargetMode="External"/><Relationship Id="rId22" Type="http://schemas.openxmlformats.org/officeDocument/2006/relationships/hyperlink" Target="https://waymo.com/blog/2026/02/the-waymo-world-model-a-new-frontier-for-autonomous-driving-simulation/" TargetMode="External"/><Relationship Id="rId23" Type="http://schemas.openxmlformats.org/officeDocument/2006/relationships/hyperlink" Target="https://arxiv.org/abs/2501.03575" TargetMode="External"/><Relationship Id="rId24" Type="http://schemas.openxmlformats.org/officeDocument/2006/relationships/hyperlink" Target="https://arxiv.org/abs/2512.10675" TargetMode="External"/><Relationship Id="rId25" Type="http://schemas.openxmlformats.org/officeDocument/2006/relationships/hyperlink" Target="https://www.nature.com/articles/s41586-025-08744-2" TargetMode="External"/><Relationship Id="rId26" Type="http://schemas.openxmlformats.org/officeDocument/2006/relationships/hyperlink" Target="https://arxiv.org/abs/2412.03572" TargetMode="External"/><Relationship Id="rId27" Type="http://schemas.openxmlformats.org/officeDocument/2006/relationships/hyperlink" Target="https://arxiv.org/abs/2511.07820" TargetMode="External"/><Relationship Id="rId28" Type="http://schemas.openxmlformats.org/officeDocument/2006/relationships/hyperlink" Target="https://arxiv.org/abs/2505.05753" TargetMode="External"/><Relationship Id="rId29" Type="http://schemas.openxmlformats.org/officeDocument/2006/relationships/hyperlink" Target="https://arxiv.org/abs/2509.19480" TargetMode="External"/><Relationship Id="rId30" Type="http://schemas.openxmlformats.org/officeDocument/2006/relationships/hyperlink" Target="https://arxiv.org/abs/2506.08228" TargetMode="External"/><Relationship Id="rId31" Type="http://schemas.openxmlformats.org/officeDocument/2006/relationships/hyperlink" Target="https://single-market-economy.ec.europa.eu/sectors/mechanical-engineering/machinery_en" TargetMode="External"/><Relationship Id="rId32" Type="http://schemas.openxmlformats.org/officeDocument/2006/relationships/hyperlink" Target="https://downloads.ctfassets.net/9i0s3p5vkth9/Gx5t3M6aWWUk8yEsXIZ8N/bf9767dfeb33360114438df17739d8be/Aurora_Driverless_Safety_Report_2025_with_Addendum.pdf" TargetMode="External"/><Relationship Id="rId33" Type="http://schemas.openxmlformats.org/officeDocument/2006/relationships/hyperlink" Target="https://arxiv.org/abs/2608.04896" TargetMode="External"/><Relationship Id="rId34" Type="http://schemas.openxmlformats.org/officeDocument/2006/relationships/hyperlink" Target="https://www.tii.ae/news/world-first-autonomous-racing-leaps-forward-abu-dhabi-a2rl-season-2-showcases-record-speed" TargetMode="External"/><Relationship Id="rId35" Type="http://schemas.openxmlformats.org/officeDocument/2006/relationships/hyperlink" Target="https://github.com/MAPF-Competition/Start-Kit" TargetMode="External"/><Relationship Id="rId36" Type="http://schemas.openxmlformats.org/officeDocument/2006/relationships/hyperlink" Target="https://en.wikipedia.org/wiki/World_Humanoid_Robot_Games" TargetMode="Externa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 Id="rId3" Type="http://schemas.openxmlformats.org/officeDocument/2006/relationships/hyperlink" Target="https://single-market-economy.ec.europa.eu/sectors/mechanical-engineering/machinery_en" TargetMode="External"/><Relationship Id="rId4" Type="http://schemas.openxmlformats.org/officeDocument/2006/relationships/hyperlink" Target="https://artificialintelligenceact.eu/article/6/" TargetMode="External"/><Relationship Id="rId5" Type="http://schemas.openxmlformats.org/officeDocument/2006/relationships/hyperlink" Target="https://downloads.ctfassets.net/9i0s3p5vkth9/Gx5t3M6aWWUk8yEsXIZ8N/bf9767dfeb33360114438df17739d8be/Aurora_Driverless_Safety_Report_2025_with_Addendum.pdf" TargetMode="External"/><Relationship Id="rId6" Type="http://schemas.openxmlformats.org/officeDocument/2006/relationships/hyperlink" Target="https://arxiv.org/abs/2309.05837" TargetMode="External"/><Relationship Id="rId7" Type="http://schemas.openxmlformats.org/officeDocument/2006/relationships/hyperlink" Target="https://arxiv.org/abs/2608.02809" TargetMode="External"/><Relationship Id="rId8" Type="http://schemas.openxmlformats.org/officeDocument/2006/relationships/hyperlink" Target="https://nvidianews.nvidia.com/news/nvidia-announces-halos-for-robotics-the-industrys-first-full-stack-safety-system-for-physical-ai" TargetMode="External"/><Relationship Id="rId9" Type="http://schemas.openxmlformats.org/officeDocument/2006/relationships/hyperlink" Target="https://waymo.com/blog/2024/05/fleet-response/" TargetMode="External"/><Relationship Id="rId10" Type="http://schemas.openxmlformats.org/officeDocument/2006/relationships/hyperlink" Target="https://waymo.com/blog/shorts/advice-not-control-the-role-of-remote-assistance/" TargetMode="External"/><Relationship Id="rId11" Type="http://schemas.openxmlformats.org/officeDocument/2006/relationships/hyperlink" Target="https://techcrunch.com/2026/03/31/robotaxi-companies-refuse-to-say-how-often-their-avs-need-remote-help/" TargetMode="External"/><Relationship Id="rId12" Type="http://schemas.openxmlformats.org/officeDocument/2006/relationships/hyperlink" Target="https://www.dmv.ca.gov/portal/news-and-media/new-autonomous-vehicle-regulations-strengthen-oversight-and-enforcement-authorize-trucks-and-transit/" TargetMode="External"/><Relationship Id="rId13" Type="http://schemas.openxmlformats.org/officeDocument/2006/relationships/hyperlink" Target="https://www.ntsb.gov/investigations/Pages/HWY26FH007.aspx" TargetMode="External"/><Relationship Id="rId14" Type="http://schemas.openxmlformats.org/officeDocument/2006/relationships/hyperlink" Target="https://www.jpl.nasa.gov/news/nasas-perseverance-mars-rover-ready-to-roll-for-miles-in-years-ahead/" TargetMode="External"/><Relationship Id="rId15" Type="http://schemas.openxmlformats.org/officeDocument/2006/relationships/hyperlink" Target="https://ieeexplore.ieee.org/document/11265757" TargetMode="External"/><Relationship Id="rId16" Type="http://schemas.openxmlformats.org/officeDocument/2006/relationships/hyperlink" Target="https://www.jpl.nasa.gov/news/nasas-perseverance-rover-completes-first-ai-planned-drive-on-mars/" TargetMode="External"/><Relationship Id="rId17" Type="http://schemas.openxmlformats.org/officeDocument/2006/relationships/hyperlink" Target="https://www.anthropic.com/features/claude-on-mars" TargetMode="External"/><Relationship Id="rId18" Type="http://schemas.openxmlformats.org/officeDocument/2006/relationships/hyperlink" Target="https://www.komatsu.jp/en/newsroom/2026/20260422" TargetMode="External"/><Relationship Id="rId19" Type="http://schemas.openxmlformats.org/officeDocument/2006/relationships/hyperlink" Target="https://www.eacon.com/news/827.html" TargetMode="External"/><Relationship Id="rId20" Type="http://schemas.openxmlformats.org/officeDocument/2006/relationships/hyperlink" Target="https://ir.aurora.tech/news-events/press-releases/detail/132" TargetMode="External"/><Relationship Id="rId21" Type="http://schemas.openxmlformats.org/officeDocument/2006/relationships/hyperlink" Target="https://www.deere.com/en-us/products-solutions/tractors/autonomous-tractor/" TargetMode="External"/><Relationship Id="rId22" Type="http://schemas.openxmlformats.org/officeDocument/2006/relationships/hyperlink" Target="https://arxiv.org/abs/2410.21415" TargetMode="External"/><Relationship Id="rId23" Type="http://schemas.openxmlformats.org/officeDocument/2006/relationships/hyperlink" Target="https://github.com/MAPF-Competition/Start-Kit" TargetMode="External"/><Relationship Id="rId24" Type="http://schemas.openxmlformats.org/officeDocument/2006/relationships/hyperlink" Target="https://www.science.org/doi/10.1126/scirobotics.ade2256" TargetMode="External"/><Relationship Id="rId25" Type="http://schemas.openxmlformats.org/officeDocument/2006/relationships/hyperlink" Target="https://arxiv.org/abs/2506.02835" TargetMode="External"/><Relationship Id="rId26" Type="http://schemas.openxmlformats.org/officeDocument/2006/relationships/hyperlink" Target="https://news.kaist.ac.kr/newsen/html/news/?mode=V&amp;mng_no=41590" TargetMode="External"/><Relationship Id="rId27" Type="http://schemas.openxmlformats.org/officeDocument/2006/relationships/hyperlink" Target="https://www.science.org/doi/10.1126/scirobotics.add1017" TargetMode="External"/><Relationship Id="rId28" Type="http://schemas.openxmlformats.org/officeDocument/2006/relationships/hyperlink" Target="https://arxiv.org/abs/2312.08961" TargetMode="External"/><Relationship Id="rId29" Type="http://schemas.openxmlformats.org/officeDocument/2006/relationships/hyperlink" Target="https://arxiv.org/abs/2607.13579" TargetMode="External"/><Relationship Id="rId30" Type="http://schemas.openxmlformats.org/officeDocument/2006/relationships/hyperlink" Target="https://arxiv.org/abs/2301.10602" TargetMode="External"/><Relationship Id="rId31" Type="http://schemas.openxmlformats.org/officeDocument/2006/relationships/hyperlink" Target="https://arxiv.org/abs/2409.19709" TargetMode="Externa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 Id="rId3" Type="http://schemas.openxmlformats.org/officeDocument/2006/relationships/hyperlink" Target="https://researchwith.njit.edu/en/publications/torque-based-deep-reinforcement-learning-for-task-and-robot-agnos" TargetMode="External"/><Relationship Id="rId4" Type="http://schemas.openxmlformats.org/officeDocument/2006/relationships/hyperlink" Target="https://rainbow-robotics.com/%EC%A0%9C%ED%92%88%EC%86%94%EB%A3%A8%EC%85%98/%EC%82%AC%EC%A1%B1%EB%B3%B4%ED%96%89-%EB%A1%9C%EB%B4%87/rbq-series" TargetMode="External"/><Relationship Id="rId5" Type="http://schemas.openxmlformats.org/officeDocument/2006/relationships/hyperlink" Target="https://bostondynamics.com/blog/starting-on-the-right-foot-with-reinforcement-learning/" TargetMode="External"/><Relationship Id="rId6" Type="http://schemas.openxmlformats.org/officeDocument/2006/relationships/hyperlink" Target="https://bostondynamics.com/blog/large-behavior-models-atlas-find-new-footing/" TargetMode="External"/><Relationship Id="rId7" Type="http://schemas.openxmlformats.org/officeDocument/2006/relationships/hyperlink" Target="https://bostondynamics.com/blog/boston-dynamics-unveils-new-atlas-robot-to-revolutionize-industry/" TargetMode="External"/><Relationship Id="rId8"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9" Type="http://schemas.openxmlformats.org/officeDocument/2006/relationships/hyperlink" Target="https://www.korea.kr/news/policyNewsView.do?newsId=148964548" TargetMode="External"/><Relationship Id="rId10" Type="http://schemas.openxmlformats.org/officeDocument/2006/relationships/hyperlink" Target="https://www.korea.kr/news/policyNewsView.do?newsId=148922726" TargetMode="External"/><Relationship Id="rId11" Type="http://schemas.openxmlformats.org/officeDocument/2006/relationships/hyperlink" Target="https://www.kmcc.go.kr/download.do?fileSeq=62128" TargetMode="External"/><Relationship Id="rId12" Type="http://schemas.openxmlformats.org/officeDocument/2006/relationships/hyperlink" Target="https://zdnet.co.kr/view/?no=20230728173101" TargetMode="External"/><Relationship Id="rId13" Type="http://schemas.openxmlformats.org/officeDocument/2006/relationships/hyperlink" Target="https://www.kiria.org/portal/cert/portalCertEstiStats.do" TargetMode="External"/><Relationship Id="rId14" Type="http://schemas.openxmlformats.org/officeDocument/2006/relationships/hyperlink" Target="https://www.hellot.net/news/article.html?no=111539" TargetMode="External"/><Relationship Id="rId15" Type="http://schemas.openxmlformats.org/officeDocument/2006/relationships/hyperlink" Target="https://zdnet.co.kr/view/?no=20251223101843" TargetMode="External"/><Relationship Id="rId16" Type="http://schemas.openxmlformats.org/officeDocument/2006/relationships/hyperlink" Target="https://zdnet.co.kr/view/?no=20260529134003" TargetMode="External"/><Relationship Id="rId17" Type="http://schemas.openxmlformats.org/officeDocument/2006/relationships/hyperlink" Target="https://zdnet.co.kr/view/?no=20251218101741" TargetMode="External"/><Relationship Id="rId18" Type="http://schemas.openxmlformats.org/officeDocument/2006/relationships/hyperlink" Target="https://www.newstomato.com/ReadNews.aspx?no=1243901" TargetMode="External"/><Relationship Id="rId19" Type="http://schemas.openxmlformats.org/officeDocument/2006/relationships/hyperlink" Target="https://edaily.co.kr/News/Read?mediaCodeNo=257&amp;newsId=03978646645485328" TargetMode="External"/><Relationship Id="rId20" Type="http://schemas.openxmlformats.org/officeDocument/2006/relationships/hyperlink" Target="https://www.hyundaimotorgroup.com/ko/news/CONT0000000000158712" TargetMode="External"/><Relationship Id="rId21" Type="http://schemas.openxmlformats.org/officeDocument/2006/relationships/hyperlink" Target="https://1784.navercorp.com/" TargetMode="External"/><Relationship Id="rId22" Type="http://schemas.openxmlformats.org/officeDocument/2006/relationships/hyperlink" Target="https://www.globenewswire.com/news-release/2025/12/12/3204583/0/en/Serve-Robotics-Builds-2-000-Autonomous-Delivery-Robots-Creating-Largest-Sidewalk-Delivery-Fleet-in-the-U-S.html" TargetMode="External"/><Relationship Id="rId23" Type="http://schemas.openxmlformats.org/officeDocument/2006/relationships/hyperlink" Target="https://arxiv.org/abs/2406.14947" TargetMode="Externa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 Id="rId3" Type="http://schemas.openxmlformats.org/officeDocument/2006/relationships/hyperlink" Target="https://www.science.org/doi/10.1126/scirobotics.ado6187" TargetMode="External"/><Relationship Id="rId4" Type="http://schemas.openxmlformats.org/officeDocument/2006/relationships/hyperlink" Target="https://waymo.com/blog/2025/12/demonstrably-safe-ai-for-autonomous-driving/" TargetMode="External"/><Relationship Id="rId5" Type="http://schemas.openxmlformats.org/officeDocument/2006/relationships/hyperlink" Target="https://arxiv.org/abs/2309.15462" TargetMode="External"/><Relationship Id="rId6" Type="http://schemas.openxmlformats.org/officeDocument/2006/relationships/hyperlink" Target="https://arxiv.org/abs/2607.13579" TargetMode="External"/><Relationship Id="rId7" Type="http://schemas.openxmlformats.org/officeDocument/2006/relationships/hyperlink" Target="https://arxiv.org/abs/2608.15741" TargetMode="External"/><Relationship Id="rId8" Type="http://schemas.openxmlformats.org/officeDocument/2006/relationships/hyperlink" Target="https://www.jpl.nasa.gov/news/nasas-perseverance-rover-completes-first-ai-planned-drive-on-mars/" TargetMode="Externa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 Id="rId3" Type="http://schemas.openxmlformats.org/officeDocument/2006/relationships/hyperlink" Target="https://github.com/VAIL-UCLA/S2E" TargetMode="Externa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 Id="rId3" Type="http://schemas.openxmlformats.org/officeDocument/2006/relationships/hyperlink" Target="https://github.com/GalaxyGeneralRobotics/UrbanVLA" TargetMode="Externa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 Id="rId3" Type="http://schemas.openxmlformats.org/officeDocument/2006/relationships/image" Target="../media/image391.jpg"/></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 Id="rId3" Type="http://schemas.openxmlformats.org/officeDocument/2006/relationships/image" Target="../media/image392.jp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 Id="rId3" Type="http://schemas.openxmlformats.org/officeDocument/2006/relationships/image" Target="../media/image393.jp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 Id="rId3" Type="http://schemas.openxmlformats.org/officeDocument/2006/relationships/image" Target="../media/image394.jpg"/></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 Id="rId3" Type="http://schemas.openxmlformats.org/officeDocument/2006/relationships/image" Target="../media/image395.png"/><Relationship Id="rId4" Type="http://schemas.openxmlformats.org/officeDocument/2006/relationships/image" Target="../media/image396.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 Id="rId3" Type="http://schemas.openxmlformats.org/officeDocument/2006/relationships/image" Target="../media/image397.jp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 Id="rId3" Type="http://schemas.openxmlformats.org/officeDocument/2006/relationships/image" Target="../media/image398.jpg"/></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14개</a:t>
            </a:r>
          </a:p>
          <a:p>
            <a:r>
              <a:rPr sz="1250" b="0" i="0">
                <a:solidFill>
                  <a:srgbClr val="C9D1E0"/>
                </a:solidFill>
                <a:latin typeface="Arial"/>
                <a:ea typeface="Malgun Gothic"/>
                <a:cs typeface="Malgun Gothic"/>
              </a:rPr>
              <a:t>개요 · travplan과 고전 기준선 · 학습 로컬 Planner · 생성형 궤적 · Foundation·VLA·언어 · 위험 인지·로컬 내비 · 자율주행 자동차 · 로봇별 공개 스택 · ETH RSL 계보 · NVIDIA·DeepMind·취리히·RAI · 다른 연구실·휴머노이드 주행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557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네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방법(어떻게 계획하나) 다섯, 현황(누가 무엇을 내놨나) 다섯, 종합 둘, 작업 기록 하나다.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2026-10-01에 방법과 현황으로 처음 묶었다. 그 전에는 방법·도메인·관심사·계보 네 축이 섞여 있어서 자율주행 내용만 세 탭(E2E 주행 · 역사·상용화 · 로봇별 오픈소스)에 흩어져 있었다. 2026-10-26에는 문서의 약 70 %가 몰려 있던 「다리·바퀴 로봇과 계보」 탭을 넷으로 나누고, 분야 비교와 최근 연구 비교를 종합으로 묶었다. 절 번호는 그대로다.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탭마다 맨 위에 </a:t>
            </a:r>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(한눈에 볼 표, travplan에 주는 의미가 있는 곳)을 둔다. 첫 절의 첫 문장이 탭 전체의 결론이 아니면, 그 앞에 탭의 결론을 한 문장으로 둔다. 표의 '출처 확인일'은 본문에 적힌 확인 날짜다. '표기 없음'인 탭은 출처를 다시 확인할 차례가 먼저 온다.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9" name="Table 8"/>
          <p:cNvGraphicFramePr>
            <a:graphicFrameLocks noGrp="1"/>
          </p:cNvGraphicFramePr>
          <p:nvPr/>
        </p:nvGraphicFramePr>
        <p:xfrm>
          <a:off x="609600" y="3115667"/>
          <a:ext cx="10966450" cy="1545192"/>
        </p:xfrm>
        <a:graphic>
          <a:graphicData uri="http://schemas.openxmlformats.org/drawingml/2006/table">
            <a:tbl>
              <a:tblPr firstRow="1" bandRow="1">
                <a:tableStyleId>{5C22544A-7EE6-4342-B048-85BDC9FD1C3A}</a:tableStyleId>
              </a:tblPr>
              <a:tblGrid>
                <a:gridCol w="1168797"/>
                <a:gridCol w="4712990"/>
                <a:gridCol w="999133"/>
                <a:gridCol w="2721173"/>
                <a:gridCol w="1364357"/>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TAME-Nav만(2026-10-13)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bl>
          </a:graphicData>
        </a:graphic>
      </p:graphicFrame>
      <p:sp>
        <p:nvSpPr>
          <p:cNvPr id="10" name="TextBox 9"/>
          <p:cNvSpPr txBox="1"/>
          <p:nvPr/>
        </p:nvSpPr>
        <p:spPr>
          <a:xfrm>
            <a:off x="609600" y="51424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11" name="Table 10"/>
          <p:cNvGraphicFramePr>
            <a:graphicFrameLocks noGrp="1"/>
          </p:cNvGraphicFramePr>
          <p:nvPr/>
        </p:nvGraphicFramePr>
        <p:xfrm>
          <a:off x="609600" y="5447804"/>
          <a:ext cx="10966450" cy="515064"/>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상용화만(2026-09)</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557</a:t>
            </a:r>
          </a:p>
        </p:txBody>
      </p:sp>
      <p:graphicFrame>
        <p:nvGraphicFramePr>
          <p:cNvPr id="5" name="Table 4"/>
          <p:cNvGraphicFramePr>
            <a:graphicFrameLocks noGrp="1"/>
          </p:cNvGraphicFramePr>
          <p:nvPr/>
        </p:nvGraphicFramePr>
        <p:xfrm>
          <a:off x="609600" y="1244600"/>
          <a:ext cx="10966450" cy="1468992"/>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사족·휴머노이드·바퀴 로봇의 공개 Planner와, 네 로봇에서 가져올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 ROS 2 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별 수·라이선스(2026-09)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지도에서 계단을 오르는 배달로봇(RIVR)까지, 한 연구실을 travplan의 층별로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도구의 출처, Planner D 선택기의 실패 확률 머리, 진행 방향 step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머리말(조직 표, 계보 그림, 연표)과 네 조직의 사족·휴머노이드 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 plant 보정, 두 층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2026-10-07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연구실의 사족·휴머노이드, B.16 전체에서 가져올 순서, 휴머노이드 주행(내비 층이 넘기는 것, 출력의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절차, Planner→Controller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2026-10-07, B.16.8은 2026-10-21–26</a:t>
                      </a:r>
                    </a:p>
                  </a:txBody>
                  <a:tcPr marL="63500" marR="63500" marT="12700" marB="12700">
                    <a:solidFill>
                      <a:srgbClr val="F3F0E8"/>
                    </a:solidFill>
                  </a:tcPr>
                </a:tc>
              </a:tr>
            </a:tbl>
          </a:graphicData>
        </a:graphic>
      </p:graphicFrame>
      <p:sp>
        <p:nvSpPr>
          <p:cNvPr id="6" name="TextBox 5"/>
          <p:cNvSpPr txBox="1"/>
          <p:nvPr/>
        </p:nvSpPr>
        <p:spPr>
          <a:xfrm>
            <a:off x="609600" y="31760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종합과 작업 기록</a:t>
            </a:r>
          </a:p>
        </p:txBody>
      </p:sp>
      <p:graphicFrame>
        <p:nvGraphicFramePr>
          <p:cNvPr id="7" name="Table 6"/>
          <p:cNvGraphicFramePr>
            <a:graphicFrameLocks noGrp="1"/>
          </p:cNvGraphicFramePr>
          <p:nvPr/>
        </p:nvGraphicFramePr>
        <p:xfrm>
          <a:off x="609600" y="3481487"/>
          <a:ext cx="10966450" cy="788352"/>
        </p:xfrm>
        <a:graphic>
          <a:graphicData uri="http://schemas.openxmlformats.org/drawingml/2006/table">
            <a:tbl>
              <a:tblPr firstRow="1" bandRow="1">
                <a:tableStyleId>{5C22544A-7EE6-4342-B048-85BDC9FD1C3A}</a:tableStyleId>
              </a:tblPr>
              <a:tblGrid>
                <a:gridCol w="1034653"/>
                <a:gridCol w="5718969"/>
                <a:gridCol w="507901"/>
                <a:gridCol w="2830016"/>
                <a:gridCol w="87491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레이싱카·모바일 로봇·도로 자율주행·사족·휴머노이드에서 쓰는 방식과 대세, 인증·원격 지원, 한국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travplan의 두 층이 어느 분야의 대세를 따르나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travplan이 고치고 잰 Planner 결과(TP-0137, 0078, 0066, 0039·0074, 0138, 0143)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자세히: 절 번호로 탭 찾기(표 14행)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 번호는 탭 순서와 다르다. 다른 문서가 번호로 가리키므로 번호는 바꾸지 않는다(WRITING.md §4).</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4587974"/>
                <a:gridCol w="6378476"/>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Controller·안전 문서의 MPPI 탭</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B.8.0–B.8.3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B.11, B.12.1,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3F0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graphicFrame>
        <p:nvGraphicFramePr>
          <p:cNvPr id="6" name="Table 5"/>
          <p:cNvGraphicFramePr>
            <a:graphicFrameLocks noGrp="1"/>
          </p:cNvGraphicFramePr>
          <p:nvPr/>
        </p:nvGraphicFramePr>
        <p:xfrm>
          <a:off x="609600" y="1549995"/>
          <a:ext cx="10966451" cy="2422920"/>
        </p:xfrm>
        <a:graphic>
          <a:graphicData uri="http://schemas.openxmlformats.org/drawingml/2006/table">
            <a:tbl>
              <a:tblPr firstRow="1" bandRow="1">
                <a:tableStyleId>{5C22544A-7EE6-4342-B048-85BDC9FD1C3A}</a:tableStyleId>
              </a:tblPr>
              <a:tblGrid>
                <a:gridCol w="592634"/>
                <a:gridCol w="1381026"/>
                <a:gridCol w="2085876"/>
                <a:gridCol w="2282726"/>
                <a:gridCol w="1633240"/>
                <a:gridCol w="1403747"/>
                <a:gridCol w="1587202"/>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 TAME-Nav, FocusNav, 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 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6738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순이다(2026-10-26). HF 다운로드는 대표 가중치의 최근 30일 값이다(2026-10-26).</a:t>
            </a:r>
          </a:p>
        </p:txBody>
      </p:sp>
      <p:graphicFrame>
        <p:nvGraphicFramePr>
          <p:cNvPr id="8" name="Table 7"/>
          <p:cNvGraphicFramePr>
            <a:graphicFrameLocks noGrp="1"/>
          </p:cNvGraphicFramePr>
          <p:nvPr/>
        </p:nvGraphicFramePr>
        <p:xfrm>
          <a:off x="609600" y="4979293"/>
          <a:ext cx="10966449" cy="78835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557</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557</a:t>
            </a:r>
          </a:p>
        </p:txBody>
      </p:sp>
      <p:graphicFrame>
        <p:nvGraphicFramePr>
          <p:cNvPr id="5" name="Table 4"/>
          <p:cNvGraphicFramePr>
            <a:graphicFrameLocks noGrp="1"/>
          </p:cNvGraphicFramePr>
          <p:nvPr/>
        </p:nvGraphicFramePr>
        <p:xfrm>
          <a:off x="609600" y="1244600"/>
          <a:ext cx="10966449" cy="394176"/>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B.12(「로봇별 공개 스택」 탭, 2026-09 기준)에 따로 모았다.</a:t>
            </a:r>
          </a:p>
        </p:txBody>
      </p:sp>
      <p:sp>
        <p:nvSpPr>
          <p:cNvPr id="7" name="TextBox 6"/>
          <p:cNvSpPr txBox="1"/>
          <p:nvPr/>
        </p:nvSpPr>
        <p:spPr>
          <a:xfrm>
            <a:off x="609600" y="21379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travplan Planner의 지금 구조(B.1)와, 학습 Planner를 잴 고전 기준선(B.10)이다.</a:t>
            </a:r>
            <a:r>
              <a:rPr sz="1050" b="0" i="0">
                <a:solidFill>
                  <a:srgbClr val="16213A"/>
                </a:solidFill>
                <a:latin typeface="Arial"/>
                <a:ea typeface="Malgun Gothic"/>
                <a:cs typeface="Malgun Gothic"/>
              </a:rPr>
              <a:t> 기준선의 중심은 GuidancePlanner(TravMap 위 Dijkstra)다.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고전 계획 일곱 가지는 B.10 첫 표에 있다. 궤적 다발 최적화 MPOT를 Planner D의 교사로 쓰는 판은 B.10.1이다.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557</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17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로봇 주변만 보고 가까운 경로를 내는 학습 Planner의 네 계열이다.</a:t>
            </a:r>
            <a:r>
              <a:rPr sz="1050" b="0" i="0">
                <a:solidFill>
                  <a:srgbClr val="16213A"/>
                </a:solidFill>
                <a:latin typeface="Arial"/>
                <a:ea typeface="Malgun Gothic"/>
                <a:cs typeface="Malgun Gothic"/>
              </a:rPr>
              <a:t> travplan에 바로 이어지는 것은 비용 지도 자기지도(LearnedPlanner 손실의 원형)와, diffusion 궤적과 그 폐루프 RL 후학습(Planner D와 TP-0066)이다.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B.2는 waypoint 회귀, B.3은 diffusion 궤적과 RL 후학습, B.4는 인식에서 속도 명령까지 가는 RL, B.4b는 비용 지도 자기지도다. B.7은 이 계열들과 Controller 쪽 참고 연구를 한 표(12행)로 비교하고, 마지막 열에 travplan에서의 위치를 적었다.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557</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557</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557</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557</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557</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557</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557</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궤적 전체를 생성 모델에서 샘플하는 계열이고, travplan의 Planner D(B.8.3)가 여기에 속한다.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B.8.0은 Diffuser에서 GoalFlow까지의 계보이고, 첫 표(8행)에 한눈에 있다. B.8–B.8.2는 Diffusion Planner와, 기구학·안전·속도를 보강한 후속 연구(B.8.2 표, 11행)다. travplan에 주는 의미는 B.8.3에 모았다.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557</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557</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557</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557</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557</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557</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42900"/>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3525"/>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6700"/>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2275"/>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22275"/>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6700"/>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8800"/>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4500"/>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87350"/>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557</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557</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73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Planner 위에서 목표와 중간 행동을 정하는 층이다.</a:t>
            </a:r>
            <a:r>
              <a:rPr sz="1050" b="0" i="0">
                <a:solidFill>
                  <a:srgbClr val="16213A"/>
                </a:solidFill>
                <a:latin typeface="Arial"/>
                <a:ea typeface="Malgun Gothic"/>
                <a:cs typeface="Malgun Gothic"/>
              </a:rPr>
              <a:t> 시각 내비 기반 모델과 VLA는 Planner를 대체하지 않고 그 위에 얹는다(B.6b).</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B.6은 시각 내비 기반 모델(ViNT·NoMaD·GNM), B.6b는 VLA와 도시 보행 내비, B.6c는 시연 투어와 위상 그래프다. B.6d는 보도 원격조종 로그로 배우는 MIMIC과, 그 뒤에 더한 카드 셋(S2E, Slow Brain Fast Planner, LogoNav)이다. VLA 여덟 편은 B.6b 첫 표에 있다. 문제 설정이 travplan과 가장 가까운 것은 B.6d의 MIMIC이다.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557</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557</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557</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557</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557</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557</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42900"/>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557</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557</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557</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103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학습 Planner를 키울 때 비교 기준으로 삼거나 기법을 빌려 올 위험 인지 계획이다.</a:t>
            </a:r>
            <a:r>
              <a:rPr sz="1050" b="0" i="0">
                <a:solidFill>
                  <a:srgbClr val="16213A"/>
                </a:solidFill>
                <a:latin typeface="Arial"/>
                <a:ea typeface="Malgun Gothic"/>
                <a:cs typeface="Malgun Gothic"/>
              </a:rPr>
              <a:t> 전역 그래프, 보이지 않는 지형 상상, 정책 전환 감시, CVaR 위험처럼 층위가 서로 다르다.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B.9 첫 도식이 연구의 층위를 잡는다. 열한 편의 층위와 travplan 적용은 B.9 끝 표에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38125"/>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557</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557</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3225"/>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557</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557</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557</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557</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126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Planner는 규칙 풀스택에서 "후보 생성, 검증, 선택"으로 모였다.</a:t>
            </a:r>
            <a:r>
              <a:rPr sz="1050" b="0" i="0">
                <a:solidFill>
                  <a:srgbClr val="16213A"/>
                </a:solidFill>
                <a:latin typeface="Arial"/>
                <a:ea typeface="Malgun Gothic"/>
                <a:cs typeface="Malgun Gothic"/>
              </a:rPr>
              <a:t> travplan의 Planner D가 후보를 내고 점수가 고르는 구조와 같은 방향이다.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B.12.1은 공개 스택, B.11은 E2E 주행, B.13은 연구 역사와 2026 상용화다. 한눈에 볼 표는 B.12.1 첫 표(공개 스택 14개), B.11 표(E2E 7편), B.13.1 표(연구 역사)다. B.12.1은 번호로는 B.12(「로봇별 공개 스택」 탭)에 속하지만, 자동차 내용을 한자리에 모으려고 이 탭에 둔다.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557</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「로봇별 공개 스택」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557</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557</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557</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557</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557</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557</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557</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557</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557</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557</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557</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557</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159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네 로봇을 층별로 비교한 표는 B.12 머리말에 있다. 자동차(B.12.1)는 「자율주행 자동차」 탭에 있다. 사족(B.12.2), 휴머노이드(B.12.3), 바퀴 로봇(B.12.4)은 첫머리마다 공개 스택 표가 있다. 스워브 보도 로봇인 travplan과 가장 가까운 것은 B.12.4이고, travplan이 가져올 것은 B.12.5 표(10행)에 모았다.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557</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557</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557</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557</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38125"/>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557</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557</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557</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557</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557</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38125"/>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557</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557</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38125"/>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557</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194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RSL 연구를 travplan의 층(인식·Planner·Controller·시뮬레이션)에 맞춘 표(17행)는 B.14 머리말에, 연표는 그 아래 토글에 있다. travplan이 가져올 순서 일곱은 B.14.6이다. RSL 밖의 사족·휴머노이드 계보(B.16)는 다음 두 탭에 있다.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557</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557</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557</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557</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557</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557</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557</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557</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557</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557</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557</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557</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557</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557</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557</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557</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557</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38125"/>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557</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557</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5450"/>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557</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557</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557</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557</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557</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557</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557</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557</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557</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263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B.16은 두 탭에 걸친다. 이 탭은 B.16 머리말(조직 표, 계보 그림 두 장, 연표, 자주 나오는 TP 표)과 네 조직(B.16.1 NVIDIA, B.16.2 Google DeepMind, B.16.3 취리히, B.16.4 RAI Institute와 Boston Dynamics)이다. 그 밖 연구실의 사족·휴머노이드, B.16 전체에서 travplan이 가져올 순서(B.16.7), 휴머노이드 주행(B.16.8)은 다음 탭 「다른 연구실·휴머노이드 주행」에 있다. 소절마다 첫 문단 아래 토글에 그 소절의 연구 목록 표가 있다.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휴머노이드다(B.16.5부터는 다음 탭).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 B.16.8에는 지형을 모르는 전신 동작을 넘기는 원격조종 NEXUS도 비교 카드로 있다(2026-10-26 추가, 방법과 수치는 B.16.6).</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557</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557</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557</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557</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557</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557</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557</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557</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557</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557</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557</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557</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557</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557</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557</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557</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557</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557</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557</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68300"/>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557</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557</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557</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557</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31800"/>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557</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557</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557</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38125"/>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557</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557</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5450"/>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557</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557</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557</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557</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557</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557</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557</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557</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557</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557</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557</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557</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557</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557</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557</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557</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557</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557</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557</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557</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557</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52450"/>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557</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2450"/>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557</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557</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557</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557</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557</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557</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557</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557</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557</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557</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400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B.16의 뒤쪽이다. B.16 머리말(조직 표, 계보 그림, 연표, 자주 나오는 TP 표)은 앞 탭 「NVIDIA·DeepMind·취리히·RAI」에 있다. B.16.5는 다른 연구실의 사족보행, B.16.6은 휴머노이드다. B.16.7은 B.16 전체에서 travplan이 가져올 순서 열이고, B.16.8은 휴머노이드 주행(내비 층이 넘기는 것, 학습 정책 출력의 투영)이다. 소절마다 첫 문단 아래 토글에 그 소절의 연구 목록 표가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7" name="TextBox 6"/>
          <p:cNvSpPr txBox="1"/>
          <p:nvPr/>
        </p:nvSpPr>
        <p:spPr>
          <a:xfrm>
            <a:off x="609600" y="228619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557</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557</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557</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7650"/>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557</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557</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557</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557</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557</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557</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557</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47650"/>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557</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557</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557</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557</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557</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557</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557</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557</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557</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557</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9100"/>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557</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557</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557</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557</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557</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38125"/>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557</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557</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557</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557</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557</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557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557</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557</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41300"/>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557</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557</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557</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학습 지형(10 cm 계단, 16.7° 경사)보다 어려운 시험이다.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 주행 관점의 비교(위 층이 무엇을 넘기는가, 원격조종 기록을 시연으로 쓰기)와 실물 배포 그림은 B.16.8에 있다.</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557</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486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298450"/>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488 / 557</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557</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557</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반대 끝의 NEXUS는 사람의 전신 동작을 통째로 넘기지만, 그 명령에 지형 정보는 없다.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NEXUS는 2026-10-26에 확인했다.</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13행)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557</a:t>
            </a:r>
          </a:p>
        </p:txBody>
      </p:sp>
      <p:graphicFrame>
        <p:nvGraphicFramePr>
          <p:cNvPr id="5" name="Table 4"/>
          <p:cNvGraphicFramePr>
            <a:graphicFrameLocks noGrp="1"/>
          </p:cNvGraphicFramePr>
          <p:nvPr/>
        </p:nvGraphicFramePr>
        <p:xfrm>
          <a:off x="609600" y="1244600"/>
          <a:ext cx="10966450" cy="3484560"/>
        </p:xfrm>
        <a:graphic>
          <a:graphicData uri="http://schemas.openxmlformats.org/drawingml/2006/table">
            <a:tbl>
              <a:tblPr firstRow="1" bandRow="1">
                <a:tableStyleId>{5C22544A-7EE6-4342-B048-85BDC9FD1C3A}</a:tableStyleId>
              </a:tblPr>
              <a:tblGrid>
                <a:gridCol w="738386"/>
                <a:gridCol w="3220740"/>
                <a:gridCol w="1152128"/>
                <a:gridCol w="4528542"/>
                <a:gridCol w="132665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지형 정보 없는 평지 전신 동작 13프레임을 넘기고, 깊이 영상을 보는 추종기가 지형에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소절(비교 카드), 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FFDF8"/>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557</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497 / 557</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NEXUS — 위 층이 사람이고, 지형을 모르는 전신 동작을 통째로 넘긴다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arXiv:2609.39000</a:t>
            </a:r>
            <a:r>
              <a:rPr sz="1050" b="0" i="0">
                <a:solidFill>
                  <a:srgbClr val="16213A"/>
                </a:solidFill>
                <a:latin typeface="Arial"/>
                <a:ea typeface="Malgun Gothic"/>
                <a:cs typeface="Malgun Gothic"/>
              </a:rPr>
              <a:t>, Miao 외, TeleAI 외 2026, 방법과 수치는 B.16.6). 위 넷이 경계를 내리는 연구라면, NEXUS는 위 층이 넘기는 명령을 가장 크게 둔다. 원격조종하는 사람의 자세를 별도 PC에서 GMR로 G1에 리타기팅하고, ZeroMQ로 로봇에 비동기로 보낸다. 정책이 받는 명령은 평지 기준 동작 13프레임(현재 하나, 과거 여섯, 앞 여섯)이다. 그 안에 지형 정보는 없다. 사람은 평지에 서 있고, 계단·경사·대는 로봇의 D435i 깊이 영상(32 × 18)만 본다. 정책은 Jetson Orin NX의 ONNX Runtime에서 50 Hz로 돈다. 깊이 영상은 따로 도는 프로세스가 받아 전처리해 넘긴다. 학습 지형은 10 cm 계단과 약 16.7° 경사뿐이었다. 실물 G1은 미세 조정 없이 15 cm 계단을 이어 올랐고, 약 30° 풀밭 경사를 지났고, 60 cm 대에서 내려오거나 뛰어내렸다. 평소의 자세 추종에서는 실패가 없었고, 60 cm 대 내려오기와 옆돌기의 일부 시도에서 넘어졌다. 시도 횟수는 밝히지 않았다. </a:t>
            </a:r>
            <a:r>
              <a:rPr sz="1050" b="1" i="0">
                <a:solidFill>
                  <a:srgbClr val="C2410C"/>
                </a:solidFill>
                <a:latin typeface="Arial"/>
                <a:ea typeface="Malgun Gothic"/>
                <a:cs typeface="Malgun Gothic"/>
              </a:rPr>
              <a:t>어디로 갈지는 아직 사람이 정한다.</a:t>
            </a:r>
            <a:r>
              <a:rPr sz="1050" b="0" i="0">
                <a:solidFill>
                  <a:srgbClr val="16213A"/>
                </a:solidFill>
                <a:latin typeface="Arial"/>
                <a:ea typeface="Malgun Gothic"/>
                <a:cs typeface="Malgun Gothic"/>
              </a:rPr>
              <a:t> 저자는 이 추종기를 과제 수준 Planner에 잇는 것을 다음 과제로 꼽는다. 지형에 맞춘 원격조종이 자율 행동을 배울 시연을 모으는 길이 될 수 있다고도 적었다. 위가 덮인 지형은 다루지 않는다. 프로젝트 페이지에는 동작과 지형(계단, 경사, 물결, 무작위 대)을 골라 응답을 보는 브라우저 데모가 있다.</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499 / 557</a:t>
            </a:r>
          </a:p>
        </p:txBody>
      </p:sp>
      <p:pic>
        <p:nvPicPr>
          <p:cNvPr id="5" name="Picture 4" descr="image.jpg"/>
          <p:cNvPicPr>
            <a:picLocks noChangeAspect="1"/>
          </p:cNvPicPr>
          <p:nvPr/>
        </p:nvPicPr>
        <p:blipFill>
          <a:blip r:embed="rId3"/>
          <a:stretch>
            <a:fillRect/>
          </a:stretch>
        </p:blipFill>
        <p:spPr>
          <a:xfrm>
            <a:off x="1711325" y="1244600"/>
            <a:ext cx="8769350" cy="4445000"/>
          </a:xfrm>
          <a:prstGeom prst="rect">
            <a:avLst/>
          </a:prstGeom>
        </p:spPr>
      </p:pic>
      <p:sp>
        <p:nvSpPr>
          <p:cNvPr id="6" name="TextBox 5"/>
          <p:cNvSpPr txBox="1"/>
          <p:nvPr/>
        </p:nvSpPr>
        <p:spPr>
          <a:xfrm>
            <a:off x="1711325" y="5727700"/>
            <a:ext cx="876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실물 배포(논문 Fig. 1): 운영자는 평지에서 움직이고 G1은 자기 지형에 맞춘다. (a) 계단을 올라 60 cm 대에서 내려온다. (b) 대 모서리를 가로지르는 옆돌기. (c) 경사로와 계단 위 한 발 서기, 대 위 무릎 꿇기와 제자리 뛰기, 실외 계단 오르기와 쪼그려 앉기, 풀밭 경사의 한 무릎 꿇기와 발차기. 출처: NEXUS 프로젝트</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557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 NEXUS는 다른 축의 끝이다. 넘기는 명령은 가장 풍부하지만, 지형은 아래 층만 본다. travplan은 Planner D와 MPPI가 같은 belief TravMap을 봐서, 지형 판단을 한 층에 다 맡기지 않는다. 가져올 것은 저자가 다음 과제로 꼽은 쪽, 곧 원격조종 기록을 자율 행동의 시연으로 쓰는 일이다. 배달로봇 원격조종 로그로 보도 주행을 배운 MIMIC(B.6d)이 같은 길의 바퀴 로봇판이다. travplan에서는 실물 시험에서 사람이 원격으로 몬 구간이 그 자리다. 그 구간을 Planner D의 DAgger 시연에 더하는 판이 가능하다. 실물 시험 전이라 아직 기록이 없다.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
        <p:nvSpPr>
          <p:cNvPr id="7" name="TextBox 6"/>
          <p:cNvSpPr txBox="1"/>
          <p:nvPr/>
        </p:nvSpPr>
        <p:spPr>
          <a:xfrm>
            <a:off x="609600" y="31543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8" name="Picture 7" descr="image.png"/>
          <p:cNvPicPr>
            <a:picLocks noChangeAspect="1"/>
          </p:cNvPicPr>
          <p:nvPr/>
        </p:nvPicPr>
        <p:blipFill>
          <a:blip r:embed="rId4"/>
          <a:stretch>
            <a:fillRect/>
          </a:stretch>
        </p:blipFill>
        <p:spPr>
          <a:xfrm>
            <a:off x="609600" y="4542234"/>
            <a:ext cx="2505075" cy="241300"/>
          </a:xfrm>
          <a:prstGeom prst="rect">
            <a:avLst/>
          </a:prstGeom>
        </p:spPr>
      </p:pic>
      <p:sp>
        <p:nvSpPr>
          <p:cNvPr id="9" name="TextBox 8"/>
          <p:cNvSpPr txBox="1"/>
          <p:nvPr/>
        </p:nvSpPr>
        <p:spPr>
          <a:xfrm>
            <a:off x="609600" y="481974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10" name="TextBox 9"/>
          <p:cNvSpPr txBox="1"/>
          <p:nvPr/>
        </p:nvSpPr>
        <p:spPr>
          <a:xfrm>
            <a:off x="609600" y="534164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6" name="Picture 5" descr="image.png"/>
          <p:cNvPicPr>
            <a:picLocks noChangeAspect="1"/>
          </p:cNvPicPr>
          <p:nvPr/>
        </p:nvPicPr>
        <p:blipFill>
          <a:blip r:embed="rId5"/>
          <a:stretch>
            <a:fillRect/>
          </a:stretch>
        </p:blipFill>
        <p:spPr>
          <a:xfrm>
            <a:off x="609600" y="2415977"/>
            <a:ext cx="2301875" cy="428625"/>
          </a:xfrm>
          <a:prstGeom prst="rect">
            <a:avLst/>
          </a:prstGeom>
        </p:spPr>
      </p:pic>
      <p:sp>
        <p:nvSpPr>
          <p:cNvPr id="7" name="TextBox 6"/>
          <p:cNvSpPr txBox="1"/>
          <p:nvPr/>
        </p:nvSpPr>
        <p:spPr>
          <a:xfrm>
            <a:off x="609600" y="28569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502 / 557</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504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분야 × 방식 표는 B.18.1에, 층별 그림과 분야마다의 원문 그림은 B.18.2에, 분야를 가로지르는 여덟 흐름은 B.18.3에 있다. travplan의 두 층이 어느 분야의 대세를 따르는지는 B.18.6이고, 근거 123건은 B.18 끝 토글에 있다.</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507 / 557</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분야마다 같은 세 층(상위, 계획, 실행)에 다른 방식이 앉아 있다.</a:t>
            </a:r>
            <a:r>
              <a:rPr sz="1050" b="0" i="0">
                <a:solidFill>
                  <a:srgbClr val="16213A"/>
                </a:solidFill>
                <a:latin typeface="Arial"/>
                <a:ea typeface="Malgun Gothic"/>
                <a:cs typeface="Malgun Gothic"/>
              </a:rPr>
              <a:t> 아래 그림이 그 배치다. 레이싱카는 세 층이 모두 최적화·샘플링·모델 기반 제어이고, 사족보행과 휴머노이드는 실행 층이 강화학습이다. 도로 자율주행은 위 두 층이 학습 모델이고, 모바일 로봇은 계획과 실행을 로컬 컨트롤러 하나(Nav2 기본값은 MPPI)가 맡는다. </a:t>
            </a:r>
            <a:r>
              <a:rPr sz="1050" b="1" i="0">
                <a:solidFill>
                  <a:srgbClr val="C2410C"/>
                </a:solidFill>
                <a:latin typeface="Arial"/>
                <a:ea typeface="Malgun Gothic"/>
                <a:cs typeface="Malgun Gothic"/>
              </a:rPr>
              <a:t>궤적 최적화(주황)가 맨 위 층을 차지한 분야는 레이싱카뿐이고, 사족보행에서는 발 디딤 참조로 내려왔으며, 나머지 분야에서는 한 층을 맡지 못한다.</a:t>
            </a:r>
            <a:r>
              <a:rPr sz="1050" b="0" i="0">
                <a:solidFill>
                  <a:srgbClr val="16213A"/>
                </a:solidFill>
                <a:latin typeface="Arial"/>
                <a:ea typeface="Malgun Gothic"/>
                <a:cs typeface="Malgun Gothic"/>
              </a:rPr>
              <a:t> B.18.1 표의 "정착" 칸이 그 자리다. 도로에서는 후처리·검증, 휴머노이드에서는 보상·참조·데이터 생성으로 남았다.</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557</a:t>
            </a:r>
          </a:p>
        </p:txBody>
      </p:sp>
      <p:pic>
        <p:nvPicPr>
          <p:cNvPr id="5" name="Picture 4" descr="image.jpg"/>
          <p:cNvPicPr>
            <a:picLocks noChangeAspect="1"/>
          </p:cNvPicPr>
          <p:nvPr/>
        </p:nvPicPr>
        <p:blipFill>
          <a:blip r:embed="rId3"/>
          <a:stretch>
            <a:fillRect/>
          </a:stretch>
        </p:blipFill>
        <p:spPr>
          <a:xfrm>
            <a:off x="2155825" y="1244600"/>
            <a:ext cx="7880350" cy="4445000"/>
          </a:xfrm>
          <a:prstGeom prst="rect">
            <a:avLst/>
          </a:prstGeom>
        </p:spPr>
      </p:pic>
      <p:sp>
        <p:nvSpPr>
          <p:cNvPr id="6" name="TextBox 5"/>
          <p:cNvSpPr txBox="1"/>
          <p:nvPr/>
        </p:nvSpPr>
        <p:spPr>
          <a:xfrm>
            <a:off x="2155825" y="5727700"/>
            <a:ext cx="7880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층마다 무엇이 있나: B.18.1 표와 이 절의 서술을 상위·계획·실행 층으로 다시 놓았다. 색은 B.18.1의 방식 계열이고, 아래 줄은 분야마다의 "다음"이다. 칸은 공개 자료로 본 대표 구성이라 회사마다 다르다. travplan 열은 B.18.6의 대응을 옮긴 것이다. 출처: travplan(scripts/make_doc_figures.py --domains)</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분야마다 </a:t>
            </a:r>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을 차례로 적고, 단락 뒤에 그 내용을 보여 주는 원문 그림을 붙였다. 마지막 </a:t>
            </a:r>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은 한두 문장이고, 자세한 대응은 B.18.6에 있다.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a:t>
            </a:r>
          </a:p>
        </p:txBody>
      </p:sp>
      <p:pic>
        <p:nvPicPr>
          <p:cNvPr id="8" name="Picture 7" descr="image.jpg"/>
          <p:cNvPicPr>
            <a:picLocks noChangeAspect="1"/>
          </p:cNvPicPr>
          <p:nvPr/>
        </p:nvPicPr>
        <p:blipFill>
          <a:blip r:embed="rId4"/>
          <a:stretch>
            <a:fillRect/>
          </a:stretch>
        </p:blipFill>
        <p:spPr>
          <a:xfrm>
            <a:off x="609600" y="2377281"/>
            <a:ext cx="4406900" cy="2667000"/>
          </a:xfrm>
          <a:prstGeom prst="rect">
            <a:avLst/>
          </a:prstGeom>
        </p:spPr>
      </p:pic>
      <p:sp>
        <p:nvSpPr>
          <p:cNvPr id="9" name="TextBox 8"/>
          <p:cNvSpPr txBox="1"/>
          <p:nvPr/>
        </p:nvSpPr>
        <p:spPr>
          <a:xfrm>
            <a:off x="6096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레이스라인 (Fig. 5): Yas Marina 6–7번 코너를 지나는 최소시간 레이스라인(굵은 검은 선)이다. 회색 격자는 최적화와 주행 중 계획이 함께 쓰는 위치별 가속 한계(GripMap)이고, 점선은 제어기가 만든 횡 오차를 두 배로 키워 그린 것이다. 출처: arXiv:2602.08571</a:t>
            </a:r>
          </a:p>
        </p:txBody>
      </p:sp>
      <p:pic>
        <p:nvPicPr>
          <p:cNvPr id="10" name="Picture 9" descr="image.jpg"/>
          <p:cNvPicPr>
            <a:picLocks noChangeAspect="1"/>
          </p:cNvPicPr>
          <p:nvPr/>
        </p:nvPicPr>
        <p:blipFill>
          <a:blip r:embed="rId5"/>
          <a:stretch>
            <a:fillRect/>
          </a:stretch>
        </p:blipFill>
        <p:spPr>
          <a:xfrm>
            <a:off x="6172200" y="2377281"/>
            <a:ext cx="4178300" cy="2667000"/>
          </a:xfrm>
          <a:prstGeom prst="rect">
            <a:avLst/>
          </a:prstGeom>
        </p:spPr>
      </p:pic>
      <p:sp>
        <p:nvSpPr>
          <p:cNvPr id="11" name="TextBox 10"/>
          <p:cNvSpPr txBox="1"/>
          <p:nvPr/>
        </p:nvSpPr>
        <p:spPr>
          <a:xfrm>
            <a:off x="61722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로컬 샘플링 (Fig. 7): 주행 중 로컬 플래너가 만든 궤적 후보다. 회색 점선은 타당성 검사에서 떨어진 후보이고, 파란 선은 남은 후보를 시연용 비용으로 칠한 것이다. 결승에서 우승을 가른 5번 코너 추월을 다시 그렸다. 출처: arXiv:2602.08571</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스택을 공개한 상위 팀은 모두 같은 모듈형이다. TUM(A2RL 2024 우승 스택) </a:t>
            </a:r>
            <a:r>
              <a:rPr sz="1050" b="0" i="0">
                <a:solidFill>
                  <a:srgbClr val="1D4ED8"/>
                </a:solidFill>
                <a:latin typeface="Arial"/>
                <a:ea typeface="Malgun Gothic"/>
                <a:cs typeface="Malgun Gothic"/>
                <a:hlinkClick r:id="rId3"/>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4"/>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5"/>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6"/>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7"/>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8"/>
              </a:rPr>
              <a:t>R7</a:t>
            </a:r>
            <a:r>
              <a:rPr sz="1050" b="0" i="0">
                <a:solidFill>
                  <a:srgbClr val="16213A"/>
                </a:solidFill>
                <a:latin typeface="Arial"/>
                <a:ea typeface="Malgun Gothic"/>
                <a:cs typeface="Malgun Gothic"/>
              </a:rPr>
              <a:t>.</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557</a:t>
            </a:r>
          </a:p>
        </p:txBody>
      </p:sp>
      <p:pic>
        <p:nvPicPr>
          <p:cNvPr id="5" name="Picture 4" descr="image.jpg"/>
          <p:cNvPicPr>
            <a:picLocks noChangeAspect="1"/>
          </p:cNvPicPr>
          <p:nvPr/>
        </p:nvPicPr>
        <p:blipFill>
          <a:blip r:embed="rId3"/>
          <a:stretch>
            <a:fillRect/>
          </a:stretch>
        </p:blipFill>
        <p:spPr>
          <a:xfrm>
            <a:off x="1016000" y="1244600"/>
            <a:ext cx="10160000" cy="4235450"/>
          </a:xfrm>
          <a:prstGeom prst="rect">
            <a:avLst/>
          </a:prstGeom>
        </p:spPr>
      </p:pic>
      <p:sp>
        <p:nvSpPr>
          <p:cNvPr id="6" name="TextBox 5"/>
          <p:cNvSpPr txBox="1"/>
          <p:nvPr/>
        </p:nvSpPr>
        <p:spPr>
          <a:xfrm>
            <a:off x="1016000" y="5518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ForzaETH 레이스 스택 (Fig. 3): See–Think–Act 순서의 모듈형 구조다. 인식은 상태 추정(지도, 주행거리 필터, 위치 추정)과 상대 차량 추정(검출, 추적)이고, 계획은 전역 플래너·로컬 플래너·상태 기계, 제어는 종·횡 제어다. 같은 스택이 실차와 시뮬레이터를 오간다. 출처: arXiv:2403.11784</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단독 주행에서 4대(CES 2025), 6대 동시 결승(A2RL 2025) </a:t>
            </a:r>
            <a:r>
              <a:rPr sz="1050" b="0" i="0">
                <a:solidFill>
                  <a:srgbClr val="1D4ED8"/>
                </a:solidFill>
                <a:latin typeface="Arial"/>
                <a:ea typeface="Malgun Gothic"/>
                <a:cs typeface="Malgun Gothic"/>
                <a:hlinkClick r:id="rId3"/>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4"/>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5"/>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6"/>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7"/>
              </a:rPr>
              <a:t>R3</a:t>
            </a:r>
            <a:r>
              <a:rPr sz="1050" b="0" i="0">
                <a:solidFill>
                  <a:srgbClr val="16213A"/>
                </a:solidFill>
                <a:latin typeface="Arial"/>
                <a:ea typeface="Malgun Gothic"/>
                <a:cs typeface="Malgun Gothic"/>
              </a:rPr>
              <a:t>.</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557</a:t>
            </a:r>
          </a:p>
        </p:txBody>
      </p:sp>
      <p:pic>
        <p:nvPicPr>
          <p:cNvPr id="5" name="Picture 4" descr="image.jpg"/>
          <p:cNvPicPr>
            <a:picLocks noChangeAspect="1"/>
          </p:cNvPicPr>
          <p:nvPr/>
        </p:nvPicPr>
        <p:blipFill>
          <a:blip r:embed="rId3"/>
          <a:stretch>
            <a:fillRect/>
          </a:stretch>
        </p:blipFill>
        <p:spPr>
          <a:xfrm>
            <a:off x="2714625" y="1244600"/>
            <a:ext cx="6762750" cy="4445000"/>
          </a:xfrm>
          <a:prstGeom prst="rect">
            <a:avLst/>
          </a:prstGeom>
        </p:spPr>
      </p:pic>
      <p:sp>
        <p:nvSpPr>
          <p:cNvPr id="6" name="TextBox 5"/>
          <p:cNvSpPr txBox="1"/>
          <p:nvPr/>
        </p:nvSpPr>
        <p:spPr>
          <a:xfrm>
            <a:off x="2714625" y="5727700"/>
            <a:ext cx="6762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SGTP (Fig. 1): GPU로 뿌린 궤적 후보를 게임을 아는 비용으로 줄 세우고, 타당한 것 가운데 비용이 가장 낮은 궤적을 고른다. 상대의 반응은 10 Hz 반복 최선 응답으로 풀어, 바퀴를 맞댄 경합·기회 추월·수비 차단을 오간다(아래 줄). 시뮬레이션 결과다. 출처: arXiv:2607.25388</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레이싱카의 실행 층(모델 기반 MPC)은 travplan의 NMPC 갈래와 같은 자리다. 모델이 맞을 때 강하고, 모델이 실행 지연을 모르면 약하다. travplan의 NMPC가 스워브 plant 조건에서 MPPI보다 치명이 많았던 것(TP-0152)이 그 예다. IU 팀이 PP, 선형 MPC, MPPI로 옮겨 간 길은 travplan이 MPPI를 주력 Controller로 둔 방향과 같다.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557</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State Lattice의 제어 집합 (Fig. 4): 칸 5 cm, 회전 반경 1 m, 방향 16개로 만든 운동 원시다. 방향마다 원시가 3–5개이고, 전역 계획은 이 원시를 이어 기구학적으로 갈 수 있는 경로를 찾는다. 출처: arXiv:2401.13078</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516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ROS 2 Nav2의 기본 로컬 컨트롤러가 Humble의 DWB에서 Jazzy 이후 MPPI로 바뀌었다 </a:t>
            </a:r>
            <a:r>
              <a:rPr sz="1050" b="0" i="0">
                <a:solidFill>
                  <a:srgbClr val="1D4ED8"/>
                </a:solidFill>
                <a:latin typeface="Arial"/>
                <a:ea typeface="Malgun Gothic"/>
                <a:cs typeface="Malgun Gothic"/>
                <a:hlinkClick r:id="rId3"/>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4"/>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6"/>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7"/>
              </a:rPr>
              <a:t>N13</a:t>
            </a:r>
            <a:r>
              <a:rPr sz="1050" b="0" i="0">
                <a:solidFill>
                  <a:srgbClr val="16213A"/>
                </a:solidFill>
                <a:latin typeface="Arial"/>
                <a:ea typeface="Malgun Gothic"/>
                <a:cs typeface="Malgun Gothic"/>
              </a:rPr>
              <a:t>.</a:t>
            </a:r>
          </a:p>
        </p:txBody>
      </p:sp>
      <p:pic>
        <p:nvPicPr>
          <p:cNvPr id="6" name="Picture 5" descr="image.jpg"/>
          <p:cNvPicPr>
            <a:picLocks noChangeAspect="1"/>
          </p:cNvPicPr>
          <p:nvPr/>
        </p:nvPicPr>
        <p:blipFill>
          <a:blip r:embed="rId8"/>
          <a:stretch>
            <a:fillRect/>
          </a:stretch>
        </p:blipFill>
        <p:spPr>
          <a:xfrm>
            <a:off x="609600" y="1982986"/>
            <a:ext cx="3225800" cy="2667000"/>
          </a:xfrm>
          <a:prstGeom prst="rect">
            <a:avLst/>
          </a:prstGeom>
        </p:spPr>
      </p:pic>
      <p:sp>
        <p:nvSpPr>
          <p:cNvPr id="7" name="TextBox 6"/>
          <p:cNvSpPr txBox="1"/>
          <p:nvPr/>
        </p:nvSpPr>
        <p:spPr>
          <a:xfrm>
            <a:off x="609600" y="4688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pic>
        <p:nvPicPr>
          <p:cNvPr id="8" name="Picture 7" descr="image.jpg"/>
          <p:cNvPicPr>
            <a:picLocks noChangeAspect="1"/>
          </p:cNvPicPr>
          <p:nvPr/>
        </p:nvPicPr>
        <p:blipFill>
          <a:blip r:embed="rId9"/>
          <a:stretch>
            <a:fillRect/>
          </a:stretch>
        </p:blipFill>
        <p:spPr>
          <a:xfrm>
            <a:off x="6172200" y="1982986"/>
            <a:ext cx="5410200" cy="1206500"/>
          </a:xfrm>
          <a:prstGeom prst="rect">
            <a:avLst/>
          </a:prstGeom>
        </p:spPr>
      </p:pic>
      <p:sp>
        <p:nvSpPr>
          <p:cNvPr id="9" name="TextBox 8"/>
          <p:cNvSpPr txBox="1"/>
          <p:nvPr/>
        </p:nvSpPr>
        <p:spPr>
          <a:xfrm>
            <a:off x="6172200" y="32275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BARN 환경 (Fig. 1): Gazebo의 BARN 세계 넷이고, 왼쪽에서 오른쪽으로 갈수록 어렵다. 2024년 대회는 시뮬레이션 예선 뒤 실물 결선을 치렀고, 행동복제 팀이 처음 실물 우승했다. 출처: arXiv:2407.01862</a:t>
            </a:r>
          </a:p>
        </p:txBody>
      </p:sp>
      <p:sp>
        <p:nvSpPr>
          <p:cNvPr id="10" name="TextBox 9"/>
          <p:cNvSpPr txBox="1"/>
          <p:nvPr/>
        </p:nvSpPr>
        <p:spPr>
          <a:xfrm>
            <a:off x="609600" y="5061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10"/>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1"/>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2"/>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3"/>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4"/>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5"/>
              </a:rPr>
              <a:t>N11</a:t>
            </a:r>
            <a:r>
              <a:rPr sz="1050" b="0" i="0">
                <a:solidFill>
                  <a:srgbClr val="16213A"/>
                </a:solidFill>
                <a:latin typeface="Arial"/>
                <a:ea typeface="Malgun Gothic"/>
                <a:cs typeface="Malgun Gothic"/>
              </a:rPr>
              <a:t>.</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557</a:t>
            </a:r>
          </a:p>
        </p:txBody>
      </p:sp>
      <p:pic>
        <p:nvPicPr>
          <p:cNvPr id="5" name="Picture 4" descr="image.jpg"/>
          <p:cNvPicPr>
            <a:picLocks noChangeAspect="1"/>
          </p:cNvPicPr>
          <p:nvPr/>
        </p:nvPicPr>
        <p:blipFill>
          <a:blip r:embed="rId3"/>
          <a:stretch>
            <a:fillRect/>
          </a:stretch>
        </p:blipFill>
        <p:spPr>
          <a:xfrm>
            <a:off x="609600" y="1244600"/>
            <a:ext cx="49212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1만 대 플릿의 처리량과 계획 시간 (SILLM Fig. 1): 지도 6개, 로봇 1만 대에서 평균 처리량과 스텝당 계획 시간을 비교한다. (L)은 학습 기반, (S)는 탐색 기반이다. 모방학습 해법 SILLM이 처리량 40.98로 가장 높고, 탐색 기반 WPPL은 37.15에 스텝당 4.1 s가 걸린다. PIBT는 스텝당 0.014 s로 가장 빠르다. 출처: arXiv:2410.21415</a:t>
            </a:r>
          </a:p>
        </p:txBody>
      </p:sp>
      <p:pic>
        <p:nvPicPr>
          <p:cNvPr id="7" name="Picture 6" descr="image.jpg"/>
          <p:cNvPicPr>
            <a:picLocks noChangeAspect="1"/>
          </p:cNvPicPr>
          <p:nvPr/>
        </p:nvPicPr>
        <p:blipFill>
          <a:blip r:embed="rId4"/>
          <a:stretch>
            <a:fillRect/>
          </a:stretch>
        </p:blipFill>
        <p:spPr>
          <a:xfrm>
            <a:off x="6172200" y="1244600"/>
            <a:ext cx="5410200" cy="1612900"/>
          </a:xfrm>
          <a:prstGeom prst="rect">
            <a:avLst/>
          </a:prstGeom>
        </p:spPr>
      </p:pic>
      <p:sp>
        <p:nvSpPr>
          <p:cNvPr id="8" name="TextBox 7"/>
          <p:cNvSpPr txBox="1"/>
          <p:nvPr/>
        </p:nvSpPr>
        <p:spPr>
          <a:xfrm>
            <a:off x="6172200" y="2895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travplan의 아래 층(MPPI)은 이 분야의 대세를 그대로 따른다. 치명 셀 같은 비미분 비용을 그대로 쓴다는 동인도 같다(B.18.6, Controller 문서 E.10). Planner D는 NoMaD·NavDP와 같은 "연구 단계" 칸에 있어, 배치 근거는 Guidance 폴백을 켠 스택(</a:t>
            </a:r>
            <a:r>
              <a:rPr sz="1050" b="0" i="0">
                <a:solidFill>
                  <a:srgbClr val="16213A"/>
                </a:solidFill>
                <a:latin typeface="Consolas"/>
                <a:ea typeface="Malgun Gothic"/>
                <a:cs typeface="Malgun Gothic"/>
              </a:rPr>
              <a:t>planner_df+mppi</a:t>
            </a:r>
            <a:r>
              <a:rPr sz="1050" b="0" i="0">
                <a:solidFill>
                  <a:srgbClr val="16213A"/>
                </a:solidFill>
                <a:latin typeface="Arial"/>
                <a:ea typeface="Malgun Gothic"/>
                <a:cs typeface="Malgun Gothic"/>
              </a:rPr>
              <a:t>)으로 쌓는다.</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a:t>
            </a:r>
          </a:p>
        </p:txBody>
      </p:sp>
      <p:sp>
        <p:nvSpPr>
          <p:cNvPr id="11" name="TextBox 10"/>
          <p:cNvSpPr txBox="1"/>
          <p:nvPr/>
        </p:nvSpPr>
        <p:spPr>
          <a:xfrm>
            <a:off x="609600" y="52924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7"/>
              </a:rPr>
              <a:t>A2</a:t>
            </a:r>
            <a:r>
              <a:rPr sz="1050" b="0" i="0">
                <a:solidFill>
                  <a:srgbClr val="16213A"/>
                </a:solidFill>
                <a:latin typeface="Arial"/>
                <a:ea typeface="Malgun Gothic"/>
                <a:cs typeface="Malgun Gothic"/>
              </a:rPr>
              <a:t>) 순으로 옮겨 갔다. B.12.1이 이 흐름을 깊게 다룬다.</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557</a:t>
            </a:r>
          </a:p>
        </p:txBody>
      </p:sp>
      <p:pic>
        <p:nvPicPr>
          <p:cNvPr id="5" name="Picture 4" descr="image.jpg"/>
          <p:cNvPicPr>
            <a:picLocks noChangeAspect="1"/>
          </p:cNvPicPr>
          <p:nvPr/>
        </p:nvPicPr>
        <p:blipFill>
          <a:blip r:embed="rId3"/>
          <a:stretch>
            <a:fillRect/>
          </a:stretch>
        </p:blipFill>
        <p:spPr>
          <a:xfrm>
            <a:off x="609600" y="1244600"/>
            <a:ext cx="5410200" cy="1720850"/>
          </a:xfrm>
          <a:prstGeom prst="rect">
            <a:avLst/>
          </a:prstGeom>
        </p:spPr>
      </p:pic>
      <p:sp>
        <p:nvSpPr>
          <p:cNvPr id="6" name="TextBox 5"/>
          <p:cNvSpPr txBox="1"/>
          <p:nvPr/>
        </p:nvSpPr>
        <p:spPr>
          <a:xfrm>
            <a:off x="609600" y="3003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pic>
        <p:nvPicPr>
          <p:cNvPr id="7" name="Picture 6" descr="image.jpg"/>
          <p:cNvPicPr>
            <a:picLocks noChangeAspect="1"/>
          </p:cNvPicPr>
          <p:nvPr/>
        </p:nvPicPr>
        <p:blipFill>
          <a:blip r:embed="rId4"/>
          <a:stretch>
            <a:fillRect/>
          </a:stretch>
        </p:blipFill>
        <p:spPr>
          <a:xfrm>
            <a:off x="6172200" y="1244600"/>
            <a:ext cx="45593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
        <p:nvSpPr>
          <p:cNvPr id="9" name="TextBox 8"/>
          <p:cNvSpPr txBox="1"/>
          <p:nvPr/>
        </p:nvSpPr>
        <p:spPr>
          <a:xfrm>
            <a:off x="609600" y="4322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5"/>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6"/>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8"/>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9"/>
              </a:rPr>
              <a:t>A9</a:t>
            </a:r>
            <a:r>
              <a:rPr sz="1050" b="0" i="0">
                <a:solidFill>
                  <a:srgbClr val="16213A"/>
                </a:solidFill>
                <a:latin typeface="Arial"/>
                <a:ea typeface="Malgun Gothic"/>
                <a:cs typeface="Malgun Gothic"/>
              </a:rPr>
              <a:t>.</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557</a:t>
            </a:r>
          </a:p>
        </p:txBody>
      </p:sp>
      <p:pic>
        <p:nvPicPr>
          <p:cNvPr id="5" name="Picture 4" descr="image.jpg"/>
          <p:cNvPicPr>
            <a:picLocks noChangeAspect="1"/>
          </p:cNvPicPr>
          <p:nvPr/>
        </p:nvPicPr>
        <p:blipFill>
          <a:blip r:embed="rId3"/>
          <a:stretch>
            <a:fillRect/>
          </a:stretch>
        </p:blipFill>
        <p:spPr>
          <a:xfrm>
            <a:off x="1016000" y="1244600"/>
            <a:ext cx="10160000" cy="3638550"/>
          </a:xfrm>
          <a:prstGeom prst="rect">
            <a:avLst/>
          </a:prstGeom>
        </p:spPr>
      </p:pic>
      <p:sp>
        <p:nvSpPr>
          <p:cNvPr id="6" name="TextBox 5"/>
          <p:cNvSpPr txBox="1"/>
          <p:nvPr/>
        </p:nvSpPr>
        <p:spPr>
          <a:xfrm>
            <a:off x="1016000" y="4921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GTRS의 추론 (Fig. 2): 궤적 생성기가 낸 후보와 미리 만든 궤적 어휘를 합친 뒤, 두 채점기(GTRS-Dense, GTRS-Aug)가 센서 입력으로 점수를 매긴다. 두 점수의 평균이 가장 큰 궤적을 고른다. B.18.3이 NAVSIM 우승 스코어러로 드는 "후보 생성 + 채점" 구조다. 출처: arXiv:2506.06664</a:t>
            </a:r>
          </a:p>
        </p:txBody>
      </p:sp>
      <p:sp>
        <p:nvSpPr>
          <p:cNvPr id="7" name="TextBox 6"/>
          <p:cNvSpPr txBox="1"/>
          <p:nvPr/>
        </p:nvSpPr>
        <p:spPr>
          <a:xfrm>
            <a:off x="609600" y="5294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VLM·VLA와 RL 후학습(2025 Waymo 종단간 챌린지 1위 </a:t>
            </a:r>
            <a:r>
              <a:rPr sz="1050" b="0" i="0">
                <a:solidFill>
                  <a:srgbClr val="1D4ED8"/>
                </a:solidFill>
                <a:latin typeface="Arial"/>
                <a:ea typeface="Malgun Gothic"/>
                <a:cs typeface="Malgun Gothic"/>
                <a:hlinkClick r:id="rId4"/>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5"/>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6"/>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7"/>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Planner D가 후보 궤적 16개를 만들고 비학습 선택기로 하나를 고르는 구조는 이 분야의 "후보 생성 + 채점"과 같은 꼴이다. 다른 점은 독립 검증층이다. 로보택시는 학습 출력을 물리 제약과 법규로 따로 점검하고, travplan은 그 자리를 Guidance 폴백과 치명 셀 규칙이 나눠 맡는다(B.18.6).</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521 / 557</a:t>
            </a:r>
          </a:p>
        </p:txBody>
      </p:sp>
      <p:pic>
        <p:nvPicPr>
          <p:cNvPr id="5" name="Picture 4" descr="image.jpg"/>
          <p:cNvPicPr>
            <a:picLocks noChangeAspect="1"/>
          </p:cNvPicPr>
          <p:nvPr/>
        </p:nvPicPr>
        <p:blipFill>
          <a:blip r:embed="rId3"/>
          <a:stretch>
            <a:fillRect/>
          </a:stretch>
        </p:blipFill>
        <p:spPr>
          <a:xfrm>
            <a:off x="2330450" y="1244600"/>
            <a:ext cx="7531100" cy="4445000"/>
          </a:xfrm>
          <a:prstGeom prst="rect">
            <a:avLst/>
          </a:prstGeom>
        </p:spPr>
      </p:pic>
      <p:sp>
        <p:nvSpPr>
          <p:cNvPr id="6" name="TextBox 5"/>
          <p:cNvSpPr txBox="1"/>
          <p:nvPr/>
        </p:nvSpPr>
        <p:spPr>
          <a:xfrm>
            <a:off x="2330450" y="5727700"/>
            <a:ext cx="753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정책을 만드는 단계 (Fig. 1): 물리 파라미터 식별, 액추에이터 네트워크 학습, 혼합 시뮬레이터에서 정책 학습, 실물 배치. 출처: Hwangbo 외, Science Robotics 2019</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522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ANYbotics는 2023년 RL 보행을 운용 중인 로봇 전부에 배포했다고 밝혔다(자사 발표) </a:t>
            </a:r>
            <a:r>
              <a:rPr sz="1050" b="0" i="0">
                <a:solidFill>
                  <a:srgbClr val="1D4ED8"/>
                </a:solidFill>
                <a:latin typeface="Arial"/>
                <a:ea typeface="Malgun Gothic"/>
                <a:cs typeface="Malgun Gothic"/>
                <a:hlinkClick r:id="rId3"/>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4"/>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a:t>
            </a:r>
          </a:p>
        </p:txBody>
      </p:sp>
      <p:pic>
        <p:nvPicPr>
          <p:cNvPr id="6" name="Picture 5" descr="image.jpg"/>
          <p:cNvPicPr>
            <a:picLocks noChangeAspect="1"/>
          </p:cNvPicPr>
          <p:nvPr/>
        </p:nvPicPr>
        <p:blipFill>
          <a:blip r:embed="rId5"/>
          <a:stretch>
            <a:fillRect/>
          </a:stretch>
        </p:blipFill>
        <p:spPr>
          <a:xfrm>
            <a:off x="609600" y="1982986"/>
            <a:ext cx="5410200" cy="1714500"/>
          </a:xfrm>
          <a:prstGeom prst="rect">
            <a:avLst/>
          </a:prstGeom>
        </p:spPr>
      </p:pic>
      <p:sp>
        <p:nvSpPr>
          <p:cNvPr id="7" name="TextBox 6"/>
          <p:cNvSpPr txBox="1"/>
          <p:nvPr/>
        </p:nvSpPr>
        <p:spPr>
          <a:xfrm>
            <a:off x="609600" y="3735586"/>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Spot의 이전 보행 제어 (BD 블로그): 지형을 아는 경로 계획기가 궤적을 내면, 걸음새마다 하나씩 있는 보행 제어기 N개가 함께 풀고 선택기가 점수가 가장 높은 출력을 고른다. BD는 이 구조로 넘어짐 사이 평균 시간 수백 시간을 얻었지만, MPC 여러 개를 병렬로 평가하느라 온보드 연산과 에너지가 많이 든다고 적는다. 출처: Boston Dynamics</a:t>
            </a:r>
          </a:p>
        </p:txBody>
      </p:sp>
      <p:pic>
        <p:nvPicPr>
          <p:cNvPr id="8" name="Picture 7" descr="image.jpg"/>
          <p:cNvPicPr>
            <a:picLocks noChangeAspect="1"/>
          </p:cNvPicPr>
          <p:nvPr/>
        </p:nvPicPr>
        <p:blipFill>
          <a:blip r:embed="rId6"/>
          <a:stretch>
            <a:fillRect/>
          </a:stretch>
        </p:blipFill>
        <p:spPr>
          <a:xfrm>
            <a:off x="6172200" y="1982986"/>
            <a:ext cx="5410200" cy="692150"/>
          </a:xfrm>
          <a:prstGeom prst="rect">
            <a:avLst/>
          </a:prstGeom>
        </p:spPr>
      </p:pic>
      <p:sp>
        <p:nvSpPr>
          <p:cNvPr id="9" name="TextBox 8"/>
          <p:cNvSpPr txBox="1"/>
          <p:nvPr/>
        </p:nvSpPr>
        <p:spPr>
          <a:xfrm>
            <a:off x="6172200" y="27132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정책을 넣은 Spot 보행 제어 (BD 블로그): RL 정책이 경로 계획기의 궤적과 상태·지도를 받아 궤적과 걸음새를 내고, 보행 제어기 하나가 그것을 실행한다. 병렬 평가와 선택을 RL이 대신하고, 모델 기반 보행 제어기는 남았다. 출처: Boston Dynamics</a:t>
            </a:r>
          </a:p>
        </p:txBody>
      </p:sp>
      <p:sp>
        <p:nvSpPr>
          <p:cNvPr id="10" name="TextBox 9"/>
          <p:cNvSpPr txBox="1"/>
          <p:nvPr/>
        </p:nvSpPr>
        <p:spPr>
          <a:xfrm>
            <a:off x="609600" y="42510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7"/>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8"/>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9"/>
              </a:rPr>
              <a:t>Q10</a:t>
            </a:r>
            <a:r>
              <a:rPr sz="1050" b="0" i="0">
                <a:solidFill>
                  <a:srgbClr val="16213A"/>
                </a:solidFill>
                <a:latin typeface="Arial"/>
                <a:ea typeface="Malgun Gothic"/>
                <a:cs typeface="Malgun Gothic"/>
              </a:rPr>
              <a:t>.</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523 / 557</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3244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DIAL-MPC (Fig. 1): 확산 모델의 담금질(annealing)을 본뜬 두 겹의 샘플링 MPC다. 궤적 단위로는 샘플링 분산을 바꿔 가며 넓게 찾고, 행동 단위로는 지평 안의 위치마다 다른 분산을 쓴다. 학습 없이 실물 Go2의 속도 추종과 7 kg 짐을 진 점프, 시뮬레이션의 상자 오르기와 휴머노이드 달리기를 해낸다. 출처: arXiv:2409.15610</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이 분야의 대세인 RL 실행 층은 travplan에서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(TP-0128)뿐이고, 벤치마크 스택에는 아직 들어가지 않았다. Spot처럼 모델 기반 제어기는 남기고 그 앞의 선택만 학습에 맡기는 구조는, travplan이 학습 Planner 아래에 MPPI를 두는 분리와 닮았다(B.18.6).</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a:t>
            </a:r>
          </a:p>
        </p:txBody>
      </p:sp>
      <p:sp>
        <p:nvSpPr>
          <p:cNvPr id="11" name="TextBox 10"/>
          <p:cNvSpPr txBox="1"/>
          <p:nvPr/>
        </p:nvSpPr>
        <p:spPr>
          <a:xfrm>
            <a:off x="609600" y="52924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5"/>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6"/>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7"/>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8"/>
              </a:rPr>
              <a:t>H10</a:t>
            </a:r>
            <a:r>
              <a:rPr sz="1050" b="0" i="0">
                <a:solidFill>
                  <a:srgbClr val="16213A"/>
                </a:solidFill>
                <a:latin typeface="Arial"/>
                <a:ea typeface="Malgun Gothic"/>
                <a:cs typeface="Malgun Gothic"/>
              </a:rPr>
              <a:t>, System 2·1·0 VLA 계층이 부상했다. 모방 문서 §I와 B.16.1·B.16.6이 이 줄기를 다룬다.</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524 / 557</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5410200" cy="1809750"/>
          </a:xfrm>
          <a:prstGeom prst="rect">
            <a:avLst/>
          </a:prstGeom>
        </p:spPr>
      </p:pic>
      <p:sp>
        <p:nvSpPr>
          <p:cNvPr id="8" name="TextBox 7"/>
          <p:cNvSpPr txBox="1"/>
          <p:nvPr/>
        </p:nvSpPr>
        <p:spPr>
          <a:xfrm>
            <a:off x="6172200" y="30924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(방법 개요): 게임패드·VR·영상·글 명령을 운동학 Planner, PICO VR 도구, GEM 사람 동작 생성기가 동작으로 바꾼다. 로봇·혼합·사람 인코더가 그 동작을 양자화한 범용 토큰으로 만들고, 제어 디코더가 로봇 관절 명령을 낸다. 출처: arXiv:2511.07820</a:t>
            </a:r>
          </a:p>
        </p:txBody>
      </p:sp>
      <p:sp>
        <p:nvSpPr>
          <p:cNvPr id="9" name="TextBox 8"/>
          <p:cNvSpPr txBox="1"/>
          <p:nvPr/>
        </p:nvSpPr>
        <p:spPr>
          <a:xfrm>
            <a:off x="609600" y="44651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525 / 557</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LBM의 정책 구조 (BD·TRI 블로그): 영상, 고유 감각, 언어 지시를 받아 확산 transformer가 flow matching 손실로 행동 묶음을 내고, 전신 Atlas를 30 Hz로 움직인다. 행동은 손·발·몸통 자세와 그리퍼 같은 목표이고, 그 아래는 BD의 MPC 기반 제어가 맡는다. 출처: Boston Dynamics</a:t>
            </a:r>
          </a:p>
        </p:txBody>
      </p:sp>
      <p:sp>
        <p:nvSpPr>
          <p:cNvPr id="7" name="TextBox 6"/>
          <p:cNvSpPr txBox="1"/>
          <p:nvPr/>
        </p:nvSpPr>
        <p:spPr>
          <a:xfrm>
            <a:off x="609600" y="53453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4"/>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5"/>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6"/>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7"/>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H14</a:t>
            </a:r>
            <a:r>
              <a:rPr sz="1050" b="0" i="0">
                <a:solidFill>
                  <a:srgbClr val="16213A"/>
                </a:solidFill>
                <a:latin typeface="Arial"/>
                <a:ea typeface="Malgun Gothic"/>
                <a:cs typeface="Malgun Gothic"/>
              </a:rPr>
              <a:t>.</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526 / 557</a:t>
            </a:r>
          </a:p>
        </p:txBody>
      </p:sp>
      <p:pic>
        <p:nvPicPr>
          <p:cNvPr id="5" name="Picture 4" descr="image.jpg"/>
          <p:cNvPicPr>
            <a:picLocks noChangeAspect="1"/>
          </p:cNvPicPr>
          <p:nvPr/>
        </p:nvPicPr>
        <p:blipFill>
          <a:blip r:embed="rId3"/>
          <a:stretch>
            <a:fillRect/>
          </a:stretch>
        </p:blipFill>
        <p:spPr>
          <a:xfrm>
            <a:off x="1593850" y="1244600"/>
            <a:ext cx="9004300" cy="3606800"/>
          </a:xfrm>
          <a:prstGeom prst="rect">
            <a:avLst/>
          </a:prstGeom>
        </p:spPr>
      </p:pic>
      <p:sp>
        <p:nvSpPr>
          <p:cNvPr id="6" name="TextBox 5"/>
          <p:cNvSpPr txBox="1"/>
          <p:nvPr/>
        </p:nvSpPr>
        <p:spPr>
          <a:xfrm>
            <a:off x="1593850" y="4889500"/>
            <a:ext cx="9004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AMO (Fig. 2): 네 단계다. (1) 모캡과 몸통 명령에서 궤적 최적화로 AMO 데이터셋을 만들어 AMO 망을 지도학습한다. (2) 그 망을 넣어 시뮬레이션에서 RL 교사를 학습하고 학생 정책으로 증류한다. (3) 실물은 IK와 리타기팅으로 원격조종한다. (4) 그 기록으로 transformer 자율 정책을 모방학습한다. 궤적 최적화가 온라인 루프가 아니라 데이터 생성기로 쓰인 예다. 출처: arXiv:2505.03738</a:t>
            </a:r>
          </a:p>
        </p:txBody>
      </p:sp>
      <p:sp>
        <p:nvSpPr>
          <p:cNvPr id="7" name="TextBox 6"/>
          <p:cNvSpPr txBox="1"/>
          <p:nvPr/>
        </p:nvSpPr>
        <p:spPr>
          <a:xfrm>
            <a:off x="609600" y="52627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휴머노이드에서 경쟁 지점이 된 "위층과 전신 제어기 사이의 인터페이스"는 travplan에서 Planner가 넘기는 시간 인덱스 궤적(4 s, 40스텝)이다. 파운데이션 모델이 들어온다면 그 위에 경유점·서브골로 얹힌다(B.18.6). 사람 동작 모방의 학습 절차는 모방 문서 I.14가 travplan에 잇는다.</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527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여덟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7" name="Table 6"/>
          <p:cNvGraphicFramePr>
            <a:graphicFrameLocks noGrp="1"/>
          </p:cNvGraphicFramePr>
          <p:nvPr/>
        </p:nvGraphicFramePr>
        <p:xfrm>
          <a:off x="609600" y="1853208"/>
          <a:ext cx="10966450" cy="2620008"/>
        </p:xfrm>
        <a:graphic>
          <a:graphicData uri="http://schemas.openxmlformats.org/drawingml/2006/table">
            <a:tbl>
              <a:tblPr firstRow="1" bandRow="1">
                <a:tableStyleId>{5C22544A-7EE6-4342-B048-85BDC9FD1C3A}</a:tableStyleId>
              </a:tblPr>
              <a:tblGrid>
                <a:gridCol w="1362670"/>
                <a:gridCol w="8644930"/>
                <a:gridCol w="958850"/>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3"/>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4"/>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5"/>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6"/>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8"/>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9"/>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10"/>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12"/>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13"/>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14"/>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15"/>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16"/>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17"/>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18"/>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9"/>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20"/>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21"/>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22"/>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23"/>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24"/>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25"/>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26"/>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27"/>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8"/>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9"/>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30"/>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31"/>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2"/>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33"/>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34"/>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35"/>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36"/>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8" name="TextBox 7"/>
          <p:cNvSpPr txBox="1"/>
          <p:nvPr/>
        </p:nvSpPr>
        <p:spPr>
          <a:xfrm>
            <a:off x="717550" y="52234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9" name="TextBox 8"/>
          <p:cNvSpPr txBox="1"/>
          <p:nvPr/>
        </p:nvSpPr>
        <p:spPr>
          <a:xfrm>
            <a:off x="609600" y="55266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528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5"/>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6"/>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7"/>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
        <p:nvSpPr>
          <p:cNvPr id="6" name="TextBox 5"/>
          <p:cNvSpPr txBox="1"/>
          <p:nvPr/>
        </p:nvSpPr>
        <p:spPr>
          <a:xfrm>
            <a:off x="609600" y="219948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9"/>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0"/>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11"/>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12"/>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13"/>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14"/>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5"/>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6"/>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8"/>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9"/>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20"/>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21"/>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22"/>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3"/>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8" name="TextBox 7"/>
          <p:cNvSpPr txBox="1"/>
          <p:nvPr/>
        </p:nvSpPr>
        <p:spPr>
          <a:xfrm>
            <a:off x="717550" y="45422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9" name="TextBox 8"/>
          <p:cNvSpPr txBox="1"/>
          <p:nvPr/>
        </p:nvSpPr>
        <p:spPr>
          <a:xfrm>
            <a:off x="609600" y="48454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10" name="Table 9"/>
          <p:cNvGraphicFramePr>
            <a:graphicFrameLocks noGrp="1"/>
          </p:cNvGraphicFramePr>
          <p:nvPr/>
        </p:nvGraphicFramePr>
        <p:xfrm>
          <a:off x="609600" y="5150842"/>
          <a:ext cx="10966450" cy="788352"/>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24"/>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25"/>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6"/>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7"/>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8"/>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9"/>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30"/>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31"/>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bl>
          </a:graphicData>
        </a:graphic>
      </p:graphicFrame>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529 / 557</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3"/>
                        </a:rPr>
                        <a:t>K8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4"/>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5"/>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8"/>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9"/>
              </a:rPr>
              <a:t>K10</a:t>
            </a:r>
            <a:r>
              <a:rPr sz="1050" b="0" i="0">
                <a:solidFill>
                  <a:srgbClr val="16213A"/>
                </a:solidFill>
                <a:latin typeface="Arial"/>
                <a:ea typeface="Malgun Gothic"/>
                <a:cs typeface="Malgun Gothic"/>
              </a:rPr>
              <a:t>를 진행한다.</a:t>
            </a:r>
          </a:p>
        </p:txBody>
      </p:sp>
      <p:sp>
        <p:nvSpPr>
          <p:cNvPr id="7" name="TextBox 6"/>
          <p:cNvSpPr txBox="1"/>
          <p:nvPr/>
        </p:nvSpPr>
        <p:spPr>
          <a:xfrm>
            <a:off x="609600" y="25709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10"/>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11"/>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12"/>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13"/>
              </a:rPr>
              <a:t>K12</a:t>
            </a:r>
            <a:r>
              <a:rPr sz="1050" b="0" i="0">
                <a:solidFill>
                  <a:srgbClr val="16213A"/>
                </a:solidFill>
                <a:latin typeface="Arial"/>
                <a:ea typeface="Malgun Gothic"/>
                <a:cs typeface="Malgun Gothic"/>
              </a:rPr>
              <a:t>.</a:t>
            </a:r>
          </a:p>
        </p:txBody>
      </p:sp>
      <p:graphicFrame>
        <p:nvGraphicFramePr>
          <p:cNvPr id="8" name="Table 7"/>
          <p:cNvGraphicFramePr>
            <a:graphicFrameLocks noGrp="1"/>
          </p:cNvGraphicFramePr>
          <p:nvPr/>
        </p:nvGraphicFramePr>
        <p:xfrm>
          <a:off x="609600" y="3525838"/>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14"/>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15"/>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16"/>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7"/>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8"/>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9"/>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20"/>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21"/>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9" name="TextBox 8"/>
          <p:cNvSpPr txBox="1"/>
          <p:nvPr/>
        </p:nvSpPr>
        <p:spPr>
          <a:xfrm>
            <a:off x="609600" y="509924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22"/>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23"/>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530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1423392"/>
                <a:gridCol w="3156347"/>
                <a:gridCol w="2236589"/>
                <a:gridCol w="1531144"/>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3"/>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4"/>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5"/>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6"/>
                        </a:rPr>
                        <a:t>K4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7"/>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8"/>
                        </a:rPr>
                        <a:t>P10</a:t>
                      </a:r>
                    </a:p>
                  </a:txBody>
                  <a:tcPr marL="63500" marR="63500" marT="12700" marB="12700">
                    <a:solidFill>
                      <a:srgbClr val="FFFDF8"/>
                    </a:solidFill>
                  </a:tcPr>
                </a:tc>
              </a:tr>
            </a:tbl>
          </a:graphicData>
        </a:graphic>
      </p:graphicFrame>
      <p:sp>
        <p:nvSpPr>
          <p:cNvPr id="8" name="TextBox 7"/>
          <p:cNvSpPr txBox="1"/>
          <p:nvPr/>
        </p:nvSpPr>
        <p:spPr>
          <a:xfrm>
            <a:off x="609600" y="315039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9" name="Table 8"/>
          <p:cNvGraphicFramePr>
            <a:graphicFrameLocks noGrp="1"/>
          </p:cNvGraphicFramePr>
          <p:nvPr/>
        </p:nvGraphicFramePr>
        <p:xfrm>
          <a:off x="609600" y="3672284"/>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531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532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533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2025–2026의 학습 로컬 Planner·생성형 궤적·위험 인지 계획 열여섯 편을 한 표로 비교하고, 그 아래에 공통점, 차이점, travplan에 주는 의미를 둔다. 사족·휴머노이드 쪽에서 가져올 순서는 B.16.7에, 분야 단위 비교는 B.18에 있다.</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535 / 557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536 / 557</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537 / 557</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538 / 557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539 / 557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540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B.16–B.18)은 "남이 무엇을 했나"이고, 이 탭은 travplan이 고치고 잰 결과다(CLAUDE.md의 분리 규칙).</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판정 절차(잡음 바닥, 짝 비교)는 B.15.2에 처음 나온다. RL 후학습 1단계(B.15.3)를 넘으려던 학습 시도 넷은 B.15.5와 B.15.6이다.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541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542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543 / 557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544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545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546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547 / 557</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548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549 / 557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550 / 557</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551 / 557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552 / 557</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553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554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555 / 557</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556 / 557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557 / 557</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