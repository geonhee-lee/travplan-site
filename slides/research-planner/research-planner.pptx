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'다리·바퀴 로봇과 계보'</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OpenDriveLab/UniAD" TargetMode="External"/><Relationship Id="rId6" Type="http://schemas.openxmlformats.org/officeDocument/2006/relationships/hyperlink" Target="https://github.com/ros-navigation/navigation2" TargetMode="External"/><Relationship Id="rId7" Type="http://schemas.openxmlformats.org/officeDocument/2006/relationships/hyperlink" Target="https://github.com/real-stanford/diffusion_policy" TargetMode="External"/><Relationship Id="rId8" Type="http://schemas.openxmlformats.org/officeDocument/2006/relationships/hyperlink" Target="https://github.com/hustvl/DiffusionDrive" TargetMode="External"/><Relationship Id="rId9" Type="http://schemas.openxmlformats.org/officeDocument/2006/relationships/hyperlink" Target="https://github.com/hustvl/VAD"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github.com/jannerm/diffuser" TargetMode="External"/><Relationship Id="rId6" Type="http://schemas.openxmlformats.org/officeDocument/2006/relationships/hyperlink" Target="https://github.com/InternRobotics/InternNav" TargetMode="External"/><Relationship Id="rId7" Type="http://schemas.openxmlformats.org/officeDocument/2006/relationships/hyperlink" Target="https://github.com/autonomousvision/navsim"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swc-17/SparseDrive" TargetMode="External"/><Relationship Id="rId10" Type="http://schemas.openxmlformats.org/officeDocument/2006/relationships/hyperlink" Target="https://github.com/AnjieCheng/NaVILA" TargetMode="External"/><Relationship Id="rId11" Type="http://schemas.openxmlformats.org/officeDocument/2006/relationships/hyperlink" Target="https://github.com/leggedrobotics/viplanner" TargetMode="External"/><Relationship Id="rId12" Type="http://schemas.openxmlformats.org/officeDocument/2006/relationships/hyperlink" Target="https://github.com/YvanYin/GoalFlow" TargetMode="External"/><Relationship Id="rId13" Type="http://schemas.openxmlformats.org/officeDocument/2006/relationships/hyperlink" Target="https://github.com/NVlabs/Hydra-MDP" TargetMode="External"/><Relationship Id="rId14" Type="http://schemas.openxmlformats.org/officeDocument/2006/relationships/hyperlink" Target="https://github.com/leggedrobotics/iPlanner" TargetMode="External"/><Relationship Id="rId15" Type="http://schemas.openxmlformats.org/officeDocument/2006/relationships/hyperlink" Target="https://github.com/jzhzhang/Uni-NaVid" TargetMode="External"/><Relationship Id="rId16" Type="http://schemas.openxmlformats.org/officeDocument/2006/relationships/hyperlink" Target="https://github.com/joaoamcarvalho/mpd-public" TargetMode="External"/><Relationship Id="rId17" Type="http://schemas.openxmlformats.org/officeDocument/2006/relationships/hyperlink" Target="https://github.com/ai4ce/CityWalk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506.2185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15.jpg"/><Relationship Id="rId7" Type="http://schemas.openxmlformats.org/officeDocument/2006/relationships/image" Target="../media/image1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19.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2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25.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26.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1.png"/><Relationship Id="rId4"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6.jpg"/><Relationship Id="rId4" Type="http://schemas.openxmlformats.org/officeDocument/2006/relationships/image" Target="../media/image37.jpg"/><Relationship Id="rId5" Type="http://schemas.openxmlformats.org/officeDocument/2006/relationships/image" Target="../media/image38.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9.jpg"/><Relationship Id="rId4" Type="http://schemas.openxmlformats.org/officeDocument/2006/relationships/image" Target="../media/image40.jpg"/><Relationship Id="rId5" Type="http://schemas.openxmlformats.org/officeDocument/2006/relationships/image" Target="../media/image4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2.png"/><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64.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6.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7.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68.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69.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0.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1.jpg"/><Relationship Id="rId4" Type="http://schemas.openxmlformats.org/officeDocument/2006/relationships/image" Target="../media/image72.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hyperlink" Target="https://arxiv.org/abs/2603.25937"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arxiv.org/abs/2407.07775"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75.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603.22527"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76.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7.png"/><Relationship Id="rId4" Type="http://schemas.openxmlformats.org/officeDocument/2006/relationships/image" Target="../media/image7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79.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8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image" Target="../media/image81.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82.png"/><Relationship Id="rId4" Type="http://schemas.openxmlformats.org/officeDocument/2006/relationships/image" Target="../media/image8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84.jpg"/><Relationship Id="rId4" Type="http://schemas.openxmlformats.org/officeDocument/2006/relationships/hyperlink" Target="https://www.youtube.com/watch?v=l_YT4iP0W8Q"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image" Target="../media/image85.png"/><Relationship Id="rId4" Type="http://schemas.openxmlformats.org/officeDocument/2006/relationships/image" Target="../media/image8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87.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8.png"/><Relationship Id="rId4" Type="http://schemas.openxmlformats.org/officeDocument/2006/relationships/image" Target="../media/image89.png"/><Relationship Id="rId5" Type="http://schemas.openxmlformats.org/officeDocument/2006/relationships/image" Target="../media/image90.png"/><Relationship Id="rId6" Type="http://schemas.openxmlformats.org/officeDocument/2006/relationships/image" Target="../media/image9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608.11175"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92.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6.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97.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98.png"/><Relationship Id="rId4" Type="http://schemas.openxmlformats.org/officeDocument/2006/relationships/image" Target="../media/image99.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00.jpg"/><Relationship Id="rId8" Type="http://schemas.openxmlformats.org/officeDocument/2006/relationships/image" Target="../media/image101.jp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github.com/autonomousvision/plant"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02.png"/><Relationship Id="rId4" Type="http://schemas.openxmlformats.org/officeDocument/2006/relationships/hyperlink" Target="https://github.com/jchengai/planTF" TargetMode="Externa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103.jpg"/><Relationship Id="rId4" Type="http://schemas.openxmlformats.org/officeDocument/2006/relationships/hyperlink" Target="https://github.com/jchengai/pluto"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104.jp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hyperlink" Target="https://github.com/autonomousvision/CaRL" TargetMode="External"/><Relationship Id="rId4" Type="http://schemas.openxmlformats.org/officeDocument/2006/relationships/image" Target="../media/image106.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image" Target="../media/image107.jp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08.jp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109.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10.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11.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5.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hyperlink" Target="https://arxiv.org/abs/1812.03079"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16.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image" Target="../media/image117.png"/><Relationship Id="rId4" Type="http://schemas.openxmlformats.org/officeDocument/2006/relationships/image" Target="../media/image118.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image" Target="../media/image119.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image" Target="../media/image120.png"/><Relationship Id="rId4" Type="http://schemas.openxmlformats.org/officeDocument/2006/relationships/image" Target="../media/image121.png"/><Relationship Id="rId5" Type="http://schemas.openxmlformats.org/officeDocument/2006/relationships/image" Target="../media/image122.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23.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image" Target="../media/image124.png"/><Relationship Id="rId4" Type="http://schemas.openxmlformats.org/officeDocument/2006/relationships/image" Target="../media/image125.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26.jp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hyperlink" Target="https://github.com/dfl-rlab/dddmr_navigation" TargetMode="Externa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image" Target="../media/image127.jp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128.png"/><Relationship Id="rId4" Type="http://schemas.openxmlformats.org/officeDocument/2006/relationships/image" Target="../media/image129.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image" Target="../media/image130.jp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image" Target="../media/image135.jp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image" Target="../media/image136.png"/><Relationship Id="rId4" Type="http://schemas.openxmlformats.org/officeDocument/2006/relationships/image" Target="../media/image13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image" Target="../media/image138.jp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139.png"/><Relationship Id="rId4" Type="http://schemas.openxmlformats.org/officeDocument/2006/relationships/image" Target="../media/image140.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41.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42.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43.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44.png"/><Relationship Id="rId4" Type="http://schemas.openxmlformats.org/officeDocument/2006/relationships/image" Target="../media/image145.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hyperlink" Target="https://arxiv.org/abs/1901.08652" TargetMode="Externa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image" Target="../media/image146.jpg"/><Relationship Id="rId4" Type="http://schemas.openxmlformats.org/officeDocument/2006/relationships/image" Target="../media/image147.jp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48.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49.jp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50.jpg"/><Relationship Id="rId4" Type="http://schemas.openxmlformats.org/officeDocument/2006/relationships/image" Target="../media/image151.jp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image" Target="../media/image152.png"/><Relationship Id="rId4" Type="http://schemas.openxmlformats.org/officeDocument/2006/relationships/image" Target="../media/image15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hyperlink" Target="https://arxiv.org/abs/2201.08117" TargetMode="Externa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 Id="rId3" Type="http://schemas.openxmlformats.org/officeDocument/2006/relationships/image" Target="../media/image154.jp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5.jpg"/><Relationship Id="rId4" Type="http://schemas.openxmlformats.org/officeDocument/2006/relationships/image" Target="../media/image156.jp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2206.14049"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57.jp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58.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59.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60.jp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image" Target="../media/image164.jpg"/><Relationship Id="rId4" Type="http://schemas.openxmlformats.org/officeDocument/2006/relationships/image" Target="../media/image165.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66.png"/><Relationship Id="rId4" Type="http://schemas.openxmlformats.org/officeDocument/2006/relationships/image" Target="../media/image167.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68.jpg"/><Relationship Id="rId4" Type="http://schemas.openxmlformats.org/officeDocument/2006/relationships/image" Target="../media/image169.jp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70.png"/><Relationship Id="rId4" Type="http://schemas.openxmlformats.org/officeDocument/2006/relationships/image" Target="../media/image17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72.jp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image" Target="../media/image173.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4.jpg"/><Relationship Id="rId4" Type="http://schemas.openxmlformats.org/officeDocument/2006/relationships/image" Target="../media/image175.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image" Target="../media/image176.png"/><Relationship Id="rId4" Type="http://schemas.openxmlformats.org/officeDocument/2006/relationships/image" Target="../media/image177.png"/><Relationship Id="rId5" Type="http://schemas.openxmlformats.org/officeDocument/2006/relationships/image" Target="../media/image178.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9.jpg"/><Relationship Id="rId4" Type="http://schemas.openxmlformats.org/officeDocument/2006/relationships/image" Target="../media/image180.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84.jpg"/><Relationship Id="rId4" Type="http://schemas.openxmlformats.org/officeDocument/2006/relationships/image" Target="../media/image185.jp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image" Target="../media/image186.png"/><Relationship Id="rId4" Type="http://schemas.openxmlformats.org/officeDocument/2006/relationships/image" Target="../media/image187.png"/><Relationship Id="rId5" Type="http://schemas.openxmlformats.org/officeDocument/2006/relationships/image" Target="../media/image188.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89.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90.jp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image" Target="../media/image19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92.jpg"/><Relationship Id="rId4" Type="http://schemas.openxmlformats.org/officeDocument/2006/relationships/image" Target="../media/image193.jp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94.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195.jpg"/><Relationship Id="rId4" Type="http://schemas.openxmlformats.org/officeDocument/2006/relationships/image" Target="../media/image196.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image" Target="../media/image197.jp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198.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image" Target="../media/image199.jpg"/><Relationship Id="rId4" Type="http://schemas.openxmlformats.org/officeDocument/2006/relationships/image" Target="../media/image200.jp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 Id="rId3" Type="http://schemas.openxmlformats.org/officeDocument/2006/relationships/image" Target="../media/image204.jp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5.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206.jp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image" Target="../media/image207.jpg"/><Relationship Id="rId4" Type="http://schemas.openxmlformats.org/officeDocument/2006/relationships/image" Target="../media/image208.jp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09.png"/><Relationship Id="rId4" Type="http://schemas.openxmlformats.org/officeDocument/2006/relationships/image" Target="../media/image210.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image" Target="../media/image211.jp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image" Target="../media/image212.jp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image" Target="../media/image213.jp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image" Target="../media/image214.jp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215.jp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image" Target="../media/image216.jpg"/><Relationship Id="rId4" Type="http://schemas.openxmlformats.org/officeDocument/2006/relationships/image" Target="../media/image217.jp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218.png"/><Relationship Id="rId4" Type="http://schemas.openxmlformats.org/officeDocument/2006/relationships/image" Target="../media/image219.png"/><Relationship Id="rId5" Type="http://schemas.openxmlformats.org/officeDocument/2006/relationships/image" Target="../media/image220.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221.jp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hyperlink" Target="https://arxiv.org/abs/1907.03613" TargetMode="Externa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image" Target="../media/image222.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002.08550"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23.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24.jpg"/><Relationship Id="rId4" Type="http://schemas.openxmlformats.org/officeDocument/2006/relationships/image" Target="../media/image225.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image" Target="../media/image226.png"/><Relationship Id="rId4" Type="http://schemas.openxmlformats.org/officeDocument/2006/relationships/image" Target="../media/image227.png"/><Relationship Id="rId5" Type="http://schemas.openxmlformats.org/officeDocument/2006/relationships/image" Target="../media/image228.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29.jp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30.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31.jpg"/><Relationship Id="rId4" Type="http://schemas.openxmlformats.org/officeDocument/2006/relationships/hyperlink" Target="https://arxiv.org/abs/2206.13631"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image" Target="../media/image232.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image" Target="../media/image233.jpg"/><Relationship Id="rId4" Type="http://schemas.openxmlformats.org/officeDocument/2006/relationships/image" Target="../media/image234.jp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35.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6.jp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7.jpg"/><Relationship Id="rId4" Type="http://schemas.openxmlformats.org/officeDocument/2006/relationships/image" Target="../media/image238.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39.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40.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41.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42.jp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image" Target="../media/image243.jp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image" Target="../media/image244.jpg"/><Relationship Id="rId4" Type="http://schemas.openxmlformats.org/officeDocument/2006/relationships/image" Target="../media/image245.jp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image" Target="../media/image246.jpg"/><Relationship Id="rId4" Type="http://schemas.openxmlformats.org/officeDocument/2006/relationships/image" Target="../media/image247.jp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48.png"/><Relationship Id="rId4" Type="http://schemas.openxmlformats.org/officeDocument/2006/relationships/image" Target="../media/image249.pn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50.png"/></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51.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image" Target="../media/image252.jp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53.pn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54.jp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55.jp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image" Target="../media/image256.jpg"/></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7.jp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58.png"/><Relationship Id="rId4" Type="http://schemas.openxmlformats.org/officeDocument/2006/relationships/image" Target="../media/image259.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60.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61.jp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2.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3.jp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hyperlink" Target="https://arxiv.org/abs/2402.13820" TargetMode="External"/><Relationship Id="rId4" Type="http://schemas.openxmlformats.org/officeDocument/2006/relationships/image" Target="../media/image264.pn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image" Target="../media/image265.jpg"/></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66.pn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image" Target="../media/image267.jp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image" Target="../media/image268.jpg"/></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69.jpg"/><Relationship Id="rId4" Type="http://schemas.openxmlformats.org/officeDocument/2006/relationships/image" Target="../media/image270.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image" Target="../media/image271.jp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72.pn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73.jp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74.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image" Target="../media/image275.jp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image" Target="../media/image276.jpg"/></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hyperlink" Target="https://bostondynamics.com/blog/large-behavior-models-atlas-find-new-footing/" TargetMode="Externa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image" Target="../media/image277.jpg"/></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image" Target="../media/image278.jp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image" Target="../media/image279.jpg"/><Relationship Id="rId4" Type="http://schemas.openxmlformats.org/officeDocument/2006/relationships/image" Target="../media/image280.jp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image" Target="../media/image281.jpg"/></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image" Target="../media/image282.jpg"/></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image" Target="../media/image283.jpg"/></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image" Target="../media/image284.jpg"/></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image" Target="../media/image285.jpg"/><Relationship Id="rId4" Type="http://schemas.openxmlformats.org/officeDocument/2006/relationships/image" Target="../media/image286.jp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hyperlink" Target="https://arxiv.org/abs/2608.19955" TargetMode="Externa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87.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image" Target="../media/image288.jpg"/><Relationship Id="rId4" Type="http://schemas.openxmlformats.org/officeDocument/2006/relationships/image" Target="../media/image289.jpg"/></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image" Target="../media/image290.png"/><Relationship Id="rId4" Type="http://schemas.openxmlformats.org/officeDocument/2006/relationships/image" Target="../media/image291.png"/><Relationship Id="rId5" Type="http://schemas.openxmlformats.org/officeDocument/2006/relationships/image" Target="../media/image292.pn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293.jp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4.jpg"/><Relationship Id="rId4" Type="http://schemas.openxmlformats.org/officeDocument/2006/relationships/image" Target="../media/image295.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image" Target="../media/image296.png"/></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297.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image" Target="../media/image298.jpg"/></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image" Target="../media/image299.jpg"/></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image" Target="../media/image300.jp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image" Target="../media/image301.jp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image" Target="../media/image302.jp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image" Target="../media/image303.jpg"/></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04.jp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image" Target="../media/image305.jp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 Id="rId3" Type="http://schemas.openxmlformats.org/officeDocument/2006/relationships/image" Target="../media/image306.jpg"/></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image" Target="../media/image307.jpg"/><Relationship Id="rId4" Type="http://schemas.openxmlformats.org/officeDocument/2006/relationships/image" Target="../media/image308.jpg"/></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image" Target="../media/image309.png"/><Relationship Id="rId4" Type="http://schemas.openxmlformats.org/officeDocument/2006/relationships/image" Target="../media/image310.pn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11.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12.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3.jpg"/><Relationship Id="rId4" Type="http://schemas.openxmlformats.org/officeDocument/2006/relationships/image" Target="../media/image314.jp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image" Target="../media/image315.pn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image" Target="../media/image316.jp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image" Target="../media/image317.jp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image" Target="../media/image318.jpg"/></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image" Target="../media/image319.jpg"/></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 Id="rId3" Type="http://schemas.openxmlformats.org/officeDocument/2006/relationships/image" Target="../media/image320.png"/><Relationship Id="rId4" Type="http://schemas.openxmlformats.org/officeDocument/2006/relationships/image" Target="../media/image321.png"/></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image" Target="../media/image322.jp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image" Target="../media/image323.jp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8개</a:t>
            </a:r>
          </a:p>
          <a:p>
            <a:r>
              <a:rPr sz="1250" b="0" i="0">
                <a:solidFill>
                  <a:srgbClr val="C9D1E0"/>
                </a:solidFill>
                <a:latin typeface="Arial"/>
                <a:ea typeface="Malgun Gothic"/>
                <a:cs typeface="Malgun Gothic"/>
              </a:rPr>
              <a:t>travplan과 고전 기준선 · 학습 로컬 Planner · 생성형 궤적 · Foundation·VLA·언어 · 위험 인지·로컬 내비 · 자율주행 자동차 · 다리·바퀴 로봇과 계보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439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두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앞의 다섯은 </a:t>
            </a:r>
            <a:r>
              <a:rPr sz="1050" b="1" i="0">
                <a:solidFill>
                  <a:srgbClr val="C2410C"/>
                </a:solidFill>
                <a:latin typeface="Arial"/>
                <a:ea typeface="Malgun Gothic"/>
                <a:cs typeface="Malgun Gothic"/>
              </a:rPr>
              <a:t>방법</a:t>
            </a:r>
            <a:r>
              <a:rPr sz="1050" b="1" i="0">
                <a:solidFill>
                  <a:srgbClr val="C2410C"/>
                </a:solidFill>
                <a:latin typeface="Arial"/>
                <a:ea typeface="Malgun Gothic"/>
                <a:cs typeface="Malgun Gothic"/>
              </a:rPr>
              <a:t>(어떻게 계획하나), 뒤의 둘은 </a:t>
            </a:r>
            <a:r>
              <a:rPr sz="1050" b="1" i="0">
                <a:solidFill>
                  <a:srgbClr val="C2410C"/>
                </a:solidFill>
                <a:latin typeface="Arial"/>
                <a:ea typeface="Malgun Gothic"/>
                <a:cs typeface="Malgun Gothic"/>
              </a:rPr>
              <a:t>현황</a:t>
            </a:r>
            <a:r>
              <a:rPr sz="1050" b="1" i="0">
                <a:solidFill>
                  <a:srgbClr val="C2410C"/>
                </a:solidFill>
                <a:latin typeface="Arial"/>
                <a:ea typeface="Malgun Gothic"/>
                <a:cs typeface="Malgun Gothic"/>
              </a:rPr>
              <a:t>(누가 무엇을 내놨나)이다.</a:t>
            </a:r>
            <a:r>
              <a:rPr sz="1050" b="0" i="0">
                <a:solidFill>
                  <a:srgbClr val="16213A"/>
                </a:solidFill>
                <a:latin typeface="Arial"/>
                <a:ea typeface="Malgun Gothic"/>
                <a:cs typeface="Malgun Gothic"/>
              </a:rPr>
              <a:t> 2026-10-01에 이렇게 다시 묶었다 — 그 전에는 방법·도메인·관심사·계보 네 축이 섞여 있어서 자율주행 내용만 세 탭(E2E 주행 · 역사·상용화 · 로봇별 오픈소스)에 흩어져 있었다.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7" name="Table 6"/>
          <p:cNvGraphicFramePr>
            <a:graphicFrameLocks noGrp="1"/>
          </p:cNvGraphicFramePr>
          <p:nvPr/>
        </p:nvGraphicFramePr>
        <p:xfrm>
          <a:off x="609600" y="2071886"/>
          <a:ext cx="10966451" cy="1182528"/>
        </p:xfrm>
        <a:graphic>
          <a:graphicData uri="http://schemas.openxmlformats.org/drawingml/2006/table">
            <a:tbl>
              <a:tblPr firstRow="1" bandRow="1">
                <a:tableStyleId>{5C22544A-7EE6-4342-B048-85BDC9FD1C3A}</a:tableStyleId>
              </a:tblPr>
              <a:tblGrid>
                <a:gridCol w="1287066"/>
                <a:gridCol w="5481241"/>
                <a:gridCol w="1133971"/>
                <a:gridCol w="3064173"/>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r>
            </a:tbl>
          </a:graphicData>
        </a:graphic>
      </p:graphicFrame>
      <p:sp>
        <p:nvSpPr>
          <p:cNvPr id="8" name="TextBox 7"/>
          <p:cNvSpPr txBox="1"/>
          <p:nvPr/>
        </p:nvSpPr>
        <p:spPr>
          <a:xfrm>
            <a:off x="609600" y="36452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9" name="Table 8"/>
          <p:cNvGraphicFramePr>
            <a:graphicFrameLocks noGrp="1"/>
          </p:cNvGraphicFramePr>
          <p:nvPr/>
        </p:nvGraphicFramePr>
        <p:xfrm>
          <a:off x="609600" y="3950692"/>
          <a:ext cx="10966450" cy="833040"/>
        </p:xfrm>
        <a:graphic>
          <a:graphicData uri="http://schemas.openxmlformats.org/drawingml/2006/table">
            <a:tbl>
              <a:tblPr firstRow="1" bandRow="1">
                <a:tableStyleId>{5C22544A-7EE6-4342-B048-85BDC9FD1C3A}</a:tableStyleId>
              </a:tblPr>
              <a:tblGrid>
                <a:gridCol w="954881"/>
                <a:gridCol w="6271419"/>
                <a:gridCol w="947936"/>
                <a:gridCol w="279221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다리·바퀴 로봇과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사족·휴머노이드·바퀴 로봇의 공개 Planner, ETH RSL 한 연구실의 층별 계보, NVIDIA·Google DeepMind·취리히·RAI Institute와 다른 연구실의 사족·휴머노이드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 ROS 2 통합, 인식 도구의 출처, 학습 절차와 plant 보정</a:t>
                      </a:r>
                    </a:p>
                  </a:txBody>
                  <a:tcPr marL="63500" marR="63500" marT="12700" marB="12700">
                    <a:solidFill>
                      <a:srgbClr val="F3F0E8"/>
                    </a:solidFill>
                  </a:tcPr>
                </a:tc>
              </a:tr>
            </a:tbl>
          </a:graphicData>
        </a:graphic>
      </p:graphicFrame>
      <p:sp>
        <p:nvSpPr>
          <p:cNvPr id="10" name="TextBox 9"/>
          <p:cNvSpPr txBox="1"/>
          <p:nvPr/>
        </p:nvSpPr>
        <p:spPr>
          <a:xfrm>
            <a:off x="609600" y="508724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graphicFrame>
        <p:nvGraphicFramePr>
          <p:cNvPr id="11" name="Table 10"/>
          <p:cNvGraphicFramePr>
            <a:graphicFrameLocks noGrp="1"/>
          </p:cNvGraphicFramePr>
          <p:nvPr/>
        </p:nvGraphicFramePr>
        <p:xfrm>
          <a:off x="609600" y="5392638"/>
          <a:ext cx="10966450" cy="515064"/>
        </p:xfrm>
        <a:graphic>
          <a:graphicData uri="http://schemas.openxmlformats.org/drawingml/2006/table">
            <a:tbl>
              <a:tblPr firstRow="1" bandRow="1">
                <a:tableStyleId>{5C22544A-7EE6-4342-B048-85BDC9FD1C3A}</a:tableStyleId>
              </a:tblPr>
              <a:tblGrid>
                <a:gridCol w="655241"/>
                <a:gridCol w="840085"/>
                <a:gridCol w="2863850"/>
                <a:gridCol w="1048345"/>
                <a:gridCol w="1835745"/>
                <a:gridCol w="1677591"/>
                <a:gridCol w="204559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439</a:t>
            </a:r>
          </a:p>
        </p:txBody>
      </p:sp>
      <p:graphicFrame>
        <p:nvGraphicFramePr>
          <p:cNvPr id="5" name="Table 4"/>
          <p:cNvGraphicFramePr>
            <a:graphicFrameLocks noGrp="1"/>
          </p:cNvGraphicFramePr>
          <p:nvPr/>
        </p:nvGraphicFramePr>
        <p:xfrm>
          <a:off x="609600" y="1244600"/>
          <a:ext cx="10966450" cy="1863168"/>
        </p:xfrm>
        <a:graphic>
          <a:graphicData uri="http://schemas.openxmlformats.org/drawingml/2006/table">
            <a:tbl>
              <a:tblPr firstRow="1" bandRow="1">
                <a:tableStyleId>{5C22544A-7EE6-4342-B048-85BDC9FD1C3A}</a:tableStyleId>
              </a:tblPr>
              <a:tblGrid>
                <a:gridCol w="655241"/>
                <a:gridCol w="840085"/>
                <a:gridCol w="2863850"/>
                <a:gridCol w="1048345"/>
                <a:gridCol w="1835745"/>
                <a:gridCol w="1677591"/>
                <a:gridCol w="2045593"/>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Skill-Nav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Planner, 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AgniNav, CORE, MILER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PC-Diffuser, FeaXDrive, MISTY, JPPD, GRACE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6" name="TextBox 5"/>
          <p:cNvSpPr txBox="1"/>
          <p:nvPr/>
        </p:nvSpPr>
        <p:spPr>
          <a:xfrm>
            <a:off x="609600" y="36688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순이다(2026-09). HF 다운로드는 대표 가중치의 최근 30일 값이다.</a:t>
            </a:r>
          </a:p>
        </p:txBody>
      </p:sp>
      <p:graphicFrame>
        <p:nvGraphicFramePr>
          <p:cNvPr id="7" name="Table 6"/>
          <p:cNvGraphicFramePr>
            <a:graphicFrameLocks noGrp="1"/>
          </p:cNvGraphicFramePr>
          <p:nvPr/>
        </p:nvGraphicFramePr>
        <p:xfrm>
          <a:off x="609600" y="3974207"/>
          <a:ext cx="10966449" cy="1576704"/>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0.44M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 / 439</a:t>
            </a:r>
          </a:p>
        </p:txBody>
      </p:sp>
      <p:graphicFrame>
        <p:nvGraphicFramePr>
          <p:cNvPr id="5" name="Table 4"/>
          <p:cNvGraphicFramePr>
            <a:graphicFrameLocks noGrp="1"/>
          </p:cNvGraphicFramePr>
          <p:nvPr/>
        </p:nvGraphicFramePr>
        <p:xfrm>
          <a:off x="609600" y="1244600"/>
          <a:ext cx="10966449" cy="3153408"/>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528161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B.12에 따로 모았다.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439</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 / 439</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439</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4475"/>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42900"/>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5925"/>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50825"/>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439</a:t>
            </a:r>
          </a:p>
        </p:txBody>
      </p:sp>
      <p:graphicFrame>
        <p:nvGraphicFramePr>
          <p:cNvPr id="5" name="Table 4"/>
          <p:cNvGraphicFramePr>
            <a:graphicFrameLocks noGrp="1"/>
          </p:cNvGraphicFramePr>
          <p:nvPr/>
        </p:nvGraphicFramePr>
        <p:xfrm>
          <a:off x="609600" y="1244600"/>
          <a:ext cx="10966450" cy="1970880"/>
        </p:xfrm>
        <a:graphic>
          <a:graphicData uri="http://schemas.openxmlformats.org/drawingml/2006/table">
            <a:tbl>
              <a:tblPr firstRow="1" bandRow="1">
                <a:tableStyleId>{5C22544A-7EE6-4342-B048-85BDC9FD1C3A}</a:tableStyleId>
              </a:tblPr>
              <a:tblGrid>
                <a:gridCol w="1466354"/>
                <a:gridCol w="1515368"/>
                <a:gridCol w="2156321"/>
                <a:gridCol w="1855688"/>
                <a:gridCol w="1477070"/>
                <a:gridCol w="2495649"/>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29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439</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439</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439</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439</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439</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439</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39725"/>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6700"/>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3525"/>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19100"/>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9875"/>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5625"/>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7675"/>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87350"/>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5450"/>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439</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439</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56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38125"/>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439</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439</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439</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439</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439</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439</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42900"/>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439</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81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1475"/>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439</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439</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439</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1300"/>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439</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439</a:t>
            </a:r>
          </a:p>
        </p:txBody>
      </p:sp>
      <p:graphicFrame>
        <p:nvGraphicFramePr>
          <p:cNvPr id="5" name="Table 4"/>
          <p:cNvGraphicFramePr>
            <a:graphicFrameLocks noGrp="1"/>
          </p:cNvGraphicFramePr>
          <p:nvPr/>
        </p:nvGraphicFramePr>
        <p:xfrm>
          <a:off x="609600" y="1244600"/>
          <a:ext cx="10966450" cy="1773792"/>
        </p:xfrm>
        <a:graphic>
          <a:graphicData uri="http://schemas.openxmlformats.org/drawingml/2006/table">
            <a:tbl>
              <a:tblPr firstRow="1" bandRow="1">
                <a:tableStyleId>{5C22544A-7EE6-4342-B048-85BDC9FD1C3A}</a:tableStyleId>
              </a:tblPr>
              <a:tblGrid>
                <a:gridCol w="1415256"/>
                <a:gridCol w="1792387"/>
                <a:gridCol w="3360142"/>
                <a:gridCol w="439866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100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439</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「다리·바퀴 로봇과 계보」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439</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439</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439</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439</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439</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439</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439</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439</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439</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439</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439</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439</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다리·바퀴 로봇과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132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439</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439</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439</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439</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439</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38125"/>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439</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439</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439</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439</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439</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28625"/>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439</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3225"/>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439</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439</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439</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439</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439</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439</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439</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439</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439</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439</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439</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439</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439</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a:t>
            </a:r>
          </a:p>
        </p:txBody>
      </p:sp>
      <p:graphicFrame>
        <p:nvGraphicFramePr>
          <p:cNvPr id="6" name="Table 5"/>
          <p:cNvGraphicFramePr>
            <a:graphicFrameLocks noGrp="1"/>
          </p:cNvGraphicFramePr>
          <p:nvPr/>
        </p:nvGraphicFramePr>
        <p:xfrm>
          <a:off x="609600" y="1549995"/>
          <a:ext cx="10966449" cy="1182528"/>
        </p:xfrm>
        <a:graphic>
          <a:graphicData uri="http://schemas.openxmlformats.org/drawingml/2006/table">
            <a:tbl>
              <a:tblPr firstRow="1" bandRow="1">
                <a:tableStyleId>{5C22544A-7EE6-4342-B048-85BDC9FD1C3A}</a:tableStyleId>
              </a:tblPr>
              <a:tblGrid>
                <a:gridCol w="1401762"/>
                <a:gridCol w="4791075"/>
                <a:gridCol w="2785467"/>
                <a:gridCol w="198814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bl>
          </a:graphicData>
        </a:graphic>
      </p:graphicFrame>
      <p:sp>
        <p:nvSpPr>
          <p:cNvPr id="7" name="TextBox 6"/>
          <p:cNvSpPr txBox="1"/>
          <p:nvPr/>
        </p:nvSpPr>
        <p:spPr>
          <a:xfrm>
            <a:off x="717550" y="312340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342661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16500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439</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439</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439</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439</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38125"/>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439</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439</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439</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0825"/>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439</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439</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439</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439</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439</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439</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439</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439</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439</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a:t>
            </a:r>
          </a:p>
        </p:txBody>
      </p:sp>
      <p:sp>
        <p:nvSpPr>
          <p:cNvPr id="8" name="TextBox 7"/>
          <p:cNvSpPr txBox="1"/>
          <p:nvPr/>
        </p:nvSpPr>
        <p:spPr>
          <a:xfrm>
            <a:off x="609600" y="45422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4847630"/>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439</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439</a:t>
            </a:r>
          </a:p>
        </p:txBody>
      </p:sp>
      <p:graphicFrame>
        <p:nvGraphicFramePr>
          <p:cNvPr id="5" name="Table 4"/>
          <p:cNvGraphicFramePr>
            <a:graphicFrameLocks noGrp="1"/>
          </p:cNvGraphicFramePr>
          <p:nvPr/>
        </p:nvGraphicFramePr>
        <p:xfrm>
          <a:off x="609600" y="1244600"/>
          <a:ext cx="10966450" cy="3600292"/>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439</a:t>
            </a:r>
          </a:p>
        </p:txBody>
      </p:sp>
      <p:graphicFrame>
        <p:nvGraphicFramePr>
          <p:cNvPr id="5" name="Table 4"/>
          <p:cNvGraphicFramePr>
            <a:graphicFrameLocks noGrp="1"/>
          </p:cNvGraphicFramePr>
          <p:nvPr/>
        </p:nvGraphicFramePr>
        <p:xfrm>
          <a:off x="609600" y="1244600"/>
          <a:ext cx="10966450" cy="756840"/>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다른 연구실의 휴머노이드(UC Berkeley, CMU LeCAR, Stanford, UC San Diego, 칭화대,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pic>
        <p:nvPicPr>
          <p:cNvPr id="6" name="Picture 5" descr="image.jpg"/>
          <p:cNvPicPr>
            <a:picLocks noChangeAspect="1"/>
          </p:cNvPicPr>
          <p:nvPr/>
        </p:nvPicPr>
        <p:blipFill>
          <a:blip r:embed="rId3"/>
          <a:stretch>
            <a:fillRect/>
          </a:stretch>
        </p:blipFill>
        <p:spPr>
          <a:xfrm>
            <a:off x="609600" y="2285901"/>
            <a:ext cx="4070350" cy="2667000"/>
          </a:xfrm>
          <a:prstGeom prst="rect">
            <a:avLst/>
          </a:prstGeom>
        </p:spPr>
      </p:pic>
      <p:sp>
        <p:nvSpPr>
          <p:cNvPr id="7" name="TextBox 6"/>
          <p:cNvSpPr txBox="1"/>
          <p:nvPr/>
        </p:nvSpPr>
        <p:spPr>
          <a:xfrm>
            <a:off x="609600" y="4991001"/>
            <a:ext cx="5410200" cy="113744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44개를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25개는 뒤 연구가 앞 연구의 코드·방법·로봇을 직접 쓴 관계만 잇는다.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8" name="Picture 7" descr="image.jpg"/>
          <p:cNvPicPr>
            <a:picLocks noChangeAspect="1"/>
          </p:cNvPicPr>
          <p:nvPr/>
        </p:nvPicPr>
        <p:blipFill>
          <a:blip r:embed="rId4"/>
          <a:stretch>
            <a:fillRect/>
          </a:stretch>
        </p:blipFill>
        <p:spPr>
          <a:xfrm>
            <a:off x="6172200" y="2285901"/>
            <a:ext cx="4083050" cy="2667000"/>
          </a:xfrm>
          <a:prstGeom prst="rect">
            <a:avLst/>
          </a:prstGeom>
        </p:spPr>
      </p:pic>
      <p:sp>
        <p:nvSpPr>
          <p:cNvPr id="9" name="TextBox 8"/>
          <p:cNvSpPr txBox="1"/>
          <p:nvPr/>
        </p:nvSpPr>
        <p:spPr>
          <a:xfrm>
            <a:off x="6172200" y="4991001"/>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31개를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20개는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439</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439</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439</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38125"/>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439</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439</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439</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439</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4000"/>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439</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439</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439</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439</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439</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439</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439</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439</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38125"/>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439</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439</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439</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439</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439</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439</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439</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439</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439</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5450"/>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439</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439</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439</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439</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439</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439</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439</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439</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439</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57200"/>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439</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439</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439</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439</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439</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82600"/>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439</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439</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439</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439</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49275"/>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439</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5625"/>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439</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439</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439</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439</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439</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439</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439</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439</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439</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439</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
        <p:nvSpPr>
          <p:cNvPr id="8" name="TextBox 7"/>
          <p:cNvSpPr txBox="1"/>
          <p:nvPr/>
        </p:nvSpPr>
        <p:spPr>
          <a:xfrm>
            <a:off x="717550" y="44701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9" name="TextBox 8"/>
          <p:cNvSpPr txBox="1"/>
          <p:nvPr/>
        </p:nvSpPr>
        <p:spPr>
          <a:xfrm>
            <a:off x="609600" y="477331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325739"/>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439</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439</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439</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439</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439</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439</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439</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439</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47650"/>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439</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1773792"/>
        </p:xfrm>
        <a:graphic>
          <a:graphicData uri="http://schemas.openxmlformats.org/drawingml/2006/table">
            <a:tbl>
              <a:tblPr firstRow="1" bandRow="1">
                <a:tableStyleId>{5C22544A-7EE6-4342-B048-85BDC9FD1C3A}</a:tableStyleId>
              </a:tblPr>
              <a:tblGrid>
                <a:gridCol w="1021457"/>
                <a:gridCol w="4001492"/>
                <a:gridCol w="5943501"/>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3F0E8"/>
                    </a:solidFill>
                  </a:tcPr>
                </a:tc>
              </a:tr>
            </a:tbl>
          </a:graphicData>
        </a:graphic>
      </p:graphicFrame>
      <p:sp>
        <p:nvSpPr>
          <p:cNvPr id="7" name="TextBox 6"/>
          <p:cNvSpPr txBox="1"/>
          <p:nvPr/>
        </p:nvSpPr>
        <p:spPr>
          <a:xfrm>
            <a:off x="717550" y="386248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8" name="TextBox 7"/>
          <p:cNvSpPr txBox="1"/>
          <p:nvPr/>
        </p:nvSpPr>
        <p:spPr>
          <a:xfrm>
            <a:off x="609600" y="416569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둘째는 사람 동작 추종이다. CMU LeCAR Lab(Guanya Shi)은 원격조종(H2O·OmniH2O)에서 시작해, 실물 기록으로 시뮬레이터를 고치는 ASAP으로 갔다. Stanford(HumanPlus)와 UC San Diego(ExBody)는 사람 동작 데이터로 Unitree H1을 움직였다. 셋째는 지형이나 과제 비용을 보는 정책이다. Humanoid Parkour는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439</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439</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439</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439</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439</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439</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439</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ASAP은 실물 기록으로 시뮬레이터 쪽을 고쳤다. 로봇은 대부분 Unitree H1과 G1이다.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439</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439</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439</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439</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439</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439</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439</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439</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439</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439</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439</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439</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57200"/>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57344"/>
        </p:xfrm>
        <a:graphic>
          <a:graphicData uri="http://schemas.openxmlformats.org/drawingml/2006/table">
            <a:tbl>
              <a:tblPr firstRow="1" bandRow="1">
                <a:tableStyleId>{5C22544A-7EE6-4342-B048-85BDC9FD1C3A}</a:tableStyleId>
              </a:tblPr>
              <a:tblGrid>
                <a:gridCol w="2134592"/>
                <a:gridCol w="3192066"/>
                <a:gridCol w="3869432"/>
                <a:gridCol w="1770360"/>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9" name="TextBox 8"/>
          <p:cNvSpPr txBox="1"/>
          <p:nvPr/>
        </p:nvSpPr>
        <p:spPr>
          <a:xfrm>
            <a:off x="609600" y="59436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439</a:t>
            </a:r>
          </a:p>
        </p:txBody>
      </p:sp>
      <p:graphicFrame>
        <p:nvGraphicFramePr>
          <p:cNvPr id="5" name="Table 4"/>
          <p:cNvGraphicFramePr>
            <a:graphicFrameLocks noGrp="1"/>
          </p:cNvGraphicFramePr>
          <p:nvPr/>
        </p:nvGraphicFramePr>
        <p:xfrm>
          <a:off x="609600" y="1244600"/>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
        <p:nvSpPr>
          <p:cNvPr id="6" name="TextBox 5"/>
          <p:cNvSpPr txBox="1"/>
          <p:nvPr/>
        </p:nvSpPr>
        <p:spPr>
          <a:xfrm>
            <a:off x="717550" y="48053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7" name="TextBox 6"/>
          <p:cNvSpPr txBox="1"/>
          <p:nvPr/>
        </p:nvSpPr>
        <p:spPr>
          <a:xfrm>
            <a:off x="609600" y="5108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439</a:t>
            </a:r>
          </a:p>
        </p:txBody>
      </p:sp>
      <p:sp>
        <p:nvSpPr>
          <p:cNvPr id="5" name="TextBox 4"/>
          <p:cNvSpPr txBox="1"/>
          <p:nvPr/>
        </p:nvSpPr>
        <p:spPr>
          <a:xfrm>
            <a:off x="609600" y="1244600"/>
            <a:ext cx="10972800" cy="418961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그래서 세 판(고정 λ, 절반에 0으로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지형 표집을 실패율로 정한다(BeyondMimic·Humanoid Parkour,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TP-0138의 두 판(curb_ramp만, 모든 지형)은 둘 다 26/30이라 이 처방을 가르지 못했다(B.15.5). 가설은 같은 rollout 예산에서 드문 실패 장면이 더 자주 학습된다는 것이다.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439</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439</a:t>
            </a:r>
          </a:p>
        </p:txBody>
      </p:sp>
      <p:sp>
        <p:nvSpPr>
          <p:cNvPr id="5" name="TextBox 4"/>
          <p:cNvSpPr txBox="1"/>
          <p:nvPr/>
        </p:nvSpPr>
        <p:spPr>
          <a:xfrm>
            <a:off x="609600" y="1244600"/>
            <a:ext cx="10972800" cy="2190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352385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421 / 439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B.16)은 "남이 무엇을 했나"이고, 이 탭은 travplan이 고치고 잰 결과다(CLAUDE.md의 분리 규칙).</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439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439</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439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439</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439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439</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439</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439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439</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