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69.xml" ContentType="application/vnd.openxmlformats-officedocument.presentationml.notesSlide+xml"/>
  <Override PartName="/ppt/notesSlides/notesSlide47.xml" ContentType="application/vnd.openxmlformats-officedocument.presentationml.notesSlide+xml"/>
  <Override PartName="/ppt/notesSlides/notesSlide470.xml" ContentType="application/vnd.openxmlformats-officedocument.presentationml.notesSlide+xml"/>
  <Override PartName="/ppt/notesSlides/notesSlide471.xml" ContentType="application/vnd.openxmlformats-officedocument.presentationml.notesSlide+xml"/>
  <Override PartName="/ppt/notesSlides/notesSlide472.xml" ContentType="application/vnd.openxmlformats-officedocument.presentationml.notesSlide+xml"/>
  <Override PartName="/ppt/notesSlides/notesSlide473.xml" ContentType="application/vnd.openxmlformats-officedocument.presentationml.notesSlide+xml"/>
  <Override PartName="/ppt/notesSlides/notesSlide474.xml" ContentType="application/vnd.openxmlformats-officedocument.presentationml.notesSlide+xml"/>
  <Override PartName="/ppt/notesSlides/notesSlide475.xml" ContentType="application/vnd.openxmlformats-officedocument.presentationml.notesSlide+xml"/>
  <Override PartName="/ppt/notesSlides/notesSlide476.xml" ContentType="application/vnd.openxmlformats-officedocument.presentationml.notesSlide+xml"/>
  <Override PartName="/ppt/notesSlides/notesSlide477.xml" ContentType="application/vnd.openxmlformats-officedocument.presentationml.notesSlide+xml"/>
  <Override PartName="/ppt/notesSlides/notesSlide478.xml" ContentType="application/vnd.openxmlformats-officedocument.presentationml.notesSlide+xml"/>
  <Override PartName="/ppt/notesSlides/notesSlide479.xml" ContentType="application/vnd.openxmlformats-officedocument.presentationml.notesSlide+xml"/>
  <Override PartName="/ppt/notesSlides/notesSlide48.xml" ContentType="application/vnd.openxmlformats-officedocument.presentationml.notesSlide+xml"/>
  <Override PartName="/ppt/notesSlides/notesSlide480.xml" ContentType="application/vnd.openxmlformats-officedocument.presentationml.notesSlide+xml"/>
  <Override PartName="/ppt/notesSlides/notesSlide481.xml" ContentType="application/vnd.openxmlformats-officedocument.presentationml.notesSlide+xml"/>
  <Override PartName="/ppt/notesSlides/notesSlide482.xml" ContentType="application/vnd.openxmlformats-officedocument.presentationml.notesSlide+xml"/>
  <Override PartName="/ppt/notesSlides/notesSlide483.xml" ContentType="application/vnd.openxmlformats-officedocument.presentationml.notesSlide+xml"/>
  <Override PartName="/ppt/notesSlides/notesSlide484.xml" ContentType="application/vnd.openxmlformats-officedocument.presentationml.notesSlide+xml"/>
  <Override PartName="/ppt/notesSlides/notesSlide485.xml" ContentType="application/vnd.openxmlformats-officedocument.presentationml.notesSlide+xml"/>
  <Override PartName="/ppt/notesSlides/notesSlide486.xml" ContentType="application/vnd.openxmlformats-officedocument.presentationml.notesSlide+xml"/>
  <Override PartName="/ppt/notesSlides/notesSlide487.xml" ContentType="application/vnd.openxmlformats-officedocument.presentationml.notesSlide+xml"/>
  <Override PartName="/ppt/notesSlides/notesSlide488.xml" ContentType="application/vnd.openxmlformats-officedocument.presentationml.notesSlide+xml"/>
  <Override PartName="/ppt/notesSlides/notesSlide489.xml" ContentType="application/vnd.openxmlformats-officedocument.presentationml.notesSlide+xml"/>
  <Override PartName="/ppt/notesSlides/notesSlide49.xml" ContentType="application/vnd.openxmlformats-officedocument.presentationml.notesSlide+xml"/>
  <Override PartName="/ppt/notesSlides/notesSlide490.xml" ContentType="application/vnd.openxmlformats-officedocument.presentationml.notesSlide+xml"/>
  <Override PartName="/ppt/notesSlides/notesSlide491.xml" ContentType="application/vnd.openxmlformats-officedocument.presentationml.notesSlide+xml"/>
  <Override PartName="/ppt/notesSlides/notesSlide492.xml" ContentType="application/vnd.openxmlformats-officedocument.presentationml.notesSlide+xml"/>
  <Override PartName="/ppt/notesSlides/notesSlide493.xml" ContentType="application/vnd.openxmlformats-officedocument.presentationml.notesSlide+xml"/>
  <Override PartName="/ppt/notesSlides/notesSlide494.xml" ContentType="application/vnd.openxmlformats-officedocument.presentationml.notesSlide+xml"/>
  <Override PartName="/ppt/notesSlides/notesSlide495.xml" ContentType="application/vnd.openxmlformats-officedocument.presentationml.notesSlide+xml"/>
  <Override PartName="/ppt/notesSlides/notesSlide496.xml" ContentType="application/vnd.openxmlformats-officedocument.presentationml.notesSlide+xml"/>
  <Override PartName="/ppt/notesSlides/notesSlide497.xml" ContentType="application/vnd.openxmlformats-officedocument.presentationml.notesSlide+xml"/>
  <Override PartName="/ppt/notesSlides/notesSlide498.xml" ContentType="application/vnd.openxmlformats-officedocument.presentationml.notesSlide+xml"/>
  <Override PartName="/ppt/notesSlides/notesSlide49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00.xml" ContentType="application/vnd.openxmlformats-officedocument.presentationml.notesSlide+xml"/>
  <Override PartName="/ppt/notesSlides/notesSlide501.xml" ContentType="application/vnd.openxmlformats-officedocument.presentationml.notesSlide+xml"/>
  <Override PartName="/ppt/notesSlides/notesSlide502.xml" ContentType="application/vnd.openxmlformats-officedocument.presentationml.notesSlide+xml"/>
  <Override PartName="/ppt/notesSlides/notesSlide503.xml" ContentType="application/vnd.openxmlformats-officedocument.presentationml.notesSlide+xml"/>
  <Override PartName="/ppt/notesSlides/notesSlide504.xml" ContentType="application/vnd.openxmlformats-officedocument.presentationml.notesSlide+xml"/>
  <Override PartName="/ppt/notesSlides/notesSlide505.xml" ContentType="application/vnd.openxmlformats-officedocument.presentationml.notesSlide+xml"/>
  <Override PartName="/ppt/notesSlides/notesSlide506.xml" ContentType="application/vnd.openxmlformats-officedocument.presentationml.notesSlide+xml"/>
  <Override PartName="/ppt/notesSlides/notesSlide507.xml" ContentType="application/vnd.openxmlformats-officedocument.presentationml.notesSlide+xml"/>
  <Override PartName="/ppt/notesSlides/notesSlide508.xml" ContentType="application/vnd.openxmlformats-officedocument.presentationml.notesSlide+xml"/>
  <Override PartName="/ppt/notesSlides/notesSlide509.xml" ContentType="application/vnd.openxmlformats-officedocument.presentationml.notesSlide+xml"/>
  <Override PartName="/ppt/notesSlides/notesSlide51.xml" ContentType="application/vnd.openxmlformats-officedocument.presentationml.notesSlide+xml"/>
  <Override PartName="/ppt/notesSlides/notesSlide510.xml" ContentType="application/vnd.openxmlformats-officedocument.presentationml.notesSlide+xml"/>
  <Override PartName="/ppt/notesSlides/notesSlide511.xml" ContentType="application/vnd.openxmlformats-officedocument.presentationml.notesSlide+xml"/>
  <Override PartName="/ppt/notesSlides/notesSlide512.xml" ContentType="application/vnd.openxmlformats-officedocument.presentationml.notesSlide+xml"/>
  <Override PartName="/ppt/notesSlides/notesSlide513.xml" ContentType="application/vnd.openxmlformats-officedocument.presentationml.notesSlide+xml"/>
  <Override PartName="/ppt/notesSlides/notesSlide514.xml" ContentType="application/vnd.openxmlformats-officedocument.presentationml.notesSlide+xml"/>
  <Override PartName="/ppt/notesSlides/notesSlide515.xml" ContentType="application/vnd.openxmlformats-officedocument.presentationml.notesSlide+xml"/>
  <Override PartName="/ppt/notesSlides/notesSlide516.xml" ContentType="application/vnd.openxmlformats-officedocument.presentationml.notesSlide+xml"/>
  <Override PartName="/ppt/notesSlides/notesSlide517.xml" ContentType="application/vnd.openxmlformats-officedocument.presentationml.notesSlide+xml"/>
  <Override PartName="/ppt/notesSlides/notesSlide518.xml" ContentType="application/vnd.openxmlformats-officedocument.presentationml.notesSlide+xml"/>
  <Override PartName="/ppt/notesSlides/notesSlide519.xml" ContentType="application/vnd.openxmlformats-officedocument.presentationml.notesSlide+xml"/>
  <Override PartName="/ppt/notesSlides/notesSlide52.xml" ContentType="application/vnd.openxmlformats-officedocument.presentationml.notesSlide+xml"/>
  <Override PartName="/ppt/notesSlides/notesSlide520.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69.xml" ContentType="application/vnd.openxmlformats-officedocument.presentationml.slide+xml"/>
  <Override PartName="/ppt/slides/slide47.xml" ContentType="application/vnd.openxmlformats-officedocument.presentationml.slide+xml"/>
  <Override PartName="/ppt/slides/slide470.xml" ContentType="application/vnd.openxmlformats-officedocument.presentationml.slide+xml"/>
  <Override PartName="/ppt/slides/slide471.xml" ContentType="application/vnd.openxmlformats-officedocument.presentationml.slide+xml"/>
  <Override PartName="/ppt/slides/slide472.xml" ContentType="application/vnd.openxmlformats-officedocument.presentationml.slide+xml"/>
  <Override PartName="/ppt/slides/slide473.xml" ContentType="application/vnd.openxmlformats-officedocument.presentationml.slide+xml"/>
  <Override PartName="/ppt/slides/slide474.xml" ContentType="application/vnd.openxmlformats-officedocument.presentationml.slide+xml"/>
  <Override PartName="/ppt/slides/slide475.xml" ContentType="application/vnd.openxmlformats-officedocument.presentationml.slide+xml"/>
  <Override PartName="/ppt/slides/slide476.xml" ContentType="application/vnd.openxmlformats-officedocument.presentationml.slide+xml"/>
  <Override PartName="/ppt/slides/slide477.xml" ContentType="application/vnd.openxmlformats-officedocument.presentationml.slide+xml"/>
  <Override PartName="/ppt/slides/slide478.xml" ContentType="application/vnd.openxmlformats-officedocument.presentationml.slide+xml"/>
  <Override PartName="/ppt/slides/slide479.xml" ContentType="application/vnd.openxmlformats-officedocument.presentationml.slide+xml"/>
  <Override PartName="/ppt/slides/slide48.xml" ContentType="application/vnd.openxmlformats-officedocument.presentationml.slide+xml"/>
  <Override PartName="/ppt/slides/slide480.xml" ContentType="application/vnd.openxmlformats-officedocument.presentationml.slide+xml"/>
  <Override PartName="/ppt/slides/slide481.xml" ContentType="application/vnd.openxmlformats-officedocument.presentationml.slide+xml"/>
  <Override PartName="/ppt/slides/slide482.xml" ContentType="application/vnd.openxmlformats-officedocument.presentationml.slide+xml"/>
  <Override PartName="/ppt/slides/slide483.xml" ContentType="application/vnd.openxmlformats-officedocument.presentationml.slide+xml"/>
  <Override PartName="/ppt/slides/slide484.xml" ContentType="application/vnd.openxmlformats-officedocument.presentationml.slide+xml"/>
  <Override PartName="/ppt/slides/slide485.xml" ContentType="application/vnd.openxmlformats-officedocument.presentationml.slide+xml"/>
  <Override PartName="/ppt/slides/slide486.xml" ContentType="application/vnd.openxmlformats-officedocument.presentationml.slide+xml"/>
  <Override PartName="/ppt/slides/slide487.xml" ContentType="application/vnd.openxmlformats-officedocument.presentationml.slide+xml"/>
  <Override PartName="/ppt/slides/slide488.xml" ContentType="application/vnd.openxmlformats-officedocument.presentationml.slide+xml"/>
  <Override PartName="/ppt/slides/slide489.xml" ContentType="application/vnd.openxmlformats-officedocument.presentationml.slide+xml"/>
  <Override PartName="/ppt/slides/slide49.xml" ContentType="application/vnd.openxmlformats-officedocument.presentationml.slide+xml"/>
  <Override PartName="/ppt/slides/slide490.xml" ContentType="application/vnd.openxmlformats-officedocument.presentationml.slide+xml"/>
  <Override PartName="/ppt/slides/slide491.xml" ContentType="application/vnd.openxmlformats-officedocument.presentationml.slide+xml"/>
  <Override PartName="/ppt/slides/slide492.xml" ContentType="application/vnd.openxmlformats-officedocument.presentationml.slide+xml"/>
  <Override PartName="/ppt/slides/slide493.xml" ContentType="application/vnd.openxmlformats-officedocument.presentationml.slide+xml"/>
  <Override PartName="/ppt/slides/slide494.xml" ContentType="application/vnd.openxmlformats-officedocument.presentationml.slide+xml"/>
  <Override PartName="/ppt/slides/slide495.xml" ContentType="application/vnd.openxmlformats-officedocument.presentationml.slide+xml"/>
  <Override PartName="/ppt/slides/slide496.xml" ContentType="application/vnd.openxmlformats-officedocument.presentationml.slide+xml"/>
  <Override PartName="/ppt/slides/slide497.xml" ContentType="application/vnd.openxmlformats-officedocument.presentationml.slide+xml"/>
  <Override PartName="/ppt/slides/slide498.xml" ContentType="application/vnd.openxmlformats-officedocument.presentationml.slide+xml"/>
  <Override PartName="/ppt/slides/slide49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00.xml" ContentType="application/vnd.openxmlformats-officedocument.presentationml.slide+xml"/>
  <Override PartName="/ppt/slides/slide501.xml" ContentType="application/vnd.openxmlformats-officedocument.presentationml.slide+xml"/>
  <Override PartName="/ppt/slides/slide502.xml" ContentType="application/vnd.openxmlformats-officedocument.presentationml.slide+xml"/>
  <Override PartName="/ppt/slides/slide503.xml" ContentType="application/vnd.openxmlformats-officedocument.presentationml.slide+xml"/>
  <Override PartName="/ppt/slides/slide504.xml" ContentType="application/vnd.openxmlformats-officedocument.presentationml.slide+xml"/>
  <Override PartName="/ppt/slides/slide505.xml" ContentType="application/vnd.openxmlformats-officedocument.presentationml.slide+xml"/>
  <Override PartName="/ppt/slides/slide506.xml" ContentType="application/vnd.openxmlformats-officedocument.presentationml.slide+xml"/>
  <Override PartName="/ppt/slides/slide507.xml" ContentType="application/vnd.openxmlformats-officedocument.presentationml.slide+xml"/>
  <Override PartName="/ppt/slides/slide508.xml" ContentType="application/vnd.openxmlformats-officedocument.presentationml.slide+xml"/>
  <Override PartName="/ppt/slides/slide509.xml" ContentType="application/vnd.openxmlformats-officedocument.presentationml.slide+xml"/>
  <Override PartName="/ppt/slides/slide51.xml" ContentType="application/vnd.openxmlformats-officedocument.presentationml.slide+xml"/>
  <Override PartName="/ppt/slides/slide510.xml" ContentType="application/vnd.openxmlformats-officedocument.presentationml.slide+xml"/>
  <Override PartName="/ppt/slides/slide511.xml" ContentType="application/vnd.openxmlformats-officedocument.presentationml.slide+xml"/>
  <Override PartName="/ppt/slides/slide512.xml" ContentType="application/vnd.openxmlformats-officedocument.presentationml.slide+xml"/>
  <Override PartName="/ppt/slides/slide513.xml" ContentType="application/vnd.openxmlformats-officedocument.presentationml.slide+xml"/>
  <Override PartName="/ppt/slides/slide514.xml" ContentType="application/vnd.openxmlformats-officedocument.presentationml.slide+xml"/>
  <Override PartName="/ppt/slides/slide515.xml" ContentType="application/vnd.openxmlformats-officedocument.presentationml.slide+xml"/>
  <Override PartName="/ppt/slides/slide516.xml" ContentType="application/vnd.openxmlformats-officedocument.presentationml.slide+xml"/>
  <Override PartName="/ppt/slides/slide517.xml" ContentType="application/vnd.openxmlformats-officedocument.presentationml.slide+xml"/>
  <Override PartName="/ppt/slides/slide518.xml" ContentType="application/vnd.openxmlformats-officedocument.presentationml.slide+xml"/>
  <Override PartName="/ppt/slides/slide519.xml" ContentType="application/vnd.openxmlformats-officedocument.presentationml.slide+xml"/>
  <Override PartName="/ppt/slides/slide52.xml" ContentType="application/vnd.openxmlformats-officedocument.presentationml.slide+xml"/>
  <Override PartName="/ppt/slides/slide520.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 id="724" r:id="rId476"/>
    <p:sldId id="725" r:id="rId477"/>
    <p:sldId id="726" r:id="rId478"/>
    <p:sldId id="727" r:id="rId479"/>
    <p:sldId id="728" r:id="rId480"/>
    <p:sldId id="729" r:id="rId481"/>
    <p:sldId id="730" r:id="rId482"/>
    <p:sldId id="731" r:id="rId483"/>
    <p:sldId id="732" r:id="rId484"/>
    <p:sldId id="733" r:id="rId485"/>
    <p:sldId id="734" r:id="rId486"/>
    <p:sldId id="735" r:id="rId487"/>
    <p:sldId id="736" r:id="rId488"/>
    <p:sldId id="737" r:id="rId489"/>
    <p:sldId id="738" r:id="rId490"/>
    <p:sldId id="739" r:id="rId491"/>
    <p:sldId id="740" r:id="rId492"/>
    <p:sldId id="741" r:id="rId493"/>
    <p:sldId id="742" r:id="rId494"/>
    <p:sldId id="743" r:id="rId495"/>
    <p:sldId id="744" r:id="rId496"/>
    <p:sldId id="745" r:id="rId497"/>
    <p:sldId id="746" r:id="rId498"/>
    <p:sldId id="747" r:id="rId499"/>
    <p:sldId id="748" r:id="rId500"/>
    <p:sldId id="749" r:id="rId501"/>
    <p:sldId id="750" r:id="rId502"/>
    <p:sldId id="751" r:id="rId503"/>
    <p:sldId id="752" r:id="rId504"/>
    <p:sldId id="753" r:id="rId505"/>
    <p:sldId id="754" r:id="rId506"/>
    <p:sldId id="755" r:id="rId507"/>
    <p:sldId id="756" r:id="rId508"/>
    <p:sldId id="757" r:id="rId509"/>
    <p:sldId id="758" r:id="rId510"/>
    <p:sldId id="759" r:id="rId511"/>
    <p:sldId id="760" r:id="rId512"/>
    <p:sldId id="761" r:id="rId513"/>
    <p:sldId id="762" r:id="rId514"/>
    <p:sldId id="763" r:id="rId515"/>
    <p:sldId id="764" r:id="rId516"/>
    <p:sldId id="765" r:id="rId517"/>
    <p:sldId id="766" r:id="rId518"/>
    <p:sldId id="767" r:id="rId519"/>
    <p:sldId id="768" r:id="rId520"/>
    <p:sldId id="769" r:id="rId521"/>
    <p:sldId id="770" r:id="rId522"/>
    <p:sldId id="771" r:id="rId523"/>
    <p:sldId id="772" r:id="rId524"/>
    <p:sldId id="773" r:id="rId525"/>
    <p:sldId id="774" r:id="rId526"/>
    <p:sldId id="775" r:id="rId527"/>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 Id="rId476" Type="http://schemas.openxmlformats.org/officeDocument/2006/relationships/slide" Target="slides/slide469.xml"/><Relationship Id="rId477" Type="http://schemas.openxmlformats.org/officeDocument/2006/relationships/slide" Target="slides/slide470.xml"/><Relationship Id="rId478" Type="http://schemas.openxmlformats.org/officeDocument/2006/relationships/slide" Target="slides/slide471.xml"/><Relationship Id="rId479" Type="http://schemas.openxmlformats.org/officeDocument/2006/relationships/slide" Target="slides/slide472.xml"/><Relationship Id="rId480" Type="http://schemas.openxmlformats.org/officeDocument/2006/relationships/slide" Target="slides/slide473.xml"/><Relationship Id="rId481" Type="http://schemas.openxmlformats.org/officeDocument/2006/relationships/slide" Target="slides/slide474.xml"/><Relationship Id="rId482" Type="http://schemas.openxmlformats.org/officeDocument/2006/relationships/slide" Target="slides/slide475.xml"/><Relationship Id="rId483" Type="http://schemas.openxmlformats.org/officeDocument/2006/relationships/slide" Target="slides/slide476.xml"/><Relationship Id="rId484" Type="http://schemas.openxmlformats.org/officeDocument/2006/relationships/slide" Target="slides/slide477.xml"/><Relationship Id="rId485" Type="http://schemas.openxmlformats.org/officeDocument/2006/relationships/slide" Target="slides/slide478.xml"/><Relationship Id="rId486" Type="http://schemas.openxmlformats.org/officeDocument/2006/relationships/slide" Target="slides/slide479.xml"/><Relationship Id="rId487" Type="http://schemas.openxmlformats.org/officeDocument/2006/relationships/slide" Target="slides/slide480.xml"/><Relationship Id="rId488" Type="http://schemas.openxmlformats.org/officeDocument/2006/relationships/slide" Target="slides/slide481.xml"/><Relationship Id="rId489" Type="http://schemas.openxmlformats.org/officeDocument/2006/relationships/slide" Target="slides/slide482.xml"/><Relationship Id="rId490" Type="http://schemas.openxmlformats.org/officeDocument/2006/relationships/slide" Target="slides/slide483.xml"/><Relationship Id="rId491" Type="http://schemas.openxmlformats.org/officeDocument/2006/relationships/slide" Target="slides/slide484.xml"/><Relationship Id="rId492" Type="http://schemas.openxmlformats.org/officeDocument/2006/relationships/slide" Target="slides/slide485.xml"/><Relationship Id="rId493" Type="http://schemas.openxmlformats.org/officeDocument/2006/relationships/slide" Target="slides/slide486.xml"/><Relationship Id="rId494" Type="http://schemas.openxmlformats.org/officeDocument/2006/relationships/slide" Target="slides/slide487.xml"/><Relationship Id="rId495" Type="http://schemas.openxmlformats.org/officeDocument/2006/relationships/slide" Target="slides/slide488.xml"/><Relationship Id="rId496" Type="http://schemas.openxmlformats.org/officeDocument/2006/relationships/slide" Target="slides/slide489.xml"/><Relationship Id="rId497" Type="http://schemas.openxmlformats.org/officeDocument/2006/relationships/slide" Target="slides/slide490.xml"/><Relationship Id="rId498" Type="http://schemas.openxmlformats.org/officeDocument/2006/relationships/slide" Target="slides/slide491.xml"/><Relationship Id="rId499" Type="http://schemas.openxmlformats.org/officeDocument/2006/relationships/slide" Target="slides/slide492.xml"/><Relationship Id="rId500" Type="http://schemas.openxmlformats.org/officeDocument/2006/relationships/slide" Target="slides/slide493.xml"/><Relationship Id="rId501" Type="http://schemas.openxmlformats.org/officeDocument/2006/relationships/slide" Target="slides/slide494.xml"/><Relationship Id="rId502" Type="http://schemas.openxmlformats.org/officeDocument/2006/relationships/slide" Target="slides/slide495.xml"/><Relationship Id="rId503" Type="http://schemas.openxmlformats.org/officeDocument/2006/relationships/slide" Target="slides/slide496.xml"/><Relationship Id="rId504" Type="http://schemas.openxmlformats.org/officeDocument/2006/relationships/slide" Target="slides/slide497.xml"/><Relationship Id="rId505" Type="http://schemas.openxmlformats.org/officeDocument/2006/relationships/slide" Target="slides/slide498.xml"/><Relationship Id="rId506" Type="http://schemas.openxmlformats.org/officeDocument/2006/relationships/slide" Target="slides/slide499.xml"/><Relationship Id="rId507" Type="http://schemas.openxmlformats.org/officeDocument/2006/relationships/slide" Target="slides/slide500.xml"/><Relationship Id="rId508" Type="http://schemas.openxmlformats.org/officeDocument/2006/relationships/slide" Target="slides/slide501.xml"/><Relationship Id="rId509" Type="http://schemas.openxmlformats.org/officeDocument/2006/relationships/slide" Target="slides/slide502.xml"/><Relationship Id="rId510" Type="http://schemas.openxmlformats.org/officeDocument/2006/relationships/slide" Target="slides/slide503.xml"/><Relationship Id="rId511" Type="http://schemas.openxmlformats.org/officeDocument/2006/relationships/slide" Target="slides/slide504.xml"/><Relationship Id="rId512" Type="http://schemas.openxmlformats.org/officeDocument/2006/relationships/slide" Target="slides/slide505.xml"/><Relationship Id="rId513" Type="http://schemas.openxmlformats.org/officeDocument/2006/relationships/slide" Target="slides/slide506.xml"/><Relationship Id="rId514" Type="http://schemas.openxmlformats.org/officeDocument/2006/relationships/slide" Target="slides/slide507.xml"/><Relationship Id="rId515" Type="http://schemas.openxmlformats.org/officeDocument/2006/relationships/slide" Target="slides/slide508.xml"/><Relationship Id="rId516" Type="http://schemas.openxmlformats.org/officeDocument/2006/relationships/slide" Target="slides/slide509.xml"/><Relationship Id="rId517" Type="http://schemas.openxmlformats.org/officeDocument/2006/relationships/slide" Target="slides/slide510.xml"/><Relationship Id="rId518" Type="http://schemas.openxmlformats.org/officeDocument/2006/relationships/slide" Target="slides/slide511.xml"/><Relationship Id="rId519" Type="http://schemas.openxmlformats.org/officeDocument/2006/relationships/slide" Target="slides/slide512.xml"/><Relationship Id="rId520" Type="http://schemas.openxmlformats.org/officeDocument/2006/relationships/slide" Target="slides/slide513.xml"/><Relationship Id="rId521" Type="http://schemas.openxmlformats.org/officeDocument/2006/relationships/slide" Target="slides/slide514.xml"/><Relationship Id="rId522" Type="http://schemas.openxmlformats.org/officeDocument/2006/relationships/slide" Target="slides/slide515.xml"/><Relationship Id="rId523" Type="http://schemas.openxmlformats.org/officeDocument/2006/relationships/slide" Target="slides/slide516.xml"/><Relationship Id="rId524" Type="http://schemas.openxmlformats.org/officeDocument/2006/relationships/slide" Target="slides/slide517.xml"/><Relationship Id="rId525" Type="http://schemas.openxmlformats.org/officeDocument/2006/relationships/slide" Target="slides/slide518.xml"/><Relationship Id="rId526" Type="http://schemas.openxmlformats.org/officeDocument/2006/relationships/slide" Target="slides/slide519.xml"/><Relationship Id="rId527" Type="http://schemas.openxmlformats.org/officeDocument/2006/relationships/slide" Target="slides/slide5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_rels/notesSlide4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9.xml"/></Relationships>
</file>

<file path=ppt/notesSlides/_rels/notesSlide4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0.xml"/></Relationships>
</file>

<file path=ppt/notesSlides/_rels/notesSlide4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1.xml"/></Relationships>
</file>

<file path=ppt/notesSlides/_rels/notesSlide4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2.xml"/></Relationships>
</file>

<file path=ppt/notesSlides/_rels/notesSlide4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3.xml"/></Relationships>
</file>

<file path=ppt/notesSlides/_rels/notesSlide4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4.xml"/></Relationships>
</file>

<file path=ppt/notesSlides/_rels/notesSlide4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5.xml"/></Relationships>
</file>

<file path=ppt/notesSlides/_rels/notesSlide4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6.xml"/></Relationships>
</file>

<file path=ppt/notesSlides/_rels/notesSlide4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7.xml"/></Relationships>
</file>

<file path=ppt/notesSlides/_rels/notesSlide4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8.xml"/></Relationships>
</file>

<file path=ppt/notesSlides/_rels/notesSlide4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9.xml"/></Relationships>
</file>

<file path=ppt/notesSlides/_rels/notesSlide4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0.xml"/></Relationships>
</file>

<file path=ppt/notesSlides/_rels/notesSlide4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1.xml"/></Relationships>
</file>

<file path=ppt/notesSlides/_rels/notesSlide4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2.xml"/></Relationships>
</file>

<file path=ppt/notesSlides/_rels/notesSlide4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3.xml"/></Relationships>
</file>

<file path=ppt/notesSlides/_rels/notesSlide4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4.xml"/></Relationships>
</file>

<file path=ppt/notesSlides/_rels/notesSlide4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5.xml"/></Relationships>
</file>

<file path=ppt/notesSlides/_rels/notesSlide4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6.xml"/></Relationships>
</file>

<file path=ppt/notesSlides/_rels/notesSlide4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7.xml"/></Relationships>
</file>

<file path=ppt/notesSlides/_rels/notesSlide4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8.xml"/></Relationships>
</file>

<file path=ppt/notesSlides/_rels/notesSlide4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9.xml"/></Relationships>
</file>

<file path=ppt/notesSlides/_rels/notesSlide4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0.xml"/></Relationships>
</file>

<file path=ppt/notesSlides/_rels/notesSlide4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1.xml"/></Relationships>
</file>

<file path=ppt/notesSlides/_rels/notesSlide4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2.xml"/></Relationships>
</file>

<file path=ppt/notesSlides/_rels/notesSlide4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3.xml"/></Relationships>
</file>

<file path=ppt/notesSlides/_rels/notesSlide4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4.xml"/></Relationships>
</file>

<file path=ppt/notesSlides/_rels/notesSlide4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5.xml"/></Relationships>
</file>

<file path=ppt/notesSlides/_rels/notesSlide4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6.xml"/></Relationships>
</file>

<file path=ppt/notesSlides/_rels/notesSlide4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7.xml"/></Relationships>
</file>

<file path=ppt/notesSlides/_rels/notesSlide4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8.xml"/></Relationships>
</file>

<file path=ppt/notesSlides/_rels/notesSlide4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9.xml"/></Relationships>
</file>

<file path=ppt/notesSlides/_rels/notesSlide5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0.xml"/></Relationships>
</file>

<file path=ppt/notesSlides/_rels/notesSlide5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1.xml"/></Relationships>
</file>

<file path=ppt/notesSlides/_rels/notesSlide5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2.xml"/></Relationships>
</file>

<file path=ppt/notesSlides/_rels/notesSlide5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3.xml"/></Relationships>
</file>

<file path=ppt/notesSlides/_rels/notesSlide5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4.xml"/></Relationships>
</file>

<file path=ppt/notesSlides/_rels/notesSlide5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5.xml"/></Relationships>
</file>

<file path=ppt/notesSlides/_rels/notesSlide5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6.xml"/></Relationships>
</file>

<file path=ppt/notesSlides/_rels/notesSlide5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7.xml"/></Relationships>
</file>

<file path=ppt/notesSlides/_rels/notesSlide5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8.xml"/></Relationships>
</file>

<file path=ppt/notesSlides/_rels/notesSlide5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9.xml"/></Relationships>
</file>

<file path=ppt/notesSlides/_rels/notesSlide5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0.xml"/></Relationships>
</file>

<file path=ppt/notesSlides/_rels/notesSlide5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1.xml"/></Relationships>
</file>

<file path=ppt/notesSlides/_rels/notesSlide5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2.xml"/></Relationships>
</file>

<file path=ppt/notesSlides/_rels/notesSlide5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3.xml"/></Relationships>
</file>

<file path=ppt/notesSlides/_rels/notesSlide5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4.xml"/></Relationships>
</file>

<file path=ppt/notesSlides/_rels/notesSlide5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5.xml"/></Relationships>
</file>

<file path=ppt/notesSlides/_rels/notesSlide5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6.xml"/></Relationships>
</file>

<file path=ppt/notesSlides/_rels/notesSlide5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7.xml"/></Relationships>
</file>

<file path=ppt/notesSlides/_rels/notesSlide5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8.xml"/></Relationships>
</file>

<file path=ppt/notesSlides/_rels/notesSlide5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9.xml"/></Relationships>
</file>

<file path=ppt/notesSlides/_rels/notesSlide5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TAME-Nav의 계보와 관련 연구(SEA-Nav CBF 수식, 연구 28편)'</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'다리·바퀴 로봇과 계보'</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24행)'</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Reflect v1.0의 층과 학습'</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Watch Your Step의 학습 절차, 표, 공개 코드'</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LocoFormer의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LocoFormer의 계보 15편과 후속 10편'</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S1의 주장·수치와 읽는 법, Skild 사람들의 관련 논문'</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27행)'</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GM-Loco의 접촉 모델·학습 식과 접촉 모델 비교'</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HumanX의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PHP의 방법·수식·결과와 한계'</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PHP의 계보와 2026년 후속 연구(연구 25편)'</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데이터 수집, 계획기의 손실·RTC·RL 후학습, 3층 지도, 결과, 관련 연구 비교, Planner D와 맞대 보기'</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NEXUS의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12행)'</a:t>
            </a:r>
          </a:p>
        </p:txBody>
      </p:sp>
      <p:sp>
        <p:nvSpPr>
          <p:cNvPr id="4" name="Slide Number Placeholder 3"/>
          <p:cNvSpPr>
            <a:spLocks noGrp="1"/>
          </p:cNvSpPr>
          <p:nvPr>
            <p:ph type="sldNum" idx="5" sz="quarter"/>
          </p:nvPr>
        </p:nvSpPr>
        <p:spPr/>
      </p:sp>
    </p:spTree>
  </p:cSld>
  <p:clrMapOvr>
    <a:masterClrMapping/>
  </p:clrMapOvr>
</p:notes>
</file>

<file path=ppt/notesSlides/notesSlide4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'분야별 지형'</a:t>
            </a:r>
          </a:p>
        </p:txBody>
      </p:sp>
      <p:sp>
        <p:nvSpPr>
          <p:cNvPr id="4" name="Slide Number Placeholder 3"/>
          <p:cNvSpPr>
            <a:spLocks noGrp="1"/>
          </p:cNvSpPr>
          <p:nvPr>
            <p:ph type="sldNum" idx="5" sz="quarter"/>
          </p:nvPr>
        </p:nvSpPr>
        <p:spPr/>
      </p:sp>
    </p:spTree>
  </p:cSld>
  <p:clrMapOvr>
    <a:masterClrMapping/>
  </p:clrMapOvr>
</p:notes>
</file>

<file path=ppt/notesSlides/notesSlide4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a:t>
            </a:r>
          </a:p>
        </p:txBody>
      </p:sp>
      <p:sp>
        <p:nvSpPr>
          <p:cNvPr id="4" name="Slide Number Placeholder 3"/>
          <p:cNvSpPr>
            <a:spLocks noGrp="1"/>
          </p:cNvSpPr>
          <p:nvPr>
            <p:ph type="sldNum" idx="5" sz="quarter"/>
          </p:nvPr>
        </p:nvSpPr>
        <p:spPr/>
      </p:sp>
    </p:spTree>
  </p:cSld>
  <p:clrMapOvr>
    <a:masterClrMapping/>
  </p:clrMapOvr>
</p:notes>
</file>

<file path=ppt/notesSlides/notesSlide4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B.18 로봇 분야별 계획·제어: 레이싱카, 모바일 로봇, 도로 자율주행, 사족보행, 휴머노이드 · 토글 '자세히: B.18의 근거 123건(원 문서 17절)'</a:t>
            </a:r>
          </a:p>
        </p:txBody>
      </p:sp>
      <p:sp>
        <p:nvSpPr>
          <p:cNvPr id="4" name="Slide Number Placeholder 3"/>
          <p:cNvSpPr>
            <a:spLocks noGrp="1"/>
          </p:cNvSpPr>
          <p:nvPr>
            <p:ph type="sldNum" idx="5" sz="quarter"/>
          </p:nvPr>
        </p:nvSpPr>
        <p:spPr/>
      </p:sp>
    </p:spTree>
  </p:cSld>
  <p:clrMapOvr>
    <a:masterClrMapping/>
  </p:clrMapOvr>
</p:notes>
</file>

<file path=ppt/notesSlides/notesSlide4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4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5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5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5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5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5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5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5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5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OpenDriveLab/UniAD" TargetMode="External"/><Relationship Id="rId6" Type="http://schemas.openxmlformats.org/officeDocument/2006/relationships/hyperlink" Target="https://github.com/ros-navigation/navigation2" TargetMode="External"/><Relationship Id="rId7" Type="http://schemas.openxmlformats.org/officeDocument/2006/relationships/hyperlink" Target="https://github.com/real-stanford/diffusion_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hustvl/DiffusionDrive" TargetMode="External"/><Relationship Id="rId4" Type="http://schemas.openxmlformats.org/officeDocument/2006/relationships/hyperlink" Target="https://github.com/hustvl/VAD" TargetMode="External"/><Relationship Id="rId5" Type="http://schemas.openxmlformats.org/officeDocument/2006/relationships/hyperlink" Target="https://github.com/rst-tu-dortmund/teb_local_planner" TargetMode="External"/><Relationship Id="rId6" Type="http://schemas.openxmlformats.org/officeDocument/2006/relationships/hyperlink" Target="https://github.com/robodhruv/visualnav-transformer" TargetMode="External"/><Relationship Id="rId7" Type="http://schemas.openxmlformats.org/officeDocument/2006/relationships/hyperlink" Target="https://github.com/jannerm/diffuser" TargetMode="External"/><Relationship Id="rId8" Type="http://schemas.openxmlformats.org/officeDocument/2006/relationships/hyperlink" Target="https://github.com/InternRobotics/InternNav" TargetMode="External"/><Relationship Id="rId9" Type="http://schemas.openxmlformats.org/officeDocument/2006/relationships/hyperlink" Target="https://github.com/autonomousvision/navsim" TargetMode="External"/><Relationship Id="rId10" Type="http://schemas.openxmlformats.org/officeDocument/2006/relationships/hyperlink" Target="https://github.com/ZhengYinan-AIR/Diffusion-Planner" TargetMode="External"/><Relationship Id="rId11" Type="http://schemas.openxmlformats.org/officeDocument/2006/relationships/hyperlink" Target="https://github.com/swc-17/SparseDrive" TargetMode="External"/><Relationship Id="rId12" Type="http://schemas.openxmlformats.org/officeDocument/2006/relationships/hyperlink" Target="https://github.com/AnjieCheng/NaVILA" TargetMode="External"/><Relationship Id="rId13" Type="http://schemas.openxmlformats.org/officeDocument/2006/relationships/hyperlink" Target="https://github.com/leggedrobotics/viplanner" TargetMode="External"/><Relationship Id="rId14" Type="http://schemas.openxmlformats.org/officeDocument/2006/relationships/hyperlink" Target="https://github.com/YvanYin/GoalFlow" TargetMode="External"/><Relationship Id="rId15" Type="http://schemas.openxmlformats.org/officeDocument/2006/relationships/hyperlink" Target="https://github.com/NVlabs/Hydra-MDP" TargetMode="External"/><Relationship Id="rId16" Type="http://schemas.openxmlformats.org/officeDocument/2006/relationships/hyperlink" Target="https://github.com/leggedrobotics/iPlanner" TargetMode="External"/><Relationship Id="rId17" Type="http://schemas.openxmlformats.org/officeDocument/2006/relationships/hyperlink" Target="https://github.com/jzhzhang/Uni-NaVid" TargetMode="External"/><Relationship Id="rId18" Type="http://schemas.openxmlformats.org/officeDocument/2006/relationships/hyperlink" Target="https://github.com/joaoamcarvalho/mpd-public" TargetMode="External"/><Relationship Id="rId19" Type="http://schemas.openxmlformats.org/officeDocument/2006/relationships/hyperlink" Target="https://github.com/ai4ce/CityWalk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506.2185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jpg"/><Relationship Id="rId4"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603.12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arxiv.org/abs/2610.12877" TargetMode="External"/><Relationship Id="rId4" Type="http://schemas.openxmlformats.org/officeDocument/2006/relationships/hyperlink" Target="https://tame-nav.github.io/"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24.jpg"/><Relationship Id="rId4" Type="http://schemas.openxmlformats.org/officeDocument/2006/relationships/image" Target="../media/image25.jpg"/><Relationship Id="rId5" Type="http://schemas.openxmlformats.org/officeDocument/2006/relationships/image" Target="../media/image26.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7.png"/><Relationship Id="rId4" Type="http://schemas.openxmlformats.org/officeDocument/2006/relationships/image" Target="../media/image28.png"/><Relationship Id="rId5" Type="http://schemas.openxmlformats.org/officeDocument/2006/relationships/image" Target="../media/image29.png"/><Relationship Id="rId6" Type="http://schemas.openxmlformats.org/officeDocument/2006/relationships/image" Target="../media/image3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 Id="rId3" Type="http://schemas.openxmlformats.org/officeDocument/2006/relationships/hyperlink" Target="https://arxiv.org/abs/1710.06542" TargetMode="External"/><Relationship Id="rId4" Type="http://schemas.openxmlformats.org/officeDocument/2006/relationships/hyperlink" Target="https://arxiv.org/abs/1912.12294" TargetMode="External"/><Relationship Id="rId5" Type="http://schemas.openxmlformats.org/officeDocument/2006/relationships/hyperlink" Target="https://arxiv.org/abs/2103.04351" TargetMode="External"/><Relationship Id="rId6" Type="http://schemas.openxmlformats.org/officeDocument/2006/relationships/hyperlink" Target="https://roboticsproceedings.org/rss18/p045.html" TargetMode="External"/><Relationship Id="rId7" Type="http://schemas.openxmlformats.org/officeDocument/2006/relationships/hyperlink" Target="https://arxiv.org/abs/2405.10830" TargetMode="External"/><Relationship Id="rId8" Type="http://schemas.openxmlformats.org/officeDocument/2006/relationships/hyperlink" Target="https://arxiv.org/abs/2412.09149" TargetMode="External"/><Relationship Id="rId9" Type="http://schemas.openxmlformats.org/officeDocument/2006/relationships/hyperlink" Target="https://github.com/uzh-rpg/sitt"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31.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32.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36.jp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7.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8.jp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2.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3.png"/><Relationship Id="rId4" Type="http://schemas.openxmlformats.org/officeDocument/2006/relationships/image" Target="../media/image4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5.jpg"/><Relationship Id="rId4" Type="http://schemas.openxmlformats.org/officeDocument/2006/relationships/image" Target="../media/image46.jpg"/><Relationship Id="rId5" Type="http://schemas.openxmlformats.org/officeDocument/2006/relationships/image" Target="../media/image47.jp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48.jpg"/><Relationship Id="rId4" Type="http://schemas.openxmlformats.org/officeDocument/2006/relationships/image" Target="../media/image49.jpg"/><Relationship Id="rId5" Type="http://schemas.openxmlformats.org/officeDocument/2006/relationships/image" Target="../media/image50.jp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1.jpg"/><Relationship Id="rId4" Type="http://schemas.openxmlformats.org/officeDocument/2006/relationships/image" Target="../media/image52.jpg"/><Relationship Id="rId5" Type="http://schemas.openxmlformats.org/officeDocument/2006/relationships/image" Target="../media/image53.jp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4.png"/><Relationship Id="rId4" Type="http://schemas.openxmlformats.org/officeDocument/2006/relationships/image" Target="../media/image5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3.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64.png"/><Relationship Id="rId4" Type="http://schemas.openxmlformats.org/officeDocument/2006/relationships/image" Target="../media/image6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72.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76.jp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8.jp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9.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image" Target="../media/image80.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81.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image" Target="../media/image82.jp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image" Target="../media/image83.jpg"/><Relationship Id="rId4" Type="http://schemas.openxmlformats.org/officeDocument/2006/relationships/image" Target="../media/image84.jp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5.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603.25937"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6.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 Id="rId3" Type="http://schemas.openxmlformats.org/officeDocument/2006/relationships/image" Target="../media/image87.jp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407.07775"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 Id="rId3" Type="http://schemas.openxmlformats.org/officeDocument/2006/relationships/image" Target="../media/image88.jp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hyperlink" Target="https://arxiv.org/abs/2603.22527"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image" Target="../media/image89.jpg"/><Relationship Id="rId4" Type="http://schemas.openxmlformats.org/officeDocument/2006/relationships/hyperlink" Target="https://arxiv.org/abs/2606.20458"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90.jpg"/><Relationship Id="rId4" Type="http://schemas.openxmlformats.org/officeDocument/2006/relationships/image" Target="../media/image91.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hyperlink" Target="https://arxiv.org/abs/2505.05592"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image" Target="../media/image92.jp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93.png"/><Relationship Id="rId4" Type="http://schemas.openxmlformats.org/officeDocument/2006/relationships/image" Target="../media/image9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95.jp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image" Target="../media/image9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7.jp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image" Target="../media/image98.png"/><Relationship Id="rId4" Type="http://schemas.openxmlformats.org/officeDocument/2006/relationships/image" Target="../media/image99.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100.jpg"/><Relationship Id="rId4" Type="http://schemas.openxmlformats.org/officeDocument/2006/relationships/hyperlink" Target="https://www.youtube.com/watch?v=l_YT4iP0W8Q"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image" Target="../media/image101.png"/><Relationship Id="rId4" Type="http://schemas.openxmlformats.org/officeDocument/2006/relationships/image" Target="../media/image102.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03.jp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image" Target="../media/image104.png"/><Relationship Id="rId4" Type="http://schemas.openxmlformats.org/officeDocument/2006/relationships/image" Target="../media/image105.png"/><Relationship Id="rId5" Type="http://schemas.openxmlformats.org/officeDocument/2006/relationships/image" Target="../media/image106.png"/><Relationship Id="rId6" Type="http://schemas.openxmlformats.org/officeDocument/2006/relationships/image" Target="../media/image107.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hyperlink" Target="https://arxiv.org/abs/2608.11175"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8.jp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 Id="rId3" Type="http://schemas.openxmlformats.org/officeDocument/2006/relationships/image" Target="../media/image109.png"/><Relationship Id="rId4" Type="http://schemas.openxmlformats.org/officeDocument/2006/relationships/image" Target="../media/image110.png"/><Relationship Id="rId5" Type="http://schemas.openxmlformats.org/officeDocument/2006/relationships/image" Target="../media/image11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 Id="rId3" Type="http://schemas.openxmlformats.org/officeDocument/2006/relationships/hyperlink" Target="https://arxiv.org/abs/2602.07932" TargetMode="Externa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image" Target="../media/image112.jpg"/><Relationship Id="rId4" Type="http://schemas.openxmlformats.org/officeDocument/2006/relationships/image" Target="../media/image113.jpg"/><Relationship Id="rId5" Type="http://schemas.openxmlformats.org/officeDocument/2006/relationships/hyperlink" Target="https://arxiv.org/abs/2609.39105"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image" Target="../media/image114.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image" Target="../media/image115.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6.jp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7.png"/><Relationship Id="rId4" Type="http://schemas.openxmlformats.org/officeDocument/2006/relationships/image" Target="../media/image118.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9.jpg"/><Relationship Id="rId8" Type="http://schemas.openxmlformats.org/officeDocument/2006/relationships/image" Target="../media/image120.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hyperlink" Target="https://github.com/autonomousvision/plant" TargetMode="Externa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image" Target="../media/image121.png"/><Relationship Id="rId4" Type="http://schemas.openxmlformats.org/officeDocument/2006/relationships/hyperlink" Target="https://github.com/jchengai/planTF" TargetMode="Externa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122.jpg"/><Relationship Id="rId4" Type="http://schemas.openxmlformats.org/officeDocument/2006/relationships/hyperlink" Target="https://github.com/jchengai/pluto" TargetMode="Externa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image" Target="../media/image123.jp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2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 Id="rId3" Type="http://schemas.openxmlformats.org/officeDocument/2006/relationships/hyperlink" Target="https://github.com/autonomousvision/CaRL" TargetMode="External"/><Relationship Id="rId4" Type="http://schemas.openxmlformats.org/officeDocument/2006/relationships/image" Target="../media/image125.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image" Target="../media/image126.jp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image" Target="../media/image127.jp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8.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9.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 Id="rId3" Type="http://schemas.openxmlformats.org/officeDocument/2006/relationships/image" Target="../media/image130.jp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image" Target="../media/image131.png"/><Relationship Id="rId4" Type="http://schemas.openxmlformats.org/officeDocument/2006/relationships/image" Target="../media/image132.png"/><Relationship Id="rId5" Type="http://schemas.openxmlformats.org/officeDocument/2006/relationships/image" Target="../media/image133.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image" Target="../media/image134.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 Id="rId3" Type="http://schemas.openxmlformats.org/officeDocument/2006/relationships/hyperlink" Target="https://arxiv.org/abs/1812.03079" TargetMode="Externa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image" Target="../media/image135.jp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image" Target="../media/image136.png"/><Relationship Id="rId4" Type="http://schemas.openxmlformats.org/officeDocument/2006/relationships/image" Target="../media/image137.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8.jp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image" Target="../media/image139.png"/><Relationship Id="rId4" Type="http://schemas.openxmlformats.org/officeDocument/2006/relationships/image" Target="../media/image140.png"/><Relationship Id="rId5" Type="http://schemas.openxmlformats.org/officeDocument/2006/relationships/image" Target="../media/image14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image" Target="../media/image142.jp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image" Target="../media/image143.png"/><Relationship Id="rId4" Type="http://schemas.openxmlformats.org/officeDocument/2006/relationships/image" Target="../media/image144.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45.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dfl-rlab/dddmr_navigation"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46.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image" Target="../media/image147.png"/><Relationship Id="rId4" Type="http://schemas.openxmlformats.org/officeDocument/2006/relationships/image" Target="../media/image148.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 Id="rId3" Type="http://schemas.openxmlformats.org/officeDocument/2006/relationships/image" Target="../media/image149.jp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50.png"/><Relationship Id="rId4" Type="http://schemas.openxmlformats.org/officeDocument/2006/relationships/image" Target="../media/image151.png"/><Relationship Id="rId5" Type="http://schemas.openxmlformats.org/officeDocument/2006/relationships/image" Target="../media/image152.png"/><Relationship Id="rId6" Type="http://schemas.openxmlformats.org/officeDocument/2006/relationships/image" Target="../media/image153.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54.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image" Target="../media/image155.png"/><Relationship Id="rId4" Type="http://schemas.openxmlformats.org/officeDocument/2006/relationships/image" Target="../media/image156.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 Id="rId3" Type="http://schemas.openxmlformats.org/officeDocument/2006/relationships/image" Target="../media/image157.jp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 Id="rId3" Type="http://schemas.openxmlformats.org/officeDocument/2006/relationships/image" Target="../media/image158.png"/><Relationship Id="rId4" Type="http://schemas.openxmlformats.org/officeDocument/2006/relationships/image" Target="../media/image159.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60.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61.jp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62.jp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image" Target="../media/image163.png"/><Relationship Id="rId4" Type="http://schemas.openxmlformats.org/officeDocument/2006/relationships/image" Target="../media/image164.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hyperlink" Target="https://arxiv.org/abs/1901.08652" TargetMode="Externa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 Id="rId3" Type="http://schemas.openxmlformats.org/officeDocument/2006/relationships/image" Target="../media/image165.jpg"/><Relationship Id="rId4" Type="http://schemas.openxmlformats.org/officeDocument/2006/relationships/image" Target="../media/image166.jp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image" Target="../media/image167.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8.jp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 Id="rId3" Type="http://schemas.openxmlformats.org/officeDocument/2006/relationships/image" Target="../media/image169.jpg"/><Relationship Id="rId4" Type="http://schemas.openxmlformats.org/officeDocument/2006/relationships/image" Target="../media/image170.jp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image" Target="../media/image171.png"/><Relationship Id="rId4" Type="http://schemas.openxmlformats.org/officeDocument/2006/relationships/image" Target="../media/image172.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hyperlink" Target="https://arxiv.org/abs/2201.08117" TargetMode="Externa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image" Target="../media/image173.jp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 Id="rId3" Type="http://schemas.openxmlformats.org/officeDocument/2006/relationships/image" Target="../media/image174.jpg"/><Relationship Id="rId4" Type="http://schemas.openxmlformats.org/officeDocument/2006/relationships/image" Target="../media/image175.jp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hyperlink" Target="https://arxiv.org/abs/2206.14049" TargetMode="Externa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 Id="rId3" Type="http://schemas.openxmlformats.org/officeDocument/2006/relationships/image" Target="../media/image176.jp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 Id="rId3" Type="http://schemas.openxmlformats.org/officeDocument/2006/relationships/image" Target="../media/image177.jp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image" Target="../media/image178.jp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9.jp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image" Target="../media/image180.png"/><Relationship Id="rId4" Type="http://schemas.openxmlformats.org/officeDocument/2006/relationships/image" Target="../media/image181.png"/><Relationship Id="rId5" Type="http://schemas.openxmlformats.org/officeDocument/2006/relationships/image" Target="../media/image182.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83.jpg"/><Relationship Id="rId4" Type="http://schemas.openxmlformats.org/officeDocument/2006/relationships/image" Target="../media/image184.jp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image" Target="../media/image185.png"/><Relationship Id="rId4" Type="http://schemas.openxmlformats.org/officeDocument/2006/relationships/image" Target="../media/image186.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image" Target="../media/image187.jpg"/><Relationship Id="rId4" Type="http://schemas.openxmlformats.org/officeDocument/2006/relationships/image" Target="../media/image188.jp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 Id="rId3" Type="http://schemas.openxmlformats.org/officeDocument/2006/relationships/image" Target="../media/image189.png"/><Relationship Id="rId4" Type="http://schemas.openxmlformats.org/officeDocument/2006/relationships/image" Target="../media/image190.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91.jp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92.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93.jpg"/><Relationship Id="rId4" Type="http://schemas.openxmlformats.org/officeDocument/2006/relationships/image" Target="../media/image194.jp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image" Target="../media/image195.png"/><Relationship Id="rId4" Type="http://schemas.openxmlformats.org/officeDocument/2006/relationships/image" Target="../media/image196.png"/><Relationship Id="rId5" Type="http://schemas.openxmlformats.org/officeDocument/2006/relationships/image" Target="../media/image197.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98.jpg"/><Relationship Id="rId4" Type="http://schemas.openxmlformats.org/officeDocument/2006/relationships/image" Target="../media/image199.jp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image" Target="../media/image200.png"/><Relationship Id="rId4" Type="http://schemas.openxmlformats.org/officeDocument/2006/relationships/image" Target="../media/image201.png"/><Relationship Id="rId5" Type="http://schemas.openxmlformats.org/officeDocument/2006/relationships/image" Target="../media/image202.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 Id="rId3" Type="http://schemas.openxmlformats.org/officeDocument/2006/relationships/image" Target="../media/image203.jpg"/><Relationship Id="rId4" Type="http://schemas.openxmlformats.org/officeDocument/2006/relationships/image" Target="../media/image204.jp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image" Target="../media/image205.png"/><Relationship Id="rId4" Type="http://schemas.openxmlformats.org/officeDocument/2006/relationships/image" Target="../media/image206.png"/><Relationship Id="rId5" Type="http://schemas.openxmlformats.org/officeDocument/2006/relationships/image" Target="../media/image207.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208.jp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 Id="rId3" Type="http://schemas.openxmlformats.org/officeDocument/2006/relationships/image" Target="../media/image209.jp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image" Target="../media/image210.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 Id="rId3" Type="http://schemas.openxmlformats.org/officeDocument/2006/relationships/image" Target="../media/image211.jpg"/><Relationship Id="rId4" Type="http://schemas.openxmlformats.org/officeDocument/2006/relationships/image" Target="../media/image212.jp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 Id="rId3" Type="http://schemas.openxmlformats.org/officeDocument/2006/relationships/image" Target="../media/image213.jp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14.jpg"/><Relationship Id="rId4" Type="http://schemas.openxmlformats.org/officeDocument/2006/relationships/image" Target="../media/image215.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216.jp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217.jp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218.jpg"/><Relationship Id="rId4" Type="http://schemas.openxmlformats.org/officeDocument/2006/relationships/image" Target="../media/image219.jp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 Id="rId3" Type="http://schemas.openxmlformats.org/officeDocument/2006/relationships/image" Target="../media/image220.png"/><Relationship Id="rId4" Type="http://schemas.openxmlformats.org/officeDocument/2006/relationships/image" Target="../media/image221.png"/><Relationship Id="rId5" Type="http://schemas.openxmlformats.org/officeDocument/2006/relationships/image" Target="../media/image222.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image" Target="../media/image223.jp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24.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225.jp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226.jpg"/><Relationship Id="rId4" Type="http://schemas.openxmlformats.org/officeDocument/2006/relationships/image" Target="../media/image227.jp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image" Target="../media/image228.png"/><Relationship Id="rId4" Type="http://schemas.openxmlformats.org/officeDocument/2006/relationships/image" Target="../media/image229.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image" Target="../media/image230.jp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image" Target="../media/image231.jp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image" Target="../media/image232.jp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 Id="rId3" Type="http://schemas.openxmlformats.org/officeDocument/2006/relationships/image" Target="../media/image233.jp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34.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35.jpg"/><Relationship Id="rId4" Type="http://schemas.openxmlformats.org/officeDocument/2006/relationships/image" Target="../media/image236.jp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image" Target="../media/image240.jp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hyperlink" Target="https://arxiv.org/abs/1907.03613" TargetMode="Externa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41.jp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002.08550"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42.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43.jpg"/><Relationship Id="rId4" Type="http://schemas.openxmlformats.org/officeDocument/2006/relationships/image" Target="../media/image244.jp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45.png"/><Relationship Id="rId4" Type="http://schemas.openxmlformats.org/officeDocument/2006/relationships/image" Target="../media/image246.png"/><Relationship Id="rId5" Type="http://schemas.openxmlformats.org/officeDocument/2006/relationships/image" Target="../media/image247.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image" Target="../media/image248.jp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49.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image" Target="../media/image250.jpg"/><Relationship Id="rId4" Type="http://schemas.openxmlformats.org/officeDocument/2006/relationships/hyperlink" Target="https://arxiv.org/abs/2206.13631" TargetMode="Externa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image" Target="../media/image251.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52.jpg"/><Relationship Id="rId4" Type="http://schemas.openxmlformats.org/officeDocument/2006/relationships/image" Target="../media/image253.jp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54.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55.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56.jpg"/><Relationship Id="rId4" Type="http://schemas.openxmlformats.org/officeDocument/2006/relationships/image" Target="../media/image257.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image" Target="../media/image258.png"/></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image" Target="../media/image259.jpg"/></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 Id="rId3" Type="http://schemas.openxmlformats.org/officeDocument/2006/relationships/image" Target="../media/image260.jpg"/></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image" Target="../media/image261.jpg"/></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 Id="rId3" Type="http://schemas.openxmlformats.org/officeDocument/2006/relationships/image" Target="../media/image262.jpg"/></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image" Target="../media/image263.jpg"/><Relationship Id="rId4" Type="http://schemas.openxmlformats.org/officeDocument/2006/relationships/image" Target="../media/image264.jpg"/><Relationship Id="rId5" Type="http://schemas.openxmlformats.org/officeDocument/2006/relationships/hyperlink" Target="https://flexion.ai/news/flexion-reflect-v1.0" TargetMode="Externa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hyperlink" Target="https://www.wired.com/story/this-robot-is-going-to-replace-your-interns-flexion/" TargetMode="Externa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image" Target="../media/image265.jpg"/></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6.jpg"/><Relationship Id="rId4" Type="http://schemas.openxmlformats.org/officeDocument/2006/relationships/image" Target="../media/image267.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image" Target="../media/image268.png"/><Relationship Id="rId4" Type="http://schemas.openxmlformats.org/officeDocument/2006/relationships/image" Target="../media/image269.png"/></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70.pn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 Id="rId3" Type="http://schemas.openxmlformats.org/officeDocument/2006/relationships/image" Target="../media/image271.jpg"/></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72.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image" Target="../media/image273.png"/></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74.jp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75.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image" Target="../media/image276.jpg"/></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image" Target="../media/image277.jpg"/></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78.png"/><Relationship Id="rId4" Type="http://schemas.openxmlformats.org/officeDocument/2006/relationships/image" Target="../media/image279.pn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hyperlink" Target="https://arxiv.org/abs/2610.29612" TargetMode="External"/><Relationship Id="rId4" Type="http://schemas.openxmlformats.org/officeDocument/2006/relationships/hyperlink" Target="https://leggedrobotics.github.io/watch-your-step/" TargetMode="External"/><Relationship Id="rId5" Type="http://schemas.openxmlformats.org/officeDocument/2006/relationships/hyperlink" Target="https://www.youtube.com/watch?v=3bLU6_OPv6s" TargetMode="External"/><Relationship Id="rId6" Type="http://schemas.openxmlformats.org/officeDocument/2006/relationships/hyperlink" Target="https://github.com/leggedrobotics/foothold-prediction-model" TargetMode="Externa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80.jpg"/><Relationship Id="rId4" Type="http://schemas.openxmlformats.org/officeDocument/2006/relationships/image" Target="../media/image281.jp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image" Target="../media/image282.png"/><Relationship Id="rId4" Type="http://schemas.openxmlformats.org/officeDocument/2006/relationships/image" Target="../media/image283.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 Id="rId3" Type="http://schemas.openxmlformats.org/officeDocument/2006/relationships/image" Target="../media/image284.jpg"/></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 Id="rId3" Type="http://schemas.openxmlformats.org/officeDocument/2006/relationships/image" Target="../media/image285.jpg"/></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86.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87.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 Id="rId3" Type="http://schemas.openxmlformats.org/officeDocument/2006/relationships/hyperlink" Target="https://arxiv.org/abs/2402.13820" TargetMode="External"/><Relationship Id="rId4" Type="http://schemas.openxmlformats.org/officeDocument/2006/relationships/image" Target="../media/image288.png"/></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 Id="rId3" Type="http://schemas.openxmlformats.org/officeDocument/2006/relationships/image" Target="../media/image289.jpg"/></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90.png"/></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91.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92.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93.jpg"/><Relationship Id="rId4" Type="http://schemas.openxmlformats.org/officeDocument/2006/relationships/image" Target="../media/image294.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95.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96.png"/></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 Id="rId3" Type="http://schemas.openxmlformats.org/officeDocument/2006/relationships/image" Target="../media/image297.jpg"/></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98.jpg"/></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 Id="rId3" Type="http://schemas.openxmlformats.org/officeDocument/2006/relationships/image" Target="../media/image299.jpg"/></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image" Target="../media/image300.jp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bostondynamics.com/blog/large-behavior-models-atlas-find-new-footing/"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301.jp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302.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303.jpg"/><Relationship Id="rId4" Type="http://schemas.openxmlformats.org/officeDocument/2006/relationships/image" Target="../media/image304.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image" Target="../media/image305.jp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image" Target="../media/image306.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hyperlink" Target="https://arxiv.org/abs/2509.23745" TargetMode="External"/><Relationship Id="rId4" Type="http://schemas.openxmlformats.org/officeDocument/2006/relationships/hyperlink" Target="https://generalist-locomotion.github.io/" TargetMode="External"/><Relationship Id="rId5" Type="http://schemas.openxmlformats.org/officeDocument/2006/relationships/hyperlink" Target="https://youtu.be/_fQ1FwRj4ME" TargetMode="External"/><Relationship Id="rId6" Type="http://schemas.openxmlformats.org/officeDocument/2006/relationships/image" Target="../media/image307.jpg"/><Relationship Id="rId7" Type="http://schemas.openxmlformats.org/officeDocument/2006/relationships/image" Target="../media/image308.jp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image" Target="../media/image309.png"/><Relationship Id="rId4" Type="http://schemas.openxmlformats.org/officeDocument/2006/relationships/image" Target="../media/image310.png"/><Relationship Id="rId5" Type="http://schemas.openxmlformats.org/officeDocument/2006/relationships/image" Target="../media/image311.png"/></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hyperlink" Target="https://github.com/lucidrains/locoformer" TargetMode="External"/><Relationship Id="rId4" Type="http://schemas.openxmlformats.org/officeDocument/2006/relationships/hyperlink" Target="https://github.com/linden713/BabyLocoFormer" TargetMode="External"/><Relationship Id="rId5" Type="http://schemas.openxmlformats.org/officeDocument/2006/relationships/hyperlink" Target="https://arxiv.org/abs/2409.15783" TargetMode="External"/><Relationship Id="rId6" Type="http://schemas.openxmlformats.org/officeDocument/2006/relationships/hyperlink" Target="https://github.com/LeCAR-Lab/anycar" TargetMode="Externa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 Id="rId3" Type="http://schemas.openxmlformats.org/officeDocument/2006/relationships/hyperlink" Target="https://arxiv.org/abs/2608.01506" TargetMode="External"/><Relationship Id="rId4" Type="http://schemas.openxmlformats.org/officeDocument/2006/relationships/hyperlink" Target="https://arxiv.org/abs/2609.23432" TargetMode="External"/><Relationship Id="rId5" Type="http://schemas.openxmlformats.org/officeDocument/2006/relationships/hyperlink" Target="https://arxiv.org/abs/2610.19615" TargetMode="Externa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 Id="rId3" Type="http://schemas.openxmlformats.org/officeDocument/2006/relationships/image" Target="../media/image312.jpg"/><Relationship Id="rId4" Type="http://schemas.openxmlformats.org/officeDocument/2006/relationships/image" Target="../media/image313.jpg"/></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hyperlink" Target="https://arxiv.org/abs/2605.01516" TargetMode="Externa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hyperlink" Target="https://www.skild.ai/" TargetMode="External"/><Relationship Id="rId4" Type="http://schemas.openxmlformats.org/officeDocument/2006/relationships/hyperlink" Target="https://www.skild.ai/blogs/building-the-general-purpose-robotic-brain" TargetMode="External"/><Relationship Id="rId5" Type="http://schemas.openxmlformats.org/officeDocument/2006/relationships/hyperlink" Target="https://www.skild.ai/blogs/one-policy-all-scenarios" TargetMode="External"/><Relationship Id="rId6" Type="http://schemas.openxmlformats.org/officeDocument/2006/relationships/hyperlink" Target="https://www.skild.ai/blogs/omni-bodied" TargetMode="External"/><Relationship Id="rId7" Type="http://schemas.openxmlformats.org/officeDocument/2006/relationships/hyperlink" Target="https://techcrunch.com/2026/01/14/robotic-software-maker-skild-ai-hits-14b-valuation/" TargetMode="External"/><Relationship Id="rId8" Type="http://schemas.openxmlformats.org/officeDocument/2006/relationships/hyperlink" Target="https://www.skild.ai/blogs/s1" TargetMode="Externa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image" Target="../media/image314.jpg"/></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image" Target="../media/image315.jp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image" Target="../media/image316.jp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17.jpg"/><Relationship Id="rId4" Type="http://schemas.openxmlformats.org/officeDocument/2006/relationships/image" Target="../media/image318.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608.19955"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image" Target="../media/image319.jpg"/></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image" Target="../media/image320.jpg"/><Relationship Id="rId4" Type="http://schemas.openxmlformats.org/officeDocument/2006/relationships/image" Target="../media/image321.jp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image" Target="../media/image322.png"/><Relationship Id="rId4" Type="http://schemas.openxmlformats.org/officeDocument/2006/relationships/image" Target="../media/image323.png"/><Relationship Id="rId5" Type="http://schemas.openxmlformats.org/officeDocument/2006/relationships/image" Target="../media/image324.png"/></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image" Target="../media/image325.jpg"/></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image" Target="../media/image326.jpg"/><Relationship Id="rId4" Type="http://schemas.openxmlformats.org/officeDocument/2006/relationships/image" Target="../media/image327.jpg"/></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28.pn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29.jpg"/></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image" Target="../media/image330.jpg"/></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31.jp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 Id="rId3" Type="http://schemas.openxmlformats.org/officeDocument/2006/relationships/image" Target="../media/image332.jpg"/></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 Id="rId3" Type="http://schemas.openxmlformats.org/officeDocument/2006/relationships/image" Target="../media/image333.jpg"/><Relationship Id="rId4" Type="http://schemas.openxmlformats.org/officeDocument/2006/relationships/hyperlink" Target="https://arxiv.org/abs/2609.10286" TargetMode="External"/><Relationship Id="rId5" Type="http://schemas.openxmlformats.org/officeDocument/2006/relationships/hyperlink" Target="https://humanoid-gm-locomotion.github.io/HUMANOID-GM/" TargetMode="Externa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 Id="rId3" Type="http://schemas.openxmlformats.org/officeDocument/2006/relationships/image" Target="../media/image334.jpg"/><Relationship Id="rId4" Type="http://schemas.openxmlformats.org/officeDocument/2006/relationships/image" Target="../media/image335.jpg"/></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image" Target="../media/image336.png"/><Relationship Id="rId4" Type="http://schemas.openxmlformats.org/officeDocument/2006/relationships/image" Target="../media/image337.png"/><Relationship Id="rId5" Type="http://schemas.openxmlformats.org/officeDocument/2006/relationships/image" Target="../media/image338.png"/><Relationship Id="rId6" Type="http://schemas.openxmlformats.org/officeDocument/2006/relationships/image" Target="../media/image339.png"/><Relationship Id="rId7" Type="http://schemas.openxmlformats.org/officeDocument/2006/relationships/image" Target="../media/image340.png"/></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image" Target="../media/image341.jpg"/></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image" Target="../media/image342.jpg"/></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43.jp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image" Target="../media/image344.jpg"/></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image" Target="../media/image345.jpg"/></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 Id="rId3" Type="http://schemas.openxmlformats.org/officeDocument/2006/relationships/image" Target="../media/image346.jpg"/><Relationship Id="rId4" Type="http://schemas.openxmlformats.org/officeDocument/2006/relationships/image" Target="../media/image347.jpg"/></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 Id="rId3" Type="http://schemas.openxmlformats.org/officeDocument/2006/relationships/image" Target="../media/image348.png"/><Relationship Id="rId4" Type="http://schemas.openxmlformats.org/officeDocument/2006/relationships/image" Target="../media/image349.png"/></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 Id="rId3" Type="http://schemas.openxmlformats.org/officeDocument/2006/relationships/hyperlink" Target="https://arxiv.org/abs/2602.02473" TargetMode="External"/><Relationship Id="rId4" Type="http://schemas.openxmlformats.org/officeDocument/2006/relationships/hyperlink" Target="https://wyhuai.github.io/human-x/" TargetMode="External"/><Relationship Id="rId5" Type="http://schemas.openxmlformats.org/officeDocument/2006/relationships/hyperlink" Target="https://github.com/wyhuai/HumanX" TargetMode="Externa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 Id="rId3" Type="http://schemas.openxmlformats.org/officeDocument/2006/relationships/image" Target="../media/image350.jpg"/><Relationship Id="rId4" Type="http://schemas.openxmlformats.org/officeDocument/2006/relationships/image" Target="../media/image351.jpg"/></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52.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 Id="rId3" Type="http://schemas.openxmlformats.org/officeDocument/2006/relationships/image" Target="../media/image353.jpg"/></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 Id="rId3" Type="http://schemas.openxmlformats.org/officeDocument/2006/relationships/image" Target="../media/image354.jpg"/></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 Id="rId3" Type="http://schemas.openxmlformats.org/officeDocument/2006/relationships/image" Target="../media/image355.jpg"/><Relationship Id="rId4" Type="http://schemas.openxmlformats.org/officeDocument/2006/relationships/image" Target="../media/image356.jpg"/></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image" Target="../media/image357.pn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 Id="rId3" Type="http://schemas.openxmlformats.org/officeDocument/2006/relationships/hyperlink" Target="https://arxiv.org/abs/2602.15827" TargetMode="External"/><Relationship Id="rId4" Type="http://schemas.openxmlformats.org/officeDocument/2006/relationships/hyperlink" Target="https://php-parkour.github.io" TargetMode="External"/><Relationship Id="rId5" Type="http://schemas.openxmlformats.org/officeDocument/2006/relationships/hyperlink" Target="https://github.com/amazon-far/php_parkour" TargetMode="Externa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 Id="rId3" Type="http://schemas.openxmlformats.org/officeDocument/2006/relationships/image" Target="../media/image358.jpg"/><Relationship Id="rId4" Type="http://schemas.openxmlformats.org/officeDocument/2006/relationships/image" Target="../media/image359.jpg"/></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60.png"/><Relationship Id="rId4" Type="http://schemas.openxmlformats.org/officeDocument/2006/relationships/image" Target="../media/image361.pn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hyperlink" Target="https://arxiv.org/abs/2609.18732" TargetMode="External"/><Relationship Id="rId4" Type="http://schemas.openxmlformats.org/officeDocument/2006/relationships/hyperlink" Target="https://galaxygeneralrobotics.github.io/PASSAGE/" TargetMode="External"/></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62.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63.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 Id="rId3" Type="http://schemas.openxmlformats.org/officeDocument/2006/relationships/hyperlink" Target="https://arxiv.org/abs/2609.39000" TargetMode="External"/><Relationship Id="rId4" Type="http://schemas.openxmlformats.org/officeDocument/2006/relationships/hyperlink" Target="https://nexus-humanoid.github.io/" TargetMode="External"/><Relationship Id="rId5" Type="http://schemas.openxmlformats.org/officeDocument/2006/relationships/hyperlink" Target="https://github.com/Gamma-Robot/NEXUS" TargetMode="External"/></Relationships>
</file>

<file path=ppt/slides/_rels/slide4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9.xml"/><Relationship Id="rId3" Type="http://schemas.openxmlformats.org/officeDocument/2006/relationships/image" Target="../media/image364.jpg"/><Relationship Id="rId4" Type="http://schemas.openxmlformats.org/officeDocument/2006/relationships/image" Target="../media/image365.jpg"/></Relationships>
</file>

<file path=ppt/slides/_rels/slide4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0.xml"/><Relationship Id="rId3" Type="http://schemas.openxmlformats.org/officeDocument/2006/relationships/image" Target="../media/image366.png"/><Relationship Id="rId4" Type="http://schemas.openxmlformats.org/officeDocument/2006/relationships/image" Target="../media/image367.png"/><Relationship Id="rId5" Type="http://schemas.openxmlformats.org/officeDocument/2006/relationships/image" Target="../media/image368.png"/></Relationships>
</file>

<file path=ppt/slides/_rels/slide4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1.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2.xml"/></Relationships>
</file>

<file path=ppt/slides/_rels/slide4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3.xml"/></Relationships>
</file>

<file path=ppt/slides/_rels/slide4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4.xml"/></Relationships>
</file>

<file path=ppt/slides/_rels/slide4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5.xml"/></Relationships>
</file>

<file path=ppt/slides/_rels/slide4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6.xml"/></Relationships>
</file>

<file path=ppt/slides/_rels/slide4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7.xml"/></Relationships>
</file>

<file path=ppt/slides/_rels/slide4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8.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9.xml"/><Relationship Id="rId3" Type="http://schemas.openxmlformats.org/officeDocument/2006/relationships/image" Target="../media/image369.jpg"/></Relationships>
</file>

<file path=ppt/slides/_rels/slide4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0.xml"/><Relationship Id="rId3" Type="http://schemas.openxmlformats.org/officeDocument/2006/relationships/hyperlink" Target="https://arxiv.org/abs/2606.23249" TargetMode="External"/></Relationships>
</file>

<file path=ppt/slides/_rels/slide4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1.xml"/><Relationship Id="rId3" Type="http://schemas.openxmlformats.org/officeDocument/2006/relationships/image" Target="../media/image370.jpg"/></Relationships>
</file>

<file path=ppt/slides/_rels/slide4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2.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s>
</file>

<file path=ppt/slides/_rels/slide4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3.xml"/><Relationship Id="rId3" Type="http://schemas.openxmlformats.org/officeDocument/2006/relationships/hyperlink" Target="https://doi.org/10.1109/LRA.2026.3734869" TargetMode="External"/><Relationship Id="rId4" Type="http://schemas.openxmlformats.org/officeDocument/2006/relationships/image" Target="../media/image371.png"/><Relationship Id="rId5" Type="http://schemas.openxmlformats.org/officeDocument/2006/relationships/hyperlink" Target="https://arxiv.org/abs/2511.19709" TargetMode="External"/><Relationship Id="rId6" Type="http://schemas.openxmlformats.org/officeDocument/2006/relationships/hyperlink" Target="https://arxiv.org/abs/2604.07457" TargetMode="External"/><Relationship Id="rId7" Type="http://schemas.openxmlformats.org/officeDocument/2006/relationships/hyperlink" Target="https://shepherd1226.github.io/CMP/" TargetMode="External"/><Relationship Id="rId8" Type="http://schemas.openxmlformats.org/officeDocument/2006/relationships/image" Target="../media/image372.png"/></Relationships>
</file>

<file path=ppt/slides/_rels/slide4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4.xml"/><Relationship Id="rId3" Type="http://schemas.openxmlformats.org/officeDocument/2006/relationships/image" Target="../media/image373.jpg"/></Relationships>
</file>

<file path=ppt/slides/_rels/slide4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5.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4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6.xml"/></Relationships>
</file>

<file path=ppt/slides/_rels/slide4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7.xml"/><Relationship Id="rId3" Type="http://schemas.openxmlformats.org/officeDocument/2006/relationships/hyperlink" Target="https://geonhee-lee.github.io/Elastic-Tracker/lineage.html#domains" TargetMode="External"/></Relationships>
</file>

<file path=ppt/slides/_rels/slide4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8.xml"/><Relationship Id="rId3" Type="http://schemas.openxmlformats.org/officeDocument/2006/relationships/hyperlink" Target="https://arxiv.org/abs/2202.07008" TargetMode="External"/><Relationship Id="rId4" Type="http://schemas.openxmlformats.org/officeDocument/2006/relationships/hyperlink" Target="https://arxiv.org/abs/2602.08571" TargetMode="External"/><Relationship Id="rId5" Type="http://schemas.openxmlformats.org/officeDocument/2006/relationships/hyperlink" Target="https://arxiv.org/abs/2310.18112" TargetMode="External"/><Relationship Id="rId6" Type="http://schemas.openxmlformats.org/officeDocument/2006/relationships/hyperlink" Target="https://arxiv.org/abs/2303.09463" TargetMode="External"/><Relationship Id="rId7" Type="http://schemas.openxmlformats.org/officeDocument/2006/relationships/hyperlink" Target="https://arxiv.org/abs/2403.11784" TargetMode="External"/><Relationship Id="rId8" Type="http://schemas.openxmlformats.org/officeDocument/2006/relationships/hyperlink" Target="https://arxiv.org/abs/2402.18558" TargetMode="External"/><Relationship Id="rId9" Type="http://schemas.openxmlformats.org/officeDocument/2006/relationships/hyperlink" Target="https://www.nature.com/articles/s41586-021-04357-7" TargetMode="External"/><Relationship Id="rId10" Type="http://schemas.openxmlformats.org/officeDocument/2006/relationships/hyperlink" Target="https://www.tii.ae/news/world-first-autonomous-racing-leaps-forward-abu-dhabi-a2rl-season-2-showcases-record-speed" TargetMode="External"/><Relationship Id="rId11" Type="http://schemas.openxmlformats.org/officeDocument/2006/relationships/hyperlink" Target="https://arxiv.org/abs/2607.25388" TargetMode="External"/><Relationship Id="rId12" Type="http://schemas.openxmlformats.org/officeDocument/2006/relationships/hyperlink" Target="https://arxiv.org/abs/2501.17311" TargetMode="External"/><Relationship Id="rId13" Type="http://schemas.openxmlformats.org/officeDocument/2006/relationships/hyperlink" Target="https://arxiv.org/abs/2608.10618" TargetMode="External"/><Relationship Id="rId14" Type="http://schemas.openxmlformats.org/officeDocument/2006/relationships/hyperlink" Target="https://arxiv.org/abs/2512.06892" TargetMode="External"/></Relationships>
</file>

<file path=ppt/slides/_rels/slide4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9.xml"/><Relationship Id="rId3" Type="http://schemas.openxmlformats.org/officeDocument/2006/relationships/hyperlink" Target="https://arxiv.org/abs/2401.13078" TargetMode="External"/><Relationship Id="rId4" Type="http://schemas.openxmlformats.org/officeDocument/2006/relationships/hyperlink" Target="https://github.com/ros-navigation/navigation2/blob/main/nav2_bringup/params/nav2_params.yaml" TargetMode="External"/><Relationship Id="rId5" Type="http://schemas.openxmlformats.org/officeDocument/2006/relationships/hyperlink" Target="https://arxiv.org/abs/2404.16162" TargetMode="External"/><Relationship Id="rId6" Type="http://schemas.openxmlformats.org/officeDocument/2006/relationships/hyperlink" Target="https://github.com/MAPF-Competition/Start-Kit" TargetMode="External"/><Relationship Id="rId7" Type="http://schemas.openxmlformats.org/officeDocument/2006/relationships/hyperlink" Target="https://arxiv.org/abs/2407.01862" TargetMode="External"/><Relationship Id="rId8" Type="http://schemas.openxmlformats.org/officeDocument/2006/relationships/hyperlink" Target="https://people.cs.gmu.edu/~xiao/Research/BARN_Challenge/BARN_Challenge25.html" TargetMode="External"/><Relationship Id="rId9" Type="http://schemas.openxmlformats.org/officeDocument/2006/relationships/hyperlink" Target="https://arxiv.org/abs/2410.21415" TargetMode="External"/><Relationship Id="rId10" Type="http://schemas.openxmlformats.org/officeDocument/2006/relationships/hyperlink" Target="https://arxiv.org/abs/2310.07896" TargetMode="External"/><Relationship Id="rId11" Type="http://schemas.openxmlformats.org/officeDocument/2006/relationships/hyperlink" Target="https://arxiv.org/abs/2505.08712"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508.08574" TargetMode="External"/><Relationship Id="rId14" Type="http://schemas.openxmlformats.org/officeDocument/2006/relationships/hyperlink" Target="https://www.darpa.mil/news/2026/racer-finish-line" TargetMode="External"/><Relationship Id="rId15" Type="http://schemas.openxmlformats.org/officeDocument/2006/relationships/hyperlink" Target="https://arxiv.org/abs/2306.07962" TargetMode="External"/><Relationship Id="rId16" Type="http://schemas.openxmlformats.org/officeDocument/2006/relationships/hyperlink" Target="https://arxiv.org/abs/2411.15139" TargetMode="External"/><Relationship Id="rId17" Type="http://schemas.openxmlformats.org/officeDocument/2006/relationships/hyperlink" Target="https://arxiv.org/abs/2506.06664" TargetMode="External"/><Relationship Id="rId18" Type="http://schemas.openxmlformats.org/officeDocument/2006/relationships/hyperlink" Target="https://www.xpeng.com/news/019a56f54fe99a2a0a8d8a0282e402b7" TargetMode="External"/><Relationship Id="rId19" Type="http://schemas.openxmlformats.org/officeDocument/2006/relationships/hyperlink" Target="https://waymo.com/blog/2025/12/demonstrably-safe-ai-for-autonomous-driving/" TargetMode="External"/><Relationship Id="rId20" Type="http://schemas.openxmlformats.org/officeDocument/2006/relationships/hyperlink" Target="https://waymo.com/blog/2026/08/10ailessons" TargetMode="External"/><Relationship Id="rId21" Type="http://schemas.openxmlformats.org/officeDocument/2006/relationships/hyperlink" Target="https://blogs.nvidia.com/blog/drive-av-mercedes-benz-cla/" TargetMode="External"/><Relationship Id="rId22" Type="http://schemas.openxmlformats.org/officeDocument/2006/relationships/hyperlink" Target="https://github.com/autowarefoundation/autoware_universe/tree/main/planning/autoware_diffusion_planner" TargetMode="External"/><Relationship Id="rId23" Type="http://schemas.openxmlformats.org/officeDocument/2006/relationships/hyperlink" Target="https://arxiv.org/abs/2506.11234" TargetMode="External"/><Relationship Id="rId24" Type="http://schemas.openxmlformats.org/officeDocument/2006/relationships/hyperlink" Target="https://proceedings.mlr.press/v305/jaeger25a.html" TargetMode="External"/><Relationship Id="rId25" Type="http://schemas.openxmlformats.org/officeDocument/2006/relationships/hyperlink" Target="https://arxiv.org/abs/2608.04896" TargetMode="External"/></Relationships>
</file>

<file path=ppt/slides/_rels/slide4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0.xml"/><Relationship Id="rId3" Type="http://schemas.openxmlformats.org/officeDocument/2006/relationships/hyperlink" Target="https://arxiv.org/abs/2208.08373" TargetMode="External"/><Relationship Id="rId4" Type="http://schemas.openxmlformats.org/officeDocument/2006/relationships/hyperlink" Target="https://arxiv.org/abs/1901.08652" TargetMode="External"/><Relationship Id="rId5" Type="http://schemas.openxmlformats.org/officeDocument/2006/relationships/hyperlink" Target="https://proceedings.mlr.press/v164/rudin22a.html" TargetMode="External"/><Relationship Id="rId6" Type="http://schemas.openxmlformats.org/officeDocument/2006/relationships/hyperlink" Target="https://www.anybotics.com/news/superior-robot-mobility-where-ai-meets-the-real-world/" TargetMode="External"/><Relationship Id="rId7" Type="http://schemas.openxmlformats.org/officeDocument/2006/relationships/hyperlink" Target="https://bostondynamics.com/blog/starting-on-the-right-foot-with-reinforcement-learning/" TargetMode="External"/><Relationship Id="rId8" Type="http://schemas.openxmlformats.org/officeDocument/2006/relationships/hyperlink" Target="https://arxiv.org/abs/2607.13579" TargetMode="External"/><Relationship Id="rId9" Type="http://schemas.openxmlformats.org/officeDocument/2006/relationships/hyperlink" Target="https://arxiv.org/abs/2409.15610" TargetMode="External"/><Relationship Id="rId10" Type="http://schemas.openxmlformats.org/officeDocument/2006/relationships/hyperlink" Target="https://bostondynamics.com/blog/put-it-in-context-with-visual-foundation-models/" TargetMode="External"/><Relationship Id="rId11" Type="http://schemas.openxmlformats.org/officeDocument/2006/relationships/hyperlink" Target="https://arxiv.org/abs/2303.03381" TargetMode="External"/><Relationship Id="rId12" Type="http://schemas.openxmlformats.org/officeDocument/2006/relationships/hyperlink" Target="https://arxiv.org/abs/2502.01143" TargetMode="External"/><Relationship Id="rId13" Type="http://schemas.openxmlformats.org/officeDocument/2006/relationships/hyperlink" Target="https://arxiv.org/abs/2511.07820" TargetMode="External"/><Relationship Id="rId14" Type="http://schemas.openxmlformats.org/officeDocument/2006/relationships/hyperlink" Target="https://arxiv.org/abs/2601.07718" TargetMode="External"/><Relationship Id="rId15" Type="http://schemas.openxmlformats.org/officeDocument/2006/relationships/hyperlink" Target="https://www.figure.ai/news/helix-02" TargetMode="External"/><Relationship Id="rId16" Type="http://schemas.openxmlformats.org/officeDocument/2006/relationships/hyperlink" Target="https://www.figure.ai/news/reinforcement-learning-walking" TargetMode="External"/><Relationship Id="rId17" Type="http://schemas.openxmlformats.org/officeDocument/2006/relationships/hyperlink" Target="https://www.agilityrobotics.com/content/training-a-whole-body-control-foundation-model" TargetMode="External"/><Relationship Id="rId18" Type="http://schemas.openxmlformats.org/officeDocument/2006/relationships/hyperlink" Target="https://developer.nvidia.com/blog/building-generalist-humanoid-capabilities-with-nvidia-isaac-gr00t-n1-6-using-a-sim-to-real-workflow/" TargetMode="External"/><Relationship Id="rId19" Type="http://schemas.openxmlformats.org/officeDocument/2006/relationships/hyperlink" Target="https://bostondynamics.com/blog/large-behavior-models-atlas-find-new-footing/" TargetMode="External"/><Relationship Id="rId20" Type="http://schemas.openxmlformats.org/officeDocument/2006/relationships/hyperlink" Target="https://arxiv.org/abs/2505.03738" TargetMode="External"/><Relationship Id="rId21" Type="http://schemas.openxmlformats.org/officeDocument/2006/relationships/hyperlink" Target="https://arxiv.org/abs/2606.05687" TargetMode="External"/><Relationship Id="rId22" Type="http://schemas.openxmlformats.org/officeDocument/2006/relationships/hyperlink" Target="https://arxiv.org/abs/2509.04722" TargetMode="External"/><Relationship Id="rId23" Type="http://schemas.openxmlformats.org/officeDocument/2006/relationships/hyperlink" Target="https://en.wikipedia.org/wiki/Beijing_E-Town_Half-Marathon" TargetMode="External"/><Relationship Id="rId24" Type="http://schemas.openxmlformats.org/officeDocument/2006/relationships/hyperlink" Target="https://en.wikipedia.org/wiki/World_Humanoid_Robot_Games" TargetMode="External"/><Relationship Id="rId25" Type="http://schemas.openxmlformats.org/officeDocument/2006/relationships/hyperlink" Target="https://arxiv.org/abs/2511.04831" TargetMode="External"/><Relationship Id="rId26" Type="http://schemas.openxmlformats.org/officeDocument/2006/relationships/hyperlink" Target="https://arxiv.org/abs/2502.08844" TargetMode="External"/><Relationship Id="rId27" Type="http://schemas.openxmlformats.org/officeDocument/2006/relationships/hyperlink" Target="https://arxiv.org/abs/2310.10943" TargetMode="External"/><Relationship Id="rId28" Type="http://schemas.openxmlformats.org/officeDocument/2006/relationships/hyperlink" Target="https://developer.nvidia.com/blog/newton-adds-contact-rich-manipulation-and-locomotion-capabilities-for-industrial-robotics/" TargetMode="External"/><Relationship Id="rId29" Type="http://schemas.openxmlformats.org/officeDocument/2006/relationships/hyperlink" Target="https://github.com/unitreerobotics/unitree_rl_mjlab" TargetMode="External"/><Relationship Id="rId30" Type="http://schemas.openxmlformats.org/officeDocument/2006/relationships/hyperlink" Target="https://arxiv.org/abs/2309.15462" TargetMode="External"/><Relationship Id="rId31" Type="http://schemas.openxmlformats.org/officeDocument/2006/relationships/hyperlink" Target="https://waymo.com/blog/2026/08/10ailessons" TargetMode="External"/><Relationship Id="rId32" Type="http://schemas.openxmlformats.org/officeDocument/2006/relationships/hyperlink" Target="https://www.science.org/doi/10.1126/scirobotics.ado6187" TargetMode="External"/></Relationships>
</file>

<file path=ppt/slides/_rels/slide4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1.xml"/><Relationship Id="rId3" Type="http://schemas.openxmlformats.org/officeDocument/2006/relationships/hyperlink" Target="https://github.com/ros-navigation/navigation2/tree/main/nav2_mppi_controller" TargetMode="External"/><Relationship Id="rId4" Type="http://schemas.openxmlformats.org/officeDocument/2006/relationships/hyperlink" Target="https://arxiv.org/abs/2409.15610" TargetMode="External"/><Relationship Id="rId5" Type="http://schemas.openxmlformats.org/officeDocument/2006/relationships/hyperlink" Target="https://arxiv.org/abs/2506.06664" TargetMode="External"/><Relationship Id="rId6" Type="http://schemas.openxmlformats.org/officeDocument/2006/relationships/hyperlink" Target="https://arxiv.org/abs/2407.01573" TargetMode="External"/><Relationship Id="rId7" Type="http://schemas.openxmlformats.org/officeDocument/2006/relationships/hyperlink" Target="https://arxiv.org/abs/2303.04137" TargetMode="External"/><Relationship Id="rId8" Type="http://schemas.openxmlformats.org/officeDocument/2006/relationships/hyperlink" Target="https://arxiv.org/abs/2410.24164" TargetMode="External"/><Relationship Id="rId9" Type="http://schemas.openxmlformats.org/officeDocument/2006/relationships/hyperlink" Target="https://www.figure.ai/news/helix-02" TargetMode="External"/><Relationship Id="rId10" Type="http://schemas.openxmlformats.org/officeDocument/2006/relationships/hyperlink" Target="https://developer.nvidia.com/blog/building-generalist-humanoid-capabilities-with-nvidia-isaac-gr00t-n1-6-using-a-sim-to-real-workflow/" TargetMode="External"/><Relationship Id="rId11" Type="http://schemas.openxmlformats.org/officeDocument/2006/relationships/hyperlink" Target="https://bostondynamics.com/blog/large-behavior-models-atlas-find-new-footing/" TargetMode="External"/><Relationship Id="rId12" Type="http://schemas.openxmlformats.org/officeDocument/2006/relationships/hyperlink" Target="https://arxiv.org/abs/2412.04453" TargetMode="External"/><Relationship Id="rId13" Type="http://schemas.openxmlformats.org/officeDocument/2006/relationships/hyperlink" Target="https://arxiv.org/abs/2402.12289" TargetMode="External"/><Relationship Id="rId14" Type="http://schemas.openxmlformats.org/officeDocument/2006/relationships/hyperlink" Target="https://waymo.com/blog/2026/02/the-waymo-world-model-a-new-frontier-for-autonomous-driving-simulation/" TargetMode="External"/><Relationship Id="rId15" Type="http://schemas.openxmlformats.org/officeDocument/2006/relationships/hyperlink" Target="https://arxiv.org/abs/2501.03575" TargetMode="External"/><Relationship Id="rId16" Type="http://schemas.openxmlformats.org/officeDocument/2006/relationships/hyperlink" Target="https://arxiv.org/abs/2512.10675" TargetMode="External"/><Relationship Id="rId17" Type="http://schemas.openxmlformats.org/officeDocument/2006/relationships/hyperlink" Target="https://www.nature.com/articles/s41586-025-08744-2" TargetMode="External"/><Relationship Id="rId18" Type="http://schemas.openxmlformats.org/officeDocument/2006/relationships/hyperlink" Target="https://arxiv.org/abs/2412.03572" TargetMode="External"/><Relationship Id="rId19" Type="http://schemas.openxmlformats.org/officeDocument/2006/relationships/hyperlink" Target="https://arxiv.org/abs/2511.07820" TargetMode="External"/><Relationship Id="rId20" Type="http://schemas.openxmlformats.org/officeDocument/2006/relationships/hyperlink" Target="https://arxiv.org/abs/2505.05753" TargetMode="External"/><Relationship Id="rId21" Type="http://schemas.openxmlformats.org/officeDocument/2006/relationships/hyperlink" Target="https://arxiv.org/abs/2509.19480" TargetMode="External"/><Relationship Id="rId22" Type="http://schemas.openxmlformats.org/officeDocument/2006/relationships/hyperlink" Target="https://arxiv.org/abs/2506.08228" TargetMode="External"/><Relationship Id="rId23" Type="http://schemas.openxmlformats.org/officeDocument/2006/relationships/hyperlink" Target="https://single-market-economy.ec.europa.eu/sectors/mechanical-engineering/machinery_en" TargetMode="External"/><Relationship Id="rId24" Type="http://schemas.openxmlformats.org/officeDocument/2006/relationships/hyperlink" Target="https://downloads.ctfassets.net/9i0s3p5vkth9/Gx5t3M6aWWUk8yEsXIZ8N/bf9767dfeb33360114438df17739d8be/Aurora_Driverless_Safety_Report_2025_with_Addendum.pdf" TargetMode="External"/><Relationship Id="rId25" Type="http://schemas.openxmlformats.org/officeDocument/2006/relationships/hyperlink" Target="https://arxiv.org/abs/2608.04896" TargetMode="External"/><Relationship Id="rId26" Type="http://schemas.openxmlformats.org/officeDocument/2006/relationships/hyperlink" Target="https://www.tii.ae/news/world-first-autonomous-racing-leaps-forward-abu-dhabi-a2rl-season-2-showcases-record-speed" TargetMode="External"/><Relationship Id="rId27" Type="http://schemas.openxmlformats.org/officeDocument/2006/relationships/hyperlink" Target="https://github.com/MAPF-Competition/Start-Kit" TargetMode="External"/><Relationship Id="rId28" Type="http://schemas.openxmlformats.org/officeDocument/2006/relationships/hyperlink" Target="https://en.wikipedia.org/wiki/World_Humanoid_Robot_Games" TargetMode="External"/><Relationship Id="rId29" Type="http://schemas.openxmlformats.org/officeDocument/2006/relationships/hyperlink" Target="https://artificialintelligenceact.eu/article/6/" TargetMode="External"/><Relationship Id="rId30" Type="http://schemas.openxmlformats.org/officeDocument/2006/relationships/hyperlink" Target="https://arxiv.org/abs/2309.05837" TargetMode="External"/><Relationship Id="rId31" Type="http://schemas.openxmlformats.org/officeDocument/2006/relationships/hyperlink" Target="https://arxiv.org/abs/2608.02809" TargetMode="External"/><Relationship Id="rId32" Type="http://schemas.openxmlformats.org/officeDocument/2006/relationships/hyperlink" Target="https://nvidianews.nvidia.com/news/nvidia-announces-halos-for-robotics-the-industrys-first-full-stack-safety-system-for-physical-ai" TargetMode="External"/></Relationships>
</file>

<file path=ppt/slides/_rels/slide4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2.xml"/><Relationship Id="rId3" Type="http://schemas.openxmlformats.org/officeDocument/2006/relationships/hyperlink" Target="https://waymo.com/blog/2024/05/fleet-response/" TargetMode="External"/><Relationship Id="rId4" Type="http://schemas.openxmlformats.org/officeDocument/2006/relationships/hyperlink" Target="https://waymo.com/blog/shorts/advice-not-control-the-role-of-remote-assistance/" TargetMode="External"/><Relationship Id="rId5" Type="http://schemas.openxmlformats.org/officeDocument/2006/relationships/hyperlink" Target="https://techcrunch.com/2026/03/31/robotaxi-companies-refuse-to-say-how-often-their-avs-need-remote-help/" TargetMode="External"/><Relationship Id="rId6" Type="http://schemas.openxmlformats.org/officeDocument/2006/relationships/hyperlink" Target="https://www.dmv.ca.gov/portal/news-and-media/new-autonomous-vehicle-regulations-strengthen-oversight-and-enforcement-authorize-trucks-and-transit/" TargetMode="External"/><Relationship Id="rId7" Type="http://schemas.openxmlformats.org/officeDocument/2006/relationships/hyperlink" Target="https://www.ntsb.gov/investigations/Pages/HWY26FH007.aspx" TargetMode="External"/><Relationship Id="rId8" Type="http://schemas.openxmlformats.org/officeDocument/2006/relationships/hyperlink" Target="https://www.jpl.nasa.gov/news/nasas-perseverance-mars-rover-ready-to-roll-for-miles-in-years-ahead/" TargetMode="External"/><Relationship Id="rId9" Type="http://schemas.openxmlformats.org/officeDocument/2006/relationships/hyperlink" Target="https://ieeexplore.ieee.org/document/11265757" TargetMode="External"/><Relationship Id="rId10" Type="http://schemas.openxmlformats.org/officeDocument/2006/relationships/hyperlink" Target="https://www.jpl.nasa.gov/news/nasas-perseverance-rover-completes-first-ai-planned-drive-on-mars/" TargetMode="External"/><Relationship Id="rId11" Type="http://schemas.openxmlformats.org/officeDocument/2006/relationships/hyperlink" Target="https://www.anthropic.com/features/claude-on-mars" TargetMode="External"/><Relationship Id="rId12" Type="http://schemas.openxmlformats.org/officeDocument/2006/relationships/hyperlink" Target="https://www.komatsu.jp/en/newsroom/2026/20260422" TargetMode="External"/><Relationship Id="rId13" Type="http://schemas.openxmlformats.org/officeDocument/2006/relationships/hyperlink" Target="https://www.eacon.com/news/827.html" TargetMode="External"/><Relationship Id="rId14" Type="http://schemas.openxmlformats.org/officeDocument/2006/relationships/hyperlink" Target="https://ir.aurora.tech/news-events/press-releases/detail/132" TargetMode="External"/><Relationship Id="rId15" Type="http://schemas.openxmlformats.org/officeDocument/2006/relationships/hyperlink" Target="https://www.deere.com/en-us/products-solutions/tractors/autonomous-tractor/" TargetMode="External"/><Relationship Id="rId16" Type="http://schemas.openxmlformats.org/officeDocument/2006/relationships/hyperlink" Target="https://arxiv.org/abs/2410.21415" TargetMode="External"/><Relationship Id="rId17" Type="http://schemas.openxmlformats.org/officeDocument/2006/relationships/hyperlink" Target="https://github.com/MAPF-Competition/Start-Kit" TargetMode="External"/><Relationship Id="rId18" Type="http://schemas.openxmlformats.org/officeDocument/2006/relationships/hyperlink" Target="https://www.science.org/doi/10.1126/scirobotics.ade2256" TargetMode="External"/><Relationship Id="rId19" Type="http://schemas.openxmlformats.org/officeDocument/2006/relationships/hyperlink" Target="https://arxiv.org/abs/2506.02835" TargetMode="External"/><Relationship Id="rId20" Type="http://schemas.openxmlformats.org/officeDocument/2006/relationships/hyperlink" Target="https://news.kaist.ac.kr/newsen/html/news/?mode=V&amp;mng_no=41590" TargetMode="External"/><Relationship Id="rId21" Type="http://schemas.openxmlformats.org/officeDocument/2006/relationships/hyperlink" Target="https://www.science.org/doi/10.1126/scirobotics.add1017" TargetMode="External"/><Relationship Id="rId22" Type="http://schemas.openxmlformats.org/officeDocument/2006/relationships/hyperlink" Target="https://arxiv.org/abs/2312.08961" TargetMode="External"/><Relationship Id="rId23" Type="http://schemas.openxmlformats.org/officeDocument/2006/relationships/hyperlink" Target="https://arxiv.org/abs/2607.13579" TargetMode="External"/><Relationship Id="rId24" Type="http://schemas.openxmlformats.org/officeDocument/2006/relationships/hyperlink" Target="https://arxiv.org/abs/2301.10602" TargetMode="External"/><Relationship Id="rId25" Type="http://schemas.openxmlformats.org/officeDocument/2006/relationships/hyperlink" Target="https://arxiv.org/abs/2409.19709" TargetMode="External"/><Relationship Id="rId26" Type="http://schemas.openxmlformats.org/officeDocument/2006/relationships/hyperlink" Target="https://researchwith.njit.edu/en/publications/torque-based-deep-reinforcement-learning-for-task-and-robot-agnos" TargetMode="External"/><Relationship Id="rId27" Type="http://schemas.openxmlformats.org/officeDocument/2006/relationships/hyperlink" Target="https://rainbow-robotics.com/%EC%A0%9C%ED%92%88%EC%86%94%EB%A3%A8%EC%85%98/%EC%82%AC%EC%A1%B1%EB%B3%B4%ED%96%89-%EB%A1%9C%EB%B4%87/rbq-series" TargetMode="External"/><Relationship Id="rId28" Type="http://schemas.openxmlformats.org/officeDocument/2006/relationships/hyperlink" Target="https://bostondynamics.com/blog/starting-on-the-right-foot-with-reinforcement-learning/" TargetMode="External"/><Relationship Id="rId29" Type="http://schemas.openxmlformats.org/officeDocument/2006/relationships/hyperlink" Target="https://bostondynamics.com/blog/large-behavior-models-atlas-find-new-footing/" TargetMode="External"/><Relationship Id="rId30" Type="http://schemas.openxmlformats.org/officeDocument/2006/relationships/hyperlink" Target="https://bostondynamics.com/blog/boston-dynamics-unveils-new-atlas-robot-to-revolutionize-industry/" TargetMode="External"/><Relationship Id="rId31" Type="http://schemas.openxmlformats.org/officeDocument/2006/relationships/hyperlink" Target="https://www.motir.go.kr/kor/article/ATCL3f49a5a8c/170404/view?mno=&amp;pageIndex=1&amp;rowPageC=0&amp;displayAuthor=&amp;searchCategory=0&amp;schClear=on&amp;startDtD=&amp;endDtD=&amp;searchCondition=1&amp;searchKeyword=%ED%9C%B4%EB%A8%B8%EB%85%B8%EC%9D%B4%EB%93%9C" TargetMode="External"/><Relationship Id="rId32" Type="http://schemas.openxmlformats.org/officeDocument/2006/relationships/hyperlink" Target="https://www.korea.kr/news/policyNewsView.do?newsId=148964548" TargetMode="External"/></Relationships>
</file>

<file path=ppt/slides/_rels/slide4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3.xml"/><Relationship Id="rId3" Type="http://schemas.openxmlformats.org/officeDocument/2006/relationships/hyperlink" Target="https://www.korea.kr/news/policyNewsView.do?newsId=148922726" TargetMode="External"/><Relationship Id="rId4" Type="http://schemas.openxmlformats.org/officeDocument/2006/relationships/hyperlink" Target="https://www.kmcc.go.kr/download.do?fileSeq=62128" TargetMode="External"/><Relationship Id="rId5" Type="http://schemas.openxmlformats.org/officeDocument/2006/relationships/hyperlink" Target="https://zdnet.co.kr/view/?no=20230728173101" TargetMode="External"/><Relationship Id="rId6" Type="http://schemas.openxmlformats.org/officeDocument/2006/relationships/hyperlink" Target="https://www.kiria.org/portal/cert/portalCertEstiStats.do" TargetMode="External"/><Relationship Id="rId7" Type="http://schemas.openxmlformats.org/officeDocument/2006/relationships/hyperlink" Target="https://www.hellot.net/news/article.html?no=111539" TargetMode="External"/><Relationship Id="rId8" Type="http://schemas.openxmlformats.org/officeDocument/2006/relationships/hyperlink" Target="https://zdnet.co.kr/view/?no=20251223101843" TargetMode="External"/><Relationship Id="rId9" Type="http://schemas.openxmlformats.org/officeDocument/2006/relationships/hyperlink" Target="https://zdnet.co.kr/view/?no=20260529134003" TargetMode="External"/><Relationship Id="rId10" Type="http://schemas.openxmlformats.org/officeDocument/2006/relationships/hyperlink" Target="https://zdnet.co.kr/view/?no=20251218101741" TargetMode="External"/><Relationship Id="rId11" Type="http://schemas.openxmlformats.org/officeDocument/2006/relationships/hyperlink" Target="https://www.newstomato.com/ReadNews.aspx?no=1243901" TargetMode="External"/><Relationship Id="rId12" Type="http://schemas.openxmlformats.org/officeDocument/2006/relationships/hyperlink" Target="https://edaily.co.kr/News/Read?mediaCodeNo=257&amp;newsId=03978646645485328" TargetMode="External"/><Relationship Id="rId13" Type="http://schemas.openxmlformats.org/officeDocument/2006/relationships/hyperlink" Target="https://www.hyundaimotorgroup.com/ko/news/CONT0000000000158712" TargetMode="External"/><Relationship Id="rId14" Type="http://schemas.openxmlformats.org/officeDocument/2006/relationships/hyperlink" Target="https://1784.navercorp.com/" TargetMode="External"/><Relationship Id="rId15" Type="http://schemas.openxmlformats.org/officeDocument/2006/relationships/hyperlink" Target="https://www.globenewswire.com/news-release/2025/12/12/3204583/0/en/Serve-Robotics-Builds-2-000-Autonomous-Delivery-Robots-Creating-Largest-Sidewalk-Delivery-Fleet-in-the-U-S.html" TargetMode="External"/><Relationship Id="rId16" Type="http://schemas.openxmlformats.org/officeDocument/2006/relationships/hyperlink" Target="https://arxiv.org/abs/2406.14947" TargetMode="External"/><Relationship Id="rId17" Type="http://schemas.openxmlformats.org/officeDocument/2006/relationships/hyperlink" Target="https://www.science.org/doi/10.1126/scirobotics.ado6187" TargetMode="External"/><Relationship Id="rId18" Type="http://schemas.openxmlformats.org/officeDocument/2006/relationships/hyperlink" Target="https://waymo.com/blog/2025/12/demonstrably-safe-ai-for-autonomous-driving/" TargetMode="External"/><Relationship Id="rId19" Type="http://schemas.openxmlformats.org/officeDocument/2006/relationships/hyperlink" Target="https://arxiv.org/abs/2309.15462" TargetMode="External"/><Relationship Id="rId20" Type="http://schemas.openxmlformats.org/officeDocument/2006/relationships/hyperlink" Target="https://arxiv.org/abs/2607.13579" TargetMode="External"/></Relationships>
</file>

<file path=ppt/slides/_rels/slide4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4.xml"/><Relationship Id="rId3" Type="http://schemas.openxmlformats.org/officeDocument/2006/relationships/hyperlink" Target="https://arxiv.org/abs/2608.15741" TargetMode="External"/><Relationship Id="rId4" Type="http://schemas.openxmlformats.org/officeDocument/2006/relationships/hyperlink" Target="https://www.jpl.nasa.gov/news/nasas-perseverance-rover-completes-first-ai-planned-drive-on-mars/" TargetMode="External"/></Relationships>
</file>

<file path=ppt/slides/_rels/slide4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5.xml"/></Relationships>
</file>

<file path=ppt/slides/_rels/slide4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6.xml"/></Relationships>
</file>

<file path=ppt/slides/_rels/slide4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7.xml"/></Relationships>
</file>

<file path=ppt/slides/_rels/slide4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8.xml"/><Relationship Id="rId3" Type="http://schemas.openxmlformats.org/officeDocument/2006/relationships/hyperlink" Target="https://github.com/VAIL-UCLA/S2E" TargetMode="External"/></Relationships>
</file>

<file path=ppt/slides/_rels/slide4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9.xml"/><Relationship Id="rId3" Type="http://schemas.openxmlformats.org/officeDocument/2006/relationships/hyperlink" Target="https://github.com/GalaxyGeneralRobotics/UrbanVLA" TargetMode="External"/></Relationships>
</file>

<file path=ppt/slides/_rels/slide5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0.xml"/></Relationships>
</file>

<file path=ppt/slides/_rels/slide5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1.xml"/></Relationships>
</file>

<file path=ppt/slides/_rels/slide5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2.xml"/></Relationships>
</file>

<file path=ppt/slides/_rels/slide5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3.xml"/></Relationships>
</file>

<file path=ppt/slides/_rels/slide5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4.xml"/><Relationship Id="rId3" Type="http://schemas.openxmlformats.org/officeDocument/2006/relationships/image" Target="../media/image374.jpg"/></Relationships>
</file>

<file path=ppt/slides/_rels/slide5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5.xml"/></Relationships>
</file>

<file path=ppt/slides/_rels/slide5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6.xml"/></Relationships>
</file>

<file path=ppt/slides/_rels/slide5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7.xml"/><Relationship Id="rId3" Type="http://schemas.openxmlformats.org/officeDocument/2006/relationships/image" Target="../media/image375.jpg"/></Relationships>
</file>

<file path=ppt/slides/_rels/slide5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8.xml"/></Relationships>
</file>

<file path=ppt/slides/_rels/slide5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9.xml"/></Relationships>
</file>

<file path=ppt/slides/_rels/slide5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0.xml"/></Relationships>
</file>

<file path=ppt/slides/_rels/slide5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1.xml"/><Relationship Id="rId3" Type="http://schemas.openxmlformats.org/officeDocument/2006/relationships/image" Target="../media/image376.jpg"/></Relationships>
</file>

<file path=ppt/slides/_rels/slide5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2.xml"/></Relationships>
</file>

<file path=ppt/slides/_rels/slide5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3.xml"/></Relationships>
</file>

<file path=ppt/slides/_rels/slide5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4.xml"/><Relationship Id="rId3" Type="http://schemas.openxmlformats.org/officeDocument/2006/relationships/image" Target="../media/image377.jpg"/></Relationships>
</file>

<file path=ppt/slides/_rels/slide5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5.xml"/></Relationships>
</file>

<file path=ppt/slides/_rels/slide5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6.xml"/><Relationship Id="rId3" Type="http://schemas.openxmlformats.org/officeDocument/2006/relationships/image" Target="../media/image378.png"/><Relationship Id="rId4" Type="http://schemas.openxmlformats.org/officeDocument/2006/relationships/image" Target="../media/image379.png"/></Relationships>
</file>

<file path=ppt/slides/_rels/slide5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7.xml"/><Relationship Id="rId3" Type="http://schemas.openxmlformats.org/officeDocument/2006/relationships/image" Target="../media/image380.jpg"/></Relationships>
</file>

<file path=ppt/slides/_rels/slide5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8.xml"/></Relationships>
</file>

<file path=ppt/slides/_rels/slide5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9.xml"/><Relationship Id="rId3" Type="http://schemas.openxmlformats.org/officeDocument/2006/relationships/image" Target="../media/image381.jpg"/></Relationships>
</file>

<file path=ppt/slides/_rels/slide5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10개</a:t>
            </a:r>
          </a:p>
          <a:p>
            <a:r>
              <a:rPr sz="1250" b="0" i="0">
                <a:solidFill>
                  <a:srgbClr val="C9D1E0"/>
                </a:solidFill>
                <a:latin typeface="Arial"/>
                <a:ea typeface="Malgun Gothic"/>
                <a:cs typeface="Malgun Gothic"/>
              </a:rPr>
              <a:t>travplan과 고전 기준선 · 학습 로컬 Planner · 생성형 궤적 · Foundation·VLA·언어 · 위험 인지·로컬 내비 · 자율주행 자동차 · 다리·바퀴 로봇과 계보 · 분야별 지형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520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두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앞의 다섯은 </a:t>
            </a:r>
            <a:r>
              <a:rPr sz="1050" b="1" i="0">
                <a:solidFill>
                  <a:srgbClr val="C2410C"/>
                </a:solidFill>
                <a:latin typeface="Arial"/>
                <a:ea typeface="Malgun Gothic"/>
                <a:cs typeface="Malgun Gothic"/>
              </a:rPr>
              <a:t>방법</a:t>
            </a:r>
            <a:r>
              <a:rPr sz="1050" b="1" i="0">
                <a:solidFill>
                  <a:srgbClr val="C2410C"/>
                </a:solidFill>
                <a:latin typeface="Arial"/>
                <a:ea typeface="Malgun Gothic"/>
                <a:cs typeface="Malgun Gothic"/>
              </a:rPr>
              <a:t>(어떻게 계획하나), 뒤의 둘은 </a:t>
            </a:r>
            <a:r>
              <a:rPr sz="1050" b="1" i="0">
                <a:solidFill>
                  <a:srgbClr val="C2410C"/>
                </a:solidFill>
                <a:latin typeface="Arial"/>
                <a:ea typeface="Malgun Gothic"/>
                <a:cs typeface="Malgun Gothic"/>
              </a:rPr>
              <a:t>현황</a:t>
            </a:r>
            <a:r>
              <a:rPr sz="1050" b="1" i="0">
                <a:solidFill>
                  <a:srgbClr val="C2410C"/>
                </a:solidFill>
                <a:latin typeface="Arial"/>
                <a:ea typeface="Malgun Gothic"/>
                <a:cs typeface="Malgun Gothic"/>
              </a:rPr>
              <a:t>(누가 무엇을 내놨나)이다.</a:t>
            </a:r>
            <a:r>
              <a:rPr sz="1050" b="0" i="0">
                <a:solidFill>
                  <a:srgbClr val="16213A"/>
                </a:solidFill>
                <a:latin typeface="Arial"/>
                <a:ea typeface="Malgun Gothic"/>
                <a:cs typeface="Malgun Gothic"/>
              </a:rPr>
              <a:t> 2026-10-01에 이렇게 다시 묶었다 — 그 전에는 방법·도메인·관심사·계보 네 축이 섞여 있어서 자율주행 내용만 세 탭(E2E 주행 · 역사·상용화 · 로봇별 오픈소스)에 흩어져 있었다.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7" name="Table 6"/>
          <p:cNvGraphicFramePr>
            <a:graphicFrameLocks noGrp="1"/>
          </p:cNvGraphicFramePr>
          <p:nvPr/>
        </p:nvGraphicFramePr>
        <p:xfrm>
          <a:off x="609600" y="2071886"/>
          <a:ext cx="10966451" cy="1379616"/>
        </p:xfrm>
        <a:graphic>
          <a:graphicData uri="http://schemas.openxmlformats.org/drawingml/2006/table">
            <a:tbl>
              <a:tblPr firstRow="1" bandRow="1">
                <a:tableStyleId>{5C22544A-7EE6-4342-B048-85BDC9FD1C3A}</a:tableStyleId>
              </a:tblPr>
              <a:tblGrid>
                <a:gridCol w="1287066"/>
                <a:gridCol w="5481241"/>
                <a:gridCol w="1133971"/>
                <a:gridCol w="3064173"/>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r>
            </a:tbl>
          </a:graphicData>
        </a:graphic>
      </p:graphicFrame>
      <p:sp>
        <p:nvSpPr>
          <p:cNvPr id="8" name="TextBox 7"/>
          <p:cNvSpPr txBox="1"/>
          <p:nvPr/>
        </p:nvSpPr>
        <p:spPr>
          <a:xfrm>
            <a:off x="609600" y="38916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9" name="Table 8"/>
          <p:cNvGraphicFramePr>
            <a:graphicFrameLocks noGrp="1"/>
          </p:cNvGraphicFramePr>
          <p:nvPr/>
        </p:nvGraphicFramePr>
        <p:xfrm>
          <a:off x="609600" y="4197052"/>
          <a:ext cx="10966450" cy="833040"/>
        </p:xfrm>
        <a:graphic>
          <a:graphicData uri="http://schemas.openxmlformats.org/drawingml/2006/table">
            <a:tbl>
              <a:tblPr firstRow="1" bandRow="1">
                <a:tableStyleId>{5C22544A-7EE6-4342-B048-85BDC9FD1C3A}</a:tableStyleId>
              </a:tblPr>
              <a:tblGrid>
                <a:gridCol w="954881"/>
                <a:gridCol w="6271419"/>
                <a:gridCol w="947936"/>
                <a:gridCol w="279221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다리·바퀴 로봇과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사족·휴머노이드·바퀴 로봇의 공개 Planner, ETH RSL 한 연구실의 층별 계보, NVIDIA·Google DeepMind·취리히·RAI Institute와 다른 연구실의 사족·휴머노이드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 ROS 2 통합, 인식 도구의 출처, 학습 절차와 plant 보정</a:t>
                      </a:r>
                    </a:p>
                  </a:txBody>
                  <a:tcPr marL="63500" marR="63500" marT="12700" marB="12700">
                    <a:solidFill>
                      <a:srgbClr val="F3F0E8"/>
                    </a:solidFill>
                  </a:tcPr>
                </a:tc>
              </a:tr>
            </a:tbl>
          </a:graphicData>
        </a:graphic>
      </p:graphicFrame>
      <p:sp>
        <p:nvSpPr>
          <p:cNvPr id="10" name="TextBox 9"/>
          <p:cNvSpPr txBox="1"/>
          <p:nvPr/>
        </p:nvSpPr>
        <p:spPr>
          <a:xfrm>
            <a:off x="609600" y="5333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520</a:t>
            </a:r>
          </a:p>
        </p:txBody>
      </p:sp>
      <p:graphicFrame>
        <p:nvGraphicFramePr>
          <p:cNvPr id="5" name="Table 4"/>
          <p:cNvGraphicFramePr>
            <a:graphicFrameLocks noGrp="1"/>
          </p:cNvGraphicFramePr>
          <p:nvPr/>
        </p:nvGraphicFramePr>
        <p:xfrm>
          <a:off x="609600" y="1244600"/>
          <a:ext cx="10966451" cy="2302032"/>
        </p:xfrm>
        <a:graphic>
          <a:graphicData uri="http://schemas.openxmlformats.org/drawingml/2006/table">
            <a:tbl>
              <a:tblPr firstRow="1" bandRow="1">
                <a:tableStyleId>{5C22544A-7EE6-4342-B048-85BDC9FD1C3A}</a:tableStyleId>
              </a:tblPr>
              <a:tblGrid>
                <a:gridCol w="610791"/>
                <a:gridCol w="1495723"/>
                <a:gridCol w="2311301"/>
                <a:gridCol w="1730276"/>
                <a:gridCol w="1581745"/>
                <a:gridCol w="1516658"/>
                <a:gridCol w="171995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순이다(2026-09). HF 다운로드는 대표 가중치의 최근 30일 값이다.</a:t>
            </a:r>
          </a:p>
        </p:txBody>
      </p:sp>
      <p:graphicFrame>
        <p:nvGraphicFramePr>
          <p:cNvPr id="7" name="Table 6"/>
          <p:cNvGraphicFramePr>
            <a:graphicFrameLocks noGrp="1"/>
          </p:cNvGraphicFramePr>
          <p:nvPr/>
        </p:nvGraphicFramePr>
        <p:xfrm>
          <a:off x="609600" y="4522788"/>
          <a:ext cx="10966449" cy="1182528"/>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0.44M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 / 520</a:t>
            </a:r>
          </a:p>
        </p:txBody>
      </p:sp>
      <p:graphicFrame>
        <p:nvGraphicFramePr>
          <p:cNvPr id="5" name="Table 4"/>
          <p:cNvGraphicFramePr>
            <a:graphicFrameLocks noGrp="1"/>
          </p:cNvGraphicFramePr>
          <p:nvPr/>
        </p:nvGraphicFramePr>
        <p:xfrm>
          <a:off x="609600" y="1244600"/>
          <a:ext cx="10966449" cy="3547584"/>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57743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B.12에 따로 모았다.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520</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 / 520</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520</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520</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520</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520</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TAME-Nav: 특권 교사를 시간 Soft-MoE 학생으로 증류한 LiDAR 로컬 내비 정책</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TAME-Nav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arXiv:2610.12877</a:t>
            </a:r>
            <a:r>
              <a:rPr sz="1050" b="0" i="0">
                <a:solidFill>
                  <a:srgbClr val="16213A"/>
                </a:solidFill>
                <a:latin typeface="Arial"/>
                <a:ea typeface="Malgun Gothic"/>
                <a:cs typeface="Malgun Gothic"/>
              </a:rPr>
              <a:t>, 2026-10, SJTU·Eastern Institute of Technology Ningbo(EIT)·PolyU·USTC,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"공개 예정")는 2D LiDAR 41빔과 상대 목표만 보고 몸체 속도 </a:t>
            </a:r>
            <a:r>
              <a:rPr sz="1050" b="0" i="1">
                <a:solidFill>
                  <a:srgbClr val="16213A"/>
                </a:solidFill>
                <a:latin typeface="Arial"/>
                <a:ea typeface="Malgun Gothic"/>
                <a:cs typeface="Malgun Gothic"/>
              </a:rPr>
              <a:t>[vₓ, v_y, ω_z]</a:t>
            </a:r>
            <a:r>
              <a:rPr sz="1050" b="0" i="0">
                <a:solidFill>
                  <a:srgbClr val="16213A"/>
                </a:solidFill>
                <a:latin typeface="Arial"/>
                <a:ea typeface="Malgun Gothic"/>
                <a:cs typeface="Malgun Gothic"/>
              </a:rPr>
              <a:t>를 50 Hz로 내는 RL 정책 하나다. </a:t>
            </a:r>
            <a:r>
              <a:rPr sz="1050" b="1" i="0">
                <a:solidFill>
                  <a:srgbClr val="C2410C"/>
                </a:solidFill>
                <a:latin typeface="Arial"/>
                <a:ea typeface="Malgun Gothic"/>
                <a:cs typeface="Malgun Gothic"/>
              </a:rPr>
              <a:t>이 정책 하나로 장애물 회피, 좁은 통로 통과, 오목한 함정 탈출을 함께 한다.</a:t>
            </a:r>
            <a:r>
              <a:rPr sz="1050" b="0" i="0">
                <a:solidFill>
                  <a:srgbClr val="16213A"/>
                </a:solidFill>
                <a:latin typeface="Arial"/>
                <a:ea typeface="Malgun Gothic"/>
                <a:cs typeface="Malgun Gothic"/>
              </a:rPr>
              <a:t> SEA-Nav·NavRL·DRL-DCLP를 같은 학습 지도 600개와 같은 예산으로 다시 학습해 비교했다. 처음 보는 지도 600개에서 성공률이 78.2 %로, 가장 강한 기준선(SEA-Nav, 52.6 %)보다 25.6 %p 높았다. Unitree Go2 실물에서는 함정 탈출과 돌발 장애물이 있는 좁은 통로를 10회씩 모두 성공했다. 접촉은 20회 중 한 번이었다.</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방법의 뼈대는 셋이다.</a:t>
            </a:r>
          </a:p>
        </p:txBody>
      </p:sp>
      <p:sp>
        <p:nvSpPr>
          <p:cNvPr id="8" name="TextBox 7"/>
          <p:cNvSpPr txBox="1"/>
          <p:nvPr/>
        </p:nvSpPr>
        <p:spPr>
          <a:xfrm>
            <a:off x="609600" y="2808089"/>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깨끗한 관측 이력에 동적 장애물 </a:t>
            </a:r>
            <a:r>
              <a:rPr sz="1050" b="1" i="0">
                <a:solidFill>
                  <a:srgbClr val="16213A"/>
                </a:solidFill>
                <a:latin typeface="Arial"/>
                <a:ea typeface="Malgun Gothic"/>
                <a:cs typeface="Malgun Gothic"/>
              </a:rPr>
              <a:t>궤적(track)</a:t>
            </a:r>
            <a:r>
              <a:rPr sz="1050" b="0" i="0">
                <a:solidFill>
                  <a:srgbClr val="16213A"/>
                </a:solidFill>
                <a:latin typeface="Arial"/>
                <a:ea typeface="Malgun Gothic"/>
                <a:cs typeface="Malgun Gothic"/>
              </a:rPr>
              <a:t>을 더해 잠재를 만든다. 궤적은 미래를 보지 않고, 가려지면 마지막 속도로 외삽한다.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지연·잡음을 넣은 관측 10프레임을 받는다. 1D CNN과 GRU를 지나 전문가 8개의 Soft-MoE가 잠재를 만들고, 학생은 이 잠재를 교사의 것에 맞춘다.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공유 Actor와 CBF.</a:t>
            </a:r>
            <a:r>
              <a:rPr sz="1050" b="0" i="0">
                <a:solidFill>
                  <a:srgbClr val="16213A"/>
                </a:solidFill>
                <a:latin typeface="Arial"/>
                <a:ea typeface="Malgun Gothic"/>
                <a:cs typeface="Malgun Gothic"/>
              </a:rPr>
              <a:t> 두 잠재는 같은 Actor에 들어간다. Actor가 낸 명목 속도를 미분 가능한 LiDAR CBF(SEA-Nav에서 가져왔다)가 고친다.</a:t>
            </a:r>
          </a:p>
        </p:txBody>
      </p:sp>
      <p:sp>
        <p:nvSpPr>
          <p:cNvPr id="9" name="TextBox 8"/>
          <p:cNvSpPr txBox="1"/>
          <p:nvPr/>
        </p:nvSpPr>
        <p:spPr>
          <a:xfrm>
            <a:off x="609600" y="359727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학습은 관절 동역학 없이 명령→응답 모델로 로봇을 움직이는 GPU 2D 시뮬레이터에서 한다. 실물에서는 따로 학습한 보행 제어기가 같은 속도 명령을 따른다.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520</a:t>
            </a:r>
          </a:p>
        </p:txBody>
      </p:sp>
      <p:pic>
        <p:nvPicPr>
          <p:cNvPr id="5" name="Picture 4" descr="image.jpg"/>
          <p:cNvPicPr>
            <a:picLocks noChangeAspect="1"/>
          </p:cNvPicPr>
          <p:nvPr/>
        </p:nvPicPr>
        <p:blipFill>
          <a:blip r:embed="rId3"/>
          <a:stretch>
            <a:fillRect/>
          </a:stretch>
        </p:blipFill>
        <p:spPr>
          <a:xfrm>
            <a:off x="609600" y="1244600"/>
            <a:ext cx="3556000" cy="1619250"/>
          </a:xfrm>
          <a:prstGeom prst="rect">
            <a:avLst/>
          </a:prstGeom>
        </p:spPr>
      </p:pic>
      <p:sp>
        <p:nvSpPr>
          <p:cNvPr id="6" name="TextBox 5"/>
          <p:cNvSpPr txBox="1"/>
          <p:nvPr/>
        </p:nvSpPr>
        <p:spPr>
          <a:xfrm>
            <a:off x="609600" y="2901950"/>
            <a:ext cx="35560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1): 위가 교사(깨끗한 10프레임 이력 MLP + 동적 궤적 자기·교차 attention), 아래가 학생(LiDAR 1D CNN + 상태 MLP → GRU → 전문가 8개 Soft-MoE). 둘이 Actor를 공유하고 LiDAR CBF가 속도를 고친다. 롤아웃은 교사 75 %, 학생 25 %. 출처: arXiv:2610.12877</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7): 실물 함정 탈출. 오목한 벽이 목표를 막는다. TAME-Nav(노란 선)만 목표 반대쪽으로 크게 돌아 나왔고, 기준선들은 벽 안쪽에서 진동하다 부딪히거나 갇혔다. 출처: arXiv:2610.12877</a:t>
            </a:r>
          </a:p>
        </p:txBody>
      </p:sp>
      <p:pic>
        <p:nvPicPr>
          <p:cNvPr id="9" name="Picture 8" descr="image.jpg"/>
          <p:cNvPicPr>
            <a:picLocks noChangeAspect="1"/>
          </p:cNvPicPr>
          <p:nvPr/>
        </p:nvPicPr>
        <p:blipFill>
          <a:blip r:embed="rId5"/>
          <a:stretch>
            <a:fillRect/>
          </a:stretch>
        </p:blipFill>
        <p:spPr>
          <a:xfrm>
            <a:off x="8026400" y="1244600"/>
            <a:ext cx="3556000" cy="1536700"/>
          </a:xfrm>
          <a:prstGeom prst="rect">
            <a:avLst/>
          </a:prstGeom>
        </p:spPr>
      </p:pic>
      <p:sp>
        <p:nvSpPr>
          <p:cNvPr id="10" name="TextBox 9"/>
          <p:cNvSpPr txBox="1"/>
          <p:nvPr/>
        </p:nvSpPr>
        <p:spPr>
          <a:xfrm>
            <a:off x="8026400" y="2819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TAME-Nav (Fig. 3): 처음 보는 지도 600개, 장면 계열 여섯 개의 성공률. 모든 기준선을 같은 지도(OM)에서 다시 학습했다. 차이는 밀집 장애물과 오목 함정에서 가장 크고(35 %p 이상), 좁은 통로에서는 거의 없다. 출처: arXiv:2610.12877</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정의(POMDP).</a:t>
            </a:r>
            <a:r>
              <a:rPr sz="1050" b="0" i="0">
                <a:solidFill>
                  <a:srgbClr val="16213A"/>
                </a:solidFill>
                <a:latin typeface="Arial"/>
                <a:ea typeface="Malgun Gothic"/>
                <a:cs typeface="Malgun Gothic"/>
              </a:rPr>
              <a:t> 관측은 LiDAR, 몸체 좌표의 목표, 운동 상태, 직전 명령이다. 정책은 </a:t>
            </a:r>
            <a:r>
              <a:rPr sz="1050" b="0" i="1">
                <a:solidFill>
                  <a:srgbClr val="16213A"/>
                </a:solidFill>
                <a:latin typeface="Arial"/>
                <a:ea typeface="Malgun Gothic"/>
                <a:cs typeface="Malgun Gothic"/>
              </a:rPr>
              <a:t>H = 10</a:t>
            </a:r>
            <a:r>
              <a:rPr sz="1050" b="0" i="0">
                <a:solidFill>
                  <a:srgbClr val="16213A"/>
                </a:solidFill>
                <a:latin typeface="Arial"/>
                <a:ea typeface="Malgun Gothic"/>
                <a:cs typeface="Malgun Gothic"/>
              </a:rPr>
              <a:t>프레임 이력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를 받아 몸체 속도를 낸다.</a:t>
            </a:r>
          </a:p>
        </p:txBody>
      </p:sp>
      <p:pic>
        <p:nvPicPr>
          <p:cNvPr id="6" name="Picture 5" descr="image.png"/>
          <p:cNvPicPr>
            <a:picLocks noChangeAspect="1"/>
          </p:cNvPicPr>
          <p:nvPr/>
        </p:nvPicPr>
        <p:blipFill>
          <a:blip r:embed="rId3"/>
          <a:stretch>
            <a:fillRect/>
          </a:stretch>
        </p:blipFill>
        <p:spPr>
          <a:xfrm>
            <a:off x="609600" y="1549995"/>
            <a:ext cx="5657850" cy="250825"/>
          </a:xfrm>
          <a:prstGeom prst="rect">
            <a:avLst/>
          </a:prstGeom>
        </p:spPr>
      </p:pic>
      <p:sp>
        <p:nvSpPr>
          <p:cNvPr id="7" name="TextBox 6"/>
          <p:cNvSpPr txBox="1"/>
          <p:nvPr/>
        </p:nvSpPr>
        <p:spPr>
          <a:xfrm>
            <a:off x="609600" y="183604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학생의 한 프레임 </a:t>
            </a:r>
            <a:r>
              <a:rPr sz="1050" b="0" i="1">
                <a:solidFill>
                  <a:srgbClr val="16213A"/>
                </a:solidFill>
                <a:latin typeface="Arial"/>
                <a:ea typeface="Malgun Gothic"/>
                <a:cs typeface="Malgun Gothic"/>
              </a:rPr>
              <a:t>õ^Sₜ ∈ ℝ⁵⁵</a:t>
            </a:r>
            <a:r>
              <a:rPr sz="1050" b="0" i="0">
                <a:solidFill>
                  <a:srgbClr val="16213A"/>
                </a:solidFill>
                <a:latin typeface="Arial"/>
                <a:ea typeface="Malgun Gothic"/>
                <a:cs typeface="Malgun Gothic"/>
              </a:rPr>
              <a:t>는 LiDAR 41개와 나머지 14개(목표, 선속도, 각속도, 직전 명령, 투영 중력)다. LiDAR는 10 Hz라 이력 창은 스캔이 올 때마다 한 칸씩 밀린다(0.9 s). 그 사이에는 최신 스캔과 목표를 붙잡아 두고, 마지막 칸의 고유수용 상태와 직전 명령만 50 Hz로 갱신한다.</a:t>
            </a:r>
          </a:p>
        </p:txBody>
      </p:sp>
      <p:sp>
        <p:nvSpPr>
          <p:cNvPr id="8" name="TextBox 7"/>
          <p:cNvSpPr txBox="1"/>
          <p:nvPr/>
        </p:nvSpPr>
        <p:spPr>
          <a:xfrm>
            <a:off x="609600" y="23579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① 시간 문맥.</a:t>
            </a:r>
            <a:r>
              <a:rPr sz="1050" b="0" i="0">
                <a:solidFill>
                  <a:srgbClr val="16213A"/>
                </a:solidFill>
                <a:latin typeface="Arial"/>
                <a:ea typeface="Malgun Gothic"/>
                <a:cs typeface="Malgun Gothic"/>
              </a:rPr>
              <a:t> 깨끗한 이력 </a:t>
            </a:r>
            <a:r>
              <a:rPr sz="1050" b="0" i="1">
                <a:solidFill>
                  <a:srgbClr val="16213A"/>
                </a:solidFill>
                <a:latin typeface="Arial"/>
                <a:ea typeface="Malgun Gothic"/>
                <a:cs typeface="Malgun Gothic"/>
              </a:rPr>
              <a:t>H̄ᵀₜ ∈ ℝ^(10 × 55)</a:t>
            </a:r>
            <a:r>
              <a:rPr sz="1050" b="0" i="0">
                <a:solidFill>
                  <a:srgbClr val="16213A"/>
                </a:solidFill>
                <a:latin typeface="Arial"/>
                <a:ea typeface="Malgun Gothic"/>
                <a:cs typeface="Malgun Gothic"/>
              </a:rPr>
              <a:t>를 펼쳐 MLP(550→512→256→128→16)에 넣는다.</a:t>
            </a:r>
          </a:p>
        </p:txBody>
      </p:sp>
      <p:sp>
        <p:nvSpPr>
          <p:cNvPr id="9" name="TextBox 8"/>
          <p:cNvSpPr txBox="1"/>
          <p:nvPr/>
        </p:nvSpPr>
        <p:spPr>
          <a:xfrm>
            <a:off x="609600" y="26633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② 동적 궤적.</a:t>
            </a:r>
            <a:r>
              <a:rPr sz="1050" b="0" i="0">
                <a:solidFill>
                  <a:srgbClr val="16213A"/>
                </a:solidFill>
                <a:latin typeface="Arial"/>
                <a:ea typeface="Malgun Gothic"/>
                <a:cs typeface="Malgun Gothic"/>
              </a:rPr>
              <a:t> 시뮬레이터가 인과적으로 유지하는 궤적 가운데 가까운 5개를 쓴다. 궤적 하나는 8차원이다.</a:t>
            </a:r>
          </a:p>
        </p:txBody>
      </p:sp>
      <p:pic>
        <p:nvPicPr>
          <p:cNvPr id="10" name="Picture 9" descr="image.png"/>
          <p:cNvPicPr>
            <a:picLocks noChangeAspect="1"/>
          </p:cNvPicPr>
          <p:nvPr/>
        </p:nvPicPr>
        <p:blipFill>
          <a:blip r:embed="rId4"/>
          <a:stretch>
            <a:fillRect/>
          </a:stretch>
        </p:blipFill>
        <p:spPr>
          <a:xfrm>
            <a:off x="609600" y="2968724"/>
            <a:ext cx="3813175" cy="285750"/>
          </a:xfrm>
          <a:prstGeom prst="rect">
            <a:avLst/>
          </a:prstGeom>
        </p:spPr>
      </p:pic>
      <p:sp>
        <p:nvSpPr>
          <p:cNvPr id="11" name="TextBox 10"/>
          <p:cNvSpPr txBox="1"/>
          <p:nvPr/>
        </p:nvSpPr>
        <p:spPr>
          <a:xfrm>
            <a:off x="609600" y="328146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기준 상대 위치·속도, 외접 반경, 나이에 따른 휴리스틱 불확실성, 정규화된 관측 나이, 보임 여부다. 가려진 궤적은 마지막 속도로 외삽하다 만료한다. </a:t>
            </a:r>
            <a:r>
              <a:rPr sz="1050" b="1" i="0">
                <a:solidFill>
                  <a:srgbClr val="C2410C"/>
                </a:solidFill>
                <a:latin typeface="Arial"/>
                <a:ea typeface="Malgun Gothic"/>
                <a:cs typeface="Malgun Gothic"/>
              </a:rPr>
              <a:t>미래 상태는 보지 않는다.</a:t>
            </a:r>
            <a:r>
              <a:rPr sz="1050" b="0" i="0">
                <a:solidFill>
                  <a:srgbClr val="16213A"/>
                </a:solidFill>
                <a:latin typeface="Arial"/>
                <a:ea typeface="Malgun Gothic"/>
                <a:cs typeface="Malgun Gothic"/>
              </a:rPr>
              <a:t> 교사가 학생이 끝내 알 수 없는 것을 쓰면 흉내 낼 수 없는 행동을 배운다는 지적(Student-Informed Teacher)을 의식한 설계다. 공유 MLP(8→32→64) → 두 머리 자기 attention → 로봇 질의(55→64)로 두 머리 교차 attention을 지나 </a:t>
            </a:r>
            <a:r>
              <a:rPr sz="1050" b="0" i="1">
                <a:solidFill>
                  <a:srgbClr val="16213A"/>
                </a:solidFill>
                <a:latin typeface="Arial"/>
                <a:ea typeface="Malgun Gothic"/>
                <a:cs typeface="Malgun Gothic"/>
              </a:rPr>
              <a:t>z^(T,dyn)ₜ ∈ ℝ¹⁶</a:t>
            </a:r>
            <a:r>
              <a:rPr sz="1050" b="0" i="0">
                <a:solidFill>
                  <a:srgbClr val="16213A"/>
                </a:solidFill>
                <a:latin typeface="Arial"/>
                <a:ea typeface="Malgun Gothic"/>
                <a:cs typeface="Malgun Gothic"/>
              </a:rPr>
              <a:t>이 된다. 궤적이 없으면 0이다.</a:t>
            </a:r>
          </a:p>
        </p:txBody>
      </p:sp>
      <p:sp>
        <p:nvSpPr>
          <p:cNvPr id="12" name="TextBox 11"/>
          <p:cNvSpPr txBox="1"/>
          <p:nvPr/>
        </p:nvSpPr>
        <p:spPr>
          <a:xfrm>
            <a:off x="609600" y="40198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 ③ 융합.</a:t>
            </a:r>
            <a:r>
              <a:rPr sz="1050" b="0" i="0">
                <a:solidFill>
                  <a:srgbClr val="16213A"/>
                </a:solidFill>
                <a:latin typeface="Arial"/>
                <a:ea typeface="Malgun Gothic"/>
                <a:cs typeface="Malgun Gothic"/>
              </a:rPr>
              <a:t> 시간 잠재에는 stop-gradient를 걸고, 동적 잠재는 학습 스칼라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(초기값 1)으로 더한다.</a:t>
            </a:r>
          </a:p>
        </p:txBody>
      </p:sp>
      <p:pic>
        <p:nvPicPr>
          <p:cNvPr id="13" name="Picture 12" descr="image.png"/>
          <p:cNvPicPr>
            <a:picLocks noChangeAspect="1"/>
          </p:cNvPicPr>
          <p:nvPr/>
        </p:nvPicPr>
        <p:blipFill>
          <a:blip r:embed="rId5"/>
          <a:stretch>
            <a:fillRect/>
          </a:stretch>
        </p:blipFill>
        <p:spPr>
          <a:xfrm>
            <a:off x="609600" y="4325243"/>
            <a:ext cx="2755900" cy="250825"/>
          </a:xfrm>
          <a:prstGeom prst="rect">
            <a:avLst/>
          </a:prstGeom>
        </p:spPr>
      </p:pic>
      <p:sp>
        <p:nvSpPr>
          <p:cNvPr id="14" name="TextBox 13"/>
          <p:cNvSpPr txBox="1"/>
          <p:nvPr/>
        </p:nvSpPr>
        <p:spPr>
          <a:xfrm>
            <a:off x="609600" y="46112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 인코더는 Actor 기울기를 받지 않고 가치 손실로만 배운다. 동적 인코더와 </a:t>
            </a:r>
            <a:r>
              <a:rPr sz="1050" b="0" i="1">
                <a:solidFill>
                  <a:srgbClr val="16213A"/>
                </a:solidFill>
                <a:latin typeface="Arial"/>
                <a:ea typeface="Malgun Gothic"/>
                <a:cs typeface="Malgun Gothic"/>
              </a:rPr>
              <a:t>g_(dyn)</a:t>
            </a:r>
            <a:r>
              <a:rPr sz="1050" b="0" i="0">
                <a:solidFill>
                  <a:srgbClr val="16213A"/>
                </a:solidFill>
                <a:latin typeface="Arial"/>
                <a:ea typeface="Malgun Gothic"/>
                <a:cs typeface="Malgun Gothic"/>
              </a:rPr>
              <a:t>은 정책 기울기를 받는다.</a:t>
            </a:r>
          </a:p>
        </p:txBody>
      </p:sp>
      <p:sp>
        <p:nvSpPr>
          <p:cNvPr id="15" name="TextBox 14"/>
          <p:cNvSpPr txBox="1"/>
          <p:nvPr/>
        </p:nvSpPr>
        <p:spPr>
          <a:xfrm>
            <a:off x="609600" y="49166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① 시간 부호화.</a:t>
            </a:r>
            <a:r>
              <a:rPr sz="1050" b="0" i="0">
                <a:solidFill>
                  <a:srgbClr val="16213A"/>
                </a:solidFill>
                <a:latin typeface="Arial"/>
                <a:ea typeface="Malgun Gothic"/>
                <a:cs typeface="Malgun Gothic"/>
              </a:rPr>
              <a:t> 프레임마다 LiDAR는 3층 1D CNN(41→256), 나머지는 2층 MLP(14→64)를 거쳐 합친다(</a:t>
            </a:r>
            <a:r>
              <a:rPr sz="1050" b="0" i="1">
                <a:solidFill>
                  <a:srgbClr val="16213A"/>
                </a:solidFill>
                <a:latin typeface="Arial"/>
                <a:ea typeface="Malgun Gothic"/>
                <a:cs typeface="Malgun Gothic"/>
              </a:rPr>
              <a:t>fₖ ∈ ℝ³²⁰</a:t>
            </a:r>
            <a:r>
              <a:rPr sz="1050" b="0" i="0">
                <a:solidFill>
                  <a:srgbClr val="16213A"/>
                </a:solidFill>
                <a:latin typeface="Arial"/>
                <a:ea typeface="Malgun Gothic"/>
                <a:cs typeface="Malgun Gothic"/>
              </a:rPr>
              <a:t>). 이것을 1층 GRU에 넣는다.</a:t>
            </a:r>
          </a:p>
        </p:txBody>
      </p:sp>
      <p:pic>
        <p:nvPicPr>
          <p:cNvPr id="16" name="Picture 15" descr="image.png"/>
          <p:cNvPicPr>
            <a:picLocks noChangeAspect="1"/>
          </p:cNvPicPr>
          <p:nvPr/>
        </p:nvPicPr>
        <p:blipFill>
          <a:blip r:embed="rId6"/>
          <a:stretch>
            <a:fillRect/>
          </a:stretch>
        </p:blipFill>
        <p:spPr>
          <a:xfrm>
            <a:off x="609600" y="5222081"/>
            <a:ext cx="2200275" cy="241300"/>
          </a:xfrm>
          <a:prstGeom prst="rect">
            <a:avLst/>
          </a:prstGeom>
        </p:spPr>
      </p:pic>
      <p:sp>
        <p:nvSpPr>
          <p:cNvPr id="17" name="TextBox 16"/>
          <p:cNvSpPr txBox="1"/>
          <p:nvPr/>
        </p:nvSpPr>
        <p:spPr>
          <a:xfrm>
            <a:off x="609600" y="54995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 ② Soft-MoE.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h^Sₜ</a:t>
            </a:r>
            <a:r>
              <a:rPr sz="1050" b="0" i="0">
                <a:solidFill>
                  <a:srgbClr val="16213A"/>
                </a:solidFill>
                <a:latin typeface="Arial"/>
                <a:ea typeface="Malgun Gothic"/>
                <a:cs typeface="Malgun Gothic"/>
              </a:rPr>
              <a:t>에 최신 항법 문맥 </a:t>
            </a:r>
            <a:r>
              <a:rPr sz="1050" b="0" i="1">
                <a:solidFill>
                  <a:srgbClr val="16213A"/>
                </a:solidFill>
                <a:latin typeface="Arial"/>
                <a:ea typeface="Malgun Gothic"/>
                <a:cs typeface="Malgun Gothic"/>
              </a:rPr>
              <a:t>χ^Sₜ ∈ ℝ¹¹</a:t>
            </a:r>
            <a:r>
              <a:rPr sz="1050" b="0" i="0">
                <a:solidFill>
                  <a:srgbClr val="16213A"/>
                </a:solidFill>
                <a:latin typeface="Arial"/>
                <a:ea typeface="Malgun Gothic"/>
                <a:cs typeface="Malgun Gothic"/>
              </a:rPr>
              <a:t>(목표, 선·각속도, 직전 명령)을 붙여 </a:t>
            </a:r>
            <a:r>
              <a:rPr sz="1050" b="0" i="1">
                <a:solidFill>
                  <a:srgbClr val="16213A"/>
                </a:solidFill>
                <a:latin typeface="Arial"/>
                <a:ea typeface="Malgun Gothic"/>
                <a:cs typeface="Malgun Gothic"/>
              </a:rPr>
              <a:t>x^Sₜ ∈ ℝ²⁶⁷</a:t>
            </a:r>
            <a:r>
              <a:rPr sz="1050" b="0" i="0">
                <a:solidFill>
                  <a:srgbClr val="16213A"/>
                </a:solidFill>
                <a:latin typeface="Arial"/>
                <a:ea typeface="Malgun Gothic"/>
                <a:cs typeface="Malgun Gothic"/>
              </a:rPr>
              <a:t>을 만든다. 전문가 8개(267→256→128→16)의 출력을 라우터(267→128→64→8, softmax)의 가중치로 섞는다.</a:t>
            </a:r>
          </a:p>
        </p:txBody>
      </p:sp>
      <p:sp>
        <p:nvSpPr>
          <p:cNvPr id="18" name="TextBox 17"/>
          <p:cNvSpPr txBox="1"/>
          <p:nvPr/>
        </p:nvSpPr>
        <p:spPr>
          <a:xfrm>
            <a:off x="609600" y="602148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TAME-Nav의 방법·수식·결과와 한계" 토글에 있다.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TAME-Nav의 계보와 관련 연구(SEA-Nav CBF 수식, 연구 28편)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TAME-Nav에는 세 갈래가 모인다.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특권 정보를 쓰는 교사–학생 증류(Asymmetric AC → Learning by Cheating → 다리 로봇의 특권 교사 → CTS)</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정책 안에 넣은 CBF 방패(SEA-Nav)</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연구실(EIT Wei Zhang)의 LiDAR DRL 로컬 플래너 계열(DRL-DCLP → DRL-NSUO → DCLP++)</a:t>
            </a:r>
          </a:p>
        </p:txBody>
      </p:sp>
      <p:sp>
        <p:nvSpPr>
          <p:cNvPr id="7" name="TextBox 6"/>
          <p:cNvSpPr txBox="1"/>
          <p:nvPr/>
        </p:nvSpPr>
        <p:spPr>
          <a:xfrm>
            <a:off x="609600" y="23391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TAME-Nav가 새로 보탠 것은 둘이다. 교사에게 미래를 보지 않는 동적 궤적을 주는 것, 학생에 밀집 게이팅 MoE를 넣은 것이다.</a:t>
            </a:r>
          </a:p>
        </p:txBody>
      </p:sp>
      <p:sp>
        <p:nvSpPr>
          <p:cNvPr id="8" name="TextBox 7"/>
          <p:cNvSpPr txBox="1"/>
          <p:nvPr/>
        </p:nvSpPr>
        <p:spPr>
          <a:xfrm>
            <a:off x="609600" y="26445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특권 정보와 교사–학생</a:t>
            </a:r>
          </a:p>
        </p:txBody>
      </p:sp>
      <p:graphicFrame>
        <p:nvGraphicFramePr>
          <p:cNvPr id="9" name="Table 8"/>
          <p:cNvGraphicFramePr>
            <a:graphicFrameLocks noGrp="1"/>
          </p:cNvGraphicFramePr>
          <p:nvPr/>
        </p:nvGraphicFramePr>
        <p:xfrm>
          <a:off x="609600" y="2949972"/>
          <a:ext cx="10966449" cy="1939368"/>
        </p:xfrm>
        <a:graphic>
          <a:graphicData uri="http://schemas.openxmlformats.org/drawingml/2006/table">
            <a:tbl>
              <a:tblPr firstRow="1" bandRow="1">
                <a:tableStyleId>{5C22544A-7EE6-4342-B048-85BDC9FD1C3A}</a:tableStyleId>
              </a:tblPr>
              <a:tblGrid>
                <a:gridCol w="3007816"/>
                <a:gridCol w="1677690"/>
                <a:gridCol w="5205809"/>
                <a:gridCol w="10751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했나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Asymmetric Actor Critic(Pinto 외, OpenAI)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RSS 2018, </a:t>
                      </a:r>
                      <a:r>
                        <a:rPr sz="800" b="0" i="0">
                          <a:solidFill>
                            <a:srgbClr val="1D4ED8"/>
                          </a:solidFill>
                          <a:latin typeface="Arial"/>
                          <a:ea typeface="Malgun Gothic"/>
                          <a:cs typeface="Malgun Gothic"/>
                          <a:hlinkClick r:id="rId3"/>
                        </a:rPr>
                        <a:t>arXiv:1710.06542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Critic은 전체 상태, Actor는 영상만 본다. TAME-Nav의 특권 Critic이 이 꼴이다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Learning by Cheating(Chen·Zhou·Koltun·Krähenbühl)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CoRL 2019, </a:t>
                      </a:r>
                      <a:r>
                        <a:rPr sz="800" b="0" i="0">
                          <a:solidFill>
                            <a:srgbClr val="1D4ED8"/>
                          </a:solidFill>
                          <a:latin typeface="Arial"/>
                          <a:ea typeface="Malgun Gothic"/>
                          <a:cs typeface="Malgun Gothic"/>
                          <a:hlinkClick r:id="rId4"/>
                        </a:rPr>
                        <a:t>arXiv:1912.12294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특권 주행 에이전트를 먼저 학습하고 영상 에이전트로 증류한다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Hoeller 외(ETH RSL)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6(3) 2021, </a:t>
                      </a:r>
                      <a:r>
                        <a:rPr sz="800" b="0" i="0">
                          <a:solidFill>
                            <a:srgbClr val="1D4ED8"/>
                          </a:solidFill>
                          <a:latin typeface="Arial"/>
                          <a:ea typeface="Malgun Gothic"/>
                          <a:cs typeface="Malgun Gothic"/>
                          <a:hlinkClick r:id="rId5"/>
                        </a:rPr>
                        <a:t>arXiv:2103.04351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동적 환경용 상태 표현을 따로 배우고 그 위에서 RL 내비 정책을 학습해 ANYmal에 올렸다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DiPCAN(Monaci 외, NAVER LABS Europe)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RSS 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보행자 위치를 아는 교사를 좁은 시야 카메라 학생으로 증류. 군중 내비의 특권 증류 원형이다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CTS(Wang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a:t>
                      </a:r>
                      <a:r>
                        <a:rPr sz="800" b="0" i="0">
                          <a:solidFill>
                            <a:srgbClr val="1D4ED8"/>
                          </a:solidFill>
                          <a:latin typeface="Arial"/>
                          <a:ea typeface="Malgun Gothic"/>
                          <a:cs typeface="Malgun Gothic"/>
                          <a:hlinkClick r:id="rId7"/>
                        </a:rPr>
                        <a:t>arXiv:2405.10830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교사와 학생을 </a:t>
                      </a:r>
                      <a:r>
                        <a:rPr sz="800" b="1" i="0">
                          <a:solidFill>
                            <a:srgbClr val="16213A"/>
                          </a:solidFill>
                          <a:latin typeface="Arial"/>
                          <a:ea typeface="Malgun Gothic"/>
                          <a:cs typeface="Malgun Gothic"/>
                        </a:rPr>
                        <a:t>동시에</a:t>
                      </a:r>
                      <a:r>
                        <a:rPr sz="800" b="0" i="0">
                          <a:solidFill>
                            <a:srgbClr val="16213A"/>
                          </a:solidFill>
                          <a:latin typeface="Arial"/>
                          <a:ea typeface="Malgun Gothic"/>
                          <a:cs typeface="Malgun Gothic"/>
                        </a:rPr>
                        <a:t> 학습한다. 두 단계 학습보다 속도 추종 오차가 최대 20 % 작다. TAME-Nav의 "교사 75 %·학생 25 % 롤아웃"이 이 방식이다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Student-Informed Teacher Training(Messikommer 외, UZH RPG)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ICLR 2025, </a:t>
                      </a:r>
                      <a:r>
                        <a:rPr sz="800" b="0" i="0">
                          <a:solidFill>
                            <a:srgbClr val="1D4ED8"/>
                          </a:solidFill>
                          <a:latin typeface="Arial"/>
                          <a:ea typeface="Malgun Gothic"/>
                          <a:cs typeface="Malgun Gothic"/>
                          <a:hlinkClick r:id="rId8"/>
                        </a:rPr>
                        <a:t>arXiv:2412.09149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교사–학생 행동 차이를 교사 보상에 벌점으로 넣어, 학생이 흉내 낼 수 없는 교사 행동을 막는다</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uzh-rpg/sitt</a:t>
                      </a:r>
                      <a:r>
                        <a:rPr sz="800" b="0" i="0">
                          <a:solidFill>
                            <a:srgbClr val="16213A"/>
                          </a:solidFill>
                          <a:latin typeface="Arial"/>
                          <a:ea typeface="Malgun Gothic"/>
                          <a:cs typeface="Malgun Gothic"/>
                        </a:rPr>
                        <a:t> (GPL-3.0)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GPTS-Nav(Zheng 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RA-L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구조 특권 정보로 LiDAR 내비 학생을 이끈다. </a:t>
                      </a:r>
                      <a:r>
                        <a:rPr sz="800" b="1" i="0">
                          <a:solidFill>
                            <a:srgbClr val="16213A"/>
                          </a:solidFill>
                          <a:latin typeface="Arial"/>
                          <a:ea typeface="Malgun Gothic"/>
                          <a:cs typeface="Malgun Gothic"/>
                        </a:rPr>
                        <a:t>TAME-Nav 참고문헌으로만 확인했다</a:t>
                      </a:r>
                      <a:r>
                        <a:rPr sz="800" b="0" i="0">
                          <a:solidFill>
                            <a:srgbClr val="16213A"/>
                          </a:solidFill>
                          <a:latin typeface="Arial"/>
                          <a:ea typeface="Malgun Gothic"/>
                          <a:cs typeface="Malgun Gothic"/>
                        </a:rPr>
                        <a:t>(arXiv·코드 못 찾음)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10" name="TextBox 9"/>
          <p:cNvSpPr txBox="1"/>
          <p:nvPr/>
        </p:nvSpPr>
        <p:spPr>
          <a:xfrm>
            <a:off x="609600" y="54694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학습 정책과 안전 층</a:t>
            </a:r>
          </a:p>
        </p:txBody>
      </p:sp>
      <p:sp>
        <p:nvSpPr>
          <p:cNvPr id="11" name="TextBox 10"/>
          <p:cNvSpPr txBox="1"/>
          <p:nvPr/>
        </p:nvSpPr>
        <p:spPr>
          <a:xfrm>
            <a:off x="609600" y="57748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TAME-Nav의 계보와 관련 연구(SEA-Nav CBF 수식, 연구 28편)" 토글에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520</a:t>
            </a:r>
          </a:p>
        </p:txBody>
      </p:sp>
      <p:graphicFrame>
        <p:nvGraphicFramePr>
          <p:cNvPr id="5" name="Table 4"/>
          <p:cNvGraphicFramePr>
            <a:graphicFrameLocks noGrp="1"/>
          </p:cNvGraphicFramePr>
          <p:nvPr/>
        </p:nvGraphicFramePr>
        <p:xfrm>
          <a:off x="609600" y="1244600"/>
          <a:ext cx="10966450" cy="3045696"/>
        </p:xfrm>
        <a:graphic>
          <a:graphicData uri="http://schemas.openxmlformats.org/drawingml/2006/table">
            <a:tbl>
              <a:tblPr firstRow="1" bandRow="1">
                <a:tableStyleId>{5C22544A-7EE6-4342-B048-85BDC9FD1C3A}</a:tableStyleId>
              </a:tblPr>
              <a:tblGrid>
                <a:gridCol w="1468636"/>
                <a:gridCol w="1332012"/>
                <a:gridCol w="2307927"/>
                <a:gridCol w="2062559"/>
                <a:gridCol w="1647726"/>
                <a:gridCol w="214759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RL 직접 매핑 + 특권 증류 + CBF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TAME-Nav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LiDAR 이력 + 목표 → 몸체 twist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함정 탈출, CBF로 명령 보정, 시뮬 600지도 SR 78 %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seed·분산 미보고, 평지 2D, 코드 미공개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Controller 참고(plant 무작위화·보행자 교사)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3F0E8"/>
                    </a:solidFill>
                  </a:tcPr>
                </a:tc>
              </a:tr>
            </a:tbl>
          </a:graphicData>
        </a:graphic>
      </p:graphicFrame>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40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520</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4975"/>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520</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520</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520</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520</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520</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2275"/>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5450"/>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87350"/>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520</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520</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67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520</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520</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520</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520</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520</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520</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42900"/>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520</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520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92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520</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96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38125"/>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4650"/>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520</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520</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3225"/>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520</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5450"/>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520</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114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520</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520</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118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520</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「다리·바퀴 로봇과 계보」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520</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0050"/>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520</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5450"/>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520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520</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520</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520</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520</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520</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520</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520</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57200"/>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30200"/>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520</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520</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다리·바퀴 로봇과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150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520</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520</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520</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520</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38125"/>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520</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 같은 연구진의 후속 PASSAGE(B.16.6)는 HumanoidPF를 정책 입력에서 빼고, 사람 동작으로 학습하는 flow 계획기의 학습 손실로만 썼다.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520</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520</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520</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7175"/>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520</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38125"/>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520</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41300"/>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520</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38125"/>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520</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520</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520</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520</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520</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520</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520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520</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520</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520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520</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520</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520</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 마지막 행의 Watch Your Step(2026, B.16.3)은 DTC와 같은 발 디딤을 넘기지만, 밟을 목표가 아니라 정책이 지도를 읽을 위치로 쓴다.</a:t>
            </a:r>
          </a:p>
        </p:txBody>
      </p:sp>
      <p:graphicFrame>
        <p:nvGraphicFramePr>
          <p:cNvPr id="6" name="Table 5"/>
          <p:cNvGraphicFramePr>
            <a:graphicFrameLocks noGrp="1"/>
          </p:cNvGraphicFramePr>
          <p:nvPr/>
        </p:nvGraphicFramePr>
        <p:xfrm>
          <a:off x="609600" y="1766491"/>
          <a:ext cx="10966450" cy="1621392"/>
        </p:xfrm>
        <a:graphic>
          <a:graphicData uri="http://schemas.openxmlformats.org/drawingml/2006/table">
            <a:tbl>
              <a:tblPr firstRow="1" bandRow="1">
                <a:tableStyleId>{5C22544A-7EE6-4342-B048-85BDC9FD1C3A}</a:tableStyleId>
              </a:tblPr>
              <a:tblGrid>
                <a:gridCol w="1338262"/>
                <a:gridCol w="5124847"/>
                <a:gridCol w="2804418"/>
                <a:gridCol w="1698923"/>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Watch Your Step(B.16.3)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목표가 아니라 관측의 위치. 고유감각만 보는 FPM이 예측한 발 디딤 둘의 좌표와 그 둘레 7 × 7 높이(위 층은 속도 명령)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FPM과 정책 모두 50 Hz, FPM은 500 iteration마다 다시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bl>
          </a:graphicData>
        </a:graphic>
      </p:graphicFrame>
      <p:sp>
        <p:nvSpPr>
          <p:cNvPr id="7" name="TextBox 6"/>
          <p:cNvSpPr txBox="1"/>
          <p:nvPr/>
        </p:nvSpPr>
        <p:spPr>
          <a:xfrm>
            <a:off x="717550" y="388848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4191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93008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520</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520</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520</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520</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41300"/>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520</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38125"/>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520</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520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4000"/>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5450"/>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520</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520</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41300"/>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520</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520</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520</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1000"/>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520</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520</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520</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520</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520</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520</a:t>
            </a:r>
          </a:p>
        </p:txBody>
      </p:sp>
      <p:graphicFrame>
        <p:nvGraphicFramePr>
          <p:cNvPr id="5" name="Table 4"/>
          <p:cNvGraphicFramePr>
            <a:graphicFrameLocks noGrp="1"/>
          </p:cNvGraphicFramePr>
          <p:nvPr/>
        </p:nvGraphicFramePr>
        <p:xfrm>
          <a:off x="609600" y="1244600"/>
          <a:ext cx="10966450" cy="3721180"/>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801529">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520</a:t>
            </a:r>
          </a:p>
        </p:txBody>
      </p:sp>
      <p:graphicFrame>
        <p:nvGraphicFramePr>
          <p:cNvPr id="5" name="Table 4"/>
          <p:cNvGraphicFramePr>
            <a:graphicFrameLocks noGrp="1"/>
          </p:cNvGraphicFramePr>
          <p:nvPr/>
        </p:nvGraphicFramePr>
        <p:xfrm>
          <a:off x="609600" y="1244600"/>
          <a:ext cx="10966450" cy="877729"/>
        </p:xfrm>
        <a:graphic>
          <a:graphicData uri="http://schemas.openxmlformats.org/drawingml/2006/table">
            <a:tbl>
              <a:tblPr firstRow="1" bandRow="1">
                <a:tableStyleId>{5C22544A-7EE6-4342-B048-85BDC9FD1C3A}</a:tableStyleId>
              </a:tblPr>
              <a:tblGrid>
                <a:gridCol w="1698625"/>
                <a:gridCol w="1125835"/>
                <a:gridCol w="1854795"/>
                <a:gridCol w="2576116"/>
                <a:gridCol w="1880195"/>
                <a:gridCol w="1349375"/>
                <a:gridCol w="481509"/>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다른 연구실의 휴머노이드(UC Berkeley, CMU LeCAR, Stanford, UC San Diego, 칭화대, HKUST, Amazon FAR,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 PHP, HumanX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520</a:t>
            </a:r>
          </a:p>
        </p:txBody>
      </p:sp>
      <p:pic>
        <p:nvPicPr>
          <p:cNvPr id="5" name="Picture 4" descr="image.jpg"/>
          <p:cNvPicPr>
            <a:picLocks noChangeAspect="1"/>
          </p:cNvPicPr>
          <p:nvPr/>
        </p:nvPicPr>
        <p:blipFill>
          <a:blip r:embed="rId3"/>
          <a:stretch>
            <a:fillRect/>
          </a:stretch>
        </p:blipFill>
        <p:spPr>
          <a:xfrm>
            <a:off x="609600" y="1244600"/>
            <a:ext cx="4070350" cy="2667000"/>
          </a:xfrm>
          <a:prstGeom prst="rect">
            <a:avLst/>
          </a:prstGeom>
        </p:spPr>
      </p:pic>
      <p:sp>
        <p:nvSpPr>
          <p:cNvPr id="6" name="TextBox 5"/>
          <p:cNvSpPr txBox="1"/>
          <p:nvPr/>
        </p:nvSpPr>
        <p:spPr>
          <a:xfrm>
            <a:off x="609600" y="3949700"/>
            <a:ext cx="5410200" cy="127962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45개를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26개는 뒤 연구가 앞 연구의 코드·방법·로봇을 직접 쓴 관계만 잇는다(LocoFormer는 자기 중심 깊이 보행의 무작위화 항목을 넓혀 썼다).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7" name="Picture 6" descr="image.jpg"/>
          <p:cNvPicPr>
            <a:picLocks noChangeAspect="1"/>
          </p:cNvPicPr>
          <p:nvPr/>
        </p:nvPicPr>
        <p:blipFill>
          <a:blip r:embed="rId4"/>
          <a:stretch>
            <a:fillRect/>
          </a:stretch>
        </p:blipFill>
        <p:spPr>
          <a:xfrm>
            <a:off x="6172200" y="1244600"/>
            <a:ext cx="4083050" cy="2667000"/>
          </a:xfrm>
          <a:prstGeom prst="rect">
            <a:avLst/>
          </a:prstGeom>
        </p:spPr>
      </p:pic>
      <p:sp>
        <p:nvSpPr>
          <p:cNvPr id="8" name="TextBox 7"/>
          <p:cNvSpPr txBox="1"/>
          <p:nvPr/>
        </p:nvSpPr>
        <p:spPr>
          <a:xfrm>
            <a:off x="6172200" y="3949700"/>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33개를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21개는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520</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520</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520</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3225"/>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520</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520</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520</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520</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0825"/>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520</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520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520</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520</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520</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520</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520</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520</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68300"/>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520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520</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520</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520</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31800"/>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520</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520</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520</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38125"/>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520</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520</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5450"/>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520</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520</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520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520</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520</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24행)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24행)" 토글에 있다.</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520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
        <p:nvSpPr>
          <p:cNvPr id="9" name="TextBox 8"/>
          <p:cNvSpPr txBox="1"/>
          <p:nvPr/>
        </p:nvSpPr>
        <p:spPr>
          <a:xfrm>
            <a:off x="609600" y="432296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Reflect v1.0 — 임무 VLM까지 RL로 다듬어, 지시 한 문장짜리 여러 층 임무를 끝까지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Reflect v1.0</a:t>
            </a:r>
            <a:r>
              <a:rPr sz="1050" b="0" i="0">
                <a:solidFill>
                  <a:srgbClr val="16213A"/>
                </a:solidFill>
                <a:latin typeface="Arial"/>
                <a:ea typeface="Malgun Gothic"/>
                <a:cs typeface="Malgun Gothic"/>
              </a:rPr>
              <a:t>, Flexion Team, 2026-06-29, 회사 블로그; 기술 보고서·논문 없음, 코드·가중치·데이터 공개 없음). </a:t>
            </a:r>
            <a:r>
              <a:rPr sz="1050" b="1" i="0">
                <a:solidFill>
                  <a:srgbClr val="C2410C"/>
                </a:solidFill>
                <a:latin typeface="Arial"/>
                <a:ea typeface="Malgun Gothic"/>
                <a:cs typeface="Malgun Gothic"/>
              </a:rPr>
              <a:t>RL을 운동 기술에만 쓰지 않고 맨 위 임무 VLM까지 넓혀, 16단계 임무 평가에서 실수 없이 끝까지 간 비율을 SFT 38 %에서 SFT+RL 90 %로 올렸다고 밝혔다.</a:t>
            </a:r>
            <a:r>
              <a:rPr sz="1050" b="0" i="0">
                <a:solidFill>
                  <a:srgbClr val="16213A"/>
                </a:solidFill>
                <a:latin typeface="Arial"/>
                <a:ea typeface="Malgun Gothic"/>
                <a:cs typeface="Malgun Gothic"/>
              </a:rPr>
              <a:t> 로봇은 지시 한 문장을 받는다. 시연의 예는 "계단으로 가서 택배 상자를 가져오고 승강기로 올라와, 상자를 열어 빈 서랍에 넣어라"다. 임무 VLM은 1인칭 카메라 영상으로 진행을 판단하며 구조화된 도구를 하나씩 부른다. 시연 화면의 도구 이름은 </a:t>
            </a:r>
            <a:r>
              <a:rPr sz="1050" b="0" i="0">
                <a:solidFill>
                  <a:srgbClr val="16213A"/>
                </a:solidFill>
                <a:latin typeface="Consolas"/>
                <a:ea typeface="Malgun Gothic"/>
                <a:cs typeface="Malgun Gothic"/>
              </a:rPr>
              <a:t>navigate global</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move to object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drop off box</a:t>
            </a:r>
            <a:r>
              <a:rPr sz="1050" b="0" i="0">
                <a:solidFill>
                  <a:srgbClr val="16213A"/>
                </a:solidFill>
                <a:latin typeface="Arial"/>
                <a:ea typeface="Malgun Gothic"/>
                <a:cs typeface="Malgun Gothic"/>
              </a:rPr>
              <a:t> 같은 것이다. 의미 지도 도구는 건물 스캔으로 자동 생성한다. VLM이 문장으로 구역과 물체를 물으면 전역 경로를 돌려준다. 스캔 센서와 지도 형식은 밝히지 않았다. 운동 층은 하위 과제를 짧은 지평 궤적으로 바꾼다. 실제 데이터로 학습한 VLA와 RL 기술을 섞고, RL 기술은 대부분 Isaac Lab에서 자체 시각 인코더와 표적 도메인 무작위화로 학습했다. 상자를 도구로 여는 동작은 원격조종 데이터로 배운 VLA가 맡는다. 아래 층 Reflex는 그 궤적을 실시간 모터 명령으로 바꾸는 힘 인지 전신 제어기다. 로봇과 형태마다 적은 사람 수고로 학습해 배포한다고 적었고, 구조와 보상은 밝히지 않았다. 임무 VLM에 RL을 쓴 이유는 기성 VLM이 너무 성급하기 때문이다. 앞 도구 호출이 끝났는지 눈으로 확인하지 않고 그럴듯한 다음 호출을 낸다. 실패는 두 단에서 받는다. 운동 층이 RL에서 배운 복구 동작으로 먼저 다시 하고, 하위 목표가 틀어지면 VLM이 카메라 영상으로 알아채 다시 계획한다.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곡선은 단계마다 아직 첫 실수를 하지 않은 시도의 비율이다. 기본 VLM은 2단계에서 0 %가 되고, SFT는 4단계에서 약 68 %로 떨어져 16단계에서 38 %로 끝난다. 시도 수와 평가 환경(실물, 시뮬, 기록 재생)은 적지 않았다. 그 밖의 시연은 100 g–3.5 kg 상자를 집는 정책 하나, 승강기 버튼 누르기, 상자를 든 채 움직이는 장애물 피하기다. 계단 100회 연속 왕복은 회사 영상이 보인다. 배포 전에는 3D Gaussian splatting 기반의 사진 같은 시뮬레이터에서 전체 파이프라인을 시험한다. 3DGS로 학습까지 한 것은 RGB 로컬 내비 정책 하나다(인식 문서 A.8.1의 3DGS 현장 복제 카드). 통신층 FlexComm은 같은 호스트에서 수십–수백 µs이고, ROS DDS보다 최대 40 % 빠르며 CPU를 30 % 덜 쓴다고 적었다. 로봇 기종은 밝히지 않았고, </a:t>
            </a:r>
            <a:r>
              <a:rPr sz="1050" b="0" i="0">
                <a:solidFill>
                  <a:srgbClr val="1D4ED8"/>
                </a:solidFill>
                <a:latin typeface="Arial"/>
                <a:ea typeface="Malgun Gothic"/>
                <a:cs typeface="Malgun Gothic"/>
                <a:hlinkClick r:id="rId3"/>
              </a:rPr>
              <a:t>WIRED</a:t>
            </a:r>
            <a:r>
              <a:rPr sz="1050" b="0" i="0">
                <a:solidFill>
                  <a:srgbClr val="16213A"/>
                </a:solidFill>
                <a:latin typeface="Arial"/>
                <a:ea typeface="Malgun Gothic"/>
                <a:cs typeface="Malgun Gothic"/>
              </a:rPr>
              <a:t>는 개조한 Unitree 휴머노이드라고 적었다. 모델명은 확인하지 못했다. 저자가 밝힌 한계는 좁은 과제 분포, 잡기 어려운 물체, 시각 입력에서 틀리는 VLM의 가정, 일부 실패 유형에만 통하는 복구다.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층을 대 보면 Guidance의 전역 경로가 의미 지도의 전역 경로 자리이고, Planner D와 MPPI가 운동 층(짧은 궤적과 그 추종) 자리다. Reflex 자리에는 학습하지 않는 스워브 plant가 온다. 임무 VLM 층은 travplan에 없다. 가져올 것은 평가 방식이다. 단계마다 아직 첫 실수를 하지 않은 시도의 비율을 그리면, 에피소드 성공률이 감추는 실패 지점이 드러난다. travplan에서는 연석, 경사로, 보행자 구간을 단계로 놓고 같은 곡선을 그릴 수 있다. 두 단 복구는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 TP-0078)과 같은 구조다. 매 스텝의 재계획이 운동 층의 재시도에, 치명 표본이 이어질 때 Guidance 경로로 바꾸는 폴백이 VLM의 재계획에 해당한다. 수치는 가져오지 않는다. 실내 임무이고, 충돌과 여유 거리 지표가 없고, 16단계 평가의 시도 수와 환경을 밝히지 않았다.</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520</a:t>
            </a:r>
          </a:p>
        </p:txBody>
      </p:sp>
      <p:pic>
        <p:nvPicPr>
          <p:cNvPr id="5" name="Picture 4" descr="image.jpg"/>
          <p:cNvPicPr>
            <a:picLocks noChangeAspect="1"/>
          </p:cNvPicPr>
          <p:nvPr/>
        </p:nvPicPr>
        <p:blipFill>
          <a:blip r:embed="rId3"/>
          <a:stretch>
            <a:fillRect/>
          </a:stretch>
        </p:blipFill>
        <p:spPr>
          <a:xfrm>
            <a:off x="1016000" y="1244600"/>
            <a:ext cx="10160000" cy="4229100"/>
          </a:xfrm>
          <a:prstGeom prst="rect">
            <a:avLst/>
          </a:prstGeom>
        </p:spPr>
      </p:pic>
      <p:sp>
        <p:nvSpPr>
          <p:cNvPr id="6" name="TextBox 5"/>
          <p:cNvSpPr txBox="1"/>
          <p:nvPr/>
        </p:nvSpPr>
        <p:spPr>
          <a:xfrm>
            <a:off x="1016000" y="551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(임무 평가): 16단계 임무에서 단계마다 아직 첫 실수를 하지 않은 시도의 비율이다. 기본 VLM은 2단계에서 0 %가 되고, SFT는 16단계에서 38 %, SFT+RL은 90 %로 끝난다. 시도 수와 평가 환경은 글에 없다. 출처: Reflect v1.0</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Reflect v1.0의 층과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520</a:t>
            </a:r>
          </a:p>
        </p:txBody>
      </p:sp>
      <p:graphicFrame>
        <p:nvGraphicFramePr>
          <p:cNvPr id="5" name="Table 4"/>
          <p:cNvGraphicFramePr>
            <a:graphicFrameLocks noGrp="1"/>
          </p:cNvGraphicFramePr>
          <p:nvPr/>
        </p:nvGraphicFramePr>
        <p:xfrm>
          <a:off x="609600" y="1244600"/>
          <a:ext cx="10966449" cy="985440"/>
        </p:xfrm>
        <a:graphic>
          <a:graphicData uri="http://schemas.openxmlformats.org/drawingml/2006/table">
            <a:tbl>
              <a:tblPr firstRow="1" bandRow="1">
                <a:tableStyleId>{5C22544A-7EE6-4342-B048-85BDC9FD1C3A}</a:tableStyleId>
              </a:tblPr>
              <a:tblGrid>
                <a:gridCol w="855166"/>
                <a:gridCol w="6000849"/>
                <a:gridCol w="4110434"/>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임무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지시문과 1인칭 영상을 받아 도구 호출(</a:t>
                      </a:r>
                      <a:r>
                        <a:rPr sz="800" b="0" i="0">
                          <a:solidFill>
                            <a:srgbClr val="16213A"/>
                          </a:solidFill>
                          <a:latin typeface="Consolas"/>
                          <a:ea typeface="Malgun Gothic"/>
                          <a:cs typeface="Malgun Gothic"/>
                        </a:rPr>
                        <a:t>navigate global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move to object</a:t>
                      </a:r>
                      <a:r>
                        <a:rPr sz="800" b="0" i="0">
                          <a:solidFill>
                            <a:srgbClr val="16213A"/>
                          </a:solidFill>
                          <a:latin typeface="Arial"/>
                          <a:ea typeface="Malgun Gothic"/>
                          <a:cs typeface="Malgun Gothic"/>
                        </a:rPr>
                        <a:t> 등)을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VLM, SFT, RL 미세 조정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건물 스캔으로 만든 지도. 문장 질의에 구역·물체와 전역 경로를 준다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형식 미공개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운동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하위 과제를 짧은 지평 궤적으로 바꾼다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실제 데이터 VLA와 Isaac Lab RL 기술, 표적 도메인 무작위화</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모터 명령으로 바꾸며 균형, 구동 한계, 안전을 함께 지킨다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미공개. 로봇마다 적은 수고로 학습한다</a:t>
                      </a:r>
                    </a:p>
                  </a:txBody>
                  <a:tcPr marL="63500" marR="63500" marT="12700" marB="12700">
                    <a:solidFill>
                      <a:srgbClr val="F3F0E8"/>
                    </a:solidFill>
                  </a:tcPr>
                </a:tc>
              </a:tr>
            </a:tbl>
          </a:graphicData>
        </a:graphic>
      </p:graphicFrame>
      <p:sp>
        <p:nvSpPr>
          <p:cNvPr id="6" name="TextBox 5"/>
          <p:cNvSpPr txBox="1"/>
          <p:nvPr/>
        </p:nvSpPr>
        <p:spPr>
          <a:xfrm>
            <a:off x="609600" y="2571651"/>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v0과 달라진 것.</a:t>
            </a:r>
            <a:r>
              <a:rPr sz="1050" b="0" i="0">
                <a:solidFill>
                  <a:srgbClr val="16213A"/>
                </a:solidFill>
                <a:latin typeface="Arial"/>
                <a:ea typeface="Malgun Gothic"/>
                <a:cs typeface="Malgun Gothic"/>
              </a:rPr>
              <a:t> v0(2025-11)은 따로 학습한 기술을 agent가 도구 호출로 엮는 단계였고, diffusion 운동 생성기를 다음 판으로 예고했다. v1.0이 그것을 넣었는지는 글에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언론과 원문의 차이.</a:t>
            </a:r>
            <a:r>
              <a:rPr sz="1050" b="0" i="0">
                <a:solidFill>
                  <a:srgbClr val="16213A"/>
                </a:solidFill>
                <a:latin typeface="Arial"/>
                <a:ea typeface="Malgun Gothic"/>
                <a:cs typeface="Malgun Gothic"/>
              </a:rPr>
              <a:t> WIRED와 TechSpot은 최상위 모델이 사람 영상으로 배운다고 적었지만, v1.0 원문에는 SFT와 RL만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런타임 감시.</a:t>
            </a:r>
            <a:r>
              <a:rPr sz="1050" b="0" i="0">
                <a:solidFill>
                  <a:srgbClr val="16213A"/>
                </a:solidFill>
                <a:latin typeface="Arial"/>
                <a:ea typeface="Malgun Gothic"/>
                <a:cs typeface="Malgun Gothic"/>
              </a:rPr>
              <a:t> 추론 기록부터 커널·네트워크 로그까지 모은다고 적었다.</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520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38125"/>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520</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520</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520</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520</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520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520</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520</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Watch Your Step — 지도를 보지 않는 작은 망이 다음 발 디딤 둘을 예측하고, 정책은 높이 지도에서 그 두 곳의 7 × 7 조각만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arXiv:2610.29612</a:t>
            </a:r>
            <a:r>
              <a:rPr sz="1050" b="0" i="0">
                <a:solidFill>
                  <a:srgbClr val="16213A"/>
                </a:solidFill>
                <a:latin typeface="Arial"/>
                <a:ea typeface="Malgun Gothic"/>
                <a:cs typeface="Malgun Gothic"/>
              </a:rPr>
              <a:t>, Heyrman·C. Li·Dadiotis·Hutter, ETH RSL과 ETH AI Center, 2026-10-21 공개, IEEE 투고;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Unitree G1(29자유도)의 인식 보행 정책이 보는 지형을 693칸에서 102개 값으로 줄였다. 전체 높이 지도는 몸체 기준 1.6 m × 1.0 m를 5 cm 칸(33 × 21)으로 나눈 것이다. 줄이는 일은 FPM(foothold prediction model)이 맡는다. FPM은 은닉층 둘(128, 128)의 MLP이고, 고유감각 70차원만 받아 다음 발 디딤 둘의 평면 위치를 몸체 좌표로 낸다. 입력은 몸체 속도·각속도·중력 방향·속도 명령·관절각·관절 속도다. 높이 지도도, 자기 직전 출력도 보지 않는다. 정책은 두 예측 위치 둘레의 7 × 7 조각과 예측 좌표만 받는다. 조각 하나는 0.35 m 정사각이고, G1의 발 길이는 0.208 m다. 전체 지도는 학습 때 critic만 본다. FPM과 정책은 번갈아 학습한다. 처음 500 iteration은 발 디딤을 몸체 바로 아래로 고정하고 걷기부터 배운다. 그 뒤에는 500 iteration마다 현재 정책을 굴려 전이 50만 개를 모으고, 실제 착지 위치를 라벨로 FPM을 처음부터 다시 맞춘다. 미세 조정하지 않는 이유는 학습 초기의 불안한 걸음새를 물려받지 않게 하려는 것이다.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결과는 세 가지다. 첫째, 학습이 빠르다. 지형 커리큘럼 레벨 5에 7.5k iteration에 닿아, 전체 지도를 보는 MLP(HM, 26.1k)보다 3.5배, 주의 인코더 기준선 AME2(20.0k)보다 2.7배 빠르다. AME2는 이 소절 AME-2 카드의 인코더를 본뜬 기준선이다. 정책 갱신 한 번에 GPU 넷에서 6.3 s가 걸렸고, FPM은 GPU 하나에서 0.55 s였다. 둘째, 디딜 곳이 드문 지형에서 강하다. 1.3 m 폭 복도 시험의 드문 디딤 지형(징검돌 등)에서 74.2%로, AME2 71.7%와 HM 42.7%를 앞선다(표 II). 셋째, 실물 G1에 그대로 옮겨졌다. 학습에 없던 0.55 m 틈과 0.6 m 낙차를 넘었고, 야외 18단 계단을 올랐다. 틈과 낙차 앞에서는 보상하지 않은 감속과 몸 낮추기가 나타났다. 성능을 가른 것은 보는 높이의 수가 아니라 위치다. 같은 수 이상의 높이를 현재 발 둘레(Wild, Miki 2022의 원형 스캔)나 명령 방향 앞(Naive, 200칸)에서 뽑은 기준선은 전체 지도(HM)보다도 나빴다.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지형 관측은 이 논문의 Naive와 같은 모양이다. 로봇 앞 0–2.4 m, 좌우 ±0.6 m의 고정 7 × 5 격자에서 belief cost를 읽고, Naive와 달리 속도에 따라 옮기지도 않는다(</a:t>
            </a:r>
            <a:r>
              <a:rPr sz="1050" b="0" i="0">
                <a:solidFill>
                  <a:srgbClr val="16213A"/>
                </a:solidFill>
                <a:latin typeface="Consolas"/>
                <a:ea typeface="Malgun Gothic"/>
                <a:cs typeface="Malgun Gothic"/>
              </a:rPr>
              <a:t>travplan/control/tiny_policy.py</a:t>
            </a:r>
            <a:r>
              <a:rPr sz="1050" b="0" i="0">
                <a:solidFill>
                  <a:srgbClr val="16213A"/>
                </a:solidFill>
                <a:latin typeface="Arial"/>
                <a:ea typeface="Malgun Gothic"/>
                <a:cs typeface="Malgun Gothic"/>
              </a:rPr>
              <a:t>). 논문에서 Naive는 거의 모든 열에서 가장 나빴다(학습 지형 77.6%, 학습 밖 지형 71.8%). 바퀴 로봇에서 발 디딤에 해당하는 것은 곧 지날 바닥이다.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경로 앞 네 점(0.5·1·2·3 m)을 이미 받는다. 그래서 고정 격자 대신 그 네 점 둘레의 작은 조각을 읽는 변형은 관측 크기를 늘리지 않고 시험할 수 있다. 관측을 바꾸면 Playground의 </a:t>
            </a:r>
            <a:r>
              <a:rPr sz="1050" b="0" i="0">
                <a:solidFill>
                  <a:srgbClr val="16213A"/>
                </a:solidFill>
                <a:latin typeface="Consolas"/>
                <a:ea typeface="Malgun Gothic"/>
                <a:cs typeface="Malgun Gothic"/>
              </a:rPr>
              <a:t>js/policy.js</a:t>
            </a:r>
            <a:r>
              <a:rPr sz="1050" b="0" i="0">
                <a:solidFill>
                  <a:srgbClr val="16213A"/>
                </a:solidFill>
                <a:latin typeface="Arial"/>
                <a:ea typeface="Malgun Gothic"/>
                <a:cs typeface="Malgun Gothic"/>
              </a:rPr>
              <a:t>도 함께 고친다. 그대로 가져오면 안 되는 점도 있다. 저자들이 밝혔듯 이 방식은 밟지 않을 지형을 모두 버려서, 옆에서 다가오는 장애물은 조각에 늦게 들어오거나 아예 들어오지 않는다. travplan의 보행자는 옆에서 다가온다(TP-0154, 720 중 충돌 8건). 정적 지형 채널만 거르고 동적 장애물은 넓은 시야로 따로 받는 구성이 출발점이다. 학습 절차도 참고할 만하다. 관측이 정책 자신의 걸음에 따라 바뀌므로 예측기를 정책의 최신 rollout에 다시 맞춰야 한다. 이 소절이 모은 '생성기와 추종기를 서로에게 맞춰 학습하는 절차'의 또 다른 예다.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520</a:t>
            </a:r>
          </a:p>
        </p:txBody>
      </p:sp>
      <p:pic>
        <p:nvPicPr>
          <p:cNvPr id="5" name="Picture 4" descr="image.jpg"/>
          <p:cNvPicPr>
            <a:picLocks noChangeAspect="1"/>
          </p:cNvPicPr>
          <p:nvPr/>
        </p:nvPicPr>
        <p:blipFill>
          <a:blip r:embed="rId3"/>
          <a:stretch>
            <a:fillRect/>
          </a:stretch>
        </p:blipFill>
        <p:spPr>
          <a:xfrm>
            <a:off x="609600" y="1244600"/>
            <a:ext cx="5410200" cy="2616200"/>
          </a:xfrm>
          <a:prstGeom prst="rect">
            <a:avLst/>
          </a:prstGeom>
        </p:spPr>
      </p:pic>
      <p:sp>
        <p:nvSpPr>
          <p:cNvPr id="6" name="TextBox 5"/>
          <p:cNvSpPr txBox="1"/>
          <p:nvPr/>
        </p:nvSpPr>
        <p:spPr>
          <a:xfrm>
            <a:off x="609600" y="38989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2): 방법 개요다. 정책은 FPM이 예측한 발 디딤 둘레로 거른 높이 지도를 보고 속도 명령을 따른다. 500 iteration마다 (A) 현재 정책의 rollout에서 실제 착지 위치를 얻고, (B) FPM을 처음부터 다시 학습한다. 출처: arXiv:2610.29612</a:t>
            </a:r>
          </a:p>
        </p:txBody>
      </p:sp>
      <p:pic>
        <p:nvPicPr>
          <p:cNvPr id="7" name="Picture 6" descr="image.jpg"/>
          <p:cNvPicPr>
            <a:picLocks noChangeAspect="1"/>
          </p:cNvPicPr>
          <p:nvPr/>
        </p:nvPicPr>
        <p:blipFill>
          <a:blip r:embed="rId4"/>
          <a:stretch>
            <a:fillRect/>
          </a:stretch>
        </p:blipFill>
        <p:spPr>
          <a:xfrm>
            <a:off x="6172200" y="1244600"/>
            <a:ext cx="5410200" cy="2578100"/>
          </a:xfrm>
          <a:prstGeom prst="rect">
            <a:avLst/>
          </a:prstGeom>
        </p:spPr>
      </p:pic>
      <p:sp>
        <p:nvSpPr>
          <p:cNvPr id="8" name="TextBox 7"/>
          <p:cNvSpPr txBox="1"/>
          <p:nvPr/>
        </p:nvSpPr>
        <p:spPr>
          <a:xfrm>
            <a:off x="6172200" y="38608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Watch Your Step (Fig. 4): 실물 G1이 계단과 거친 지형(학습 분포 안), 0.55 m 틈과 0.6 m 낙차(학습 분포 밖)를 지난다. 자홍색 점이 걸음마다 예측한 발 디딤이고, 아래 그래프는 명령 전진 속도와 odometry로 잰 속도다. 출처: arXiv:2610.29612</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Watch Your Step의 학습 절차, 표, 공개 코드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예측하나.</a:t>
            </a:r>
            <a:r>
              <a:rPr sz="1050" b="0" i="0">
                <a:solidFill>
                  <a:srgbClr val="16213A"/>
                </a:solidFill>
                <a:latin typeface="Arial"/>
                <a:ea typeface="Malgun Gothic"/>
                <a:cs typeface="Malgun Gothic"/>
              </a:rPr>
              <a:t> 라벨은 rollout이 끝난 뒤 시간을 거슬러 붙인다. 첫째 발 디딤은 지금 공중에 있거나 곧 뜰 발의 착지 위치이고, 둘째는 다른 발이 다음에 뜬 뒤 처음 닿는 위치다. 둘 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몸체 좌표로 적는다. 라벨이 에피소드 종료(몸체 위치가 0.5 m 넘게 튐)를 넘어가는 창만 가린다. 넘어지기 직전 상태라도 다음 착지가 실제로 있었으면 남긴다. 그래서 무너지기 직전의 걸음새에서도 예측이 맞는다. 손실은 경계 </a:t>
            </a:r>
            <a:r>
              <a:rPr sz="1050" b="0" i="1">
                <a:solidFill>
                  <a:srgbClr val="16213A"/>
                </a:solidFill>
                <a:latin typeface="Arial"/>
                <a:ea typeface="Malgun Gothic"/>
                <a:cs typeface="Malgun Gothic"/>
              </a:rPr>
              <a:t>δ = 0.01</a:t>
            </a:r>
            <a:r>
              <a:rPr sz="1050" b="0" i="0">
                <a:solidFill>
                  <a:srgbClr val="16213A"/>
                </a:solidFill>
                <a:latin typeface="Arial"/>
                <a:ea typeface="Malgun Gothic"/>
                <a:cs typeface="Malgun Gothic"/>
              </a:rPr>
              <a:t>의 Huber다. 기울기가 묶여 있어 에피소드 경계 근처의 이상치가 맞춤을 지배하지 못한다.</a:t>
            </a:r>
          </a:p>
        </p:txBody>
      </p:sp>
      <p:pic>
        <p:nvPicPr>
          <p:cNvPr id="6" name="Picture 5" descr="image.png"/>
          <p:cNvPicPr>
            <a:picLocks noChangeAspect="1"/>
          </p:cNvPicPr>
          <p:nvPr/>
        </p:nvPicPr>
        <p:blipFill>
          <a:blip r:embed="rId3"/>
          <a:stretch>
            <a:fillRect/>
          </a:stretch>
        </p:blipFill>
        <p:spPr>
          <a:xfrm>
            <a:off x="609600" y="1982986"/>
            <a:ext cx="4146550" cy="241300"/>
          </a:xfrm>
          <a:prstGeom prst="rect">
            <a:avLst/>
          </a:prstGeom>
        </p:spPr>
      </p:pic>
      <p:sp>
        <p:nvSpPr>
          <p:cNvPr id="7" name="TextBox 6"/>
          <p:cNvSpPr txBox="1"/>
          <p:nvPr/>
        </p:nvSpPr>
        <p:spPr>
          <a:xfrm>
            <a:off x="609600" y="22605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정책이 보는 것.</a:t>
            </a:r>
            <a:r>
              <a:rPr sz="1050" b="0" i="0">
                <a:solidFill>
                  <a:srgbClr val="16213A"/>
                </a:solidFill>
                <a:latin typeface="Arial"/>
                <a:ea typeface="Malgun Gothic"/>
                <a:cs typeface="Malgun Gothic"/>
              </a:rPr>
              <a:t> 예측 위치를 지도 칸으로 반올림하고 둘레 </a:t>
            </a:r>
            <a:r>
              <a:rPr sz="1050" b="0" i="1">
                <a:solidFill>
                  <a:srgbClr val="16213A"/>
                </a:solidFill>
                <a:latin typeface="Arial"/>
                <a:ea typeface="Malgun Gothic"/>
                <a:cs typeface="Malgun Gothic"/>
              </a:rPr>
              <a:t>k × k</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k = 7</a:t>
            </a:r>
            <a:r>
              <a:rPr sz="1050" b="0" i="0">
                <a:solidFill>
                  <a:srgbClr val="16213A"/>
                </a:solidFill>
                <a:latin typeface="Arial"/>
                <a:ea typeface="Malgun Gothic"/>
                <a:cs typeface="Malgun Gothic"/>
              </a:rPr>
              <a:t>) 칸을 모은다. 지도 경계에서는 칸 번호를 자른다. 정책의 지형 입력은 아래 102개이고, 행동 관측 전체는 상태 70, 직전 행동 29, 지형 102를 이은 201차원이다.</a:t>
            </a:r>
          </a:p>
        </p:txBody>
      </p:sp>
      <p:pic>
        <p:nvPicPr>
          <p:cNvPr id="8" name="Picture 7" descr="image.png"/>
          <p:cNvPicPr>
            <a:picLocks noChangeAspect="1"/>
          </p:cNvPicPr>
          <p:nvPr/>
        </p:nvPicPr>
        <p:blipFill>
          <a:blip r:embed="rId4"/>
          <a:stretch>
            <a:fillRect/>
          </a:stretch>
        </p:blipFill>
        <p:spPr>
          <a:xfrm>
            <a:off x="609600" y="2782391"/>
            <a:ext cx="2120900" cy="241300"/>
          </a:xfrm>
          <a:prstGeom prst="rect">
            <a:avLst/>
          </a:prstGeom>
        </p:spPr>
      </p:pic>
      <p:sp>
        <p:nvSpPr>
          <p:cNvPr id="9" name="TextBox 8"/>
          <p:cNvSpPr txBox="1"/>
          <p:nvPr/>
        </p:nvSpPr>
        <p:spPr>
          <a:xfrm>
            <a:off x="609600" y="30599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정책이 조회 위치를 너무 믿지 않게 두 가지를 섞는다. 에피소드마다 조각 전체를 평면과 높이로 ±0.05 m 옮기되 알려 주는 좌표는 그대로 둔다(예측 어긋남과 odometry 드리프트를 흉내 낸다). 점마다 ±0.1 m 균일 잡음을 더하고 [−1, 1]로 자른다.</a:t>
            </a:r>
          </a:p>
        </p:txBody>
      </p:sp>
      <p:sp>
        <p:nvSpPr>
          <p:cNvPr id="10" name="TextBox 9"/>
          <p:cNvSpPr txBox="1"/>
          <p:nvPr/>
        </p:nvSpPr>
        <p:spPr>
          <a:xfrm>
            <a:off x="609600" y="35817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t>
            </a:r>
            <a:r>
              <a:rPr sz="1050" b="0" i="0">
                <a:solidFill>
                  <a:srgbClr val="16213A"/>
                </a:solidFill>
                <a:latin typeface="Arial"/>
                <a:ea typeface="Malgun Gothic"/>
                <a:cs typeface="Malgun Gothic"/>
              </a:rPr>
              <a:t> RTX 3090 한 장에서 Isaac Lab 환경 8,192개로 PPO를 돌린다. 물리는 200 Hz, 정책은 50 Hz다. 지형은 징검돌 30%, 오르는 계단과 내리는 계단 15%씩, 상자 15%, 오르막과 내리막 7.5%와 5%, 거친 지면 5%, 구덩이 5%, 평지 2.5%의 10단계다. 몸통을 위로 미는 보조 힘이 있다. 평균 레벨 0에서 몸무게의 절반을 받쳐 주고, 평균 레벨 4에서 0이 된다. 드문 지형에서 공중의 발을 고쳐 디디는 법을 배울 여유를 준다고 저자들은 적었다. 대칭은 손실 대신 거울상 전이로 배치를 늘려 다룬다.</a:t>
            </a:r>
          </a:p>
        </p:txBody>
      </p:sp>
      <p:sp>
        <p:nvSpPr>
          <p:cNvPr id="11" name="TextBox 10"/>
          <p:cNvSpPr txBox="1"/>
          <p:nvPr/>
        </p:nvSpPr>
        <p:spPr>
          <a:xfrm>
            <a:off x="609600" y="432018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표 II 발췌(성공률·넘어짐, %).</a:t>
            </a:r>
            <a:r>
              <a:rPr sz="1050" b="0" i="0">
                <a:solidFill>
                  <a:srgbClr val="16213A"/>
                </a:solidFill>
                <a:latin typeface="Arial"/>
                <a:ea typeface="Malgun Gothic"/>
                <a:cs typeface="Malgun Gothic"/>
              </a:rPr>
              <a:t> 다섯 seed, 지형마다 1,000 에피소드다. 성공률은 명령대로 갔다면 간 거리 대비 실제 진행 거리라서 100%는 사실상 닿을 수 없고, 넘어지면 남은 거리를 모두 잃는다.</a:t>
            </a:r>
          </a:p>
        </p:txBody>
      </p:sp>
      <p:sp>
        <p:nvSpPr>
          <p:cNvPr id="12" name="TextBox 11"/>
          <p:cNvSpPr txBox="1"/>
          <p:nvPr/>
        </p:nvSpPr>
        <p:spPr>
          <a:xfrm>
            <a:off x="609600" y="462557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6개(문단·식·그림)는 대시보드 리서치 탭의 "자세히: Watch Your Step의 학습 절차, 표, 공개 코드" 토글에 있다.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520</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520</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520</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520</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520</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520</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520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520</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520</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520</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520</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520</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520</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520</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520</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
        <p:nvSpPr>
          <p:cNvPr id="8" name="TextBox 7"/>
          <p:cNvSpPr txBox="1"/>
          <p:nvPr/>
        </p:nvSpPr>
        <p:spPr>
          <a:xfrm>
            <a:off x="717550" y="44701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9" name="TextBox 8"/>
          <p:cNvSpPr txBox="1"/>
          <p:nvPr/>
        </p:nvSpPr>
        <p:spPr>
          <a:xfrm>
            <a:off x="609600" y="477331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 Pathak이 세운 Skild AI는 RMA의 "이력에서 추정한다"를 맥락 수십 초와 무작위 로봇 10만 대로 키워 LocoFormer(CoRL 2025)를 냈고, 같은 맥락 안 학습을 조작으로 옮긴 S1(2026-08, 블로그 발표)을 내놓았다.</a:t>
            </a:r>
          </a:p>
        </p:txBody>
      </p:sp>
      <p:sp>
        <p:nvSpPr>
          <p:cNvPr id="6" name="TextBox 5"/>
          <p:cNvSpPr txBox="1"/>
          <p:nvPr/>
        </p:nvSpPr>
        <p:spPr>
          <a:xfrm>
            <a:off x="609600" y="1982986"/>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37085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520</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520</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520</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 — 무작위로 만든 로봇 10만 대에서 RL로 배운 transformer 하나가 처음 보는 다리·바퀴 로봇을 몇 초 안에 몰고, 넘어진 시도를 기억해 다음 시도에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arXiv:2509.23745</a:t>
            </a:r>
            <a:r>
              <a:rPr sz="1050" b="0" i="0">
                <a:solidFill>
                  <a:srgbClr val="16213A"/>
                </a:solidFill>
                <a:latin typeface="Arial"/>
                <a:ea typeface="Malgun Gothic"/>
                <a:cs typeface="Malgun Gothic"/>
              </a:rPr>
              <a:t>, Min Liu·Deepak Pathak·Ananye Agarwal, Skild AI, CoRL 2025 최우수 논문 최종 후보,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코드·가중치 비공개). RMA가 0.5 s 이력으로 환경 잠재 8차원을 추정했다면, LocoFormer는 </a:t>
            </a:r>
            <a:r>
              <a:rPr sz="1050" b="1" i="0">
                <a:solidFill>
                  <a:srgbClr val="C2410C"/>
                </a:solidFill>
                <a:latin typeface="Arial"/>
                <a:ea typeface="Malgun Gothic"/>
                <a:cs typeface="Malgun Gothic"/>
              </a:rPr>
              <a:t>맥락을 수십 초로 늘려 로봇의 몸 자체를 추정한다.</a:t>
            </a:r>
            <a:r>
              <a:rPr sz="1050" b="0" i="0">
                <a:solidFill>
                  <a:srgbClr val="16213A"/>
                </a:solidFill>
                <a:latin typeface="Arial"/>
                <a:ea typeface="Malgun Gothic"/>
                <a:cs typeface="Malgun Gothic"/>
              </a:rPr>
              <a:t> 몸 정보(관절 수·길이·질량)는 입력으로 주지 않는다. 처음 보는 로봇 10종(시뮬레이션)에서 영점 성적은 평균 0.96이었다. 로봇마다 따로 학습한 전문가 정책은 0.99였다. 실물은 G1·H1·Go2·Go2-W 넷이다. 무릎 고정, 바퀴 잠금, 죽마, 종아리 절단처럼 학습에 없던 변화도 몇 초에서 수십 초 안에 걷는 법을 다시 찾았다.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비결은 둘이다.</a:t>
            </a:r>
          </a:p>
        </p:txBody>
      </p:sp>
      <p:sp>
        <p:nvSpPr>
          <p:cNvPr id="7" name="TextBox 6"/>
          <p:cNvSpPr txBox="1"/>
          <p:nvPr/>
        </p:nvSpPr>
        <p:spPr>
          <a:xfrm>
            <a:off x="609600" y="2504877"/>
            <a:ext cx="10972800" cy="45839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과제 공간을 넓힌다.</a:t>
            </a:r>
            <a:r>
              <a:rPr sz="1050" b="0" i="0">
                <a:solidFill>
                  <a:srgbClr val="16213A"/>
                </a:solidFill>
                <a:latin typeface="Arial"/>
                <a:ea typeface="Malgun Gothic"/>
                <a:cs typeface="Malgun Gothic"/>
              </a:rPr>
              <a:t> 이족·사족과 그 바퀴형을 절차 생성하고, 관성·이득·관절 한계를 크게 무작위화한다.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맥락을 에피소드 경계 너머로 늘린다.</a:t>
            </a:r>
            <a:r>
              <a:rPr sz="1050" b="0" i="0">
                <a:solidFill>
                  <a:srgbClr val="16213A"/>
                </a:solidFill>
                <a:latin typeface="Arial"/>
                <a:ea typeface="Malgun Gothic"/>
                <a:cs typeface="Malgun Gothic"/>
              </a:rPr>
              <a:t> 한 에피소드 안에서 여러 번 시도하게 하고, 기억을 시도 사이에 넘긴다. 목표는 에피소드 전체의 보상 합이다(RL²와 같은 메타 RL, 배경 0.11·강화학습 R.15).</a:t>
            </a:r>
          </a:p>
        </p:txBody>
      </p:sp>
      <p:pic>
        <p:nvPicPr>
          <p:cNvPr id="8" name="Picture 7" descr="image.jpg"/>
          <p:cNvPicPr>
            <a:picLocks noChangeAspect="1"/>
          </p:cNvPicPr>
          <p:nvPr/>
        </p:nvPicPr>
        <p:blipFill>
          <a:blip r:embed="rId6"/>
          <a:stretch>
            <a:fillRect/>
          </a:stretch>
        </p:blipFill>
        <p:spPr>
          <a:xfrm>
            <a:off x="609600" y="3052167"/>
            <a:ext cx="3981450" cy="2667000"/>
          </a:xfrm>
          <a:prstGeom prst="rect">
            <a:avLst/>
          </a:prstGeom>
        </p:spPr>
      </p:pic>
      <p:sp>
        <p:nvSpPr>
          <p:cNvPr id="9" name="TextBox 8"/>
          <p:cNvSpPr txBox="1"/>
          <p:nvPr/>
        </p:nvSpPr>
        <p:spPr>
          <a:xfrm>
            <a:off x="609600" y="5757267"/>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1): 위 두 줄은 학습 때 본 적 없는 실물(바퀴 달린 이족 모드 Go2-W, 다리 둘만 쓰는 Go2, G1·H1, 죽마를 단 Go2, 다리를 고정한 Go2), 아래 줄은 학습에 쓴 절차 생성 로봇의 예다. 출처: arXiv:2509.23745</a:t>
            </a:r>
          </a:p>
        </p:txBody>
      </p:sp>
      <p:pic>
        <p:nvPicPr>
          <p:cNvPr id="10" name="Picture 9" descr="image.jpg"/>
          <p:cNvPicPr>
            <a:picLocks noChangeAspect="1"/>
          </p:cNvPicPr>
          <p:nvPr/>
        </p:nvPicPr>
        <p:blipFill>
          <a:blip r:embed="rId7"/>
          <a:stretch>
            <a:fillRect/>
          </a:stretch>
        </p:blipFill>
        <p:spPr>
          <a:xfrm>
            <a:off x="6172200" y="3052167"/>
            <a:ext cx="4394200" cy="2667000"/>
          </a:xfrm>
          <a:prstGeom prst="rect">
            <a:avLst/>
          </a:prstGeom>
        </p:spPr>
      </p:pic>
      <p:sp>
        <p:nvSpPr>
          <p:cNvPr id="11" name="TextBox 10"/>
          <p:cNvSpPr txBox="1"/>
          <p:nvPr/>
        </p:nvSpPr>
        <p:spPr>
          <a:xfrm>
            <a:off x="6172200" y="5757267"/>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LocoFormer (Fig. 5): 같은 정책 하나의 실물 적응. A 무릎 고정 → 세 다리로, B 이족 모드에서 시도 1·2는 넘어지고 시도 3에서 선다, C 바퀴를 잠그면 걷고 풀면 다시 구른다, D 죽마, E 다리 한두 개 고정, F 종아리를 잘라내면 7–8 s 뒤 무릎으로 걷는다. 출처: arXiv:2509.23745</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LocoFormer의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 함수(시도를 넘는 에피소드).</a:t>
            </a:r>
            <a:r>
              <a:rPr sz="1050" b="0" i="0">
                <a:solidFill>
                  <a:srgbClr val="16213A"/>
                </a:solidFill>
                <a:latin typeface="Arial"/>
                <a:ea typeface="Malgun Gothic"/>
                <a:cs typeface="Malgun Gothic"/>
              </a:rPr>
              <a:t> 시도(trial)는 초기 상태에서 넘어지거나 끝날 때까지의 궤적 하나다. 에피소드는 같은 MDP(같은 로봇) 안의 시도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개다. 정책은 에피소드 안의 모든 상태·행동을 보고, 에피소드 전체의 할인 보상 합을 키운다(</a:t>
            </a:r>
            <a:r>
              <a:rPr sz="1050" b="0" i="1">
                <a:solidFill>
                  <a:srgbClr val="16213A"/>
                </a:solidFill>
                <a:latin typeface="Arial"/>
                <a:ea typeface="Malgun Gothic"/>
                <a:cs typeface="Malgun Gothic"/>
              </a:rPr>
              <a:t>Hᵢ</a:t>
            </a:r>
            <a:r>
              <a:rPr sz="1050" b="0" i="0">
                <a:solidFill>
                  <a:srgbClr val="16213A"/>
                </a:solidFill>
                <a:latin typeface="Arial"/>
                <a:ea typeface="Malgun Gothic"/>
                <a:cs typeface="Malgun Gothic"/>
              </a:rPr>
              <a:t>는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번째 시도까지의 누적 길이).</a:t>
            </a:r>
          </a:p>
        </p:txBody>
      </p:sp>
      <p:pic>
        <p:nvPicPr>
          <p:cNvPr id="6" name="Picture 5" descr="image.png"/>
          <p:cNvPicPr>
            <a:picLocks noChangeAspect="1"/>
          </p:cNvPicPr>
          <p:nvPr/>
        </p:nvPicPr>
        <p:blipFill>
          <a:blip r:embed="rId3"/>
          <a:stretch>
            <a:fillRect/>
          </a:stretch>
        </p:blipFill>
        <p:spPr>
          <a:xfrm>
            <a:off x="609600" y="1766491"/>
            <a:ext cx="5305425" cy="552450"/>
          </a:xfrm>
          <a:prstGeom prst="rect">
            <a:avLst/>
          </a:prstGeom>
        </p:spPr>
      </p:pic>
      <p:sp>
        <p:nvSpPr>
          <p:cNvPr id="7" name="TextBox 6"/>
          <p:cNvSpPr txBox="1"/>
          <p:nvPr/>
        </p:nvSpPr>
        <p:spPr>
          <a:xfrm>
            <a:off x="609600" y="231209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시도 수를 직접 뽑는 대신 적응 시간 예산 </a:t>
            </a:r>
            <a:r>
              <a:rPr sz="1050" b="0" i="1">
                <a:solidFill>
                  <a:srgbClr val="16213A"/>
                </a:solidFill>
                <a:latin typeface="Arial"/>
                <a:ea typeface="Malgun Gothic"/>
                <a:cs typeface="Malgun Gothic"/>
              </a:rPr>
              <a:t>u ∼ U(0, U)</a:t>
            </a:r>
            <a:r>
              <a:rPr sz="1050" b="0" i="0">
                <a:solidFill>
                  <a:srgbClr val="16213A"/>
                </a:solidFill>
                <a:latin typeface="Arial"/>
                <a:ea typeface="Malgun Gothic"/>
                <a:cs typeface="Malgun Gothic"/>
              </a:rPr>
              <a:t>초를 뽑는다. 정책은 그 시간 안에 몇 번이든 시도하고, 그 뒤 마지막 시도로 평가받는다. 학습은 두 단계다. 처음에는 짧은 시도와 작은 </a:t>
            </a:r>
            <a:r>
              <a:rPr sz="1050" b="0" i="1">
                <a:solidFill>
                  <a:srgbClr val="16213A"/>
                </a:solidFill>
                <a:latin typeface="Arial"/>
                <a:ea typeface="Malgun Gothic"/>
                <a:cs typeface="Malgun Gothic"/>
              </a:rPr>
              <a:t>U</a:t>
            </a:r>
            <a:r>
              <a:rPr sz="1050" b="0" i="0">
                <a:solidFill>
                  <a:srgbClr val="16213A"/>
                </a:solidFill>
                <a:latin typeface="Arial"/>
                <a:ea typeface="Malgun Gothic"/>
                <a:cs typeface="Malgun Gothic"/>
              </a:rPr>
              <a:t>로 적응 행동부터 익히고, 뒤에는 시도와 적응 시간을 늘려 실물 배포에 맞춘다.</a:t>
            </a:r>
          </a:p>
        </p:txBody>
      </p:sp>
      <p:sp>
        <p:nvSpPr>
          <p:cNvPr id="8" name="TextBox 7"/>
          <p:cNvSpPr txBox="1"/>
          <p:nvPr/>
        </p:nvSpPr>
        <p:spPr>
          <a:xfrm>
            <a:off x="609600" y="283398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생성.</a:t>
            </a:r>
            <a:r>
              <a:rPr sz="1050" b="0" i="0">
                <a:solidFill>
                  <a:srgbClr val="16213A"/>
                </a:solidFill>
                <a:latin typeface="Arial"/>
                <a:ea typeface="Malgun Gothic"/>
                <a:cs typeface="Malgun Gothic"/>
              </a:rPr>
              <a:t> 이족, 사족, 바퀴 이족, 바퀴 사족 네 갈래를 절차 생성한다. 시판 로봇의 파라미터는 쓰지 않고 설계 관행만 따른다. 관절 배치·순서, 질량, 무게중심 등을 무작위화한다. 동역학 무작위화는 Agarwal 2022(자기 중심 깊이 보행)의 항목을 쓰되 범위를 훨씬 넓혔다. 시험 로봇에는 이 생성기가 못 만드는 구조도 있다. Berkeley Humanoid는 고관절 roll·yaw 둘 다 기울어져 있고, G1은 관절 축이 x 방향으로 어긋나 있다.</a:t>
            </a:r>
          </a:p>
        </p:txBody>
      </p:sp>
      <p:sp>
        <p:nvSpPr>
          <p:cNvPr id="9" name="TextBox 8"/>
          <p:cNvSpPr txBox="1"/>
          <p:nvPr/>
        </p:nvSpPr>
        <p:spPr>
          <a:xfrm>
            <a:off x="609600" y="357237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 관절 공간.</a:t>
            </a:r>
            <a:r>
              <a:rPr sz="1050" b="0" i="0">
                <a:solidFill>
                  <a:srgbClr val="16213A"/>
                </a:solidFill>
                <a:latin typeface="Arial"/>
                <a:ea typeface="Malgun Gothic"/>
                <a:cs typeface="Malgun Gothic"/>
              </a:rPr>
              <a:t> 요즘 다리 로봇 대부분의 모터 수를 덮는 관절 상위 집합을 이어 붙여 관측과 행동을 통일한다. 정책은 그 공간에서 관절 목표 위치를 내고, 로봇마다 있는 관절만 꺼내 쓴다. 보상은 명령 속도 추종 둘과 벌점·생존 항이다.</a:t>
            </a:r>
          </a:p>
        </p:txBody>
      </p:sp>
      <p:pic>
        <p:nvPicPr>
          <p:cNvPr id="10" name="Picture 9" descr="image.png"/>
          <p:cNvPicPr>
            <a:picLocks noChangeAspect="1"/>
          </p:cNvPicPr>
          <p:nvPr/>
        </p:nvPicPr>
        <p:blipFill>
          <a:blip r:embed="rId4"/>
          <a:stretch>
            <a:fillRect/>
          </a:stretch>
        </p:blipFill>
        <p:spPr>
          <a:xfrm>
            <a:off x="609600" y="4094262"/>
            <a:ext cx="6248400" cy="266700"/>
          </a:xfrm>
          <a:prstGeom prst="rect">
            <a:avLst/>
          </a:prstGeom>
        </p:spPr>
      </p:pic>
      <p:sp>
        <p:nvSpPr>
          <p:cNvPr id="11" name="TextBox 10"/>
          <p:cNvSpPr txBox="1"/>
          <p:nvPr/>
        </p:nvSpPr>
        <p:spPr>
          <a:xfrm>
            <a:off x="609600" y="43942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가중치는 논문에 없다(부록은 항 목록만 준다).</a:t>
            </a:r>
          </a:p>
        </p:txBody>
      </p:sp>
      <p:sp>
        <p:nvSpPr>
          <p:cNvPr id="12" name="TextBox 11"/>
          <p:cNvSpPr txBox="1"/>
          <p:nvPr/>
        </p:nvSpPr>
        <p:spPr>
          <a:xfrm>
            <a:off x="609600" y="46995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Transformer-XL 정책.</a:t>
            </a:r>
            <a:r>
              <a:rPr sz="1050" b="0" i="0">
                <a:solidFill>
                  <a:srgbClr val="16213A"/>
                </a:solidFill>
                <a:latin typeface="Arial"/>
                <a:ea typeface="Malgun Gothic"/>
                <a:cs typeface="Malgun Gothic"/>
              </a:rPr>
              <a:t> 50 Hz 제어에서 5 s는 이미 250토큰이라 보통 transformer로는 맥락이 비싸다. 관측을 MLP로 토큰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에 묻고, 길이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의 구간(segment) 단위로 처리한다. 현재 구간의 키·값을 만들 때 직전 구간의 은닉 상태를 stop-gradient로 이어 붙인다.</a:t>
            </a:r>
          </a:p>
        </p:txBody>
      </p:sp>
      <p:pic>
        <p:nvPicPr>
          <p:cNvPr id="13" name="Picture 12" descr="image.png"/>
          <p:cNvPicPr>
            <a:picLocks noChangeAspect="1"/>
          </p:cNvPicPr>
          <p:nvPr/>
        </p:nvPicPr>
        <p:blipFill>
          <a:blip r:embed="rId5"/>
          <a:stretch>
            <a:fillRect/>
          </a:stretch>
        </p:blipFill>
        <p:spPr>
          <a:xfrm>
            <a:off x="609600" y="5221486"/>
            <a:ext cx="5575300" cy="247650"/>
          </a:xfrm>
          <a:prstGeom prst="rect">
            <a:avLst/>
          </a:prstGeom>
        </p:spPr>
      </p:pic>
      <p:sp>
        <p:nvSpPr>
          <p:cNvPr id="14" name="TextBox 13"/>
          <p:cNvSpPr txBox="1"/>
          <p:nvPr/>
        </p:nvSpPr>
        <p:spPr>
          <a:xfrm>
            <a:off x="609600" y="550227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층마다 한 구간씩 더 뒤를 보므로 유효 맥락은 </a:t>
            </a:r>
            <a:r>
              <a:rPr sz="1050" b="0" i="1">
                <a:solidFill>
                  <a:srgbClr val="16213A"/>
                </a:solidFill>
                <a:latin typeface="Arial"/>
                <a:ea typeface="Malgun Gothic"/>
                <a:cs typeface="Malgun Gothic"/>
              </a:rPr>
              <a:t>O(NL)</a:t>
            </a:r>
            <a:r>
              <a:rPr sz="1050" b="0" i="0">
                <a:solidFill>
                  <a:srgbClr val="16213A"/>
                </a:solidFill>
                <a:latin typeface="Arial"/>
                <a:ea typeface="Malgun Gothic"/>
                <a:cs typeface="Malgun Gothic"/>
              </a:rPr>
              <a:t>이다. 6층, </a:t>
            </a:r>
            <a:r>
              <a:rPr sz="1050" b="0" i="1">
                <a:solidFill>
                  <a:srgbClr val="16213A"/>
                </a:solidFill>
                <a:latin typeface="Arial"/>
                <a:ea typeface="Malgun Gothic"/>
                <a:cs typeface="Malgun Gothic"/>
              </a:rPr>
              <a:t>L = 128</a:t>
            </a:r>
            <a:r>
              <a:rPr sz="1050" b="0" i="0">
                <a:solidFill>
                  <a:srgbClr val="16213A"/>
                </a:solidFill>
                <a:latin typeface="Arial"/>
                <a:ea typeface="Malgun Gothic"/>
                <a:cs typeface="Malgun Gothic"/>
              </a:rPr>
              <a:t>이면 최대 896스텝, 50 Hz로 약 18 s다. 구간이 에피소드 경계를 넘으면 어텐션 마스크로 막는다. 시도 경계는 막지 않는다. 그래서 넘어진 시도가 다음 시도의 맥락에 남는다. Actor와 Critic은 같은 몸통에 MLP 머리를 따로 단다. 배포 때는 KV 캐시에 최근 </a:t>
            </a:r>
            <a:r>
              <a:rPr sz="1050" b="0" i="1">
                <a:solidFill>
                  <a:srgbClr val="16213A"/>
                </a:solidFill>
                <a:latin typeface="Arial"/>
                <a:ea typeface="Malgun Gothic"/>
                <a:cs typeface="Malgun Gothic"/>
              </a:rPr>
              <a:t>2L - 1</a:t>
            </a:r>
            <a:r>
              <a:rPr sz="1050" b="0" i="0">
                <a:solidFill>
                  <a:srgbClr val="16213A"/>
                </a:solidFill>
                <a:latin typeface="Arial"/>
                <a:ea typeface="Malgun Gothic"/>
                <a:cs typeface="Malgun Gothic"/>
              </a:rPr>
              <a:t>스텝만 남겨 계산을 선형으로 줄인다.</a:t>
            </a:r>
          </a:p>
        </p:txBody>
      </p:sp>
      <p:sp>
        <p:nvSpPr>
          <p:cNvPr id="15" name="TextBox 14"/>
          <p:cNvSpPr txBox="1"/>
          <p:nvPr/>
        </p:nvSpPr>
        <p:spPr>
          <a:xfrm>
            <a:off x="609600" y="60241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LocoFormer의 방법·수식·결과와 한계" 토글에 있다.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LocoFormer의 계보와 후속 연구 — 처음 보는 몸을 "설명으로 준다"와 "이력에서 읽는다"의 두 답</a:t>
            </a:r>
            <a:r>
              <a:rPr sz="1050" b="0" i="0">
                <a:solidFill>
                  <a:srgbClr val="16213A"/>
                </a:solidFill>
                <a:latin typeface="Arial"/>
                <a:ea typeface="Malgun Gothic"/>
                <a:cs typeface="Malgun Gothic"/>
              </a:rPr>
              <a:t>(앞선 연구·동시대 연구 15편, 인용 36편 가운데 10편, 2026-10-23 확인). 앞선 연구는 처음 보는 몸을 아는 법에 두 가지로 답했다. 하나는 몸 정보를 입력으로 주는 것이고(URMA, Embodiment Scaling Laws, COMPASS), 다른 하나는 이력에서 읽는 것이다(GenLoco, AnyCar, X-Nav). </a:t>
            </a:r>
            <a:r>
              <a:rPr sz="1050" b="1" i="0">
                <a:solidFill>
                  <a:srgbClr val="C2410C"/>
                </a:solidFill>
                <a:latin typeface="Arial"/>
                <a:ea typeface="Malgun Gothic"/>
                <a:cs typeface="Malgun Gothic"/>
              </a:rPr>
              <a:t>LocoFormer는 이력 쪽 답을 GenLoco의 15스텝에서 수십 초로 키우고, DeepMind AdA의 "Transformer-XL + 여러 시도" 틀을 보행으로 옮겼다.</a:t>
            </a:r>
            <a:r>
              <a:rPr sz="1050" b="0" i="0">
                <a:solidFill>
                  <a:srgbClr val="16213A"/>
                </a:solidFill>
                <a:latin typeface="Arial"/>
                <a:ea typeface="Malgun Gothic"/>
                <a:cs typeface="Malgun Gothic"/>
              </a:rPr>
              <a:t> LocoFormer 본문의 관련 연구 절은 RL², SMP, CrossFormer, URMA, GenLoco, AdA를 들고, GenLoco를 가장 가까운 연구로 지목한다. 바퀴 쪽 연구는 하나도 인용하지 않는다. 2025년의 다른 연구실은 대부분 반대쪽 답을 키웠다. 몸 설명을 명시하고, 전문가 정책을 증류하고, 몸체 수를 늘렸다(Embodiment Scaling Laws 1,012대, URMAv2 다리 로봇 50종).</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인용은 Semantic Scholar 기준 36편이다(2026-10-23). LocoFormer와 수치로 겨룬 논문은 없다. 코드와 가중치가 공개되지 않았기 때문이다. LocoFormer식 암묵 이력 정책을 다시 구현해 기준선으로 쓴 것은 Rapid Embodiment Adaptation 하나다. 공식 코드 대신 비공식 구현이 둘 있다. </a:t>
            </a:r>
            <a:r>
              <a:rPr sz="1050" b="0" i="0">
                <a:solidFill>
                  <a:srgbClr val="1D4ED8"/>
                </a:solidFill>
                <a:latin typeface="Arial"/>
                <a:ea typeface="Malgun Gothic"/>
                <a:cs typeface="Malgun Gothic"/>
                <a:hlinkClick r:id="rId3"/>
              </a:rPr>
              <a:t>lucidrains/locoformer</a:t>
            </a:r>
            <a:r>
              <a:rPr sz="1050" b="0" i="0">
                <a:solidFill>
                  <a:srgbClr val="16213A"/>
                </a:solidFill>
                <a:latin typeface="Arial"/>
                <a:ea typeface="Malgun Gothic"/>
                <a:cs typeface="Malgun Gothic"/>
              </a:rPr>
              <a:t>(MIT, 작업 중, 가중치 없음)와 </a:t>
            </a:r>
            <a:r>
              <a:rPr sz="1050" b="0" i="0">
                <a:solidFill>
                  <a:srgbClr val="1D4ED8"/>
                </a:solidFill>
                <a:latin typeface="Arial"/>
                <a:ea typeface="Malgun Gothic"/>
                <a:cs typeface="Malgun Gothic"/>
                <a:hlinkClick r:id="rId4"/>
              </a:rPr>
              <a:t>BabyLocoFormer</a:t>
            </a:r>
            <a:r>
              <a:rPr sz="1050" b="0" i="0">
                <a:solidFill>
                  <a:srgbClr val="16213A"/>
                </a:solidFill>
                <a:latin typeface="Arial"/>
                <a:ea typeface="Malgun Gothic"/>
                <a:cs typeface="Malgun Gothic"/>
              </a:rPr>
              <a:t>(BSD-3, 저자가 스스로 결과가 나쁘다고 적었다)다. 후속은 네 갈래로 나뉜다.</a:t>
            </a:r>
          </a:p>
        </p:txBody>
      </p:sp>
      <p:graphicFrame>
        <p:nvGraphicFramePr>
          <p:cNvPr id="7" name="Table 6"/>
          <p:cNvGraphicFramePr>
            <a:graphicFrameLocks noGrp="1"/>
          </p:cNvGraphicFramePr>
          <p:nvPr/>
        </p:nvGraphicFramePr>
        <p:xfrm>
          <a:off x="609600" y="3154362"/>
          <a:ext cx="10966451" cy="985440"/>
        </p:xfrm>
        <a:graphic>
          <a:graphicData uri="http://schemas.openxmlformats.org/drawingml/2006/table">
            <a:tbl>
              <a:tblPr firstRow="1" bandRow="1">
                <a:tableStyleId>{5C22544A-7EE6-4342-B048-85BDC9FD1C3A}</a:tableStyleId>
              </a:tblPr>
              <a:tblGrid>
                <a:gridCol w="1768277"/>
                <a:gridCol w="4626273"/>
                <a:gridCol w="4571901"/>
              </a:tblGrid>
              <a:tr h="197088">
                <a:tc>
                  <a:txBody>
                    <a:bodyPr wrap="square"/>
                    <a:lstStyle/>
                    <a:p>
                      <a:r>
                        <a:rPr sz="800" b="1" i="0">
                          <a:solidFill>
                            <a:srgbClr val="F4F1EA"/>
                          </a:solidFill>
                          <a:latin typeface="Arial"/>
                          <a:ea typeface="Malgun Gothic"/>
                          <a:cs typeface="Malgun Gothic"/>
                        </a:rPr>
                        <a:t>갈래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무엇을 바꾸나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긴 맥락 대신 명시 식별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Embodiment Adaptation, Active Embodiment 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짧은 이력에서 관절 범위·몸통 질량 같은 몸 파라미터를 명시적으로 추정한다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규모 대신 효율과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MorFiC(학습 2시간), PolyMorph(RTX 4090 한 장 약 2.7일), PPAL(약 30시간)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LocoFormer의 계산량을 비판하고, 작은 예산에서 몸 정보나 지형 인식을 더한다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시도 사이 맥락을 조작으로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RopeFormer, DexFormer, Gated Memory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시도를 잇는 맥락을 밧줄·손 조작으로 옮긴다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 기반 정책 옮기기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XHugWBC, TRACE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맥락 적응 대신 공간 정렬과 미세 조정으로 몸을 바꾼다</a:t>
                      </a:r>
                    </a:p>
                  </a:txBody>
                  <a:tcPr marL="63500" marR="63500" marT="12700" marB="12700">
                    <a:solidFill>
                      <a:srgbClr val="F3F0E8"/>
                    </a:solidFill>
                  </a:tcPr>
                </a:tc>
              </a:tr>
            </a:tbl>
          </a:graphicData>
        </a:graphic>
      </p:graphicFrame>
      <p:sp>
        <p:nvSpPr>
          <p:cNvPr id="8" name="TextBox 7"/>
          <p:cNvSpPr txBox="1"/>
          <p:nvPr/>
        </p:nvSpPr>
        <p:spPr>
          <a:xfrm>
            <a:off x="609600" y="448141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AnyCar — 같은 질문의 바퀴판, 정책이 아니라 MPPI의 rollout 모델에 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arXiv:2409.15783</a:t>
            </a:r>
            <a:r>
              <a:rPr sz="1050" b="0" i="0">
                <a:solidFill>
                  <a:srgbClr val="16213A"/>
                </a:solidFill>
                <a:latin typeface="Arial"/>
                <a:ea typeface="Malgun Gothic"/>
                <a:cs typeface="Malgun Gothic"/>
              </a:rPr>
              <a:t>, CMU LeCAR Lab, ICRA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바퀴 차량용 범용 순동역학 모델이다. 상태·행동 이력을 토큰으로 읽는 transformer가 차의 크기와 물성이 바뀌어도 이력에서 적응한다. 시뮬레이터 4종의 1억 스텝으로 사전학습하고 실제 데이터 약 2만 개로 미세 조정했다. 20만 매개변수 모델로 50 Hz MPPI(샘플 600개)를 돌렸다. 실내 상태 추정 오차 조건에서, 처음 보는 고속 주행의 추종 오차가 0.57로 전문가 모델(1.26)의 절반이었다(표 II). LocoFormer는 이 연구를 인용하지 않는다. 비슷한 설계의 후속 OptCar는 Controller 문서 E.4에 있다.</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Embodiment Adaptation — LocoFormer식 암묵 이력 정책을 기준선으로 다시 구현하고, 짧은 이력의 명시 식별로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arXiv:2608.01506</a:t>
            </a:r>
            <a:r>
              <a:rPr sz="1050" b="0" i="0">
                <a:solidFill>
                  <a:srgbClr val="16213A"/>
                </a:solidFill>
                <a:latin typeface="Arial"/>
                <a:ea typeface="Malgun Gothic"/>
                <a:cs typeface="Malgun Gothic"/>
              </a:rPr>
              <a:t>, UCSD·TU Darmstadt, 2026-08, 코드 없음). URMA 정책 위에서 짧은 이력으로 관절 범위 배율과 몸통 질량 오차를 추정한다. 시뮬에서 0.4 s 안에 식별했다. 다섯 팔(암묵 이력, 무적응, 명시 추정, 잠재 추정, 정답 조건)을 비교했다. 시뮬에서 두 추정 판은 정답 조건 정책에 다가갔고, 암묵 이력 정책은 대체로 그보다 나빴다. 실물 Go2에서 앞오른쪽 관절을 0.3으로 잠그면 성공률이 80 %로 무적응(20 %)의 네 배였다(표 IV, 조건마다 10회). 표 IV는 열마다 가장 좋은 값을 1로 정규화했고, 1.0이 성공률 80 %다. 실물에서는 암묵 이력 정책을 시험하지 않았다.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RopeFormer — LocoFormer의 구성을 그대로 밧줄 조작에 쓰고, 구동기 명령 지연까지 무작위화한다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arXiv:2609.23432</a:t>
            </a:r>
            <a:r>
              <a:rPr sz="1050" b="0" i="0">
                <a:solidFill>
                  <a:srgbClr val="16213A"/>
                </a:solidFill>
                <a:latin typeface="Arial"/>
                <a:ea typeface="Malgun Gothic"/>
                <a:cs typeface="Malgun Gothic"/>
              </a:rPr>
              <a:t>, UC Berkeley, 2026-09, 코드 공개 예정). Transformer-XL(6층, 8헤드, 구간 128)과 한 에피소드 안의 여러 시도를 LocoFormer에서 그대로 가져왔다. 무작위화에는 밧줄 물성과 함께 구동기 추종 응답, 명령 지연, 동작 한계가 들어간다. 가중치를 고정한 채 실물 H1-2 팔에서 첫 시도에서 셋째 시도로 가며 목표 도달 시간이 30.9 %(Swing), 33.9 %(Twirl) 줄었다. Whip의 평균 적중은 3회 중 0.2회에서 2.3회로 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PolyMorph — 몸 정보를 숨기는 LocoFormer와 반대로 URDF를 토큰으로 넣고, GPU 한 장으로 학습한다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arXiv:2610.19615</a:t>
            </a:r>
            <a:r>
              <a:rPr sz="1050" b="0" i="0">
                <a:solidFill>
                  <a:srgbClr val="16213A"/>
                </a:solidFill>
                <a:latin typeface="Arial"/>
                <a:ea typeface="Malgun Gothic"/>
                <a:cs typeface="Malgun Gothic"/>
              </a:rPr>
              <a:t>, KAIST Hwangbo 연구실(저자와 로봇 Raibo로 판단), 2026-10, 코드 없음). URDF를 관절–링크 토큰으로 바꾸고 GRU, 그래프 Transformer, 관절별 디코더를 지난다. PD 이득은 URDF에서 구한다. RaiSim에서 RTX 4090 한 장으로 약 2.7일 학습했다. 실물 50 m 야외 경로(평지, 경사, 계단, 울퉁불퉁한 지면)에서 사족 20/20, 삼족 20/20, 이족 9/10, 처음 보는 삼족 7/10이었다(표 III). 온보드 추론 지연은 평균 0.366 ms다.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520</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AnyCar (Fig. 2): 시뮬레이터 4종에서 사전학습하고 실제 데이터로 미세 조정한 순동역학 transformer를 MPPI의 rollout 모델로 쓴다. 출처: arXiv:2409.15783</a:t>
            </a:r>
          </a:p>
        </p:txBody>
      </p:sp>
      <p:pic>
        <p:nvPicPr>
          <p:cNvPr id="7" name="Picture 6" descr="image.jpg"/>
          <p:cNvPicPr>
            <a:picLocks noChangeAspect="1"/>
          </p:cNvPicPr>
          <p:nvPr/>
        </p:nvPicPr>
        <p:blipFill>
          <a:blip r:embed="rId4"/>
          <a:stretch>
            <a:fillRect/>
          </a:stretch>
        </p:blipFill>
        <p:spPr>
          <a:xfrm>
            <a:off x="6172200" y="1244600"/>
            <a:ext cx="52197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Embodiment Adaptation (Fig. 1): 짧은 상호작용 이력에서 몸 파라미터를 추정해 URMA 정책에 넣는다. 출처: arXiv:2608.01506</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실제 스워브 파라미터를 모른다(TP-0035). 그래서 URMA나 COMPASS처럼 몸 설명을 줄 수 없고, 이력에서 읽는 쪽으로 가야 한다. 가장 가까운 선례는 AnyCar다. 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지연을 아는 값으로 rollout에 넣었다. AnyCar식이라면 그 자리를 지연과 슬립을 이력에서 읽는 학습 순동역학 모델이 맡고, MPPI 최적화기는 그대로 둔다. Rapid Embodiment Adaptation의 명시 식별은 travplan 구조에 더 잘 맞는다. 짧은 이력에서 지연과 이득을 추정해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rollout에 넣으면, 추정값을 사람이 읽을 수 있고 Planner→Controller 분리도 그대로다. 같은 논문의 다섯 팔은 TP-0150 비교표의 틀로 쓸 수 있다. 무적응(</a:t>
            </a:r>
            <a:r>
              <a:rPr sz="1050" b="0" i="0">
                <a:solidFill>
                  <a:srgbClr val="16213A"/>
                </a:solidFill>
                <a:latin typeface="Consolas"/>
                <a:ea typeface="Malgun Gothic"/>
                <a:cs typeface="Malgun Gothic"/>
              </a:rPr>
              <a:t>mppi</a:t>
            </a:r>
            <a:r>
              <a:rPr sz="1050" b="0" i="0">
                <a:solidFill>
                  <a:srgbClr val="16213A"/>
                </a:solidFill>
                <a:latin typeface="Arial"/>
                <a:ea typeface="Malgun Gothic"/>
                <a:cs typeface="Malgun Gothic"/>
              </a:rPr>
              <a:t>), 정답 지연(</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 추정 지연, 잠재, 암묵 이력이다.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(TP-0128)의 첫 단계는 GenLoco 크기다. 이력 15스텝을 넣고, RopeFormer처럼 명령 지연과 추종 응답을 무작위화한다. 반대 근거도 있다. Dynamics Distillation(</a:t>
            </a:r>
            <a:r>
              <a:rPr sz="1050" b="0" i="0">
                <a:solidFill>
                  <a:srgbClr val="1D4ED8"/>
                </a:solidFill>
                <a:latin typeface="Arial"/>
                <a:ea typeface="Malgun Gothic"/>
                <a:cs typeface="Malgun Gothic"/>
                <a:hlinkClick r:id="rId3"/>
              </a:rPr>
              <a:t>arXiv:2605.01516</a:t>
            </a:r>
            <a:r>
              <a:rPr sz="1050" b="0" i="0">
                <a:solidFill>
                  <a:srgbClr val="16213A"/>
                </a:solidFill>
                <a:latin typeface="Arial"/>
                <a:ea typeface="Malgun Gothic"/>
                <a:cs typeface="Malgun Gothic"/>
              </a:rPr>
              <a:t>)은 학습 분포가 넓으면 현재 상태만 보는 차량 정책도 얼음길에서 버틴다고 보였다(학습에서 얼음을 빼면 주행 거리가 83.4 %에서 40.4 %로 준다). 그래서 "넓은 무작위화 + 현재 관측"과 "이력 15스텝"을 짝 비교로 먼저 가른다. COMPASS는 (v, ω) 명령 위에서 바퀴 Carter와 다리 로봇을 정책 하나로 몬다. Playground의 공통 twist 인터페이스(TP-0135)를 학습 쪽에서 비교할 기준선이다. 코드 출발점은 Embodiment Scaling Laws(BSD-3, 체크포인트 공개), URMA(MIT), 비공식 lucidrains/locoformer(MIT)다. 다만 Embodiment Scaling Laws의 전문가 학습은 GPU 160장으로 약 5일이 들어 travplan 규모를 넘는다.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LocoFormer의 계보 15편과 후속 10편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앞선 연구와 동시대 연구.</a:t>
            </a:r>
            <a:r>
              <a:rPr sz="1050" b="0" i="0">
                <a:solidFill>
                  <a:srgbClr val="16213A"/>
                </a:solidFill>
                <a:latin typeface="Arial"/>
                <a:ea typeface="Malgun Gothic"/>
                <a:cs typeface="Malgun Gothic"/>
              </a:rPr>
              <a:t> 관계 열의 "인용"은 LocoFormer 본문이 그 연구를 인용했다는 뜻이다.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LocoFormer의 계보 15편과 후속 10편" 토글에 있다.</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Skild AI — Pathak·Gupta가 2023년에 세운 회사. 몸체를 가리지 않는 로봇 두뇌 하나를 목표로, 보행에서는 LocoFormer를, 조작에서는 영상 시연 한 편을 맥락에 넣는 S1(2026-08)을 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skild.ai</a:t>
            </a:r>
            <a:r>
              <a:rPr sz="1050" b="0" i="0">
                <a:solidFill>
                  <a:srgbClr val="16213A"/>
                </a:solidFill>
                <a:latin typeface="Arial"/>
                <a:ea typeface="Malgun Gothic"/>
                <a:cs typeface="Malgun Gothic"/>
              </a:rPr>
              <a:t>, 피츠버그, 블로그 12편 2024-07–2026-09). CEO는 Deepak Pathak(CMU), President는 Abhinav Gupta(CMU, 전 Meta 피츠버그 로봇 연구실)다. 회사가 내세우는 구조는 두 층이다. </a:t>
            </a:r>
            <a:r>
              <a:rPr sz="1050" b="1" i="0">
                <a:solidFill>
                  <a:srgbClr val="C2410C"/>
                </a:solidFill>
                <a:latin typeface="Arial"/>
                <a:ea typeface="Malgun Gothic"/>
                <a:cs typeface="Malgun Gothic"/>
              </a:rPr>
              <a:t>낮은 주기의 상위 조작·내비 정책이 높은 주기의 하위 정책에 입력을 주고, 하위 정책이 관절 각도와 토크를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2025-07 블로그</a:t>
            </a:r>
            <a:r>
              <a:rPr sz="1050" b="0" i="0">
                <a:solidFill>
                  <a:srgbClr val="16213A"/>
                </a:solidFill>
                <a:latin typeface="Arial"/>
                <a:ea typeface="Malgun Gothic"/>
                <a:cs typeface="Malgun Gothic"/>
              </a:rPr>
              <a:t>). travplan의 Planner → Controller 분리와 같은 꼴이다. 하위 층의 공개 근거가 LocoFormer이고, 상위 층의 최근 발표가 S1이다. </a:t>
            </a:r>
            <a:r>
              <a:rPr sz="1050" b="1" i="0">
                <a:solidFill>
                  <a:srgbClr val="C2410C"/>
                </a:solidFill>
                <a:latin typeface="Arial"/>
                <a:ea typeface="Malgun Gothic"/>
                <a:cs typeface="Malgun Gothic"/>
              </a:rPr>
              <a:t>논문으로 낸 것은 LocoFormer뿐이다.</a:t>
            </a:r>
            <a:r>
              <a:rPr sz="1050" b="0" i="0">
                <a:solidFill>
                  <a:srgbClr val="16213A"/>
                </a:solidFill>
                <a:latin typeface="Arial"/>
                <a:ea typeface="Malgun Gothic"/>
                <a:cs typeface="Malgun Gothic"/>
              </a:rPr>
              <a:t> Skild Brain과 S1은 블로그 발표만 있다. 가중치, 코드, 논문, 외부 평가가 없다. 그래서 아래 S1 수치는 모두 회사 자체 측정이다.</a:t>
            </a:r>
          </a:p>
        </p:txBody>
      </p:sp>
      <p:graphicFrame>
        <p:nvGraphicFramePr>
          <p:cNvPr id="6" name="Table 5"/>
          <p:cNvGraphicFramePr>
            <a:graphicFrameLocks noGrp="1"/>
          </p:cNvGraphicFramePr>
          <p:nvPr/>
        </p:nvGraphicFramePr>
        <p:xfrm>
          <a:off x="609600" y="2415977"/>
          <a:ext cx="10966450" cy="2740896"/>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2024-07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3억 달러, 기업가치 15억 달러. 2023년 창업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Brain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몸체 무관 2층 구조. "VLM에 로봇 데이터 1 % 미만을 섞은 것"을 로봇 기반 모델이 아니라고 비판. 시뮬과 인터넷 영상으로 사전학습, 표적 실물 데이터로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기반 보행(</a:t>
                      </a:r>
                      <a:r>
                        <a:rPr sz="800" b="0" i="0">
                          <a:solidFill>
                            <a:srgbClr val="1D4ED8"/>
                          </a:solidFill>
                          <a:latin typeface="Arial"/>
                          <a:ea typeface="Malgun Gothic"/>
                          <a:cs typeface="Malgun Gothic"/>
                          <a:hlinkClick r:id="rId5"/>
                        </a:rPr>
                        <a:t>블로그</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휴머노이드가 원시 영상과 관절 피드백에서 모터 명령을 곧장 낸다. "계획도, 지도도, 행동 전환도 없이" 계단·비상계단·팔레트·틈을 건넌다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a:t>
                      </a:r>
                      <a:r>
                        <a:rPr sz="800" b="0" i="0">
                          <a:solidFill>
                            <a:srgbClr val="1D4ED8"/>
                          </a:solidFill>
                          <a:latin typeface="Arial"/>
                          <a:ea typeface="Malgun Gothic"/>
                          <a:cs typeface="Malgun Gothic"/>
                          <a:hlinkClick r:id="rId6"/>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 카드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논문</a:t>
                      </a:r>
                      <a:r>
                        <a:rPr sz="800" b="0" i="0">
                          <a:solidFill>
                            <a:srgbClr val="16213A"/>
                          </a:solidFill>
                          <a:latin typeface="Arial"/>
                          <a:ea typeface="Malgun Gothic"/>
                          <a:cs typeface="Malgun Gothic"/>
                        </a:rPr>
                        <a:t>(CoRL 2025)</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Series 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14억 달러, 기업가치 140억 달러 이상(SoftBank 주도, NVentures 등). 2025년 몇 달 사이 매출 약 3천만 달러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 </a:t>
                      </a:r>
                      <a:r>
                        <a:rPr sz="800" b="0" i="0">
                          <a:solidFill>
                            <a:srgbClr val="1D4ED8"/>
                          </a:solidFill>
                          <a:latin typeface="Arial"/>
                          <a:ea typeface="Malgun Gothic"/>
                          <a:cs typeface="Malgun Gothic"/>
                          <a:hlinkClick r:id="rId7"/>
                        </a:rPr>
                        <a:t>TechCrunch</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ABB·Universal Robots·NVIDIA 제휴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Foxconn의 Blackwell 조립 라인에서 양팔 조립(버스바, 나사 16개). Isaac Lab·Isaac Sim·Cosmos 사용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Zebra 로봇 부문 인수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옛 Fetch Robotics AMR과 창고 오케스트레이션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블로그, 업계 보도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2026-08</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S1</a:t>
                      </a:r>
                      <a:r>
                        <a:rPr sz="800" b="0" i="0">
                          <a:solidFill>
                            <a:srgbClr val="16213A"/>
                          </a:solidFill>
                          <a:latin typeface="Arial"/>
                          <a:ea typeface="Malgun Gothic"/>
                          <a:cs typeface="Malgun Gothic"/>
                        </a:rPr>
                        <a:t>(</a:t>
                      </a:r>
                      <a:r>
                        <a:rPr sz="800" b="0" i="0">
                          <a:solidFill>
                            <a:srgbClr val="1D4ED8"/>
                          </a:solidFill>
                          <a:latin typeface="Arial"/>
                          <a:ea typeface="Malgun Gothic"/>
                          <a:cs typeface="Malgun Gothic"/>
                          <a:hlinkClick r:id="rId8"/>
                        </a:rPr>
                        <a:t>블로그</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 영상 한 편을 맥락에 넣으면 그 일을 한다. 미세조정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블로그(정량은 사내 벤치마크)</a:t>
                      </a:r>
                    </a:p>
                  </a:txBody>
                  <a:tcPr marL="63500" marR="63500" marT="12700" marB="12700">
                    <a:solidFill>
                      <a:srgbClr val="F3F0E8"/>
                    </a:solidFill>
                  </a:tcPr>
                </a:tc>
              </a:tr>
            </a:tbl>
          </a:graphicData>
        </a:graphic>
      </p:graphicFrame>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520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586680"/>
                <a:gridCol w="1821755"/>
                <a:gridCol w="6807895"/>
                <a:gridCol w="1750120"/>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근거의 성격</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ARR 1억 달러 돌파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첫 상용 배포 10개월 뒤, 유료 고객 60곳 이상. 매출의 약 90 %가 조작, 10 %가 이동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회사 블로그(감사받지 않은 자체 수치)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Physical Self-Play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S1 위에서 Isaac Sim 자기 대국 RL로 휴머노이드 축구를 후학습. "시뮬 140년"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블로그, 영상(정량 없음)</a:t>
                      </a:r>
                    </a:p>
                  </a:txBody>
                  <a:tcPr marL="63500" marR="63500" marT="12700" marB="12700">
                    <a:solidFill>
                      <a:srgbClr val="F3F0E8"/>
                    </a:solidFill>
                  </a:tcPr>
                </a:tc>
              </a:tr>
            </a:tbl>
          </a:graphicData>
        </a:graphic>
      </p:graphicFrame>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520</a:t>
            </a:r>
          </a:p>
        </p:txBody>
      </p:sp>
      <p:pic>
        <p:nvPicPr>
          <p:cNvPr id="5" name="Picture 4" descr="image.jpg"/>
          <p:cNvPicPr>
            <a:picLocks noChangeAspect="1"/>
          </p:cNvPicPr>
          <p:nvPr/>
        </p:nvPicPr>
        <p:blipFill>
          <a:blip r:embed="rId3"/>
          <a:stretch>
            <a:fillRect/>
          </a:stretch>
        </p:blipFill>
        <p:spPr>
          <a:xfrm>
            <a:off x="2127250" y="1244600"/>
            <a:ext cx="7937500" cy="4445000"/>
          </a:xfrm>
          <a:prstGeom prst="rect">
            <a:avLst/>
          </a:prstGeom>
        </p:spPr>
      </p:pic>
      <p:sp>
        <p:nvSpPr>
          <p:cNvPr id="6" name="TextBox 5"/>
          <p:cNvSpPr txBox="1"/>
          <p:nvPr/>
        </p:nvSpPr>
        <p:spPr>
          <a:xfrm>
            <a:off x="2127250" y="5727700"/>
            <a:ext cx="7937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Skild AI S1: 프롬프트 영상을 찍는 세 방법. 머리에 단 카메라로 찍은 사람 손, VR 원격 조종, 손에 드는 그리퍼(UMI식). 어느 것이든 맥락에 넣으면 정책이 자기 몸과 지금 장면으로 옮겨 실행한다고 한다. 출처: Skild AI 블로그 "Introducing S1"(2026-08)</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S1의 주장·수치와 읽는 법, Skild 사람들의 관련 논문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S1이 무엇인가.</a:t>
            </a:r>
            <a:r>
              <a:rPr sz="1050" b="0" i="0">
                <a:solidFill>
                  <a:srgbClr val="16213A"/>
                </a:solidFill>
                <a:latin typeface="Arial"/>
                <a:ea typeface="Malgun Gothic"/>
                <a:cs typeface="Malgun Gothic"/>
              </a:rPr>
              <a:t> 회사 표현으로는 "처음부터 맥락 안 학습기(in-context learner)로 만든 대표 로봇 기반 모델"이다. 과제를 언어로 주지 않고 </a:t>
            </a:r>
            <a:r>
              <a:rPr sz="1050" b="1" i="0">
                <a:solidFill>
                  <a:srgbClr val="16213A"/>
                </a:solidFill>
                <a:latin typeface="Arial"/>
                <a:ea typeface="Malgun Gothic"/>
                <a:cs typeface="Malgun Gothic"/>
              </a:rPr>
              <a:t>시연 영상</a:t>
            </a:r>
            <a:r>
              <a:rPr sz="1050" b="0" i="0">
                <a:solidFill>
                  <a:srgbClr val="16213A"/>
                </a:solidFill>
                <a:latin typeface="Arial"/>
                <a:ea typeface="Malgun Gothic"/>
                <a:cs typeface="Malgun Gothic"/>
              </a:rPr>
              <a:t>으로 준다. 시연은 다른 장면, 다른 시점, 다른 몸(사람 손)에서 와도 된다. 사전학습 데이터의 에피소드마다 과제를 맥락 속 시연으로만 지정한다. 그래서 정책이 시연자의 의도, 기능적 대응(어느 물체가 어느 물체 역할인가), 과제 진행을 스스로 읽어야 한다. 블로그는 이것을 메타 학습으로 설명한다. 사전학습이 바깥 고리이고, 가중치를 바꾸지 않는 맥락 속 시연이 안쪽 고리다. </a:t>
            </a:r>
            <a:r>
              <a:rPr sz="1050" b="1" i="0">
                <a:solidFill>
                  <a:srgbClr val="C2410C"/>
                </a:solidFill>
                <a:latin typeface="Arial"/>
                <a:ea typeface="Malgun Gothic"/>
                <a:cs typeface="Malgun Gothic"/>
              </a:rPr>
              <a:t>LocoFormer의 "이전 시도를 맥락에 두고 다음 시도에 고친다"를 조작으로 옮긴 셈이다.</a:t>
            </a:r>
            <a:r>
              <a:rPr sz="1050" b="0" i="0">
                <a:solidFill>
                  <a:srgbClr val="16213A"/>
                </a:solidFill>
                <a:latin typeface="Arial"/>
                <a:ea typeface="Malgun Gothic"/>
                <a:cs typeface="Malgun Gothic"/>
              </a:rPr>
              <a:t> 회사 연표도 2025-09 LocoFormer → 2026-02 첫 맥락 안 학습 결과 → 2026-08 S1로 잇는다.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원천은 넷이다. 원격 조종(하드웨어에 가깝지만 다양성·확장성이 낮다), UMI식 손 그리퍼(중간), 1인칭 사람 영상(다양성·확장성이 높고 하드웨어와 멀다), 시뮬레이션이다. "데이터 수집에 1달러를 쓰면 품질 관리에 3달러를 쓴다"고 적었다. 데이터 혼합 비율, 모델 구조, 매개변수 수, 행동 공간, 제어 주기, 지연, 추론 하드웨어는 밝히지 않았다.</a:t>
            </a:r>
          </a:p>
        </p:txBody>
      </p:sp>
      <p:sp>
        <p:nvSpPr>
          <p:cNvPr id="7" name="TextBox 6"/>
          <p:cNvSpPr txBox="1"/>
          <p:nvPr/>
        </p:nvSpPr>
        <p:spPr>
          <a:xfrm>
            <a:off x="609600" y="272137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S1의 주장·수치와 읽는 법, Skild 사람들의 관련 논문" 토글에 있다.</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520</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520</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520</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520</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47650"/>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520</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2365056"/>
        </p:xfrm>
        <a:graphic>
          <a:graphicData uri="http://schemas.openxmlformats.org/drawingml/2006/table">
            <a:tbl>
              <a:tblPr firstRow="1" bandRow="1">
                <a:tableStyleId>{5C22544A-7EE6-4342-B048-85BDC9FD1C3A}</a:tableStyleId>
              </a:tblPr>
              <a:tblGrid>
                <a:gridCol w="995561"/>
                <a:gridCol w="4177903"/>
                <a:gridCol w="5792986"/>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 LocoFormer 2저자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Ananye Agarwal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자기 중심 깊이 보행 1저자, Extreme Parkour 3저자, LocoFormer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Min Liu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LocoFormer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Skild AI(LocoFormer 소속 표기)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Abhinav Gupta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공동 창업자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Skild AI President(2026-09 블로그 서명), CMU 교수, 전 Meta 피츠버그 로봇 연구실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FFDF8"/>
                    </a:solidFill>
                  </a:tcPr>
                </a:tc>
              </a:tr>
            </a:tbl>
          </a:graphicData>
        </a:graphic>
      </p:graphicFrame>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6" name="TextBox 5"/>
          <p:cNvSpPr txBox="1"/>
          <p:nvPr/>
        </p:nvSpPr>
        <p:spPr>
          <a:xfrm>
            <a:off x="609600" y="154781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Georgia Tech의 GM-Loco는 알갱이 접촉 모델로 학습한 G1을 실제 모래 위에서 걷게 했다. 둘째는 사람 동작 추종이다. CMU LeCAR Lab(Guanya Shi)은 원격조종(H2O·OmniH2O)에서 시작해, 실물 기록으로 시뮬레이터를 고치는 ASAP으로 갔다. Stanford(HumanPlus)와 UC San Diego(ExBody)는 사람 동작 데이터로 Unitree H1을 움직였다. HKUST의 HumanX는 영상 한 편에서 물체 상호작용까지 합성해 G1이 공을 다루게 했다. 셋째는 지형이나 과제 비용을 보는 정책이다. Humanoid Parkour와 Amazon FAR의 PHP는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27행)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520</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27행)" 토글에 있다.</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520</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41300"/>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520</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520</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520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520</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520</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GM-Loco — 접선력까지 3D RFT로 푼 알갱이 접촉 모델로 학습해, G1이 실제 모래 위를 2.5 m/s 명령까지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arXiv:2609.10286</a:t>
            </a:r>
            <a:r>
              <a:rPr sz="1050" b="0" i="0">
                <a:solidFill>
                  <a:srgbClr val="16213A"/>
                </a:solidFill>
                <a:latin typeface="Arial"/>
                <a:ea typeface="Malgun Gothic"/>
                <a:cs typeface="Malgun Gothic"/>
              </a:rPr>
              <a:t>, Kamohara·Wu·Zong·Goldman·Nakka·Hutchinson·Zhao, Georgia Tech·Northeastern, arXiv 2026-09-14(v2), 학회 게재는 확인하지 못했다;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공개 코드는 찾지 못했다(2026-10-25)). </a:t>
            </a:r>
            <a:r>
              <a:rPr sz="1050" b="1" i="0">
                <a:solidFill>
                  <a:srgbClr val="C2410C"/>
                </a:solidFill>
                <a:latin typeface="Arial"/>
                <a:ea typeface="Malgun Gothic"/>
                <a:cs typeface="Malgun Gothic"/>
              </a:rPr>
              <a:t>강체 접촉으로 학습한 정책은 시뮬레이션의 모래와 양귀비씨 위에서 한 번도 성공하지 못했고, 알갱이 접촉으로 학습한 정책은 모두 성공했다.</a:t>
            </a:r>
            <a:r>
              <a:rPr sz="1050" b="0" i="0">
                <a:solidFill>
                  <a:srgbClr val="16213A"/>
                </a:solidFill>
                <a:latin typeface="Arial"/>
                <a:ea typeface="Malgun Gothic"/>
                <a:cs typeface="Malgun Gothic"/>
              </a:rPr>
              <a:t> 저자들은 알갱이 지면 위의 민첩한(agile) 휴머노이드 보행을 실물에서 처음 보였다고 주장한다. B.16.5의 변형 지형 보행(KAIST, 사족)은 수직력만 입자 물리로 두고 수평력은 쿨롱 마찰로 채웠다. GM-Loco는 이 원뿔 계열이 접선력을 휴리스틱으로 채운다고 지적하고, 수직력과 접선력을 한 식에서 낸다.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a:t>
            </a:r>
            <a:r>
              <a:rPr sz="1050" b="0" i="0">
                <a:solidFill>
                  <a:srgbClr val="16213A"/>
                </a:solidFill>
                <a:latin typeface="Arial"/>
                <a:ea typeface="Malgun Gothic"/>
                <a:cs typeface="Malgun Gothic"/>
              </a:rPr>
              <a:t> 3D RFT(resistive force theory)는 지면에 박힌 발 표면의 각 조각이 깊이에 비례하는 저항을 받는다고 본다. 발마다 충돌 점 격자를 두고, 지면 아래로 들어간 점의 힘을 더해 발목 기준 렌치 하나로 전신 동역학에 넣는다. MILD처럼 점마다 접촉 야코비안을 두지 않고 발마다 렌치 하나로 합쳐 계산이 싸다. 저자들은 NVIDIA Warp로 짠 이 모델이 RTX 4090 한 장에서 초당 수십만 프레임을 낸다고 적는다. 학습은 Isaac Lab에서 환경 4,096개로 했다. 평가에는 이 모델을 쓰지 않고 Newton의 MPM(연속체 입자)으로 알갱이를, MuJoCo Warp로 로봇의 강체 접촉을 푼다(시뮬레이션 문서 S.1.2).</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 비교(Fig. 4–5).</a:t>
            </a:r>
            <a:r>
              <a:rPr sz="1050" b="0" i="0">
                <a:solidFill>
                  <a:srgbClr val="16213A"/>
                </a:solidFill>
                <a:latin typeface="Arial"/>
                <a:ea typeface="Malgun Gothic"/>
                <a:cs typeface="Malgun Gothic"/>
              </a:rPr>
              <a:t> 35 kg 상자를 지면 0.1 m 위에서 1.0 m/s로 던져 MPM과 비교하면, 3D RFT의 이동 거리와 침하가 MPM에 가장 가까웠다. 2D RFT에 쿨롱 마찰을 더한 Heuristic-RFT는 옆 방향 힘을 내지 못했다. 원뿔 모델을 한 점에 거는 Cone-RFT-Single은 큰 발에서 지나치게 미끄러져 정책 비교에서 뺐다.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교사는 특권 관측과 고유감각 이력을 VAE 인코더로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담고, PPO로 배운다(비대칭 actor–critic). 디코더는 지면 세기 하나만 복원한다. 그래서 잠재가 지형 재질에 집중한다. 학생은 고유감각 이력만 TCN으로 읽어 교사의 잠재와 행동을 따라 한다(DAgger식 증류). 정책은 50 Hz로 관절 위치 오프셋 29개를 내고, PD와 물리는 200 Hz다. 학습 중에는 단단한 바닥을 점점 낮춰, 로봇이 단단한 지면에서 먼저 걷고 나중에 무른 지면을 겪게 한다.</a:t>
            </a:r>
          </a:p>
        </p:txBody>
      </p:sp>
      <p:sp>
        <p:nvSpPr>
          <p:cNvPr id="8" name="TextBox 7"/>
          <p:cNvSpPr txBox="1"/>
          <p:nvPr/>
        </p:nvSpPr>
        <p:spPr>
          <a:xfrm>
            <a:off x="609600" y="345975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결과(MPM 시뮬레이션, 표 I–II).</a:t>
            </a:r>
          </a:p>
        </p:txBody>
      </p:sp>
      <p:sp>
        <p:nvSpPr>
          <p:cNvPr id="9" name="TextBox 8"/>
          <p:cNvSpPr txBox="1"/>
          <p:nvPr/>
        </p:nvSpPr>
        <p:spPr>
          <a:xfrm>
            <a:off x="609600" y="376515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현무암·모래·양귀비씨 세 지형에서 이 정책의 성공률은 모두 100 %였다. 강체 접촉으로 학습한 PPO는 현무암에서 98 %, 모래와 양귀비씨에서 0 %였다.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3D RFT로 학습한 PPO(교사–학생 없음)도 100 %였다. 차이는 추종 오차에 있다. 현무암에서 방향 오차가 0.93° 대 2.71°였다.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깊은 모래 걷기의 성공률은 3D RFT 85 %, Heuristic-RFT 3 %, Cone-RFT-Multi 8 %였다. 경로 오차(DTW)도 3D RFT가 0.133 m로 가장 작았다(Heuristic-RFT 0.492 m, Cone-RFT-Multi 0.353 m). 세 과제 모두 3D RFT가 가장 좋았다.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지면이 단단한 층에서 무른 층으로 바뀌면, 추정한 지면 세기가 떨어지고 발 들기 높이가 약 9 cm에서 약 16 cm로 오른다(Fig. 9).</a:t>
            </a:r>
          </a:p>
        </p:txBody>
      </p:sp>
      <p:sp>
        <p:nvSpPr>
          <p:cNvPr id="10" name="TextBox 9"/>
          <p:cNvSpPr txBox="1"/>
          <p:nvPr/>
        </p:nvSpPr>
        <p:spPr>
          <a:xfrm>
            <a:off x="609600" y="5012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결과(실물 G1).</a:t>
            </a:r>
            <a:r>
              <a:rPr sz="1050" b="0" i="0">
                <a:solidFill>
                  <a:srgbClr val="16213A"/>
                </a:solidFill>
                <a:latin typeface="Arial"/>
                <a:ea typeface="Malgun Gothic"/>
                <a:cs typeface="Malgun Gothic"/>
              </a:rPr>
              <a:t> 현무암, 비치발리볼 코트 모래, 해변에서 시험했다. 명령 속도는 0.5–2.5 m/s다.</a:t>
            </a:r>
          </a:p>
        </p:txBody>
      </p:sp>
      <p:sp>
        <p:nvSpPr>
          <p:cNvPr id="11" name="TextBox 10"/>
          <p:cNvSpPr txBox="1"/>
          <p:nvPr/>
        </p:nvSpPr>
        <p:spPr>
          <a:xfrm>
            <a:off x="609600" y="5318125"/>
            <a:ext cx="10972800" cy="21649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강체 접촉 정책은 마른 모래에서 1.0 m/s까지 따라갔고, 1.5 m/s를 넘으면 실패했다. 현무암에서는 모든 속도에서 실패했다.</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520</a:t>
            </a:r>
          </a:p>
        </p:txBody>
      </p:sp>
      <p:sp>
        <p:nvSpPr>
          <p:cNvPr id="5" name="TextBox 4"/>
          <p:cNvSpPr txBox="1"/>
          <p:nvPr/>
        </p:nvSpPr>
        <p:spPr>
          <a:xfrm>
            <a:off x="609600" y="1244600"/>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3D RFT로 학습한 두 정책은 전 구간을 걸었고, 현무암에서는 교사–학생 정책의 속도 추종이 모든 속도에서 더 좋았다. 마른 모래에서는 1.0 m/s까지 셋이 비슷했고, 빠른 속도에서 교사–학생 정책이 가장 좋았다. 수치는 그림에만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마른 모래 1.5 m/s에서 이 정책의 발목 pitch 최대 토크가 두 기준선보다 낮았다. 무른 모래 더미를 지날 때 PPO는 발을 끌며 토크가 튀었고, 이 정책은 발 들기 높이를 양수로 지켰다(Fig. 10).</a:t>
            </a:r>
          </a:p>
        </p:txBody>
      </p:sp>
      <p:sp>
        <p:nvSpPr>
          <p:cNvPr id="6" name="TextBox 5"/>
          <p:cNvSpPr txBox="1"/>
          <p:nvPr/>
        </p:nvSpPr>
        <p:spPr>
          <a:xfrm>
            <a:off x="609600" y="20083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저자들은 경사·물결 지형과 모래 위의 에너지 효율 걸음을 다음 일로 든다. 우리가 보기에:</a:t>
            </a:r>
          </a:p>
        </p:txBody>
      </p:sp>
      <p:sp>
        <p:nvSpPr>
          <p:cNvPr id="7" name="TextBox 6"/>
          <p:cNvSpPr txBox="1"/>
          <p:nvPr/>
        </p:nvSpPr>
        <p:spPr>
          <a:xfrm>
            <a:off x="609600" y="231378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기여 목록은 점프를 시뮬레이션과 실물에서 보였다고 적지만, 본문의 점프 결과는 시뮬레이션(Fig. 6)뿐이다.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 모델의 기준은 MPM이다. MPM도 연속체 근사이고, 실제 모래와의 비교는 실물 보행 결과뿐이다.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실물 결과는 로봇 한 대와 지형 세 곳이다. 시도 횟수와 실물 성공률은 적혀 있지 않다.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도메인 무작위화 범위와 보상은 프로젝트 페이지에 있다고 적었지만, 본문에는 없다.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520</a:t>
            </a:r>
          </a:p>
        </p:txBody>
      </p:sp>
      <p:pic>
        <p:nvPicPr>
          <p:cNvPr id="5" name="Picture 4" descr="image.jpg"/>
          <p:cNvPicPr>
            <a:picLocks noChangeAspect="1"/>
          </p:cNvPicPr>
          <p:nvPr/>
        </p:nvPicPr>
        <p:blipFill>
          <a:blip r:embed="rId3"/>
          <a:stretch>
            <a:fillRect/>
          </a:stretch>
        </p:blipFill>
        <p:spPr>
          <a:xfrm>
            <a:off x="609600" y="1244600"/>
            <a:ext cx="4337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2): 알갱이 접촉 모델. 발이 박힌 깊이, 속도 방향의 각, 발의 자세로 발의 접촉 힘 F와 모멘트 M을 낸다. 출처: arXiv:2609.10286</a:t>
            </a:r>
          </a:p>
        </p:txBody>
      </p:sp>
      <p:pic>
        <p:nvPicPr>
          <p:cNvPr id="7" name="Picture 6" descr="image.jpg"/>
          <p:cNvPicPr>
            <a:picLocks noChangeAspect="1"/>
          </p:cNvPicPr>
          <p:nvPr/>
        </p:nvPicPr>
        <p:blipFill>
          <a:blip r:embed="rId4"/>
          <a:stretch>
            <a:fillRect/>
          </a:stretch>
        </p:blipFill>
        <p:spPr>
          <a:xfrm>
            <a:off x="6172200" y="1244600"/>
            <a:ext cx="3219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GM-Loco (Fig. 3): 두 단계 학습. 먼저 VAE 지형 인코더와 MLP 정책으로 된 특권 교사를 배우고, 그다음 배포용 학생에 증류한다. 출처: arXiv:2609.10286</a:t>
            </a:r>
          </a:p>
        </p:txBody>
      </p:sp>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GM-Loco의 접촉 모델·학습 식과 접촉 모델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힘.</a:t>
            </a:r>
            <a:r>
              <a:rPr sz="1050" b="0" i="0">
                <a:solidFill>
                  <a:srgbClr val="16213A"/>
                </a:solidFill>
                <a:latin typeface="Arial"/>
                <a:ea typeface="Malgun Gothic"/>
                <a:cs typeface="Malgun Gothic"/>
              </a:rPr>
              <a:t> 발 표면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에서 지면 아래로 들어간 부분(</a:t>
            </a:r>
            <a:r>
              <a:rPr sz="1050" b="0" i="1">
                <a:solidFill>
                  <a:srgbClr val="16213A"/>
                </a:solidFill>
                <a:latin typeface="Arial"/>
                <a:ea typeface="Malgun Gothic"/>
                <a:cs typeface="Malgun Gothic"/>
              </a:rPr>
              <a:t>z &lt; 0</a:t>
            </a:r>
            <a:r>
              <a:rPr sz="1050" b="0" i="0">
                <a:solidFill>
                  <a:srgbClr val="16213A"/>
                </a:solidFill>
                <a:latin typeface="Arial"/>
                <a:ea typeface="Malgun Gothic"/>
                <a:cs typeface="Malgun Gothic"/>
              </a:rPr>
              <a:t>)만 깊이 </a:t>
            </a:r>
            <a:r>
              <a:rPr sz="1050" b="0" i="1">
                <a:solidFill>
                  <a:srgbClr val="16213A"/>
                </a:solidFill>
                <a:latin typeface="Arial"/>
                <a:ea typeface="Malgun Gothic"/>
                <a:cs typeface="Malgun Gothic"/>
              </a:rPr>
              <a:t>lvert z rvert</a:t>
            </a:r>
            <a:r>
              <a:rPr sz="1050" b="0" i="0">
                <a:solidFill>
                  <a:srgbClr val="16213A"/>
                </a:solidFill>
                <a:latin typeface="Arial"/>
                <a:ea typeface="Malgun Gothic"/>
                <a:cs typeface="Malgun Gothic"/>
              </a:rPr>
              <a:t>에 비례하는 저항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받는다.</a:t>
            </a:r>
          </a:p>
        </p:txBody>
      </p:sp>
      <p:pic>
        <p:nvPicPr>
          <p:cNvPr id="6" name="Picture 5" descr="image.png"/>
          <p:cNvPicPr>
            <a:picLocks noChangeAspect="1"/>
          </p:cNvPicPr>
          <p:nvPr/>
        </p:nvPicPr>
        <p:blipFill>
          <a:blip r:embed="rId3"/>
          <a:stretch>
            <a:fillRect/>
          </a:stretch>
        </p:blipFill>
        <p:spPr>
          <a:xfrm>
            <a:off x="609600" y="1549995"/>
            <a:ext cx="4127500" cy="409575"/>
          </a:xfrm>
          <a:prstGeom prst="rect">
            <a:avLst/>
          </a:prstGeom>
        </p:spPr>
      </p:pic>
      <p:sp>
        <p:nvSpPr>
          <p:cNvPr id="7" name="TextBox 6"/>
          <p:cNvSpPr txBox="1"/>
          <p:nvPr/>
        </p:nvSpPr>
        <p:spPr>
          <a:xfrm>
            <a:off x="609600" y="197207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G = c₁ eₙ + c₂ eᵥ + c₃ e_g</a:t>
            </a:r>
            <a:r>
              <a:rPr sz="1050" b="0" i="0">
                <a:solidFill>
                  <a:srgbClr val="16213A"/>
                </a:solidFill>
                <a:latin typeface="Arial"/>
                <a:ea typeface="Malgun Gothic"/>
                <a:cs typeface="Malgun Gothic"/>
              </a:rPr>
              <a:t>는 면의 법선, 속도 방향, 중력 방향의 조합이다. 계수 </a:t>
            </a:r>
            <a:r>
              <a:rPr sz="1050" b="0" i="1">
                <a:solidFill>
                  <a:srgbClr val="16213A"/>
                </a:solidFill>
                <a:latin typeface="Arial"/>
                <a:ea typeface="Malgun Gothic"/>
                <a:cs typeface="Malgun Gothic"/>
              </a:rPr>
              <a:t>c₁, c₂, c₃</a:t>
            </a:r>
            <a:r>
              <a:rPr sz="1050" b="0" i="0">
                <a:solidFill>
                  <a:srgbClr val="16213A"/>
                </a:solidFill>
                <a:latin typeface="Arial"/>
                <a:ea typeface="Malgun Gothic"/>
                <a:cs typeface="Malgun Gothic"/>
              </a:rPr>
              <a:t>는 MPM 판 관입 자료에 맞춘 다항식이다. </a:t>
            </a:r>
            <a:r>
              <a:rPr sz="1050" b="0" i="1">
                <a:solidFill>
                  <a:srgbClr val="16213A"/>
                </a:solidFill>
                <a:latin typeface="Arial"/>
                <a:ea typeface="Malgun Gothic"/>
                <a:cs typeface="Malgun Gothic"/>
              </a:rPr>
              <a:t>f(μ̃) = 894μ̃³ - 386μ̃² + 89μ̃</a:t>
            </a:r>
            <a:r>
              <a:rPr sz="1050" b="0" i="0">
                <a:solidFill>
                  <a:srgbClr val="16213A"/>
                </a:solidFill>
                <a:latin typeface="Arial"/>
                <a:ea typeface="Malgun Gothic"/>
                <a:cs typeface="Malgun Gothic"/>
              </a:rPr>
              <a:t>는 내부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따른 세기 배율이다.</a:t>
            </a:r>
          </a:p>
        </p:txBody>
      </p:sp>
      <p:sp>
        <p:nvSpPr>
          <p:cNvPr id="8" name="TextBox 7"/>
          <p:cNvSpPr txBox="1"/>
          <p:nvPr/>
        </p:nvSpPr>
        <p:spPr>
          <a:xfrm>
            <a:off x="609600" y="24939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마찰 원뿔.</a:t>
            </a:r>
            <a:r>
              <a:rPr sz="1050" b="0" i="0">
                <a:solidFill>
                  <a:srgbClr val="16213A"/>
                </a:solidFill>
                <a:latin typeface="Arial"/>
                <a:ea typeface="Malgun Gothic"/>
                <a:cs typeface="Malgun Gothic"/>
              </a:rPr>
              <a:t> 접선 성분이 표면 마찰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원뿔을 넘지 않게 자른다. 접선력이 같은 식에서 나오므로 따로 쿨롱 항을 두지 않는다.</a:t>
            </a:r>
          </a:p>
        </p:txBody>
      </p:sp>
      <p:pic>
        <p:nvPicPr>
          <p:cNvPr id="9" name="Picture 8" descr="image.png"/>
          <p:cNvPicPr>
            <a:picLocks noChangeAspect="1"/>
          </p:cNvPicPr>
          <p:nvPr/>
        </p:nvPicPr>
        <p:blipFill>
          <a:blip r:embed="rId4"/>
          <a:stretch>
            <a:fillRect/>
          </a:stretch>
        </p:blipFill>
        <p:spPr>
          <a:xfrm>
            <a:off x="609600" y="2799358"/>
            <a:ext cx="3060700" cy="425450"/>
          </a:xfrm>
          <a:prstGeom prst="rect">
            <a:avLst/>
          </a:prstGeom>
        </p:spPr>
      </p:pic>
      <p:sp>
        <p:nvSpPr>
          <p:cNvPr id="10" name="TextBox 9"/>
          <p:cNvSpPr txBox="1"/>
          <p:nvPr/>
        </p:nvSpPr>
        <p:spPr>
          <a:xfrm>
            <a:off x="609600" y="323482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 렌치.</a:t>
            </a:r>
            <a:r>
              <a:rPr sz="1050" b="0" i="0">
                <a:solidFill>
                  <a:srgbClr val="16213A"/>
                </a:solidFill>
                <a:latin typeface="Arial"/>
                <a:ea typeface="Malgun Gothic"/>
                <a:cs typeface="Malgun Gothic"/>
              </a:rPr>
              <a:t> 충돌 점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힘을 더하고, 발목 </a:t>
            </a:r>
            <a:r>
              <a:rPr sz="1050" b="0" i="1">
                <a:solidFill>
                  <a:srgbClr val="16213A"/>
                </a:solidFill>
                <a:latin typeface="Arial"/>
                <a:ea typeface="Malgun Gothic"/>
                <a:cs typeface="Malgun Gothic"/>
              </a:rPr>
              <a:t>p_b</a:t>
            </a:r>
            <a:r>
              <a:rPr sz="1050" b="0" i="0">
                <a:solidFill>
                  <a:srgbClr val="16213A"/>
                </a:solidFill>
                <a:latin typeface="Arial"/>
                <a:ea typeface="Malgun Gothic"/>
                <a:cs typeface="Malgun Gothic"/>
              </a:rPr>
              <a:t> 기준 모멘트를 구한다.</a:t>
            </a:r>
          </a:p>
        </p:txBody>
      </p:sp>
      <p:pic>
        <p:nvPicPr>
          <p:cNvPr id="11" name="Picture 10" descr="image.png"/>
          <p:cNvPicPr>
            <a:picLocks noChangeAspect="1"/>
          </p:cNvPicPr>
          <p:nvPr/>
        </p:nvPicPr>
        <p:blipFill>
          <a:blip r:embed="rId5"/>
          <a:stretch>
            <a:fillRect/>
          </a:stretch>
        </p:blipFill>
        <p:spPr>
          <a:xfrm>
            <a:off x="609600" y="3540224"/>
            <a:ext cx="3209925" cy="419100"/>
          </a:xfrm>
          <a:prstGeom prst="rect">
            <a:avLst/>
          </a:prstGeom>
        </p:spPr>
      </p:pic>
      <p:sp>
        <p:nvSpPr>
          <p:cNvPr id="12" name="TextBox 11"/>
          <p:cNvSpPr txBox="1"/>
          <p:nvPr/>
        </p:nvSpPr>
        <p:spPr>
          <a:xfrm>
            <a:off x="609600" y="397053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지면 세기.</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ξ = ρ_c g f(μ̃)</a:t>
            </a:r>
            <a:r>
              <a:rPr sz="1050" b="0" i="0">
                <a:solidFill>
                  <a:srgbClr val="16213A"/>
                </a:solidFill>
                <a:latin typeface="Arial"/>
                <a:ea typeface="Malgun Gothic"/>
                <a:cs typeface="Malgun Gothic"/>
              </a:rPr>
              <a:t>가 매질의 관입 세기다. 디코더가 복원하는 값은 이것을 최댓값으로 나눈 </a:t>
            </a:r>
            <a:r>
              <a:rPr sz="1050" b="0" i="1">
                <a:solidFill>
                  <a:srgbClr val="16213A"/>
                </a:solidFill>
                <a:latin typeface="Arial"/>
                <a:ea typeface="Malgun Gothic"/>
                <a:cs typeface="Malgun Gothic"/>
              </a:rPr>
              <a:t>η = ξ / ξₘₐₓ</a:t>
            </a:r>
            <a:r>
              <a:rPr sz="1050" b="0" i="0">
                <a:solidFill>
                  <a:srgbClr val="16213A"/>
                </a:solidFill>
                <a:latin typeface="Arial"/>
                <a:ea typeface="Malgun Gothic"/>
                <a:cs typeface="Malgun Gothic"/>
              </a:rPr>
              <a:t> 하나다. </a:t>
            </a:r>
            <a:r>
              <a:rPr sz="1050" b="0" i="1">
                <a:solidFill>
                  <a:srgbClr val="16213A"/>
                </a:solidFill>
                <a:latin typeface="Arial"/>
                <a:ea typeface="Malgun Gothic"/>
                <a:cs typeface="Malgun Gothic"/>
              </a:rPr>
              <a:t>ξₘₐₓ = ρₘₐₓ g f(μ̃ₘₐₓ)</a:t>
            </a:r>
            <a:r>
              <a:rPr sz="1050" b="0" i="0">
                <a:solidFill>
                  <a:srgbClr val="16213A"/>
                </a:solidFill>
                <a:latin typeface="Arial"/>
                <a:ea typeface="Malgun Gothic"/>
                <a:cs typeface="Malgun Gothic"/>
              </a:rPr>
              <a:t>이고 그 수치는 본문에 없다. 복원값은 </a:t>
            </a:r>
            <a:r>
              <a:rPr sz="1050" b="0" i="1">
                <a:solidFill>
                  <a:srgbClr val="16213A"/>
                </a:solidFill>
                <a:latin typeface="Arial"/>
                <a:ea typeface="Malgun Gothic"/>
                <a:cs typeface="Malgun Gothic"/>
              </a:rPr>
              <a:t>η̂ = ψ(ẑₜ)</a:t>
            </a:r>
            <a:r>
              <a:rPr sz="1050" b="0" i="0">
                <a:solidFill>
                  <a:srgbClr val="16213A"/>
                </a:solidFill>
                <a:latin typeface="Arial"/>
                <a:ea typeface="Malgun Gothic"/>
                <a:cs typeface="Malgun Gothic"/>
              </a:rPr>
              <a:t>다.</a:t>
            </a:r>
          </a:p>
        </p:txBody>
      </p:sp>
      <p:sp>
        <p:nvSpPr>
          <p:cNvPr id="13" name="TextBox 12"/>
          <p:cNvSpPr txBox="1"/>
          <p:nvPr/>
        </p:nvSpPr>
        <p:spPr>
          <a:xfrm>
            <a:off x="609600" y="42759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a:t>
            </a:r>
            <a:r>
              <a:rPr sz="1050" b="0" i="0">
                <a:solidFill>
                  <a:srgbClr val="16213A"/>
                </a:solidFill>
                <a:latin typeface="Arial"/>
                <a:ea typeface="Malgun Gothic"/>
                <a:cs typeface="Malgun Gothic"/>
              </a:rPr>
              <a:t> 교사는 PPO 손실에 VAE 손실을 더한다. 학생은 행동 증류와 잠재·</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맞추기를 더하고, 가중치는 학습 중에 바꾼다.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와 가중치의 값은 본문에 없다.</a:t>
            </a:r>
          </a:p>
        </p:txBody>
      </p:sp>
      <p:pic>
        <p:nvPicPr>
          <p:cNvPr id="14" name="Picture 13" descr="image.png"/>
          <p:cNvPicPr>
            <a:picLocks noChangeAspect="1"/>
          </p:cNvPicPr>
          <p:nvPr/>
        </p:nvPicPr>
        <p:blipFill>
          <a:blip r:embed="rId6"/>
          <a:stretch>
            <a:fillRect/>
          </a:stretch>
        </p:blipFill>
        <p:spPr>
          <a:xfrm>
            <a:off x="609600" y="4581327"/>
            <a:ext cx="3810000" cy="241300"/>
          </a:xfrm>
          <a:prstGeom prst="rect">
            <a:avLst/>
          </a:prstGeom>
        </p:spPr>
      </p:pic>
      <p:pic>
        <p:nvPicPr>
          <p:cNvPr id="15" name="Picture 14" descr="image.png"/>
          <p:cNvPicPr>
            <a:picLocks noChangeAspect="1"/>
          </p:cNvPicPr>
          <p:nvPr/>
        </p:nvPicPr>
        <p:blipFill>
          <a:blip r:embed="rId7"/>
          <a:stretch>
            <a:fillRect/>
          </a:stretch>
        </p:blipFill>
        <p:spPr>
          <a:xfrm>
            <a:off x="609600" y="4858841"/>
            <a:ext cx="5073650" cy="266700"/>
          </a:xfrm>
          <a:prstGeom prst="rect">
            <a:avLst/>
          </a:prstGeom>
        </p:spPr>
      </p:pic>
      <p:sp>
        <p:nvSpPr>
          <p:cNvPr id="16" name="TextBox 15"/>
          <p:cNvSpPr txBox="1"/>
          <p:nvPr/>
        </p:nvSpPr>
        <p:spPr>
          <a:xfrm>
            <a:off x="609600" y="51575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관측과 망.</a:t>
            </a:r>
            <a:r>
              <a:rPr sz="1050" b="0" i="0">
                <a:solidFill>
                  <a:srgbClr val="16213A"/>
                </a:solidFill>
                <a:latin typeface="Arial"/>
                <a:ea typeface="Malgun Gothic"/>
                <a:cs typeface="Malgun Gothic"/>
              </a:rPr>
              <a:t> 고유감각은 각속도, 관절 위치·속도, 명령 속도, IMU로 구한 중력 방향, 이전 행동이다. 특권 관측은 몸통 선속도, 발 높이, 발 접촉 상태와 힘, 발을 든 뒤 흐른 시간,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다. actor와 critic은 따로 MLP(512, 256, 128, ELU)이고, 교사 인코더는 MLP(256, 128, 64)다. 교사와 학생은 각각 20,000회 반복으로 배웠다.</a:t>
            </a:r>
          </a:p>
        </p:txBody>
      </p:sp>
      <p:sp>
        <p:nvSpPr>
          <p:cNvPr id="17" name="TextBox 16"/>
          <p:cNvSpPr txBox="1"/>
          <p:nvPr/>
        </p:nvSpPr>
        <p:spPr>
          <a:xfrm>
            <a:off x="609600" y="567948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 비교(표 I, MPM 양귀비씨, 성공률 %와 DTW m).</a:t>
            </a:r>
          </a:p>
        </p:txBody>
      </p:sp>
      <p:sp>
        <p:nvSpPr>
          <p:cNvPr id="18" name="TextBox 17"/>
          <p:cNvSpPr txBox="1"/>
          <p:nvPr/>
        </p:nvSpPr>
        <p:spPr>
          <a:xfrm>
            <a:off x="609600" y="598487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4개(문단·식·그림)는 대시보드 리서치 탭의 "자세히: GM-Loco의 접촉 모델·학습 식과 접촉 모델 비교" 토글에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바퀴는 발과 접촉이 다르지만, 두 가지는 그대로 옮긴다.</a:t>
            </a:r>
          </a:p>
        </p:txBody>
      </p:sp>
      <p:sp>
        <p:nvSpPr>
          <p:cNvPr id="6" name="TextBox 5"/>
          <p:cNvSpPr txBox="1"/>
          <p:nvPr/>
        </p:nvSpPr>
        <p:spPr>
          <a:xfrm>
            <a:off x="609600" y="154999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지면 무작위화만으로는 부족한 경우가 있다. 강체 접촉으로 학습한 정책은(무작위화 범위는 본문에 없다) MPM의 모래·양귀비씨에서 0 %였다. S.5.4의 Sim2Dust는 단단한 지면과 무작위화로 자갈을 넘었지만 5–25 cm/s의 rover였다. 잔디·흙길이 요구 사항이 되면, L0 미끄럼 무작위화로 충분한지는 변형 지면 시뮬레이션 한 판으로 먼저 확인한다(S.5.4).</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잠재에는 물리량 하나만 복원하게 한다. GM-Loco는 디코더가 지면 세기 </a:t>
            </a:r>
            <a:r>
              <a:rPr sz="1050" b="0" i="1">
                <a:solidFill>
                  <a:srgbClr val="16213A"/>
                </a:solidFill>
                <a:latin typeface="Arial"/>
                <a:ea typeface="Malgun Gothic"/>
                <a:cs typeface="Malgun Gothic"/>
              </a:rPr>
              <a:t>η</a:t>
            </a:r>
            <a:r>
              <a:rPr sz="1050" b="0" i="0">
                <a:solidFill>
                  <a:srgbClr val="16213A"/>
                </a:solidFill>
                <a:latin typeface="Arial"/>
                <a:ea typeface="Malgun Gothic"/>
                <a:cs typeface="Malgun Gothic"/>
              </a:rPr>
              <a:t> 하나만 맞추게 해 잠재를 재질에 묶었다. travplan에서 노면 잠재를 GP 잔차(TP-0068)의 입력에 더할 때도, 바퀴 미끄럼비처럼 잴 수 있는 한 값을 복원 목표로 두면 잠재가 무엇을 담는지 확인할 수 있다(B.16.5 변형 지형 보행 카드의 '노면 잠재').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모델 비교의 기준은 더 비싼 시뮬레이터다. 싼 접촉 모델로 배우고 MPM으로 평가한 구성은, L0로 배우고 Isaac으로 재현하는 P1 계획과 같은 모양이다.</a:t>
            </a:r>
          </a:p>
        </p:txBody>
      </p:sp>
      <p:sp>
        <p:nvSpPr>
          <p:cNvPr id="7" name="TextBox 6"/>
          <p:cNvSpPr txBox="1"/>
          <p:nvPr/>
        </p:nvSpPr>
        <p:spPr>
          <a:xfrm>
            <a:off x="609600" y="27721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
        <p:nvSpPr>
          <p:cNvPr id="8" name="TextBox 7"/>
          <p:cNvSpPr txBox="1"/>
          <p:nvPr/>
        </p:nvSpPr>
        <p:spPr>
          <a:xfrm>
            <a:off x="609600" y="35105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9" name="TextBox 8"/>
          <p:cNvSpPr txBox="1"/>
          <p:nvPr/>
        </p:nvSpPr>
        <p:spPr>
          <a:xfrm>
            <a:off x="609600" y="46819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520</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520</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520</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445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520</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11/11</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520</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38125"/>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450 / 520</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HumanX — 휴대폰 영상 한 편에서 로봇–물체 상호작용 궤적을 물리 규칙으로 합성하고 늘려, 과제별 보상 없이 G1이 농구·축구·물건 집기·대련을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arXiv:2602.02473</a:t>
            </a:r>
            <a:r>
              <a:rPr sz="1050" b="0" i="0">
                <a:solidFill>
                  <a:srgbClr val="16213A"/>
                </a:solidFill>
                <a:latin typeface="Arial"/>
                <a:ea typeface="Malgun Gothic"/>
                <a:cs typeface="Malgun Gothic"/>
              </a:rPr>
              <a:t>, Wang·Zhao·Lau·Yu·Tsui·Chen·Wang·Pang·Tan, CoRL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 Commons Clause). 홍콩과기대(HKUST)와 Shanghai AI Laboratory의 연구다. 이 갈래의 앞 연구들(H2O·ExBody·ASAP)이 사람 몸만 따라 했다면, HumanX는 공·상자 같은 물체와의 상호작용까지 따라 한다. 두 부분으로 된다. XGen은 데이터를 만든다. 영상에서 사람 동작을 GVHMR로 추정하고 GMR로 G1에 옮긴다. 물체는 영상에서 복원하지 않고 합성한다. 접촉 구간에서는 두 손바닥 중점 같은 기준점과 물체의 상대 자세를 고정해 물체 궤적을 만들고, force closure 제약으로 손 자세를 다듬는다. 접촉하지 않는 구간(던진 공, 날아오는 공)은 물리 시뮬레이터로 굴린다. 날아오는 공은 접촉 순간에서 시간을 거꾸로 굴려 만든다. 물체 크기·모양·초기 속도를 바꿔 데모 한 편을 클립 50개로 늘린다. XMimic은 이 데이터를 따라 하는 RL이다. 클립마다 특권 상태를 보는 교사를 PPO로 학습하고, 교사들을 배포할 관측만 보는 학생 하나로 증류한다. 학생 손실은 PPO에 교사 행동과의 BC(behavior cloning) 손실을 더한 것이다. 보상은 몸 추종, 물체 추종, 몸–물체 상대 자세, 접촉 그래프, 정규화의 합이다. 몸 추종 항에는 AMP 항을 넣었다. 이 다섯 항을 과제마다 바꾸지 않는다. 배포는 두 방식이다. 물체를 전혀 보지 않는 NEP(no external perception) 모드는 고유감각 이력만으로 드리블·레이업·펌프 페이크 턴어라운드 페이드어웨이를 10번 중 7–10번 해냈다. MoCap 모드는 물체와 사람의 자세를 모션 캡처로 받는다. 사람과 농구공을 주고받기는 50번 중 41번, 축구공 차 돌려주기는 42번, 물건 집기는 43번, 주먹 막고 반격하기는 37번 성공했다. 기술마다 영상은 한 편이다.</a:t>
            </a:r>
          </a:p>
        </p:txBody>
      </p:sp>
      <p:sp>
        <p:nvSpPr>
          <p:cNvPr id="6" name="TextBox 5"/>
          <p:cNvSpPr txBox="1"/>
          <p:nvPr/>
        </p:nvSpPr>
        <p:spPr>
          <a:xfrm>
            <a:off x="609600" y="34984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지형을 다루는 연구가 아니어서 정책을 옮길 자리는 없고, 학습 절차 셋을 옮긴다. 첫째는 상호작용 종료(interaction termination)다. 기준 프레임이 접촉 중인데 물체와 핵심 몸 부위의 상대 위치 오차가 문턱을 넘으면, 에피소드를 확률적으로 끝낸다. 더한 보상만 쓰면 정책이 몸 동작만 맞추고 물체를 놓치는 국소 최적에 빠지기 때문이다. Planner D RL 후학습(TP-0066)의 보상도 진행·cost·치명·부드러움의 합이다. 치명 셀 진입처럼 놓치면 안 되는 항을 보상 가중이 아니라 종료로 거는 판을 생각할 수 있다. 둘째는 흔든 초기화다. 몸통 자세·관절각·물체 자세를 에피소드 시작마다 흔들어 데모 밖 상태를 덮는다. 표 I에서 이것 하나로 상자 집기의 일반화 성공률이 50.9%에서 94.5%로 올랐다. Planner D의 리셋 커리큘럼(TP-0143)과 같은 자리다. 셋째는 관측 끊김을 학습에 넣는 것이다. 학습 때 모션 캡처의 프레임 손실을 흉내 내지 않으면, 실물에서 물체 신호가 잠깐 끊길 때 로봇이 쓰러졌다(그림 12). L1 belief 지도의 갱신 공백과 미관측 칸(TP-0055)도 학습 때 보여 줘야 한다는 B.16.7 1번과 같은 결론이다. '8배'의 근거는 시뮬레이션 일반화 성공률이다. 세 과제 평균이 HumanX 83.9%, HDMI 9.8%다. 데모 그대로의 성공률은 일반화를 넣으며 오히려 조금 내려갔다(농구 캐치-슛 93.4%에서 86.8%).</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520</a:t>
            </a:r>
          </a:p>
        </p:txBody>
      </p:sp>
      <p:pic>
        <p:nvPicPr>
          <p:cNvPr id="5" name="Picture 4" descr="image.jpg"/>
          <p:cNvPicPr>
            <a:picLocks noChangeAspect="1"/>
          </p:cNvPicPr>
          <p:nvPr/>
        </p:nvPicPr>
        <p:blipFill>
          <a:blip r:embed="rId3"/>
          <a:stretch>
            <a:fillRect/>
          </a:stretch>
        </p:blipFill>
        <p:spPr>
          <a:xfrm>
            <a:off x="609600" y="1244600"/>
            <a:ext cx="5410200" cy="2101850"/>
          </a:xfrm>
          <a:prstGeom prst="rect">
            <a:avLst/>
          </a:prstGeom>
        </p:spPr>
      </p:pic>
      <p:sp>
        <p:nvSpPr>
          <p:cNvPr id="6" name="TextBox 5"/>
          <p:cNvSpPr txBox="1"/>
          <p:nvPr/>
        </p:nvSpPr>
        <p:spPr>
          <a:xfrm>
            <a:off x="609600" y="3384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 사람 영상(왼쪽)을 XGen이 로봇–물체 상호작용 데이터로 바꾸고(가운데), XMimic이 이를 따라 해 실물 G1의 농구·축구·물건 집기·대련 기술로 만든다(오른쪽). 출처: arXiv:2602.02473</a:t>
            </a:r>
          </a:p>
        </p:txBody>
      </p:sp>
      <p:pic>
        <p:nvPicPr>
          <p:cNvPr id="7" name="Picture 6" descr="image.jpg"/>
          <p:cNvPicPr>
            <a:picLocks noChangeAspect="1"/>
          </p:cNvPicPr>
          <p:nvPr/>
        </p:nvPicPr>
        <p:blipFill>
          <a:blip r:embed="rId4"/>
          <a:stretch>
            <a:fillRect/>
          </a:stretch>
        </p:blipFill>
        <p:spPr>
          <a:xfrm>
            <a:off x="6172200" y="1244600"/>
            <a:ext cx="53340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10): 모션 캡처로 물체와 사람을 보는 실물 실험이다. 위부터 사람과 농구공 주고받기, 축구공 차 돌려주기, 놓인 물통 집기 두 장면, 사람의 주먹을 막고 반격하기다. 출처: arXiv:2602.02473</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HumanX의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520</a:t>
            </a:r>
          </a:p>
        </p:txBody>
      </p:sp>
      <p:pic>
        <p:nvPicPr>
          <p:cNvPr id="5" name="Picture 4" descr="image.jpg"/>
          <p:cNvPicPr>
            <a:picLocks noChangeAspect="1"/>
          </p:cNvPicPr>
          <p:nvPr/>
        </p:nvPicPr>
        <p:blipFill>
          <a:blip r:embed="rId3"/>
          <a:stretch>
            <a:fillRect/>
          </a:stretch>
        </p:blipFill>
        <p:spPr>
          <a:xfrm>
            <a:off x="2219325" y="1244600"/>
            <a:ext cx="7753350" cy="2984500"/>
          </a:xfrm>
          <a:prstGeom prst="rect">
            <a:avLst/>
          </a:prstGeom>
        </p:spPr>
      </p:pic>
      <p:sp>
        <p:nvSpPr>
          <p:cNvPr id="6" name="TextBox 5"/>
          <p:cNvSpPr txBox="1"/>
          <p:nvPr/>
        </p:nvSpPr>
        <p:spPr>
          <a:xfrm>
            <a:off x="2219325" y="4267200"/>
            <a:ext cx="7753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HumanX (Fig. 2): XGen의 여덟 단계다. 영상에서 사람 동작을 얻어 로봇에 옮기고(1–3), 접촉 구간은 물체 메쉬와 기준점 상대 자세로 물체 궤적을 만든 뒤 접촉을 다듬는다(4–6). 접촉하지 않는 구간은 시뮬레이터로 굴리고(7), 둘을 이어 전체 상호작용을 만든다(8). 노란 표시는 데이터를 늘리는 단계다. 출처: arXiv:2602.02473</a:t>
            </a:r>
          </a:p>
        </p:txBody>
      </p:sp>
      <p:sp>
        <p:nvSpPr>
          <p:cNvPr id="7" name="TextBox 6"/>
          <p:cNvSpPr txBox="1"/>
          <p:nvPr/>
        </p:nvSpPr>
        <p:spPr>
          <a:xfrm>
            <a:off x="609600" y="464046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XGen.</a:t>
            </a:r>
            <a:r>
              <a:rPr sz="1050" b="0" i="0">
                <a:solidFill>
                  <a:srgbClr val="16213A"/>
                </a:solidFill>
                <a:latin typeface="Arial"/>
                <a:ea typeface="Malgun Gothic"/>
                <a:cs typeface="Malgun Gothic"/>
              </a:rPr>
              <a:t> 영상의 각 프레임을 비접촉, 접촉, 비접촉 구간으로 손으로 나눈다. 접촉 시작 프레임에서 SAM 3D로 물체 메쉬와 기준점에 대한 상대 자세를 추정하거나, 손으로 정한다. 그래서 영상에 물체가 없어도 상호작용을 만들 수 있다. 기준점은 두 손으로 쥐는 동작(상자, 슛)이면 두 손바닥 중점, 한 점만 닿는 동작(셔틀콕 치기, 공 차기)이면 그 몸 부위다. 구간 경계에서는 몸 자세를 k 프레임 동안 선형 보간한다. 거꾸로 굴리는 시뮬레이션에서는 물체 감쇠 계수의 부호를 바꾼다. 늘리기는 셋이다. 물체 메쉬를 키우거나 바꾸고, 접촉 구간의 물체 궤적을 옮기거나 늘이고(예: 다른 높이의 상자 들기), 비접촉 구간의 초기 속도를 흔든다(예: 다른 거리의 슛).</a:t>
            </a:r>
          </a:p>
        </p:txBody>
      </p:sp>
      <p:sp>
        <p:nvSpPr>
          <p:cNvPr id="8" name="TextBox 7"/>
          <p:cNvSpPr txBox="1"/>
          <p:nvPr/>
        </p:nvSpPr>
        <p:spPr>
          <a:xfrm>
            <a:off x="609600" y="559534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HumanX의 방법과 수치" 토글에 있다.</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 PHP)과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520</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520</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520</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Perceptive Humanoid Parkour(PHP) — 사람 파쿠르 동작을 motion matching으로 이어 학습 궤적을 만들고, 깊이 영상을 보는 G1 정책 하나가 2D 속도 명령만 받아 1.25 m 벽을 오르고 장애물을 넘는다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arXiv:2602.15827</a:t>
            </a:r>
            <a:r>
              <a:rPr sz="1050" b="0" i="0">
                <a:solidFill>
                  <a:srgbClr val="16213A"/>
                </a:solidFill>
                <a:latin typeface="Arial"/>
                <a:ea typeface="Malgun Gothic"/>
                <a:cs typeface="Malgun Gothic"/>
              </a:rPr>
              <a:t>, Wu·Huang·Yang·Zhang·Chen·Abbeel·Duan·Kanazawa·Sferrazza·Shi·Liu, RSS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Amazon FAR(Frontier AI &amp; Robotics)와 UC Berkeley·CMU·Stanford의 연구다. 로봇은 Unitree G1(키 1.3 m, 29자유도)이다. 학습은 세 단계다. 첫째, 사람 파쿠르 동작을 OmniRetarget으로 G1에 옮기고, motion matching으로 "보행, 기술, 보행"이 이어진 긴 궤적을 합성한다. Motion matching은 게임 애니메이션의 기법이다. 동작 DB에서 지금 발 상태·몸통 속도와 명령이 만드는 앞으로 1 s의 궤적에 가장 가까운 프레임을 최근접 탐색으로 골라, 거기서부터 재생한다. 둘째, 기술마다 동작 추종 교사를 BeyondMimic의 설정으로 학습한다. 교사는 골반의 전역 위치·속도와 0.7 m × 0.7 m 높이 스캔을 특권 관측으로 본다. 셋째, 교사 여럿을 학생 하나로 증류한다. 학생은 고유감각, 깊이 영상(카메라 30 Hz), 이산 2D 속도 명령만 본다. 증류 손실은 DAgger 손실과 PPO 손실의 가중합이다. 실물 G1은 1.25 m 벽(키의 96%)을 3.63 s에 올랐고, 0.4 m 장애물을 cat vault로 0.8 s 안에 넘었다(최고 3.41 m/s). 48–60 s 동안 장애물 여럿을 이어 넘었고, 주행 중에 사람이 장애물을 약 0.5 m 옮겨도 접근을 고쳐 끝까지 갔다. 학습 데이터에는 장애물이 하나인 궤적만 있었다.</a:t>
            </a:r>
          </a:p>
        </p:txBody>
      </p:sp>
      <p:sp>
        <p:nvSpPr>
          <p:cNvPr id="6" name="TextBox 5"/>
          <p:cNvSpPr txBox="1"/>
          <p:nvPr/>
        </p:nvSpPr>
        <p:spPr>
          <a:xfrm>
            <a:off x="609600" y="3065462"/>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옮길 것은 증류 손실의 일정이다. PHP는 DAgger 가중 </a:t>
            </a:r>
            <a:r>
              <a:rPr sz="1050" b="0" i="1">
                <a:solidFill>
                  <a:srgbClr val="16213A"/>
                </a:solidFill>
                <a:latin typeface="Arial"/>
                <a:ea typeface="Malgun Gothic"/>
                <a:cs typeface="Malgun Gothic"/>
              </a:rPr>
              <a:t>λ_D</a:t>
            </a:r>
            <a:r>
              <a:rPr sz="1050" b="0" i="0">
                <a:solidFill>
                  <a:srgbClr val="16213A"/>
                </a:solidFill>
                <a:latin typeface="Arial"/>
                <a:ea typeface="Malgun Gothic"/>
                <a:cs typeface="Malgun Gothic"/>
              </a:rPr>
              <a:t>를 학습 앞 절반 동안 1에서 0.1까지 선형으로 내리고, 그 뒤로는 0.1에 묶는다. DAgger 항을 끝까지 남겨야 한다고 적는다. 일정이 끝난 뒤 DAgger를 빼고 RL만 돌리면 떨리는 부자연스러운 행동이 생겼다. HT(이 소절)는 같은 자리의 KL 가중을 0으로 내렸다. TP-0066은 모방 가중 λ = 0.5를 고정했다(B.15.3). 그래서 B.16.7 2번의 판에 '하한 0.1로 내리는 λ'를 하나 더한다. DAgger만으로 안 되는 이유도 travplan의 기록과 맞는다. 원문은 스텝별 모방 손실이 결과를 보지 않는다고 설명한다. 기준보다 몸통이 높아지는 행동과 낮아지는 행동이 같은 손실을 받아도, 장애물을 넘는 것은 높은 쪽뿐이다. travplan에서도 경사로를 지나친 상태에서 시작한 DAgger(TP-0143)는 단독 성적을 올리지 못했고, RL 후학습(TP-0066)은 20/30을 26/30으로 올렸다. 이 해석이 curb_ramp에 맞는지는 확인하지 않았다. 둘째는 데이터의 접근 조건이다. 기술 직전 접근 거리를 최소·최대 둘로만 둔 판은 1 m/s · 76 cm에서 0.95가 0.62로 떨어졌다. 기술 클립만 따로 배운 판은 장애물 앞까지 걷고 멈췄다(2 m/s · 76 cm 0.07). Planner D의 시연(TP-0073)도 경사로와 포트홀에 들어서는 거리와 속도를 고르게 덮는지 볼 만하다. PHP는 시간이나 걸음 수로 기술 시작을 외우지 못하게 접근 시간을 0.1–3 s에서 무작위로 뽑았다. 셋째, 위 층이 넘기는 것은 이산 2D 속도 명령뿐이고, 정책이 장애물을 보고 디딜지·오를지·넘을지를 고른다. VideoMimic과 같은 꼴이다. 저자들이 적은 한계는 좁은 시야와 짧은 거리의 카메라다. 빨리 달리면 장애물이 늦게 보여, 모호한 채로 기술을 골라야 한다. travplan의 근거리 미관측 처리(</a:t>
            </a:r>
            <a:r>
              <a:rPr sz="1050" b="0" i="0">
                <a:solidFill>
                  <a:srgbClr val="16213A"/>
                </a:solidFill>
                <a:latin typeface="Consolas"/>
                <a:ea typeface="Malgun Gothic"/>
                <a:cs typeface="Malgun Gothic"/>
              </a:rPr>
              <a:t>--unknown-near</a:t>
            </a:r>
            <a:r>
              <a:rPr sz="1050" b="0" i="0">
                <a:solidFill>
                  <a:srgbClr val="16213A"/>
                </a:solidFill>
                <a:latin typeface="Arial"/>
                <a:ea typeface="Malgun Gothic"/>
                <a:cs typeface="Malgun Gothic"/>
              </a:rPr>
              <a:t>, TP-0146)와 센서 배치 문서(H)가 같은 문제를 다룬다.</a:t>
            </a:r>
          </a:p>
        </p:txBody>
      </p:sp>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520</a:t>
            </a:r>
          </a:p>
        </p:txBody>
      </p:sp>
      <p:pic>
        <p:nvPicPr>
          <p:cNvPr id="5" name="Picture 4" descr="image.jpg"/>
          <p:cNvPicPr>
            <a:picLocks noChangeAspect="1"/>
          </p:cNvPicPr>
          <p:nvPr/>
        </p:nvPicPr>
        <p:blipFill>
          <a:blip r:embed="rId3"/>
          <a:stretch>
            <a:fillRect/>
          </a:stretch>
        </p:blipFill>
        <p:spPr>
          <a:xfrm>
            <a:off x="609600" y="1244600"/>
            <a:ext cx="5410200" cy="2254250"/>
          </a:xfrm>
          <a:prstGeom prst="rect">
            <a:avLst/>
          </a:prstGeom>
        </p:spPr>
      </p:pic>
      <p:sp>
        <p:nvSpPr>
          <p:cNvPr id="6" name="TextBox 5"/>
          <p:cNvSpPr txBox="1"/>
          <p:nvPr/>
        </p:nvSpPr>
        <p:spPr>
          <a:xfrm>
            <a:off x="609600" y="35369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1): (a) 낮은 장애물을 cat vault로, 높은 장애물을 dash vault로 약 3 m/s에 넘는다. (b) 1.25 m 벽에 올라 굴러 내려온다. (c) speed vault. (d) 기술을 스스로 고르며 60초 동안 코스를 돈다. 출처: arXiv:2602.15827</a:t>
            </a:r>
          </a:p>
        </p:txBody>
      </p:sp>
      <p:pic>
        <p:nvPicPr>
          <p:cNvPr id="7" name="Picture 6" descr="image.jpg"/>
          <p:cNvPicPr>
            <a:picLocks noChangeAspect="1"/>
          </p:cNvPicPr>
          <p:nvPr/>
        </p:nvPicPr>
        <p:blipFill>
          <a:blip r:embed="rId4"/>
          <a:stretch>
            <a:fillRect/>
          </a:stretch>
        </p:blipFill>
        <p:spPr>
          <a:xfrm>
            <a:off x="6172200" y="1244600"/>
            <a:ext cx="5410200" cy="2152650"/>
          </a:xfrm>
          <a:prstGeom prst="rect">
            <a:avLst/>
          </a:prstGeom>
        </p:spPr>
      </p:pic>
      <p:sp>
        <p:nvSpPr>
          <p:cNvPr id="8" name="TextBox 7"/>
          <p:cNvSpPr txBox="1"/>
          <p:nvPr/>
        </p:nvSpPr>
        <p:spPr>
          <a:xfrm>
            <a:off x="6172200" y="34353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PHP (Fig. 2): 보행과 파쿠르 기술을 motion matching으로 이어 긴 궤적을 만들고(왼쪽), 기술마다 높이 지도를 보는 추종 교사를 학습하고(가운데 왼쪽), 깊이 영상과 속도 명령을 보는 학생 하나로 DAgger + RL 증류해(가운데 오른쪽) 실물에 바로 올린다(오른쪽). 출처: arXiv:2602.15827</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PHP의 방법·수식·결과와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Motion matching이란.</a:t>
            </a:r>
            <a:r>
              <a:rPr sz="1050" b="0" i="0">
                <a:solidFill>
                  <a:srgbClr val="16213A"/>
                </a:solidFill>
                <a:latin typeface="Arial"/>
                <a:ea typeface="Malgun Gothic"/>
                <a:cs typeface="Malgun Gothic"/>
              </a:rPr>
              <a:t> 게임 애니메이션의 기법이다. 동작 DB에서 지금 상태와 명령에 가장 가까운 프레임을 최근접 탐색으로 골라 그 자리부터 재생한다. Ubisoft의 Büttner·Clavet가 2015–2016년 발표로 알렸고(For Honor), Learned Motion Matching(Holden 외, SIGGRAPH 2020)이 DB와 탐색을 신경망 셋으로 대신했다. 로봇에서는 개 동작 캡처로 사족 보행 기준을 만들고 MPC로 따라간 Kang·Zimmermann·Coros(IROS 2021) 정도가 앞선 예다. PHP는 이것을 실행 중 제어기가 아니라 오프라인 데이터 생성기로 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특징과 탐색.</a:t>
            </a:r>
            <a:r>
              <a:rPr sz="1050" b="0" i="0">
                <a:solidFill>
                  <a:srgbClr val="16213A"/>
                </a:solidFill>
                <a:latin typeface="Arial"/>
                <a:ea typeface="Malgun Gothic"/>
                <a:cs typeface="Malgun Gothic"/>
              </a:rPr>
              <a:t> 프레임마다 몸통 좌표계에서 27차원 특징 </a:t>
            </a:r>
            <a:r>
              <a:rPr sz="1050" b="0" i="1">
                <a:solidFill>
                  <a:srgbClr val="16213A"/>
                </a:solidFill>
                <a:latin typeface="Arial"/>
                <a:ea typeface="Malgun Gothic"/>
                <a:cs typeface="Malgun Gothic"/>
              </a:rPr>
              <a:t>xᵢ</a:t>
            </a:r>
            <a:r>
              <a:rPr sz="1050" b="0" i="0">
                <a:solidFill>
                  <a:srgbClr val="16213A"/>
                </a:solidFill>
                <a:latin typeface="Arial"/>
                <a:ea typeface="Malgun Gothic"/>
                <a:cs typeface="Malgun Gothic"/>
              </a:rPr>
              <a:t>를 미리 계산한다.</a:t>
            </a:r>
          </a:p>
        </p:txBody>
      </p:sp>
      <p:graphicFrame>
        <p:nvGraphicFramePr>
          <p:cNvPr id="7" name="Table 6"/>
          <p:cNvGraphicFramePr>
            <a:graphicFrameLocks noGrp="1"/>
          </p:cNvGraphicFramePr>
          <p:nvPr/>
        </p:nvGraphicFramePr>
        <p:xfrm>
          <a:off x="609600" y="2288381"/>
          <a:ext cx="10966451" cy="788352"/>
        </p:xfrm>
        <a:graphic>
          <a:graphicData uri="http://schemas.openxmlformats.org/drawingml/2006/table">
            <a:tbl>
              <a:tblPr firstRow="1" bandRow="1">
                <a:tableStyleId>{5C22544A-7EE6-4342-B048-85BDC9FD1C3A}</a:tableStyleId>
              </a:tblPr>
              <a:tblGrid>
                <a:gridCol w="1748334"/>
                <a:gridCol w="779959"/>
                <a:gridCol w="4178201"/>
                <a:gridCol w="4259957"/>
              </a:tblGrid>
              <a:tr h="197088">
                <a:tc>
                  <a:txBody>
                    <a:bodyPr wrap="square"/>
                    <a:lstStyle/>
                    <a:p>
                      <a:r>
                        <a:rPr sz="800" b="1" i="0">
                          <a:solidFill>
                            <a:srgbClr val="F4F1EA"/>
                          </a:solidFill>
                          <a:latin typeface="Arial"/>
                          <a:ea typeface="Malgun Gothic"/>
                          <a:cs typeface="Malgun Gothic"/>
                        </a:rPr>
                        <a:t>항목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차원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내용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질의에서 얻는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미래 몸통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0.33·0.67·1.0 s 뒤의 평면 위치와 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2D 속도 명령에 임계 감쇠 스프링을 건 값</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발 상태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발의 위치와 선속도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몸통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선속도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지금 자세</a:t>
                      </a:r>
                    </a:p>
                  </a:txBody>
                  <a:tcPr marL="63500" marR="63500" marT="12700" marB="12700">
                    <a:solidFill>
                      <a:srgbClr val="FFFDF8"/>
                    </a:solidFill>
                  </a:tcPr>
                </a:tc>
              </a:tr>
            </a:tbl>
          </a:graphicData>
        </a:graphic>
      </p:graphicFrame>
      <p:sp>
        <p:nvSpPr>
          <p:cNvPr id="8" name="TextBox 7"/>
          <p:cNvSpPr txBox="1"/>
          <p:nvPr/>
        </p:nvSpPr>
        <p:spPr>
          <a:xfrm>
            <a:off x="609600" y="336907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다음 프레임은 탐색 창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안의 최근접이다. 탐색은 M 프레임마다, 또는 명령이 크게 바뀔 때 한다.</a:t>
            </a:r>
          </a:p>
        </p:txBody>
      </p:sp>
      <p:pic>
        <p:nvPicPr>
          <p:cNvPr id="9" name="Picture 8" descr="image.png"/>
          <p:cNvPicPr>
            <a:picLocks noChangeAspect="1"/>
          </p:cNvPicPr>
          <p:nvPr/>
        </p:nvPicPr>
        <p:blipFill>
          <a:blip r:embed="rId3"/>
          <a:stretch>
            <a:fillRect/>
          </a:stretch>
        </p:blipFill>
        <p:spPr>
          <a:xfrm>
            <a:off x="609600" y="3674467"/>
            <a:ext cx="1660525" cy="320675"/>
          </a:xfrm>
          <a:prstGeom prst="rect">
            <a:avLst/>
          </a:prstGeom>
        </p:spPr>
      </p:pic>
      <p:sp>
        <p:nvSpPr>
          <p:cNvPr id="10" name="TextBox 9"/>
          <p:cNvSpPr txBox="1"/>
          <p:nvPr/>
        </p:nvSpPr>
        <p:spPr>
          <a:xfrm>
            <a:off x="609600" y="402054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명령을 미래 궤적으로 바꾸는 식은 임계 감쇠 스프링의 닫힌 해다. 감쇠 </a:t>
            </a:r>
            <a:r>
              <a:rPr sz="1050" b="0" i="1">
                <a:solidFill>
                  <a:srgbClr val="16213A"/>
                </a:solidFill>
                <a:latin typeface="Arial"/>
                <a:ea typeface="Malgun Gothic"/>
                <a:cs typeface="Malgun Gothic"/>
              </a:rPr>
              <a:t>y</a:t>
            </a:r>
            <a:r>
              <a:rPr sz="1050" b="0" i="0">
                <a:solidFill>
                  <a:srgbClr val="16213A"/>
                </a:solidFill>
                <a:latin typeface="Arial"/>
                <a:ea typeface="Malgun Gothic"/>
                <a:cs typeface="Malgun Gothic"/>
              </a:rPr>
              <a:t>, 목표 </a:t>
            </a:r>
            <a:r>
              <a:rPr sz="1050" b="0" i="1">
                <a:solidFill>
                  <a:srgbClr val="16213A"/>
                </a:solidFill>
                <a:latin typeface="Arial"/>
                <a:ea typeface="Malgun Gothic"/>
                <a:cs typeface="Malgun Gothic"/>
              </a:rPr>
              <a:t>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j₀ = s₀ - s_(goal)</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j₁ = ṡ₀ + y j₀</a:t>
            </a:r>
            <a:r>
              <a:rPr sz="1050" b="0" i="0">
                <a:solidFill>
                  <a:srgbClr val="16213A"/>
                </a:solidFill>
                <a:latin typeface="Arial"/>
                <a:ea typeface="Malgun Gothic"/>
                <a:cs typeface="Malgun Gothic"/>
              </a:rPr>
              <a:t>으로 둔다. 평면 위치는 스프링의 '위치'를 평면 속도로 두고 적분해 얻는다. 방향은 각도에 스프링을 바로 건다.</a:t>
            </a:r>
          </a:p>
        </p:txBody>
      </p:sp>
      <p:pic>
        <p:nvPicPr>
          <p:cNvPr id="11" name="Picture 10" descr="image.png"/>
          <p:cNvPicPr>
            <a:picLocks noChangeAspect="1"/>
          </p:cNvPicPr>
          <p:nvPr/>
        </p:nvPicPr>
        <p:blipFill>
          <a:blip r:embed="rId4"/>
          <a:stretch>
            <a:fillRect/>
          </a:stretch>
        </p:blipFill>
        <p:spPr>
          <a:xfrm>
            <a:off x="609600" y="4542433"/>
            <a:ext cx="2105025" cy="241300"/>
          </a:xfrm>
          <a:prstGeom prst="rect">
            <a:avLst/>
          </a:prstGeom>
        </p:spPr>
      </p:pic>
      <p:sp>
        <p:nvSpPr>
          <p:cNvPr id="12" name="TextBox 11"/>
          <p:cNvSpPr txBox="1"/>
          <p:nvPr/>
        </p:nvSpPr>
        <p:spPr>
          <a:xfrm>
            <a:off x="609600" y="48199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재생 프레임을 바꾸는 순간의 자세 차이는 inertialization(Gears of War, 2018)으로 지운다. 전환 순간의 차이를 출력에 더한 뒤 같은 스프링으로 0까지 줄인다.</a:t>
            </a:r>
          </a:p>
        </p:txBody>
      </p:sp>
      <p:sp>
        <p:nvSpPr>
          <p:cNvPr id="13" name="TextBox 12"/>
          <p:cNvSpPr txBox="1"/>
          <p:nvPr/>
        </p:nvSpPr>
        <p:spPr>
          <a:xfrm>
            <a:off x="609600" y="512534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기술에 들어가고 나오는 규칙.</a:t>
            </a:r>
            <a:r>
              <a:rPr sz="1050" b="0" i="0">
                <a:solidFill>
                  <a:srgbClr val="16213A"/>
                </a:solidFill>
                <a:latin typeface="Arial"/>
                <a:ea typeface="Malgun Gothic"/>
                <a:cs typeface="Malgun Gothic"/>
              </a:rPr>
              <a:t> 보행 중에는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가 보행 DB 전체다. 기술 k로 들어갈 때는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기술 직전 진입 창 </a:t>
            </a:r>
            <a:r>
              <a:rPr sz="1050" b="0" i="1">
                <a:solidFill>
                  <a:srgbClr val="16213A"/>
                </a:solidFill>
                <a:latin typeface="Arial"/>
                <a:ea typeface="Malgun Gothic"/>
                <a:cs typeface="Malgun Gothic"/>
              </a:rPr>
              <a:t>Eₖ = [sₖ - Hₖ, sₖ]</a:t>
            </a:r>
            <a:r>
              <a:rPr sz="1050" b="0" i="0">
                <a:solidFill>
                  <a:srgbClr val="16213A"/>
                </a:solidFill>
                <a:latin typeface="Arial"/>
                <a:ea typeface="Malgun Gothic"/>
                <a:cs typeface="Malgun Gothic"/>
              </a:rPr>
              <a:t>로 좁힌다. 뛰어넘기라면 도약 직전 몇 걸음이다. 진입한 뒤에는 탐색을 끄고 클립을 끝 프레임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까지 그대로 재생한다. 접촉이 많은 사람 동작을 망가뜨리지 않으려는 것이다. </a:t>
            </a:r>
            <a:r>
              <a:rPr sz="1050" b="0" i="1">
                <a:solidFill>
                  <a:srgbClr val="16213A"/>
                </a:solidFill>
                <a:latin typeface="Arial"/>
                <a:ea typeface="Malgun Gothic"/>
                <a:cs typeface="Malgun Gothic"/>
              </a:rPr>
              <a:t>eₖ</a:t>
            </a:r>
            <a:r>
              <a:rPr sz="1050" b="0" i="0">
                <a:solidFill>
                  <a:srgbClr val="16213A"/>
                </a:solidFill>
                <a:latin typeface="Arial"/>
                <a:ea typeface="Malgun Gothic"/>
                <a:cs typeface="Malgun Gothic"/>
              </a:rPr>
              <a:t>에서 다시 보행 DB를 탐색한다. 기술 클립마다 상자 지형을 손으로 맞춰 두고, 진입 프레임의 지형–몸통 상대 자세를 지금 몸통에 적용해 상자를 놓는다. 모든 기술이 보행을 거치므로 기술 쌍마다 전환 동작을 따로 찍을 필요가 없다.</a:t>
            </a:r>
          </a:p>
        </p:txBody>
      </p:sp>
      <p:sp>
        <p:nvSpPr>
          <p:cNvPr id="14" name="TextBox 13"/>
          <p:cNvSpPr txBox="1"/>
          <p:nvPr/>
        </p:nvSpPr>
        <p:spPr>
          <a:xfrm>
            <a:off x="609600" y="586372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20개(문단·식·그림)는 대시보드 리서치 탭의 "자세히: PHP의 방법·수식·결과와 한계" 토글에 있다.</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PHP의 계보와 2026년 후속 연구(연구 25편)</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PHP는 네 갈래가 만나는 자리에 있다.</a:t>
            </a:r>
            <a:r>
              <a:rPr sz="1050" b="0" i="0">
                <a:solidFill>
                  <a:srgbClr val="16213A"/>
                </a:solidFill>
                <a:latin typeface="Arial"/>
                <a:ea typeface="Malgun Gothic"/>
                <a:cs typeface="Malgun Gothic"/>
              </a:rPr>
              <a:t> 게임 애니메이션의 motion matching, 사람 동작 추종 RL, 사족 로봇의 인식 파쿠르 증류, 휴머노이드 인식 보행이다. Semantic Scholar의 PHP 인용 목록(2026-10-12)은 53편이다. 후속 연구는 PHP의 오프라인 motion matching을 둘로 대체한다. 하나는 기준 동작을 생성 모델로 실행 중에 만드는 길이고(Generate·Track·Improve, PASSAGE, ETH 생성 + 추종), 다른 하나는 기준 동작 없이 정책 하나로 가는 길이다(Hiking in the Wild, Light-Loco-Parkour, Echo in the Steps). Amazon FAR은 같은 증류 레시피(교사 여럿에서 깊이 학생 하나로, DAgger + RL)를 험지 보행(RPL)과 사다리(LadderMan)로 넓히고 있다. </a:t>
            </a:r>
            <a:r>
              <a:rPr sz="1050" b="1" i="0">
                <a:solidFill>
                  <a:srgbClr val="C2410C"/>
                </a:solidFill>
                <a:latin typeface="Arial"/>
                <a:ea typeface="Malgun Gothic"/>
                <a:cs typeface="Malgun Gothic"/>
              </a:rPr>
              <a:t>travplan에 가장 가까운 것은 Generate·Track·Improve다. 실행 중 생성기를 AWR로 미세 조정하는데, Planner D의 RL 후학습(TP-0066)과 같은 꼴이다.</a:t>
            </a:r>
          </a:p>
        </p:txBody>
      </p:sp>
      <p:sp>
        <p:nvSpPr>
          <p:cNvPr id="6" name="TextBox 5"/>
          <p:cNvSpPr txBox="1"/>
          <p:nvPr/>
        </p:nvSpPr>
        <p:spPr>
          <a:xfrm>
            <a:off x="609600" y="24159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PHP의 계보와 2026년 후속 연구(연구 25편)" 토글에 있다.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PASSAGE — 장면과 맞춘 사람 동작 100시간으로 flow matching 계획기를 학습하고, 지형을 보는 범용 추종기가 그것을 50 Hz로 실행해 G1이 넘고, 숙이고, 비집고 지나간다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arXiv:2609.18732</a:t>
            </a:r>
            <a:r>
              <a:rPr sz="1050" b="0" i="0">
                <a:solidFill>
                  <a:srgbClr val="16213A"/>
                </a:solidFill>
                <a:latin typeface="Arial"/>
                <a:ea typeface="Malgun Gothic"/>
                <a:cs typeface="Malgun Gothic"/>
              </a:rPr>
              <a:t>, Y. Ma·Z. Zeng·C. Peng(공동 1저자) 외, Galbot·칭화대·상하이 Qi Zhi 연구원 외, 교신 저자 Li Yi, 2026-09-16, </a:t>
            </a:r>
            <a:r>
              <a:rPr sz="1050" b="0" i="0">
                <a:solidFill>
                  <a:srgbClr val="1D4ED8"/>
                </a:solidFill>
                <a:latin typeface="Arial"/>
                <a:ea typeface="Malgun Gothic"/>
                <a:cs typeface="Malgun Gothic"/>
                <a:hlinkClick r:id="rId4"/>
              </a:rPr>
              <a:t>프로젝트 페이지</a:t>
            </a:r>
            <a:r>
              <a:rPr sz="1050" b="0" i="0">
                <a:solidFill>
                  <a:srgbClr val="16213A"/>
                </a:solidFill>
                <a:latin typeface="Arial"/>
                <a:ea typeface="Malgun Gothic"/>
                <a:cs typeface="Malgun Gothic"/>
              </a:rPr>
              <a:t>). Click-and-Traverse(B.12.3)와 같은 연구진이 같은 문제를 다른 방법으로 다시 풀었다. Click-and-Traverse는 HumanoidPF 보상으로 장면별 전문가 RL을 학습해 하나로 증류했고, 다리 관절 12개만 움직였다. PASSAGE는 보상을 손으로 짜는 대신 </a:t>
            </a:r>
            <a:r>
              <a:rPr sz="1050" b="1" i="0">
                <a:solidFill>
                  <a:srgbClr val="C2410C"/>
                </a:solidFill>
                <a:latin typeface="Arial"/>
                <a:ea typeface="Malgun Gothic"/>
                <a:cs typeface="Malgun Gothic"/>
              </a:rPr>
              <a:t>사람이 VR 안에서 장애물 장면을 직접 지나간 동작을 모은다.</a:t>
            </a:r>
            <a:r>
              <a:rPr sz="1050" b="0" i="0">
                <a:solidFill>
                  <a:srgbClr val="16213A"/>
                </a:solidFill>
                <a:latin typeface="Arial"/>
                <a:ea typeface="Malgun Gothic"/>
                <a:cs typeface="Malgun Gothic"/>
              </a:rPr>
              <a:t> 장면 1,500개, 약 100시간이고, 장애물 크기·회전을 바꿔 충돌이 없는 짝만 남기면 약 1,000시간이 된다. 층은 둘이다. flow matching 계획기가 6.25 Hz로 0.5 s(25프레임) 앞의 전신 기준 동작을 낸다. 지형을 보도록 미세 조정한 범용 추종기(ScaleBFM)가 50 Hz로 관절 29개의 잔차 목표를 낸다. 계획기는 목표 위치, 최근 동작 4프레임, 몸통 중심의 3층 높이 지도(31 × 61칸, 5 cm)만 본다. 넘기·숙이기·옆으로 비집기 같은 기술 이름표도, 기술 선택기도 없다. 시뮬레이션의 처음 보는 장면 150개(750 에피소드)에서 성공률 98.7 %, 접촉 없는 성공률 70.3 %였다. 공개된 Click-and-Traverse 정책을 그대로 돌리면 70.3 %와 14.0 %다. 실물은 Jetson AGX Orin 하나로 LiDAR 지도, 계획, 추종을 모두 돌렸고, 서로 다른 배치 50개를 한 번씩 지나 50/50 도달, 45/50 무접촉이었다.</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520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2): 01은 데이터다. 절차 생성 장면 1,500개에서 VR 모션 캡처로 100시간을 모으고, 장면 증강으로 1,000시간의 동작–장면 짝을 만들어 G1에 리타기팅한다. 02는 LiDAR 점군과 자세를 ROG-Map에 모아 3층 높이 지도를 만드는 인식이다. 03은 사전학습, RTC 미세 조정, RL 미세 조정의 세 단계로 학습하는 flow 계획기이고, 3층 지도·목표·직전 묶음을 받아 앞으로의 기준 동작을 낸다. 04는 1,000시간 동작으로 사전학습한 추종기를 3층 지도를 보도록 미세 조정한 것이다. 05는 실물의 넘기·숙이기·옆으로 지나기다. 출처: PASSAGE 프로젝트 페이지, arXiv:2609.18732</a:t>
            </a:r>
          </a:p>
        </p:txBody>
      </p:sp>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 D와 같은 구조를 휴머노이드 규모로 키우고, 각 단계를 하나씩 뺀 결과를 냈다.</a:t>
            </a:r>
            <a:r>
              <a:rPr sz="1050" b="0" i="0">
                <a:solidFill>
                  <a:srgbClr val="16213A"/>
                </a:solidFill>
                <a:latin typeface="Arial"/>
                <a:ea typeface="Malgun Gothic"/>
                <a:cs typeface="Malgun Gothic"/>
              </a:rPr>
              <a:t> 지형을 보는 flow matching 계획기, 고정한 하위 층 아래에서의 계획기 RL 후학습, 높이 지도 입력이 모두 Planner D에 있다. 빼기 실험에서 접촉 없는 성공률이 크게 무너진 것은 셋이다. 직전 계획과 이어 붙이는 RTC를 빼면 24.5 %, RL 후학습을 빼면 26.4 %, 학습 때만 쓰는 퍼텐셜장 손실을 빼면 20.1 %였다(전체 70.3 %). Planner D는 첫째를 후보 선택의 직전 계획 유지로, 둘째를 TP-0066으로 하고 있고, 셋째는 없다. 아래 토글의 넷째 항목에 옮길 방법을 적었다.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데이터 수집, 계획기의 손실·RTC·RL 후학습, 3층 지도, 결과, 관련 연구 비교, Planner D와 맞대 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520</a:t>
            </a:r>
          </a:p>
        </p:txBody>
      </p:sp>
      <p:pic>
        <p:nvPicPr>
          <p:cNvPr id="5" name="Picture 4" descr="image.jpg"/>
          <p:cNvPicPr>
            <a:picLocks noChangeAspect="1"/>
          </p:cNvPicPr>
          <p:nvPr/>
        </p:nvPicPr>
        <p:blipFill>
          <a:blip r:embed="rId3"/>
          <a:stretch>
            <a:fillRect/>
          </a:stretch>
        </p:blipFill>
        <p:spPr>
          <a:xfrm>
            <a:off x="1209675" y="1244600"/>
            <a:ext cx="9772650" cy="2984500"/>
          </a:xfrm>
          <a:prstGeom prst="rect">
            <a:avLst/>
          </a:prstGeom>
        </p:spPr>
      </p:pic>
      <p:sp>
        <p:nvSpPr>
          <p:cNvPr id="6" name="TextBox 5"/>
          <p:cNvSpPr txBox="1"/>
          <p:nvPr/>
        </p:nvSpPr>
        <p:spPr>
          <a:xfrm>
            <a:off x="1209675" y="4267200"/>
            <a:ext cx="9772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PASSAGE (Fig. 1): 실물 G1의 네 장면이다. (a) 여러 노출을 겹친 사진으로, 나무 팔레트를 넘고, 블록 아치 밑으로 숙이고, 바퀴 달린 검은 가방 옆을 몸을 틀어 지난다. (b) 블록과 상자를 흩어 놓은 시험 장면에 지나간 자세를 겹쳤다. (c) 가구가 있는 거실에서 낮은 흰 막대를 넘는다. (d) 문 앞에 늘어진 커튼 밑으로 숙여 지난다. 모두 같은 계획기·추종기 한 쌍이고, 미리 만든 지도와 외부 계산 없이 돌았다. 출처: arXiv:2609.18732</a:t>
            </a:r>
          </a:p>
        </p:txBody>
      </p:sp>
      <p:sp>
        <p:nvSpPr>
          <p:cNvPr id="7" name="TextBox 6"/>
          <p:cNvSpPr txBox="1"/>
          <p:nvPr/>
        </p:nvSpPr>
        <p:spPr>
          <a:xfrm>
            <a:off x="609600" y="464046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수집.</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장면을 먼저 만들고, 사람이 그 장면 안을 지나가게 해서 동작과 기하가 처음부터 짝을 이루게 한다.</a:t>
            </a:r>
            <a:r>
              <a:rPr sz="1050" b="0" i="0">
                <a:solidFill>
                  <a:srgbClr val="16213A"/>
                </a:solidFill>
                <a:latin typeface="Arial"/>
                <a:ea typeface="Malgun Gothic"/>
                <a:cs typeface="Malgun Gothic"/>
              </a:rPr>
              <a:t> 절차 생성기가 10 m 복도에 블록 장애물을 놓는다. 난이도 변수 여덟 개(앞뒤 단차, 옆 비켜남, 통로 길이와 폭, 천장 확률과 높이, 바닥 장애물 확률과 높이)를 섞어 바닥·옆·머리 위 제약을 만든다. 조작자는 관성 모션 캡처 옷(Noitom PN Link)과 VR 헤드셋을 쓰고, 아바타의 1인칭 시점으로 장면을 지나간다. 가상 몸이 장면에 닿으면 진동으로 알리고, 그 시연은 버린다. G1(29자유도)에 리타기팅하고 장면도 같은 비율로 키우거나 줄여, 동작과 기하의 정렬을 지킨다. 충돌과 품질로 거른 뒤 19,310개 시퀀스(1,747만 프레임, 약 100시간)가 남았다. 동작과 장면을 따로 저장하므로, 장애물을 0.5–1.5배로 키우고 ±15° 돌린 변형 열 개를 MuJoCo 운동학 재생으로 검사해 충돌 없는 짝만 남긴다. 이렇게 약 1,000시간이 된다.</a:t>
            </a:r>
          </a:p>
        </p:txBody>
      </p:sp>
      <p:sp>
        <p:nvSpPr>
          <p:cNvPr id="8" name="TextBox 7"/>
          <p:cNvSpPr txBox="1"/>
          <p:nvPr/>
        </p:nvSpPr>
        <p:spPr>
          <a:xfrm>
            <a:off x="609600" y="581183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33개(문단·식·그림)는 대시보드 리서치 탭의 "자세히: 데이터 수집, 계획기의 손실·RTC·RL 후학습, 3층 지도, 결과, 관련 연구 비교, Planner D와 맞대 보기" 토글에 있다.</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NEXUS — 운영자의 평지 동작을 깊이 영상 한 장으로 계단과 경사 위에 맞추는 전신 추종기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arXiv:2609.39000</a:t>
            </a:r>
            <a:r>
              <a:rPr sz="1050" b="0" i="0">
                <a:solidFill>
                  <a:srgbClr val="16213A"/>
                </a:solidFill>
                <a:latin typeface="Arial"/>
                <a:ea typeface="Malgun Gothic"/>
                <a:cs typeface="Malgun Gothic"/>
              </a:rPr>
              <a:t>, Miao·Wu·Shi·Xie·Han·X. Wang·W. Zhang·C. Bai·X. Li, TeleAI(China Telecom)·상하이교통대·홍콩대·저장대·γ-Robotics, 2026-09-30, 학회 게재는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2026-10-23 공개). </a:t>
            </a:r>
            <a:r>
              <a:rPr sz="1050" b="1" i="0">
                <a:solidFill>
                  <a:srgbClr val="C2410C"/>
                </a:solidFill>
                <a:latin typeface="Arial"/>
                <a:ea typeface="Malgun Gothic"/>
                <a:cs typeface="Malgun Gothic"/>
              </a:rPr>
              <a:t>원격조종하는 사람은 평지에 서 있고, 로봇은 깊이 영상 한 장을 보고 그 동작을 지형 위에 맞춘다.</a:t>
            </a:r>
            <a:r>
              <a:rPr sz="1050" b="0" i="0">
                <a:solidFill>
                  <a:srgbClr val="16213A"/>
                </a:solidFill>
                <a:latin typeface="Arial"/>
                <a:ea typeface="Malgun Gothic"/>
                <a:cs typeface="Malgun Gothic"/>
              </a:rPr>
              <a:t> 어려운 지형(15 cm 계단, 24.2° 경사)에서 성공률이 51.9 %로, 지형을 보지 않는 SONIC v1.1(31.76 %)보다 높다. 평지는 90.0 %로 SONIC v1.1(88.33 %)과 비슷하다(Fig. 4b). 데이터는 평지 동작을 지형 위 동작으로 자동 변환해 만든다. 손발 접촉을 판정하고, 하향 광선으로 구한 지형 높이로 골반을 올리거나 내린 뒤, 접촉 키프레임에서 팔다리 IK를 풀고 관통을 고친다. 고친 양은 PCHIP으로 시간 보간한다. 모든 동작과 지형에 설정 하나를 쓴다. 원천은 SEED·LaFAN1·AMASS·100STYLE이고, 적응 변형을 포함한 짝 데이터는 약 1,000시간이다. 교사는 특권 상태와 골반 기준 높이 지도(11 × 17, 코드 기준 1.6 m × 1.0 m, 0.1 m 간격)를 보고 PPO로 배운다. 학생은 평지 기준 동작 창(과거 6·현재·미래 6프레임, 120 ms 앞), 고유감각 이력 10프레임, 깊이 영상 32 × 18 한 장만 보고 DAgger로 교사를 따라 한다. 학습은 mjlab(MuJoCo)에서 H100 넷, GPU당 환경 16,384개로 했다. 실물 G1은 D435i와 Jetson Orin NX에서 50 Hz로 돌고, 미세 조정 없이 15 cm 계단, 60 cm 대 내려오기와 뛰어내리기, 약 30° 풀밭 경사를 지났다.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절제(표 II)는 보지 않은 이동 클립 415개 × 지형 4종 × 레벨 5, 모두 8,300회 시행이다. 성공률은 91.07 %였고, 시각을 빼면 87.77 %, 교사–학생 없이 PPO 하나로 배우면 90.96 %였다. 시각의 값은 어려운 두 레벨에서 커진다(78.10 대 70.51 %). 교사–학생은 성공률보다 추종 정확도를 올렸다(뿌리 위치 오차 19.60 대 31.95 cm). 지형 조건의 몸체 위치 오차(MPKPE)는 10.15 cm로, 비교한 추종기 가운데 가장 컸다(HoloMotion 8.83 cm). 저자는 이 값이 실패 전 구간만 평균한 것이라 일찍 실패한 추종기가 유리해진다고 설명한다. 한계는 위가 덮인 지형을 다루지 않는다는 것이다. 실물에서는 60 cm 대 내려오기와 옆돌기에서 일부 넘어졌다.</a:t>
            </a:r>
          </a:p>
        </p:txBody>
      </p:sp>
      <p:sp>
        <p:nvSpPr>
          <p:cNvPr id="7" name="TextBox 6"/>
          <p:cNvSpPr txBox="1"/>
          <p:nvPr/>
        </p:nvSpPr>
        <p:spPr>
          <a:xfrm>
            <a:off x="609600" y="402034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NEXUS의 계약은 travplan의 Planner–Controller 분리와 같다. 위 층(운영자)은 지형을 모르는 명령을 내리고, 아래 층이 국소 인식으로 그 명령을 지형에 맞춘다. 가져올 것은 둘이다. 하나는 정답 지도를 보는 교사가 배포 관측만 보는 학생을 가르치는 구성이다. travplan에서는 L0의 참값 TravMap이 교사, L1 belief 지도가 학생 자리에 온다(B.16.7의 1번). 다른 하나는 실패율이 높은 50프레임 구간을 더 자주 뽑는 표집이다(B.16.7의 4번). 평가에서는 실패 전 구간만 평균한 오차가 일찍 실패한 쪽을 유리하게 만든다는 점을 기억한다. 오차는 성공률과 함께 읽는다. 가져올 수 없는 것도 있다. 다리 접촉 IK와 전신 자세 보상은 스워브 로봇에 맞지 않는다. 코드는 CC BY-NC 4.0이라 상업 배달로봇에 쓸 수 없다.</a:t>
            </a:r>
          </a:p>
        </p:txBody>
      </p:sp>
    </p:spTree>
  </p:cSld>
  <p:clrMapOvr>
    <a:masterClrMapping/>
  </p:clrMapOvr>
</p:sld>
</file>

<file path=ppt/slides/slide4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469 / 520</a:t>
            </a:r>
          </a:p>
        </p:txBody>
      </p:sp>
      <p:pic>
        <p:nvPicPr>
          <p:cNvPr id="5" name="Picture 4" descr="image.jpg"/>
          <p:cNvPicPr>
            <a:picLocks noChangeAspect="1"/>
          </p:cNvPicPr>
          <p:nvPr/>
        </p:nvPicPr>
        <p:blipFill>
          <a:blip r:embed="rId3"/>
          <a:stretch>
            <a:fillRect/>
          </a:stretch>
        </p:blipFill>
        <p:spPr>
          <a:xfrm>
            <a:off x="609600" y="1244600"/>
            <a:ext cx="49657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2): (a) 접촉 판정, 골반 조정, 관통 보정을 단 IK, 키프레임 보간으로 평지 동작의 지형 짝을 만든다. (b) 특권 PPO 교사가 DAgger로 학생을 가르친다. (c) 깊이 영상으로 원격조종을 미세 조정 없이 배포한다. 출처: arXiv:2609.39000</a:t>
            </a:r>
          </a:p>
        </p:txBody>
      </p:sp>
      <p:pic>
        <p:nvPicPr>
          <p:cNvPr id="7" name="Picture 6" descr="image.jpg"/>
          <p:cNvPicPr>
            <a:picLocks noChangeAspect="1"/>
          </p:cNvPicPr>
          <p:nvPr/>
        </p:nvPicPr>
        <p:blipFill>
          <a:blip r:embed="rId4"/>
          <a:stretch>
            <a:fillRect/>
          </a:stretch>
        </p:blipFill>
        <p:spPr>
          <a:xfrm>
            <a:off x="6172200" y="1244600"/>
            <a:ext cx="5410200" cy="1924050"/>
          </a:xfrm>
          <a:prstGeom prst="rect">
            <a:avLst/>
          </a:prstGeom>
        </p:spPr>
      </p:pic>
      <p:sp>
        <p:nvSpPr>
          <p:cNvPr id="8" name="TextBox 7"/>
          <p:cNvSpPr txBox="1"/>
          <p:nvPr/>
        </p:nvSpPr>
        <p:spPr>
          <a:xfrm>
            <a:off x="6172200" y="32067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NEXUS (Fig. 4): 공개 체크포인트가 있는 추종기 넷과의 비교. (b) 지형 적응에서 어려운 지형 성공률은 NEXUS 51.9 %, SONIC v1.1 31.76 %, HoloMotion 30.46 %다. (c) 지형 조건의 MPKPE는 NEXUS가 10.15 cm로 가장 크다. 원본은 SVG라 래스터로 바꿨다. 출처: arXiv:2609.39000</a:t>
            </a:r>
          </a:p>
        </p:txBody>
      </p:sp>
    </p:spTree>
  </p:cSld>
  <p:clrMapOvr>
    <a:masterClrMapping/>
  </p:clrMapOvr>
</p:sld>
</file>

<file path=ppt/slides/slide4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NEXUS의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470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a:t>
            </a:r>
            <a:r>
              <a:rPr sz="1050" b="0" i="0">
                <a:solidFill>
                  <a:srgbClr val="16213A"/>
                </a:solidFill>
                <a:latin typeface="Arial"/>
                <a:ea typeface="Malgun Gothic"/>
                <a:cs typeface="Malgun Gothic"/>
              </a:rPr>
              <a:t> 정책은 평지 기준 동작, 고유감각, 외부 관측을 받아 관절 PD 목표의 오프셋을 낸다(식 1, 15).</a:t>
            </a:r>
          </a:p>
        </p:txBody>
      </p:sp>
      <p:pic>
        <p:nvPicPr>
          <p:cNvPr id="6" name="Picture 5" descr="image.png"/>
          <p:cNvPicPr>
            <a:picLocks noChangeAspect="1"/>
          </p:cNvPicPr>
          <p:nvPr/>
        </p:nvPicPr>
        <p:blipFill>
          <a:blip r:embed="rId3"/>
          <a:stretch>
            <a:fillRect/>
          </a:stretch>
        </p:blipFill>
        <p:spPr>
          <a:xfrm>
            <a:off x="609600" y="1549995"/>
            <a:ext cx="3562350"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골반 조정.</a:t>
            </a:r>
            <a:r>
              <a:rPr sz="1050" b="0" i="0">
                <a:solidFill>
                  <a:srgbClr val="16213A"/>
                </a:solidFill>
                <a:latin typeface="Arial"/>
                <a:ea typeface="Malgun Gothic"/>
                <a:cs typeface="Malgun Gothic"/>
              </a:rPr>
              <a:t> 접촉한 손발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마다 지형 높이 </a:t>
            </a:r>
            <a:r>
              <a:rPr sz="1050" b="0" i="1">
                <a:solidFill>
                  <a:srgbClr val="16213A"/>
                </a:solidFill>
                <a:latin typeface="Arial"/>
                <a:ea typeface="Malgun Gothic"/>
                <a:cs typeface="Malgun Gothic"/>
              </a:rPr>
              <a:t>d_(t,i) = h(x_(t,i), y_(t,i))</a:t>
            </a:r>
            <a:r>
              <a:rPr sz="1050" b="0" i="0">
                <a:solidFill>
                  <a:srgbClr val="16213A"/>
                </a:solidFill>
                <a:latin typeface="Arial"/>
                <a:ea typeface="Malgun Gothic"/>
                <a:cs typeface="Malgun Gothic"/>
              </a:rPr>
              <a:t>를 구하고, 절댓값이 가장 큰 것으로 골반을 옮긴다(식 3). 계단 위 한 발이 가장 큰 차이를 만들면 그 발에 맞춰 몸 전체를 올린다.</a:t>
            </a:r>
          </a:p>
        </p:txBody>
      </p:sp>
      <p:pic>
        <p:nvPicPr>
          <p:cNvPr id="8" name="Picture 7" descr="image.png"/>
          <p:cNvPicPr>
            <a:picLocks noChangeAspect="1"/>
          </p:cNvPicPr>
          <p:nvPr/>
        </p:nvPicPr>
        <p:blipFill>
          <a:blip r:embed="rId4"/>
          <a:stretch>
            <a:fillRect/>
          </a:stretch>
        </p:blipFill>
        <p:spPr>
          <a:xfrm>
            <a:off x="609600" y="2132905"/>
            <a:ext cx="2476500" cy="298450"/>
          </a:xfrm>
          <a:prstGeom prst="rect">
            <a:avLst/>
          </a:prstGeom>
        </p:spPr>
      </p:pic>
      <p:sp>
        <p:nvSpPr>
          <p:cNvPr id="9" name="TextBox 8"/>
          <p:cNvSpPr txBox="1"/>
          <p:nvPr/>
        </p:nvSpPr>
        <p:spPr>
          <a:xfrm>
            <a:off x="609600" y="24618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키프레임 IK.</a:t>
            </a:r>
            <a:r>
              <a:rPr sz="1050" b="0" i="0">
                <a:solidFill>
                  <a:srgbClr val="16213A"/>
                </a:solidFill>
                <a:latin typeface="Arial"/>
                <a:ea typeface="Malgun Gothic"/>
                <a:cs typeface="Malgun Gothic"/>
              </a:rPr>
              <a:t> 팔다리 하나의 관절 넷을 다음으로 푼다(식 4). 셋째 항이 원래 평지 자세에서 너무 멀어지지 않게 묶는다.</a:t>
            </a:r>
          </a:p>
        </p:txBody>
      </p:sp>
      <p:pic>
        <p:nvPicPr>
          <p:cNvPr id="10" name="Picture 9" descr="image.png"/>
          <p:cNvPicPr>
            <a:picLocks noChangeAspect="1"/>
          </p:cNvPicPr>
          <p:nvPr/>
        </p:nvPicPr>
        <p:blipFill>
          <a:blip r:embed="rId5"/>
          <a:stretch>
            <a:fillRect/>
          </a:stretch>
        </p:blipFill>
        <p:spPr>
          <a:xfrm>
            <a:off x="609600" y="2767211"/>
            <a:ext cx="5010150" cy="320675"/>
          </a:xfrm>
          <a:prstGeom prst="rect">
            <a:avLst/>
          </a:prstGeom>
        </p:spPr>
      </p:pic>
      <p:sp>
        <p:nvSpPr>
          <p:cNvPr id="11" name="TextBox 10"/>
          <p:cNvSpPr txBox="1"/>
          <p:nvPr/>
        </p:nvSpPr>
        <p:spPr>
          <a:xfrm>
            <a:off x="609600" y="31120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보간.</a:t>
            </a:r>
            <a:r>
              <a:rPr sz="1050" b="0" i="0">
                <a:solidFill>
                  <a:srgbClr val="16213A"/>
                </a:solidFill>
                <a:latin typeface="Arial"/>
                <a:ea typeface="Malgun Gothic"/>
                <a:cs typeface="Malgun Gothic"/>
              </a:rPr>
              <a:t> 키프레임 보정을 PCHIP으로 잇고 평지 동작에 더한다(식 5–7). 수평 위치와 방향은 원래 값을 두므로, 두 동작은 프레임 단위로 맞는다.</a:t>
            </a:r>
          </a:p>
        </p:txBody>
      </p:sp>
      <p:sp>
        <p:nvSpPr>
          <p:cNvPr id="12" name="TextBox 11"/>
          <p:cNvSpPr txBox="1"/>
          <p:nvPr/>
        </p:nvSpPr>
        <p:spPr>
          <a:xfrm>
            <a:off x="609600" y="3417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교사 MLP는 2048-2048-1024-1024-512-512, 학생은 깊이 CNN 3층(32/32/64 채널, global max pool) 뒤 MLP 1024-1024-512-512-256이다. 보상은 추종, 접촉 시점(가중 5.0), 접촉 높이 차, 발바닥 지지(−1.0), 정규화, 생존(3.0)이다(표 IV). 지면 기준 골반 높이 오차나 골반 기준 손발 높이 오차가 0.25 m를 넘으면 에피소드를 끝낸다(식 13). 실패율이 높은 50프레임 구간을 더 자주 뽑고 균등 추출 0.1을 섞는다. 학습 지형은 평지, 경사(기울기 0.30), 계단(높이 10 cm, 디딤판 30 cm)이다.</a:t>
            </a:r>
          </a:p>
        </p:txBody>
      </p:sp>
      <p:sp>
        <p:nvSpPr>
          <p:cNvPr id="13" name="TextBox 12"/>
          <p:cNvSpPr txBox="1"/>
          <p:nvPr/>
        </p:nvSpPr>
        <p:spPr>
          <a:xfrm>
            <a:off x="609600" y="4155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품질(표 I, 55동작 × 16지형).</a:t>
            </a:r>
            <a:r>
              <a:rPr sz="1050" b="0" i="0">
                <a:solidFill>
                  <a:srgbClr val="16213A"/>
                </a:solidFill>
                <a:latin typeface="Arial"/>
                <a:ea typeface="Malgun Gothic"/>
                <a:cs typeface="Malgun Gothic"/>
              </a:rPr>
              <a:t> 손 접촉이 없는 동작의 접촉 유지는 79.12 %로 TCRS(29.63 %)보다 높고, 생성은 4.88배 빠르다. 대신 관통은 0.814 cm로 TCRS(0.606 cm)보다 조금 크다.</a:t>
            </a:r>
          </a:p>
        </p:txBody>
      </p:sp>
      <p:sp>
        <p:nvSpPr>
          <p:cNvPr id="14" name="TextBox 13"/>
          <p:cNvSpPr txBox="1"/>
          <p:nvPr/>
        </p:nvSpPr>
        <p:spPr>
          <a:xfrm>
            <a:off x="609600" y="44612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저장소에는 동작 적응 패키지, 학습 파이프라인, G1용 ONNX 체크포인트가 있다. sim-to-sim과 실물 배포 코드는 아직 없다(README의 Release Status, 2026-10-23).</a:t>
            </a:r>
          </a:p>
        </p:txBody>
      </p:sp>
    </p:spTree>
  </p:cSld>
  <p:clrMapOvr>
    <a:masterClrMapping/>
  </p:clrMapOvr>
</p:sld>
</file>

<file path=ppt/slides/slide4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ASAP·BeyondMimic·ExBody2·VideoMimic·AMO·GMT·PASSAGE와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12656"/>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PHP(G1)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이산 2D 속도 명령(학습은 1·2 m/s × 방향 다섯), 깊이 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카메라 30 Hz. 정책 주기는 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HumanX(G1)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없음(NEP 모드), 또는 모션 캡처의 물체·사람 자세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100 Hz, PD 1 kHz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PD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PASSAGE(G1)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계획기가 낸 0.5 s 전신 기준 동작(링크 14개 자세)과 3층 높이 지도. 계획기는 목표 위치만 받는다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6.25 Hz, 추종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29개 잔차 목표</a:t>
                      </a:r>
                    </a:p>
                  </a:txBody>
                  <a:tcPr marL="63500" marR="63500" marT="12700" marB="12700">
                    <a:solidFill>
                      <a:srgbClr val="FFFDF8"/>
                    </a:solidFill>
                  </a:tcPr>
                </a:tc>
              </a:tr>
            </a:tbl>
          </a:graphicData>
        </a:graphic>
      </p:graphicFrame>
    </p:spTree>
  </p:cSld>
  <p:clrMapOvr>
    <a:masterClrMapping/>
  </p:clrMapOvr>
</p:sld>
</file>

<file path=ppt/slides/slide4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472 / 520</a:t>
            </a:r>
          </a:p>
        </p:txBody>
      </p:sp>
      <p:graphicFrame>
        <p:nvGraphicFramePr>
          <p:cNvPr id="5" name="Table 4"/>
          <p:cNvGraphicFramePr>
            <a:graphicFrameLocks noGrp="1"/>
          </p:cNvGraphicFramePr>
          <p:nvPr/>
        </p:nvGraphicFramePr>
        <p:xfrm>
          <a:off x="609600" y="1244600"/>
          <a:ext cx="10966450" cy="833040"/>
        </p:xfrm>
        <a:graphic>
          <a:graphicData uri="http://schemas.openxmlformats.org/drawingml/2006/table">
            <a:tbl>
              <a:tblPr firstRow="1" bandRow="1">
                <a:tableStyleId>{5C22544A-7EE6-4342-B048-85BDC9FD1C3A}</a:tableStyleId>
              </a:tblPr>
              <a:tblGrid>
                <a:gridCol w="1992015"/>
                <a:gridCol w="3918148"/>
                <a:gridCol w="3462139"/>
                <a:gridCol w="1594148"/>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6" name="TextBox 5"/>
          <p:cNvSpPr txBox="1"/>
          <p:nvPr/>
        </p:nvSpPr>
        <p:spPr>
          <a:xfrm>
            <a:off x="609600" y="238115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graphicFrame>
        <p:nvGraphicFramePr>
          <p:cNvPr id="7" name="Table 6"/>
          <p:cNvGraphicFramePr>
            <a:graphicFrameLocks noGrp="1"/>
          </p:cNvGraphicFramePr>
          <p:nvPr/>
        </p:nvGraphicFramePr>
        <p:xfrm>
          <a:off x="609600" y="2686546"/>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Tree>
  </p:cSld>
  <p:clrMapOvr>
    <a:masterClrMapping/>
  </p:clrMapOvr>
</p:sld>
</file>

<file path=ppt/slides/slide4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473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
        <p:nvSpPr>
          <p:cNvPr id="7" name="TextBox 6"/>
          <p:cNvSpPr txBox="1"/>
          <p:nvPr/>
        </p:nvSpPr>
        <p:spPr>
          <a:xfrm>
            <a:off x="609600" y="2502694"/>
            <a:ext cx="10972800" cy="3514725"/>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바꾼다(HT·HT-2·PHP,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PHP는 DAgger 가중을 학습 절반까지 내리되 0.1에서 멈췄고, 모방 항을 빼면 행동이 떨렸다고 적는다. 그래서 네 판(고정 λ, 절반에 0으로 내리는 λ, 절반에 0.1로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p:txBody>
      </p:sp>
    </p:spTree>
  </p:cSld>
  <p:clrMapOvr>
    <a:masterClrMapping/>
  </p:clrMapOvr>
</p:sld>
</file>

<file path=ppt/slides/slide4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474 / 520</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지형 표집을 실패율로 정한다(BeyondMimic·Humanoid Parkour·PHP,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PHP는 실패율 표집을 교사 학습에만 쓰고 학생 증류에서는 껐다. 실패하지 않지만 떨리는 경계 표본을 덜 뽑게 되기 때문이다. Planner D를 증류하는 단계에서는 고른 표집을 남긴다. TP-0138의 두 판(curb_ramp만, 모든 지형)은 둘 다 26/30이라 이 처방을 가르지 못했다(B.15.5). 가설은 같은 rollout 예산에서 드문 실패 장면이 더 자주 학습된다는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p:txBody>
      </p:sp>
    </p:spTree>
  </p:cSld>
  <p:clrMapOvr>
    <a:masterClrMapping/>
  </p:clrMapOvr>
</p:sld>
</file>

<file path=ppt/slides/slide4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475 / 520</a:t>
            </a:r>
          </a:p>
        </p:txBody>
      </p:sp>
      <p:sp>
        <p:nvSpPr>
          <p:cNvPr id="5" name="TextBox 4"/>
          <p:cNvSpPr txBox="1"/>
          <p:nvPr/>
        </p:nvSpPr>
        <p:spPr>
          <a:xfrm>
            <a:off x="609600" y="1244600"/>
            <a:ext cx="10972800" cy="3298230"/>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463173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476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확인했다.</a:t>
            </a:r>
          </a:p>
        </p:txBody>
      </p:sp>
    </p:spTree>
  </p:cSld>
  <p:clrMapOvr>
    <a:masterClrMapping/>
  </p:clrMapOvr>
</p:sld>
</file>

<file path=ppt/slides/slide4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12행)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477 / 520</a:t>
            </a:r>
          </a:p>
        </p:txBody>
      </p:sp>
      <p:graphicFrame>
        <p:nvGraphicFramePr>
          <p:cNvPr id="5" name="Table 4"/>
          <p:cNvGraphicFramePr>
            <a:graphicFrameLocks noGrp="1"/>
          </p:cNvGraphicFramePr>
          <p:nvPr/>
        </p:nvGraphicFramePr>
        <p:xfrm>
          <a:off x="609600" y="1244600"/>
          <a:ext cx="10966450" cy="2562144"/>
        </p:xfrm>
        <a:graphic>
          <a:graphicData uri="http://schemas.openxmlformats.org/drawingml/2006/table">
            <a:tbl>
              <a:tblPr firstRow="1" bandRow="1">
                <a:tableStyleId>{5C22544A-7EE6-4342-B048-85BDC9FD1C3A}</a:tableStyleId>
              </a:tblPr>
              <a:tblGrid>
                <a:gridCol w="808038"/>
                <a:gridCol w="3522365"/>
                <a:gridCol w="1262062"/>
                <a:gridCol w="4242891"/>
                <a:gridCol w="11310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3F0E8"/>
                    </a:solidFill>
                  </a:tcPr>
                </a:tc>
              </a:tr>
            </a:tbl>
          </a:graphicData>
        </a:graphic>
      </p:graphicFrame>
    </p:spTree>
  </p:cSld>
  <p:clrMapOvr>
    <a:masterClrMapping/>
  </p:clrMapOvr>
</p:sld>
</file>

<file path=ppt/slides/slide4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478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479 / 520</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480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481 / 520</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482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Tree>
  </p:cSld>
  <p:clrMapOvr>
    <a:masterClrMapping/>
  </p:clrMapOvr>
</p:sld>
</file>

<file path=ppt/slides/slide4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483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6" name="Picture 5" descr="image.png"/>
          <p:cNvPicPr>
            <a:picLocks noChangeAspect="1"/>
          </p:cNvPicPr>
          <p:nvPr/>
        </p:nvPicPr>
        <p:blipFill>
          <a:blip r:embed="rId4"/>
          <a:stretch>
            <a:fillRect/>
          </a:stretch>
        </p:blipFill>
        <p:spPr>
          <a:xfrm>
            <a:off x="609600" y="2632472"/>
            <a:ext cx="2505075" cy="241300"/>
          </a:xfrm>
          <a:prstGeom prst="rect">
            <a:avLst/>
          </a:prstGeom>
        </p:spPr>
      </p:pic>
      <p:sp>
        <p:nvSpPr>
          <p:cNvPr id="7" name="TextBox 6"/>
          <p:cNvSpPr txBox="1"/>
          <p:nvPr/>
        </p:nvSpPr>
        <p:spPr>
          <a:xfrm>
            <a:off x="609600" y="290998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8" name="TextBox 7"/>
          <p:cNvSpPr txBox="1"/>
          <p:nvPr/>
        </p:nvSpPr>
        <p:spPr>
          <a:xfrm>
            <a:off x="609600" y="3431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
        <p:nvSpPr>
          <p:cNvPr id="9" name="TextBox 8"/>
          <p:cNvSpPr txBox="1"/>
          <p:nvPr/>
        </p:nvSpPr>
        <p:spPr>
          <a:xfrm>
            <a:off x="609600" y="417026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10" name="Picture 9" descr="image.png"/>
          <p:cNvPicPr>
            <a:picLocks noChangeAspect="1"/>
          </p:cNvPicPr>
          <p:nvPr/>
        </p:nvPicPr>
        <p:blipFill>
          <a:blip r:embed="rId8"/>
          <a:stretch>
            <a:fillRect/>
          </a:stretch>
        </p:blipFill>
        <p:spPr>
          <a:xfrm>
            <a:off x="609600" y="5341640"/>
            <a:ext cx="2301875" cy="428625"/>
          </a:xfrm>
          <a:prstGeom prst="rect">
            <a:avLst/>
          </a:prstGeom>
        </p:spPr>
      </p:pic>
      <p:sp>
        <p:nvSpPr>
          <p:cNvPr id="11" name="TextBox 10"/>
          <p:cNvSpPr txBox="1"/>
          <p:nvPr/>
        </p:nvSpPr>
        <p:spPr>
          <a:xfrm>
            <a:off x="609600" y="578256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4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484 / 520</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4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485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48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분야별 지형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486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B.18 로봇 분야별 계획·제어: 레이싱카, 모바일 로봇, 도로 자율주행, 사족보행, 휴머노이드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487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다섯 분야에 같은 질문(무엇을 쓰고, 무엇이 대세이고, 어디로 가는가)을 던지면 답이 크게 갈린다.</a:t>
            </a:r>
            <a:r>
              <a:rPr sz="1050" b="0" i="0">
                <a:solidFill>
                  <a:srgbClr val="16213A"/>
                </a:solidFill>
                <a:latin typeface="Arial"/>
                <a:ea typeface="Malgun Gothic"/>
                <a:cs typeface="Malgun Gothic"/>
              </a:rPr>
              <a:t> 레이싱카만 아직 최적화와 MPC가 스택의 중심이다. 사족보행과 휴머노이드는 저수준 제어가 강화학습으로 넘어갔다. 모바일 로봇은 그래프 탐색과 샘플링 MPC, 도로 자율주행은 대형 학습 모델과 검증층이 중심이다. 궤적 최적화는 사라지지 않았고 자리가 바뀌었다. 스택 전체를 맡던 주 플래너에서 참조와 교사를 만드는 생성기, 안전을 확인하는 검증층, 추종 제어기로 옮겨 갔다. </a:t>
            </a:r>
            <a:r>
              <a:rPr sz="1050" b="1" i="0">
                <a:solidFill>
                  <a:srgbClr val="C2410C"/>
                </a:solidFill>
                <a:latin typeface="Arial"/>
                <a:ea typeface="Malgun Gothic"/>
                <a:cs typeface="Malgun Gothic"/>
              </a:rPr>
              <a:t>travplan의 스택은 학습 Planner를 위에, 샘플링 MPC(MPPI)와 NMPC를 아래에 두어 다리 로봇의 학습 상위층과 모바일 로봇의 대세를 겹친 모양이다.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Elastic-Tracker 계보 문서(ZJU FAST Lab의 MINCO 계열 다섯 저장소를 정리한 문서)의 15절 </a:t>
            </a:r>
            <a:r>
              <a:rPr sz="1050" b="0" i="0">
                <a:solidFill>
                  <a:srgbClr val="1D4ED8"/>
                </a:solidFill>
                <a:latin typeface="Arial"/>
                <a:ea typeface="Malgun Gothic"/>
                <a:cs typeface="Malgun Gothic"/>
                <a:hlinkClick r:id="rId3"/>
              </a:rPr>
              <a:t>다른 로봇 분야</a:t>
            </a:r>
            <a:r>
              <a:rPr sz="1050" b="0" i="0">
                <a:solidFill>
                  <a:srgbClr val="16213A"/>
                </a:solidFill>
                <a:latin typeface="Arial"/>
                <a:ea typeface="Malgun Gothic"/>
                <a:cs typeface="Malgun Gothic"/>
              </a:rPr>
              <a:t>를 travplan의 관점으로 옮긴 것이다. 원 문서는 드론의 궤적 최적화(MINCO)가 다른 분야에서 어디에 남는지를 물었다. 여기서는 그 결론을 travplan의 Planner와 Controller 경계에 대 본다(B.18.6). 조사 시점은 2026-09-11이고, 문헌과 공개 자료를 조사했을 뿐 코드는 실행하지 않았다. 분야마다 인용 12건 이상을 다시 열어 반증을 시도했고, 정정·확인 불가·과장 판정 86건을 반영했다고 원 문서 16절은 적는다. 분야별 깊은 읽기는 제자리에 있다. 도로 자율주행은 B.12.1·B.11·B.13, 모바일 로봇의 고전 기준선은 B.10·B.12.4, 사족보행과 휴머노이드는 B.14·B.16에 있다. 이 절의 대괄호 인용 키(예: R1, N1)는 원 문서의 번호를 그대로 쓰고, 절 끝 토글의 근거 목록을 가리킨다.</a:t>
            </a:r>
          </a:p>
        </p:txBody>
      </p:sp>
      <p:sp>
        <p:nvSpPr>
          <p:cNvPr id="7" name="TextBox 6"/>
          <p:cNvSpPr txBox="1"/>
          <p:nvPr/>
        </p:nvSpPr>
        <p:spPr>
          <a:xfrm>
            <a:off x="717550" y="33708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B.18.1 한눈에: 분야 × 방식</a:t>
            </a:r>
          </a:p>
        </p:txBody>
      </p:sp>
      <p:sp>
        <p:nvSpPr>
          <p:cNvPr id="8" name="TextBox 7"/>
          <p:cNvSpPr txBox="1"/>
          <p:nvPr/>
        </p:nvSpPr>
        <p:spPr>
          <a:xfrm>
            <a:off x="609600" y="36740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 낱말은 여섯이다. </a:t>
            </a:r>
            <a:r>
              <a:rPr sz="1050" b="1" i="0">
                <a:solidFill>
                  <a:srgbClr val="16213A"/>
                </a:solidFill>
                <a:latin typeface="Arial"/>
                <a:ea typeface="Malgun Gothic"/>
                <a:cs typeface="Malgun Gothic"/>
              </a:rPr>
              <a:t>대세</a:t>
            </a:r>
            <a:r>
              <a:rPr sz="1050" b="0" i="0">
                <a:solidFill>
                  <a:srgbClr val="16213A"/>
                </a:solidFill>
                <a:latin typeface="Arial"/>
                <a:ea typeface="Malgun Gothic"/>
                <a:cs typeface="Malgun Gothic"/>
              </a:rPr>
              <a:t>는 배치·우승·기본값에서 주류로 확인된 것, </a:t>
            </a:r>
            <a:r>
              <a:rPr sz="1050" b="1" i="0">
                <a:solidFill>
                  <a:srgbClr val="16213A"/>
                </a:solidFill>
                <a:latin typeface="Arial"/>
                <a:ea typeface="Malgun Gothic"/>
                <a:cs typeface="Malgun Gothic"/>
              </a:rPr>
              <a:t>정착</a:t>
            </a:r>
            <a:r>
              <a:rPr sz="1050" b="0" i="0">
                <a:solidFill>
                  <a:srgbClr val="16213A"/>
                </a:solidFill>
                <a:latin typeface="Arial"/>
                <a:ea typeface="Malgun Gothic"/>
                <a:cs typeface="Malgun Gothic"/>
              </a:rPr>
              <a:t>은 널리 쓰이지만 중심은 아닌 것, </a:t>
            </a:r>
            <a:r>
              <a:rPr sz="1050" b="1" i="0">
                <a:solidFill>
                  <a:srgbClr val="16213A"/>
                </a:solidFill>
                <a:latin typeface="Arial"/>
                <a:ea typeface="Malgun Gothic"/>
                <a:cs typeface="Malgun Gothic"/>
              </a:rPr>
              <a:t>부상</a:t>
            </a:r>
            <a:r>
              <a:rPr sz="1050" b="0" i="0">
                <a:solidFill>
                  <a:srgbClr val="16213A"/>
                </a:solidFill>
                <a:latin typeface="Arial"/>
                <a:ea typeface="Malgun Gothic"/>
                <a:cs typeface="Malgun Gothic"/>
              </a:rPr>
              <a:t>은 증거가 빠르게 늘지만 배치는 제한적인 것이다. </a:t>
            </a:r>
            <a:r>
              <a:rPr sz="1050" b="1" i="0">
                <a:solidFill>
                  <a:srgbClr val="16213A"/>
                </a:solidFill>
                <a:latin typeface="Arial"/>
                <a:ea typeface="Malgun Gothic"/>
                <a:cs typeface="Malgun Gothic"/>
              </a:rPr>
              <a:t>축소</a:t>
            </a:r>
            <a:r>
              <a:rPr sz="1050" b="0" i="0">
                <a:solidFill>
                  <a:srgbClr val="16213A"/>
                </a:solidFill>
                <a:latin typeface="Arial"/>
                <a:ea typeface="Malgun Gothic"/>
                <a:cs typeface="Malgun Gothic"/>
              </a:rPr>
              <a:t>는 자리를 내주는 중인 것, </a:t>
            </a:r>
            <a:r>
              <a:rPr sz="1050" b="1" i="0">
                <a:solidFill>
                  <a:srgbClr val="16213A"/>
                </a:solidFill>
                <a:latin typeface="Arial"/>
                <a:ea typeface="Malgun Gothic"/>
                <a:cs typeface="Malgun Gothic"/>
              </a:rPr>
              <a:t>소수</a:t>
            </a:r>
            <a:r>
              <a:rPr sz="1050" b="0" i="0">
                <a:solidFill>
                  <a:srgbClr val="16213A"/>
                </a:solidFill>
                <a:latin typeface="Arial"/>
                <a:ea typeface="Malgun Gothic"/>
                <a:cs typeface="Malgun Gothic"/>
              </a:rPr>
              <a:t>는 일부 연구나 사례뿐인 것, </a:t>
            </a:r>
            <a:r>
              <a:rPr sz="1050" b="1" i="0">
                <a:solidFill>
                  <a:srgbClr val="16213A"/>
                </a:solidFill>
                <a:latin typeface="Arial"/>
                <a:ea typeface="Malgun Gothic"/>
                <a:cs typeface="Malgun Gothic"/>
              </a:rPr>
              <a:t>없음</a:t>
            </a:r>
            <a:r>
              <a:rPr sz="1050" b="0" i="0">
                <a:solidFill>
                  <a:srgbClr val="16213A"/>
                </a:solidFill>
                <a:latin typeface="Arial"/>
                <a:ea typeface="Malgun Gothic"/>
                <a:cs typeface="Malgun Gothic"/>
              </a:rPr>
              <a:t>은 이번 조사에서 증거를 찾지 못한 것이다. 상태는 학계와 산업의 증거를 합친 판단이라, 같은 칸 안에서도 학계는 활발한데 배치가 없는 경우가 많다.</a:t>
            </a:r>
          </a:p>
        </p:txBody>
      </p:sp>
      <p:graphicFrame>
        <p:nvGraphicFramePr>
          <p:cNvPr id="9" name="Table 8"/>
          <p:cNvGraphicFramePr>
            <a:graphicFrameLocks noGrp="1"/>
          </p:cNvGraphicFramePr>
          <p:nvPr/>
        </p:nvGraphicFramePr>
        <p:xfrm>
          <a:off x="609600" y="4195961"/>
          <a:ext cx="10966449" cy="1468992"/>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모델 기반 제어(MPC·WBC·LQR·추종)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기하 제어·MPC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Tube·LPV-MPC·LQR·PP</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RPP·DWB·Graceful 추종</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MPC·PP 추종 + 검증층</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RL로 대체 중, Spot은 MPC +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BD Atlas는 MPC 위 LBM</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궤적 최적화(TO·NMPC·다항식·MINCO)</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MINCO + L-BFGS 20 Hz</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오프라인 최소시간·최소곡률 레이스라인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TEB 레거시, DDR-opt는 학계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주 플래너에서 후처리·검증으로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발 디딤·참조, RL 교사 데이터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보상·참조·데이터 생성</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탐색·샘플링 계획(그래프·Frenet·lattice·MAPF)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A* 전단 + 최적화 후단</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Frenet·그래프 샘플링 로컬 플래너</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NavFn·Smac 전역, 창고 MAPF</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lattice, 규칙 기반 후보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전역 내비, 샘플링 발 디딤</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축소</a:t>
                      </a:r>
                      <a:r>
                        <a:rPr sz="800" b="0" i="0">
                          <a:solidFill>
                            <a:srgbClr val="16213A"/>
                          </a:solidFill>
                          <a:latin typeface="Arial"/>
                          <a:ea typeface="Malgun Gothic"/>
                          <a:cs typeface="Malgun Gothic"/>
                        </a:rPr>
                        <a:t> 고전 발자국 계획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샘플링 MPC(MPPI·DIAL-MPC)</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배치 증거 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IU 팀의 MPPI 전환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정착</a:t>
                      </a:r>
                      <a:r>
                        <a:rPr sz="800" b="0" i="0">
                          <a:solidFill>
                            <a:srgbClr val="16213A"/>
                          </a:solidFill>
                          <a:latin typeface="Arial"/>
                          <a:ea typeface="Malgun Gothic"/>
                          <a:cs typeface="Malgun Gothic"/>
                        </a:rPr>
                        <a:t> Nav2 기본값, 양산은 비공개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DIAL-MPC 등 신흥</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학계 한정</a:t>
                      </a:r>
                    </a:p>
                  </a:txBody>
                  <a:tcPr marL="63500" marR="63500" marT="12700" marB="12700">
                    <a:solidFill>
                      <a:srgbClr val="F3F0E8"/>
                    </a:solidFill>
                  </a:tcPr>
                </a:tc>
              </a:tr>
            </a:tbl>
          </a:graphicData>
        </a:graphic>
      </p:graphicFrame>
    </p:spTree>
  </p:cSld>
  <p:clrMapOvr>
    <a:masterClrMapping/>
  </p:clrMapOvr>
</p:sld>
</file>

<file path=ppt/slides/slide4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488 / 520</a:t>
            </a:r>
          </a:p>
        </p:txBody>
      </p:sp>
      <p:graphicFrame>
        <p:nvGraphicFramePr>
          <p:cNvPr id="5" name="Table 4"/>
          <p:cNvGraphicFramePr>
            <a:graphicFrameLocks noGrp="1"/>
          </p:cNvGraphicFramePr>
          <p:nvPr/>
        </p:nvGraphicFramePr>
        <p:xfrm>
          <a:off x="609600" y="1244600"/>
          <a:ext cx="10966449" cy="1786968"/>
        </p:xfrm>
        <a:graphic>
          <a:graphicData uri="http://schemas.openxmlformats.org/drawingml/2006/table">
            <a:tbl>
              <a:tblPr firstRow="1" bandRow="1">
                <a:tableStyleId>{5C22544A-7EE6-4342-B048-85BDC9FD1C3A}</a:tableStyleId>
              </a:tblPr>
              <a:tblGrid>
                <a:gridCol w="1911350"/>
                <a:gridCol w="1396305"/>
                <a:gridCol w="1665585"/>
                <a:gridCol w="1536700"/>
                <a:gridCol w="1330325"/>
                <a:gridCol w="1610320"/>
                <a:gridCol w="1515864"/>
              </a:tblGrid>
              <a:tr h="197088">
                <a:tc>
                  <a:txBody>
                    <a:bodyPr wrap="square"/>
                    <a:lstStyle/>
                    <a:p>
                      <a:r>
                        <a:rPr sz="800" b="1" i="0">
                          <a:solidFill>
                            <a:srgbClr val="F4F1EA"/>
                          </a:solidFill>
                          <a:latin typeface="Arial"/>
                          <a:ea typeface="Malgun Gothic"/>
                          <a:cs typeface="Malgun Gothic"/>
                        </a:rPr>
                        <a:t>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드론(참고)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레이싱카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모바일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도로 자율주행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강화학습 sim-to-real(저수준 제어)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드론 레이싱 RL 우승</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잔차 RL, 풀스케일 우승 없음</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소셜·오프로드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대규모 closed-loop RL</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ANYbotics·BD·Unitree 배치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Figure·Agility·Unitree·BD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모방학습·모션 트래킹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전문가 플래너 증류</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보조적 사용</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BARN 2024 행동복제 우승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종단간 학습의 기본</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확산 정책 등</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모캡 기반 전신 제어</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종단간·학습형 플래너(계획 계층을 대체)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YOPO·DiffPhysDrone</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GT Sophy는 심 레이싱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NoMaD·NavDP, 연구 단계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대세</a:t>
                      </a:r>
                      <a:r>
                        <a:rPr sz="800" b="0" i="0">
                          <a:solidFill>
                            <a:srgbClr val="16213A"/>
                          </a:solidFill>
                          <a:latin typeface="Arial"/>
                          <a:ea typeface="Malgun Gothic"/>
                          <a:cs typeface="Malgun Gothic"/>
                        </a:rPr>
                        <a:t> 양산 ADAS 종단간·스코어링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계층형 RL 내비</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학습형 내비</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교차 embodiment 연구</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NaVILA·OmniVLA</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교사 FM·VLA 양산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상위 내비·점검에서</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Helix 02·GR00T·LBM</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모델·생성 모델(시뮬레이터·평가·데이터)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모델 기반 RL 연구</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월드 모델 에이전트 실차 시험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r>
                        <a:rPr sz="800" b="0" i="0">
                          <a:solidFill>
                            <a:srgbClr val="16213A"/>
                          </a:solidFill>
                          <a:latin typeface="Arial"/>
                          <a:ea typeface="Malgun Gothic"/>
                          <a:cs typeface="Malgun Gothic"/>
                        </a:rPr>
                        <a:t> NWM, 초기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학습된 시뮬레이터</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소수</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부상</a:t>
                      </a:r>
                      <a:r>
                        <a:rPr sz="800" b="0" i="0">
                          <a:solidFill>
                            <a:srgbClr val="16213A"/>
                          </a:solidFill>
                          <a:latin typeface="Arial"/>
                          <a:ea typeface="Malgun Gothic"/>
                          <a:cs typeface="Malgun Gothic"/>
                        </a:rPr>
                        <a:t> 행동 FM·정책 평가</a:t>
                      </a:r>
                    </a:p>
                  </a:txBody>
                  <a:tcPr marL="63500" marR="63500" marT="12700" marB="12700">
                    <a:solidFill>
                      <a:srgbClr val="FFFDF8"/>
                    </a:solidFill>
                  </a:tcPr>
                </a:tc>
              </a:tr>
            </a:tbl>
          </a:graphicData>
        </a:graphic>
      </p:graphicFrame>
      <p:sp>
        <p:nvSpPr>
          <p:cNvPr id="6" name="TextBox 5"/>
          <p:cNvSpPr txBox="1"/>
          <p:nvPr/>
        </p:nvSpPr>
        <p:spPr>
          <a:xfrm>
            <a:off x="609600" y="35735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궤적 최적화 행에서 대세는 드론과 레이싱카 두 칸뿐이다. 나머지 넷은 정착이라, 쓰이지만 스택의 중심은 아니다. 반대로 강화학습 행의 대세는 다리 달린 두 분야다. 모방학습과 종단간 플래너는 각각 학습 신호와 계획 계층이라는 다른 관점이라, 도로 자율주행처럼 둘 다 대세일 수 있다.</a:t>
            </a:r>
          </a:p>
        </p:txBody>
      </p:sp>
      <p:sp>
        <p:nvSpPr>
          <p:cNvPr id="7" name="TextBox 6"/>
          <p:cNvSpPr txBox="1"/>
          <p:nvPr/>
        </p:nvSpPr>
        <p:spPr>
          <a:xfrm>
            <a:off x="717550" y="40954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B.18.2 분야별: 쓰는 방식, 대세, 다음</a:t>
            </a:r>
          </a:p>
        </p:txBody>
      </p:sp>
      <p:sp>
        <p:nvSpPr>
          <p:cNvPr id="8" name="TextBox 7"/>
          <p:cNvSpPr txBox="1"/>
          <p:nvPr/>
        </p:nvSpPr>
        <p:spPr>
          <a:xfrm>
            <a:off x="609600" y="439866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 — 궤적 최적화가 아직 스택의 중심이다</a:t>
            </a:r>
            <a:r>
              <a:rPr sz="1050" b="0" i="0">
                <a:solidFill>
                  <a:srgbClr val="16213A"/>
                </a:solidFill>
                <a:latin typeface="Arial"/>
                <a:ea typeface="Malgun Gothic"/>
                <a:cs typeface="Malgun Gothic"/>
              </a:rPr>
              <a:t>(IAC, A2RL, F1TENTH, Formula Student). 쓰는 방식. 트랙을 미리 알기 때문에 가장 무거운 최적화를 오프라인으로 뺀다. 최소곡률 QP나 최소시간 최적 제어(직접 콜로케이션과 IPOPT)로 레이스라인을 만든다. 주행 중에는 Frenet 좌표에서 다항식 후보를 샘플링해 타당성 검사로 고르고, Tube·LPV-MPC, LQR, Pure Pursuit로 따라간다. 상태 추정은 다중 센서 EKF다 </a:t>
            </a:r>
            <a:r>
              <a:rPr sz="1050" b="0" i="0">
                <a:solidFill>
                  <a:srgbClr val="1D4ED8"/>
                </a:solidFill>
                <a:latin typeface="Arial"/>
                <a:ea typeface="Malgun Gothic"/>
                <a:cs typeface="Malgun Gothic"/>
                <a:hlinkClick r:id="rId3"/>
              </a:rPr>
              <a:t>R12</a:t>
            </a:r>
            <a:r>
              <a:rPr sz="1050" b="0" i="0">
                <a:solidFill>
                  <a:srgbClr val="16213A"/>
                </a:solidFill>
                <a:latin typeface="Arial"/>
                <a:ea typeface="Malgun Gothic"/>
                <a:cs typeface="Malgun Gothic"/>
              </a:rPr>
              <a:t>. 대세와 근거. 스택을 공개한 상위 팀은 모두 같은 모듈형이다. TUM(A2RL 2024 우승 스택) </a:t>
            </a:r>
            <a:r>
              <a:rPr sz="1050" b="0" i="0">
                <a:solidFill>
                  <a:srgbClr val="1D4ED8"/>
                </a:solidFill>
                <a:latin typeface="Arial"/>
                <a:ea typeface="Malgun Gothic"/>
                <a:cs typeface="Malgun Gothic"/>
                <a:hlinkClick r:id="rId4"/>
              </a:rPr>
              <a:t>R1</a:t>
            </a:r>
            <a:r>
              <a:rPr sz="1050" b="0" i="0">
                <a:solidFill>
                  <a:srgbClr val="16213A"/>
                </a:solidFill>
                <a:latin typeface="Arial"/>
                <a:ea typeface="Malgun Gothic"/>
                <a:cs typeface="Malgun Gothic"/>
              </a:rPr>
              <a:t>, TII Unimore </a:t>
            </a:r>
            <a:r>
              <a:rPr sz="1050" b="0" i="0">
                <a:solidFill>
                  <a:srgbClr val="1D4ED8"/>
                </a:solidFill>
                <a:latin typeface="Arial"/>
                <a:ea typeface="Malgun Gothic"/>
                <a:cs typeface="Malgun Gothic"/>
                <a:hlinkClick r:id="rId5"/>
              </a:rPr>
              <a:t>R2</a:t>
            </a:r>
            <a:r>
              <a:rPr sz="1050" b="0" i="0">
                <a:solidFill>
                  <a:srgbClr val="16213A"/>
                </a:solidFill>
                <a:latin typeface="Arial"/>
                <a:ea typeface="Malgun Gothic"/>
                <a:cs typeface="Malgun Gothic"/>
              </a:rPr>
              <a:t>, KAIST </a:t>
            </a:r>
            <a:r>
              <a:rPr sz="1050" b="0" i="0">
                <a:solidFill>
                  <a:srgbClr val="1D4ED8"/>
                </a:solidFill>
                <a:latin typeface="Arial"/>
                <a:ea typeface="Malgun Gothic"/>
                <a:cs typeface="Malgun Gothic"/>
                <a:hlinkClick r:id="rId6"/>
              </a:rPr>
              <a:t>R10</a:t>
            </a:r>
            <a:r>
              <a:rPr sz="1050" b="0" i="0">
                <a:solidFill>
                  <a:srgbClr val="16213A"/>
                </a:solidFill>
                <a:latin typeface="Arial"/>
                <a:ea typeface="Malgun Gothic"/>
                <a:cs typeface="Malgun Gothic"/>
              </a:rPr>
              <a:t>, ForzaETH(F1TENTH 우승) </a:t>
            </a:r>
            <a:r>
              <a:rPr sz="1050" b="0" i="0">
                <a:solidFill>
                  <a:srgbClr val="1D4ED8"/>
                </a:solidFill>
                <a:latin typeface="Arial"/>
                <a:ea typeface="Malgun Gothic"/>
                <a:cs typeface="Malgun Gothic"/>
                <a:hlinkClick r:id="rId7"/>
              </a:rPr>
              <a:t>R4</a:t>
            </a:r>
            <a:r>
              <a:rPr sz="1050" b="0" i="0">
                <a:solidFill>
                  <a:srgbClr val="16213A"/>
                </a:solidFill>
                <a:latin typeface="Arial"/>
                <a:ea typeface="Malgun Gothic"/>
                <a:cs typeface="Malgun Gothic"/>
              </a:rPr>
              <a:t>가 그렇다. F1TENTH 벤치마크도 최적화와 추종이 가장 빠르다고 정리한다 </a:t>
            </a:r>
            <a:r>
              <a:rPr sz="1050" b="0" i="0">
                <a:solidFill>
                  <a:srgbClr val="1D4ED8"/>
                </a:solidFill>
                <a:latin typeface="Arial"/>
                <a:ea typeface="Malgun Gothic"/>
                <a:cs typeface="Malgun Gothic"/>
                <a:hlinkClick r:id="rId8"/>
              </a:rPr>
              <a:t>R5</a:t>
            </a:r>
            <a:r>
              <a:rPr sz="1050" b="0" i="0">
                <a:solidFill>
                  <a:srgbClr val="16213A"/>
                </a:solidFill>
                <a:latin typeface="Arial"/>
                <a:ea typeface="Malgun Gothic"/>
                <a:cs typeface="Malgun Gothic"/>
              </a:rPr>
              <a:t>. 다만 IAC 최다 우승 팀 PoliMOVE와 Cavalier는 스택을 공개하지 않아서, 이길수록 MPC라고는 말할 수 없다. RL이 제품에 들어간 공개 사례로는 심 레이싱의 GT Sophy(GT7, 2023)가 대표적이다 </a:t>
            </a:r>
            <a:r>
              <a:rPr sz="1050" b="0" i="0">
                <a:solidFill>
                  <a:srgbClr val="1D4ED8"/>
                </a:solidFill>
                <a:latin typeface="Arial"/>
                <a:ea typeface="Malgun Gothic"/>
                <a:cs typeface="Malgun Gothic"/>
                <a:hlinkClick r:id="rId9"/>
              </a:rPr>
              <a:t>R7</a:t>
            </a:r>
            <a:r>
              <a:rPr sz="1050" b="0" i="0">
                <a:solidFill>
                  <a:srgbClr val="16213A"/>
                </a:solidFill>
                <a:latin typeface="Arial"/>
                <a:ea typeface="Malgun Gothic"/>
                <a:cs typeface="Malgun Gothic"/>
              </a:rPr>
              <a:t>. 다음. 단독 주행에서 4대(CES 2025), 6대 동시 결승(A2RL 2025) </a:t>
            </a:r>
            <a:r>
              <a:rPr sz="1050" b="0" i="0">
                <a:solidFill>
                  <a:srgbClr val="1D4ED8"/>
                </a:solidFill>
                <a:latin typeface="Arial"/>
                <a:ea typeface="Malgun Gothic"/>
                <a:cs typeface="Malgun Gothic"/>
                <a:hlinkClick r:id="rId10"/>
              </a:rPr>
              <a:t>R11</a:t>
            </a:r>
            <a:r>
              <a:rPr sz="1050" b="0" i="0">
                <a:solidFill>
                  <a:srgbClr val="16213A"/>
                </a:solidFill>
                <a:latin typeface="Arial"/>
                <a:ea typeface="Malgun Gothic"/>
                <a:cs typeface="Malgun Gothic"/>
              </a:rPr>
              <a:t>으로 바뀌면서 게임이론 요소가 샘플링 플래너의 비용과 가이던스로 들어오고 있다. 아직 시뮬레이션 단계다 </a:t>
            </a:r>
            <a:r>
              <a:rPr sz="1050" b="0" i="0">
                <a:solidFill>
                  <a:srgbClr val="1D4ED8"/>
                </a:solidFill>
                <a:latin typeface="Arial"/>
                <a:ea typeface="Malgun Gothic"/>
                <a:cs typeface="Malgun Gothic"/>
                <a:hlinkClick r:id="rId11"/>
              </a:rPr>
              <a:t>R8</a:t>
            </a:r>
            <a:r>
              <a:rPr sz="1050" b="0" i="0">
                <a:solidFill>
                  <a:srgbClr val="16213A"/>
                </a:solidFill>
                <a:latin typeface="Arial"/>
                <a:ea typeface="Malgun Gothic"/>
                <a:cs typeface="Malgun Gothic"/>
              </a:rPr>
              <a:t>. 잔차 RL </a:t>
            </a:r>
            <a:r>
              <a:rPr sz="1050" b="0" i="0">
                <a:solidFill>
                  <a:srgbClr val="1D4ED8"/>
                </a:solidFill>
                <a:latin typeface="Arial"/>
                <a:ea typeface="Malgun Gothic"/>
                <a:cs typeface="Malgun Gothic"/>
                <a:hlinkClick r:id="rId12"/>
              </a:rPr>
              <a:t>R6</a:t>
            </a:r>
            <a:r>
              <a:rPr sz="1050" b="0" i="0">
                <a:solidFill>
                  <a:srgbClr val="16213A"/>
                </a:solidFill>
                <a:latin typeface="Arial"/>
                <a:ea typeface="Malgun Gothic"/>
                <a:cs typeface="Malgun Gothic"/>
              </a:rPr>
              <a:t>과 학습 동역학은 MPC를 보정하는 형태다. 월드 모델 에이전트는 실차 256 km/h 시험까지 나왔지만 대회에서 쓴 것은 확인되지 않았다 </a:t>
            </a:r>
            <a:r>
              <a:rPr sz="1050" b="0" i="0">
                <a:solidFill>
                  <a:srgbClr val="1D4ED8"/>
                </a:solidFill>
                <a:latin typeface="Arial"/>
                <a:ea typeface="Malgun Gothic"/>
                <a:cs typeface="Malgun Gothic"/>
                <a:hlinkClick r:id="rId13"/>
              </a:rPr>
              <a:t>R9</a:t>
            </a:r>
            <a:r>
              <a:rPr sz="1050" b="0" i="0">
                <a:solidFill>
                  <a:srgbClr val="16213A"/>
                </a:solidFill>
                <a:latin typeface="Arial"/>
                <a:ea typeface="Malgun Gothic"/>
                <a:cs typeface="Malgun Gothic"/>
              </a:rPr>
              <a:t>. IU 팀은 제어기를 PP, 선형 MPC, MPPI 순으로 바꿔 왔다 </a:t>
            </a:r>
            <a:r>
              <a:rPr sz="1050" b="0" i="0">
                <a:solidFill>
                  <a:srgbClr val="1D4ED8"/>
                </a:solidFill>
                <a:latin typeface="Arial"/>
                <a:ea typeface="Malgun Gothic"/>
                <a:cs typeface="Malgun Gothic"/>
                <a:hlinkClick r:id="rId14"/>
              </a:rPr>
              <a:t>R3</a:t>
            </a:r>
            <a:r>
              <a:rPr sz="1050" b="0" i="0">
                <a:solidFill>
                  <a:srgbClr val="16213A"/>
                </a:solidFill>
                <a:latin typeface="Arial"/>
                <a:ea typeface="Malgun Gothic"/>
                <a:cs typeface="Malgun Gothic"/>
              </a:rPr>
              <a:t>.</a:t>
            </a:r>
          </a:p>
        </p:txBody>
      </p:sp>
    </p:spTree>
  </p:cSld>
  <p:clrMapOvr>
    <a:masterClrMapping/>
  </p:clrMapOvr>
</p:sld>
</file>

<file path=ppt/slides/slide4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489 / 520</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모바일 로봇 — 궤적 최적화는 학계에 머물고, 산업의 상대는 샘플링 MPC다</a:t>
            </a:r>
            <a:r>
              <a:rPr sz="1050" b="0" i="0">
                <a:solidFill>
                  <a:srgbClr val="16213A"/>
                </a:solidFill>
                <a:latin typeface="Arial"/>
                <a:ea typeface="Malgun Gothic"/>
                <a:cs typeface="Malgun Gothic"/>
              </a:rPr>
              <a:t>(Nav2, 창고 AMR, BARN, 오프로드). 쓰는 방식. 위치 추정(SLAM·AMCL, 창고는 바닥 마커를 섞는다), 레이어드 코스트맵, 그래프 탐색 전역 계획(NavFn, Smac Hybrid-A*·State Lattice </a:t>
            </a:r>
            <a:r>
              <a:rPr sz="1050" b="0" i="0">
                <a:solidFill>
                  <a:srgbClr val="1D4ED8"/>
                </a:solidFill>
                <a:latin typeface="Arial"/>
                <a:ea typeface="Malgun Gothic"/>
                <a:cs typeface="Malgun Gothic"/>
                <a:hlinkClick r:id="rId3"/>
              </a:rPr>
              <a:t>N2</a:t>
            </a:r>
            <a:r>
              <a:rPr sz="1050" b="0" i="0">
                <a:solidFill>
                  <a:srgbClr val="16213A"/>
                </a:solidFill>
                <a:latin typeface="Arial"/>
                <a:ea typeface="Malgun Gothic"/>
                <a:cs typeface="Malgun Gothic"/>
              </a:rPr>
              <a:t>), 20–50 Hz 로컬 컨트롤러(MPPI, RPP, DWB, Graceful) 순으로 쌓는다. 창고에서는 로봇 한 대보다 플릿 교통 관리(Lifelong MAPF와 중앙 배차)가 처리량을 좌우한다. 대세와 근거. ROS 2 Nav2의 기본 로컬 컨트롤러가 Humble의 DWB에서 Jazzy 이후 MPPI로 바뀌었다 </a:t>
            </a:r>
            <a:r>
              <a:rPr sz="1050" b="0" i="0">
                <a:solidFill>
                  <a:srgbClr val="1D4ED8"/>
                </a:solidFill>
                <a:latin typeface="Arial"/>
                <a:ea typeface="Malgun Gothic"/>
                <a:cs typeface="Malgun Gothic"/>
                <a:hlinkClick r:id="rId4"/>
              </a:rPr>
              <a:t>N1</a:t>
            </a:r>
            <a:r>
              <a:rPr sz="1050" b="0" i="0">
                <a:solidFill>
                  <a:srgbClr val="16213A"/>
                </a:solidFill>
                <a:latin typeface="Arial"/>
                <a:ea typeface="Malgun Gothic"/>
                <a:cs typeface="Malgun Gothic"/>
              </a:rPr>
              <a:t>. 예제 기본값이 곧 양산 채택은 아니고, 벤더 알고리즘은 대부분 비공개다. 창고 MAPF 대회의 우승 해법과 기본 계획기는 모두 탐색 기반(PIBT·LNS 계열)이다 </a:t>
            </a:r>
            <a:r>
              <a:rPr sz="1050" b="0" i="0">
                <a:solidFill>
                  <a:srgbClr val="1D4ED8"/>
                </a:solidFill>
                <a:latin typeface="Arial"/>
                <a:ea typeface="Malgun Gothic"/>
                <a:cs typeface="Malgun Gothic"/>
                <a:hlinkClick r:id="rId5"/>
              </a:rPr>
              <a:t>N8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N9</a:t>
            </a:r>
            <a:r>
              <a:rPr sz="1050" b="0" i="0">
                <a:solidFill>
                  <a:srgbClr val="16213A"/>
                </a:solidFill>
                <a:latin typeface="Arial"/>
                <a:ea typeface="Malgun Gothic"/>
                <a:cs typeface="Malgun Gothic"/>
              </a:rPr>
              <a:t>. BARN에서는 2024년 행동복제 팀이 처음 실물 우승했지만, 상위 팀 모두 규칙 기반 상태 기계를 섞었다 </a:t>
            </a:r>
            <a:r>
              <a:rPr sz="1050" b="0" i="0">
                <a:solidFill>
                  <a:srgbClr val="1D4ED8"/>
                </a:solidFill>
                <a:latin typeface="Arial"/>
                <a:ea typeface="Malgun Gothic"/>
                <a:cs typeface="Malgun Gothic"/>
                <a:hlinkClick r:id="rId7"/>
              </a:rPr>
              <a:t>N3</a:t>
            </a:r>
            <a:r>
              <a:rPr sz="1050" b="0" i="0">
                <a:solidFill>
                  <a:srgbClr val="16213A"/>
                </a:solidFill>
                <a:latin typeface="Arial"/>
                <a:ea typeface="Malgun Gothic"/>
                <a:cs typeface="Malgun Gothic"/>
              </a:rPr>
              <a:t>. 2025년에는 학습형 팀이 결선 우승을 잇지 못했다 </a:t>
            </a:r>
            <a:r>
              <a:rPr sz="1050" b="0" i="0">
                <a:solidFill>
                  <a:srgbClr val="1D4ED8"/>
                </a:solidFill>
                <a:latin typeface="Arial"/>
                <a:ea typeface="Malgun Gothic"/>
                <a:cs typeface="Malgun Gothic"/>
                <a:hlinkClick r:id="rId8"/>
              </a:rPr>
              <a:t>N13</a:t>
            </a:r>
            <a:r>
              <a:rPr sz="1050" b="0" i="0">
                <a:solidFill>
                  <a:srgbClr val="16213A"/>
                </a:solidFill>
                <a:latin typeface="Arial"/>
                <a:ea typeface="Malgun Gothic"/>
                <a:cs typeface="Malgun Gothic"/>
              </a:rPr>
              <a:t>. 다음. 계층형 스택은 유지되고 MPPI의 궤적 검증·운동 모델 같은 기능이 강해질 것이다. 학습·VLM 모듈은 코스트맵 층이나 critic으로 흡수될 가능성이 크다. 플릿은 탐색 코어에 학습 유도와 할당을 얹는 그림(1만 대 규모 </a:t>
            </a:r>
            <a:r>
              <a:rPr sz="1050" b="0" i="0">
                <a:solidFill>
                  <a:srgbClr val="1D4ED8"/>
                </a:solidFill>
                <a:latin typeface="Arial"/>
                <a:ea typeface="Malgun Gothic"/>
                <a:cs typeface="Malgun Gothic"/>
                <a:hlinkClick r:id="rId9"/>
              </a:rPr>
              <a:t>N7</a:t>
            </a:r>
            <a:r>
              <a:rPr sz="1050" b="0" i="0">
                <a:solidFill>
                  <a:srgbClr val="16213A"/>
                </a:solidFill>
                <a:latin typeface="Arial"/>
                <a:ea typeface="Malgun Gothic"/>
                <a:cs typeface="Malgun Gothic"/>
              </a:rPr>
              <a:t>)이 가장 방어하기 쉽다. 내비 파운데이션 모델(NoMaD </a:t>
            </a:r>
            <a:r>
              <a:rPr sz="1050" b="0" i="0">
                <a:solidFill>
                  <a:srgbClr val="1D4ED8"/>
                </a:solidFill>
                <a:latin typeface="Arial"/>
                <a:ea typeface="Malgun Gothic"/>
                <a:cs typeface="Malgun Gothic"/>
                <a:hlinkClick r:id="rId10"/>
              </a:rPr>
              <a:t>N5</a:t>
            </a:r>
            <a:r>
              <a:rPr sz="1050" b="0" i="0">
                <a:solidFill>
                  <a:srgbClr val="16213A"/>
                </a:solidFill>
                <a:latin typeface="Arial"/>
                <a:ea typeface="Malgun Gothic"/>
                <a:cs typeface="Malgun Gothic"/>
              </a:rPr>
              <a:t>, NavDP </a:t>
            </a:r>
            <a:r>
              <a:rPr sz="1050" b="0" i="0">
                <a:solidFill>
                  <a:srgbClr val="1D4ED8"/>
                </a:solidFill>
                <a:latin typeface="Arial"/>
                <a:ea typeface="Malgun Gothic"/>
                <a:cs typeface="Malgun Gothic"/>
                <a:hlinkClick r:id="rId11"/>
              </a:rPr>
              <a:t>N4</a:t>
            </a:r>
            <a:r>
              <a:rPr sz="1050" b="0" i="0">
                <a:solidFill>
                  <a:srgbClr val="16213A"/>
                </a:solidFill>
                <a:latin typeface="Arial"/>
                <a:ea typeface="Malgun Gothic"/>
                <a:cs typeface="Malgun Gothic"/>
              </a:rPr>
              <a:t>, NaVILA </a:t>
            </a:r>
            <a:r>
              <a:rPr sz="1050" b="0" i="0">
                <a:solidFill>
                  <a:srgbClr val="1D4ED8"/>
                </a:solidFill>
                <a:latin typeface="Arial"/>
                <a:ea typeface="Malgun Gothic"/>
                <a:cs typeface="Malgun Gothic"/>
                <a:hlinkClick r:id="rId12"/>
              </a:rPr>
              <a:t>N6</a:t>
            </a:r>
            <a:r>
              <a:rPr sz="1050" b="0" i="0">
                <a:solidFill>
                  <a:srgbClr val="16213A"/>
                </a:solidFill>
                <a:latin typeface="Arial"/>
                <a:ea typeface="Malgun Gothic"/>
                <a:cs typeface="Malgun Gothic"/>
              </a:rPr>
              <a:t>)은 대부분 프리프린트와 시뮬레이션 평가다. Amazon DeepFleet의 이동 시간 10% 개선은 회사 주장이다 </a:t>
            </a:r>
            <a:r>
              <a:rPr sz="1050" b="0" i="0">
                <a:solidFill>
                  <a:srgbClr val="1D4ED8"/>
                </a:solidFill>
                <a:latin typeface="Arial"/>
                <a:ea typeface="Malgun Gothic"/>
                <a:cs typeface="Malgun Gothic"/>
                <a:hlinkClick r:id="rId13"/>
              </a:rPr>
              <a:t>N10</a:t>
            </a:r>
            <a:r>
              <a:rPr sz="1050" b="0" i="0">
                <a:solidFill>
                  <a:srgbClr val="16213A"/>
                </a:solidFill>
                <a:latin typeface="Arial"/>
                <a:ea typeface="Malgun Gothic"/>
                <a:cs typeface="Malgun Gothic"/>
              </a:rPr>
              <a:t>. 오프로드(DARPA RACER)는 스핀오프로 상용화 중이지만 계획·제어 층을 공개하지 않았다 </a:t>
            </a:r>
            <a:r>
              <a:rPr sz="1050" b="0" i="0">
                <a:solidFill>
                  <a:srgbClr val="1D4ED8"/>
                </a:solidFill>
                <a:latin typeface="Arial"/>
                <a:ea typeface="Malgun Gothic"/>
                <a:cs typeface="Malgun Gothic"/>
                <a:hlinkClick r:id="rId14"/>
              </a:rPr>
              <a:t>N11</a:t>
            </a:r>
            <a:r>
              <a:rPr sz="1050" b="0" i="0">
                <a:solidFill>
                  <a:srgbClr val="16213A"/>
                </a:solidFill>
                <a:latin typeface="Arial"/>
                <a:ea typeface="Malgun Gothic"/>
                <a:cs typeface="Malgun Gothic"/>
              </a:rPr>
              <a:t>.</a:t>
            </a:r>
          </a:p>
        </p:txBody>
      </p:sp>
      <p:sp>
        <p:nvSpPr>
          <p:cNvPr id="6" name="TextBox 5"/>
          <p:cNvSpPr txBox="1"/>
          <p:nvPr/>
        </p:nvSpPr>
        <p:spPr>
          <a:xfrm>
            <a:off x="609600" y="3065462"/>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도로 자율주행 — 궤적 최적화는 검증과 후처리로 물러났다</a:t>
            </a:r>
            <a:r>
              <a:rPr sz="1050" b="0" i="0">
                <a:solidFill>
                  <a:srgbClr val="16213A"/>
                </a:solidFill>
                <a:latin typeface="Arial"/>
                <a:ea typeface="Malgun Gothic"/>
                <a:cs typeface="Malgun Gothic"/>
              </a:rPr>
              <a:t>(로보택시, 양산 ADAS, NAVSIM, Autoware). 쓰는 방식. 오픈소스 기준선은 규칙 기반 결정에 Frenet DP·QP(Apollo)나 MPT(Autoware)를 붙이고 MPC·PP로 추종한다. 학계는 nuPlan에서 규칙 기반 PDM-Closed가 우승한 뒤(2023) </a:t>
            </a:r>
            <a:r>
              <a:rPr sz="1050" b="0" i="0">
                <a:solidFill>
                  <a:srgbClr val="1D4ED8"/>
                </a:solidFill>
                <a:latin typeface="Arial"/>
                <a:ea typeface="Malgun Gothic"/>
                <a:cs typeface="Malgun Gothic"/>
                <a:hlinkClick r:id="rId15"/>
              </a:rPr>
              <a:t>A1</a:t>
            </a:r>
            <a:r>
              <a:rPr sz="1050" b="0" i="0">
                <a:solidFill>
                  <a:srgbClr val="16213A"/>
                </a:solidFill>
                <a:latin typeface="Arial"/>
                <a:ea typeface="Malgun Gothic"/>
                <a:cs typeface="Malgun Gothic"/>
              </a:rPr>
              <a:t> 학습 플래너, 쿼리 기반 종단간(UniAD·VAD·SparseDrive), 여러 후보를 만들어 점수로 고르는 구조(DiffusionDrive </a:t>
            </a:r>
            <a:r>
              <a:rPr sz="1050" b="0" i="0">
                <a:solidFill>
                  <a:srgbClr val="1D4ED8"/>
                </a:solidFill>
                <a:latin typeface="Arial"/>
                <a:ea typeface="Malgun Gothic"/>
                <a:cs typeface="Malgun Gothic"/>
                <a:hlinkClick r:id="rId16"/>
              </a:rPr>
              <a:t>A3</a:t>
            </a:r>
            <a:r>
              <a:rPr sz="1050" b="0" i="0">
                <a:solidFill>
                  <a:srgbClr val="16213A"/>
                </a:solidFill>
                <a:latin typeface="Arial"/>
                <a:ea typeface="Malgun Gothic"/>
                <a:cs typeface="Malgun Gothic"/>
              </a:rPr>
              <a:t>, GTRS </a:t>
            </a:r>
            <a:r>
              <a:rPr sz="1050" b="0" i="0">
                <a:solidFill>
                  <a:srgbClr val="1D4ED8"/>
                </a:solidFill>
                <a:latin typeface="Arial"/>
                <a:ea typeface="Malgun Gothic"/>
                <a:cs typeface="Malgun Gothic"/>
                <a:hlinkClick r:id="rId17"/>
              </a:rPr>
              <a:t>A2</a:t>
            </a:r>
            <a:r>
              <a:rPr sz="1050" b="0" i="0">
                <a:solidFill>
                  <a:srgbClr val="16213A"/>
                </a:solidFill>
                <a:latin typeface="Arial"/>
                <a:ea typeface="Malgun Gothic"/>
                <a:cs typeface="Malgun Gothic"/>
              </a:rPr>
              <a:t>) 순으로 옮겨 갔다. B.12.1이 이 흐름을 깊게 다룬다. 대세와 근거. 학계에서는 NAVSIM 공식 챌린지 3회가 모두 후보 생성과 스코어링 계열의 우승이었다. 양산 ADAS는 단일 종단간 네트워크를 내세운다(Tesla FSD v12, XPeng VLA 2.0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로보택시는 대형 학습 모델에 명시적 검증층을 붙인다. Waymo는 교사 파운데이션 모델을 증류한 온보드 모델의 궤적을 독립 검증층이 물리 hard 제약과 교통 법규로 점검한다고 밝혔다 </a:t>
            </a:r>
            <a:r>
              <a:rPr sz="1050" b="0" i="0">
                <a:solidFill>
                  <a:srgbClr val="1D4ED8"/>
                </a:solidFill>
                <a:latin typeface="Arial"/>
                <a:ea typeface="Malgun Gothic"/>
                <a:cs typeface="Malgun Gothic"/>
                <a:hlinkClick r:id="rId19"/>
              </a:rPr>
              <a:t>A6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0"/>
              </a:rPr>
              <a:t>A7</a:t>
            </a:r>
            <a:r>
              <a:rPr sz="1050" b="0" i="0">
                <a:solidFill>
                  <a:srgbClr val="16213A"/>
                </a:solidFill>
                <a:latin typeface="Arial"/>
                <a:ea typeface="Malgun Gothic"/>
                <a:cs typeface="Malgun Gothic"/>
              </a:rPr>
              <a:t>. Mercedes CLA의 NVIDIA DRIVE AV는 종단간 모델과 병렬 고전 안전 스택의 조합이다 </a:t>
            </a:r>
            <a:r>
              <a:rPr sz="1050" b="0" i="0">
                <a:solidFill>
                  <a:srgbClr val="1D4ED8"/>
                </a:solidFill>
                <a:latin typeface="Arial"/>
                <a:ea typeface="Malgun Gothic"/>
                <a:cs typeface="Malgun Gothic"/>
                <a:hlinkClick r:id="rId21"/>
              </a:rPr>
              <a:t>A8</a:t>
            </a:r>
            <a:r>
              <a:rPr sz="1050" b="0" i="0">
                <a:solidFill>
                  <a:srgbClr val="16213A"/>
                </a:solidFill>
                <a:latin typeface="Arial"/>
                <a:ea typeface="Malgun Gothic"/>
                <a:cs typeface="Malgun Gothic"/>
              </a:rPr>
              <a:t>. Autoware도 Diffusion Planner 노드를 규칙 기반 구성 요소와 나란히 둔다 </a:t>
            </a:r>
            <a:r>
              <a:rPr sz="1050" b="0" i="0">
                <a:solidFill>
                  <a:srgbClr val="1D4ED8"/>
                </a:solidFill>
                <a:latin typeface="Arial"/>
                <a:ea typeface="Malgun Gothic"/>
                <a:cs typeface="Malgun Gothic"/>
                <a:hlinkClick r:id="rId22"/>
              </a:rPr>
              <a:t>A9</a:t>
            </a:r>
            <a:r>
              <a:rPr sz="1050" b="0" i="0">
                <a:solidFill>
                  <a:srgbClr val="16213A"/>
                </a:solidFill>
                <a:latin typeface="Arial"/>
                <a:ea typeface="Malgun Gothic"/>
                <a:cs typeface="Malgun Gothic"/>
              </a:rPr>
              <a:t>. 다음. VLM·VLA와 RL 후학습(2025 Waymo 종단간 챌린지 1위 </a:t>
            </a:r>
            <a:r>
              <a:rPr sz="1050" b="0" i="0">
                <a:solidFill>
                  <a:srgbClr val="1D4ED8"/>
                </a:solidFill>
                <a:latin typeface="Arial"/>
                <a:ea typeface="Malgun Gothic"/>
                <a:cs typeface="Malgun Gothic"/>
                <a:hlinkClick r:id="rId23"/>
              </a:rPr>
              <a:t>A4</a:t>
            </a:r>
            <a:r>
              <a:rPr sz="1050" b="0" i="0">
                <a:solidFill>
                  <a:srgbClr val="16213A"/>
                </a:solidFill>
                <a:latin typeface="Arial"/>
                <a:ea typeface="Malgun Gothic"/>
                <a:cs typeface="Malgun Gothic"/>
              </a:rPr>
              <a:t>), 대규모 closed-loop RL </a:t>
            </a:r>
            <a:r>
              <a:rPr sz="1050" b="0" i="0">
                <a:solidFill>
                  <a:srgbClr val="1D4ED8"/>
                </a:solidFill>
                <a:latin typeface="Arial"/>
                <a:ea typeface="Malgun Gothic"/>
                <a:cs typeface="Malgun Gothic"/>
                <a:hlinkClick r:id="rId24"/>
              </a:rPr>
              <a:t>A5</a:t>
            </a:r>
            <a:r>
              <a:rPr sz="1050" b="0" i="0">
                <a:solidFill>
                  <a:srgbClr val="16213A"/>
                </a:solidFill>
                <a:latin typeface="Arial"/>
                <a:ea typeface="Malgun Gothic"/>
                <a:cs typeface="Malgun Gothic"/>
              </a:rPr>
              <a:t>이 넓어진다. 추론 시점의 언어 단계를 없애는 흐름도 있다 </a:t>
            </a:r>
            <a:r>
              <a:rPr sz="1050" b="0" i="0">
                <a:solidFill>
                  <a:srgbClr val="1D4ED8"/>
                </a:solidFill>
                <a:latin typeface="Arial"/>
                <a:ea typeface="Malgun Gothic"/>
                <a:cs typeface="Malgun Gothic"/>
                <a:hlinkClick r:id="rId18"/>
              </a:rPr>
              <a:t>A13</a:t>
            </a:r>
            <a:r>
              <a:rPr sz="1050" b="0" i="0">
                <a:solidFill>
                  <a:srgbClr val="16213A"/>
                </a:solidFill>
                <a:latin typeface="Arial"/>
                <a:ea typeface="Malgun Gothic"/>
                <a:cs typeface="Malgun Gothic"/>
              </a:rPr>
              <a:t>. 평가 자체가 쟁점이다. NAVSIM 점수 산정 결함과 closed-loop 순위 역전이 보고됐다 </a:t>
            </a:r>
            <a:r>
              <a:rPr sz="1050" b="0" i="0">
                <a:solidFill>
                  <a:srgbClr val="1D4ED8"/>
                </a:solidFill>
                <a:latin typeface="Arial"/>
                <a:ea typeface="Malgun Gothic"/>
                <a:cs typeface="Malgun Gothic"/>
                <a:hlinkClick r:id="rId25"/>
              </a:rPr>
              <a:t>A10</a:t>
            </a:r>
            <a:r>
              <a:rPr sz="1050" b="0" i="0">
                <a:solidFill>
                  <a:srgbClr val="16213A"/>
                </a:solidFill>
                <a:latin typeface="Arial"/>
                <a:ea typeface="Malgun Gothic"/>
                <a:cs typeface="Malgun Gothic"/>
              </a:rPr>
              <a:t>. 궤적 최적화와 MPC는 주 플래너보다 실현 가능성 투영, 제약 검증, 추종으로 남을 가능성이 크다.</a:t>
            </a:r>
          </a:p>
        </p:txBody>
      </p:sp>
    </p:spTree>
  </p:cSld>
  <p:clrMapOvr>
    <a:masterClrMapping/>
  </p:clrMapOvr>
</p:sld>
</file>

<file path=ppt/slides/slide4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490 / 520</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 궤적 최적화는 발 디딤, 참조, 교사 데이터로 남았다</a:t>
            </a:r>
            <a:r>
              <a:rPr sz="1050" b="0" i="0">
                <a:solidFill>
                  <a:srgbClr val="16213A"/>
                </a:solidFill>
                <a:latin typeface="Arial"/>
                <a:ea typeface="Malgun Gothic"/>
                <a:cs typeface="Malgun Gothic"/>
              </a:rPr>
              <a:t>(ANYmal, Spot, Unitree, Raibo, HOUND). 쓰는 방식. 2018–2022년에는 단일 강체 모델 convex MPC와 전신 제어(MIT Cheetah), 지각 NMPC </a:t>
            </a:r>
            <a:r>
              <a:rPr sz="1050" b="0" i="0">
                <a:solidFill>
                  <a:srgbClr val="1D4ED8"/>
                </a:solidFill>
                <a:latin typeface="Arial"/>
                <a:ea typeface="Malgun Gothic"/>
                <a:cs typeface="Malgun Gothic"/>
                <a:hlinkClick r:id="rId3"/>
              </a:rPr>
              <a:t>Q8</a:t>
            </a:r>
            <a:r>
              <a:rPr sz="1050" b="0" i="0">
                <a:solidFill>
                  <a:srgbClr val="16213A"/>
                </a:solidFill>
                <a:latin typeface="Arial"/>
                <a:ea typeface="Malgun Gothic"/>
                <a:cs typeface="Malgun Gothic"/>
              </a:rPr>
              <a:t>, TAMOLS 같은 모델 기반 최적 제어가 보행 제어기 그 자체였다. 2019년 이후에는 GPU 병렬 시뮬레이션에서 PPO, 도메인 무작위화, 교사–학생 증류로 학습한 sim-to-real RL이 표준이 됐다 </a:t>
            </a:r>
            <a:r>
              <a:rPr sz="1050" b="0" i="0">
                <a:solidFill>
                  <a:srgbClr val="1D4ED8"/>
                </a:solidFill>
                <a:latin typeface="Arial"/>
                <a:ea typeface="Malgun Gothic"/>
                <a:cs typeface="Malgun Gothic"/>
                <a:hlinkClick r:id="rId4"/>
              </a:rPr>
              <a:t>Q1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Q2</a:t>
            </a:r>
            <a:r>
              <a:rPr sz="1050" b="0" i="0">
                <a:solidFill>
                  <a:srgbClr val="16213A"/>
                </a:solidFill>
                <a:latin typeface="Arial"/>
                <a:ea typeface="Malgun Gothic"/>
                <a:cs typeface="Malgun Gothic"/>
              </a:rPr>
              <a:t>. B.14.1이 이 전환을 RSL 계보로 읽는다. 대세와 근거. ANYbotics는 2023년 RL 보행을 운용 중인 로봇 전부에 배포했다고 밝혔다(자사 발표) </a:t>
            </a:r>
            <a:r>
              <a:rPr sz="1050" b="0" i="0">
                <a:solidFill>
                  <a:srgbClr val="1D4ED8"/>
                </a:solidFill>
                <a:latin typeface="Arial"/>
                <a:ea typeface="Malgun Gothic"/>
                <a:cs typeface="Malgun Gothic"/>
                <a:hlinkClick r:id="rId6"/>
              </a:rPr>
              <a:t>Q3</a:t>
            </a:r>
            <a:r>
              <a:rPr sz="1050" b="0" i="0">
                <a:solidFill>
                  <a:srgbClr val="16213A"/>
                </a:solidFill>
                <a:latin typeface="Arial"/>
                <a:ea typeface="Malgun Gothic"/>
                <a:cs typeface="Malgun Gothic"/>
              </a:rPr>
              <a:t>. Boston Dynamics는 Spot에서 여러 MPC 예측 지평을 병렬로 평가하던 부분을 RL 정책으로 대신하고 MPC는 유지하는 업데이트를 배포했다 </a:t>
            </a:r>
            <a:r>
              <a:rPr sz="1050" b="0" i="0">
                <a:solidFill>
                  <a:srgbClr val="1D4ED8"/>
                </a:solidFill>
                <a:latin typeface="Arial"/>
                <a:ea typeface="Malgun Gothic"/>
                <a:cs typeface="Malgun Gothic"/>
                <a:hlinkClick r:id="rId7"/>
              </a:rPr>
              <a:t>Q4</a:t>
            </a:r>
            <a:r>
              <a:rPr sz="1050" b="0" i="0">
                <a:solidFill>
                  <a:srgbClr val="16213A"/>
                </a:solidFill>
                <a:latin typeface="Arial"/>
                <a:ea typeface="Malgun Gothic"/>
                <a:cs typeface="Malgun Gothic"/>
              </a:rPr>
              <a:t>. 이 구조는 B.16.4가 다룬다. DARPA SubT 우승 팀의 ANYmal도 학습 기반 보행이었다. 공개된 산업 구조는 RL 보행, 선택적인 모델 기반 층, 기하·의미 내비게이션을 쌓은 것이다. 다음. 하이브리드가 가장 근거가 강하다. TO가 발 디딤 참조를 만들고 RL이 추종하는 DTC </a:t>
            </a:r>
            <a:r>
              <a:rPr sz="1050" b="0" i="0">
                <a:solidFill>
                  <a:srgbClr val="16213A"/>
                </a:solidFill>
                <a:latin typeface="Arial"/>
                <a:ea typeface="Malgun Gothic"/>
                <a:cs typeface="Malgun Gothic"/>
              </a:rPr>
              <a:t>Q5</a:t>
            </a:r>
            <a:r>
              <a:rPr sz="1050" b="0" i="0">
                <a:solidFill>
                  <a:srgbClr val="16213A"/>
                </a:solidFill>
                <a:latin typeface="Arial"/>
                <a:ea typeface="Malgun Gothic"/>
                <a:cs typeface="Malgun Gothic"/>
              </a:rPr>
              <a:t>, 샘플링 발 디딤 플래너와 RL 추종기의 KAIST Raibo </a:t>
            </a:r>
            <a:r>
              <a:rPr sz="1050" b="0" i="0">
                <a:solidFill>
                  <a:srgbClr val="16213A"/>
                </a:solidFill>
                <a:latin typeface="Arial"/>
                <a:ea typeface="Malgun Gothic"/>
                <a:cs typeface="Malgun Gothic"/>
              </a:rPr>
              <a:t>Q6</a:t>
            </a:r>
            <a:r>
              <a:rPr sz="1050" b="0" i="0">
                <a:solidFill>
                  <a:srgbClr val="16213A"/>
                </a:solidFill>
                <a:latin typeface="Arial"/>
                <a:ea typeface="Malgun Gothic"/>
                <a:cs typeface="Malgun Gothic"/>
              </a:rPr>
              <a:t>가 그렇다. TO 궤적 18만 개로 사전 학습한 뒤 RL로 다듬은 KAIST APT-RL </a:t>
            </a:r>
            <a:r>
              <a:rPr sz="1050" b="0" i="0">
                <a:solidFill>
                  <a:srgbClr val="1D4ED8"/>
                </a:solidFill>
                <a:latin typeface="Arial"/>
                <a:ea typeface="Malgun Gothic"/>
                <a:cs typeface="Malgun Gothic"/>
                <a:hlinkClick r:id="rId8"/>
              </a:rPr>
              <a:t>K4</a:t>
            </a:r>
            <a:r>
              <a:rPr sz="1050" b="0" i="0">
                <a:solidFill>
                  <a:srgbClr val="16213A"/>
                </a:solidFill>
                <a:latin typeface="Arial"/>
                <a:ea typeface="Malgun Gothic"/>
                <a:cs typeface="Malgun Gothic"/>
              </a:rPr>
              <a:t>, 바퀴·다리 로봇의 계층형 RL 내비 </a:t>
            </a:r>
            <a:r>
              <a:rPr sz="1050" b="0" i="0">
                <a:solidFill>
                  <a:srgbClr val="16213A"/>
                </a:solidFill>
                <a:latin typeface="Arial"/>
                <a:ea typeface="Malgun Gothic"/>
                <a:cs typeface="Malgun Gothic"/>
              </a:rPr>
              <a:t>Q9</a:t>
            </a:r>
            <a:r>
              <a:rPr sz="1050" b="0" i="0">
                <a:solidFill>
                  <a:srgbClr val="16213A"/>
                </a:solidFill>
                <a:latin typeface="Arial"/>
                <a:ea typeface="Malgun Gothic"/>
                <a:cs typeface="Malgun Gothic"/>
              </a:rPr>
              <a:t>도 같은 흐름이다. 시뮬레이터 rollout 기반 샘플링 MPC(DIAL-MPC </a:t>
            </a:r>
            <a:r>
              <a:rPr sz="1050" b="0" i="0">
                <a:solidFill>
                  <a:srgbClr val="1D4ED8"/>
                </a:solidFill>
                <a:latin typeface="Arial"/>
                <a:ea typeface="Malgun Gothic"/>
                <a:cs typeface="Malgun Gothic"/>
                <a:hlinkClick r:id="rId9"/>
              </a:rPr>
              <a:t>Q7</a:t>
            </a:r>
            <a:r>
              <a:rPr sz="1050" b="0" i="0">
                <a:solidFill>
                  <a:srgbClr val="16213A"/>
                </a:solidFill>
                <a:latin typeface="Arial"/>
                <a:ea typeface="Malgun Gothic"/>
                <a:cs typeface="Malgun Gothic"/>
              </a:rPr>
              <a:t>)는 학습 없는 대안이지만 실기 검증이 적은 신흥 단계다. 파운데이션 모델은 보행보다 상위 내비게이션과 점검에 먼저 들어왔다 </a:t>
            </a:r>
            <a:r>
              <a:rPr sz="1050" b="0" i="0">
                <a:solidFill>
                  <a:srgbClr val="1D4ED8"/>
                </a:solidFill>
                <a:latin typeface="Arial"/>
                <a:ea typeface="Malgun Gothic"/>
                <a:cs typeface="Malgun Gothic"/>
                <a:hlinkClick r:id="rId10"/>
              </a:rPr>
              <a:t>Q10</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 궤적 최적화는 보상, 참조, 데이터 생성기다</a:t>
            </a:r>
            <a:r>
              <a:rPr sz="1050" b="0" i="0">
                <a:solidFill>
                  <a:srgbClr val="16213A"/>
                </a:solidFill>
                <a:latin typeface="Arial"/>
                <a:ea typeface="Malgun Gothic"/>
                <a:cs typeface="Malgun Gothic"/>
              </a:rPr>
              <a:t>(Atlas, Figure, Digit, Unitree G1, GR00T). 쓰는 방식. 고전 스택은 ZMP·LIPM·DCM 발자국 계획, centroidal·전신 MPC, 1 kHz QP 전신 제어였다. 2023–24년에 GPU 병렬 PPO sim-to-real이 기본값이 됐다 </a:t>
            </a:r>
            <a:r>
              <a:rPr sz="1050" b="0" i="0">
                <a:solidFill>
                  <a:srgbClr val="1D4ED8"/>
                </a:solidFill>
                <a:latin typeface="Arial"/>
                <a:ea typeface="Malgun Gothic"/>
                <a:cs typeface="Malgun Gothic"/>
                <a:hlinkClick r:id="rId11"/>
              </a:rPr>
              <a:t>H1</a:t>
            </a:r>
            <a:r>
              <a:rPr sz="1050" b="0" i="0">
                <a:solidFill>
                  <a:srgbClr val="16213A"/>
                </a:solidFill>
                <a:latin typeface="Arial"/>
                <a:ea typeface="Malgun Gothic"/>
                <a:cs typeface="Malgun Gothic"/>
              </a:rPr>
              <a:t>. 2024–25년에는 사람 모캡을 리타기팅해 따라가는 전신 제어(ASAP </a:t>
            </a:r>
            <a:r>
              <a:rPr sz="1050" b="0" i="0">
                <a:solidFill>
                  <a:srgbClr val="1D4ED8"/>
                </a:solidFill>
                <a:latin typeface="Arial"/>
                <a:ea typeface="Malgun Gothic"/>
                <a:cs typeface="Malgun Gothic"/>
                <a:hlinkClick r:id="rId12"/>
              </a:rPr>
              <a:t>H6</a:t>
            </a:r>
            <a:r>
              <a:rPr sz="1050" b="0" i="0">
                <a:solidFill>
                  <a:srgbClr val="16213A"/>
                </a:solidFill>
                <a:latin typeface="Arial"/>
                <a:ea typeface="Malgun Gothic"/>
                <a:cs typeface="Malgun Gothic"/>
              </a:rPr>
              <a:t> 등)가 가장 활발한 주제가 됐다. 2025–26년에는 이것을 키운 행동 파운데이션 모델(SONIC </a:t>
            </a:r>
            <a:r>
              <a:rPr sz="1050" b="0" i="0">
                <a:solidFill>
                  <a:srgbClr val="1D4ED8"/>
                </a:solidFill>
                <a:latin typeface="Arial"/>
                <a:ea typeface="Malgun Gothic"/>
                <a:cs typeface="Malgun Gothic"/>
                <a:hlinkClick r:id="rId13"/>
              </a:rPr>
              <a:t>H5</a:t>
            </a:r>
            <a:r>
              <a:rPr sz="1050" b="0" i="0">
                <a:solidFill>
                  <a:srgbClr val="16213A"/>
                </a:solidFill>
                <a:latin typeface="Arial"/>
                <a:ea typeface="Malgun Gothic"/>
                <a:cs typeface="Malgun Gothic"/>
              </a:rPr>
              <a:t>), 지각 기반 전신 파쿠르 </a:t>
            </a:r>
            <a:r>
              <a:rPr sz="1050" b="0" i="0">
                <a:solidFill>
                  <a:srgbClr val="1D4ED8"/>
                </a:solidFill>
                <a:latin typeface="Arial"/>
                <a:ea typeface="Malgun Gothic"/>
                <a:cs typeface="Malgun Gothic"/>
                <a:hlinkClick r:id="rId14"/>
              </a:rPr>
              <a:t>H10</a:t>
            </a:r>
            <a:r>
              <a:rPr sz="1050" b="0" i="0">
                <a:solidFill>
                  <a:srgbClr val="16213A"/>
                </a:solidFill>
                <a:latin typeface="Arial"/>
                <a:ea typeface="Malgun Gothic"/>
                <a:cs typeface="Malgun Gothic"/>
              </a:rPr>
              <a:t>, System 2·1·0 VLA 계층이 부상했다. 모방 문서 §I와 B.16.1·B.16.6이 이 줄기를 다룬다. 대세와 근거. 공개 기술 발표가 있는 회사는 모두 보행 저수준을 시뮬레이션 RL로 옮겼다. Figure는 Helix 02의 System 0이 손으로 짠 C++ 109,504줄을 대체했다고 밝혔다 </a:t>
            </a:r>
            <a:r>
              <a:rPr sz="1050" b="0" i="0">
                <a:solidFill>
                  <a:srgbClr val="1D4ED8"/>
                </a:solidFill>
                <a:latin typeface="Arial"/>
                <a:ea typeface="Malgun Gothic"/>
                <a:cs typeface="Malgun Gothic"/>
                <a:hlinkClick r:id="rId15"/>
              </a:rPr>
              <a:t>H2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6"/>
              </a:rPr>
              <a:t>H11</a:t>
            </a:r>
            <a:r>
              <a:rPr sz="1050" b="0" i="0">
                <a:solidFill>
                  <a:srgbClr val="16213A"/>
                </a:solidFill>
                <a:latin typeface="Arial"/>
                <a:ea typeface="Malgun Gothic"/>
                <a:cs typeface="Malgun Gothic"/>
              </a:rPr>
              <a:t>. Agility는 작은 LSTM이 IK·ID 기반 제어를 대체했고 </a:t>
            </a:r>
            <a:r>
              <a:rPr sz="1050" b="0" i="0">
                <a:solidFill>
                  <a:srgbClr val="1D4ED8"/>
                </a:solidFill>
                <a:latin typeface="Arial"/>
                <a:ea typeface="Malgun Gothic"/>
                <a:cs typeface="Malgun Gothic"/>
                <a:hlinkClick r:id="rId17"/>
              </a:rPr>
              <a:t>H3</a:t>
            </a:r>
            <a:r>
              <a:rPr sz="1050" b="0" i="0">
                <a:solidFill>
                  <a:srgbClr val="16213A"/>
                </a:solidFill>
                <a:latin typeface="Arial"/>
                <a:ea typeface="Malgun Gothic"/>
                <a:cs typeface="Malgun Gothic"/>
              </a:rPr>
              <a:t>, NVIDIA GR00T는 하체 RL과 상체 IK를 쓴다 </a:t>
            </a:r>
            <a:r>
              <a:rPr sz="1050" b="0" i="0">
                <a:solidFill>
                  <a:srgbClr val="1D4ED8"/>
                </a:solidFill>
                <a:latin typeface="Arial"/>
                <a:ea typeface="Malgun Gothic"/>
                <a:cs typeface="Malgun Gothic"/>
                <a:hlinkClick r:id="rId18"/>
              </a:rPr>
              <a:t>H12</a:t>
            </a:r>
            <a:r>
              <a:rPr sz="1050" b="0" i="0">
                <a:solidFill>
                  <a:srgbClr val="16213A"/>
                </a:solidFill>
                <a:latin typeface="Arial"/>
                <a:ea typeface="Malgun Gothic"/>
                <a:cs typeface="Malgun Gothic"/>
              </a:rPr>
              <a:t>. 예외는 BD로, 450M 파라미터 LBM이 BD의 MPC 기반 인터페이스 위에서 30 Hz로 돈다 </a:t>
            </a:r>
            <a:r>
              <a:rPr sz="1050" b="0" i="0">
                <a:solidFill>
                  <a:srgbClr val="1D4ED8"/>
                </a:solidFill>
                <a:latin typeface="Arial"/>
                <a:ea typeface="Malgun Gothic"/>
                <a:cs typeface="Malgun Gothic"/>
                <a:hlinkClick r:id="rId19"/>
              </a:rPr>
              <a:t>H4</a:t>
            </a:r>
            <a:r>
              <a:rPr sz="1050" b="0" i="0">
                <a:solidFill>
                  <a:srgbClr val="16213A"/>
                </a:solidFill>
                <a:latin typeface="Arial"/>
                <a:ea typeface="Malgun Gothic"/>
                <a:cs typeface="Malgun Gothic"/>
              </a:rPr>
              <a:t>. Tesla·1X·Apptronik·UBTech은 보행 알고리즘을 공개하지 않았고, 학계 신규 논문 대다수는 Unitree G1에서 검증한다. 다음. 모션 추적을 키운 범용 저수준 제어기가 속도 명령 보행을 흡수할 가능성이 높다. VLA와 전신 제어기 사이의 인터페이스(기저 속도, 발·손 자세, 모션 토큰)가 경쟁 지점이 된다. MPC와 TO는 온라인 루프 대신 보상·참조·데이터 생성(AMO </a:t>
            </a:r>
            <a:r>
              <a:rPr sz="1050" b="0" i="0">
                <a:solidFill>
                  <a:srgbClr val="1D4ED8"/>
                </a:solidFill>
                <a:latin typeface="Arial"/>
                <a:ea typeface="Malgun Gothic"/>
                <a:cs typeface="Malgun Gothic"/>
                <a:hlinkClick r:id="rId20"/>
              </a:rPr>
              <a:t>H8</a:t>
            </a:r>
            <a:r>
              <a:rPr sz="1050" b="0" i="0">
                <a:solidFill>
                  <a:srgbClr val="16213A"/>
                </a:solidFill>
                <a:latin typeface="Arial"/>
                <a:ea typeface="Malgun Gothic"/>
                <a:cs typeface="Malgun Gothic"/>
              </a:rPr>
              <a:t>, MPC 가이드 RL </a:t>
            </a:r>
            <a:r>
              <a:rPr sz="1050" b="0" i="0">
                <a:solidFill>
                  <a:srgbClr val="1D4ED8"/>
                </a:solidFill>
                <a:latin typeface="Arial"/>
                <a:ea typeface="Malgun Gothic"/>
                <a:cs typeface="Malgun Gothic"/>
                <a:hlinkClick r:id="rId21"/>
              </a:rPr>
              <a:t>H9</a:t>
            </a:r>
            <a:r>
              <a:rPr sz="1050" b="0" i="0">
                <a:solidFill>
                  <a:srgbClr val="16213A"/>
                </a:solidFill>
                <a:latin typeface="Arial"/>
                <a:ea typeface="Malgun Gothic"/>
                <a:cs typeface="Malgun Gothic"/>
              </a:rPr>
              <a:t>)과 상위 계획 쪽으로 가고, 저차 모델 MPC 연구도 이어진다 </a:t>
            </a:r>
            <a:r>
              <a:rPr sz="1050" b="0" i="0">
                <a:solidFill>
                  <a:srgbClr val="1D4ED8"/>
                </a:solidFill>
                <a:latin typeface="Arial"/>
                <a:ea typeface="Malgun Gothic"/>
                <a:cs typeface="Malgun Gothic"/>
                <a:hlinkClick r:id="rId22"/>
              </a:rPr>
              <a:t>H7</a:t>
            </a:r>
            <a:r>
              <a:rPr sz="1050" b="0" i="0">
                <a:solidFill>
                  <a:srgbClr val="16213A"/>
                </a:solidFill>
                <a:latin typeface="Arial"/>
                <a:ea typeface="Malgun Gothic"/>
                <a:cs typeface="Malgun Gothic"/>
              </a:rPr>
              <a:t>. 대회는 원격 조종에 감점을 주고 완전 자율을 요구하는 쪽으로 바뀌고 있다 </a:t>
            </a:r>
            <a:r>
              <a:rPr sz="1050" b="0" i="0">
                <a:solidFill>
                  <a:srgbClr val="1D4ED8"/>
                </a:solidFill>
                <a:latin typeface="Arial"/>
                <a:ea typeface="Malgun Gothic"/>
                <a:cs typeface="Malgun Gothic"/>
                <a:hlinkClick r:id="rId23"/>
              </a:rPr>
              <a:t>H13</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4"/>
              </a:rPr>
              <a:t>H14</a:t>
            </a:r>
            <a:r>
              <a:rPr sz="1050" b="0" i="0">
                <a:solidFill>
                  <a:srgbClr val="16213A"/>
                </a:solidFill>
                <a:latin typeface="Arial"/>
                <a:ea typeface="Malgun Gothic"/>
                <a:cs typeface="Malgun Gothic"/>
              </a:rPr>
              <a:t>.</a:t>
            </a:r>
          </a:p>
        </p:txBody>
      </p:sp>
      <p:sp>
        <p:nvSpPr>
          <p:cNvPr id="7" name="TextBox 6"/>
          <p:cNvSpPr txBox="1"/>
          <p:nvPr/>
        </p:nvSpPr>
        <p:spPr>
          <a:xfrm>
            <a:off x="717550" y="4669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B.18.3 분야를 가로지르는 흐름</a:t>
            </a:r>
          </a:p>
        </p:txBody>
      </p:sp>
      <p:sp>
        <p:nvSpPr>
          <p:cNvPr id="8" name="TextBox 7"/>
          <p:cNvSpPr txBox="1"/>
          <p:nvPr/>
        </p:nvSpPr>
        <p:spPr>
          <a:xfrm>
            <a:off x="609600" y="49730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일곱 흐름이 여러 분야에 함께 나타난다.</a:t>
            </a:r>
            <a:r>
              <a:rPr sz="1050" b="0" i="0">
                <a:solidFill>
                  <a:srgbClr val="16213A"/>
                </a:solidFill>
                <a:latin typeface="Arial"/>
                <a:ea typeface="Malgun Gothic"/>
                <a:cs typeface="Malgun Gothic"/>
              </a:rPr>
              <a:t> 가장 큰 둘은 저수준 제어의 RL 전환과 궤적 최적화의 자리 이동이다.</a:t>
            </a:r>
          </a:p>
        </p:txBody>
      </p:sp>
      <p:graphicFrame>
        <p:nvGraphicFramePr>
          <p:cNvPr id="9" name="Table 8"/>
          <p:cNvGraphicFramePr>
            <a:graphicFrameLocks noGrp="1"/>
          </p:cNvGraphicFramePr>
          <p:nvPr/>
        </p:nvGraphicFramePr>
        <p:xfrm>
          <a:off x="609600" y="5278438"/>
          <a:ext cx="10966449" cy="712152"/>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저수준 제어는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시뮬레이션(Isaac Lab </a:t>
                      </a:r>
                      <a:r>
                        <a:rPr sz="800" b="0" i="0">
                          <a:solidFill>
                            <a:srgbClr val="1D4ED8"/>
                          </a:solidFill>
                          <a:latin typeface="Arial"/>
                          <a:ea typeface="Malgun Gothic"/>
                          <a:cs typeface="Malgun Gothic"/>
                          <a:hlinkClick r:id="rId25"/>
                        </a:rPr>
                        <a:t>C1</a:t>
                      </a:r>
                      <a:r>
                        <a:rPr sz="800" b="0" i="0">
                          <a:solidFill>
                            <a:srgbClr val="16213A"/>
                          </a:solidFill>
                          <a:latin typeface="Arial"/>
                          <a:ea typeface="Malgun Gothic"/>
                          <a:cs typeface="Malgun Gothic"/>
                        </a:rPr>
                        <a:t>, MuJoCo Playground </a:t>
                      </a:r>
                      <a:r>
                        <a:rPr sz="800" b="0" i="0">
                          <a:solidFill>
                            <a:srgbClr val="1D4ED8"/>
                          </a:solidFill>
                          <a:latin typeface="Arial"/>
                          <a:ea typeface="Malgun Gothic"/>
                          <a:cs typeface="Malgun Gothic"/>
                          <a:hlinkClick r:id="rId26"/>
                        </a:rPr>
                        <a:t>C2</a:t>
                      </a:r>
                      <a:r>
                        <a:rPr sz="800" b="0" i="0">
                          <a:solidFill>
                            <a:srgbClr val="16213A"/>
                          </a:solidFill>
                          <a:latin typeface="Arial"/>
                          <a:ea typeface="Malgun Gothic"/>
                          <a:cs typeface="Malgun Gothic"/>
                        </a:rPr>
                        <a:t>)과 PPO, 증류가 다리 로봇 보행과 드론 레이싱의 기본값이 됐다. 드론 레이싱에서는 RL이 더 나은 목적 함수를 최적화한다는 분석이 나왔다 </a:t>
                      </a:r>
                      <a:r>
                        <a:rPr sz="800" b="0" i="0">
                          <a:solidFill>
                            <a:srgbClr val="1D4ED8"/>
                          </a:solidFill>
                          <a:latin typeface="Arial"/>
                          <a:ea typeface="Malgun Gothic"/>
                          <a:cs typeface="Malgun Gothic"/>
                          <a:hlinkClick r:id="rId27"/>
                        </a:rPr>
                        <a:t>C3</a:t>
                      </a:r>
                      <a:r>
                        <a:rPr sz="800" b="0" i="0">
                          <a:solidFill>
                            <a:srgbClr val="16213A"/>
                          </a:solidFill>
                          <a:latin typeface="Arial"/>
                          <a:ea typeface="Malgun Gothic"/>
                          <a:cs typeface="Malgun Gothic"/>
                        </a:rPr>
                        <a:t>. 인프라는 Newton·MuJoCo Warp로 모이는 중이지만 단일 표준은 아니다 </a:t>
                      </a:r>
                      <a:r>
                        <a:rPr sz="800" b="0" i="0">
                          <a:solidFill>
                            <a:srgbClr val="1D4ED8"/>
                          </a:solidFill>
                          <a:latin typeface="Arial"/>
                          <a:ea typeface="Malgun Gothic"/>
                          <a:cs typeface="Malgun Gothic"/>
                          <a:hlinkClick r:id="rId28"/>
                        </a:rPr>
                        <a:t>C8</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9"/>
                        </a:rPr>
                        <a:t>C13</a:t>
                      </a:r>
                      <a:r>
                        <a:rPr sz="800" b="0" i="0">
                          <a:solidFill>
                            <a:srgbClr val="16213A"/>
                          </a:solidFill>
                          <a:latin typeface="Arial"/>
                          <a:ea typeface="Malgun Gothic"/>
                          <a:cs typeface="Malgun Gothic"/>
                        </a:rPr>
                        <a:t>. 풀스케일 레이싱카와 도로는 예외로, 저수준은 여전히 MPC·LQR·PP다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사족, 휴머노이드, 드론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궤적 최적화의 자리 이동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 전체를 맡던 주 플래너에서 참조·교사 생성기(DTC </a:t>
                      </a:r>
                      <a:r>
                        <a:rPr sz="800" b="0" i="0">
                          <a:solidFill>
                            <a:srgbClr val="1D4ED8"/>
                          </a:solidFill>
                          <a:latin typeface="Arial"/>
                          <a:ea typeface="Malgun Gothic"/>
                          <a:cs typeface="Malgun Gothic"/>
                          <a:hlinkClick r:id="rId30"/>
                        </a:rPr>
                        <a:t>Q5</a:t>
                      </a:r>
                      <a:r>
                        <a:rPr sz="800" b="0" i="0">
                          <a:solidFill>
                            <a:srgbClr val="16213A"/>
                          </a:solidFill>
                          <a:latin typeface="Arial"/>
                          <a:ea typeface="Malgun Gothic"/>
                          <a:cs typeface="Malgun Gothic"/>
                        </a:rPr>
                        <a:t>), 안전·검증층(Waymo </a:t>
                      </a:r>
                      <a:r>
                        <a:rPr sz="800" b="0" i="0">
                          <a:solidFill>
                            <a:srgbClr val="1D4ED8"/>
                          </a:solidFill>
                          <a:latin typeface="Arial"/>
                          <a:ea typeface="Malgun Gothic"/>
                          <a:cs typeface="Malgun Gothic"/>
                          <a:hlinkClick r:id="rId31"/>
                        </a:rPr>
                        <a:t>A7</a:t>
                      </a:r>
                      <a:r>
                        <a:rPr sz="800" b="0" i="0">
                          <a:solidFill>
                            <a:srgbClr val="16213A"/>
                          </a:solidFill>
                          <a:latin typeface="Arial"/>
                          <a:ea typeface="Malgun Gothic"/>
                          <a:cs typeface="Malgun Gothic"/>
                        </a:rPr>
                        <a:t>, SUPER의 MINCO 백업 궤적 </a:t>
                      </a:r>
                      <a:r>
                        <a:rPr sz="800" b="0" i="0">
                          <a:solidFill>
                            <a:srgbClr val="1D4ED8"/>
                          </a:solidFill>
                          <a:latin typeface="Arial"/>
                          <a:ea typeface="Malgun Gothic"/>
                          <a:cs typeface="Malgun Gothic"/>
                          <a:hlinkClick r:id="rId32"/>
                        </a:rPr>
                        <a:t>G1</a:t>
                      </a:r>
                      <a:r>
                        <a:rPr sz="800" b="0" i="0">
                          <a:solidFill>
                            <a:srgbClr val="16213A"/>
                          </a:solidFill>
                          <a:latin typeface="Arial"/>
                          <a:ea typeface="Malgun Gothic"/>
                          <a:cs typeface="Malgun Gothic"/>
                        </a:rPr>
                        <a:t>), 추종 제어기(BD Atlas </a:t>
                      </a:r>
                      <a:r>
                        <a:rPr sz="800" b="0" i="0">
                          <a:solidFill>
                            <a:srgbClr val="1D4ED8"/>
                          </a:solidFill>
                          <a:latin typeface="Arial"/>
                          <a:ea typeface="Malgun Gothic"/>
                          <a:cs typeface="Malgun Gothic"/>
                          <a:hlinkClick r:id="rId19"/>
                        </a:rPr>
                        <a:t>H4</a:t>
                      </a:r>
                      <a:r>
                        <a:rPr sz="800" b="0" i="0">
                          <a:solidFill>
                            <a:srgbClr val="16213A"/>
                          </a:solidFill>
                          <a:latin typeface="Arial"/>
                          <a:ea typeface="Malgun Gothic"/>
                          <a:cs typeface="Malgun Gothic"/>
                        </a:rPr>
                        <a:t>)로 옮겨 갔다. 레이싱카만 예외다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 분야</a:t>
                      </a:r>
                    </a:p>
                  </a:txBody>
                  <a:tcPr marL="63500" marR="63500" marT="12700" marB="12700">
                    <a:solidFill>
                      <a:srgbClr val="F3F0E8"/>
                    </a:solidFill>
                  </a:tcPr>
                </a:tc>
              </a:tr>
            </a:tbl>
          </a:graphicData>
        </a:graphic>
      </p:graphicFrame>
    </p:spTree>
  </p:cSld>
  <p:clrMapOvr>
    <a:masterClrMapping/>
  </p:clrMapOvr>
</p:sld>
</file>

<file path=ppt/slides/slide4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491 / 520</a:t>
            </a:r>
          </a:p>
        </p:txBody>
      </p:sp>
      <p:graphicFrame>
        <p:nvGraphicFramePr>
          <p:cNvPr id="5" name="Table 4"/>
          <p:cNvGraphicFramePr>
            <a:graphicFrameLocks noGrp="1"/>
          </p:cNvGraphicFramePr>
          <p:nvPr/>
        </p:nvGraphicFramePr>
        <p:xfrm>
          <a:off x="609600" y="1244600"/>
          <a:ext cx="10966449" cy="2104944"/>
        </p:xfrm>
        <a:graphic>
          <a:graphicData uri="http://schemas.openxmlformats.org/drawingml/2006/table">
            <a:tbl>
              <a:tblPr firstRow="1" bandRow="1">
                <a:tableStyleId>{5C22544A-7EE6-4342-B048-85BDC9FD1C3A}</a:tableStyleId>
              </a:tblPr>
              <a:tblGrid>
                <a:gridCol w="1362670"/>
                <a:gridCol w="8644830"/>
                <a:gridCol w="958949"/>
              </a:tblGrid>
              <a:tr h="197088">
                <a:tc>
                  <a:txBody>
                    <a:bodyPr wrap="square"/>
                    <a:lstStyle/>
                    <a:p>
                      <a:r>
                        <a:rPr sz="800" b="1" i="0">
                          <a:solidFill>
                            <a:srgbClr val="F4F1EA"/>
                          </a:solidFill>
                          <a:latin typeface="Arial"/>
                          <a:ea typeface="Malgun Gothic"/>
                          <a:cs typeface="Malgun Gothic"/>
                        </a:rPr>
                        <a:t>흐름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무슨 일이 일어나나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해 하나에서 병렬 후보와 평가로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다항식 샘플링, MPPI의 critic rollout </a:t>
                      </a:r>
                      <a:r>
                        <a:rPr sz="800" b="0" i="0">
                          <a:solidFill>
                            <a:srgbClr val="1D4ED8"/>
                          </a:solidFill>
                          <a:latin typeface="Arial"/>
                          <a:ea typeface="Malgun Gothic"/>
                          <a:cs typeface="Malgun Gothic"/>
                          <a:hlinkClick r:id="rId3"/>
                        </a:rPr>
                        <a:t>N12</a:t>
                      </a:r>
                      <a:r>
                        <a:rPr sz="800" b="0" i="0">
                          <a:solidFill>
                            <a:srgbClr val="16213A"/>
                          </a:solidFill>
                          <a:latin typeface="Arial"/>
                          <a:ea typeface="Malgun Gothic"/>
                          <a:cs typeface="Malgun Gothic"/>
                        </a:rPr>
                        <a:t>, 샘플링 발 디딤, DIAL-MPC </a:t>
                      </a:r>
                      <a:r>
                        <a:rPr sz="800" b="0" i="0">
                          <a:solidFill>
                            <a:srgbClr val="1D4ED8"/>
                          </a:solidFill>
                          <a:latin typeface="Arial"/>
                          <a:ea typeface="Malgun Gothic"/>
                          <a:cs typeface="Malgun Gothic"/>
                          <a:hlinkClick r:id="rId4"/>
                        </a:rPr>
                        <a:t>Q7</a:t>
                      </a:r>
                      <a:r>
                        <a:rPr sz="800" b="0" i="0">
                          <a:solidFill>
                            <a:srgbClr val="16213A"/>
                          </a:solidFill>
                          <a:latin typeface="Arial"/>
                          <a:ea typeface="Malgun Gothic"/>
                          <a:cs typeface="Malgun Gothic"/>
                        </a:rPr>
                        <a:t>, NAVSIM 우승 스코어러 </a:t>
                      </a:r>
                      <a:r>
                        <a:rPr sz="800" b="0" i="0">
                          <a:solidFill>
                            <a:srgbClr val="1D4ED8"/>
                          </a:solidFill>
                          <a:latin typeface="Arial"/>
                          <a:ea typeface="Malgun Gothic"/>
                          <a:cs typeface="Malgun Gothic"/>
                          <a:hlinkClick r:id="rId5"/>
                        </a:rPr>
                        <a:t>A2</a:t>
                      </a:r>
                      <a:r>
                        <a:rPr sz="800" b="0" i="0">
                          <a:solidFill>
                            <a:srgbClr val="16213A"/>
                          </a:solidFill>
                          <a:latin typeface="Arial"/>
                          <a:ea typeface="Malgun Gothic"/>
                          <a:cs typeface="Malgun Gothic"/>
                        </a:rPr>
                        <a:t>가 같은 패턴이다. 공통 동인은 GPU 병렬성, 그리고 코스트맵·학습 traversability·규칙 지표 같은 비미분 비용을 그대로 쓸 수 있다는 점이다. 확산과 MPPI의 이론적 연결이 둘을 잇는다 </a:t>
                      </a:r>
                      <a:r>
                        <a:rPr sz="800" b="0" i="0">
                          <a:solidFill>
                            <a:srgbClr val="1D4ED8"/>
                          </a:solidFill>
                          <a:latin typeface="Arial"/>
                          <a:ea typeface="Malgun Gothic"/>
                          <a:cs typeface="Malgun Gothic"/>
                          <a:hlinkClick r:id="rId6"/>
                        </a:rPr>
                        <a:t>C10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모바일, 레이싱, 다리</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모델은 위층으로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확산·flow 행동 헤드(Diffusion Policy </a:t>
                      </a:r>
                      <a:r>
                        <a:rPr sz="800" b="0" i="0">
                          <a:solidFill>
                            <a:srgbClr val="1D4ED8"/>
                          </a:solidFill>
                          <a:latin typeface="Arial"/>
                          <a:ea typeface="Malgun Gothic"/>
                          <a:cs typeface="Malgun Gothic"/>
                          <a:hlinkClick r:id="rId7"/>
                        </a:rPr>
                        <a:t>C4</a:t>
                      </a:r>
                      <a:r>
                        <a:rPr sz="800" b="0" i="0">
                          <a:solidFill>
                            <a:srgbClr val="16213A"/>
                          </a:solidFill>
                          <a:latin typeface="Arial"/>
                          <a:ea typeface="Malgun Gothic"/>
                          <a:cs typeface="Malgun Gothic"/>
                        </a:rPr>
                        <a:t>, π0 </a:t>
                      </a:r>
                      <a:r>
                        <a:rPr sz="800" b="0" i="0">
                          <a:solidFill>
                            <a:srgbClr val="1D4ED8"/>
                          </a:solidFill>
                          <a:latin typeface="Arial"/>
                          <a:ea typeface="Malgun Gothic"/>
                          <a:cs typeface="Malgun Gothic"/>
                          <a:hlinkClick r:id="rId8"/>
                        </a:rPr>
                        <a:t>C5</a:t>
                      </a:r>
                      <a:r>
                        <a:rPr sz="800" b="0" i="0">
                          <a:solidFill>
                            <a:srgbClr val="16213A"/>
                          </a:solidFill>
                          <a:latin typeface="Arial"/>
                          <a:ea typeface="Malgun Gothic"/>
                          <a:cs typeface="Malgun Gothic"/>
                        </a:rPr>
                        <a:t>)를 단 VLM·VLA가 장면 추론과 서브골·중간 명령을 맡고, 실시간 균형과 충돌 회피는 빠른 학습형 전신 제어기나 MPC에 맡긴다(Helix 02 </a:t>
                      </a:r>
                      <a:r>
                        <a:rPr sz="800" b="0" i="0">
                          <a:solidFill>
                            <a:srgbClr val="1D4ED8"/>
                          </a:solidFill>
                          <a:latin typeface="Arial"/>
                          <a:ea typeface="Malgun Gothic"/>
                          <a:cs typeface="Malgun Gothic"/>
                          <a:hlinkClick r:id="rId9"/>
                        </a:rPr>
                        <a:t>H2</a:t>
                      </a:r>
                      <a:r>
                        <a:rPr sz="800" b="0" i="0">
                          <a:solidFill>
                            <a:srgbClr val="16213A"/>
                          </a:solidFill>
                          <a:latin typeface="Arial"/>
                          <a:ea typeface="Malgun Gothic"/>
                          <a:cs typeface="Malgun Gothic"/>
                        </a:rPr>
                        <a:t>, GR00T N1.6 </a:t>
                      </a:r>
                      <a:r>
                        <a:rPr sz="800" b="0" i="0">
                          <a:solidFill>
                            <a:srgbClr val="1D4ED8"/>
                          </a:solidFill>
                          <a:latin typeface="Arial"/>
                          <a:ea typeface="Malgun Gothic"/>
                          <a:cs typeface="Malgun Gothic"/>
                          <a:hlinkClick r:id="rId10"/>
                        </a:rPr>
                        <a:t>H12</a:t>
                      </a:r>
                      <a:r>
                        <a:rPr sz="800" b="0" i="0">
                          <a:solidFill>
                            <a:srgbClr val="16213A"/>
                          </a:solidFill>
                          <a:latin typeface="Arial"/>
                          <a:ea typeface="Malgun Gothic"/>
                          <a:cs typeface="Malgun Gothic"/>
                        </a:rPr>
                        <a:t>, BD–TRI LBM </a:t>
                      </a:r>
                      <a:r>
                        <a:rPr sz="800" b="0" i="0">
                          <a:solidFill>
                            <a:srgbClr val="1D4ED8"/>
                          </a:solidFill>
                          <a:latin typeface="Arial"/>
                          <a:ea typeface="Malgun Gothic"/>
                          <a:cs typeface="Malgun Gothic"/>
                          <a:hlinkClick r:id="rId11"/>
                        </a:rPr>
                        <a:t>H4</a:t>
                      </a:r>
                      <a:r>
                        <a:rPr sz="800" b="0" i="0">
                          <a:solidFill>
                            <a:srgbClr val="16213A"/>
                          </a:solidFill>
                          <a:latin typeface="Arial"/>
                          <a:ea typeface="Malgun Gothic"/>
                          <a:cs typeface="Malgun Gothic"/>
                        </a:rPr>
                        <a:t>, NaVILA </a:t>
                      </a:r>
                      <a:r>
                        <a:rPr sz="800" b="0" i="0">
                          <a:solidFill>
                            <a:srgbClr val="1D4ED8"/>
                          </a:solidFill>
                          <a:latin typeface="Arial"/>
                          <a:ea typeface="Malgun Gothic"/>
                          <a:cs typeface="Malgun Gothic"/>
                          <a:hlinkClick r:id="rId12"/>
                        </a:rPr>
                        <a:t>N6</a:t>
                      </a:r>
                      <a:r>
                        <a:rPr sz="800" b="0" i="0">
                          <a:solidFill>
                            <a:srgbClr val="16213A"/>
                          </a:solidFill>
                          <a:latin typeface="Arial"/>
                          <a:ea typeface="Malgun Gothic"/>
                          <a:cs typeface="Malgun Gothic"/>
                        </a:rPr>
                        <a:t>, DriveVLM </a:t>
                      </a:r>
                      <a:r>
                        <a:rPr sz="800" b="0" i="0">
                          <a:solidFill>
                            <a:srgbClr val="1D4ED8"/>
                          </a:solidFill>
                          <a:latin typeface="Arial"/>
                          <a:ea typeface="Malgun Gothic"/>
                          <a:cs typeface="Malgun Gothic"/>
                          <a:hlinkClick r:id="rId13"/>
                        </a:rPr>
                        <a:t>A12</a:t>
                      </a:r>
                      <a:r>
                        <a:rPr sz="800" b="0" i="0">
                          <a:solidFill>
                            <a:srgbClr val="16213A"/>
                          </a:solidFill>
                          <a:latin typeface="Arial"/>
                          <a:ea typeface="Malgun Gothic"/>
                          <a:cs typeface="Malgun Gothic"/>
                        </a:rPr>
                        <a:t>). 선도 기업이 수렴하는 단계이지 산업 표준은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모바일, 사족,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월드 모델은 시뮬레이터와 평가기로 먼저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도로에서 가장 먼저 산업화됐고(Waymo World Model </a:t>
                      </a:r>
                      <a:r>
                        <a:rPr sz="800" b="0" i="0">
                          <a:solidFill>
                            <a:srgbClr val="1D4ED8"/>
                          </a:solidFill>
                          <a:latin typeface="Arial"/>
                          <a:ea typeface="Malgun Gothic"/>
                          <a:cs typeface="Malgun Gothic"/>
                          <a:hlinkClick r:id="rId14"/>
                        </a:rPr>
                        <a:t>A11</a:t>
                      </a:r>
                      <a:r>
                        <a:rPr sz="800" b="0" i="0">
                          <a:solidFill>
                            <a:srgbClr val="16213A"/>
                          </a:solidFill>
                          <a:latin typeface="Arial"/>
                          <a:ea typeface="Malgun Gothic"/>
                          <a:cs typeface="Malgun Gothic"/>
                        </a:rPr>
                        <a:t>, Cosmos </a:t>
                      </a:r>
                      <a:r>
                        <a:rPr sz="800" b="0" i="0">
                          <a:solidFill>
                            <a:srgbClr val="1D4ED8"/>
                          </a:solidFill>
                          <a:latin typeface="Arial"/>
                          <a:ea typeface="Malgun Gothic"/>
                          <a:cs typeface="Malgun Gothic"/>
                          <a:hlinkClick r:id="rId15"/>
                        </a:rPr>
                        <a:t>C7</a:t>
                      </a:r>
                      <a:r>
                        <a:rPr sz="800" b="0" i="0">
                          <a:solidFill>
                            <a:srgbClr val="16213A"/>
                          </a:solidFill>
                          <a:latin typeface="Arial"/>
                          <a:ea typeface="Malgun Gothic"/>
                          <a:cs typeface="Malgun Gothic"/>
                        </a:rPr>
                        <a:t>), 로봇에서는 정책 평가(Veo 시뮬레이터 </a:t>
                      </a:r>
                      <a:r>
                        <a:rPr sz="800" b="0" i="0">
                          <a:solidFill>
                            <a:srgbClr val="1D4ED8"/>
                          </a:solidFill>
                          <a:latin typeface="Arial"/>
                          <a:ea typeface="Malgun Gothic"/>
                          <a:cs typeface="Malgun Gothic"/>
                          <a:hlinkClick r:id="rId16"/>
                        </a:rPr>
                        <a:t>C6</a:t>
                      </a:r>
                      <a:r>
                        <a:rPr sz="800" b="0" i="0">
                          <a:solidFill>
                            <a:srgbClr val="16213A"/>
                          </a:solidFill>
                          <a:latin typeface="Arial"/>
                          <a:ea typeface="Malgun Gothic"/>
                          <a:cs typeface="Malgun Gothic"/>
                        </a:rPr>
                        <a:t>)에 쓰인다. 계획에 직접 쓰는 연구(DreamerV3 </a:t>
                      </a:r>
                      <a:r>
                        <a:rPr sz="800" b="0" i="0">
                          <a:solidFill>
                            <a:srgbClr val="1D4ED8"/>
                          </a:solidFill>
                          <a:latin typeface="Arial"/>
                          <a:ea typeface="Malgun Gothic"/>
                          <a:cs typeface="Malgun Gothic"/>
                          <a:hlinkClick r:id="rId17"/>
                        </a:rPr>
                        <a:t>C12</a:t>
                      </a:r>
                      <a:r>
                        <a:rPr sz="800" b="0" i="0">
                          <a:solidFill>
                            <a:srgbClr val="16213A"/>
                          </a:solidFill>
                          <a:latin typeface="Arial"/>
                          <a:ea typeface="Malgun Gothic"/>
                          <a:cs typeface="Malgun Gothic"/>
                        </a:rPr>
                        <a:t>, NWM </a:t>
                      </a:r>
                      <a:r>
                        <a:rPr sz="800" b="0" i="0">
                          <a:solidFill>
                            <a:srgbClr val="1D4ED8"/>
                          </a:solidFill>
                          <a:latin typeface="Arial"/>
                          <a:ea typeface="Malgun Gothic"/>
                          <a:cs typeface="Malgun Gothic"/>
                          <a:hlinkClick r:id="rId18"/>
                        </a:rPr>
                        <a:t>N15</a:t>
                      </a:r>
                      <a:r>
                        <a:rPr sz="800" b="0" i="0">
                          <a:solidFill>
                            <a:srgbClr val="16213A"/>
                          </a:solidFill>
                          <a:latin typeface="Arial"/>
                          <a:ea typeface="Malgun Gothic"/>
                          <a:cs typeface="Malgun Gothic"/>
                        </a:rPr>
                        <a:t>)는 늘지만, 실시간 제어 루프 안에서 월드 모델을 MPC 모델로 쓴 배치 사례는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도로, 휴머노이드, 모바일</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데이터와 embodiment 스케일링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휴머노이드는 모캡 수천 시간을 전신 제어 prior로 </a:t>
                      </a:r>
                      <a:r>
                        <a:rPr sz="800" b="0" i="0">
                          <a:solidFill>
                            <a:srgbClr val="1D4ED8"/>
                          </a:solidFill>
                          <a:latin typeface="Arial"/>
                          <a:ea typeface="Malgun Gothic"/>
                          <a:cs typeface="Malgun Gothic"/>
                          <a:hlinkClick r:id="rId19"/>
                        </a:rPr>
                        <a:t>H5</a:t>
                      </a:r>
                      <a:r>
                        <a:rPr sz="800" b="0" i="0">
                          <a:solidFill>
                            <a:srgbClr val="16213A"/>
                          </a:solidFill>
                          <a:latin typeface="Arial"/>
                          <a:ea typeface="Malgun Gothic"/>
                          <a:cs typeface="Malgun Gothic"/>
                        </a:rPr>
                        <a:t>, 사족은 절차 생성 embodiment 수백 개로 정책 하나를 </a:t>
                      </a:r>
                      <a:r>
                        <a:rPr sz="800" b="0" i="0">
                          <a:solidFill>
                            <a:srgbClr val="1D4ED8"/>
                          </a:solidFill>
                          <a:latin typeface="Arial"/>
                          <a:ea typeface="Malgun Gothic"/>
                          <a:cs typeface="Malgun Gothic"/>
                          <a:hlinkClick r:id="rId20"/>
                        </a:rPr>
                        <a:t>C11</a:t>
                      </a:r>
                      <a:r>
                        <a:rPr sz="800" b="0" i="0">
                          <a:solidFill>
                            <a:srgbClr val="16213A"/>
                          </a:solidFill>
                          <a:latin typeface="Arial"/>
                          <a:ea typeface="Malgun Gothic"/>
                          <a:cs typeface="Malgun Gothic"/>
                        </a:rPr>
                        <a:t>, 모바일은 여러 플랫폼의 데이터로 내비 모델을 학습하고 </a:t>
                      </a:r>
                      <a:r>
                        <a:rPr sz="800" b="0" i="0">
                          <a:solidFill>
                            <a:srgbClr val="1D4ED8"/>
                          </a:solidFill>
                          <a:latin typeface="Arial"/>
                          <a:ea typeface="Malgun Gothic"/>
                          <a:cs typeface="Malgun Gothic"/>
                          <a:hlinkClick r:id="rId21"/>
                        </a:rPr>
                        <a:t>N14</a:t>
                      </a:r>
                      <a:r>
                        <a:rPr sz="800" b="0" i="0">
                          <a:solidFill>
                            <a:srgbClr val="16213A"/>
                          </a:solidFill>
                          <a:latin typeface="Arial"/>
                          <a:ea typeface="Malgun Gothic"/>
                          <a:cs typeface="Malgun Gothic"/>
                        </a:rPr>
                        <a:t>, 도로는 계획 모델의 멱법칙 스케일링을 보고했다 </a:t>
                      </a:r>
                      <a:r>
                        <a:rPr sz="800" b="0" i="0">
                          <a:solidFill>
                            <a:srgbClr val="1D4ED8"/>
                          </a:solidFill>
                          <a:latin typeface="Arial"/>
                          <a:ea typeface="Malgun Gothic"/>
                          <a:cs typeface="Malgun Gothic"/>
                          <a:hlinkClick r:id="rId22"/>
                        </a:rPr>
                        <a:t>A14</a:t>
                      </a:r>
                      <a:r>
                        <a:rPr sz="800" b="0" i="0">
                          <a:solidFill>
                            <a:srgbClr val="16213A"/>
                          </a:solidFill>
                          <a:latin typeface="Arial"/>
                          <a:ea typeface="Malgun Gothic"/>
                          <a:cs typeface="Malgun Gothic"/>
                        </a:rPr>
                        <a:t>. 교차 embodiment 모델의 산업 배치 증거는 아직 없다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 사족, 모바일, 도로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인증이 층을 가른다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학습이 안전 기능을 맡으면 제3자 인증과 고장률 논증의 비용이 급증한다. 그래서 학습은 성능층, 결정론 로직은 안전층으로 나뉜다(B.18.4) </a:t>
                      </a:r>
                      <a:r>
                        <a:rPr sz="800" b="0" i="0">
                          <a:solidFill>
                            <a:srgbClr val="1D4ED8"/>
                          </a:solidFill>
                          <a:latin typeface="Arial"/>
                          <a:ea typeface="Malgun Gothic"/>
                          <a:cs typeface="Malgun Gothic"/>
                          <a:hlinkClick r:id="rId23"/>
                        </a:rPr>
                        <a:t>P1</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24"/>
                        </a:rPr>
                        <a:t>P3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휴머노이드, 도로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평가의 현실화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open-loop에서 closed-loop로(도로, 점수 신뢰성 논란 </a:t>
                      </a:r>
                      <a:r>
                        <a:rPr sz="800" b="0" i="0">
                          <a:solidFill>
                            <a:srgbClr val="1D4ED8"/>
                          </a:solidFill>
                          <a:latin typeface="Arial"/>
                          <a:ea typeface="Malgun Gothic"/>
                          <a:cs typeface="Malgun Gothic"/>
                          <a:hlinkClick r:id="rId25"/>
                        </a:rPr>
                        <a:t>A10</a:t>
                      </a:r>
                      <a:r>
                        <a:rPr sz="800" b="0" i="0">
                          <a:solidFill>
                            <a:srgbClr val="16213A"/>
                          </a:solidFill>
                          <a:latin typeface="Arial"/>
                          <a:ea typeface="Malgun Gothic"/>
                          <a:cs typeface="Malgun Gothic"/>
                        </a:rPr>
                        <a:t>), 단독에서 6대 동시 결승으로(레이싱 </a:t>
                      </a:r>
                      <a:r>
                        <a:rPr sz="800" b="0" i="0">
                          <a:solidFill>
                            <a:srgbClr val="1D4ED8"/>
                          </a:solidFill>
                          <a:latin typeface="Arial"/>
                          <a:ea typeface="Malgun Gothic"/>
                          <a:cs typeface="Malgun Gothic"/>
                          <a:hlinkClick r:id="rId26"/>
                        </a:rPr>
                        <a:t>R11</a:t>
                      </a:r>
                      <a:r>
                        <a:rPr sz="800" b="0" i="0">
                          <a:solidFill>
                            <a:srgbClr val="16213A"/>
                          </a:solidFill>
                          <a:latin typeface="Arial"/>
                          <a:ea typeface="Malgun Gothic"/>
                          <a:cs typeface="Malgun Gothic"/>
                        </a:rPr>
                        <a:t>), 처리량에서 실행 지연·풋프린트로(창고 MAPF </a:t>
                      </a:r>
                      <a:r>
                        <a:rPr sz="800" b="0" i="0">
                          <a:solidFill>
                            <a:srgbClr val="1D4ED8"/>
                          </a:solidFill>
                          <a:latin typeface="Arial"/>
                          <a:ea typeface="Malgun Gothic"/>
                          <a:cs typeface="Malgun Gothic"/>
                          <a:hlinkClick r:id="rId27"/>
                        </a:rPr>
                        <a:t>N9</a:t>
                      </a:r>
                      <a:r>
                        <a:rPr sz="800" b="0" i="0">
                          <a:solidFill>
                            <a:srgbClr val="16213A"/>
                          </a:solidFill>
                          <a:latin typeface="Arial"/>
                          <a:ea typeface="Malgun Gothic"/>
                          <a:cs typeface="Malgun Gothic"/>
                        </a:rPr>
                        <a:t>), 원격 조종에서 완전 자율 의무로(휴머노이드 대회 </a:t>
                      </a:r>
                      <a:r>
                        <a:rPr sz="800" b="0" i="0">
                          <a:solidFill>
                            <a:srgbClr val="1D4ED8"/>
                          </a:solidFill>
                          <a:latin typeface="Arial"/>
                          <a:ea typeface="Malgun Gothic"/>
                          <a:cs typeface="Malgun Gothic"/>
                          <a:hlinkClick r:id="rId28"/>
                        </a:rPr>
                        <a:t>H14</a:t>
                      </a:r>
                      <a:r>
                        <a:rPr sz="800" b="0" i="0">
                          <a:solidFill>
                            <a:srgbClr val="16213A"/>
                          </a:solidFill>
                          <a:latin typeface="Arial"/>
                          <a:ea typeface="Malgun Gothic"/>
                          <a:cs typeface="Malgun Gothic"/>
                        </a:rPr>
                        <a:t>). 다중 에이전트 계획이 공통 과제로 떠올랐지만 대부분 시뮬레이션 단계다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도로, 레이싱, 모바일, 휴머노이드</a:t>
                      </a:r>
                    </a:p>
                  </a:txBody>
                  <a:tcPr marL="63500" marR="63500" marT="12700" marB="12700">
                    <a:solidFill>
                      <a:srgbClr val="F3F0E8"/>
                    </a:solidFill>
                  </a:tcPr>
                </a:tc>
              </a:tr>
            </a:tbl>
          </a:graphicData>
        </a:graphic>
      </p:graphicFrame>
      <p:sp>
        <p:nvSpPr>
          <p:cNvPr id="6" name="TextBox 5"/>
          <p:cNvSpPr txBox="1"/>
          <p:nvPr/>
        </p:nvSpPr>
        <p:spPr>
          <a:xfrm>
            <a:off x="717550" y="397103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B.18.4 보이지 않던 층: 인증, 원격 지원, 산업 현장</a:t>
            </a:r>
          </a:p>
        </p:txBody>
      </p:sp>
      <p:sp>
        <p:nvSpPr>
          <p:cNvPr id="7" name="TextBox 6"/>
          <p:cNvSpPr txBox="1"/>
          <p:nvPr/>
        </p:nvSpPr>
        <p:spPr>
          <a:xfrm>
            <a:off x="609600" y="427424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한 대의 계획기만 비교하면 놓치는 것이 셋 있다.</a:t>
            </a:r>
            <a:r>
              <a:rPr sz="1050" b="0" i="0">
                <a:solidFill>
                  <a:srgbClr val="16213A"/>
                </a:solidFill>
                <a:latin typeface="Arial"/>
                <a:ea typeface="Malgun Gothic"/>
                <a:cs typeface="Malgun Gothic"/>
              </a:rPr>
              <a:t> 실제 배치는 제도(인증·규제), 운용(원격 지원), 규모(산업 현장)가 감싼 채로 돈다.</a:t>
            </a:r>
          </a:p>
        </p:txBody>
      </p:sp>
      <p:sp>
        <p:nvSpPr>
          <p:cNvPr id="8" name="TextBox 7"/>
          <p:cNvSpPr txBox="1"/>
          <p:nvPr/>
        </p:nvSpPr>
        <p:spPr>
          <a:xfrm>
            <a:off x="609600" y="457964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인증과 규제.</a:t>
            </a:r>
            <a:r>
              <a:rPr sz="1050" b="0" i="0">
                <a:solidFill>
                  <a:srgbClr val="16213A"/>
                </a:solidFill>
                <a:latin typeface="Arial"/>
                <a:ea typeface="Malgun Gothic"/>
                <a:cs typeface="Malgun Gothic"/>
              </a:rPr>
              <a:t> 학습 정책이 안전 기능을 맡는 순간 제3자 인증과 고장률 논증이 필요해져 비용이 급증한다. 그래서 산업은 학습을 성능층에 두고, 등급을 받은 결정론 안전층(안전 스캐너 보호 필드, 안전 PLC, 속도·분리 감시)을 경계로 세운다. EU 기계류 규정 2023/1230(2027-01-20 적용)은 AI 기반 안전 기능을 가진 기계를 새로 규율한다 </a:t>
            </a:r>
            <a:r>
              <a:rPr sz="1050" b="0" i="0">
                <a:solidFill>
                  <a:srgbClr val="1D4ED8"/>
                </a:solidFill>
                <a:latin typeface="Arial"/>
                <a:ea typeface="Malgun Gothic"/>
                <a:cs typeface="Malgun Gothic"/>
                <a:hlinkClick r:id="rId23"/>
              </a:rPr>
              <a:t>P1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P2</a:t>
            </a:r>
            <a:r>
              <a:rPr sz="1050" b="0" i="0">
                <a:solidFill>
                  <a:srgbClr val="16213A"/>
                </a:solidFill>
                <a:latin typeface="Arial"/>
                <a:ea typeface="Malgun Gothic"/>
                <a:cs typeface="Malgun Gothic"/>
              </a:rPr>
              <a:t>. 자율주행은 UL 4600 safety case로 학습 요소를 논증해 받아들인다 </a:t>
            </a:r>
            <a:r>
              <a:rPr sz="1050" b="0" i="0">
                <a:solidFill>
                  <a:srgbClr val="1D4ED8"/>
                </a:solidFill>
                <a:latin typeface="Arial"/>
                <a:ea typeface="Malgun Gothic"/>
                <a:cs typeface="Malgun Gothic"/>
                <a:hlinkClick r:id="rId24"/>
              </a:rPr>
              <a:t>P3</a:t>
            </a:r>
            <a:r>
              <a:rPr sz="1050" b="0" i="0">
                <a:solidFill>
                  <a:srgbClr val="16213A"/>
                </a:solidFill>
                <a:latin typeface="Arial"/>
                <a:ea typeface="Malgun Gothic"/>
                <a:cs typeface="Malgun Gothic"/>
              </a:rPr>
              <a:t>. 학계의 안전 필터 </a:t>
            </a:r>
            <a:r>
              <a:rPr sz="1050" b="0" i="0">
                <a:solidFill>
                  <a:srgbClr val="1D4ED8"/>
                </a:solidFill>
                <a:latin typeface="Arial"/>
                <a:ea typeface="Malgun Gothic"/>
                <a:cs typeface="Malgun Gothic"/>
                <a:hlinkClick r:id="rId30"/>
              </a:rPr>
              <a:t>C9</a:t>
            </a:r>
            <a:r>
              <a:rPr sz="1050" b="0" i="0">
                <a:solidFill>
                  <a:srgbClr val="16213A"/>
                </a:solidFill>
                <a:latin typeface="Arial"/>
                <a:ea typeface="Malgun Gothic"/>
                <a:cs typeface="Malgun Gothic"/>
              </a:rPr>
              <a:t>도 소프트웨어 자체가 인증을 받기 전에는 안전층이 아니다. 이족 휴머노이드는 동력을 끊으면 넘어지는 fail-passive 공백 때문에 인증 경로가 아직 열려 있다 </a:t>
            </a:r>
            <a:r>
              <a:rPr sz="1050" b="0" i="0">
                <a:solidFill>
                  <a:srgbClr val="1D4ED8"/>
                </a:solidFill>
                <a:latin typeface="Arial"/>
                <a:ea typeface="Malgun Gothic"/>
                <a:cs typeface="Malgun Gothic"/>
                <a:hlinkClick r:id="rId31"/>
              </a:rPr>
              <a:t>P4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2"/>
              </a:rPr>
              <a:t>P5</a:t>
            </a:r>
            <a:r>
              <a:rPr sz="1050" b="0" i="0">
                <a:solidFill>
                  <a:srgbClr val="16213A"/>
                </a:solidFill>
                <a:latin typeface="Arial"/>
                <a:ea typeface="Malgun Gothic"/>
                <a:cs typeface="Malgun Gothic"/>
              </a:rPr>
              <a:t>. 계획기에 주는 뜻은 결정론 안전층 안쪽에서 움직이는 성능층이라는 것이다. 보장이 없는 페널티 기반 최적화는 인증 논증에서 약점이다(원 문서의 추론).</a:t>
            </a:r>
          </a:p>
        </p:txBody>
      </p:sp>
    </p:spTree>
  </p:cSld>
  <p:clrMapOvr>
    <a:masterClrMapping/>
  </p:clrMapOvr>
</p:sld>
</file>

<file path=ppt/slides/slide4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492 / 520</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원격 지원과 오프보드 계획.</a:t>
            </a:r>
            <a:r>
              <a:rPr sz="1050" b="0" i="0">
                <a:solidFill>
                  <a:srgbClr val="16213A"/>
                </a:solidFill>
                <a:latin typeface="Arial"/>
                <a:ea typeface="Malgun Gothic"/>
                <a:cs typeface="Malgun Gothic"/>
              </a:rPr>
              <a:t> Waymo는 동시 근무하는 원격 지원 요원 약 70명이 차량 3,000대에 조언만 한다. 조향과 제동은 하지 않고, 차량은 조언을 거부할 수 있다. 편도 지연 중앙값은 약 150 ms(미국)다 </a:t>
            </a:r>
            <a:r>
              <a:rPr sz="1050" b="0" i="0">
                <a:solidFill>
                  <a:srgbClr val="1D4ED8"/>
                </a:solidFill>
                <a:latin typeface="Arial"/>
                <a:ea typeface="Malgun Gothic"/>
                <a:cs typeface="Malgun Gothic"/>
                <a:hlinkClick r:id="rId3"/>
              </a:rPr>
              <a:t>P6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P7</a:t>
            </a:r>
            <a:r>
              <a:rPr sz="1050" b="0" i="0">
                <a:solidFill>
                  <a:srgbClr val="16213A"/>
                </a:solidFill>
                <a:latin typeface="Arial"/>
                <a:ea typeface="Malgun Gothic"/>
                <a:cs typeface="Malgun Gothic"/>
              </a:rPr>
              <a:t>. 로보택시 7개 회사 모두 원격 지원 빈도를 공개하지 않았고, 원격 운전을 허용하는 곳은 Tesla뿐이다 </a:t>
            </a:r>
            <a:r>
              <a:rPr sz="1050" b="0" i="0">
                <a:solidFill>
                  <a:srgbClr val="1D4ED8"/>
                </a:solidFill>
                <a:latin typeface="Arial"/>
                <a:ea typeface="Malgun Gothic"/>
                <a:cs typeface="Malgun Gothic"/>
                <a:hlinkClick r:id="rId5"/>
              </a:rPr>
              <a:t>P9</a:t>
            </a:r>
            <a:r>
              <a:rPr sz="1050" b="0" i="0">
                <a:solidFill>
                  <a:srgbClr val="16213A"/>
                </a:solidFill>
                <a:latin typeface="Arial"/>
                <a:ea typeface="Malgun Gothic"/>
                <a:cs typeface="Malgun Gothic"/>
              </a:rPr>
              <a:t>. 캘리포니아는 2026-04 원격 운전자·보조원의 면허·교육 기준을 도입했다 </a:t>
            </a:r>
            <a:r>
              <a:rPr sz="1050" b="0" i="0">
                <a:solidFill>
                  <a:srgbClr val="1D4ED8"/>
                </a:solidFill>
                <a:latin typeface="Arial"/>
                <a:ea typeface="Malgun Gothic"/>
                <a:cs typeface="Malgun Gothic"/>
                <a:hlinkClick r:id="rId6"/>
              </a:rPr>
              <a:t>P18</a:t>
            </a:r>
            <a:r>
              <a:rPr sz="1050" b="0" i="0">
                <a:solidFill>
                  <a:srgbClr val="16213A"/>
                </a:solidFill>
                <a:latin typeface="Arial"/>
                <a:ea typeface="Malgun Gothic"/>
                <a:cs typeface="Malgun Gothic"/>
              </a:rPr>
              <a:t>. NTSB가 조사 중인 2026-01 사건에서는 원격 요원의 답이 계획기 판단에 들어가 차량이 정지 신호를 켠 스쿨버스를 지나쳤다. 원인은 아직 판정 전이다 </a:t>
            </a:r>
            <a:r>
              <a:rPr sz="1050" b="0" i="0">
                <a:solidFill>
                  <a:srgbClr val="1D4ED8"/>
                </a:solidFill>
                <a:latin typeface="Arial"/>
                <a:ea typeface="Malgun Gothic"/>
                <a:cs typeface="Malgun Gothic"/>
                <a:hlinkClick r:id="rId7"/>
              </a:rPr>
              <a:t>P8</a:t>
            </a:r>
            <a:r>
              <a:rPr sz="1050" b="0" i="0">
                <a:solidFill>
                  <a:srgbClr val="16213A"/>
                </a:solidFill>
                <a:latin typeface="Arial"/>
                <a:ea typeface="Malgun Gothic"/>
                <a:cs typeface="Malgun Gothic"/>
              </a:rPr>
              <a:t>. 퍼서비어런스는 주행의 90% 이상을 온보드 ENav로 달린다 </a:t>
            </a:r>
            <a:r>
              <a:rPr sz="1050" b="0" i="0">
                <a:solidFill>
                  <a:srgbClr val="1D4ED8"/>
                </a:solidFill>
                <a:latin typeface="Arial"/>
                <a:ea typeface="Malgun Gothic"/>
                <a:cs typeface="Malgun Gothic"/>
                <a:hlinkClick r:id="rId8"/>
              </a:rPr>
              <a:t>P12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P13</a:t>
            </a:r>
            <a:r>
              <a:rPr sz="1050" b="0" i="0">
                <a:solidFill>
                  <a:srgbClr val="16213A"/>
                </a:solidFill>
                <a:latin typeface="Arial"/>
                <a:ea typeface="Malgun Gothic"/>
                <a:cs typeface="Malgun Gothic"/>
              </a:rPr>
              <a:t>. 2025-12에는 Claude가 궤도 영상과 경사 자료로 경유점을 만들고, 디지털 트윈에서 변수 50만 개 이상을 검증한 뒤 210 m와 246 m를 달렸다. 경유점 사이는 여전히 온보드 AutoNav가 맡았다 </a:t>
            </a:r>
            <a:r>
              <a:rPr sz="1050" b="0" i="0">
                <a:solidFill>
                  <a:srgbClr val="1D4ED8"/>
                </a:solidFill>
                <a:latin typeface="Arial"/>
                <a:ea typeface="Malgun Gothic"/>
                <a:cs typeface="Malgun Gothic"/>
                <a:hlinkClick r:id="rId10"/>
              </a:rPr>
              <a:t>P10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1"/>
              </a:rPr>
              <a:t>P11</a:t>
            </a:r>
            <a:r>
              <a:rPr sz="1050" b="0" i="0">
                <a:solidFill>
                  <a:srgbClr val="16213A"/>
                </a:solidFill>
                <a:latin typeface="Arial"/>
                <a:ea typeface="Malgun Gothic"/>
                <a:cs typeface="Malgun Gothic"/>
              </a:rPr>
              <a:t>. 계획기에 주는 뜻은, 파운데이션 모델은 전략적 경유점을 넘기고 실시간 루프는 보수적인 온보드 실행기가 쥔다는 것이다. 대형 모델을 검증 없이 루프에 넣은 공개 사례는 없다.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산업 현장.</a:t>
            </a:r>
            <a:r>
              <a:rPr sz="1050" b="0" i="0">
                <a:solidFill>
                  <a:srgbClr val="16213A"/>
                </a:solidFill>
                <a:latin typeface="Arial"/>
                <a:ea typeface="Malgun Gothic"/>
                <a:cs typeface="Malgun Gothic"/>
              </a:rPr>
              <a:t> 광산 무인 운반에서는 Komatsu가 초대형 자율 트럭 누적 1,000대를 커미셔닝했고(2026-04) </a:t>
            </a:r>
            <a:r>
              <a:rPr sz="1050" b="0" i="0">
                <a:solidFill>
                  <a:srgbClr val="1D4ED8"/>
                </a:solidFill>
                <a:latin typeface="Arial"/>
                <a:ea typeface="Malgun Gothic"/>
                <a:cs typeface="Malgun Gothic"/>
                <a:hlinkClick r:id="rId12"/>
              </a:rPr>
              <a:t>P14</a:t>
            </a:r>
            <a:r>
              <a:rPr sz="1050" b="0" i="0">
                <a:solidFill>
                  <a:srgbClr val="16213A"/>
                </a:solidFill>
                <a:latin typeface="Arial"/>
                <a:ea typeface="Malgun Gothic"/>
                <a:cs typeface="Malgun Gothic"/>
              </a:rPr>
              <a:t>, 중국 EACON은 3,500대 이상이라고 밝힌다(2026-08, 자사 발표, 톤급이 다르다) </a:t>
            </a:r>
            <a:r>
              <a:rPr sz="1050" b="0" i="0">
                <a:solidFill>
                  <a:srgbClr val="1D4ED8"/>
                </a:solidFill>
                <a:latin typeface="Arial"/>
                <a:ea typeface="Malgun Gothic"/>
                <a:cs typeface="Malgun Gothic"/>
                <a:hlinkClick r:id="rId13"/>
              </a:rPr>
              <a:t>P15</a:t>
            </a:r>
            <a:r>
              <a:rPr sz="1050" b="0" i="0">
                <a:solidFill>
                  <a:srgbClr val="16213A"/>
                </a:solidFill>
                <a:latin typeface="Arial"/>
                <a:ea typeface="Malgun Gothic"/>
                <a:cs typeface="Malgun Gothic"/>
              </a:rPr>
              <a:t>. 경로 계획 알고리즘은 공개하지 않는다. 무인 화물 트럭은 Aurora가 무인 노선을 10개로 늘렸다(2026-02) </a:t>
            </a:r>
            <a:r>
              <a:rPr sz="1050" b="0" i="0">
                <a:solidFill>
                  <a:srgbClr val="1D4ED8"/>
                </a:solidFill>
                <a:latin typeface="Arial"/>
                <a:ea typeface="Malgun Gothic"/>
                <a:cs typeface="Malgun Gothic"/>
                <a:hlinkClick r:id="rId14"/>
              </a:rPr>
              <a:t>P16</a:t>
            </a:r>
            <a:r>
              <a:rPr sz="1050" b="0" i="0">
                <a:solidFill>
                  <a:srgbClr val="16213A"/>
                </a:solidFill>
                <a:latin typeface="Arial"/>
                <a:ea typeface="Malgun Gothic"/>
                <a:cs typeface="Malgun Gothic"/>
              </a:rPr>
              <a:t>. 농업에서는 Deere 자율 트랙터가 카메라 16대와 신경망으로 약 100 ms에 주행 가능 여부를 판정한다 </a:t>
            </a:r>
            <a:r>
              <a:rPr sz="1050" b="0" i="0">
                <a:solidFill>
                  <a:srgbClr val="1D4ED8"/>
                </a:solidFill>
                <a:latin typeface="Arial"/>
                <a:ea typeface="Malgun Gothic"/>
                <a:cs typeface="Malgun Gothic"/>
                <a:hlinkClick r:id="rId15"/>
              </a:rPr>
              <a:t>P17</a:t>
            </a:r>
            <a:r>
              <a:rPr sz="1050" b="0" i="0">
                <a:solidFill>
                  <a:srgbClr val="16213A"/>
                </a:solidFill>
                <a:latin typeface="Arial"/>
                <a:ea typeface="Malgun Gothic"/>
                <a:cs typeface="Malgun Gothic"/>
              </a:rPr>
              <a:t>. 창고 대회는 탐색 기반이 이기고, 학습은 탐색과 결합한 하이브리드로 들어온다 </a:t>
            </a:r>
            <a:r>
              <a:rPr sz="1050" b="0" i="0">
                <a:solidFill>
                  <a:srgbClr val="1D4ED8"/>
                </a:solidFill>
                <a:latin typeface="Arial"/>
                <a:ea typeface="Malgun Gothic"/>
                <a:cs typeface="Malgun Gothic"/>
                <a:hlinkClick r:id="rId16"/>
              </a:rPr>
              <a:t>N7</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17"/>
              </a:rPr>
              <a:t>N9</a:t>
            </a:r>
            <a:r>
              <a:rPr sz="1050" b="0" i="0">
                <a:solidFill>
                  <a:srgbClr val="16213A"/>
                </a:solidFill>
                <a:latin typeface="Arial"/>
                <a:ea typeface="Malgun Gothic"/>
                <a:cs typeface="Malgun Gothic"/>
              </a:rPr>
              <a:t>. 공통점은 제한된 운행 영역, 중앙 관제·원격 지원, 중복 설계, 외부 감사를 받은 safety case다. 산업은 규칙, 학계는 학습이라는 구도가 아니라, 학습을 가드레일 안에 가둔 하이브리드다.</a:t>
            </a:r>
          </a:p>
        </p:txBody>
      </p:sp>
      <p:sp>
        <p:nvSpPr>
          <p:cNvPr id="7" name="TextBox 6"/>
          <p:cNvSpPr txBox="1"/>
          <p:nvPr/>
        </p:nvSpPr>
        <p:spPr>
          <a:xfrm>
            <a:off x="717550" y="358735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B.18.5 한국에서는</a:t>
            </a:r>
          </a:p>
        </p:txBody>
      </p:sp>
      <p:sp>
        <p:nvSpPr>
          <p:cNvPr id="8" name="TextBox 7"/>
          <p:cNvSpPr txBox="1"/>
          <p:nvPr/>
        </p:nvSpPr>
        <p:spPr>
          <a:xfrm>
            <a:off x="609600" y="38905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한국은 세계 흐름과 같으면서 두 가지가 두드러진다.</a:t>
            </a:r>
            <a:r>
              <a:rPr sz="1050" b="0" i="0">
                <a:solidFill>
                  <a:srgbClr val="16213A"/>
                </a:solidFill>
                <a:latin typeface="Arial"/>
                <a:ea typeface="Malgun Gothic"/>
                <a:cs typeface="Malgun Gothic"/>
              </a:rPr>
              <a:t> 다리 로봇 연구는 하이브리드 성향이 강하고, 실외 배송 로봇은 인증이 설계를 이끈다.</a:t>
            </a:r>
          </a:p>
        </p:txBody>
      </p:sp>
      <p:graphicFrame>
        <p:nvGraphicFramePr>
          <p:cNvPr id="9" name="Table 8"/>
          <p:cNvGraphicFramePr>
            <a:graphicFrameLocks noGrp="1"/>
          </p:cNvGraphicFramePr>
          <p:nvPr/>
        </p:nvGraphicFramePr>
        <p:xfrm>
          <a:off x="609600" y="4195961"/>
          <a:ext cx="10966450" cy="985440"/>
        </p:xfrm>
        <a:graphic>
          <a:graphicData uri="http://schemas.openxmlformats.org/drawingml/2006/table">
            <a:tbl>
              <a:tblPr firstRow="1" bandRow="1">
                <a:tableStyleId>{5C22544A-7EE6-4342-B048-85BDC9FD1C3A}</a:tableStyleId>
              </a:tblPr>
              <a:tblGrid>
                <a:gridCol w="2068810"/>
                <a:gridCol w="4886821"/>
                <a:gridCol w="4010819"/>
              </a:tblGrid>
              <a:tr h="197088">
                <a:tc>
                  <a:txBody>
                    <a:bodyPr wrap="square"/>
                    <a:lstStyle/>
                    <a:p>
                      <a:r>
                        <a:rPr sz="800" b="1" i="0">
                          <a:solidFill>
                            <a:srgbClr val="F4F1EA"/>
                          </a:solidFill>
                          <a:latin typeface="Arial"/>
                          <a:ea typeface="Malgun Gothic"/>
                          <a:cs typeface="Malgun Gothic"/>
                        </a:rPr>
                        <a:t>연구실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성과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KAIST 황보제민(RaiSim, Raibo)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변형 지형 보행 </a:t>
                      </a:r>
                      <a:r>
                        <a:rPr sz="800" b="0" i="0">
                          <a:solidFill>
                            <a:srgbClr val="1D4ED8"/>
                          </a:solidFill>
                          <a:latin typeface="Arial"/>
                          <a:ea typeface="Malgun Gothic"/>
                          <a:cs typeface="Malgun Gothic"/>
                          <a:hlinkClick r:id="rId18"/>
                        </a:rPr>
                        <a:t>K1</a:t>
                      </a:r>
                      <a:r>
                        <a:rPr sz="800" b="0" i="0">
                          <a:solidFill>
                            <a:srgbClr val="16213A"/>
                          </a:solidFill>
                          <a:latin typeface="Arial"/>
                          <a:ea typeface="Malgun Gothic"/>
                          <a:cs typeface="Malgun Gothic"/>
                        </a:rPr>
                        <a:t>, 이산 지형 고속 주행 </a:t>
                      </a:r>
                      <a:r>
                        <a:rPr sz="800" b="0" i="0">
                          <a:solidFill>
                            <a:srgbClr val="1D4ED8"/>
                          </a:solidFill>
                          <a:latin typeface="Arial"/>
                          <a:ea typeface="Malgun Gothic"/>
                          <a:cs typeface="Malgun Gothic"/>
                          <a:hlinkClick r:id="rId19"/>
                        </a:rPr>
                        <a:t>Q6</a:t>
                      </a:r>
                      <a:r>
                        <a:rPr sz="800" b="0" i="0">
                          <a:solidFill>
                            <a:srgbClr val="16213A"/>
                          </a:solidFill>
                          <a:latin typeface="Arial"/>
                          <a:ea typeface="Malgun Gothic"/>
                          <a:cs typeface="Malgun Gothic"/>
                        </a:rPr>
                        <a:t>, RAIBO2 풀코스 마라톤 완주(2024-11) </a:t>
                      </a:r>
                      <a:r>
                        <a:rPr sz="800" b="0" i="0">
                          <a:solidFill>
                            <a:srgbClr val="1D4ED8"/>
                          </a:solidFill>
                          <a:latin typeface="Arial"/>
                          <a:ea typeface="Malgun Gothic"/>
                          <a:cs typeface="Malgun Gothic"/>
                          <a:hlinkClick r:id="rId20"/>
                        </a:rPr>
                        <a:t>K7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구동기·지형 모델을 학습에 넣고, 샘플링 발 디딤과 RL 추종을 묶는다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KAIST 박해원(HOUND, MARVEL)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자석 발 벽 등반 </a:t>
                      </a:r>
                      <a:r>
                        <a:rPr sz="800" b="0" i="0">
                          <a:solidFill>
                            <a:srgbClr val="1D4ED8"/>
                          </a:solidFill>
                          <a:latin typeface="Arial"/>
                          <a:ea typeface="Malgun Gothic"/>
                          <a:cs typeface="Malgun Gothic"/>
                          <a:hlinkClick r:id="rId21"/>
                        </a:rPr>
                        <a:t>K2</a:t>
                      </a:r>
                      <a:r>
                        <a:rPr sz="800" b="0" i="0">
                          <a:solidFill>
                            <a:srgbClr val="16213A"/>
                          </a:solidFill>
                          <a:latin typeface="Arial"/>
                          <a:ea typeface="Malgun Gothic"/>
                          <a:cs typeface="Malgun Gothic"/>
                        </a:rPr>
                        <a:t>, Contact-Implicit MPC </a:t>
                      </a:r>
                      <a:r>
                        <a:rPr sz="800" b="0" i="0">
                          <a:solidFill>
                            <a:srgbClr val="1D4ED8"/>
                          </a:solidFill>
                          <a:latin typeface="Arial"/>
                          <a:ea typeface="Malgun Gothic"/>
                          <a:cs typeface="Malgun Gothic"/>
                          <a:hlinkClick r:id="rId22"/>
                        </a:rPr>
                        <a:t>K3</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3"/>
                        </a:rPr>
                        <a:t>K4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MPC와 RL 병행. 최근에는 궤적 최적화를 RL의 교사로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KAIST 명현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DreamWaQ </a:t>
                      </a:r>
                      <a:r>
                        <a:rPr sz="800" b="0" i="0">
                          <a:solidFill>
                            <a:srgbClr val="1D4ED8"/>
                          </a:solidFill>
                          <a:latin typeface="Arial"/>
                          <a:ea typeface="Malgun Gothic"/>
                          <a:cs typeface="Malgun Gothic"/>
                          <a:hlinkClick r:id="rId24"/>
                        </a:rPr>
                        <a:t>K5</a:t>
                      </a:r>
                      <a:r>
                        <a:rPr sz="800" b="0" i="0">
                          <a:solidFill>
                            <a:srgbClr val="16213A"/>
                          </a:solidFill>
                          <a:latin typeface="Arial"/>
                          <a:ea typeface="Malgun Gothic"/>
                          <a:cs typeface="Malgun Gothic"/>
                        </a:rPr>
                        <a:t>, DreamWaQ++ </a:t>
                      </a:r>
                      <a:r>
                        <a:rPr sz="800" b="0" i="0">
                          <a:solidFill>
                            <a:srgbClr val="1D4ED8"/>
                          </a:solidFill>
                          <a:latin typeface="Arial"/>
                          <a:ea typeface="Malgun Gothic"/>
                          <a:cs typeface="Malgun Gothic"/>
                          <a:hlinkClick r:id="rId25"/>
                        </a:rPr>
                        <a:t>K6</a:t>
                      </a:r>
                      <a:r>
                        <a:rPr sz="800" b="0" i="0">
                          <a:solidFill>
                            <a:srgbClr val="16213A"/>
                          </a:solidFill>
                          <a:latin typeface="Arial"/>
                          <a:ea typeface="Malgun Gothic"/>
                          <a:cs typeface="Malgun Gothic"/>
                        </a:rPr>
                        <a:t>, ICRA 2023 사족 로봇 대회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고유감각과 외부 감각을 융합하는 RL</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서울대 박재흥(TOCABI)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기반 이족 RL </a:t>
                      </a:r>
                      <a:r>
                        <a:rPr sz="800" b="0" i="0">
                          <a:solidFill>
                            <a:srgbClr val="1D4ED8"/>
                          </a:solidFill>
                          <a:latin typeface="Arial"/>
                          <a:ea typeface="Malgun Gothic"/>
                          <a:cs typeface="Malgun Gothic"/>
                          <a:hlinkClick r:id="rId26"/>
                        </a:rPr>
                        <a:t>K8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전통 위의 RL</a:t>
                      </a:r>
                    </a:p>
                  </a:txBody>
                  <a:tcPr marL="63500" marR="63500" marT="12700" marB="12700">
                    <a:solidFill>
                      <a:srgbClr val="F3F0E8"/>
                    </a:solidFill>
                  </a:tcPr>
                </a:tc>
              </a:tr>
            </a:tbl>
          </a:graphicData>
        </a:graphic>
      </p:graphicFrame>
      <p:sp>
        <p:nvSpPr>
          <p:cNvPr id="10" name="TextBox 9"/>
          <p:cNvSpPr txBox="1"/>
          <p:nvPr/>
        </p:nvSpPr>
        <p:spPr>
          <a:xfrm>
            <a:off x="609600" y="552301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RAIBO2 마라톤은 자율 내비게이션이 아니라 보행 내구성 실증이다. 자율 주행은 후속 과제로 명시됐다. 레인보우로보틱스 RBQ는 동역학 기반 보행과 AI 보행을 결합하고 전환한다고 밝힌다 </a:t>
            </a:r>
            <a:r>
              <a:rPr sz="1050" b="0" i="0">
                <a:solidFill>
                  <a:srgbClr val="1D4ED8"/>
                </a:solidFill>
                <a:latin typeface="Arial"/>
                <a:ea typeface="Malgun Gothic"/>
                <a:cs typeface="Malgun Gothic"/>
                <a:hlinkClick r:id="rId27"/>
              </a:rPr>
              <a:t>K23</a:t>
            </a:r>
            <a:r>
              <a:rPr sz="1050" b="0" i="0">
                <a:solidFill>
                  <a:srgbClr val="16213A"/>
                </a:solidFill>
                <a:latin typeface="Arial"/>
                <a:ea typeface="Malgun Gothic"/>
                <a:cs typeface="Malgun Gothic"/>
              </a:rPr>
              <a:t>. 상용 다리 로봇 제어의 대표 레퍼런스인 Boston Dynamics는 현대차그룹 소유이고, Spot은 MPC와 RL, Atlas는 MPC 위의 LBM이다 </a:t>
            </a:r>
            <a:r>
              <a:rPr sz="1050" b="0" i="0">
                <a:solidFill>
                  <a:srgbClr val="1D4ED8"/>
                </a:solidFill>
                <a:latin typeface="Arial"/>
                <a:ea typeface="Malgun Gothic"/>
                <a:cs typeface="Malgun Gothic"/>
                <a:hlinkClick r:id="rId28"/>
              </a:rPr>
              <a:t>Q4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9"/>
              </a:rPr>
              <a:t>H4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0"/>
              </a:rPr>
              <a:t>K22</a:t>
            </a:r>
            <a:r>
              <a:rPr sz="1050" b="0" i="0">
                <a:solidFill>
                  <a:srgbClr val="16213A"/>
                </a:solidFill>
                <a:latin typeface="Arial"/>
                <a:ea typeface="Malgun Gothic"/>
                <a:cs typeface="Malgun Gothic"/>
              </a:rPr>
              <a:t>. 휴머노이드 산업은 대부분 발표·실증 단계이고, 현장 투입이 보도된 사례는 바퀴형이다. 정부는 K-휴머노이드 연합(2025-04, 2030년까지 민관 1조 원 이상) </a:t>
            </a:r>
            <a:r>
              <a:rPr sz="1050" b="0" i="0">
                <a:solidFill>
                  <a:srgbClr val="1D4ED8"/>
                </a:solidFill>
                <a:latin typeface="Arial"/>
                <a:ea typeface="Malgun Gothic"/>
                <a:cs typeface="Malgun Gothic"/>
                <a:hlinkClick r:id="rId31"/>
              </a:rPr>
              <a:t>K9</a:t>
            </a:r>
            <a:r>
              <a:rPr sz="1050" b="0" i="0">
                <a:solidFill>
                  <a:srgbClr val="16213A"/>
                </a:solidFill>
                <a:latin typeface="Arial"/>
                <a:ea typeface="Malgun Gothic"/>
                <a:cs typeface="Malgun Gothic"/>
              </a:rPr>
              <a:t>과 KIST 주관 504억 원 과제(2026–2030, KAPEX 기반) </a:t>
            </a:r>
            <a:r>
              <a:rPr sz="1050" b="0" i="0">
                <a:solidFill>
                  <a:srgbClr val="1D4ED8"/>
                </a:solidFill>
                <a:latin typeface="Arial"/>
                <a:ea typeface="Malgun Gothic"/>
                <a:cs typeface="Malgun Gothic"/>
                <a:hlinkClick r:id="rId32"/>
              </a:rPr>
              <a:t>K10</a:t>
            </a:r>
            <a:r>
              <a:rPr sz="1050" b="0" i="0">
                <a:solidFill>
                  <a:srgbClr val="16213A"/>
                </a:solidFill>
                <a:latin typeface="Arial"/>
                <a:ea typeface="Malgun Gothic"/>
                <a:cs typeface="Malgun Gothic"/>
              </a:rPr>
              <a:t>를 진행한다.</a:t>
            </a:r>
          </a:p>
        </p:txBody>
      </p:sp>
    </p:spTree>
  </p:cSld>
  <p:clrMapOvr>
    <a:masterClrMapping/>
  </p:clrMapOvr>
</p:sld>
</file>

<file path=ppt/slides/slide4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493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실외 배송 로봇은 2023-11 지능형로봇법·도로교통법 개정으로 시작됐다.</a:t>
            </a:r>
            <a:r>
              <a:rPr sz="1050" b="0" i="0">
                <a:solidFill>
                  <a:srgbClr val="16213A"/>
                </a:solidFill>
                <a:latin typeface="Arial"/>
                <a:ea typeface="Malgun Gothic"/>
                <a:cs typeface="Malgun Gothic"/>
              </a:rPr>
              <a:t> 운행안전인증을 받고 보험에 든 실외이동로봇이 보도를 다닐 수 있게 됐다 </a:t>
            </a:r>
            <a:r>
              <a:rPr sz="1050" b="0" i="0">
                <a:solidFill>
                  <a:srgbClr val="1D4ED8"/>
                </a:solidFill>
                <a:latin typeface="Arial"/>
                <a:ea typeface="Malgun Gothic"/>
                <a:cs typeface="Malgun Gothic"/>
                <a:hlinkClick r:id="rId3"/>
              </a:rPr>
              <a:t>K11</a:t>
            </a:r>
            <a:r>
              <a:rPr sz="1050" b="0" i="0">
                <a:solidFill>
                  <a:srgbClr val="16213A"/>
                </a:solidFill>
                <a:latin typeface="Arial"/>
                <a:ea typeface="Malgun Gothic"/>
                <a:cs typeface="Malgun Gothic"/>
              </a:rPr>
              <a:t>. 인증 단위는 로봇과 관제 장치 한 묶음이다. 심사 항목은 규격·운행 속도, 겉모양, 동적 특성, 주변 인식, 비상 정지, 방수, 횡단보도 통행, 관제 장치의 8개다. 2025-11 고시 개정으로 항목이 16개에서 8개로, 심사 기간이 60일에서 30일로 줄었다 </a:t>
            </a:r>
            <a:r>
              <a:rPr sz="1050" b="0" i="0">
                <a:solidFill>
                  <a:srgbClr val="1D4ED8"/>
                </a:solidFill>
                <a:latin typeface="Arial"/>
                <a:ea typeface="Malgun Gothic"/>
                <a:cs typeface="Malgun Gothic"/>
                <a:hlinkClick r:id="rId4"/>
              </a:rPr>
              <a:t>K13</a:t>
            </a:r>
            <a:r>
              <a:rPr sz="1050" b="0" i="0">
                <a:solidFill>
                  <a:srgbClr val="16213A"/>
                </a:solidFill>
                <a:latin typeface="Arial"/>
                <a:ea typeface="Malgun Gothic"/>
                <a:cs typeface="Malgun Gothic"/>
              </a:rPr>
              <a:t>. 개정 전 기준으로는 최고 속도가 질량에 연동돼 100 kg 이하 15 km/h, 100–230 kg 10 km/h, 230 kg 초과 5 km/h였다 </a:t>
            </a:r>
            <a:r>
              <a:rPr sz="1050" b="0" i="0">
                <a:solidFill>
                  <a:srgbClr val="1D4ED8"/>
                </a:solidFill>
                <a:latin typeface="Arial"/>
                <a:ea typeface="Malgun Gothic"/>
                <a:cs typeface="Malgun Gothic"/>
                <a:hlinkClick r:id="rId5"/>
              </a:rPr>
              <a:t>K14</a:t>
            </a:r>
            <a:r>
              <a:rPr sz="1050" b="0" i="0">
                <a:solidFill>
                  <a:srgbClr val="16213A"/>
                </a:solidFill>
                <a:latin typeface="Arial"/>
                <a:ea typeface="Malgun Gothic"/>
                <a:cs typeface="Malgun Gothic"/>
              </a:rPr>
              <a:t>. 한국로봇산업진흥원(KIRIA)에는 2026-09-11 기준 22개 모델, 10개 회사가 등록돼 있다 </a:t>
            </a:r>
            <a:r>
              <a:rPr sz="1050" b="0" i="0">
                <a:solidFill>
                  <a:srgbClr val="1D4ED8"/>
                </a:solidFill>
                <a:latin typeface="Arial"/>
                <a:ea typeface="Malgun Gothic"/>
                <a:cs typeface="Malgun Gothic"/>
                <a:hlinkClick r:id="rId6"/>
              </a:rPr>
              <a:t>K12</a:t>
            </a:r>
            <a:r>
              <a:rPr sz="1050" b="0" i="0">
                <a:solidFill>
                  <a:srgbClr val="16213A"/>
                </a:solidFill>
                <a:latin typeface="Arial"/>
                <a:ea typeface="Malgun Gothic"/>
                <a:cs typeface="Malgun Gothic"/>
              </a:rPr>
              <a:t>.</a:t>
            </a:r>
          </a:p>
        </p:txBody>
      </p:sp>
      <p:graphicFrame>
        <p:nvGraphicFramePr>
          <p:cNvPr id="6" name="Table 5"/>
          <p:cNvGraphicFramePr>
            <a:graphicFrameLocks noGrp="1"/>
          </p:cNvGraphicFramePr>
          <p:nvPr/>
        </p:nvGraphicFramePr>
        <p:xfrm>
          <a:off x="609600" y="2199481"/>
          <a:ext cx="10966450" cy="1182528"/>
        </p:xfrm>
        <a:graphic>
          <a:graphicData uri="http://schemas.openxmlformats.org/drawingml/2006/table">
            <a:tbl>
              <a:tblPr firstRow="1" bandRow="1">
                <a:tableStyleId>{5C22544A-7EE6-4342-B048-85BDC9FD1C3A}</a:tableStyleId>
              </a:tblPr>
              <a:tblGrid>
                <a:gridCol w="1263848"/>
                <a:gridCol w="718641"/>
                <a:gridCol w="6273602"/>
                <a:gridCol w="2710359"/>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인증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뉴빌리티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5대, 라이다 없음, 딥러닝 3D 인지 </a:t>
                      </a:r>
                      <a:r>
                        <a:rPr sz="800" b="0" i="0">
                          <a:solidFill>
                            <a:srgbClr val="1D4ED8"/>
                          </a:solidFill>
                          <a:latin typeface="Arial"/>
                          <a:ea typeface="Malgun Gothic"/>
                          <a:cs typeface="Malgun Gothic"/>
                          <a:hlinkClick r:id="rId7"/>
                        </a:rPr>
                        <a:t>K25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2025년 말 305대(실내외) </a:t>
                      </a:r>
                      <a:r>
                        <a:rPr sz="800" b="0" i="0">
                          <a:solidFill>
                            <a:srgbClr val="1D4ED8"/>
                          </a:solidFill>
                          <a:latin typeface="Arial"/>
                          <a:ea typeface="Malgun Gothic"/>
                          <a:cs typeface="Malgun Gothic"/>
                          <a:hlinkClick r:id="rId8"/>
                        </a:rPr>
                        <a:t>K17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로보티즈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1호 인증, 5세대에 3D 라이다 첫 탑재(2026 하반기 출시 예정) </a:t>
                      </a:r>
                      <a:r>
                        <a:rPr sz="800" b="0" i="0">
                          <a:solidFill>
                            <a:srgbClr val="1D4ED8"/>
                          </a:solidFill>
                          <a:latin typeface="Arial"/>
                          <a:ea typeface="Malgun Gothic"/>
                          <a:cs typeface="Malgun Gothic"/>
                          <a:hlinkClick r:id="rId9"/>
                        </a:rPr>
                        <a:t>K18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약 200대, 2026년까지 약 2,000대 목표 </a:t>
                      </a:r>
                      <a:r>
                        <a:rPr sz="800" b="0" i="0">
                          <a:solidFill>
                            <a:srgbClr val="1D4ED8"/>
                          </a:solidFill>
                          <a:latin typeface="Arial"/>
                          <a:ea typeface="Malgun Gothic"/>
                          <a:cs typeface="Malgun Gothic"/>
                          <a:hlinkClick r:id="rId10"/>
                        </a:rPr>
                        <a:t>K24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우아한형제들(딜리)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 점군 지도 SLAM, 모션 플래닝은 최적화 기반과 학습 기반(종류 비공개) </a:t>
                      </a:r>
                      <a:r>
                        <a:rPr sz="800" b="0" i="0">
                          <a:solidFill>
                            <a:srgbClr val="1D4ED8"/>
                          </a:solidFill>
                          <a:latin typeface="Arial"/>
                          <a:ea typeface="Malgun Gothic"/>
                          <a:cs typeface="Malgun Gothic"/>
                          <a:hlinkClick r:id="rId11"/>
                        </a:rPr>
                        <a:t>K16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주행 거리 99% 이상 무개입(회사 발표)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현대자동차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MobED Pro 조건부 인증(횡단보도 통행 불가, 가시거리 내 운행) </a:t>
                      </a:r>
                      <a:r>
                        <a:rPr sz="800" b="0" i="0">
                          <a:solidFill>
                            <a:srgbClr val="1D4ED8"/>
                          </a:solidFill>
                          <a:latin typeface="Arial"/>
                          <a:ea typeface="Malgun Gothic"/>
                          <a:cs typeface="Malgun Gothic"/>
                          <a:hlinkClick r:id="rId12"/>
                        </a:rPr>
                        <a:t>K20</a:t>
                      </a:r>
                      <a:r>
                        <a:rPr sz="800" b="0" i="0">
                          <a:solidFill>
                            <a:srgbClr val="16213A"/>
                          </a:solidFill>
                          <a:latin typeface="Arial"/>
                          <a:ea typeface="Malgun Gothic"/>
                          <a:cs typeface="Malgun Gothic"/>
                        </a:rPr>
                        <a:t>, 신호 정보 연계 횡단 실증(2024-08) </a:t>
                      </a:r>
                      <a:r>
                        <a:rPr sz="800" b="0" i="0">
                          <a:solidFill>
                            <a:srgbClr val="1D4ED8"/>
                          </a:solidFill>
                          <a:latin typeface="Arial"/>
                          <a:ea typeface="Malgun Gothic"/>
                          <a:cs typeface="Malgun Gothic"/>
                          <a:hlinkClick r:id="rId13"/>
                        </a:rPr>
                        <a:t>K19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제한 구역 운용 전제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네이버랩스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실외 인증 Lungo, 1784 클라우드 로봇 인프라 </a:t>
                      </a:r>
                      <a:r>
                        <a:rPr sz="800" b="0" i="0">
                          <a:solidFill>
                            <a:srgbClr val="1D4ED8"/>
                          </a:solidFill>
                          <a:latin typeface="Arial"/>
                          <a:ea typeface="Malgun Gothic"/>
                          <a:cs typeface="Malgun Gothic"/>
                          <a:hlinkClick r:id="rId14"/>
                        </a:rPr>
                        <a:t>K26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비공개</a:t>
                      </a:r>
                    </a:p>
                  </a:txBody>
                  <a:tcPr marL="63500" marR="63500" marT="12700" marB="12700">
                    <a:solidFill>
                      <a:srgbClr val="FFFDF8"/>
                    </a:solidFill>
                  </a:tcPr>
                </a:tc>
              </a:tr>
            </a:tbl>
          </a:graphicData>
        </a:graphic>
      </p:graphicFrame>
      <p:sp>
        <p:nvSpPr>
          <p:cNvPr id="7" name="TextBox 6"/>
          <p:cNvSpPr txBox="1"/>
          <p:nvPr/>
        </p:nvSpPr>
        <p:spPr>
          <a:xfrm>
            <a:off x="609600" y="37728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로컬 플래너 알고리즘은 어느 회사도 공개하지 않았다. 인증 조건을 보면 계획 문제의 핵심은 민첩성이 아니다. 규칙을 지키기 위한 이산 결정, 보행자에 가까워지면 줄이거나 멈추는 속도, 신호 시간 창, 원격 개입이 핵심이다(원 문서의 분석). 규모는 국내 최대 운영사가 수백 대, 미국 Serve Robotics가 2,000대 이상이다 </a:t>
            </a:r>
            <a:r>
              <a:rPr sz="1050" b="0" i="0">
                <a:solidFill>
                  <a:srgbClr val="1D4ED8"/>
                </a:solidFill>
                <a:latin typeface="Arial"/>
                <a:ea typeface="Malgun Gothic"/>
                <a:cs typeface="Malgun Gothic"/>
                <a:hlinkClick r:id="rId15"/>
              </a:rPr>
              <a:t>K21</a:t>
            </a:r>
            <a:r>
              <a:rPr sz="1050" b="0" i="0">
                <a:solidFill>
                  <a:srgbClr val="16213A"/>
                </a:solidFill>
                <a:latin typeface="Arial"/>
                <a:ea typeface="Malgun Gothic"/>
                <a:cs typeface="Malgun Gothic"/>
              </a:rPr>
              <a:t>. 연구 쪽에서는 KAIST LiCS가 BARN 2024를 행동복제로 우승했다 </a:t>
            </a:r>
            <a:r>
              <a:rPr sz="1050" b="0" i="0">
                <a:solidFill>
                  <a:srgbClr val="1D4ED8"/>
                </a:solidFill>
                <a:latin typeface="Arial"/>
                <a:ea typeface="Malgun Gothic"/>
                <a:cs typeface="Malgun Gothic"/>
                <a:hlinkClick r:id="rId16"/>
              </a:rPr>
              <a:t>K15</a:t>
            </a:r>
            <a:r>
              <a:rPr sz="1050" b="0" i="0">
                <a:solidFill>
                  <a:srgbClr val="16213A"/>
                </a:solidFill>
                <a:latin typeface="Arial"/>
                <a:ea typeface="Malgun Gothic"/>
                <a:cs typeface="Malgun Gothic"/>
              </a:rPr>
              <a:t>. 규모 수치와 스택 서술 가운데 뉴스로만 확인한 것은 근거 목록에 '헤드라인'으로 표시했다.</a:t>
            </a:r>
          </a:p>
        </p:txBody>
      </p:sp>
      <p:sp>
        <p:nvSpPr>
          <p:cNvPr id="8" name="TextBox 7"/>
          <p:cNvSpPr txBox="1"/>
          <p:nvPr/>
        </p:nvSpPr>
        <p:spPr>
          <a:xfrm>
            <a:off x="717550" y="451127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B.18.6 travplan에 주는 의미</a:t>
            </a:r>
          </a:p>
        </p:txBody>
      </p:sp>
      <p:sp>
        <p:nvSpPr>
          <p:cNvPr id="9" name="TextBox 8"/>
          <p:cNvSpPr txBox="1"/>
          <p:nvPr/>
        </p:nvSpPr>
        <p:spPr>
          <a:xfrm>
            <a:off x="609600" y="4814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두 층은 이 지형에서 서로 다른 분야의 대세를 따른다.</a:t>
            </a:r>
            <a:r>
              <a:rPr sz="1050" b="0" i="0">
                <a:solidFill>
                  <a:srgbClr val="16213A"/>
                </a:solidFill>
                <a:latin typeface="Arial"/>
                <a:ea typeface="Malgun Gothic"/>
                <a:cs typeface="Malgun Gothic"/>
              </a:rPr>
              <a:t> 아래 층(MPPI)은 모바일 로봇의 대세이고, 위 층(학습 Planner)은 다리 로봇과 도로의 부상 흐름이다. 원 문서는 궤적 최적화가 학습과 결합하는 자리를 세 구조로 나눴다. 분류와 예시 배치는 원 문서의 해석이다.</a:t>
            </a:r>
          </a:p>
        </p:txBody>
      </p:sp>
      <p:graphicFrame>
        <p:nvGraphicFramePr>
          <p:cNvPr id="10" name="Table 9"/>
          <p:cNvGraphicFramePr>
            <a:graphicFrameLocks noGrp="1"/>
          </p:cNvGraphicFramePr>
          <p:nvPr/>
        </p:nvGraphicFramePr>
        <p:xfrm>
          <a:off x="609600" y="5336381"/>
          <a:ext cx="10966450" cy="591264"/>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① 생성 + 최적화 보증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생성기(확산·VLA·RL 정책)가 후보·참조를 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투영·백업 궤적·검증으로 보증한다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MPC·기하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SUPER의 백업 궤적 </a:t>
                      </a:r>
                      <a:r>
                        <a:rPr sz="800" b="0" i="0">
                          <a:solidFill>
                            <a:srgbClr val="1D4ED8"/>
                          </a:solidFill>
                          <a:latin typeface="Arial"/>
                          <a:ea typeface="Malgun Gothic"/>
                          <a:cs typeface="Malgun Gothic"/>
                          <a:hlinkClick r:id="rId17"/>
                        </a:rPr>
                        <a:t>G1</a:t>
                      </a:r>
                      <a:r>
                        <a:rPr sz="800" b="0" i="0">
                          <a:solidFill>
                            <a:srgbClr val="16213A"/>
                          </a:solidFill>
                          <a:latin typeface="Arial"/>
                          <a:ea typeface="Malgun Gothic"/>
                          <a:cs typeface="Malgun Gothic"/>
                        </a:rPr>
                        <a:t>, Waymo 검증층 </a:t>
                      </a:r>
                      <a:r>
                        <a:rPr sz="800" b="0" i="0">
                          <a:solidFill>
                            <a:srgbClr val="1D4ED8"/>
                          </a:solidFill>
                          <a:latin typeface="Arial"/>
                          <a:ea typeface="Malgun Gothic"/>
                          <a:cs typeface="Malgun Gothic"/>
                          <a:hlinkClick r:id="rId18"/>
                        </a:rPr>
                        <a:t>A6</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② 최적화 교사 + 학습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최적화가 참조·교사·대량 궤적을 만든다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증류·모방·RL 미세 조정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정책이 보행·비행을 실행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 </a:t>
                      </a:r>
                      <a:r>
                        <a:rPr sz="800" b="0" i="0">
                          <a:solidFill>
                            <a:srgbClr val="1D4ED8"/>
                          </a:solidFill>
                          <a:latin typeface="Arial"/>
                          <a:ea typeface="Malgun Gothic"/>
                          <a:cs typeface="Malgun Gothic"/>
                          <a:hlinkClick r:id="rId19"/>
                        </a:rPr>
                        <a:t>Q5</a:t>
                      </a:r>
                      <a:r>
                        <a:rPr sz="800" b="0" i="0">
                          <a:solidFill>
                            <a:srgbClr val="16213A"/>
                          </a:solidFill>
                          <a:latin typeface="Arial"/>
                          <a:ea typeface="Malgun Gothic"/>
                          <a:cs typeface="Malgun Gothic"/>
                        </a:rPr>
                        <a:t>, APT-RL </a:t>
                      </a:r>
                      <a:r>
                        <a:rPr sz="800" b="0" i="0">
                          <a:solidFill>
                            <a:srgbClr val="1D4ED8"/>
                          </a:solidFill>
                          <a:latin typeface="Arial"/>
                          <a:ea typeface="Malgun Gothic"/>
                          <a:cs typeface="Malgun Gothic"/>
                          <a:hlinkClick r:id="rId20"/>
                        </a:rPr>
                        <a:t>K4</a:t>
                      </a:r>
                    </a:p>
                  </a:txBody>
                  <a:tcPr marL="63500" marR="63500" marT="12700" marB="12700">
                    <a:solidFill>
                      <a:srgbClr val="F3F0E8"/>
                    </a:solidFill>
                  </a:tcPr>
                </a:tc>
              </a:tr>
            </a:tbl>
          </a:graphicData>
        </a:graphic>
      </p:graphicFrame>
    </p:spTree>
  </p:cSld>
  <p:clrMapOvr>
    <a:masterClrMapping/>
  </p:clrMapOvr>
</p:sld>
</file>

<file path=ppt/slides/slide4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494 / 520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23591"/>
                <a:gridCol w="3156545"/>
                <a:gridCol w="2236391"/>
                <a:gridCol w="1530945"/>
                <a:gridCol w="2618978"/>
              </a:tblGrid>
              <a:tr h="197088">
                <a:tc>
                  <a:txBody>
                    <a:bodyPr wrap="square"/>
                    <a:lstStyle/>
                    <a:p>
                      <a:r>
                        <a:rPr sz="800" b="1" i="0">
                          <a:solidFill>
                            <a:srgbClr val="F4F1EA"/>
                          </a:solidFill>
                          <a:latin typeface="Arial"/>
                          <a:ea typeface="Malgun Gothic"/>
                          <a:cs typeface="Malgun Gothic"/>
                        </a:rPr>
                        <a:t>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가운데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예</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③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상위층이 예측·모드·경유점을 낸다(150 ms에서 수 초 늦게)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최적화가 20 Hz로 재계획하고 사후 검증한다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MPC·RL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YOPO 개선판의 MINCO 표현 </a:t>
                      </a:r>
                      <a:r>
                        <a:rPr sz="800" b="0" i="0">
                          <a:solidFill>
                            <a:srgbClr val="1D4ED8"/>
                          </a:solidFill>
                          <a:latin typeface="Arial"/>
                          <a:ea typeface="Malgun Gothic"/>
                          <a:cs typeface="Malgun Gothic"/>
                          <a:hlinkClick r:id="rId3"/>
                        </a:rPr>
                        <a:t>L3</a:t>
                      </a:r>
                      <a:r>
                        <a:rPr sz="800" b="0" i="0">
                          <a:solidFill>
                            <a:srgbClr val="16213A"/>
                          </a:solidFill>
                          <a:latin typeface="Arial"/>
                          <a:ea typeface="Malgun Gothic"/>
                          <a:cs typeface="Malgun Gothic"/>
                        </a:rPr>
                        <a:t>, 퍼서비어런스 </a:t>
                      </a:r>
                      <a:r>
                        <a:rPr sz="800" b="0" i="0">
                          <a:solidFill>
                            <a:srgbClr val="1D4ED8"/>
                          </a:solidFill>
                          <a:latin typeface="Arial"/>
                          <a:ea typeface="Malgun Gothic"/>
                          <a:cs typeface="Malgun Gothic"/>
                          <a:hlinkClick r:id="rId4"/>
                        </a:rPr>
                        <a:t>P10</a:t>
                      </a:r>
                    </a:p>
                  </a:txBody>
                  <a:tcPr marL="63500" marR="63500" marT="12700" marB="12700">
                    <a:solidFill>
                      <a:srgbClr val="FFFDF8"/>
                    </a:solidFill>
                  </a:tcPr>
                </a:tc>
              </a:tr>
            </a:tbl>
          </a:graphicData>
        </a:graphic>
      </p:graphicFrame>
      <p:sp>
        <p:nvSpPr>
          <p:cNvPr id="6" name="TextBox 5"/>
          <p:cNvSpPr txBox="1"/>
          <p:nvPr/>
        </p:nvSpPr>
        <p:spPr>
          <a:xfrm>
            <a:off x="609600" y="18325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travplan을 이 표에 놓으면 ③에 가깝고 가운데 층이 얇다. Planner D(flow matching)가 위에서 경로를 내고, MPPI·NMPC가 그것을 따라가며 지형과 보행자를 로컬로 피한다. 가운데의 검증 역할은 지금 Guidance 폴백(</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)과 치명 셀 규칙이 나눠 맡는다. 폴백은 SUPER의 백업 궤적과 같은 자리이고, 둘 다 학습 출력이 실패할 때 비학습 경로로 물러난다.</a:t>
            </a:r>
          </a:p>
        </p:txBody>
      </p:sp>
      <p:graphicFrame>
        <p:nvGraphicFramePr>
          <p:cNvPr id="7" name="Table 6"/>
          <p:cNvGraphicFramePr>
            <a:graphicFrameLocks noGrp="1"/>
          </p:cNvGraphicFramePr>
          <p:nvPr/>
        </p:nvGraphicFramePr>
        <p:xfrm>
          <a:off x="609600" y="2354461"/>
          <a:ext cx="10966450" cy="1863168"/>
        </p:xfrm>
        <a:graphic>
          <a:graphicData uri="http://schemas.openxmlformats.org/drawingml/2006/table">
            <a:tbl>
              <a:tblPr firstRow="1" bandRow="1">
                <a:tableStyleId>{5C22544A-7EE6-4342-B048-85BDC9FD1C3A}</a:tableStyleId>
              </a:tblPr>
              <a:tblGrid>
                <a:gridCol w="1288455"/>
                <a:gridCol w="2568277"/>
                <a:gridCol w="7109718"/>
              </a:tblGrid>
              <a:tr h="197088">
                <a:tc>
                  <a:txBody>
                    <a:bodyPr wrap="square"/>
                    <a:lstStyle/>
                    <a:p>
                      <a:r>
                        <a:rPr sz="800" b="1" i="0">
                          <a:solidFill>
                            <a:srgbClr val="F4F1EA"/>
                          </a:solidFill>
                          <a:latin typeface="Arial"/>
                          <a:ea typeface="Malgun Gothic"/>
                          <a:cs typeface="Malgun Gothic"/>
                        </a:rPr>
                        <a:t>B.18.1의 방식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해당 부품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절이 말하는 것</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샘플링 MPC</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(주력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로봇에서 Nav2 기본값이 된 선택과 같다. 비미분 비용(치명 셀, 이진 충돌)을 그대로 쓸 수 있다는 동인이 travplan이 MPPI를 남긴 이유(2026-09-30의 두 갈래 결정, Controller 문서 E.10)와 같다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모델 기반 제어·궤적 최적화</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MPCController</a:t>
                      </a:r>
                      <a:r>
                        <a:rPr sz="800" b="0" i="0">
                          <a:solidFill>
                            <a:srgbClr val="16213A"/>
                          </a:solidFill>
                          <a:latin typeface="Arial"/>
                          <a:ea typeface="Malgun Gothic"/>
                          <a:cs typeface="Malgun Gothic"/>
                        </a:rPr>
                        <a:t>(acados NMPC), 잔차 GP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hard 제약과 튜브를 품는 쪽이다. 레이싱카처럼 모델이 맞을 때 강하고, plant 지연 아래에서는 MPPI보다 나빴다(TP-0152)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탐색·샘플링 계획</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 Guidance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모바일 로봇의 전역 계획(NavFn·Smac)과 같은 자리다. travplan에서는 기준선이자 안전 폴백이다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종단간·학습형 플래너, 모방학습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D(flow matching, DAgger, RL 후학습 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모바일 로봇에서 NoMaD·NavDP처럼 아직 연구 단계로 분류된 칸이다. 배치 근거는 폴백을 켠 스택(</a:t>
                      </a:r>
                      <a:r>
                        <a:rPr sz="800" b="0" i="0">
                          <a:solidFill>
                            <a:srgbClr val="16213A"/>
                          </a:solidFill>
                          <a:latin typeface="Consolas"/>
                          <a:ea typeface="Malgun Gothic"/>
                          <a:cs typeface="Malgun Gothic"/>
                        </a:rPr>
                        <a:t>planner_df+mppi</a:t>
                      </a:r>
                      <a:r>
                        <a:rPr sz="800" b="0" i="0">
                          <a:solidFill>
                            <a:srgbClr val="16213A"/>
                          </a:solidFill>
                          <a:latin typeface="Arial"/>
                          <a:ea typeface="Malgun Gothic"/>
                          <a:cs typeface="Malgun Gothic"/>
                        </a:rPr>
                        <a:t>)으로 쌓는다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강화학습 sim-to-real</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 진화 전략)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로봇에서 대세인 칸이다. travplan의 학습 Controller는 Playground 시연에서 시작했고, 벤치마크 스택에는 아직 들어가지 않았다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파운데이션 모델·월드 모델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위층(경유점·서브골)으로 들어오는 흐름이라, 들어온다면 Planner 위에 얹힌다</a:t>
                      </a:r>
                    </a:p>
                  </a:txBody>
                  <a:tcPr marL="63500" marR="63500" marT="12700" marB="12700">
                    <a:solidFill>
                      <a:srgbClr val="F3F0E8"/>
                    </a:solidFill>
                  </a:tcPr>
                </a:tc>
              </a:tr>
            </a:tbl>
          </a:graphicData>
        </a:graphic>
      </p:graphicFrame>
      <p:sp>
        <p:nvSpPr>
          <p:cNvPr id="8" name="TextBox 7"/>
          <p:cNvSpPr txBox="1"/>
          <p:nvPr/>
        </p:nvSpPr>
        <p:spPr>
          <a:xfrm>
            <a:off x="609600" y="47786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여기서 travplan의 빈 곳 셋이 보인다. 첫째, 결정론 안전층이 없다. MPPI의 치명 셀 비용과 Guidance 폴백은 성능층 안의 장치이고, 인증을 받을 수 있는 독립 감시(속도·분리 감시, 비상 정지)는 아직 설계하지 않았다. CBF-QP류 안전 필터(Controller 문서 C)는 라이선스 문제로 보류 중이고(ARCHITECTURE.md), 그것도 인증을 받기 전에는 안전층이 아니다. 둘째, 한국 실외이동로봇 인증의 심사 항목 가운데 횡단보도 통행과 관제 장치는 travplan 벤치마크가 다루지 않는다. 신호 시간 창과 규칙 이산 결정은 지금의 Planner 출력(경로·시간 인덱스 궤적)에 들어갈 자리가 없다. 셋째, 원격 지원 인터페이스가 없다. Waymo와 퍼서비어런스의 예는 늦게 도착하는 조언(150 ms에서 수 초)을 경유점으로 받고 실시간 루프는 온보드가 쥐는 구조다. travplan에 들인다면 Planner의 목표·서브골 입력이 그 자리다.</a:t>
            </a:r>
          </a:p>
        </p:txBody>
      </p:sp>
    </p:spTree>
  </p:cSld>
  <p:clrMapOvr>
    <a:masterClrMapping/>
  </p:clrMapOvr>
</p:sld>
</file>

<file path=ppt/slides/slide4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495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읽을 때 주의.</a:t>
            </a:r>
            <a:r>
              <a:rPr sz="1050" b="0" i="0">
                <a:solidFill>
                  <a:srgbClr val="16213A"/>
                </a:solidFill>
                <a:latin typeface="Arial"/>
                <a:ea typeface="Malgun Gothic"/>
                <a:cs typeface="Malgun Gothic"/>
              </a:rPr>
              <a:t> 대세는 공개된 사례에 한정한 판단이다. PoliMOVE·Cavalier, Tesla Optimus·1X, 광산 OEM, 중국 사족 OEM, 국내 배송 로봇 회사는 계획·제어 알고리즘을 공개하지 않았다. Figure·BD·NVIDIA·Waymo·Amazon·EACON의 수치는 회사 발표이고, 2026년 arXiv 논문 다수는 심사 전 프리프린트이자 시뮬레이션 검증이다. 근거의 수준은 원 문서 16절을 따른다.</a:t>
            </a:r>
          </a:p>
        </p:txBody>
      </p:sp>
    </p:spTree>
  </p:cSld>
  <p:clrMapOvr>
    <a:masterClrMapping/>
  </p:clrMapOvr>
</p:sld>
</file>

<file path=ppt/slides/slide4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분야별 지형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B.18 로봇 분야별 계획·제어: 레이싱카, 모바일 로봇, 도로 자율주행, 사족보행, 휴머노이드</a:t>
            </a:r>
            <a:r>
              <a:rPr sz="1050" b="0" i="0">
                <a:solidFill>
                  <a:srgbClr val="5A6478"/>
                </a:solidFill>
                <a:latin typeface="Arial"/>
                <a:ea typeface="Malgun Gothic"/>
                <a:cs typeface="Malgun Gothic"/>
              </a:rPr>
              <a:t>  자세히: B.18의 근거 123건(원 문서 17절)</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496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 문서 17절의 목록을 번호 그대로 옮겼다. 기업 수치는 회사 발표이고 독립 검증이 아니다. (헤드라인)은 뉴스 보도로만 확인한 항목이다.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레이싱카</a:t>
            </a:r>
          </a:p>
        </p:txBody>
      </p:sp>
      <p:sp>
        <p:nvSpPr>
          <p:cNvPr id="7" name="TextBox 6"/>
          <p:cNvSpPr txBox="1"/>
          <p:nvPr/>
        </p:nvSpPr>
        <p:spPr>
          <a:xfrm>
            <a:off x="609600" y="1855391"/>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17개(문단·식·그림)는 대시보드 리서치 탭의 "자세히: B.18의 근거 123건(원 문서 17절)" 토글에 있다.</a:t>
            </a:r>
          </a:p>
        </p:txBody>
      </p:sp>
    </p:spTree>
  </p:cSld>
  <p:clrMapOvr>
    <a:masterClrMapping/>
  </p:clrMapOvr>
</p:sld>
</file>

<file path=ppt/slides/slide497.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497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498 / 520</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4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499 / 520</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5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500 / 520</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5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501 / 520</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50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502 / 520</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5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503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B.16)은 "남이 무엇을 했나"이고, 이 탭은 travplan이 고치고 잰 결과다(CLAUDE.md의 분리 규칙).</a:t>
            </a:r>
          </a:p>
        </p:txBody>
      </p:sp>
    </p:spTree>
  </p:cSld>
  <p:clrMapOvr>
    <a:masterClrMapping/>
  </p:clrMapOvr>
</p:sld>
</file>

<file path=ppt/slides/slide5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5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505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5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506 / 520</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5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507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5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508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5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509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5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510 / 520</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5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511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5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512 / 520</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5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513 / 520</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5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514 / 520</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5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515 / 520</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5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516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5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517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5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518 / 520</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5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519 / 520</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5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520 / 520</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